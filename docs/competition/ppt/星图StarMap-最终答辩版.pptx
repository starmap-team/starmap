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8.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72" r:id="rId3"/>
    <p:sldMasterId id="2147483684" r:id="rId4"/>
    <p:sldMasterId id="2147483693" r:id="rId5"/>
    <p:sldMasterId id="2147483701" r:id="rId6"/>
  </p:sldMasterIdLst>
  <p:notesMasterIdLst>
    <p:notesMasterId r:id="rId66"/>
  </p:notesMasterIdLst>
  <p:handoutMasterIdLst>
    <p:handoutMasterId r:id="rId67"/>
  </p:handoutMasterIdLst>
  <p:sldIdLst>
    <p:sldId id="16669959" r:id="rId9"/>
    <p:sldId id="16669972" r:id="rId22"/>
    <p:sldId id="632" r:id="rId50"/>
    <p:sldId id="16669957" r:id="rId7"/>
    <p:sldId id="16669974" r:id="rId24"/>
    <p:sldId id="16669979" r:id="rId29"/>
    <p:sldId id="16669973" r:id="rId23"/>
    <p:sldId id="16669980" r:id="rId30"/>
    <p:sldId id="16669982" r:id="rId32"/>
    <p:sldId id="16669978" r:id="rId28"/>
    <p:sldId id="303" r:id="rId46"/>
    <p:sldId id="16669984" r:id="rId34"/>
    <p:sldId id="16669986"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7">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1D24"/>
    <a:srgbClr val="F076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84" autoAdjust="0"/>
    <p:restoredTop sz="94660"/>
  </p:normalViewPr>
  <p:slideViewPr>
    <p:cSldViewPr snapToGrid="0" showGuides="1">
      <p:cViewPr varScale="1">
        <p:scale>
          <a:sx n="124" d="100"/>
          <a:sy n="124" d="100"/>
        </p:scale>
        <p:origin x="328" y="168"/>
      </p:cViewPr>
      <p:guideLst>
        <p:guide orient="horz" pos="2187"/>
        <p:guide pos="3839"/>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4.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7.xml"/><Relationship Id="rId24" Type="http://schemas.openxmlformats.org/officeDocument/2006/relationships/slide" Target="slides/slide5.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10.xml"/><Relationship Id="rId29" Type="http://schemas.openxmlformats.org/officeDocument/2006/relationships/slide" Target="slides/slide6.xml"/><Relationship Id="rId30" Type="http://schemas.openxmlformats.org/officeDocument/2006/relationships/slide" Target="slides/slide8.xml"/><Relationship Id="rId31" Type="http://schemas.openxmlformats.org/officeDocument/2006/relationships/slide" Target="slides/slide25.xml"/><Relationship Id="rId32" Type="http://schemas.openxmlformats.org/officeDocument/2006/relationships/slide" Target="slides/slide9.xml"/><Relationship Id="rId33" Type="http://schemas.openxmlformats.org/officeDocument/2006/relationships/slide" Target="slides/slide27.xml"/><Relationship Id="rId34" Type="http://schemas.openxmlformats.org/officeDocument/2006/relationships/slide" Target="slides/slide12.xml"/><Relationship Id="rId35" Type="http://schemas.openxmlformats.org/officeDocument/2006/relationships/slide" Target="slides/slide29.xml"/><Relationship Id="rId36" Type="http://schemas.openxmlformats.org/officeDocument/2006/relationships/slide" Target="slides/slide13.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11.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3.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4.xlsx"/></Relationships>
</file>

<file path=ppt/charts/_rels/chart6.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___5.xlsx"/></Relationships>
</file>

<file path=ppt/charts/_rels/chart7.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___6.xlsx"/></Relationships>
</file>

<file path=ppt/charts/_rels/chart8.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___7.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___8.xlsx"/></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___9.xlsx"/></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___10.xlsx"/></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___11.xlsx"/></Relationships>
</file>

<file path=ppt/charts/_rels/chart13.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___12.xlsx"/></Relationships>
</file>

<file path=ppt/charts/_rels/chart14.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___13.xlsx"/></Relationships>
</file>

<file path=ppt/charts/_rels/chart15.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___14.xlsx"/></Relationships>
</file>

<file path=ppt/charts/_rels/chart16.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___15.xlsx"/></Relationships>
</file>

<file path=ppt/charts/_rels/chart17.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___16.xlsx"/></Relationships>
</file>

<file path=ppt/charts/_rels/chart18.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___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z 值</c:v>
                </c:pt>
              </c:strCache>
            </c:strRef>
          </c:tx>
          <c:cat>
            <c:strRef>
              <c:f>Sheet1!$A$2:$A$7</c:f>
              <c:strCache>
                <c:ptCount val="6"/>
                <c:pt idx="0">
                  <c:v>Python</c:v>
                </c:pt>
                <c:pt idx="1">
                  <c:v>Kubernetes</c:v>
                </c:pt>
                <c:pt idx="2">
                  <c:v>大模型微调</c:v>
                </c:pt>
                <c:pt idx="3">
                  <c:v>RAG</c:v>
                </c:pt>
                <c:pt idx="4">
                  <c:v>MLOps</c:v>
                </c:pt>
                <c:pt idx="5">
                  <c:v>AI 治理</c:v>
                </c:pt>
              </c:strCache>
            </c:strRef>
          </c:cat>
          <c:val>
            <c:numRef>
              <c:f>Sheet1!$B$2:$B$7</c:f>
              <c:numCache>
                <c:formatCode>General</c:formatCode>
                <c:ptCount val="6"/>
                <c:pt idx="0">
                  <c:v>31.25</c:v>
                </c:pt>
                <c:pt idx="1">
                  <c:v>5.0</c:v>
                </c:pt>
                <c:pt idx="2">
                  <c:v>4.2</c:v>
                </c:pt>
                <c:pt idx="3">
                  <c:v>3.8</c:v>
                </c:pt>
                <c:pt idx="4">
                  <c:v>3.5</c:v>
                </c:pt>
                <c:pt idx="5">
                  <c:v>3.1</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2024年4月</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创新指数变化</c:v>
                </c:pt>
                <c:pt idx="1">
                  <c:v>沟通指数变化</c:v>
                </c:pt>
                <c:pt idx="2">
                  <c:v>价值指数变化</c:v>
                </c:pt>
              </c:strCache>
            </c:strRef>
          </c:cat>
          <c:val>
            <c:numRef>
              <c:f>Sheet1!$B$2:$B$4</c:f>
              <c:numCache>
                <c:formatCode>General</c:formatCode>
                <c:ptCount val="3"/>
                <c:pt idx="0">
                  <c:v>65</c:v>
                </c:pt>
                <c:pt idx="1">
                  <c:v>50</c:v>
                </c:pt>
                <c:pt idx="2">
                  <c:v>64</c:v>
                </c:pt>
              </c:numCache>
            </c:numRef>
          </c:val>
          <c:extLst>
            <c:ext xmlns:c16="http://schemas.microsoft.com/office/drawing/2014/chart" uri="{C3380CC4-5D6E-409C-BE32-E72D297353CC}">
              <c16:uniqueId val="{00000000-04FE-AC4A-8451-A9945B953C53}"/>
            </c:ext>
          </c:extLst>
        </c:ser>
        <c:ser>
          <c:idx val="1"/>
          <c:order val="1"/>
          <c:tx>
            <c:strRef>
              <c:f>Sheet1!$C$1</c:f>
              <c:strCache>
                <c:ptCount val="1"/>
                <c:pt idx="0">
                  <c:v>2024年6月</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创新指数变化</c:v>
                </c:pt>
                <c:pt idx="1">
                  <c:v>沟通指数变化</c:v>
                </c:pt>
                <c:pt idx="2">
                  <c:v>价值指数变化</c:v>
                </c:pt>
              </c:strCache>
            </c:strRef>
          </c:cat>
          <c:val>
            <c:numRef>
              <c:f>Sheet1!$C$2:$C$4</c:f>
              <c:numCache>
                <c:formatCode>General</c:formatCode>
                <c:ptCount val="3"/>
                <c:pt idx="0">
                  <c:v>77</c:v>
                </c:pt>
                <c:pt idx="1">
                  <c:v>123</c:v>
                </c:pt>
                <c:pt idx="2">
                  <c:v>96</c:v>
                </c:pt>
              </c:numCache>
            </c:numRef>
          </c:val>
          <c:extLst>
            <c:ext xmlns:c16="http://schemas.microsoft.com/office/drawing/2014/chart" uri="{C3380CC4-5D6E-409C-BE32-E72D297353CC}">
              <c16:uniqueId val="{00000001-04FE-AC4A-8451-A9945B953C53}"/>
            </c:ext>
          </c:extLst>
        </c:ser>
        <c:dLbls>
          <c:showLegendKey val="0"/>
          <c:showVal val="1"/>
          <c:showCatName val="0"/>
          <c:showSerName val="0"/>
          <c:showPercent val="0"/>
          <c:showBubbleSize val="0"/>
        </c:dLbls>
        <c:gapWidth val="219"/>
        <c:overlap val="-27"/>
        <c:axId val="1361666832"/>
        <c:axId val="1361656272"/>
      </c:barChart>
      <c:catAx>
        <c:axId val="1361666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361656272"/>
        <c:crosses val="autoZero"/>
        <c:auto val="1"/>
        <c:lblAlgn val="ctr"/>
        <c:lblOffset val="100"/>
        <c:noMultiLvlLbl val="0"/>
      </c:catAx>
      <c:valAx>
        <c:axId val="1361656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361666832"/>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手机与电脑端双渠道销量变化</a:t>
            </a:r>
          </a:p>
        </c:rich>
      </c:tx>
      <c:layout>
        <c:manualLayout>
          <c:xMode val="edge"/>
          <c:yMode val="edge"/>
          <c:x val="0.39862681710453801"/>
          <c:y val="0.15329590845699501"/>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col"/>
        <c:grouping val="clustered"/>
        <c:varyColors val="0"/>
        <c:ser>
          <c:idx val="0"/>
          <c:order val="0"/>
          <c:tx>
            <c:strRef>
              <c:f>Sheet1!$B$1</c:f>
              <c:strCache>
                <c:ptCount val="1"/>
                <c:pt idx="0">
                  <c:v>手机端销量</c:v>
                </c:pt>
              </c:strCache>
            </c:strRef>
          </c:tx>
          <c:spPr>
            <a:solidFill>
              <a:schemeClr val="accent3">
                <a:lumMod val="75000"/>
              </a:schemeClr>
            </a:solidFill>
            <a:ln>
              <a:noFill/>
            </a:ln>
            <a:effectLst>
              <a:outerShdw blurRad="50800" dist="38100" algn="l" rotWithShape="0">
                <a:prstClr val="black">
                  <a:alpha val="10000"/>
                </a:prstClr>
              </a:outerShdw>
            </a:effectLst>
          </c:spPr>
          <c:invertIfNegative val="0"/>
          <c:dLbls>
            <c:dLbl>
              <c:idx val="2"/>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0-38B2-5647-B9B4-F55CF374AB19}"/>
                </c:ext>
              </c:extLst>
            </c:dLbl>
            <c:dLbl>
              <c:idx val="5"/>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1-38B2-5647-B9B4-F55CF374AB19}"/>
                </c:ext>
              </c:extLst>
            </c:dLbl>
            <c:dLbl>
              <c:idx val="8"/>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2-38B2-5647-B9B4-F55CF374AB19}"/>
                </c:ext>
              </c:extLst>
            </c:dLbl>
            <c:spPr>
              <a:solidFill>
                <a:prstClr val="white"/>
              </a:solidFill>
              <a:ln>
                <a:no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outEnd"/>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Sheet1!$A$2:$A$11</c:f>
              <c:strCache>
                <c:ptCount val="10"/>
                <c:pt idx="0">
                  <c:v>商品1</c:v>
                </c:pt>
                <c:pt idx="1">
                  <c:v>商品2</c:v>
                </c:pt>
                <c:pt idx="2">
                  <c:v>商品3</c:v>
                </c:pt>
                <c:pt idx="3">
                  <c:v>商品4</c:v>
                </c:pt>
                <c:pt idx="4">
                  <c:v>商品5</c:v>
                </c:pt>
                <c:pt idx="5">
                  <c:v>商品6</c:v>
                </c:pt>
                <c:pt idx="6">
                  <c:v>商品7</c:v>
                </c:pt>
                <c:pt idx="7">
                  <c:v>商品8</c:v>
                </c:pt>
                <c:pt idx="8">
                  <c:v>商品9</c:v>
                </c:pt>
                <c:pt idx="9">
                  <c:v>商品10</c:v>
                </c:pt>
              </c:strCache>
            </c:strRef>
          </c:cat>
          <c:val>
            <c:numRef>
              <c:f>Sheet1!$B$2:$B$11</c:f>
              <c:numCache>
                <c:formatCode>General</c:formatCode>
                <c:ptCount val="10"/>
                <c:pt idx="0">
                  <c:v>554</c:v>
                </c:pt>
                <c:pt idx="1">
                  <c:v>195</c:v>
                </c:pt>
                <c:pt idx="2">
                  <c:v>780</c:v>
                </c:pt>
                <c:pt idx="3">
                  <c:v>319</c:v>
                </c:pt>
                <c:pt idx="4">
                  <c:v>189</c:v>
                </c:pt>
                <c:pt idx="5">
                  <c:v>844</c:v>
                </c:pt>
                <c:pt idx="6">
                  <c:v>125</c:v>
                </c:pt>
                <c:pt idx="7">
                  <c:v>382</c:v>
                </c:pt>
                <c:pt idx="8">
                  <c:v>756</c:v>
                </c:pt>
                <c:pt idx="9">
                  <c:v>196</c:v>
                </c:pt>
              </c:numCache>
            </c:numRef>
          </c:val>
          <c:extLst>
            <c:ext xmlns:c16="http://schemas.microsoft.com/office/drawing/2014/chart" uri="{C3380CC4-5D6E-409C-BE32-E72D297353CC}">
              <c16:uniqueId val="{00000003-38B2-5647-B9B4-F55CF374AB19}"/>
            </c:ext>
          </c:extLst>
        </c:ser>
        <c:ser>
          <c:idx val="1"/>
          <c:order val="1"/>
          <c:tx>
            <c:strRef>
              <c:f>Sheet1!$C$1</c:f>
              <c:strCache>
                <c:ptCount val="1"/>
                <c:pt idx="0">
                  <c:v>电脑端销量</c:v>
                </c:pt>
              </c:strCache>
            </c:strRef>
          </c:tx>
          <c:spPr>
            <a:solidFill>
              <a:schemeClr val="accent6">
                <a:lumMod val="75000"/>
              </a:schemeClr>
            </a:solidFill>
            <a:ln>
              <a:noFill/>
            </a:ln>
            <a:effectLst>
              <a:outerShdw blurRad="50800" dist="38100" algn="l" rotWithShape="0">
                <a:prstClr val="black">
                  <a:alpha val="10000"/>
                </a:prstClr>
              </a:outerShdw>
            </a:effectLst>
          </c:spPr>
          <c:invertIfNegative val="0"/>
          <c:cat>
            <c:strRef>
              <c:f>Sheet1!$A$2:$A$11</c:f>
              <c:strCache>
                <c:ptCount val="10"/>
                <c:pt idx="0">
                  <c:v>商品1</c:v>
                </c:pt>
                <c:pt idx="1">
                  <c:v>商品2</c:v>
                </c:pt>
                <c:pt idx="2">
                  <c:v>商品3</c:v>
                </c:pt>
                <c:pt idx="3">
                  <c:v>商品4</c:v>
                </c:pt>
                <c:pt idx="4">
                  <c:v>商品5</c:v>
                </c:pt>
                <c:pt idx="5">
                  <c:v>商品6</c:v>
                </c:pt>
                <c:pt idx="6">
                  <c:v>商品7</c:v>
                </c:pt>
                <c:pt idx="7">
                  <c:v>商品8</c:v>
                </c:pt>
                <c:pt idx="8">
                  <c:v>商品9</c:v>
                </c:pt>
                <c:pt idx="9">
                  <c:v>商品10</c:v>
                </c:pt>
              </c:strCache>
            </c:strRef>
          </c:cat>
          <c:val>
            <c:numRef>
              <c:f>Sheet1!$C$2:$C$11</c:f>
              <c:numCache>
                <c:formatCode>General</c:formatCode>
                <c:ptCount val="10"/>
                <c:pt idx="0">
                  <c:v>162</c:v>
                </c:pt>
                <c:pt idx="1">
                  <c:v>483</c:v>
                </c:pt>
                <c:pt idx="2">
                  <c:v>54</c:v>
                </c:pt>
                <c:pt idx="3">
                  <c:v>220</c:v>
                </c:pt>
                <c:pt idx="4">
                  <c:v>337</c:v>
                </c:pt>
                <c:pt idx="5">
                  <c:v>166</c:v>
                </c:pt>
                <c:pt idx="6">
                  <c:v>303</c:v>
                </c:pt>
                <c:pt idx="7">
                  <c:v>235</c:v>
                </c:pt>
                <c:pt idx="8">
                  <c:v>108</c:v>
                </c:pt>
                <c:pt idx="9">
                  <c:v>273</c:v>
                </c:pt>
              </c:numCache>
            </c:numRef>
          </c:val>
          <c:extLst>
            <c:ext xmlns:c16="http://schemas.microsoft.com/office/drawing/2014/chart" uri="{C3380CC4-5D6E-409C-BE32-E72D297353CC}">
              <c16:uniqueId val="{00000004-38B2-5647-B9B4-F55CF374AB19}"/>
            </c:ext>
          </c:extLst>
        </c:ser>
        <c:dLbls>
          <c:showLegendKey val="0"/>
          <c:showVal val="0"/>
          <c:showCatName val="0"/>
          <c:showSerName val="0"/>
          <c:showPercent val="0"/>
          <c:showBubbleSize val="0"/>
        </c:dLbls>
        <c:gapWidth val="120"/>
        <c:overlap val="-27"/>
        <c:axId val="1045751311"/>
        <c:axId val="755974815"/>
      </c:barChart>
      <c:catAx>
        <c:axId val="10457513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755974815"/>
        <c:crosses val="autoZero"/>
        <c:auto val="1"/>
        <c:lblAlgn val="ctr"/>
        <c:lblOffset val="100"/>
        <c:noMultiLvlLbl val="0"/>
      </c:catAx>
      <c:valAx>
        <c:axId val="7559748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045751311"/>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71140214787509504"/>
          <c:y val="0.19888924713909401"/>
          <c:w val="0.27026440415444902"/>
          <c:h val="7.3034051365484007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1"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双渠道销售额对比</a:t>
            </a:r>
          </a:p>
        </c:rich>
      </c:tx>
      <c:layout>
        <c:manualLayout>
          <c:xMode val="edge"/>
          <c:yMode val="edge"/>
          <c:x val="0.35980724779714501"/>
          <c:y val="5.4701164846742796E-3"/>
        </c:manualLayout>
      </c:layout>
      <c:overlay val="0"/>
      <c:spPr>
        <a:noFill/>
        <a:ln>
          <a:noFill/>
        </a:ln>
        <a:effectLst/>
      </c:spPr>
    </c:title>
    <c:autoTitleDeleted val="0"/>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销售额</c:v>
                </c:pt>
              </c:strCache>
            </c:strRef>
          </c:tx>
          <c:dPt>
            <c:idx val="0"/>
            <c:bubble3D val="0"/>
            <c:spPr>
              <a:solidFill>
                <a:schemeClr val="accent5">
                  <a:lumMod val="75000"/>
                </a:schemeClr>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1-2DBE-6F41-85BB-AE01FD9D66CA}"/>
              </c:ext>
            </c:extLst>
          </c:dPt>
          <c:dPt>
            <c:idx val="1"/>
            <c:bubble3D val="0"/>
            <c:spPr>
              <a:solidFill>
                <a:schemeClr val="accent2"/>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3-2DBE-6F41-85BB-AE01FD9D66CA}"/>
              </c:ext>
            </c:extLst>
          </c:dPt>
          <c:dLbls>
            <c:numFmt formatCode="General"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prstDash val="solid"/>
                  <a:round/>
                </a:ln>
                <a:effectLst/>
              </c:spPr>
            </c:leaderLines>
            <c:extLst>
              <c:ext xmlns:c15="http://schemas.microsoft.com/office/drawing/2012/chart" uri="{CE6537A1-D6FC-4f65-9D91-7224C49458BB}"/>
            </c:extLst>
          </c:dLbls>
          <c:cat>
            <c:strRef>
              <c:f>Sheet1!$A$2:$A$3</c:f>
              <c:strCache>
                <c:ptCount val="2"/>
                <c:pt idx="0">
                  <c:v>手机端</c:v>
                </c:pt>
                <c:pt idx="1">
                  <c:v>电脑端</c:v>
                </c:pt>
              </c:strCache>
            </c:strRef>
          </c:cat>
          <c:val>
            <c:numRef>
              <c:f>Sheet1!$B$2:$B$3</c:f>
              <c:numCache>
                <c:formatCode>General</c:formatCode>
                <c:ptCount val="2"/>
                <c:pt idx="0">
                  <c:v>1942006</c:v>
                </c:pt>
                <c:pt idx="1">
                  <c:v>2412051</c:v>
                </c:pt>
              </c:numCache>
            </c:numRef>
          </c:val>
          <c:extLst>
            <c:ext xmlns:c16="http://schemas.microsoft.com/office/drawing/2014/chart" uri="{C3380CC4-5D6E-409C-BE32-E72D297353CC}">
              <c16:uniqueId val="{00000004-2DBE-6F41-85BB-AE01FD9D66CA}"/>
            </c:ext>
          </c:extLst>
        </c:ser>
        <c:dLbls>
          <c:showLegendKey val="0"/>
          <c:showVal val="0"/>
          <c:showCatName val="0"/>
          <c:showSerName val="0"/>
          <c:showPercent val="0"/>
          <c:showBubbleSize val="0"/>
          <c:showLeaderLines val="1"/>
        </c:dLbls>
      </c:pie3DChart>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5"/>
            </a:solidFill>
            <a:ln>
              <a:noFill/>
            </a:ln>
            <a:effectLst/>
          </c:spPr>
          <c:invertIfNegative val="0"/>
          <c:dLbls>
            <c:dLbl>
              <c:idx val="0"/>
              <c:layout>
                <c:manualLayout>
                  <c:x val="0"/>
                  <c:y val="2.47288149329303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9BD-2940-812E-B7263DA9C426}"/>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4"/>
                <c:pt idx="0">
                  <c:v>类别 1</c:v>
                </c:pt>
                <c:pt idx="1">
                  <c:v>类别 2</c:v>
                </c:pt>
                <c:pt idx="2">
                  <c:v>类别 3</c:v>
                </c:pt>
                <c:pt idx="3">
                  <c:v>类别 4</c:v>
                </c:pt>
              </c:strCache>
            </c:strRef>
          </c:cat>
          <c:val>
            <c:numRef>
              <c:f>Sheet1!$B$2:$B$6</c:f>
              <c:numCache>
                <c:formatCode>0%</c:formatCode>
                <c:ptCount val="5"/>
                <c:pt idx="0">
                  <c:v>0.2</c:v>
                </c:pt>
                <c:pt idx="1">
                  <c:v>0.4</c:v>
                </c:pt>
                <c:pt idx="2">
                  <c:v>0.6</c:v>
                </c:pt>
                <c:pt idx="3">
                  <c:v>0.8</c:v>
                </c:pt>
                <c:pt idx="4">
                  <c:v>1</c:v>
                </c:pt>
              </c:numCache>
            </c:numRef>
          </c:val>
          <c:extLst>
            <c:ext xmlns:c16="http://schemas.microsoft.com/office/drawing/2014/chart" uri="{C3380CC4-5D6E-409C-BE32-E72D297353CC}">
              <c16:uniqueId val="{00000001-59BD-2940-812E-B7263DA9C426}"/>
            </c:ext>
          </c:extLst>
        </c:ser>
        <c:dLbls>
          <c:showLegendKey val="0"/>
          <c:showVal val="1"/>
          <c:showCatName val="0"/>
          <c:showSerName val="0"/>
          <c:showPercent val="0"/>
          <c:showBubbleSize val="0"/>
        </c:dLbls>
        <c:gapWidth val="50"/>
        <c:overlap val="-27"/>
        <c:axId val="952522832"/>
        <c:axId val="961546800"/>
      </c:barChart>
      <c:catAx>
        <c:axId val="952522832"/>
        <c:scaling>
          <c:orientation val="minMax"/>
        </c:scaling>
        <c:delete val="1"/>
        <c:axPos val="b"/>
        <c:numFmt formatCode="General" sourceLinked="1"/>
        <c:majorTickMark val="none"/>
        <c:minorTickMark val="none"/>
        <c:tickLblPos val="nextTo"/>
        <c:crossAx val="961546800"/>
        <c:crosses val="autoZero"/>
        <c:auto val="1"/>
        <c:lblAlgn val="ctr"/>
        <c:lblOffset val="100"/>
        <c:noMultiLvlLbl val="0"/>
      </c:catAx>
      <c:valAx>
        <c:axId val="961546800"/>
        <c:scaling>
          <c:orientation val="minMax"/>
        </c:scaling>
        <c:delete val="1"/>
        <c:axPos val="l"/>
        <c:numFmt formatCode="0%" sourceLinked="1"/>
        <c:majorTickMark val="none"/>
        <c:minorTickMark val="none"/>
        <c:tickLblPos val="nextTo"/>
        <c:crossAx val="952522832"/>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近20天销售金额</c:v>
                </c:pt>
              </c:strCache>
            </c:strRef>
          </c:tx>
          <c:spPr>
            <a:gradFill>
              <a:gsLst>
                <a:gs pos="98000">
                  <a:schemeClr val="accent6">
                    <a:lumMod val="50000"/>
                    <a:alpha val="0"/>
                  </a:schemeClr>
                </a:gs>
                <a:gs pos="0">
                  <a:schemeClr val="accent6">
                    <a:lumMod val="50000"/>
                    <a:alpha val="50000"/>
                  </a:schemeClr>
                </a:gs>
              </a:gsLst>
              <a:lin ang="5400000" scaled="1"/>
            </a:gradFill>
            <a:ln w="12700">
              <a:solidFill>
                <a:schemeClr val="accent4"/>
              </a:solidFill>
            </a:ln>
            <a:effectLst/>
          </c:spPr>
          <c:cat>
            <c:numRef>
              <c:f>Sheet1!$A$2:$A$21</c:f>
              <c:numCache>
                <c:formatCode>m"月"d"日"</c:formatCode>
                <c:ptCount val="20"/>
                <c:pt idx="0">
                  <c:v>45962</c:v>
                </c:pt>
                <c:pt idx="1">
                  <c:v>45963</c:v>
                </c:pt>
                <c:pt idx="2">
                  <c:v>45964</c:v>
                </c:pt>
                <c:pt idx="3">
                  <c:v>45965</c:v>
                </c:pt>
                <c:pt idx="4">
                  <c:v>45966</c:v>
                </c:pt>
                <c:pt idx="5">
                  <c:v>45967</c:v>
                </c:pt>
                <c:pt idx="6">
                  <c:v>45968</c:v>
                </c:pt>
                <c:pt idx="7">
                  <c:v>45969</c:v>
                </c:pt>
                <c:pt idx="8">
                  <c:v>45970</c:v>
                </c:pt>
                <c:pt idx="9">
                  <c:v>45971</c:v>
                </c:pt>
                <c:pt idx="10">
                  <c:v>45972</c:v>
                </c:pt>
                <c:pt idx="11">
                  <c:v>45973</c:v>
                </c:pt>
                <c:pt idx="12">
                  <c:v>45974</c:v>
                </c:pt>
                <c:pt idx="13">
                  <c:v>45975</c:v>
                </c:pt>
                <c:pt idx="14">
                  <c:v>45976</c:v>
                </c:pt>
                <c:pt idx="15">
                  <c:v>45977</c:v>
                </c:pt>
                <c:pt idx="16">
                  <c:v>45978</c:v>
                </c:pt>
                <c:pt idx="17">
                  <c:v>45979</c:v>
                </c:pt>
                <c:pt idx="18">
                  <c:v>45980</c:v>
                </c:pt>
                <c:pt idx="19">
                  <c:v>45981</c:v>
                </c:pt>
              </c:numCache>
            </c:numRef>
          </c:cat>
          <c:val>
            <c:numRef>
              <c:f>Sheet1!$B$2:$B$21</c:f>
              <c:numCache>
                <c:formatCode>General</c:formatCode>
                <c:ptCount val="20"/>
                <c:pt idx="0">
                  <c:v>123</c:v>
                </c:pt>
                <c:pt idx="1">
                  <c:v>153</c:v>
                </c:pt>
                <c:pt idx="2">
                  <c:v>156</c:v>
                </c:pt>
                <c:pt idx="3">
                  <c:v>187</c:v>
                </c:pt>
                <c:pt idx="4">
                  <c:v>198</c:v>
                </c:pt>
                <c:pt idx="5">
                  <c:v>196</c:v>
                </c:pt>
                <c:pt idx="6">
                  <c:v>201</c:v>
                </c:pt>
                <c:pt idx="7">
                  <c:v>206</c:v>
                </c:pt>
                <c:pt idx="8">
                  <c:v>269</c:v>
                </c:pt>
                <c:pt idx="9">
                  <c:v>290</c:v>
                </c:pt>
                <c:pt idx="10">
                  <c:v>350</c:v>
                </c:pt>
                <c:pt idx="11">
                  <c:v>340</c:v>
                </c:pt>
                <c:pt idx="12">
                  <c:v>310</c:v>
                </c:pt>
                <c:pt idx="13">
                  <c:v>305</c:v>
                </c:pt>
                <c:pt idx="14">
                  <c:v>254</c:v>
                </c:pt>
                <c:pt idx="15">
                  <c:v>210</c:v>
                </c:pt>
                <c:pt idx="16">
                  <c:v>206</c:v>
                </c:pt>
                <c:pt idx="17">
                  <c:v>193</c:v>
                </c:pt>
                <c:pt idx="18">
                  <c:v>167</c:v>
                </c:pt>
                <c:pt idx="19">
                  <c:v>126</c:v>
                </c:pt>
              </c:numCache>
            </c:numRef>
          </c:val>
          <c:extLst>
            <c:ext xmlns:c16="http://schemas.microsoft.com/office/drawing/2014/chart" uri="{C3380CC4-5D6E-409C-BE32-E72D297353CC}">
              <c16:uniqueId val="{00000000-C13A-514A-A713-55A42AE8C320}"/>
            </c:ext>
          </c:extLst>
        </c:ser>
        <c:dLbls>
          <c:showLegendKey val="0"/>
          <c:showVal val="0"/>
          <c:showCatName val="0"/>
          <c:showSerName val="0"/>
          <c:showPercent val="0"/>
          <c:showBubbleSize val="0"/>
        </c:dLbls>
        <c:axId val="279168096"/>
        <c:axId val="279163296"/>
      </c:areaChart>
      <c:barChart>
        <c:barDir val="col"/>
        <c:grouping val="clustered"/>
        <c:varyColors val="0"/>
        <c:ser>
          <c:idx val="1"/>
          <c:order val="1"/>
          <c:tx>
            <c:strRef>
              <c:f>Sheet1!$C$1</c:f>
              <c:strCache>
                <c:ptCount val="1"/>
                <c:pt idx="0">
                  <c:v>近20天浏览量</c:v>
                </c:pt>
              </c:strCache>
            </c:strRef>
          </c:tx>
          <c:spPr>
            <a:gradFill>
              <a:gsLst>
                <a:gs pos="100000">
                  <a:schemeClr val="accent2">
                    <a:alpha val="0"/>
                  </a:schemeClr>
                </a:gs>
                <a:gs pos="0">
                  <a:schemeClr val="accent2">
                    <a:alpha val="51000"/>
                  </a:schemeClr>
                </a:gs>
              </a:gsLst>
              <a:lin ang="5400000" scaled="1"/>
            </a:gradFill>
            <a:ln>
              <a:solidFill>
                <a:schemeClr val="accent1"/>
              </a:solidFill>
            </a:ln>
            <a:effectLst/>
          </c:spPr>
          <c:invertIfNegative val="0"/>
          <c:cat>
            <c:numRef>
              <c:f>Sheet1!$A$2:$A$21</c:f>
              <c:numCache>
                <c:formatCode>m"月"d"日"</c:formatCode>
                <c:ptCount val="20"/>
                <c:pt idx="0">
                  <c:v>45962</c:v>
                </c:pt>
                <c:pt idx="1">
                  <c:v>45963</c:v>
                </c:pt>
                <c:pt idx="2">
                  <c:v>45964</c:v>
                </c:pt>
                <c:pt idx="3">
                  <c:v>45965</c:v>
                </c:pt>
                <c:pt idx="4">
                  <c:v>45966</c:v>
                </c:pt>
                <c:pt idx="5">
                  <c:v>45967</c:v>
                </c:pt>
                <c:pt idx="6">
                  <c:v>45968</c:v>
                </c:pt>
                <c:pt idx="7">
                  <c:v>45969</c:v>
                </c:pt>
                <c:pt idx="8">
                  <c:v>45970</c:v>
                </c:pt>
                <c:pt idx="9">
                  <c:v>45971</c:v>
                </c:pt>
                <c:pt idx="10">
                  <c:v>45972</c:v>
                </c:pt>
                <c:pt idx="11">
                  <c:v>45973</c:v>
                </c:pt>
                <c:pt idx="12">
                  <c:v>45974</c:v>
                </c:pt>
                <c:pt idx="13">
                  <c:v>45975</c:v>
                </c:pt>
                <c:pt idx="14">
                  <c:v>45976</c:v>
                </c:pt>
                <c:pt idx="15">
                  <c:v>45977</c:v>
                </c:pt>
                <c:pt idx="16">
                  <c:v>45978</c:v>
                </c:pt>
                <c:pt idx="17">
                  <c:v>45979</c:v>
                </c:pt>
                <c:pt idx="18">
                  <c:v>45980</c:v>
                </c:pt>
                <c:pt idx="19">
                  <c:v>45981</c:v>
                </c:pt>
              </c:numCache>
            </c:numRef>
          </c:cat>
          <c:val>
            <c:numRef>
              <c:f>Sheet1!$C$2:$C$21</c:f>
              <c:numCache>
                <c:formatCode>General</c:formatCode>
                <c:ptCount val="20"/>
                <c:pt idx="0">
                  <c:v>2630</c:v>
                </c:pt>
                <c:pt idx="1">
                  <c:v>2365</c:v>
                </c:pt>
                <c:pt idx="2">
                  <c:v>2458</c:v>
                </c:pt>
                <c:pt idx="3">
                  <c:v>2689</c:v>
                </c:pt>
                <c:pt idx="4">
                  <c:v>3254</c:v>
                </c:pt>
                <c:pt idx="5">
                  <c:v>2698</c:v>
                </c:pt>
                <c:pt idx="6">
                  <c:v>2156</c:v>
                </c:pt>
                <c:pt idx="7">
                  <c:v>3251</c:v>
                </c:pt>
                <c:pt idx="8">
                  <c:v>3960</c:v>
                </c:pt>
                <c:pt idx="9">
                  <c:v>3860</c:v>
                </c:pt>
                <c:pt idx="10">
                  <c:v>4900</c:v>
                </c:pt>
                <c:pt idx="11">
                  <c:v>3610</c:v>
                </c:pt>
                <c:pt idx="12">
                  <c:v>3518</c:v>
                </c:pt>
                <c:pt idx="13">
                  <c:v>3657</c:v>
                </c:pt>
                <c:pt idx="14">
                  <c:v>2645</c:v>
                </c:pt>
                <c:pt idx="15">
                  <c:v>2547</c:v>
                </c:pt>
                <c:pt idx="16">
                  <c:v>2314</c:v>
                </c:pt>
                <c:pt idx="17">
                  <c:v>1956</c:v>
                </c:pt>
                <c:pt idx="18">
                  <c:v>1854</c:v>
                </c:pt>
                <c:pt idx="19">
                  <c:v>1357</c:v>
                </c:pt>
              </c:numCache>
            </c:numRef>
          </c:val>
          <c:extLst>
            <c:ext xmlns:c16="http://schemas.microsoft.com/office/drawing/2014/chart" uri="{C3380CC4-5D6E-409C-BE32-E72D297353CC}">
              <c16:uniqueId val="{00000001-C13A-514A-A713-55A42AE8C320}"/>
            </c:ext>
          </c:extLst>
        </c:ser>
        <c:dLbls>
          <c:showLegendKey val="0"/>
          <c:showVal val="0"/>
          <c:showCatName val="0"/>
          <c:showSerName val="0"/>
          <c:showPercent val="0"/>
          <c:showBubbleSize val="0"/>
        </c:dLbls>
        <c:gapWidth val="150"/>
        <c:axId val="1108404096"/>
        <c:axId val="1108402016"/>
      </c:barChart>
      <c:dateAx>
        <c:axId val="279168096"/>
        <c:scaling>
          <c:orientation val="minMax"/>
        </c:scaling>
        <c:delete val="0"/>
        <c:axPos val="b"/>
        <c:majorGridlines>
          <c:spPr>
            <a:ln w="9525" cap="flat" cmpd="sng" algn="ctr">
              <a:solidFill>
                <a:schemeClr val="tx1">
                  <a:lumMod val="15000"/>
                  <a:lumOff val="85000"/>
                </a:schemeClr>
              </a:solidFill>
              <a:round/>
            </a:ln>
            <a:effectLst/>
          </c:spPr>
        </c:majorGridlines>
        <c:numFmt formatCode="m&quot;月&quot;d&quot;日&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Offset val="100"/>
        <c:baseTimeUnit val="days"/>
      </c:dateAx>
      <c:valAx>
        <c:axId val="27916329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dateAx>
        <c:axId val="1108404096"/>
        <c:scaling>
          <c:orientation val="minMax"/>
        </c:scaling>
        <c:delete val="1"/>
        <c:axPos val="b"/>
        <c:numFmt formatCode="m&quot;月&quot;d&quot;日&quot;" sourceLinked="1"/>
        <c:majorTickMark val="out"/>
        <c:minorTickMark val="none"/>
        <c:tickLblPos val="nextTo"/>
        <c:crossAx val="1108402016"/>
        <c:crosses val="autoZero"/>
        <c:auto val="1"/>
        <c:lblOffset val="100"/>
        <c:baseTimeUnit val="days"/>
        <c:majorUnit val="1"/>
        <c:majorTimeUnit val="days"/>
        <c:minorUnit val="1"/>
        <c:minorTimeUnit val="days"/>
      </c:dateAx>
      <c:valAx>
        <c:axId val="110840201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108404096"/>
        <c:crosses val="max"/>
        <c:crossBetween val="between"/>
      </c:valAx>
      <c:spPr>
        <a:noFill/>
        <a:ln w="25400">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33598707582996401"/>
          <c:y val="0.86804073662353598"/>
          <c:w val="0.31691298717208299"/>
          <c:h val="8.5316465064902605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w="12700">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EFF2-3F4A-9C12-64EA68EF5C73}"/>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EFF2-3F4A-9C12-64EA68EF5C73}"/>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EFF2-3F4A-9C12-64EA68EF5C73}"/>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产品3</c:v>
                </c:pt>
                <c:pt idx="1">
                  <c:v>产品2</c:v>
                </c:pt>
                <c:pt idx="2">
                  <c:v>产品1</c:v>
                </c:pt>
              </c:strCache>
            </c:strRef>
          </c:cat>
          <c:val>
            <c:numRef>
              <c:f>Sheet1!$B$2:$B$4</c:f>
              <c:numCache>
                <c:formatCode>General</c:formatCode>
                <c:ptCount val="3"/>
                <c:pt idx="0">
                  <c:v>120.6</c:v>
                </c:pt>
                <c:pt idx="1">
                  <c:v>128.6</c:v>
                </c:pt>
                <c:pt idx="2">
                  <c:v>158.6</c:v>
                </c:pt>
              </c:numCache>
            </c:numRef>
          </c:val>
          <c:extLst>
            <c:ext xmlns:c16="http://schemas.microsoft.com/office/drawing/2014/chart" uri="{C3380CC4-5D6E-409C-BE32-E72D297353CC}">
              <c16:uniqueId val="{00000006-EFF2-3F4A-9C12-64EA68EF5C73}"/>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9AF1-D249-894F-B3B41452DF2B}"/>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9AF1-D249-894F-B3B41452DF2B}"/>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9AF1-D249-894F-B3B41452DF2B}"/>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产品3</c:v>
                </c:pt>
                <c:pt idx="1">
                  <c:v>产品5</c:v>
                </c:pt>
                <c:pt idx="2">
                  <c:v>产品4</c:v>
                </c:pt>
              </c:strCache>
            </c:strRef>
          </c:cat>
          <c:val>
            <c:numRef>
              <c:f>Sheet1!$B$2:$B$4</c:f>
              <c:numCache>
                <c:formatCode>General</c:formatCode>
                <c:ptCount val="3"/>
                <c:pt idx="0">
                  <c:v>102</c:v>
                </c:pt>
                <c:pt idx="1">
                  <c:v>136</c:v>
                </c:pt>
                <c:pt idx="2">
                  <c:v>154</c:v>
                </c:pt>
              </c:numCache>
            </c:numRef>
          </c:val>
          <c:extLst>
            <c:ext xmlns:c16="http://schemas.microsoft.com/office/drawing/2014/chart" uri="{C3380CC4-5D6E-409C-BE32-E72D297353CC}">
              <c16:uniqueId val="{00000006-9AF1-D249-894F-B3B41452DF2B}"/>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FF1C-6A44-A080-2EEBE15624C0}"/>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FF1C-6A44-A080-2EEBE15624C0}"/>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FF1C-6A44-A080-2EEBE15624C0}"/>
              </c:ext>
            </c:extLst>
          </c:dPt>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3号团队</c:v>
                </c:pt>
                <c:pt idx="1">
                  <c:v>2号团队</c:v>
                </c:pt>
                <c:pt idx="2">
                  <c:v>1号团队</c:v>
                </c:pt>
              </c:strCache>
            </c:strRef>
          </c:cat>
          <c:val>
            <c:numRef>
              <c:f>Sheet1!$B$2:$B$4</c:f>
              <c:numCache>
                <c:formatCode>General</c:formatCode>
                <c:ptCount val="3"/>
                <c:pt idx="0">
                  <c:v>136</c:v>
                </c:pt>
                <c:pt idx="1">
                  <c:v>145</c:v>
                </c:pt>
                <c:pt idx="2">
                  <c:v>164</c:v>
                </c:pt>
              </c:numCache>
            </c:numRef>
          </c:val>
          <c:extLst>
            <c:ext xmlns:c16="http://schemas.microsoft.com/office/drawing/2014/chart" uri="{C3380CC4-5D6E-409C-BE32-E72D297353CC}">
              <c16:uniqueId val="{00000006-FF1C-6A44-A080-2EEBE15624C0}"/>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sz="900">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每月收入</c:v>
                </c:pt>
              </c:strCache>
            </c:strRef>
          </c:tx>
          <c:spPr>
            <a:solidFill>
              <a:schemeClr val="accent3">
                <a:lumMod val="50000"/>
              </a:schemeClr>
            </a:solidFill>
            <a:ln>
              <a:noFill/>
            </a:ln>
            <a:effectLst/>
            <a:sp3d/>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2000</c:v>
                </c:pt>
                <c:pt idx="1">
                  <c:v>3000</c:v>
                </c:pt>
                <c:pt idx="2">
                  <c:v>1500</c:v>
                </c:pt>
                <c:pt idx="3">
                  <c:v>2100</c:v>
                </c:pt>
                <c:pt idx="4">
                  <c:v>3021</c:v>
                </c:pt>
                <c:pt idx="5">
                  <c:v>4000</c:v>
                </c:pt>
                <c:pt idx="6">
                  <c:v>2000</c:v>
                </c:pt>
                <c:pt idx="7">
                  <c:v>1657</c:v>
                </c:pt>
                <c:pt idx="8">
                  <c:v>3728</c:v>
                </c:pt>
                <c:pt idx="9">
                  <c:v>2908</c:v>
                </c:pt>
                <c:pt idx="10">
                  <c:v>5027</c:v>
                </c:pt>
                <c:pt idx="11">
                  <c:v>3980</c:v>
                </c:pt>
              </c:numCache>
            </c:numRef>
          </c:val>
          <c:extLst>
            <c:ext xmlns:c16="http://schemas.microsoft.com/office/drawing/2014/chart" uri="{C3380CC4-5D6E-409C-BE32-E72D297353CC}">
              <c16:uniqueId val="{00000000-95E4-4A45-AF4D-B1124B3950D2}"/>
            </c:ext>
          </c:extLst>
        </c:ser>
        <c:ser>
          <c:idx val="1"/>
          <c:order val="1"/>
          <c:tx>
            <c:strRef>
              <c:f>Sheet1!$C$1</c:f>
              <c:strCache>
                <c:ptCount val="1"/>
                <c:pt idx="0">
                  <c:v>每月支出</c:v>
                </c:pt>
              </c:strCache>
            </c:strRef>
          </c:tx>
          <c:spPr>
            <a:solidFill>
              <a:schemeClr val="accent6">
                <a:lumMod val="75000"/>
              </a:schemeClr>
            </a:solidFill>
            <a:ln>
              <a:noFill/>
            </a:ln>
            <a:effectLst/>
            <a:sp3d/>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1500</c:v>
                </c:pt>
                <c:pt idx="1">
                  <c:v>2850</c:v>
                </c:pt>
                <c:pt idx="2">
                  <c:v>1210</c:v>
                </c:pt>
                <c:pt idx="3">
                  <c:v>1420</c:v>
                </c:pt>
                <c:pt idx="4">
                  <c:v>1950</c:v>
                </c:pt>
                <c:pt idx="5">
                  <c:v>2560</c:v>
                </c:pt>
                <c:pt idx="6">
                  <c:v>1200</c:v>
                </c:pt>
                <c:pt idx="7">
                  <c:v>950</c:v>
                </c:pt>
                <c:pt idx="8">
                  <c:v>3100</c:v>
                </c:pt>
                <c:pt idx="9">
                  <c:v>1500</c:v>
                </c:pt>
                <c:pt idx="10">
                  <c:v>4100</c:v>
                </c:pt>
                <c:pt idx="11">
                  <c:v>2500</c:v>
                </c:pt>
              </c:numCache>
            </c:numRef>
          </c:val>
          <c:extLst>
            <c:ext xmlns:c16="http://schemas.microsoft.com/office/drawing/2014/chart" uri="{C3380CC4-5D6E-409C-BE32-E72D297353CC}">
              <c16:uniqueId val="{00000001-95E4-4A45-AF4D-B1124B3950D2}"/>
            </c:ext>
          </c:extLst>
        </c:ser>
        <c:dLbls>
          <c:showLegendKey val="0"/>
          <c:showVal val="0"/>
          <c:showCatName val="0"/>
          <c:showSerName val="0"/>
          <c:showPercent val="0"/>
          <c:showBubbleSize val="0"/>
        </c:dLbls>
        <c:gapWidth val="100"/>
        <c:axId val="279168096"/>
        <c:axId val="279163296"/>
      </c:bar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Table>
      <c:spPr>
        <a:noFill/>
        <a:ln>
          <a:noFill/>
        </a:ln>
        <a:effectLst/>
      </c:spPr>
    </c:plotArea>
    <c:legend>
      <c:legendPos val="t"/>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38878301535766902"/>
          <c:y val="5.5233120736557603E-2"/>
          <c:w val="0.24150892231452201"/>
          <c:h val="7.4428706495174607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474201282335"/>
          <c:y val="0.26684206416325101"/>
          <c:w val="0.529618473061503"/>
          <c:h val="0.529618473061503"/>
        </c:manualLayout>
      </c:layout>
      <c:doughnutChart>
        <c:varyColors val="1"/>
        <c:ser>
          <c:idx val="0"/>
          <c:order val="0"/>
          <c:tx>
            <c:strRef>
              <c:f>Sheet1!$A$2</c:f>
              <c:strCache>
                <c:ptCount val="1"/>
                <c:pt idx="0">
                  <c:v>销售占比</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1479-8343-85C9-C1ECE2819311}"/>
              </c:ext>
            </c:extLst>
          </c:dPt>
          <c:dPt>
            <c:idx val="1"/>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3-1479-8343-85C9-C1ECE2819311}"/>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1479-8343-85C9-C1ECE2819311}"/>
              </c:ext>
            </c:extLst>
          </c:dPt>
          <c:dPt>
            <c:idx val="3"/>
            <c:bubble3D val="0"/>
            <c:spPr>
              <a:solidFill>
                <a:schemeClr val="accent3">
                  <a:lumMod val="75000"/>
                </a:schemeClr>
              </a:solidFill>
              <a:ln w="19050">
                <a:solidFill>
                  <a:schemeClr val="lt1"/>
                </a:solidFill>
              </a:ln>
              <a:effectLst/>
            </c:spPr>
            <c:extLst>
              <c:ext xmlns:c16="http://schemas.microsoft.com/office/drawing/2014/chart" uri="{C3380CC4-5D6E-409C-BE32-E72D297353CC}">
                <c16:uniqueId val="{00000007-1479-8343-85C9-C1ECE2819311}"/>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1479-8343-85C9-C1ECE2819311}"/>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4"/>
                <c:pt idx="0">
                  <c:v>主营业务</c:v>
                </c:pt>
                <c:pt idx="1">
                  <c:v>其他业务</c:v>
                </c:pt>
                <c:pt idx="2">
                  <c:v>利息收入</c:v>
                </c:pt>
                <c:pt idx="3">
                  <c:v>投资收益</c:v>
                </c:pt>
              </c:strCache>
            </c:strRef>
          </c:cat>
          <c:val>
            <c:numRef>
              <c:f>Sheet1!$B$2:$F$2</c:f>
              <c:numCache>
                <c:formatCode>General</c:formatCode>
                <c:ptCount val="5"/>
                <c:pt idx="0">
                  <c:v>1000</c:v>
                </c:pt>
                <c:pt idx="1">
                  <c:v>300</c:v>
                </c:pt>
                <c:pt idx="2">
                  <c:v>100</c:v>
                </c:pt>
                <c:pt idx="3">
                  <c:v>200</c:v>
                </c:pt>
              </c:numCache>
            </c:numRef>
          </c:val>
          <c:extLst>
            <c:ext xmlns:c16="http://schemas.microsoft.com/office/drawing/2014/chart" uri="{C3380CC4-5D6E-409C-BE32-E72D297353CC}">
              <c16:uniqueId val="{0000000A-1479-8343-85C9-C1ECE2819311}"/>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legendEntry>
        <c:idx val="0"/>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4"/>
        <c:delete val="1"/>
      </c:legendEntry>
      <c:layout>
        <c:manualLayout>
          <c:xMode val="edge"/>
          <c:yMode val="edge"/>
          <c:x val="0.63800975942666804"/>
          <c:y val="0.33912051912192698"/>
          <c:w val="0.224702249570571"/>
          <c:h val="0.38899872186453599"/>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1"/>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474201282335"/>
          <c:y val="0.26684206416325101"/>
          <c:w val="0.529618473061503"/>
          <c:h val="0.529618473061503"/>
        </c:manualLayout>
      </c:layout>
      <c:doughnutChart>
        <c:varyColors val="1"/>
        <c:ser>
          <c:idx val="0"/>
          <c:order val="0"/>
          <c:tx>
            <c:strRef>
              <c:f>Sheet1!$A$2</c:f>
              <c:strCache>
                <c:ptCount val="1"/>
                <c:pt idx="0">
                  <c:v>销售占比</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1859-5249-9E6E-B1A22F29EF93}"/>
              </c:ext>
            </c:extLst>
          </c:dPt>
          <c:dPt>
            <c:idx val="1"/>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3-1859-5249-9E6E-B1A22F29EF93}"/>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1859-5249-9E6E-B1A22F29EF93}"/>
              </c:ext>
            </c:extLst>
          </c:dPt>
          <c:dPt>
            <c:idx val="3"/>
            <c:bubble3D val="0"/>
            <c:spPr>
              <a:solidFill>
                <a:schemeClr val="accent3">
                  <a:lumMod val="75000"/>
                </a:schemeClr>
              </a:solidFill>
              <a:ln w="19050">
                <a:solidFill>
                  <a:schemeClr val="lt1"/>
                </a:solidFill>
              </a:ln>
              <a:effectLst/>
            </c:spPr>
            <c:extLst>
              <c:ext xmlns:c16="http://schemas.microsoft.com/office/drawing/2014/chart" uri="{C3380CC4-5D6E-409C-BE32-E72D297353CC}">
                <c16:uniqueId val="{00000007-1859-5249-9E6E-B1A22F29EF93}"/>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1859-5249-9E6E-B1A22F29EF93}"/>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4"/>
                <c:pt idx="0">
                  <c:v>主营业务</c:v>
                </c:pt>
                <c:pt idx="1">
                  <c:v>其他业务</c:v>
                </c:pt>
                <c:pt idx="2">
                  <c:v>坏账</c:v>
                </c:pt>
                <c:pt idx="3">
                  <c:v>投资损失</c:v>
                </c:pt>
              </c:strCache>
            </c:strRef>
          </c:cat>
          <c:val>
            <c:numRef>
              <c:f>Sheet1!$B$2:$F$2</c:f>
              <c:numCache>
                <c:formatCode>General</c:formatCode>
                <c:ptCount val="5"/>
                <c:pt idx="0">
                  <c:v>500</c:v>
                </c:pt>
                <c:pt idx="1">
                  <c:v>150</c:v>
                </c:pt>
                <c:pt idx="2">
                  <c:v>100</c:v>
                </c:pt>
                <c:pt idx="3">
                  <c:v>100</c:v>
                </c:pt>
              </c:numCache>
            </c:numRef>
          </c:val>
          <c:extLst>
            <c:ext xmlns:c16="http://schemas.microsoft.com/office/drawing/2014/chart" uri="{C3380CC4-5D6E-409C-BE32-E72D297353CC}">
              <c16:uniqueId val="{0000000A-1859-5249-9E6E-B1A22F29EF93}"/>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legendEntry>
        <c:idx val="0"/>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4"/>
        <c:delete val="1"/>
      </c:legendEntry>
      <c:layout>
        <c:manualLayout>
          <c:xMode val="edge"/>
          <c:yMode val="edge"/>
          <c:x val="0.62946960917217698"/>
          <c:y val="0.30964889831130399"/>
          <c:w val="0.26825198677236001"/>
          <c:h val="0.45915088741194898"/>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1"/>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每月增长客户</c:v>
                </c:pt>
              </c:strCache>
            </c:strRef>
          </c:tx>
          <c:spPr>
            <a:ln w="12700" cap="rnd">
              <a:solidFill>
                <a:schemeClr val="accent1"/>
              </a:solidFill>
              <a:round/>
            </a:ln>
            <a:effectLst/>
          </c:spPr>
          <c:marker>
            <c:symbol val="circle"/>
            <c:size val="3"/>
            <c:spPr>
              <a:solidFill>
                <a:schemeClr val="accent1"/>
              </a:solidFill>
              <a:ln w="12700">
                <a:solidFill>
                  <a:schemeClr val="accent1"/>
                </a:solidFill>
              </a:ln>
              <a:effectLst/>
            </c:spPr>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c:formatCode>
                <c:ptCount val="12"/>
                <c:pt idx="0">
                  <c:v>0.23</c:v>
                </c:pt>
                <c:pt idx="1">
                  <c:v>0.26</c:v>
                </c:pt>
                <c:pt idx="2">
                  <c:v>0.28999999999999998</c:v>
                </c:pt>
                <c:pt idx="3">
                  <c:v>0.3</c:v>
                </c:pt>
                <c:pt idx="4">
                  <c:v>0.24</c:v>
                </c:pt>
                <c:pt idx="5">
                  <c:v>0.15</c:v>
                </c:pt>
                <c:pt idx="6">
                  <c:v>0.23</c:v>
                </c:pt>
                <c:pt idx="7">
                  <c:v>0.19</c:v>
                </c:pt>
                <c:pt idx="8">
                  <c:v>0.12</c:v>
                </c:pt>
                <c:pt idx="9">
                  <c:v>0.36</c:v>
                </c:pt>
                <c:pt idx="10">
                  <c:v>0.37</c:v>
                </c:pt>
                <c:pt idx="11">
                  <c:v>0.26</c:v>
                </c:pt>
              </c:numCache>
            </c:numRef>
          </c:val>
          <c:smooth val="0"/>
          <c:extLst>
            <c:ext xmlns:c16="http://schemas.microsoft.com/office/drawing/2014/chart" uri="{C3380CC4-5D6E-409C-BE32-E72D297353CC}">
              <c16:uniqueId val="{00000000-EA04-9D49-B48B-25590C4340A6}"/>
            </c:ext>
          </c:extLst>
        </c:ser>
        <c:dLbls>
          <c:showLegendKey val="0"/>
          <c:showVal val="0"/>
          <c:showCatName val="0"/>
          <c:showSerName val="0"/>
          <c:showPercent val="0"/>
          <c:showBubbleSize val="0"/>
        </c:dLbls>
        <c:marker val="1"/>
        <c:smooth val="0"/>
        <c:axId val="279168096"/>
        <c:axId val="279163296"/>
      </c:line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spPr>
        <a:noFill/>
        <a:ln>
          <a:noFill/>
        </a:ln>
        <a:effectLst/>
      </c:spPr>
    </c:plotArea>
    <c:plotVisOnly val="1"/>
    <c:dispBlanksAs val="gap"/>
    <c:showDLblsOverMax val="0"/>
  </c:chart>
  <c:spPr>
    <a:noFill/>
    <a:ln w="12700">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3">
                <a:lumMod val="75000"/>
              </a:schemeClr>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1-5A0D-CB4F-A5BA-2243E3155E25}"/>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2021年</c:v>
                </c:pt>
                <c:pt idx="1">
                  <c:v>2022年</c:v>
                </c:pt>
                <c:pt idx="2">
                  <c:v>2023年</c:v>
                </c:pt>
                <c:pt idx="3">
                  <c:v>2024年</c:v>
                </c:pt>
                <c:pt idx="4">
                  <c:v>2025年</c:v>
                </c:pt>
              </c:strCache>
            </c:strRef>
          </c:cat>
          <c:val>
            <c:numRef>
              <c:f>Sheet1!$B$2:$B$6</c:f>
              <c:numCache>
                <c:formatCode>General</c:formatCode>
                <c:ptCount val="5"/>
                <c:pt idx="0">
                  <c:v>50</c:v>
                </c:pt>
                <c:pt idx="1">
                  <c:v>65</c:v>
                </c:pt>
                <c:pt idx="2">
                  <c:v>68</c:v>
                </c:pt>
                <c:pt idx="3">
                  <c:v>75</c:v>
                </c:pt>
                <c:pt idx="4">
                  <c:v>81</c:v>
                </c:pt>
              </c:numCache>
            </c:numRef>
          </c:val>
          <c:extLst>
            <c:ext xmlns:c16="http://schemas.microsoft.com/office/drawing/2014/chart" uri="{C3380CC4-5D6E-409C-BE32-E72D297353CC}">
              <c16:uniqueId val="{00000002-5A0D-CB4F-A5BA-2243E3155E25}"/>
            </c:ext>
          </c:extLst>
        </c:ser>
        <c:dLbls>
          <c:showLegendKey val="0"/>
          <c:showVal val="0"/>
          <c:showCatName val="0"/>
          <c:showSerName val="0"/>
          <c:showPercent val="0"/>
          <c:showBubbleSize val="0"/>
        </c:dLbls>
        <c:gapWidth val="75"/>
        <c:axId val="1056686096"/>
        <c:axId val="768054912"/>
      </c:barChart>
      <c:catAx>
        <c:axId val="1056686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768054912"/>
        <c:crosses val="autoZero"/>
        <c:auto val="1"/>
        <c:lblAlgn val="ctr"/>
        <c:lblOffset val="100"/>
        <c:noMultiLvlLbl val="0"/>
      </c:catAx>
      <c:valAx>
        <c:axId val="7680549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056686096"/>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申请量</c:v>
                </c:pt>
              </c:strCache>
            </c:strRef>
          </c:tx>
          <c:spPr>
            <a:solidFill>
              <a:schemeClr val="accent3">
                <a:lumMod val="75000"/>
              </a:schemeClr>
            </a:solidFill>
            <a:ln>
              <a:noFill/>
            </a:ln>
            <a:effectLst/>
          </c:spPr>
          <c:invertIfNegative val="0"/>
          <c:cat>
            <c:strRef>
              <c:f>Sheet1!$A$2:$A$5</c:f>
              <c:strCache>
                <c:ptCount val="4"/>
                <c:pt idx="0">
                  <c:v>2022年</c:v>
                </c:pt>
                <c:pt idx="1">
                  <c:v>2023年</c:v>
                </c:pt>
                <c:pt idx="2">
                  <c:v>2024年</c:v>
                </c:pt>
                <c:pt idx="3">
                  <c:v>2025年</c:v>
                </c:pt>
              </c:strCache>
            </c:strRef>
          </c:cat>
          <c:val>
            <c:numRef>
              <c:f>Sheet1!$B$2:$B$5</c:f>
              <c:numCache>
                <c:formatCode>General</c:formatCode>
                <c:ptCount val="4"/>
                <c:pt idx="0">
                  <c:v>11000</c:v>
                </c:pt>
                <c:pt idx="1">
                  <c:v>15125</c:v>
                </c:pt>
                <c:pt idx="2">
                  <c:v>14230</c:v>
                </c:pt>
                <c:pt idx="3">
                  <c:v>8504</c:v>
                </c:pt>
              </c:numCache>
            </c:numRef>
          </c:val>
          <c:extLst>
            <c:ext xmlns:c16="http://schemas.microsoft.com/office/drawing/2014/chart" uri="{C3380CC4-5D6E-409C-BE32-E72D297353CC}">
              <c16:uniqueId val="{00000000-CB71-8A41-8CBD-C9420BAEF274}"/>
            </c:ext>
          </c:extLst>
        </c:ser>
        <c:ser>
          <c:idx val="1"/>
          <c:order val="1"/>
          <c:tx>
            <c:strRef>
              <c:f>Sheet1!$C$1</c:f>
              <c:strCache>
                <c:ptCount val="1"/>
                <c:pt idx="0">
                  <c:v>公开量</c:v>
                </c:pt>
              </c:strCache>
            </c:strRef>
          </c:tx>
          <c:spPr>
            <a:solidFill>
              <a:schemeClr val="accent6">
                <a:lumMod val="90000"/>
              </a:schemeClr>
            </a:solidFill>
            <a:ln>
              <a:noFill/>
            </a:ln>
            <a:effectLst/>
          </c:spPr>
          <c:invertIfNegative val="0"/>
          <c:cat>
            <c:strRef>
              <c:f>Sheet1!$A$2:$A$5</c:f>
              <c:strCache>
                <c:ptCount val="4"/>
                <c:pt idx="0">
                  <c:v>2022年</c:v>
                </c:pt>
                <c:pt idx="1">
                  <c:v>2023年</c:v>
                </c:pt>
                <c:pt idx="2">
                  <c:v>2024年</c:v>
                </c:pt>
                <c:pt idx="3">
                  <c:v>2025年</c:v>
                </c:pt>
              </c:strCache>
            </c:strRef>
          </c:cat>
          <c:val>
            <c:numRef>
              <c:f>Sheet1!$C$2:$C$5</c:f>
              <c:numCache>
                <c:formatCode>General</c:formatCode>
                <c:ptCount val="4"/>
                <c:pt idx="0">
                  <c:v>8012</c:v>
                </c:pt>
                <c:pt idx="1">
                  <c:v>14200</c:v>
                </c:pt>
                <c:pt idx="2">
                  <c:v>20132</c:v>
                </c:pt>
                <c:pt idx="3">
                  <c:v>15420</c:v>
                </c:pt>
              </c:numCache>
            </c:numRef>
          </c:val>
          <c:extLst>
            <c:ext xmlns:c16="http://schemas.microsoft.com/office/drawing/2014/chart" uri="{C3380CC4-5D6E-409C-BE32-E72D297353CC}">
              <c16:uniqueId val="{00000001-CB71-8A41-8CBD-C9420BAEF274}"/>
            </c:ext>
          </c:extLst>
        </c:ser>
        <c:dLbls>
          <c:showLegendKey val="0"/>
          <c:showVal val="0"/>
          <c:showCatName val="0"/>
          <c:showSerName val="0"/>
          <c:showPercent val="0"/>
          <c:showBubbleSize val="0"/>
        </c:dLbls>
        <c:gapWidth val="150"/>
        <c:overlap val="100"/>
        <c:axId val="924622192"/>
        <c:axId val="953430848"/>
      </c:barChart>
      <c:catAx>
        <c:axId val="924622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953430848"/>
        <c:crosses val="autoZero"/>
        <c:auto val="1"/>
        <c:lblAlgn val="ctr"/>
        <c:lblOffset val="100"/>
        <c:noMultiLvlLbl val="0"/>
      </c:catAx>
      <c:valAx>
        <c:axId val="9534308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92462219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不同代际使用社交媒体的消费渠道</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bar"/>
        <c:grouping val="clustered"/>
        <c:varyColors val="0"/>
        <c:ser>
          <c:idx val="0"/>
          <c:order val="0"/>
          <c:tx>
            <c:strRef>
              <c:f>Sheet1!$B$1</c:f>
              <c:strCache>
                <c:ptCount val="1"/>
                <c:pt idx="0">
                  <c:v>Z世代</c:v>
                </c:pt>
              </c:strCache>
            </c:strRef>
          </c:tx>
          <c:spPr>
            <a:solidFill>
              <a:schemeClr val="accent1"/>
            </a:solidFill>
            <a:ln>
              <a:noFill/>
            </a:ln>
            <a:effectLst/>
          </c:spPr>
          <c:invertIfNegative val="0"/>
          <c:dPt>
            <c:idx val="2"/>
            <c:invertIfNegative val="0"/>
            <c:bubble3D val="0"/>
            <c:spPr>
              <a:solidFill>
                <a:schemeClr val="accent4"/>
              </a:solidFill>
              <a:ln>
                <a:noFill/>
              </a:ln>
              <a:effectLst/>
            </c:spPr>
            <c:extLst>
              <c:ext xmlns:c16="http://schemas.microsoft.com/office/drawing/2014/chart" uri="{C3380CC4-5D6E-409C-BE32-E72D297353CC}">
                <c16:uniqueId val="{00000001-AEEE-9541-B8AD-E78D9FEBAC8A}"/>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AEEE-9541-B8AD-E78D9FEBAC8A}"/>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Sheet1!$B$2:$B$5</c:f>
              <c:numCache>
                <c:formatCode>0%</c:formatCode>
                <c:ptCount val="4"/>
                <c:pt idx="0">
                  <c:v>0.24</c:v>
                </c:pt>
                <c:pt idx="1">
                  <c:v>0.26</c:v>
                </c:pt>
                <c:pt idx="2">
                  <c:v>0.31</c:v>
                </c:pt>
                <c:pt idx="3">
                  <c:v>0.31</c:v>
                </c:pt>
              </c:numCache>
            </c:numRef>
          </c:val>
          <c:extLst>
            <c:ext xmlns:c16="http://schemas.microsoft.com/office/drawing/2014/chart" uri="{C3380CC4-5D6E-409C-BE32-E72D297353CC}">
              <c16:uniqueId val="{00000004-AEEE-9541-B8AD-E78D9FEBAC8A}"/>
            </c:ext>
          </c:extLst>
        </c:ser>
        <c:ser>
          <c:idx val="1"/>
          <c:order val="1"/>
          <c:tx>
            <c:strRef>
              <c:f>Sheet1!$C$1</c:f>
              <c:strCache>
                <c:ptCount val="1"/>
                <c:pt idx="0">
                  <c:v>Y世代</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Sheet1!$C$2:$C$5</c:f>
              <c:numCache>
                <c:formatCode>0%</c:formatCode>
                <c:ptCount val="4"/>
                <c:pt idx="0">
                  <c:v>0.18</c:v>
                </c:pt>
                <c:pt idx="1">
                  <c:v>0.25</c:v>
                </c:pt>
                <c:pt idx="2">
                  <c:v>0.28000000000000003</c:v>
                </c:pt>
                <c:pt idx="3">
                  <c:v>0.3</c:v>
                </c:pt>
              </c:numCache>
            </c:numRef>
          </c:val>
          <c:extLst>
            <c:ext xmlns:c16="http://schemas.microsoft.com/office/drawing/2014/chart" uri="{C3380CC4-5D6E-409C-BE32-E72D297353CC}">
              <c16:uniqueId val="{00000005-AEEE-9541-B8AD-E78D9FEBAC8A}"/>
            </c:ext>
          </c:extLst>
        </c:ser>
        <c:ser>
          <c:idx val="2"/>
          <c:order val="2"/>
          <c:tx>
            <c:strRef>
              <c:f>Sheet1!$D$1</c:f>
              <c:strCache>
                <c:ptCount val="1"/>
                <c:pt idx="0">
                  <c:v>X世代</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Sheet1!$D$2:$D$5</c:f>
              <c:numCache>
                <c:formatCode>0%</c:formatCode>
                <c:ptCount val="4"/>
                <c:pt idx="0">
                  <c:v>0.08</c:v>
                </c:pt>
                <c:pt idx="1">
                  <c:v>0.18</c:v>
                </c:pt>
                <c:pt idx="2">
                  <c:v>0.17</c:v>
                </c:pt>
                <c:pt idx="3">
                  <c:v>0.19</c:v>
                </c:pt>
              </c:numCache>
            </c:numRef>
          </c:val>
          <c:extLst>
            <c:ext xmlns:c16="http://schemas.microsoft.com/office/drawing/2014/chart" uri="{C3380CC4-5D6E-409C-BE32-E72D297353CC}">
              <c16:uniqueId val="{00000006-AEEE-9541-B8AD-E78D9FEBAC8A}"/>
            </c:ext>
          </c:extLst>
        </c:ser>
        <c:dLbls>
          <c:showLegendKey val="0"/>
          <c:showVal val="1"/>
          <c:showCatName val="0"/>
          <c:showSerName val="0"/>
          <c:showPercent val="0"/>
          <c:showBubbleSize val="0"/>
        </c:dLbls>
        <c:gapWidth val="182"/>
        <c:axId val="327147664"/>
        <c:axId val="327144752"/>
      </c:barChart>
      <c:catAx>
        <c:axId val="327147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327144752"/>
        <c:crosses val="autoZero"/>
        <c:auto val="1"/>
        <c:lblAlgn val="ctr"/>
        <c:lblOffset val="100"/>
        <c:noMultiLvlLbl val="0"/>
      </c:catAx>
      <c:valAx>
        <c:axId val="327144752"/>
        <c:scaling>
          <c:orientation val="minMax"/>
        </c:scaling>
        <c:delete val="1"/>
        <c:axPos val="b"/>
        <c:numFmt formatCode="0%" sourceLinked="1"/>
        <c:majorTickMark val="none"/>
        <c:minorTickMark val="none"/>
        <c:tickLblPos val="nextTo"/>
        <c:crossAx val="327147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solidFill>
                  <a:schemeClr val="tx1"/>
                </a:solidFill>
                <a:ea typeface="思源黑体 CN Normal" panose="020B0400000000000000" charset="-122"/>
                <a:cs typeface="Roboto" panose="02000000000000000000" charset="0"/>
              </a:rPr>
              <a:t>不同代际认为最具影响力的广告</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bar"/>
        <c:grouping val="clustered"/>
        <c:varyColors val="0"/>
        <c:ser>
          <c:idx val="0"/>
          <c:order val="0"/>
          <c:tx>
            <c:strRef>
              <c:f>Sheet1!$B$1</c:f>
              <c:strCache>
                <c:ptCount val="1"/>
                <c:pt idx="0">
                  <c:v>Z世代</c:v>
                </c:pt>
              </c:strCache>
            </c:strRef>
          </c:tx>
          <c:spPr>
            <a:solidFill>
              <a:schemeClr val="accent1"/>
            </a:solidFill>
            <a:ln>
              <a:noFill/>
            </a:ln>
            <a:effectLst/>
          </c:spPr>
          <c:invertIfNegative val="0"/>
          <c:dPt>
            <c:idx val="2"/>
            <c:invertIfNegative val="0"/>
            <c:bubble3D val="0"/>
            <c:spPr>
              <a:solidFill>
                <a:schemeClr val="accent4"/>
              </a:solidFill>
              <a:ln>
                <a:noFill/>
              </a:ln>
              <a:effectLst/>
            </c:spPr>
            <c:extLst>
              <c:ext xmlns:c16="http://schemas.microsoft.com/office/drawing/2014/chart" uri="{C3380CC4-5D6E-409C-BE32-E72D297353CC}">
                <c16:uniqueId val="{00000001-A9BF-E844-B52B-A79A182380F6}"/>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A9BF-E844-B52B-A79A182380F6}"/>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Sheet1!$B$2:$B$5</c:f>
              <c:numCache>
                <c:formatCode>0%</c:formatCode>
                <c:ptCount val="4"/>
                <c:pt idx="0">
                  <c:v>0.11</c:v>
                </c:pt>
                <c:pt idx="1">
                  <c:v>0.21</c:v>
                </c:pt>
                <c:pt idx="2">
                  <c:v>0.25</c:v>
                </c:pt>
                <c:pt idx="3">
                  <c:v>0.37</c:v>
                </c:pt>
              </c:numCache>
            </c:numRef>
          </c:val>
          <c:extLst>
            <c:ext xmlns:c16="http://schemas.microsoft.com/office/drawing/2014/chart" uri="{C3380CC4-5D6E-409C-BE32-E72D297353CC}">
              <c16:uniqueId val="{00000004-A9BF-E844-B52B-A79A182380F6}"/>
            </c:ext>
          </c:extLst>
        </c:ser>
        <c:ser>
          <c:idx val="1"/>
          <c:order val="1"/>
          <c:tx>
            <c:strRef>
              <c:f>Sheet1!$C$1</c:f>
              <c:strCache>
                <c:ptCount val="1"/>
                <c:pt idx="0">
                  <c:v>Y世代</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Sheet1!$C$2:$C$5</c:f>
              <c:numCache>
                <c:formatCode>0%</c:formatCode>
                <c:ptCount val="4"/>
                <c:pt idx="0">
                  <c:v>0.28999999999999998</c:v>
                </c:pt>
                <c:pt idx="1">
                  <c:v>0.2</c:v>
                </c:pt>
                <c:pt idx="2">
                  <c:v>0.16</c:v>
                </c:pt>
                <c:pt idx="3">
                  <c:v>0.22</c:v>
                </c:pt>
              </c:numCache>
            </c:numRef>
          </c:val>
          <c:extLst>
            <c:ext xmlns:c16="http://schemas.microsoft.com/office/drawing/2014/chart" uri="{C3380CC4-5D6E-409C-BE32-E72D297353CC}">
              <c16:uniqueId val="{00000005-A9BF-E844-B52B-A79A182380F6}"/>
            </c:ext>
          </c:extLst>
        </c:ser>
        <c:ser>
          <c:idx val="2"/>
          <c:order val="2"/>
          <c:tx>
            <c:strRef>
              <c:f>Sheet1!$D$1</c:f>
              <c:strCache>
                <c:ptCount val="1"/>
                <c:pt idx="0">
                  <c:v>X世代</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Sheet1!$D$2:$D$5</c:f>
              <c:numCache>
                <c:formatCode>0%</c:formatCode>
                <c:ptCount val="4"/>
                <c:pt idx="0">
                  <c:v>0.41</c:v>
                </c:pt>
                <c:pt idx="1">
                  <c:v>0.15</c:v>
                </c:pt>
                <c:pt idx="2">
                  <c:v>7.0000000000000007E-2</c:v>
                </c:pt>
                <c:pt idx="3">
                  <c:v>0.13</c:v>
                </c:pt>
              </c:numCache>
            </c:numRef>
          </c:val>
          <c:extLst>
            <c:ext xmlns:c16="http://schemas.microsoft.com/office/drawing/2014/chart" uri="{C3380CC4-5D6E-409C-BE32-E72D297353CC}">
              <c16:uniqueId val="{00000006-A9BF-E844-B52B-A79A182380F6}"/>
            </c:ext>
          </c:extLst>
        </c:ser>
        <c:dLbls>
          <c:showLegendKey val="0"/>
          <c:showVal val="1"/>
          <c:showCatName val="0"/>
          <c:showSerName val="0"/>
          <c:showPercent val="0"/>
          <c:showBubbleSize val="0"/>
        </c:dLbls>
        <c:gapWidth val="182"/>
        <c:axId val="327147664"/>
        <c:axId val="327144752"/>
      </c:barChart>
      <c:catAx>
        <c:axId val="327147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327144752"/>
        <c:crosses val="autoZero"/>
        <c:auto val="1"/>
        <c:lblAlgn val="ctr"/>
        <c:lblOffset val="100"/>
        <c:noMultiLvlLbl val="0"/>
      </c:catAx>
      <c:valAx>
        <c:axId val="327144752"/>
        <c:scaling>
          <c:orientation val="minMax"/>
        </c:scaling>
        <c:delete val="1"/>
        <c:axPos val="b"/>
        <c:numFmt formatCode="0%" sourceLinked="1"/>
        <c:majorTickMark val="none"/>
        <c:minorTickMark val="none"/>
        <c:tickLblPos val="nextTo"/>
        <c:crossAx val="327147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328-2F4F-86E7-84AFA64B0AF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328-2F4F-86E7-84AFA64B0AF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328-2F4F-86E7-84AFA64B0AF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328-2F4F-86E7-84AFA64B0AFF}"/>
              </c:ext>
            </c:extLst>
          </c:dPt>
          <c:dLbls>
            <c:spPr>
              <a:noFill/>
              <a:ln>
                <a:noFill/>
              </a:ln>
              <a:effectLst/>
            </c:spPr>
            <c:txPr>
              <a:bodyPr rot="0" spcFirstLastPara="1" vertOverflow="ellipsis" vert="horz" wrap="square" lIns="38100" tIns="19050" rIns="38100" bIns="19050" anchor="ctr" anchorCtr="1"/>
              <a:lstStyle/>
              <a:p>
                <a:pPr>
                  <a:defRPr lang="zh-CN" sz="1700"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1个</c:v>
                </c:pt>
                <c:pt idx="1">
                  <c:v>2个</c:v>
                </c:pt>
                <c:pt idx="2">
                  <c:v>3个</c:v>
                </c:pt>
                <c:pt idx="3">
                  <c:v>≥4个</c:v>
                </c:pt>
              </c:strCache>
            </c:strRef>
          </c:cat>
          <c:val>
            <c:numRef>
              <c:f>Sheet1!$B$2:$B$5</c:f>
              <c:numCache>
                <c:formatCode>0%</c:formatCode>
                <c:ptCount val="4"/>
                <c:pt idx="0">
                  <c:v>0.26</c:v>
                </c:pt>
                <c:pt idx="1">
                  <c:v>0.42</c:v>
                </c:pt>
                <c:pt idx="2">
                  <c:v>0.28000000000000003</c:v>
                </c:pt>
                <c:pt idx="3">
                  <c:v>0.04</c:v>
                </c:pt>
              </c:numCache>
            </c:numRef>
          </c:val>
          <c:extLst>
            <c:ext xmlns:c16="http://schemas.microsoft.com/office/drawing/2014/chart" uri="{C3380CC4-5D6E-409C-BE32-E72D297353CC}">
              <c16:uniqueId val="{00000008-4328-2F4F-86E7-84AFA64B0AFF}"/>
            </c:ext>
          </c:extLst>
        </c:ser>
        <c:dLbls>
          <c:showLegendKey val="0"/>
          <c:showVal val="1"/>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16103998363840899"/>
          <c:y val="0.94350324320071"/>
          <c:w val="0.65960681051232195"/>
          <c:h val="5.6496756799289699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岗位数</c:v>
                </c:pt>
              </c:strCache>
            </c:strRef>
          </c:tx>
          <c:cat>
            <c:strRef>
              <c:f>Sheet1!$A$2:$A$6</c:f>
              <c:strCache>
                <c:ptCount val="5"/>
                <c:pt idx="0">
                  <c:v>互联网/IT</c:v>
                </c:pt>
                <c:pt idx="1">
                  <c:v>AI/机器学习</c:v>
                </c:pt>
                <c:pt idx="2">
                  <c:v>云计算/DevOps</c:v>
                </c:pt>
                <c:pt idx="3">
                  <c:v>数据科学</c:v>
                </c:pt>
                <c:pt idx="4">
                  <c:v>嵌入式与物联网</c:v>
                </c:pt>
              </c:strCache>
            </c:strRef>
          </c:cat>
          <c:val>
            <c:numRef>
              <c:f>Sheet1!$B$2:$B$6</c:f>
              <c:numCache>
                <c:formatCode>General</c:formatCode>
                <c:ptCount val="5"/>
                <c:pt idx="0">
                  <c:v>363</c:v>
                </c:pt>
                <c:pt idx="1">
                  <c:v>41</c:v>
                </c:pt>
                <c:pt idx="2">
                  <c:v>22</c:v>
                </c:pt>
                <c:pt idx="3">
                  <c:v>8</c:v>
                </c:pt>
                <c:pt idx="4">
                  <c:v>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引用数</c:v>
                </c:pt>
              </c:strCache>
            </c:strRef>
          </c:tx>
          <c:cat>
            <c:strRef>
              <c:f>Sheet1!$A$2:$A$9</c:f>
              <c:strCache>
                <c:ptCount val="8"/>
                <c:pt idx="0">
                  <c:v>Python</c:v>
                </c:pt>
                <c:pt idx="1">
                  <c:v>SQL</c:v>
                </c:pt>
                <c:pt idx="2">
                  <c:v>Java</c:v>
                </c:pt>
                <c:pt idx="3">
                  <c:v>Kubernetes</c:v>
                </c:pt>
                <c:pt idx="4">
                  <c:v>Docker</c:v>
                </c:pt>
                <c:pt idx="5">
                  <c:v>Go</c:v>
                </c:pt>
                <c:pt idx="6">
                  <c:v>C++</c:v>
                </c:pt>
                <c:pt idx="7">
                  <c:v>Linux</c:v>
                </c:pt>
              </c:strCache>
            </c:strRef>
          </c:cat>
          <c:val>
            <c:numRef>
              <c:f>Sheet1!$B$2:$B$9</c:f>
              <c:numCache>
                <c:formatCode>General</c:formatCode>
                <c:ptCount val="8"/>
                <c:pt idx="0">
                  <c:v>164</c:v>
                </c:pt>
                <c:pt idx="1">
                  <c:v>83</c:v>
                </c:pt>
                <c:pt idx="2">
                  <c:v>53</c:v>
                </c:pt>
                <c:pt idx="3">
                  <c:v>51</c:v>
                </c:pt>
                <c:pt idx="4">
                  <c:v>44</c:v>
                </c:pt>
                <c:pt idx="5">
                  <c:v>42</c:v>
                </c:pt>
                <c:pt idx="6">
                  <c:v>33</c:v>
                </c:pt>
                <c:pt idx="7">
                  <c:v>30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得分</c:v>
                </c:pt>
              </c:strCache>
            </c:strRef>
          </c:tx>
          <c:cat>
            <c:strRef>
              <c:f>Sheet1!$A$2:$A$4</c:f>
              <c:strCache>
                <c:ptCount val="3"/>
                <c:pt idx="0">
                  <c:v>JD 解析 F1</c:v>
                </c:pt>
                <c:pt idx="1">
                  <c:v>简历提取 F1</c:v>
                </c:pt>
                <c:pt idx="2">
                  <c:v>人岗匹配</c:v>
                </c:pt>
              </c:strCache>
            </c:strRef>
          </c:cat>
          <c:val>
            <c:numRef>
              <c:f>Sheet1!$B$2:$B$4</c:f>
              <c:numCache>
                <c:formatCode>General</c:formatCode>
                <c:ptCount val="3"/>
                <c:pt idx="0">
                  <c:v>96.22</c:v>
                </c:pt>
                <c:pt idx="1">
                  <c:v>91.58</c:v>
                </c:pt>
                <c:pt idx="2">
                  <c:v>97.45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岗位数</c:v>
                </c:pt>
              </c:strCache>
            </c:strRef>
          </c:tx>
          <c:cat>
            <c:strRef>
              <c:f>Sheet1!$A$2:$A$6</c:f>
              <c:strCache>
                <c:ptCount val="5"/>
                <c:pt idx="0">
                  <c:v>互联网/IT</c:v>
                </c:pt>
                <c:pt idx="1">
                  <c:v>AI/机器学习</c:v>
                </c:pt>
                <c:pt idx="2">
                  <c:v>云计算/DevOps</c:v>
                </c:pt>
                <c:pt idx="3">
                  <c:v>数据科学</c:v>
                </c:pt>
                <c:pt idx="4">
                  <c:v>嵌入式与物联网</c:v>
                </c:pt>
              </c:strCache>
            </c:strRef>
          </c:cat>
          <c:val>
            <c:numRef>
              <c:f>Sheet1!$B$2:$B$6</c:f>
              <c:numCache>
                <c:formatCode>General</c:formatCode>
                <c:ptCount val="5"/>
                <c:pt idx="0">
                  <c:v>363</c:v>
                </c:pt>
                <c:pt idx="1">
                  <c:v>41</c:v>
                </c:pt>
                <c:pt idx="2">
                  <c:v>22</c:v>
                </c:pt>
                <c:pt idx="3">
                  <c:v>8</c:v>
                </c:pt>
                <c:pt idx="4">
                  <c:v>8</c:v>
                </c:pt>
              </c:numCache>
            </c:numRef>
          </c:val>
        </c:ser>
      </c:pieChart>
    </c:plotArea>
    <c:dispBlanksAs val="gap"/>
  </c:chart>
  <c:txPr>
    <a:bodyPr/>
    <a:lstStyle/>
    <a:p>
      <a:pPr>
        <a:defRPr sz="1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岗位数</c:v>
                </c:pt>
              </c:strCache>
            </c:strRef>
          </c:tx>
          <c:cat>
            <c:strRef>
              <c:f>Sheet1!$A$2:$A$6</c:f>
              <c:strCache>
                <c:ptCount val="5"/>
                <c:pt idx="0">
                  <c:v>互联网/IT</c:v>
                </c:pt>
                <c:pt idx="1">
                  <c:v>AI/机器学习</c:v>
                </c:pt>
                <c:pt idx="2">
                  <c:v>云计算/DevOps</c:v>
                </c:pt>
                <c:pt idx="3">
                  <c:v>数据科学</c:v>
                </c:pt>
                <c:pt idx="4">
                  <c:v>嵌入式与物联网</c:v>
                </c:pt>
              </c:strCache>
            </c:strRef>
          </c:cat>
          <c:val>
            <c:numRef>
              <c:f>Sheet1!$B$2:$B$6</c:f>
              <c:numCache>
                <c:formatCode>General</c:formatCode>
                <c:ptCount val="5"/>
                <c:pt idx="0">
                  <c:v>363</c:v>
                </c:pt>
                <c:pt idx="1">
                  <c:v>41</c:v>
                </c:pt>
                <c:pt idx="2">
                  <c:v>22</c:v>
                </c:pt>
                <c:pt idx="3">
                  <c:v>8</c:v>
                </c:pt>
                <c:pt idx="4">
                  <c:v>8</c:v>
                </c:pt>
              </c:numCache>
            </c:numRef>
          </c:val>
        </c:ser>
        <c:overlap val="10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值</c:v>
                </c:pt>
              </c:strCache>
            </c:strRef>
          </c:tx>
          <c:cat>
            <c:strRef>
              <c:f>Sheet1!$A$2:$A$5</c:f>
              <c:strCache>
                <c:ptCount val="4"/>
                <c:pt idx="0">
                  <c:v>新增技能</c:v>
                </c:pt>
                <c:pt idx="1">
                  <c:v>技能移除</c:v>
                </c:pt>
                <c:pt idx="2">
                  <c:v>技能升级</c:v>
                </c:pt>
                <c:pt idx="3">
                  <c:v>技能降级</c:v>
                </c:pt>
              </c:strCache>
            </c:strRef>
          </c:cat>
          <c:val>
            <c:numRef>
              <c:f>Sheet1!$B$2:$B$5</c:f>
              <c:numCache>
                <c:formatCode>General</c:formatCode>
                <c:ptCount val="4"/>
                <c:pt idx="0">
                  <c:v>21</c:v>
                </c:pt>
                <c:pt idx="1">
                  <c:v>4</c:v>
                </c:pt>
                <c:pt idx="2">
                  <c:v>36</c:v>
                </c:pt>
                <c:pt idx="3">
                  <c:v>12</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值</c:v>
                </c:pt>
              </c:strCache>
            </c:strRef>
          </c:tx>
          <c:cat>
            <c:strRef>
              <c:f>Sheet1!$A$2:$A$3</c:f>
              <c:strCache>
                <c:ptCount val="2"/>
                <c:pt idx="0">
                  <c:v>涌现技能</c:v>
                </c:pt>
                <c:pt idx="1">
                  <c:v>其余技能</c:v>
                </c:pt>
              </c:strCache>
            </c:strRef>
          </c:cat>
          <c:val>
            <c:numRef>
              <c:f>Sheet1!$B$2:$B$3</c:f>
              <c:numCache>
                <c:formatCode>General</c:formatCode>
                <c:ptCount val="2"/>
                <c:pt idx="0">
                  <c:v>21</c:v>
                </c:pt>
                <c:pt idx="1">
                  <c:v>1254</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值</c:v>
                </c:pt>
              </c:strCache>
            </c:strRef>
          </c:tx>
          <c:cat>
            <c:strRef>
              <c:f>Sheet1!$A$2:$A$3</c:f>
              <c:strCache>
                <c:ptCount val="2"/>
                <c:pt idx="0">
                  <c:v>信任均值 0.639</c:v>
                </c:pt>
                <c:pt idx="1">
                  <c:v>其余</c:v>
                </c:pt>
              </c:strCache>
            </c:strRef>
          </c:cat>
          <c:val>
            <c:numRef>
              <c:f>Sheet1!$B$2:$B$3</c:f>
              <c:numCache>
                <c:formatCode>General</c:formatCode>
                <c:ptCount val="2"/>
                <c:pt idx="0">
                  <c:v>0.639</c:v>
                </c:pt>
                <c:pt idx="1">
                  <c:v>0.361</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值</c:v>
                </c:pt>
              </c:strCache>
            </c:strRef>
          </c:tx>
          <c:cat>
            <c:strRef>
              <c:f>Sheet1!$A$2:$A$3</c:f>
              <c:strCache>
                <c:ptCount val="2"/>
                <c:pt idx="0">
                  <c:v>CII 通胀均值 102</c:v>
                </c:pt>
                <c:pt idx="1">
                  <c:v>其余</c:v>
                </c:pt>
              </c:strCache>
            </c:strRef>
          </c:cat>
          <c:val>
            <c:numRef>
              <c:f>Sheet1!$B$2:$B$3</c:f>
              <c:numCache>
                <c:formatCode>General</c:formatCode>
                <c:ptCount val="2"/>
                <c:pt idx="0">
                  <c:v>102</c:v>
                </c:pt>
                <c:pt idx="1">
                  <c:v>1</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值</c:v>
                </c:pt>
              </c:strCache>
            </c:strRef>
          </c:tx>
          <c:cat>
            <c:strRef>
              <c:f>Sheet1!$A$2:$A$3</c:f>
              <c:strCache>
                <c:ptCount val="2"/>
                <c:pt idx="0">
                  <c:v>自动审核 90%</c:v>
                </c:pt>
                <c:pt idx="1">
                  <c:v>人工复核</c:v>
                </c:pt>
              </c:strCache>
            </c:strRef>
          </c:cat>
          <c:val>
            <c:numRef>
              <c:f>Sheet1!$B$2:$B$3</c:f>
              <c:numCache>
                <c:formatCode>General</c:formatCode>
                <c:ptCount val="2"/>
                <c:pt idx="0">
                  <c:v>90</c:v>
                </c:pt>
                <c:pt idx="1">
                  <c:v>10</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值</c:v>
                </c:pt>
              </c:strCache>
            </c:strRef>
          </c:tx>
          <c:cat>
            <c:strRef>
              <c:f>Sheet1!$A$2:$A$9</c:f>
              <c:strCache>
                <c:ptCount val="8"/>
                <c:pt idx="0">
                  <c:v>1月</c:v>
                </c:pt>
                <c:pt idx="1">
                  <c:v>2月</c:v>
                </c:pt>
                <c:pt idx="2">
                  <c:v>3月</c:v>
                </c:pt>
                <c:pt idx="3">
                  <c:v>4月</c:v>
                </c:pt>
                <c:pt idx="4">
                  <c:v>5月</c:v>
                </c:pt>
                <c:pt idx="5">
                  <c:v>6月</c:v>
                </c:pt>
                <c:pt idx="6">
                  <c:v>7月</c:v>
                </c:pt>
                <c:pt idx="7">
                  <c:v>8月</c:v>
                </c:pt>
              </c:strCache>
            </c:strRef>
          </c:cat>
          <c:val>
            <c:numRef>
              <c:f>Sheet1!$B$2:$B$9</c:f>
              <c:numCache>
                <c:formatCode>General</c:formatCode>
                <c:ptCount val="8"/>
                <c:pt idx="0">
                  <c:v>10</c:v>
                </c:pt>
                <c:pt idx="1">
                  <c:v>15</c:v>
                </c:pt>
                <c:pt idx="2">
                  <c:v>22</c:v>
                </c:pt>
                <c:pt idx="3">
                  <c:v>18</c:v>
                </c:pt>
                <c:pt idx="4">
                  <c:v>30</c:v>
                </c:pt>
                <c:pt idx="5">
                  <c:v>45</c:v>
                </c:pt>
                <c:pt idx="6">
                  <c:v>60</c:v>
                </c:pt>
                <c:pt idx="7">
                  <c:v>80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layout/>
      <c:overlay val="0"/>
    </c:legend>
    <c:plotVisOnly val="1"/>
    <c:dispBlanksAs val="zero"/>
    <c:showDLblsOverMax val="0"/>
  </c:chart>
  <c:txPr>
    <a:bodyPr/>
    <a:lstStyle/>
    <a:p>
      <a:pPr>
        <a:defRPr sz="1800"/>
      </a:pPr>
      <a:endParaRPr/>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值</c:v>
                </c:pt>
              </c:strCache>
            </c:strRef>
          </c:tx>
          <c:cat>
            <c:strRef>
              <c:f>Sheet1!$A$2:$A$9</c:f>
              <c:strCache>
                <c:ptCount val="8"/>
                <c:pt idx="0">
                  <c:v>1月</c:v>
                </c:pt>
                <c:pt idx="1">
                  <c:v>2月</c:v>
                </c:pt>
                <c:pt idx="2">
                  <c:v>3月</c:v>
                </c:pt>
                <c:pt idx="3">
                  <c:v>4月</c:v>
                </c:pt>
                <c:pt idx="4">
                  <c:v>5月</c:v>
                </c:pt>
                <c:pt idx="5">
                  <c:v>6月</c:v>
                </c:pt>
                <c:pt idx="6">
                  <c:v>7月</c:v>
                </c:pt>
                <c:pt idx="7">
                  <c:v>8月</c:v>
                </c:pt>
              </c:strCache>
            </c:strRef>
          </c:cat>
          <c:val>
            <c:numRef>
              <c:f>Sheet1!$B$2:$B$9</c:f>
              <c:numCache>
                <c:formatCode>General</c:formatCode>
                <c:ptCount val="8"/>
                <c:pt idx="0">
                  <c:v>5</c:v>
                </c:pt>
                <c:pt idx="1">
                  <c:v>8</c:v>
                </c:pt>
                <c:pt idx="2">
                  <c:v>12</c:v>
                </c:pt>
                <c:pt idx="3">
                  <c:v>20</c:v>
                </c:pt>
                <c:pt idx="4">
                  <c:v>28</c:v>
                </c:pt>
                <c:pt idx="5">
                  <c:v>40</c:v>
                </c:pt>
                <c:pt idx="6">
                  <c:v>55</c:v>
                </c:pt>
                <c:pt idx="7">
                  <c:v>70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layout/>
      <c:overlay val="0"/>
    </c:legend>
    <c:plotVisOnly val="1"/>
    <c:dispBlanksAs val="zero"/>
    <c:showDLblsOverMax val="0"/>
  </c:chart>
  <c:txPr>
    <a:bodyPr/>
    <a:lstStyle/>
    <a:p>
      <a:pPr>
        <a:defRPr sz="1800"/>
      </a:pPr>
      <a:endParaRPr/>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值</c:v>
                </c:pt>
              </c:strCache>
            </c:strRef>
          </c:tx>
          <c:cat>
            <c:strRef>
              <c:f>Sheet1!$A$2:$A$9</c:f>
              <c:strCache>
                <c:ptCount val="8"/>
                <c:pt idx="0">
                  <c:v>1月</c:v>
                </c:pt>
                <c:pt idx="1">
                  <c:v>2月</c:v>
                </c:pt>
                <c:pt idx="2">
                  <c:v>3月</c:v>
                </c:pt>
                <c:pt idx="3">
                  <c:v>4月</c:v>
                </c:pt>
                <c:pt idx="4">
                  <c:v>5月</c:v>
                </c:pt>
                <c:pt idx="5">
                  <c:v>6月</c:v>
                </c:pt>
                <c:pt idx="6">
                  <c:v>7月</c:v>
                </c:pt>
                <c:pt idx="7">
                  <c:v>8月</c:v>
                </c:pt>
              </c:strCache>
            </c:strRef>
          </c:cat>
          <c:val>
            <c:numRef>
              <c:f>Sheet1!$B$2:$B$9</c:f>
              <c:numCache>
                <c:formatCode>General</c:formatCode>
                <c:ptCount val="8"/>
                <c:pt idx="0">
                  <c:v>8</c:v>
                </c:pt>
                <c:pt idx="1">
                  <c:v>10</c:v>
                </c:pt>
                <c:pt idx="2">
                  <c:v>15</c:v>
                </c:pt>
                <c:pt idx="3">
                  <c:v>22</c:v>
                </c:pt>
                <c:pt idx="4">
                  <c:v>25</c:v>
                </c:pt>
                <c:pt idx="5">
                  <c:v>35</c:v>
                </c:pt>
                <c:pt idx="6">
                  <c:v>48</c:v>
                </c:pt>
                <c:pt idx="7">
                  <c:v>62</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layout/>
      <c:overlay val="0"/>
    </c:legend>
    <c:plotVisOnly val="1"/>
    <c:dispBlanksAs val="zero"/>
    <c:showDLblsOverMax val="0"/>
  </c:chart>
  <c:txPr>
    <a:bodyPr/>
    <a:lstStyle/>
    <a:p>
      <a:pPr>
        <a:defRPr sz="1800"/>
      </a:pPr>
      <a:endParaRPr/>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值</c:v>
                </c:pt>
              </c:strCache>
            </c:strRef>
          </c:tx>
          <c:cat>
            <c:strRef>
              <c:f>Sheet1!$A$2:$A$9</c:f>
              <c:strCache>
                <c:ptCount val="8"/>
                <c:pt idx="0">
                  <c:v>1月</c:v>
                </c:pt>
                <c:pt idx="1">
                  <c:v>2月</c:v>
                </c:pt>
                <c:pt idx="2">
                  <c:v>3月</c:v>
                </c:pt>
                <c:pt idx="3">
                  <c:v>4月</c:v>
                </c:pt>
                <c:pt idx="4">
                  <c:v>5月</c:v>
                </c:pt>
                <c:pt idx="5">
                  <c:v>6月</c:v>
                </c:pt>
                <c:pt idx="6">
                  <c:v>7月</c:v>
                </c:pt>
                <c:pt idx="7">
                  <c:v>8月</c:v>
                </c:pt>
              </c:strCache>
            </c:strRef>
          </c:cat>
          <c:val>
            <c:numRef>
              <c:f>Sheet1!$B$2:$B$9</c:f>
              <c:numCache>
                <c:formatCode>General</c:formatCode>
                <c:ptCount val="8"/>
                <c:pt idx="0">
                  <c:v>3</c:v>
                </c:pt>
                <c:pt idx="1">
                  <c:v>6</c:v>
                </c:pt>
                <c:pt idx="2">
                  <c:v>9</c:v>
                </c:pt>
                <c:pt idx="3">
                  <c:v>14</c:v>
                </c:pt>
                <c:pt idx="4">
                  <c:v>20</c:v>
                </c:pt>
                <c:pt idx="5">
                  <c:v>30</c:v>
                </c:pt>
                <c:pt idx="6">
                  <c:v>42</c:v>
                </c:pt>
                <c:pt idx="7">
                  <c:v>58</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layout/>
      <c:overlay val="0"/>
    </c:legend>
    <c:plotVisOnly val="1"/>
    <c:dispBlanksAs val="zero"/>
    <c:showDLblsOverMax val="0"/>
  </c:chart>
  <c:txPr>
    <a:bodyPr/>
    <a:lstStyle/>
    <a:p>
      <a:pPr>
        <a:defRPr sz="1800"/>
      </a:pPr>
      <a:endParaRPr/>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值</c:v>
                </c:pt>
              </c:strCache>
            </c:strRef>
          </c:tx>
          <c:cat>
            <c:strRef>
              <c:f>Sheet1!$A$2:$A$5</c:f>
              <c:strCache>
                <c:ptCount val="4"/>
                <c:pt idx="0">
                  <c:v>新增技能</c:v>
                </c:pt>
                <c:pt idx="1">
                  <c:v>技能移除</c:v>
                </c:pt>
                <c:pt idx="2">
                  <c:v>技能升级</c:v>
                </c:pt>
                <c:pt idx="3">
                  <c:v>技能降级</c:v>
                </c:pt>
              </c:strCache>
            </c:strRef>
          </c:cat>
          <c:val>
            <c:numRef>
              <c:f>Sheet1!$B$2:$B$5</c:f>
              <c:numCache>
                <c:formatCode>General</c:formatCode>
                <c:ptCount val="4"/>
                <c:pt idx="0">
                  <c:v>21</c:v>
                </c:pt>
                <c:pt idx="1">
                  <c:v>4</c:v>
                </c:pt>
                <c:pt idx="2">
                  <c:v>36</c:v>
                </c:pt>
                <c:pt idx="3">
                  <c:v>12</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Normal" panose="020B0400000000000000" charset="-122"/>
                <a:ea typeface="思源黑体 CN Normal" panose="020B0400000000000000" charset="-122"/>
                <a:cs typeface="Roboto" panose="02000000000000000000" charset="0"/>
              </a:rPr>
              <a:t>2026/5/27</a:t>
            </a:fld>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Normal" panose="020B0400000000000000" charset="-122"/>
                <a:ea typeface="思源黑体 CN Normal" panose="020B0400000000000000" charset="-122"/>
                <a:cs typeface="Roboto" panose="02000000000000000000" charset="0"/>
              </a:rPr>
              <a:t>‹#›</a:t>
            </a:fld>
            <a:endParaRPr lang="zh-CN" altLang="en-US">
              <a:latin typeface="思源黑体 CN Normal" panose="020B0400000000000000" charset="-122"/>
              <a:ea typeface="思源黑体 CN Normal" panose="020B0400000000000000" charset="-122"/>
              <a:cs typeface="Roboto" panose="02000000000000000000"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Normal" panose="020B0400000000000000" charset="-122"/>
                <a:ea typeface="思源黑体 CN Normal" panose="020B0400000000000000" charset="-122"/>
                <a:cs typeface="Roboto" panose="02000000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Normal" panose="020B0400000000000000" charset="-122"/>
                <a:ea typeface="思源黑体 CN Normal" panose="020B0400000000000000" charset="-122"/>
                <a:cs typeface="Roboto" panose="02000000000000000000" charset="0"/>
              </a:defRPr>
            </a:lvl1pPr>
          </a:lstStyle>
          <a:p>
            <a:fld id="{C1017405-55BE-4362-88E1-BA68B5BD23CF}" type="datetimeFigureOut">
              <a:rPr lang="zh-CN" altLang="en-US" smtClean="0"/>
              <a:t>2026/5/27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Normal" panose="020B0400000000000000" charset="-122"/>
                <a:ea typeface="思源黑体 CN Normal" panose="020B0400000000000000" charset="-122"/>
                <a:cs typeface="Roboto" panose="02000000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Normal" panose="020B0400000000000000" charset="-122"/>
                <a:ea typeface="思源黑体 CN Normal" panose="020B0400000000000000" charset="-122"/>
                <a:cs typeface="Roboto" panose="02000000000000000000" charset="0"/>
              </a:defRPr>
            </a:lvl1pPr>
          </a:lstStyle>
          <a:p>
            <a:fld id="{23EB11D7-82F1-4B2E-8B4A-14F87C29933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1pPr>
    <a:lvl2pPr marL="4572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2pPr>
    <a:lvl3pPr marL="9144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3pPr>
    <a:lvl4pPr marL="13716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4pPr>
    <a:lvl5pPr marL="18288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normAutofit/>
          </a:bodyPr>
          <a:lstStyle>
            <a:lvl1pPr>
              <a:defRPr sz="3200">
                <a:solidFill>
                  <a:schemeClr val="tx2"/>
                </a:solidFill>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Normal" panose="020B0400000000000000" charset="-122"/>
              <a:ea typeface="思源黑体 CN Normal" panose="020B0400000000000000" charset="-122"/>
              <a:cs typeface="思源黑体 CN Normal" panose="020B0400000000000000" charset="-122"/>
            </a:endParaRPr>
          </a:p>
        </p:txBody>
      </p:sp>
      <p:sp>
        <p:nvSpPr>
          <p:cNvPr id="4" name="矩形: 圆角 3"/>
          <p:cNvSpPr/>
          <p:nvPr userDrawn="1"/>
        </p:nvSpPr>
        <p:spPr>
          <a:xfrm>
            <a:off x="0" y="759152"/>
            <a:ext cx="483088" cy="47414"/>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正文版式">
    <p:bg>
      <p:bgPr>
        <a:solidFill>
          <a:schemeClr val="bg1"/>
        </a:solidFill>
        <a:effectLst/>
      </p:bgPr>
    </p:bg>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EA43DEC7-B756-4BB6-BA3A-057918547624}"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3" name="直角三角形 2"/>
          <p:cNvSpPr/>
          <p:nvPr userDrawn="1"/>
        </p:nvSpPr>
        <p:spPr>
          <a:xfrm>
            <a:off x="1138946" y="126585"/>
            <a:ext cx="187960" cy="187960"/>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a typeface="+mn-ea"/>
              <a:cs typeface="思源黑体 CN Normal" panose="020B0400000000000000" charset="-122"/>
            </a:endParaRPr>
          </a:p>
        </p:txBody>
      </p:sp>
      <p:sp>
        <p:nvSpPr>
          <p:cNvPr id="4" name="矩形: 圆角 3"/>
          <p:cNvSpPr/>
          <p:nvPr userDrawn="1"/>
        </p:nvSpPr>
        <p:spPr>
          <a:xfrm>
            <a:off x="164814" y="231700"/>
            <a:ext cx="10056146" cy="468356"/>
          </a:xfrm>
          <a:prstGeom prst="roundRect">
            <a:avLst>
              <a:gd name="adj" fmla="val 9105"/>
            </a:avLst>
          </a:prstGeom>
          <a:solidFill>
            <a:schemeClr val="bg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n-ea"/>
              <a:ea typeface="+mn-ea"/>
              <a:cs typeface="思源黑体 CN Normal" panose="020B0400000000000000" charset="-122"/>
            </a:endParaRPr>
          </a:p>
        </p:txBody>
      </p:sp>
      <p:sp>
        <p:nvSpPr>
          <p:cNvPr id="8" name="矩形: 圆角 7"/>
          <p:cNvSpPr/>
          <p:nvPr userDrawn="1"/>
        </p:nvSpPr>
        <p:spPr>
          <a:xfrm>
            <a:off x="207792" y="114877"/>
            <a:ext cx="934964" cy="542155"/>
          </a:xfrm>
          <a:prstGeom prst="roundRect">
            <a:avLst>
              <a:gd name="adj" fmla="val 7297"/>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n-ea"/>
              <a:ea typeface="+mn-ea"/>
              <a:cs typeface="思源黑体 CN Normal" panose="020B0400000000000000" charset="-122"/>
            </a:endParaRPr>
          </a:p>
        </p:txBody>
      </p:sp>
      <p:sp>
        <p:nvSpPr>
          <p:cNvPr id="9" name="标题 1"/>
          <p:cNvSpPr>
            <a:spLocks noGrp="1"/>
          </p:cNvSpPr>
          <p:nvPr>
            <p:ph type="title"/>
          </p:nvPr>
        </p:nvSpPr>
        <p:spPr>
          <a:xfrm>
            <a:off x="1162740" y="222839"/>
            <a:ext cx="9058219" cy="549275"/>
          </a:xfrm>
        </p:spPr>
        <p:txBody>
          <a:bodyPr>
            <a:normAutofit/>
          </a:bodyPr>
          <a:lstStyle>
            <a:lvl1pPr>
              <a:defRPr sz="2400">
                <a:solidFill>
                  <a:schemeClr val="tx2"/>
                </a:solidFill>
                <a:latin typeface="+mj-ea"/>
                <a:ea typeface="+mj-ea"/>
              </a:defRPr>
            </a:lvl1pPr>
          </a:lstStyle>
          <a:p>
            <a:r>
              <a:rPr lang="zh-CN" altLang="en-US"/>
              <a:t>单击此处编辑母版标题样式</a:t>
            </a:r>
          </a:p>
        </p:txBody>
      </p:sp>
      <p:sp>
        <p:nvSpPr>
          <p:cNvPr id="14" name="灯片编号占位符 5"/>
          <p:cNvSpPr>
            <a:spLocks noGrp="1"/>
          </p:cNvSpPr>
          <p:nvPr>
            <p:ph type="sldNum" sz="quarter" idx="12"/>
          </p:nvPr>
        </p:nvSpPr>
        <p:spPr>
          <a:xfrm>
            <a:off x="8610600" y="6356350"/>
            <a:ext cx="2743200" cy="365125"/>
          </a:xfrm>
        </p:spPr>
        <p:txBody>
          <a:bodyPr/>
          <a:lstStyle/>
          <a:p>
            <a:fld id="{ABF57A73-E791-452B-82BC-979ECE5E6270}" type="slidenum">
              <a:rPr lang="zh-CN" altLang="en-US" smtClean="0"/>
              <a:t>‹#›</a:t>
            </a:fld>
            <a:endParaRPr lang="zh-CN" altLang="en-US"/>
          </a:p>
        </p:txBody>
      </p:sp>
      <p:sp>
        <p:nvSpPr>
          <p:cNvPr id="15" name="副标题 2"/>
          <p:cNvSpPr>
            <a:spLocks noGrp="1"/>
          </p:cNvSpPr>
          <p:nvPr>
            <p:ph type="subTitle" idx="1" hasCustomPrompt="1"/>
          </p:nvPr>
        </p:nvSpPr>
        <p:spPr>
          <a:xfrm>
            <a:off x="207792" y="191060"/>
            <a:ext cx="931154" cy="428478"/>
          </a:xfrm>
        </p:spPr>
        <p:txBody>
          <a:bodyPr>
            <a:noAutofit/>
          </a:bodyPr>
          <a:lstStyle>
            <a:lvl1pPr marL="0" indent="0" algn="ctr">
              <a:buNone/>
              <a:defRPr lang="zh-CN" altLang="en-US" sz="2800" kern="1200">
                <a:solidFill>
                  <a:schemeClr val="bg1"/>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45906" y="181867"/>
            <a:ext cx="6708129"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9" name="副标题 2"/>
          <p:cNvSpPr>
            <a:spLocks noGrp="1"/>
          </p:cNvSpPr>
          <p:nvPr>
            <p:ph type="subTitle" idx="1" hasCustomPrompt="1"/>
          </p:nvPr>
        </p:nvSpPr>
        <p:spPr>
          <a:xfrm>
            <a:off x="14752"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
        <p:nvSpPr>
          <p:cNvPr id="3" name="任意多边形: 形状 2"/>
          <p:cNvSpPr/>
          <p:nvPr userDrawn="1"/>
        </p:nvSpPr>
        <p:spPr>
          <a:xfrm>
            <a:off x="0" y="40640"/>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w="136525">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8" name="任意多边形: 形状 7"/>
          <p:cNvSpPr/>
          <p:nvPr userDrawn="1"/>
        </p:nvSpPr>
        <p:spPr>
          <a:xfrm>
            <a:off x="0" y="751462"/>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45906" y="181867"/>
            <a:ext cx="9239494"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14752"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sp>
        <p:nvSpPr>
          <p:cNvPr id="4" name="任意多边形: 形状 3"/>
          <p:cNvSpPr/>
          <p:nvPr userDrawn="1"/>
        </p:nvSpPr>
        <p:spPr>
          <a:xfrm>
            <a:off x="13208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cap="rnd">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11" name="矩形: 圆角 10"/>
          <p:cNvSpPr/>
          <p:nvPr userDrawn="1"/>
        </p:nvSpPr>
        <p:spPr>
          <a:xfrm>
            <a:off x="14752" y="772273"/>
            <a:ext cx="99060" cy="99060"/>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72194" y="181867"/>
            <a:ext cx="8713206"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grpSp>
        <p:nvGrpSpPr>
          <p:cNvPr id="24" name="组合 23"/>
          <p:cNvGrpSpPr>
            <a:grpSpLocks noChangeAspect="1"/>
          </p:cNvGrpSpPr>
          <p:nvPr userDrawn="1"/>
        </p:nvGrpSpPr>
        <p:grpSpPr>
          <a:xfrm>
            <a:off x="-1" y="69194"/>
            <a:ext cx="527807" cy="648000"/>
            <a:chOff x="0" y="135185"/>
            <a:chExt cx="439839" cy="540000"/>
          </a:xfrm>
        </p:grpSpPr>
        <p:sp>
          <p:nvSpPr>
            <p:cNvPr id="10" name="任意多边形: 形状 9"/>
            <p:cNvSpPr/>
            <p:nvPr userDrawn="1"/>
          </p:nvSpPr>
          <p:spPr>
            <a:xfrm flipV="1">
              <a:off x="178296" y="135185"/>
              <a:ext cx="261543" cy="540000"/>
            </a:xfrm>
            <a:custGeom>
              <a:avLst/>
              <a:gdLst>
                <a:gd name="connsiteX0" fmla="*/ 0 w 261543"/>
                <a:gd name="connsiteY0" fmla="*/ 0 h 575883"/>
                <a:gd name="connsiteX1" fmla="*/ 261543 w 261543"/>
                <a:gd name="connsiteY1" fmla="*/ 0 h 575883"/>
                <a:gd name="connsiteX2" fmla="*/ 164016 w 261543"/>
                <a:gd name="connsiteY2" fmla="*/ 575883 h 575883"/>
                <a:gd name="connsiteX3" fmla="*/ 0 w 261543"/>
                <a:gd name="connsiteY3" fmla="*/ 575883 h 575883"/>
              </a:gdLst>
              <a:ahLst/>
              <a:cxnLst>
                <a:cxn ang="0">
                  <a:pos x="connsiteX0" y="connsiteY0"/>
                </a:cxn>
                <a:cxn ang="0">
                  <a:pos x="connsiteX1" y="connsiteY1"/>
                </a:cxn>
                <a:cxn ang="0">
                  <a:pos x="connsiteX2" y="connsiteY2"/>
                </a:cxn>
                <a:cxn ang="0">
                  <a:pos x="connsiteX3" y="connsiteY3"/>
                </a:cxn>
              </a:cxnLst>
              <a:rect l="l" t="t" r="r" b="b"/>
              <a:pathLst>
                <a:path w="261543" h="575883">
                  <a:moveTo>
                    <a:pt x="0" y="0"/>
                  </a:moveTo>
                  <a:lnTo>
                    <a:pt x="261543" y="0"/>
                  </a:lnTo>
                  <a:lnTo>
                    <a:pt x="164016" y="575883"/>
                  </a:lnTo>
                  <a:lnTo>
                    <a:pt x="0" y="57588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cs typeface="思源黑体 CN Normal" panose="020B0400000000000000" charset="-122"/>
              </a:endParaRPr>
            </a:p>
          </p:txBody>
        </p:sp>
        <p:sp>
          <p:nvSpPr>
            <p:cNvPr id="21" name="矩形 20"/>
            <p:cNvSpPr/>
            <p:nvPr userDrawn="1"/>
          </p:nvSpPr>
          <p:spPr>
            <a:xfrm>
              <a:off x="0" y="135185"/>
              <a:ext cx="149721"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mj-ea"/>
                <a:ea typeface="+mj-ea"/>
                <a:cs typeface="思源黑体 CN Normal" panose="020B0400000000000000" charset="-122"/>
              </a:endParaRPr>
            </a:p>
          </p:txBody>
        </p:sp>
        <p:sp>
          <p:nvSpPr>
            <p:cNvPr id="22" name="任意多边形: 形状 21"/>
            <p:cNvSpPr/>
            <p:nvPr userDrawn="1"/>
          </p:nvSpPr>
          <p:spPr>
            <a:xfrm>
              <a:off x="178296" y="135185"/>
              <a:ext cx="261543" cy="540000"/>
            </a:xfrm>
            <a:custGeom>
              <a:avLst/>
              <a:gdLst>
                <a:gd name="connsiteX0" fmla="*/ 0 w 261543"/>
                <a:gd name="connsiteY0" fmla="*/ 0 h 575883"/>
                <a:gd name="connsiteX1" fmla="*/ 261543 w 261543"/>
                <a:gd name="connsiteY1" fmla="*/ 0 h 575883"/>
                <a:gd name="connsiteX2" fmla="*/ 164016 w 261543"/>
                <a:gd name="connsiteY2" fmla="*/ 575883 h 575883"/>
                <a:gd name="connsiteX3" fmla="*/ 0 w 261543"/>
                <a:gd name="connsiteY3" fmla="*/ 575883 h 575883"/>
              </a:gdLst>
              <a:ahLst/>
              <a:cxnLst>
                <a:cxn ang="0">
                  <a:pos x="connsiteX0" y="connsiteY0"/>
                </a:cxn>
                <a:cxn ang="0">
                  <a:pos x="connsiteX1" y="connsiteY1"/>
                </a:cxn>
                <a:cxn ang="0">
                  <a:pos x="connsiteX2" y="connsiteY2"/>
                </a:cxn>
                <a:cxn ang="0">
                  <a:pos x="connsiteX3" y="connsiteY3"/>
                </a:cxn>
              </a:cxnLst>
              <a:rect l="l" t="t" r="r" b="b"/>
              <a:pathLst>
                <a:path w="261543" h="575883">
                  <a:moveTo>
                    <a:pt x="0" y="0"/>
                  </a:moveTo>
                  <a:lnTo>
                    <a:pt x="261543" y="0"/>
                  </a:lnTo>
                  <a:lnTo>
                    <a:pt x="164016" y="575883"/>
                  </a:lnTo>
                  <a:lnTo>
                    <a:pt x="0" y="57588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2"/>
                </a:solidFill>
                <a:latin typeface="+mj-ea"/>
                <a:ea typeface="+mj-ea"/>
                <a:cs typeface="思源黑体 CN Normal" panose="020B0400000000000000" charset="-122"/>
              </a:endParaRPr>
            </a:p>
          </p:txBody>
        </p:sp>
      </p:grpSp>
      <p:sp>
        <p:nvSpPr>
          <p:cNvPr id="23" name="任意多边形: 形状 22"/>
          <p:cNvSpPr/>
          <p:nvPr userDrawn="1"/>
        </p:nvSpPr>
        <p:spPr>
          <a:xfrm>
            <a:off x="0" y="755814"/>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正文版式">
    <p:bg>
      <p:bgPr>
        <a:solidFill>
          <a:schemeClr val="bg1"/>
        </a:solidFill>
        <a:effectLst/>
      </p:bgPr>
    </p:bg>
    <p:spTree>
      <p:nvGrpSpPr>
        <p:cNvPr id="1" name=""/>
        <p:cNvGrpSpPr/>
        <p:nvPr/>
      </p:nvGrpSpPr>
      <p:grpSpPr>
        <a:xfrm>
          <a:off x="0" y="0"/>
          <a:ext cx="0" cy="0"/>
          <a:chOff x="0" y="0"/>
          <a:chExt cx="0" cy="0"/>
        </a:xfrm>
      </p:grpSpPr>
      <p:sp>
        <p:nvSpPr>
          <p:cNvPr id="10" name="任意多边形: 形状 9"/>
          <p:cNvSpPr/>
          <p:nvPr userDrawn="1"/>
        </p:nvSpPr>
        <p:spPr>
          <a:xfrm>
            <a:off x="541040" y="678591"/>
            <a:ext cx="997200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2" name="标题 1"/>
          <p:cNvSpPr>
            <a:spLocks noGrp="1"/>
          </p:cNvSpPr>
          <p:nvPr>
            <p:ph type="title"/>
          </p:nvPr>
        </p:nvSpPr>
        <p:spPr>
          <a:xfrm>
            <a:off x="1472194" y="181867"/>
            <a:ext cx="9295333"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8" name="组合 7"/>
          <p:cNvGrpSpPr/>
          <p:nvPr userDrawn="1"/>
        </p:nvGrpSpPr>
        <p:grpSpPr>
          <a:xfrm>
            <a:off x="114848" y="253285"/>
            <a:ext cx="468864" cy="471961"/>
            <a:chOff x="78272" y="156770"/>
            <a:chExt cx="468864" cy="471961"/>
          </a:xfrm>
        </p:grpSpPr>
        <p:sp>
          <p:nvSpPr>
            <p:cNvPr id="11" name="矩形: 圆角 10"/>
            <p:cNvSpPr/>
            <p:nvPr userDrawn="1"/>
          </p:nvSpPr>
          <p:spPr>
            <a:xfrm>
              <a:off x="448076" y="529671"/>
              <a:ext cx="99060" cy="99060"/>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
          <p:nvSpPr>
            <p:cNvPr id="3" name="矩形: 圆角 2"/>
            <p:cNvSpPr/>
            <p:nvPr userDrawn="1"/>
          </p:nvSpPr>
          <p:spPr>
            <a:xfrm flipV="1">
              <a:off x="78272" y="156770"/>
              <a:ext cx="349198" cy="349198"/>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7_正文版式">
    <p:bg>
      <p:bgPr>
        <a:solidFill>
          <a:schemeClr val="bg1"/>
        </a:solidFill>
        <a:effectLst/>
      </p:bgPr>
    </p:bg>
    <p:spTree>
      <p:nvGrpSpPr>
        <p:cNvPr id="1" name=""/>
        <p:cNvGrpSpPr/>
        <p:nvPr/>
      </p:nvGrpSpPr>
      <p:grpSpPr>
        <a:xfrm>
          <a:off x="0" y="0"/>
          <a:ext cx="0" cy="0"/>
          <a:chOff x="0" y="0"/>
          <a:chExt cx="0" cy="0"/>
        </a:xfrm>
      </p:grpSpPr>
      <p:grpSp>
        <p:nvGrpSpPr>
          <p:cNvPr id="13" name="组合 12"/>
          <p:cNvGrpSpPr/>
          <p:nvPr userDrawn="1"/>
        </p:nvGrpSpPr>
        <p:grpSpPr>
          <a:xfrm>
            <a:off x="97703" y="212369"/>
            <a:ext cx="372820" cy="378239"/>
            <a:chOff x="103418" y="162019"/>
            <a:chExt cx="372820" cy="378239"/>
          </a:xfrm>
        </p:grpSpPr>
        <p:sp>
          <p:nvSpPr>
            <p:cNvPr id="12" name="矩形: 对角圆角 11"/>
            <p:cNvSpPr/>
            <p:nvPr userDrawn="1"/>
          </p:nvSpPr>
          <p:spPr>
            <a:xfrm rot="16200000" flipH="1" flipV="1">
              <a:off x="232958" y="162019"/>
              <a:ext cx="243280" cy="243280"/>
            </a:xfrm>
            <a:prstGeom prst="round2DiagRect">
              <a:avLst>
                <a:gd name="adj1" fmla="val 0"/>
                <a:gd name="adj2" fmla="val 40726"/>
              </a:avLst>
            </a:prstGeom>
            <a:solidFill>
              <a:schemeClr val="accent3">
                <a:lumMod val="40000"/>
                <a:lumOff val="60000"/>
              </a:schemeClr>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
          <p:nvSpPr>
            <p:cNvPr id="4" name="矩形: 对角圆角 3"/>
            <p:cNvSpPr/>
            <p:nvPr userDrawn="1"/>
          </p:nvSpPr>
          <p:spPr>
            <a:xfrm rot="5400000" flipV="1">
              <a:off x="103418" y="191060"/>
              <a:ext cx="349198" cy="349198"/>
            </a:xfrm>
            <a:prstGeom prst="round2DiagRect">
              <a:avLst>
                <a:gd name="adj1" fmla="val 0"/>
                <a:gd name="adj2" fmla="val 40726"/>
              </a:avLst>
            </a:prstGeom>
            <a:solidFill>
              <a:schemeClr val="accent1"/>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grpSp>
      <p:sp>
        <p:nvSpPr>
          <p:cNvPr id="2" name="标题 1"/>
          <p:cNvSpPr>
            <a:spLocks noGrp="1"/>
          </p:cNvSpPr>
          <p:nvPr>
            <p:ph type="title"/>
          </p:nvPr>
        </p:nvSpPr>
        <p:spPr>
          <a:xfrm>
            <a:off x="1472194" y="181867"/>
            <a:ext cx="9295333"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8_正文版式">
    <p:bg>
      <p:bgPr>
        <a:solidFill>
          <a:schemeClr val="bg1"/>
        </a:solidFill>
        <a:effectLst/>
      </p:bgPr>
    </p:bg>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Normal" panose="020B0400000000000000" charset="-122"/>
              <a:ea typeface="思源黑体 CN Normal" panose="020B0400000000000000" charset="-122"/>
              <a:cs typeface="思源黑体 CN Normal" panose="020B0400000000000000" charset="-122"/>
            </a:endParaRPr>
          </a:p>
        </p:txBody>
      </p:sp>
      <p:sp>
        <p:nvSpPr>
          <p:cNvPr id="4" name="矩形: 圆角 3"/>
          <p:cNvSpPr/>
          <p:nvPr userDrawn="1"/>
        </p:nvSpPr>
        <p:spPr>
          <a:xfrm>
            <a:off x="0" y="759152"/>
            <a:ext cx="483088" cy="47414"/>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endParaRPr>
          </a:p>
        </p:txBody>
      </p:sp>
    </p:spTree>
    <p:extLst>
      <p:ext uri="{BB962C8B-B14F-4D97-AF65-F5344CB8AC3E}">
        <p14:creationId xmlns:p14="http://schemas.microsoft.com/office/powerpoint/2010/main" val="1591903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cs typeface="Roboto" panose="02000000000000000000" charset="0"/>
              </a:defRPr>
            </a:lvl1pPr>
          </a:lstStyle>
          <a:p>
            <a:fld id="{23888F2F-F518-6245-AE99-FC24448EDFDB}" type="datetimeFigureOut">
              <a:rPr kumimoji="1" lang="zh-CN" altLang="en-US" smtClean="0"/>
              <a:t>2026/5/27</a:t>
            </a:fld>
            <a:endParaRPr kumimoji="1" lang="zh-CN" altLang="en-US" dirty="0"/>
          </a:p>
        </p:txBody>
      </p:sp>
      <p:sp>
        <p:nvSpPr>
          <p:cNvPr id="3" name="Footer Placeholder 2"/>
          <p:cNvSpPr>
            <a:spLocks noGrp="1"/>
          </p:cNvSpPr>
          <p:nvPr>
            <p:ph type="ftr" sz="quarter" idx="11"/>
          </p:nvPr>
        </p:nvSpPr>
        <p:spPr/>
        <p:txBody>
          <a:bodyPr/>
          <a:lstStyle>
            <a:lvl1pPr>
              <a:defRPr>
                <a:cs typeface="Roboto" panose="02000000000000000000" charset="0"/>
              </a:defRPr>
            </a:lvl1pPr>
          </a:lstStyle>
          <a:p>
            <a:endParaRPr kumimoji="1" lang="zh-CN" altLang="en-US" dirty="0"/>
          </a:p>
        </p:txBody>
      </p:sp>
      <p:sp>
        <p:nvSpPr>
          <p:cNvPr id="4" name="Slide Number Placeholder 3"/>
          <p:cNvSpPr>
            <a:spLocks noGrp="1"/>
          </p:cNvSpPr>
          <p:nvPr>
            <p:ph type="sldNum" sz="quarter" idx="12"/>
          </p:nvPr>
        </p:nvSpPr>
        <p:spPr/>
        <p:txBody>
          <a:bodyPr/>
          <a:lstStyle>
            <a:lvl1pPr>
              <a:defRPr>
                <a:cs typeface="Roboto" panose="02000000000000000000" charset="0"/>
              </a:defRPr>
            </a:lvl1pPr>
          </a:lstStyle>
          <a:p>
            <a:fld id="{8F216E3A-9B37-D941-B935-22FFC28C44CB}" type="slidenum">
              <a:rPr kumimoji="1" lang="zh-CN" altLang="en-US" smtClean="0"/>
              <a:t>‹#›</a:t>
            </a:fld>
            <a:endParaRPr kumimoji="1"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a:prstGeom prst="rect">
            <a:avLst/>
          </a:prstGeom>
        </p:spPr>
        <p:txBody>
          <a:bodyPr vert="horz" lIns="90000" tIns="46800" rIns="90000" bIns="46800" rtlCol="0" anchor="ctr" anchorCtr="0">
            <a:normAutofit/>
          </a:bodyPr>
          <a:lstStyle>
            <a:lvl1pPr>
              <a:defRPr>
                <a:cs typeface="Roboto" panose="02000000000000000000" charset="0"/>
              </a:defRPr>
            </a:lvl1p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a:prstGeom prst="rect">
            <a:avLst/>
          </a:prstGeom>
        </p:spPr>
        <p:txBody>
          <a:bodyPr vert="horz" lIns="90000" tIns="46800" rIns="90000" bIns="46800" rtlCol="0">
            <a:normAutofit/>
          </a:bodyPr>
          <a:lstStyle>
            <a:lvl1pPr>
              <a:defRPr>
                <a:cs typeface="Roboto" panose="02000000000000000000" charset="0"/>
              </a:defRPr>
            </a:lvl1pPr>
            <a:lvl2pPr>
              <a:defRPr>
                <a:cs typeface="Roboto" panose="02000000000000000000" charset="0"/>
              </a:defRPr>
            </a:lvl2pPr>
            <a:lvl3pPr>
              <a:defRPr>
                <a:cs typeface="Roboto" panose="02000000000000000000" charset="0"/>
              </a:defRPr>
            </a:lvl3pPr>
            <a:lvl4pPr>
              <a:defRPr>
                <a:cs typeface="Roboto" panose="02000000000000000000" charset="0"/>
              </a:defRPr>
            </a:lvl4pPr>
            <a:lvl5pPr>
              <a:defRPr>
                <a:cs typeface="Roboto" panose="02000000000000000000" charset="0"/>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12000" y="6314400"/>
            <a:ext cx="2700000" cy="316800"/>
          </a:xfrm>
          <a:prstGeom prst="rect">
            <a:avLst/>
          </a:prstGeom>
        </p:spPr>
        <p:txBody>
          <a:bodyPr/>
          <a:lstStyle>
            <a:lvl1pPr>
              <a:defRPr>
                <a:cs typeface="Roboto" panose="02000000000000000000" charset="0"/>
              </a:defRPr>
            </a:lvl1p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custDataLst>
              <p:tags r:id="rId4"/>
            </p:custDataLst>
          </p:nvPr>
        </p:nvSpPr>
        <p:spPr>
          <a:xfrm>
            <a:off x="4116000" y="6314400"/>
            <a:ext cx="3960000" cy="316800"/>
          </a:xfrm>
          <a:prstGeom prst="rect">
            <a:avLst/>
          </a:prstGeom>
        </p:spPr>
        <p:txBody>
          <a:bodyPr/>
          <a:lstStyle>
            <a:lvl1pPr>
              <a:defRPr>
                <a:cs typeface="Roboto" panose="02000000000000000000" charset="0"/>
              </a:defRPr>
            </a:lvl1pPr>
          </a:lstStyle>
          <a:p>
            <a:endParaRPr lang="zh-CN" altLang="en-US"/>
          </a:p>
        </p:txBody>
      </p:sp>
      <p:sp>
        <p:nvSpPr>
          <p:cNvPr id="6" name="灯片编号占位符 5"/>
          <p:cNvSpPr>
            <a:spLocks noGrp="1"/>
          </p:cNvSpPr>
          <p:nvPr>
            <p:ph type="sldNum" sz="quarter" idx="12"/>
            <p:custDataLst>
              <p:tags r:id="rId5"/>
            </p:custDataLst>
          </p:nvPr>
        </p:nvSpPr>
        <p:spPr/>
        <p:txBody>
          <a:bodyPr/>
          <a:lstStyle>
            <a:lvl1pPr>
              <a:defRPr>
                <a:cs typeface="Roboto" panose="02000000000000000000"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文本框 7"/>
          <p:cNvSpPr txBox="1"/>
          <p:nvPr userDrawn="1"/>
        </p:nvSpPr>
        <p:spPr>
          <a:xfrm>
            <a:off x="9328607" y="395400"/>
            <a:ext cx="1138132"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职场通用</a:t>
            </a:r>
            <a:r>
              <a:rPr lang="en-US" altLang="zh-CN" sz="1400" dirty="0">
                <a:latin typeface="+mn-ea"/>
                <a:ea typeface="+mn-ea"/>
                <a:cs typeface="Roboto" panose="02000000000000000000" charset="0"/>
              </a:rPr>
              <a:t>PPT ·</a:t>
            </a:r>
            <a:endParaRPr lang="zh-CN" altLang="en-US" sz="1400" dirty="0">
              <a:latin typeface="+mn-ea"/>
              <a:ea typeface="+mn-ea"/>
              <a:cs typeface="Roboto" panose="02000000000000000000" charset="0"/>
            </a:endParaRPr>
          </a:p>
        </p:txBody>
      </p:sp>
      <p:sp>
        <p:nvSpPr>
          <p:cNvPr id="10" name="文本框 9"/>
          <p:cNvSpPr txBox="1"/>
          <p:nvPr userDrawn="1"/>
        </p:nvSpPr>
        <p:spPr>
          <a:xfrm>
            <a:off x="10523707" y="395400"/>
            <a:ext cx="634789"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可编辑 </a:t>
            </a:r>
            <a:r>
              <a:rPr lang="en-US" altLang="zh-CN" sz="1400" dirty="0">
                <a:latin typeface="+mn-ea"/>
                <a:ea typeface="+mn-ea"/>
                <a:cs typeface="Roboto" panose="02000000000000000000" charset="0"/>
              </a:rPr>
              <a:t>·</a:t>
            </a:r>
            <a:endParaRPr lang="zh-CN" altLang="en-US" sz="1400" dirty="0">
              <a:latin typeface="+mn-ea"/>
              <a:ea typeface="+mn-ea"/>
              <a:cs typeface="Roboto" panose="02000000000000000000" charset="0"/>
            </a:endParaRPr>
          </a:p>
        </p:txBody>
      </p:sp>
      <p:cxnSp>
        <p:nvCxnSpPr>
          <p:cNvPr id="14" name="直接连接符 13"/>
          <p:cNvCxnSpPr/>
          <p:nvPr userDrawn="1"/>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442914" y="204396"/>
            <a:ext cx="665124" cy="4064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panose="02000000000000000000" charset="0"/>
            </a:endParaRPr>
          </a:p>
        </p:txBody>
      </p:sp>
      <p:sp>
        <p:nvSpPr>
          <p:cNvPr id="16" name="文本框 15"/>
          <p:cNvSpPr txBox="1"/>
          <p:nvPr userDrawn="1"/>
        </p:nvSpPr>
        <p:spPr>
          <a:xfrm>
            <a:off x="11215465" y="395400"/>
            <a:ext cx="538609"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可修改</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slideLayout" Target="../slideLayouts/slideLayout52.xml"/><Relationship Id="rId4" Type="http://schemas.openxmlformats.org/officeDocument/2006/relationships/slideLayout" Target="../slideLayouts/slideLayout53.xml"/><Relationship Id="rId5" Type="http://schemas.openxmlformats.org/officeDocument/2006/relationships/slideLayout" Target="../slideLayouts/slideLayout54.xml"/><Relationship Id="rId6" Type="http://schemas.openxmlformats.org/officeDocument/2006/relationships/slideLayout" Target="../slideLayouts/slideLayout55.xml"/><Relationship Id="rId7" Type="http://schemas.openxmlformats.org/officeDocument/2006/relationships/slideLayout" Target="../slideLayouts/slideLayout56.xml"/><Relationship Id="rId8" Type="http://schemas.openxmlformats.org/officeDocument/2006/relationships/slideLayout" Target="../slideLayouts/slideLayout57.xml"/><Relationship Id="rId9" Type="http://schemas.openxmlformats.org/officeDocument/2006/relationships/slideLayout" Target="../slideLayouts/slideLayout58.xml"/><Relationship Id="rId10" Type="http://schemas.openxmlformats.org/officeDocument/2006/relationships/slideLayout" Target="../slideLayouts/slideLayout59.xml"/><Relationship Id="rId11" Type="http://schemas.openxmlformats.org/officeDocument/2006/relationships/slideLayout" Target="../slideLayouts/slideLayout60.xml"/><Relationship Id="rId1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DC3D4F0D-9D74-453B-B441-F2857EA12D4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8386823"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8386823"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fld id="{72BF69E1-6D01-4E5F-BF91-B1FB6BB74EEA}" type="datetime1">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fld id="{ABF57A73-E791-452B-82BC-979ECE5E627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71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DD0DDAD0-62D5-415E-8F4D-BC5C1043F9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35.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tags" Target="../tags/tag86.xml"/><Relationship Id="rId2"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tags" Target="../tags/tag92.xml"/><Relationship Id="rId3" Type="http://schemas.openxmlformats.org/officeDocument/2006/relationships/tags" Target="../tags/tag93.xml"/><Relationship Id="rId4" Type="http://schemas.openxmlformats.org/officeDocument/2006/relationships/tags" Target="../tags/tag94.xml"/><Relationship Id="rId5" Type="http://schemas.openxmlformats.org/officeDocument/2006/relationships/tags" Target="../tags/tag95.xml"/><Relationship Id="rId6" Type="http://schemas.openxmlformats.org/officeDocument/2006/relationships/slideLayout" Target="../slideLayouts/slideLayout35.xml"/><Relationship Id="rId7" Type="http://schemas.openxmlformats.org/officeDocument/2006/relationships/image" Target="../media/image1.png"/><Relationship Id="rId8" Type="http://schemas.openxmlformats.org/officeDocument/2006/relationships/chart" Target="../charts/chart19.xml"/><Relationship Id="rId9" Type="http://schemas.openxmlformats.org/officeDocument/2006/relationships/chart" Target="../charts/chart20.xml"/></Relationships>
</file>

<file path=ppt/slides/_rels/slide7.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tags" Target="../tags/tag96.xml"/><Relationship Id="rId2"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slideLayout" Target="../slideLayouts/slideLayout35.xml"/><Relationship Id="rId3" Type="http://schemas.openxmlformats.org/officeDocument/2006/relationships/chart" Target="../charts/chart24.xml"/><Relationship Id="rId4" Type="http://schemas.openxmlformats.org/officeDocument/2006/relationships/chart" Target="../charts/chart25.xml"/><Relationship Id="rId5" Type="http://schemas.openxmlformats.org/officeDocument/2006/relationships/chart" Target="../charts/chart26.xml"/><Relationship Id="rId6" Type="http://schemas.openxmlformats.org/officeDocument/2006/relationships/chart" Target="../charts/chart27.xml"/><Relationship Id="rId7" Type="http://schemas.openxmlformats.org/officeDocument/2006/relationships/chart" Target="../charts/chart28.xml"/><Relationship Id="rId8" Type="http://schemas.openxmlformats.org/officeDocument/2006/relationships/chart" Target="../charts/chart29.xml"/><Relationship Id="rId9" Type="http://schemas.openxmlformats.org/officeDocument/2006/relationships/chart" Target="../charts/chart30.xml"/><Relationship Id="rId10" Type="http://schemas.openxmlformats.org/officeDocument/2006/relationships/chart" Target="../charts/chart31.xml"/><Relationship Id="rId11" Type="http://schemas.openxmlformats.org/officeDocument/2006/relationships/chart" Target="../charts/chart32.xml"/><Relationship Id="rId12" Type="http://schemas.openxmlformats.org/officeDocument/2006/relationships/chart" Target="../charts/chart33.xml"/></Relationships>
</file>

<file path=ppt/slides/_rels/slide1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5.xml"/><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s>
</file>

<file path=ppt/slides/_rels/slide12.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slideLayout" Target="../slideLayouts/slideLayout35.xml"/><Relationship Id="rId3"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tags" Target="../tags/tag89.xml"/><Relationship Id="rId2"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tags" Target="../tags/tag104.xml"/><Relationship Id="rId3" Type="http://schemas.openxmlformats.org/officeDocument/2006/relationships/tags" Target="../tags/tag105.xml"/><Relationship Id="rId4" Type="http://schemas.openxmlformats.org/officeDocument/2006/relationships/tags" Target="../tags/tag106.xml"/><Relationship Id="rId5" Type="http://schemas.openxmlformats.org/officeDocument/2006/relationships/tags" Target="../tags/tag107.xml"/><Relationship Id="rId6" Type="http://schemas.openxmlformats.org/officeDocument/2006/relationships/tags" Target="../tags/tag108.xml"/><Relationship Id="rId7" Type="http://schemas.openxmlformats.org/officeDocument/2006/relationships/tags" Target="../tags/tag109.xml"/><Relationship Id="rId8" Type="http://schemas.openxmlformats.org/officeDocument/2006/relationships/tags" Target="../tags/tag110.xml"/><Relationship Id="rId9" Type="http://schemas.openxmlformats.org/officeDocument/2006/relationships/tags" Target="../tags/tag111.xml"/><Relationship Id="rId10" Type="http://schemas.openxmlformats.org/officeDocument/2006/relationships/tags" Target="../tags/tag112.xml"/><Relationship Id="rId11" Type="http://schemas.openxmlformats.org/officeDocument/2006/relationships/tags" Target="../tags/tag113.xml"/><Relationship Id="rId12" Type="http://schemas.openxmlformats.org/officeDocument/2006/relationships/tags" Target="../tags/tag114.xml"/><Relationship Id="rId13" Type="http://schemas.openxmlformats.org/officeDocument/2006/relationships/tags" Target="../tags/tag115.xml"/><Relationship Id="rId14" Type="http://schemas.openxmlformats.org/officeDocument/2006/relationships/tags" Target="../tags/tag116.xml"/><Relationship Id="rId15" Type="http://schemas.openxmlformats.org/officeDocument/2006/relationships/tags" Target="../tags/tag117.xml"/><Relationship Id="rId16" Type="http://schemas.openxmlformats.org/officeDocument/2006/relationships/tags" Target="../tags/tag118.xml"/><Relationship Id="rId17" Type="http://schemas.openxmlformats.org/officeDocument/2006/relationships/tags" Target="../tags/tag119.xml"/><Relationship Id="rId18" Type="http://schemas.openxmlformats.org/officeDocument/2006/relationships/tags" Target="../tags/tag120.xml"/><Relationship Id="rId19" Type="http://schemas.openxmlformats.org/officeDocument/2006/relationships/tags" Target="../tags/tag121.xml"/><Relationship Id="rId20" Type="http://schemas.openxmlformats.org/officeDocument/2006/relationships/tags" Target="../tags/tag122.xml"/><Relationship Id="rId21" Type="http://schemas.openxmlformats.org/officeDocument/2006/relationships/tags" Target="../tags/tag123.xml"/><Relationship Id="rId22" Type="http://schemas.openxmlformats.org/officeDocument/2006/relationships/tags" Target="../tags/tag124.xml"/><Relationship Id="rId23" Type="http://schemas.openxmlformats.org/officeDocument/2006/relationships/tags" Target="../tags/tag125.xml"/><Relationship Id="rId24" Type="http://schemas.openxmlformats.org/officeDocument/2006/relationships/tags" Target="../tags/tag126.xml"/><Relationship Id="rId25" Type="http://schemas.openxmlformats.org/officeDocument/2006/relationships/tags" Target="../tags/tag127.xml"/><Relationship Id="rId26" Type="http://schemas.openxmlformats.org/officeDocument/2006/relationships/tags" Target="../tags/tag128.xml"/><Relationship Id="rId27" Type="http://schemas.openxmlformats.org/officeDocument/2006/relationships/tags" Target="../tags/tag129.xml"/><Relationship Id="rId28" Type="http://schemas.openxmlformats.org/officeDocument/2006/relationships/tags" Target="../tags/tag130.xml"/><Relationship Id="rId29" Type="http://schemas.openxmlformats.org/officeDocument/2006/relationships/tags" Target="../tags/tag131.xml"/><Relationship Id="rId30" Type="http://schemas.openxmlformats.org/officeDocument/2006/relationships/tags" Target="../tags/tag132.xml"/><Relationship Id="rId31" Type="http://schemas.openxmlformats.org/officeDocument/2006/relationships/tags" Target="../tags/tag133.xml"/><Relationship Id="rId32" Type="http://schemas.openxmlformats.org/officeDocument/2006/relationships/tags" Target="../tags/tag134.xml"/><Relationship Id="rId33" Type="http://schemas.openxmlformats.org/officeDocument/2006/relationships/tags" Target="../tags/tag135.xml"/><Relationship Id="rId34"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tags" Target="../tags/tag136.xml"/><Relationship Id="rId2"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tags" Target="../tags/tag137.xml"/><Relationship Id="rId2"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tags" Target="../tags/tag138.xml"/><Relationship Id="rId2"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tags" Target="../tags/tag139.xml"/><Relationship Id="rId2" Type="http://schemas.openxmlformats.org/officeDocument/2006/relationships/tags" Target="../tags/tag140.xml"/><Relationship Id="rId3" Type="http://schemas.openxmlformats.org/officeDocument/2006/relationships/tags" Target="../tags/tag141.xml"/><Relationship Id="rId4" Type="http://schemas.openxmlformats.org/officeDocument/2006/relationships/tags" Target="../tags/tag142.xml"/><Relationship Id="rId5" Type="http://schemas.openxmlformats.org/officeDocument/2006/relationships/tags" Target="../tags/tag143.xml"/><Relationship Id="rId6" Type="http://schemas.openxmlformats.org/officeDocument/2006/relationships/tags" Target="../tags/tag144.xml"/><Relationship Id="rId7" Type="http://schemas.openxmlformats.org/officeDocument/2006/relationships/tags" Target="../tags/tag145.xml"/><Relationship Id="rId8" Type="http://schemas.openxmlformats.org/officeDocument/2006/relationships/tags" Target="../tags/tag146.xml"/><Relationship Id="rId9" Type="http://schemas.openxmlformats.org/officeDocument/2006/relationships/tags" Target="../tags/tag147.xml"/><Relationship Id="rId10" Type="http://schemas.openxmlformats.org/officeDocument/2006/relationships/tags" Target="../tags/tag148.xml"/><Relationship Id="rId11" Type="http://schemas.openxmlformats.org/officeDocument/2006/relationships/tags" Target="../tags/tag149.xml"/><Relationship Id="rId12" Type="http://schemas.openxmlformats.org/officeDocument/2006/relationships/tags" Target="../tags/tag150.xml"/><Relationship Id="rId13" Type="http://schemas.openxmlformats.org/officeDocument/2006/relationships/tags" Target="../tags/tag151.xml"/><Relationship Id="rId14" Type="http://schemas.openxmlformats.org/officeDocument/2006/relationships/tags" Target="../tags/tag152.xml"/><Relationship Id="rId15" Type="http://schemas.openxmlformats.org/officeDocument/2006/relationships/tags" Target="../tags/tag153.xml"/><Relationship Id="rId16" Type="http://schemas.openxmlformats.org/officeDocument/2006/relationships/tags" Target="../tags/tag154.xml"/><Relationship Id="rId17" Type="http://schemas.openxmlformats.org/officeDocument/2006/relationships/tags" Target="../tags/tag155.xml"/><Relationship Id="rId18" Type="http://schemas.openxmlformats.org/officeDocument/2006/relationships/tags" Target="../tags/tag156.xml"/><Relationship Id="rId19" Type="http://schemas.openxmlformats.org/officeDocument/2006/relationships/tags" Target="../tags/tag157.xml"/><Relationship Id="rId20" Type="http://schemas.openxmlformats.org/officeDocument/2006/relationships/tags" Target="../tags/tag158.xml"/><Relationship Id="rId21" Type="http://schemas.openxmlformats.org/officeDocument/2006/relationships/tags" Target="../tags/tag159.xml"/><Relationship Id="rId22" Type="http://schemas.openxmlformats.org/officeDocument/2006/relationships/tags" Target="../tags/tag160.xml"/><Relationship Id="rId23" Type="http://schemas.openxmlformats.org/officeDocument/2006/relationships/tags" Target="../tags/tag161.xml"/><Relationship Id="rId24" Type="http://schemas.openxmlformats.org/officeDocument/2006/relationships/tags" Target="../tags/tag162.xml"/><Relationship Id="rId25" Type="http://schemas.openxmlformats.org/officeDocument/2006/relationships/tags" Target="../tags/tag163.xml"/><Relationship Id="rId26" Type="http://schemas.openxmlformats.org/officeDocument/2006/relationships/tags" Target="../tags/tag164.xml"/><Relationship Id="rId27" Type="http://schemas.openxmlformats.org/officeDocument/2006/relationships/tags" Target="../tags/tag165.xml"/><Relationship Id="rId28" Type="http://schemas.openxmlformats.org/officeDocument/2006/relationships/tags" Target="../tags/tag166.xml"/><Relationship Id="rId29" Type="http://schemas.openxmlformats.org/officeDocument/2006/relationships/tags" Target="../tags/tag167.xml"/><Relationship Id="rId30" Type="http://schemas.openxmlformats.org/officeDocument/2006/relationships/tags" Target="../tags/tag168.xml"/><Relationship Id="rId31" Type="http://schemas.openxmlformats.org/officeDocument/2006/relationships/tags" Target="../tags/tag169.xml"/><Relationship Id="rId32" Type="http://schemas.openxmlformats.org/officeDocument/2006/relationships/tags" Target="../tags/tag170.xml"/><Relationship Id="rId33" Type="http://schemas.openxmlformats.org/officeDocument/2006/relationships/tags" Target="../tags/tag171.xml"/><Relationship Id="rId34" Type="http://schemas.openxmlformats.org/officeDocument/2006/relationships/tags" Target="../tags/tag172.xml"/><Relationship Id="rId35" Type="http://schemas.openxmlformats.org/officeDocument/2006/relationships/tags" Target="../tags/tag173.xml"/><Relationship Id="rId36" Type="http://schemas.openxmlformats.org/officeDocument/2006/relationships/tags" Target="../tags/tag174.xml"/><Relationship Id="rId37" Type="http://schemas.openxmlformats.org/officeDocument/2006/relationships/tags" Target="../tags/tag175.xml"/><Relationship Id="rId38"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tags" Target="../tags/tag178.xml"/><Relationship Id="rId2"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1" Type="http://schemas.openxmlformats.org/officeDocument/2006/relationships/tags" Target="../tags/tag179.xml"/><Relationship Id="rId2"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5.xml"/><Relationship Id="rId3" Type="http://schemas.openxmlformats.org/officeDocument/2006/relationships/chart" Target="../charts/chart2.xml"/></Relationships>
</file>

<file path=ppt/slides/_rels/slide45.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tags" Target="../tags/tag188.xml"/><Relationship Id="rId2"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1" Type="http://schemas.openxmlformats.org/officeDocument/2006/relationships/tags" Target="../tags/tag190.xml"/><Relationship Id="rId2"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1" Type="http://schemas.openxmlformats.org/officeDocument/2006/relationships/tags" Target="../tags/tag191.xml"/><Relationship Id="rId2" Type="http://schemas.openxmlformats.org/officeDocument/2006/relationships/slideLayout" Target="../slideLayouts/slideLayout42.xml"/></Relationships>
</file>

<file path=ppt/slides/_rels/slide52.xml.rels><?xml version='1.0' encoding='UTF-8' standalone='yes'?>
<Relationships xmlns="http://schemas.openxmlformats.org/package/2006/relationships"><Relationship Id="rId1" Type="http://schemas.openxmlformats.org/officeDocument/2006/relationships/tags" Target="../tags/tag192.xml"/><Relationship Id="rId2" Type="http://schemas.openxmlformats.org/officeDocument/2006/relationships/slideLayout" Target="../slideLayouts/slideLayout42.xml"/><Relationship Id="rId3" Type="http://schemas.openxmlformats.org/officeDocument/2006/relationships/chart" Target="../charts/chart3.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1" Type="http://schemas.openxmlformats.org/officeDocument/2006/relationships/tags" Target="../tags/tag193.xml"/><Relationship Id="rId2" Type="http://schemas.openxmlformats.org/officeDocument/2006/relationships/slideLayout" Target="../slideLayouts/slideLayout42.xml"/><Relationship Id="rId3" Type="http://schemas.openxmlformats.org/officeDocument/2006/relationships/chart" Target="../charts/chart5.xml"/></Relationships>
</file>

<file path=ppt/slides/_rels/slide54.xml.rels><?xml version='1.0' encoding='UTF-8' standalone='yes'?>
<Relationships xmlns="http://schemas.openxmlformats.org/package/2006/relationships"><Relationship Id="rId1" Type="http://schemas.openxmlformats.org/officeDocument/2006/relationships/tags" Target="../tags/tag194.xml"/><Relationship Id="rId2" Type="http://schemas.openxmlformats.org/officeDocument/2006/relationships/slideLayout" Target="../slideLayouts/slideLayout42.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s>
</file>

<file path=ppt/slides/_rels/slide55.xml.rels><?xml version='1.0' encoding='UTF-8' standalone='yes'?>
<Relationships xmlns="http://schemas.openxmlformats.org/package/2006/relationships"><Relationship Id="rId1" Type="http://schemas.openxmlformats.org/officeDocument/2006/relationships/tags" Target="../tags/tag195.xml"/><Relationship Id="rId2" Type="http://schemas.openxmlformats.org/officeDocument/2006/relationships/tags" Target="../tags/tag196.xml"/><Relationship Id="rId3" Type="http://schemas.openxmlformats.org/officeDocument/2006/relationships/tags" Target="../tags/tag197.xml"/><Relationship Id="rId4" Type="http://schemas.openxmlformats.org/officeDocument/2006/relationships/tags" Target="../tags/tag198.xml"/><Relationship Id="rId5" Type="http://schemas.openxmlformats.org/officeDocument/2006/relationships/tags" Target="../tags/tag199.xml"/><Relationship Id="rId6" Type="http://schemas.openxmlformats.org/officeDocument/2006/relationships/tags" Target="../tags/tag200.xml"/><Relationship Id="rId7" Type="http://schemas.openxmlformats.org/officeDocument/2006/relationships/tags" Target="../tags/tag201.xml"/><Relationship Id="rId8" Type="http://schemas.openxmlformats.org/officeDocument/2006/relationships/tags" Target="../tags/tag202.xml"/><Relationship Id="rId9" Type="http://schemas.openxmlformats.org/officeDocument/2006/relationships/tags" Target="../tags/tag203.xml"/><Relationship Id="rId10" Type="http://schemas.openxmlformats.org/officeDocument/2006/relationships/tags" Target="../tags/tag204.xml"/><Relationship Id="rId11" Type="http://schemas.openxmlformats.org/officeDocument/2006/relationships/tags" Target="../tags/tag205.xml"/><Relationship Id="rId12" Type="http://schemas.openxmlformats.org/officeDocument/2006/relationships/tags" Target="../tags/tag206.xml"/><Relationship Id="rId13" Type="http://schemas.openxmlformats.org/officeDocument/2006/relationships/tags" Target="../tags/tag207.xml"/><Relationship Id="rId14" Type="http://schemas.openxmlformats.org/officeDocument/2006/relationships/tags" Target="../tags/tag208.xml"/><Relationship Id="rId15" Type="http://schemas.openxmlformats.org/officeDocument/2006/relationships/tags" Target="../tags/tag209.xml"/><Relationship Id="rId16" Type="http://schemas.openxmlformats.org/officeDocument/2006/relationships/tags" Target="../tags/tag210.xml"/><Relationship Id="rId17" Type="http://schemas.openxmlformats.org/officeDocument/2006/relationships/tags" Target="../tags/tag211.xml"/><Relationship Id="rId18" Type="http://schemas.openxmlformats.org/officeDocument/2006/relationships/tags" Target="../tags/tag212.xml"/><Relationship Id="rId19" Type="http://schemas.openxmlformats.org/officeDocument/2006/relationships/tags" Target="../tags/tag213.xml"/><Relationship Id="rId20" Type="http://schemas.openxmlformats.org/officeDocument/2006/relationships/tags" Target="../tags/tag214.xml"/><Relationship Id="rId21" Type="http://schemas.openxmlformats.org/officeDocument/2006/relationships/tags" Target="../tags/tag215.xml"/><Relationship Id="rId22" Type="http://schemas.openxmlformats.org/officeDocument/2006/relationships/tags" Target="../tags/tag216.xml"/><Relationship Id="rId23" Type="http://schemas.openxmlformats.org/officeDocument/2006/relationships/tags" Target="../tags/tag217.xml"/><Relationship Id="rId24" Type="http://schemas.openxmlformats.org/officeDocument/2006/relationships/tags" Target="../tags/tag218.xml"/><Relationship Id="rId25" Type="http://schemas.openxmlformats.org/officeDocument/2006/relationships/tags" Target="../tags/tag219.xml"/><Relationship Id="rId26" Type="http://schemas.openxmlformats.org/officeDocument/2006/relationships/tags" Target="../tags/tag220.xml"/><Relationship Id="rId27" Type="http://schemas.openxmlformats.org/officeDocument/2006/relationships/tags" Target="../tags/tag221.xml"/><Relationship Id="rId28" Type="http://schemas.openxmlformats.org/officeDocument/2006/relationships/slideLayout" Target="../slideLayouts/slideLayout42.xml"/><Relationship Id="rId29" Type="http://schemas.openxmlformats.org/officeDocument/2006/relationships/chart" Target="../charts/chart10.xml"/><Relationship Id="rId30" Type="http://schemas.openxmlformats.org/officeDocument/2006/relationships/chart" Target="../charts/chart11.xml"/><Relationship Id="rId31" Type="http://schemas.openxmlformats.org/officeDocument/2006/relationships/chart" Target="../charts/chart12.xml"/><Relationship Id="rId32" Type="http://schemas.openxmlformats.org/officeDocument/2006/relationships/chart" Target="../charts/chart13.xml"/></Relationships>
</file>

<file path=ppt/slides/_rels/slide56.xml.rels><?xml version='1.0' encoding='UTF-8' standalone='yes'?>
<Relationships xmlns="http://schemas.openxmlformats.org/package/2006/relationships"><Relationship Id="rId1" Type="http://schemas.openxmlformats.org/officeDocument/2006/relationships/tags" Target="../tags/tag222.xml"/><Relationship Id="rId2" Type="http://schemas.openxmlformats.org/officeDocument/2006/relationships/slideLayout" Target="../slideLayouts/slideLayout42.xml"/><Relationship Id="rId3" Type="http://schemas.openxmlformats.org/officeDocument/2006/relationships/chart" Target="../charts/chart14.xml"/><Relationship Id="rId4" Type="http://schemas.openxmlformats.org/officeDocument/2006/relationships/chart" Target="../charts/chart15.xml"/></Relationships>
</file>

<file path=ppt/slides/_rels/slide57.xml.rels><?xml version='1.0' encoding='UTF-8' standalone='yes'?>
<Relationships xmlns="http://schemas.openxmlformats.org/package/2006/relationships"><Relationship Id="rId1" Type="http://schemas.openxmlformats.org/officeDocument/2006/relationships/tags" Target="../tags/tag223.xml"/><Relationship Id="rId2" Type="http://schemas.openxmlformats.org/officeDocument/2006/relationships/slideLayout" Target="../slideLayouts/slideLayout42.xml"/><Relationship Id="rId3" Type="http://schemas.openxmlformats.org/officeDocument/2006/relationships/chart" Target="../charts/chart16.xml"/><Relationship Id="rId4" Type="http://schemas.openxmlformats.org/officeDocument/2006/relationships/chart" Target="../charts/chart17.xml"/></Relationships>
</file>

<file path=ppt/slides/_rels/slide58.xml.rels><?xml version='1.0' encoding='UTF-8' standalone='yes'?>
<Relationships xmlns="http://schemas.openxmlformats.org/package/2006/relationships"><Relationship Id="rId1" Type="http://schemas.openxmlformats.org/officeDocument/2006/relationships/tags" Target="../tags/tag224.xml"/><Relationship Id="rId2" Type="http://schemas.openxmlformats.org/officeDocument/2006/relationships/slideLayout" Target="../slideLayouts/slideLayout42.xml"/></Relationships>
</file>

<file path=ppt/slides/_rels/slide59.xml.rels><?xml version='1.0' encoding='UTF-8' standalone='yes'?>
<Relationships xmlns="http://schemas.openxmlformats.org/package/2006/relationships"><Relationship Id="rId1" Type="http://schemas.openxmlformats.org/officeDocument/2006/relationships/tags" Target="../tags/tag225.xml"/><Relationship Id="rId2" Type="http://schemas.openxmlformats.org/officeDocument/2006/relationships/tags" Target="../tags/tag226.xml"/><Relationship Id="rId3" Type="http://schemas.openxmlformats.org/officeDocument/2006/relationships/tags" Target="../tags/tag227.xml"/><Relationship Id="rId4" Type="http://schemas.openxmlformats.org/officeDocument/2006/relationships/tags" Target="../tags/tag228.xml"/><Relationship Id="rId5" Type="http://schemas.openxmlformats.org/officeDocument/2006/relationships/tags" Target="../tags/tag229.xml"/><Relationship Id="rId6" Type="http://schemas.openxmlformats.org/officeDocument/2006/relationships/tags" Target="../tags/tag230.xml"/><Relationship Id="rId7" Type="http://schemas.openxmlformats.org/officeDocument/2006/relationships/tags" Target="../tags/tag231.xml"/><Relationship Id="rId8" Type="http://schemas.openxmlformats.org/officeDocument/2006/relationships/tags" Target="../tags/tag232.xml"/><Relationship Id="rId9" Type="http://schemas.openxmlformats.org/officeDocument/2006/relationships/tags" Target="../tags/tag233.xml"/><Relationship Id="rId10" Type="http://schemas.openxmlformats.org/officeDocument/2006/relationships/tags" Target="../tags/tag234.xml"/><Relationship Id="rId11" Type="http://schemas.openxmlformats.org/officeDocument/2006/relationships/tags" Target="../tags/tag235.xml"/><Relationship Id="rId12" Type="http://schemas.openxmlformats.org/officeDocument/2006/relationships/tags" Target="../tags/tag236.xml"/><Relationship Id="rId13" Type="http://schemas.openxmlformats.org/officeDocument/2006/relationships/tags" Target="../tags/tag237.xml"/><Relationship Id="rId14" Type="http://schemas.openxmlformats.org/officeDocument/2006/relationships/tags" Target="../tags/tag238.xml"/><Relationship Id="rId15" Type="http://schemas.openxmlformats.org/officeDocument/2006/relationships/tags" Target="../tags/tag239.xml"/><Relationship Id="rId16" Type="http://schemas.openxmlformats.org/officeDocument/2006/relationships/tags" Target="../tags/tag240.xml"/><Relationship Id="rId17" Type="http://schemas.openxmlformats.org/officeDocument/2006/relationships/tags" Target="../tags/tag241.xml"/><Relationship Id="rId18" Type="http://schemas.openxmlformats.org/officeDocument/2006/relationships/tags" Target="../tags/tag242.xml"/><Relationship Id="rId19" Type="http://schemas.openxmlformats.org/officeDocument/2006/relationships/tags" Target="../tags/tag243.xml"/><Relationship Id="rId20" Type="http://schemas.openxmlformats.org/officeDocument/2006/relationships/tags" Target="../tags/tag244.xml"/><Relationship Id="rId21" Type="http://schemas.openxmlformats.org/officeDocument/2006/relationships/tags" Target="../tags/tag245.xml"/><Relationship Id="rId22" Type="http://schemas.openxmlformats.org/officeDocument/2006/relationships/tags" Target="../tags/tag246.xml"/><Relationship Id="rId23" Type="http://schemas.openxmlformats.org/officeDocument/2006/relationships/tags" Target="../tags/tag247.xml"/><Relationship Id="rId24" Type="http://schemas.openxmlformats.org/officeDocument/2006/relationships/slideLayout" Target="../slideLayouts/slideLayout42.xml"/><Relationship Id="rId25" Type="http://schemas.openxmlformats.org/officeDocument/2006/relationships/chart" Target="../charts/char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矩形 260"/>
          <p:cNvSpPr/>
          <p:nvPr/>
        </p:nvSpPr>
        <p:spPr>
          <a:xfrm>
            <a:off x="854295" y="2475035"/>
            <a:ext cx="11145617" cy="5844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5" name="矩形 254"/>
          <p:cNvSpPr/>
          <p:nvPr/>
        </p:nvSpPr>
        <p:spPr>
          <a:xfrm>
            <a:off x="854295" y="1066212"/>
            <a:ext cx="11145617" cy="1361322"/>
          </a:xfrm>
          <a:prstGeom prst="rect">
            <a:avLst/>
          </a:prstGeom>
          <a:gradFill flip="none" rotWithShape="1">
            <a:gsLst>
              <a:gs pos="1000">
                <a:schemeClr val="accent3"/>
              </a:gs>
              <a:gs pos="10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XH-202621 挑战杯·揭榜挂帅 | 多源异构数据驱动岗位和能力图谱构建与动态演化分析研究</a:t>
            </a:r>
          </a:p>
        </p:txBody>
      </p:sp>
      <p:sp>
        <p:nvSpPr>
          <p:cNvPr id="258" name="文本框 57"/>
          <p:cNvSpPr txBox="1"/>
          <p:nvPr/>
        </p:nvSpPr>
        <p:spPr>
          <a:xfrm>
            <a:off x="6969132" y="1316382"/>
            <a:ext cx="4025256" cy="82994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a:ln>
                  <a:noFill/>
                </a:ln>
                <a:solidFill>
                  <a:srgbClr val="1C4273"/>
                </a:solidFill>
                <a:effectLst/>
                <a:uLnTx/>
                <a:uFillTx/>
                <a:latin typeface="+mj-ea"/>
                <a:ea typeface="+mj-ea"/>
                <a:cs typeface="思源黑体 CN Normal" panose="020B0400000000000000" charset="-122"/>
              </a:rPr>
              <a:t>星图 StarMap</a:t>
            </a:r>
            <a:endParaRPr kumimoji="0" lang="zh-CN" altLang="en-US" sz="4800" b="0" i="0" u="none" strike="noStrike" kern="0" cap="none" spc="0" normalizeH="0" baseline="0" noProof="0" dirty="0">
              <a:ln>
                <a:noFill/>
              </a:ln>
              <a:solidFill>
                <a:srgbClr val="1C4273"/>
              </a:solidFill>
              <a:effectLst/>
              <a:uLnTx/>
              <a:uFillTx/>
              <a:latin typeface="+mj-ea"/>
              <a:ea typeface="+mj-ea"/>
              <a:cs typeface="思源黑体 CN Normal" panose="020B0400000000000000" charset="-122"/>
            </a:endParaRPr>
          </a:p>
        </p:txBody>
      </p:sp>
      <p:sp>
        <p:nvSpPr>
          <p:cNvPr id="260" name="图形 52"/>
          <p:cNvSpPr>
            <a:spLocks noEditPoints="1"/>
          </p:cNvSpPr>
          <p:nvPr/>
        </p:nvSpPr>
        <p:spPr bwMode="auto">
          <a:xfrm>
            <a:off x="11044684" y="1300674"/>
            <a:ext cx="762375" cy="1079651"/>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1"/>
              </a:gs>
              <a:gs pos="90000">
                <a:schemeClr val="bg1">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 name="组合 3"/>
          <p:cNvGrpSpPr/>
          <p:nvPr/>
        </p:nvGrpSpPr>
        <p:grpSpPr>
          <a:xfrm>
            <a:off x="-1525200" y="3027425"/>
            <a:ext cx="13513914" cy="3831590"/>
            <a:chOff x="-1525200" y="2946400"/>
            <a:chExt cx="13513914" cy="3831590"/>
          </a:xfrm>
        </p:grpSpPr>
        <p:grpSp>
          <p:nvGrpSpPr>
            <p:cNvPr id="6" name="组合 5"/>
            <p:cNvGrpSpPr/>
            <p:nvPr/>
          </p:nvGrpSpPr>
          <p:grpSpPr>
            <a:xfrm>
              <a:off x="-1525200" y="2946400"/>
              <a:ext cx="4506135" cy="2794000"/>
              <a:chOff x="4312695" y="4876800"/>
              <a:chExt cx="4506135" cy="2794000"/>
            </a:xfrm>
          </p:grpSpPr>
          <p:sp>
            <p:nvSpPr>
              <p:cNvPr id="28" name="平行四边形 27"/>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矩形 28"/>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7246019" y="4876800"/>
                <a:ext cx="1570736" cy="2794000"/>
              </a:xfrm>
              <a:custGeom>
                <a:avLst/>
                <a:gdLst>
                  <a:gd name="connsiteX0" fmla="*/ 1564640 w 1564640"/>
                  <a:gd name="connsiteY0" fmla="*/ 0 h 3088640"/>
                  <a:gd name="connsiteX1" fmla="*/ 1564640 w 1564640"/>
                  <a:gd name="connsiteY1" fmla="*/ 3088640 h 3088640"/>
                  <a:gd name="connsiteX2" fmla="*/ 0 w 1564640"/>
                  <a:gd name="connsiteY2" fmla="*/ 3088640 h 3088640"/>
                  <a:gd name="connsiteX3" fmla="*/ 0 w 1564640"/>
                  <a:gd name="connsiteY3" fmla="*/ 1076960 h 3088640"/>
                  <a:gd name="connsiteX4" fmla="*/ 1564640 w 1564640"/>
                  <a:gd name="connsiteY4" fmla="*/ 0 h 3088640"/>
                  <a:gd name="connsiteX0-1" fmla="*/ 1570736 w 1570736"/>
                  <a:gd name="connsiteY0-2" fmla="*/ 0 h 3088640"/>
                  <a:gd name="connsiteX1-3" fmla="*/ 1570736 w 1570736"/>
                  <a:gd name="connsiteY1-4" fmla="*/ 3088640 h 3088640"/>
                  <a:gd name="connsiteX2-5" fmla="*/ 6096 w 1570736"/>
                  <a:gd name="connsiteY2-6" fmla="*/ 3088640 h 3088640"/>
                  <a:gd name="connsiteX3-7" fmla="*/ 0 w 1570736"/>
                  <a:gd name="connsiteY3-8" fmla="*/ 1184782 h 3088640"/>
                  <a:gd name="connsiteX4-9" fmla="*/ 1570736 w 1570736"/>
                  <a:gd name="connsiteY4-10" fmla="*/ 0 h 3088640"/>
                  <a:gd name="connsiteX0-11" fmla="*/ 1570736 w 1570736"/>
                  <a:gd name="connsiteY0-12" fmla="*/ 0 h 3088640"/>
                  <a:gd name="connsiteX1-13" fmla="*/ 1570736 w 1570736"/>
                  <a:gd name="connsiteY1-14" fmla="*/ 3088640 h 3088640"/>
                  <a:gd name="connsiteX2-15" fmla="*/ 6096 w 1570736"/>
                  <a:gd name="connsiteY2-16" fmla="*/ 3088640 h 3088640"/>
                  <a:gd name="connsiteX3-17" fmla="*/ 0 w 1570736"/>
                  <a:gd name="connsiteY3-18" fmla="*/ 1178043 h 3088640"/>
                  <a:gd name="connsiteX4-19" fmla="*/ 1570736 w 1570736"/>
                  <a:gd name="connsiteY4-20" fmla="*/ 0 h 30886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70736" h="3088640">
                    <a:moveTo>
                      <a:pt x="1570736" y="0"/>
                    </a:moveTo>
                    <a:lnTo>
                      <a:pt x="1570736" y="3088640"/>
                    </a:lnTo>
                    <a:lnTo>
                      <a:pt x="6096" y="3088640"/>
                    </a:lnTo>
                    <a:lnTo>
                      <a:pt x="0" y="1178043"/>
                    </a:lnTo>
                    <a:lnTo>
                      <a:pt x="1570736"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平行四边形 30"/>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 name="组合 7"/>
            <p:cNvGrpSpPr/>
            <p:nvPr/>
          </p:nvGrpSpPr>
          <p:grpSpPr>
            <a:xfrm>
              <a:off x="1390131" y="3911600"/>
              <a:ext cx="4506135" cy="2794000"/>
              <a:chOff x="4312695" y="4876800"/>
              <a:chExt cx="4506135" cy="2794000"/>
            </a:xfrm>
          </p:grpSpPr>
          <p:sp>
            <p:nvSpPr>
              <p:cNvPr id="23" name="平行四边形 22"/>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矩形 23"/>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7246019" y="4876800"/>
                <a:ext cx="1570736" cy="2794000"/>
              </a:xfrm>
              <a:custGeom>
                <a:avLst/>
                <a:gdLst>
                  <a:gd name="connsiteX0" fmla="*/ 1564640 w 1564640"/>
                  <a:gd name="connsiteY0" fmla="*/ 0 h 3088640"/>
                  <a:gd name="connsiteX1" fmla="*/ 1564640 w 1564640"/>
                  <a:gd name="connsiteY1" fmla="*/ 3088640 h 3088640"/>
                  <a:gd name="connsiteX2" fmla="*/ 0 w 1564640"/>
                  <a:gd name="connsiteY2" fmla="*/ 3088640 h 3088640"/>
                  <a:gd name="connsiteX3" fmla="*/ 0 w 1564640"/>
                  <a:gd name="connsiteY3" fmla="*/ 1076960 h 3088640"/>
                  <a:gd name="connsiteX4" fmla="*/ 1564640 w 1564640"/>
                  <a:gd name="connsiteY4" fmla="*/ 0 h 3088640"/>
                  <a:gd name="connsiteX0-1" fmla="*/ 1570736 w 1570736"/>
                  <a:gd name="connsiteY0-2" fmla="*/ 0 h 3088640"/>
                  <a:gd name="connsiteX1-3" fmla="*/ 1570736 w 1570736"/>
                  <a:gd name="connsiteY1-4" fmla="*/ 3088640 h 3088640"/>
                  <a:gd name="connsiteX2-5" fmla="*/ 6096 w 1570736"/>
                  <a:gd name="connsiteY2-6" fmla="*/ 3088640 h 3088640"/>
                  <a:gd name="connsiteX3-7" fmla="*/ 0 w 1570736"/>
                  <a:gd name="connsiteY3-8" fmla="*/ 1184782 h 3088640"/>
                  <a:gd name="connsiteX4-9" fmla="*/ 1570736 w 1570736"/>
                  <a:gd name="connsiteY4-10" fmla="*/ 0 h 3088640"/>
                  <a:gd name="connsiteX0-11" fmla="*/ 1570736 w 1570736"/>
                  <a:gd name="connsiteY0-12" fmla="*/ 0 h 3088640"/>
                  <a:gd name="connsiteX1-13" fmla="*/ 1570736 w 1570736"/>
                  <a:gd name="connsiteY1-14" fmla="*/ 3088640 h 3088640"/>
                  <a:gd name="connsiteX2-15" fmla="*/ 6096 w 1570736"/>
                  <a:gd name="connsiteY2-16" fmla="*/ 3088640 h 3088640"/>
                  <a:gd name="connsiteX3-17" fmla="*/ 0 w 1570736"/>
                  <a:gd name="connsiteY3-18" fmla="*/ 1178043 h 3088640"/>
                  <a:gd name="connsiteX4-19" fmla="*/ 1570736 w 1570736"/>
                  <a:gd name="connsiteY4-20" fmla="*/ 0 h 30886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70736" h="3088640">
                    <a:moveTo>
                      <a:pt x="1570736" y="0"/>
                    </a:moveTo>
                    <a:lnTo>
                      <a:pt x="1570736" y="3088640"/>
                    </a:lnTo>
                    <a:lnTo>
                      <a:pt x="6096" y="3088640"/>
                    </a:lnTo>
                    <a:lnTo>
                      <a:pt x="0" y="1178043"/>
                    </a:lnTo>
                    <a:lnTo>
                      <a:pt x="1570736"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平行四边形 26"/>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 name="组合 8"/>
            <p:cNvGrpSpPr/>
            <p:nvPr/>
          </p:nvGrpSpPr>
          <p:grpSpPr>
            <a:xfrm>
              <a:off x="4312695" y="4876800"/>
              <a:ext cx="4506135" cy="1900555"/>
              <a:chOff x="4312695" y="4876800"/>
              <a:chExt cx="4506135" cy="1900555"/>
            </a:xfrm>
          </p:grpSpPr>
          <p:sp>
            <p:nvSpPr>
              <p:cNvPr id="16" name="平行四边形 15"/>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矩形 18"/>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7252110" y="4876800"/>
                <a:ext cx="1564640" cy="1900555"/>
              </a:xfrm>
              <a:custGeom>
                <a:avLst/>
                <a:gdLst>
                  <a:gd name="connsiteX0" fmla="*/ 2464 w 2464"/>
                  <a:gd name="connsiteY0" fmla="*/ 0 h 2993"/>
                  <a:gd name="connsiteX1" fmla="*/ 2464 w 2464"/>
                  <a:gd name="connsiteY1" fmla="*/ 2993 h 2993"/>
                  <a:gd name="connsiteX2" fmla="*/ 0 w 2464"/>
                  <a:gd name="connsiteY2" fmla="*/ 2993 h 2993"/>
                  <a:gd name="connsiteX3" fmla="*/ 5 w 2464"/>
                  <a:gd name="connsiteY3" fmla="*/ 1682 h 2993"/>
                  <a:gd name="connsiteX4" fmla="*/ 2464 w 2464"/>
                  <a:gd name="connsiteY4" fmla="*/ 0 h 2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4" h="2993">
                    <a:moveTo>
                      <a:pt x="2464" y="0"/>
                    </a:moveTo>
                    <a:lnTo>
                      <a:pt x="2464" y="2993"/>
                    </a:lnTo>
                    <a:lnTo>
                      <a:pt x="0" y="2993"/>
                    </a:lnTo>
                    <a:lnTo>
                      <a:pt x="5" y="1682"/>
                    </a:lnTo>
                    <a:lnTo>
                      <a:pt x="2464"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平行四边形 21"/>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 name="矩形 12"/>
            <p:cNvSpPr/>
            <p:nvPr/>
          </p:nvSpPr>
          <p:spPr>
            <a:xfrm>
              <a:off x="7246055" y="5957570"/>
              <a:ext cx="4179570" cy="819150"/>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任意多边形: 形状 9"/>
            <p:cNvSpPr/>
            <p:nvPr/>
          </p:nvSpPr>
          <p:spPr>
            <a:xfrm>
              <a:off x="11214307" y="5753327"/>
              <a:ext cx="774407" cy="307777"/>
            </a:xfrm>
            <a:custGeom>
              <a:avLst/>
              <a:gdLst>
                <a:gd name="connsiteX0" fmla="*/ 0 w 594360"/>
                <a:gd name="connsiteY0" fmla="*/ 236220 h 236220"/>
                <a:gd name="connsiteX1" fmla="*/ 0 w 594360"/>
                <a:gd name="connsiteY1" fmla="*/ 236220 h 236220"/>
                <a:gd name="connsiteX2" fmla="*/ 293370 w 594360"/>
                <a:gd name="connsiteY2" fmla="*/ 0 h 236220"/>
                <a:gd name="connsiteX3" fmla="*/ 594360 w 594360"/>
                <a:gd name="connsiteY3" fmla="*/ 100965 h 236220"/>
                <a:gd name="connsiteX4" fmla="*/ 0 w 594360"/>
                <a:gd name="connsiteY4" fmla="*/ 236220 h 23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236220">
                  <a:moveTo>
                    <a:pt x="0" y="236220"/>
                  </a:moveTo>
                  <a:lnTo>
                    <a:pt x="0" y="236220"/>
                  </a:lnTo>
                  <a:lnTo>
                    <a:pt x="293370" y="0"/>
                  </a:lnTo>
                  <a:lnTo>
                    <a:pt x="594360" y="100965"/>
                  </a:lnTo>
                  <a:lnTo>
                    <a:pt x="0" y="23622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平行四边形 10"/>
            <p:cNvSpPr/>
            <p:nvPr/>
          </p:nvSpPr>
          <p:spPr>
            <a:xfrm>
              <a:off x="7246019" y="5834031"/>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任意多边形: 形状 11"/>
            <p:cNvSpPr/>
            <p:nvPr/>
          </p:nvSpPr>
          <p:spPr>
            <a:xfrm>
              <a:off x="11216710" y="5885435"/>
              <a:ext cx="765810" cy="892555"/>
            </a:xfrm>
            <a:custGeom>
              <a:avLst/>
              <a:gdLst>
                <a:gd name="connsiteX0" fmla="*/ 773430 w 773430"/>
                <a:gd name="connsiteY0" fmla="*/ 0 h 1794510"/>
                <a:gd name="connsiteX1" fmla="*/ 0 w 773430"/>
                <a:gd name="connsiteY1" fmla="*/ 179070 h 1794510"/>
                <a:gd name="connsiteX2" fmla="*/ 0 w 773430"/>
                <a:gd name="connsiteY2" fmla="*/ 1794510 h 1794510"/>
                <a:gd name="connsiteX3" fmla="*/ 765810 w 773430"/>
                <a:gd name="connsiteY3" fmla="*/ 1794510 h 1794510"/>
                <a:gd name="connsiteX4" fmla="*/ 773430 w 773430"/>
                <a:gd name="connsiteY4" fmla="*/ 0 h 1794510"/>
                <a:gd name="connsiteX0-1" fmla="*/ 765810 w 765810"/>
                <a:gd name="connsiteY0-2" fmla="*/ 0 h 2008891"/>
                <a:gd name="connsiteX1-3" fmla="*/ 0 w 765810"/>
                <a:gd name="connsiteY1-4" fmla="*/ 393451 h 2008891"/>
                <a:gd name="connsiteX2-5" fmla="*/ 0 w 765810"/>
                <a:gd name="connsiteY2-6" fmla="*/ 2008891 h 2008891"/>
                <a:gd name="connsiteX3-7" fmla="*/ 765810 w 765810"/>
                <a:gd name="connsiteY3-8" fmla="*/ 2008891 h 2008891"/>
                <a:gd name="connsiteX4-9" fmla="*/ 765810 w 765810"/>
                <a:gd name="connsiteY4-10" fmla="*/ 0 h 2008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5810" h="2008891">
                  <a:moveTo>
                    <a:pt x="765810" y="0"/>
                  </a:moveTo>
                  <a:lnTo>
                    <a:pt x="0" y="393451"/>
                  </a:lnTo>
                  <a:lnTo>
                    <a:pt x="0" y="2008891"/>
                  </a:lnTo>
                  <a:lnTo>
                    <a:pt x="765810" y="2008891"/>
                  </a:lnTo>
                  <a:lnTo>
                    <a:pt x="765810"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任意多边形: 形状 14"/>
            <p:cNvSpPr/>
            <p:nvPr/>
          </p:nvSpPr>
          <p:spPr>
            <a:xfrm>
              <a:off x="-1432560" y="2997200"/>
              <a:ext cx="13329920" cy="2875280"/>
            </a:xfrm>
            <a:custGeom>
              <a:avLst/>
              <a:gdLst>
                <a:gd name="connsiteX0" fmla="*/ 0 w 13329920"/>
                <a:gd name="connsiteY0" fmla="*/ 0 h 2875280"/>
                <a:gd name="connsiteX1" fmla="*/ 4236720 w 13329920"/>
                <a:gd name="connsiteY1" fmla="*/ 0 h 2875280"/>
                <a:gd name="connsiteX2" fmla="*/ 2956560 w 13329920"/>
                <a:gd name="connsiteY2" fmla="*/ 985520 h 2875280"/>
                <a:gd name="connsiteX3" fmla="*/ 7152640 w 13329920"/>
                <a:gd name="connsiteY3" fmla="*/ 975360 h 2875280"/>
                <a:gd name="connsiteX4" fmla="*/ 5913120 w 13329920"/>
                <a:gd name="connsiteY4" fmla="*/ 1940560 h 2875280"/>
                <a:gd name="connsiteX5" fmla="*/ 10088880 w 13329920"/>
                <a:gd name="connsiteY5" fmla="*/ 1940560 h 2875280"/>
                <a:gd name="connsiteX6" fmla="*/ 8849360 w 13329920"/>
                <a:gd name="connsiteY6" fmla="*/ 2875280 h 2875280"/>
                <a:gd name="connsiteX7" fmla="*/ 13329920 w 13329920"/>
                <a:gd name="connsiteY7" fmla="*/ 2875280 h 287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29920" h="2875280">
                  <a:moveTo>
                    <a:pt x="0" y="0"/>
                  </a:moveTo>
                  <a:lnTo>
                    <a:pt x="4236720" y="0"/>
                  </a:lnTo>
                  <a:lnTo>
                    <a:pt x="2956560" y="985520"/>
                  </a:lnTo>
                  <a:lnTo>
                    <a:pt x="7152640" y="975360"/>
                  </a:lnTo>
                  <a:lnTo>
                    <a:pt x="5913120" y="1940560"/>
                  </a:lnTo>
                  <a:lnTo>
                    <a:pt x="10088880" y="1940560"/>
                  </a:lnTo>
                  <a:lnTo>
                    <a:pt x="8849360" y="2875280"/>
                  </a:lnTo>
                  <a:lnTo>
                    <a:pt x="13329920" y="2875280"/>
                  </a:lnTo>
                </a:path>
              </a:pathLst>
            </a:custGeom>
            <a:noFill/>
            <a:ln w="3175" cap="rnd">
              <a:solidFill>
                <a:schemeClr val="bg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2" name="任意多边形: 形状 31"/>
          <p:cNvSpPr/>
          <p:nvPr/>
        </p:nvSpPr>
        <p:spPr>
          <a:xfrm>
            <a:off x="1397547" y="249345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椭圆 32"/>
          <p:cNvSpPr/>
          <p:nvPr/>
        </p:nvSpPr>
        <p:spPr>
          <a:xfrm>
            <a:off x="1256409" y="2564102"/>
            <a:ext cx="285439" cy="285439"/>
          </a:xfrm>
          <a:prstGeom prst="ellipse">
            <a:avLst/>
          </a:prstGeom>
          <a:solidFill>
            <a:schemeClr val="bg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矩形 33"/>
          <p:cNvSpPr/>
          <p:nvPr/>
        </p:nvSpPr>
        <p:spPr>
          <a:xfrm>
            <a:off x="245134" y="1186727"/>
            <a:ext cx="2307988" cy="1528005"/>
          </a:xfrm>
          <a:prstGeom prst="rect">
            <a:avLst/>
          </a:prstGeom>
          <a:solidFill>
            <a:schemeClr val="bg1"/>
          </a:solidFill>
          <a:ln>
            <a:gradFill>
              <a:gsLst>
                <a:gs pos="0">
                  <a:schemeClr val="bg1"/>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矩形: 圆角 34"/>
          <p:cNvSpPr/>
          <p:nvPr/>
        </p:nvSpPr>
        <p:spPr>
          <a:xfrm>
            <a:off x="246947" y="1025965"/>
            <a:ext cx="2306174" cy="345949"/>
          </a:xfrm>
          <a:prstGeom prst="roundRect">
            <a:avLst>
              <a:gd name="adj" fmla="val 8884"/>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赛题背景</a:t>
            </a:r>
          </a:p>
        </p:txBody>
      </p:sp>
      <p:sp>
        <p:nvSpPr>
          <p:cNvPr id="36" name="文本框 35"/>
          <p:cNvSpPr txBox="1"/>
          <p:nvPr/>
        </p:nvSpPr>
        <p:spPr>
          <a:xfrm>
            <a:off x="304896" y="149529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挑战杯·揭榜挂帅，科大讯飞发榜：多源异构数据驱动岗位和能力图谱构建与动态演化分析研究。</a:t>
            </a:r>
          </a:p>
        </p:txBody>
      </p:sp>
      <p:sp>
        <p:nvSpPr>
          <p:cNvPr id="37" name="任意多边形: 形状 36"/>
          <p:cNvSpPr/>
          <p:nvPr/>
        </p:nvSpPr>
        <p:spPr>
          <a:xfrm>
            <a:off x="4293299" y="343821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椭圆 37"/>
          <p:cNvSpPr/>
          <p:nvPr/>
        </p:nvSpPr>
        <p:spPr>
          <a:xfrm>
            <a:off x="4152161" y="3508862"/>
            <a:ext cx="285439" cy="285439"/>
          </a:xfrm>
          <a:prstGeom prst="ellipse">
            <a:avLst/>
          </a:prstGeom>
          <a:solidFill>
            <a:schemeClr val="bg1"/>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矩形 38"/>
          <p:cNvSpPr/>
          <p:nvPr/>
        </p:nvSpPr>
        <p:spPr>
          <a:xfrm>
            <a:off x="3140886" y="2131487"/>
            <a:ext cx="2307988" cy="1528005"/>
          </a:xfrm>
          <a:prstGeom prst="rect">
            <a:avLst/>
          </a:prstGeom>
          <a:solidFill>
            <a:schemeClr val="bg1"/>
          </a:solidFill>
          <a:ln>
            <a:gradFill>
              <a:gsLst>
                <a:gs pos="0">
                  <a:schemeClr val="bg1"/>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a:off x="3142699" y="1970725"/>
            <a:ext cx="2306174" cy="345949"/>
          </a:xfrm>
          <a:prstGeom prst="roundRect">
            <a:avLst>
              <a:gd name="adj" fmla="val 8884"/>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技术架构</a:t>
            </a:r>
          </a:p>
        </p:txBody>
      </p:sp>
      <p:sp>
        <p:nvSpPr>
          <p:cNvPr id="41" name="文本框 40"/>
          <p:cNvSpPr txBox="1"/>
          <p:nvPr/>
        </p:nvSpPr>
        <p:spPr>
          <a:xfrm>
            <a:off x="3200648" y="244005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FastAPI · PostgreSQL · Neo4j · Redis · Vue3 · 大模型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42" name="任意多边形: 形状 41"/>
          <p:cNvSpPr/>
          <p:nvPr/>
        </p:nvSpPr>
        <p:spPr>
          <a:xfrm>
            <a:off x="7189051" y="438297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椭圆 42"/>
          <p:cNvSpPr/>
          <p:nvPr/>
        </p:nvSpPr>
        <p:spPr>
          <a:xfrm>
            <a:off x="7047913" y="4453622"/>
            <a:ext cx="285439" cy="285439"/>
          </a:xfrm>
          <a:prstGeom prst="ellipse">
            <a:avLst/>
          </a:prstGeom>
          <a:solidFill>
            <a:schemeClr val="bg1"/>
          </a:solid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矩形 43"/>
          <p:cNvSpPr/>
          <p:nvPr/>
        </p:nvSpPr>
        <p:spPr>
          <a:xfrm>
            <a:off x="6036638" y="3076247"/>
            <a:ext cx="2307988" cy="1528005"/>
          </a:xfrm>
          <a:prstGeom prst="rect">
            <a:avLst/>
          </a:prstGeom>
          <a:solidFill>
            <a:schemeClr val="bg1"/>
          </a:solidFill>
          <a:ln>
            <a:gradFill>
              <a:gsLst>
                <a:gs pos="0">
                  <a:schemeClr val="bg1"/>
                </a:gs>
                <a:gs pos="100000">
                  <a:schemeClr val="accent5"/>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矩形: 圆角 44"/>
          <p:cNvSpPr/>
          <p:nvPr/>
        </p:nvSpPr>
        <p:spPr>
          <a:xfrm>
            <a:off x="6038451" y="2915485"/>
            <a:ext cx="2306174" cy="345949"/>
          </a:xfrm>
          <a:prstGeom prst="roundRect">
            <a:avLst>
              <a:gd name="adj" fmla="val 8884"/>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核心功能</a:t>
            </a:r>
          </a:p>
        </p:txBody>
      </p:sp>
      <p:sp>
        <p:nvSpPr>
          <p:cNvPr id="46" name="文本框 45"/>
          <p:cNvSpPr txBox="1"/>
          <p:nvPr/>
        </p:nvSpPr>
        <p:spPr>
          <a:xfrm>
            <a:off x="6096400" y="338481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新岗位发现 · 能力更新 · 全景图谱 · 人岗匹配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47" name="任意多边形: 形状 46"/>
          <p:cNvSpPr/>
          <p:nvPr/>
        </p:nvSpPr>
        <p:spPr>
          <a:xfrm>
            <a:off x="10084804" y="5327731"/>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椭圆 47"/>
          <p:cNvSpPr/>
          <p:nvPr/>
        </p:nvSpPr>
        <p:spPr>
          <a:xfrm>
            <a:off x="9943666" y="5398383"/>
            <a:ext cx="285439" cy="285439"/>
          </a:xfrm>
          <a:prstGeom prst="ellipse">
            <a:avLst/>
          </a:prstGeom>
          <a:solidFill>
            <a:schemeClr val="bg1"/>
          </a:solidFill>
          <a:ln w="57150">
            <a:solidFill>
              <a:schemeClr val="accent6">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48"/>
          <p:cNvSpPr/>
          <p:nvPr/>
        </p:nvSpPr>
        <p:spPr>
          <a:xfrm>
            <a:off x="8932391" y="4021008"/>
            <a:ext cx="2307988" cy="1528005"/>
          </a:xfrm>
          <a:prstGeom prst="rect">
            <a:avLst/>
          </a:prstGeom>
          <a:solidFill>
            <a:schemeClr val="bg1"/>
          </a:solidFill>
          <a:ln>
            <a:gradFill>
              <a:gsLst>
                <a:gs pos="1000">
                  <a:schemeClr val="bg1"/>
                </a:gs>
                <a:gs pos="100000">
                  <a:schemeClr val="accent6">
                    <a:lumMod val="9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8934204" y="3860246"/>
            <a:ext cx="2306174" cy="345949"/>
          </a:xfrm>
          <a:prstGeom prst="roundRect">
            <a:avLst>
              <a:gd name="adj" fmla="val 8884"/>
            </a:avLst>
          </a:prstGeom>
          <a:solidFill>
            <a:schemeClr val="accent6">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创新亮点</a:t>
            </a:r>
          </a:p>
        </p:txBody>
      </p:sp>
      <p:sp>
        <p:nvSpPr>
          <p:cNvPr id="51" name="文本框 50"/>
          <p:cNvSpPr txBox="1"/>
          <p:nvPr/>
        </p:nvSpPr>
        <p:spPr>
          <a:xfrm>
            <a:off x="8992153" y="4329574"/>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SimHash 去重 · 四级幻觉防控 · 动态演化闭环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任意多边形: 形状 103"/>
          <p:cNvSpPr/>
          <p:nvPr/>
        </p:nvSpPr>
        <p:spPr>
          <a:xfrm>
            <a:off x="503851" y="1757897"/>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矩形: 圆角 104"/>
          <p:cNvSpPr/>
          <p:nvPr/>
        </p:nvSpPr>
        <p:spPr>
          <a:xfrm>
            <a:off x="503850" y="1327585"/>
            <a:ext cx="2196201" cy="363432"/>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企业招不到人</a:t>
            </a:r>
          </a:p>
        </p:txBody>
      </p:sp>
      <p:sp>
        <p:nvSpPr>
          <p:cNvPr id="106" name="文本框 105"/>
          <p:cNvSpPr txBox="1"/>
          <p:nvPr/>
        </p:nvSpPr>
        <p:spPr>
          <a:xfrm>
            <a:off x="412364" y="1870064"/>
            <a:ext cx="3245234"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新兴岗位识别难、人岗匹配度低、招聘成本居高不下。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09" name="任意多边形: 形状 108"/>
          <p:cNvSpPr/>
          <p:nvPr/>
        </p:nvSpPr>
        <p:spPr>
          <a:xfrm flipV="1">
            <a:off x="503851" y="3548206"/>
            <a:ext cx="3564000" cy="0"/>
          </a:xfrm>
          <a:custGeom>
            <a:avLst/>
            <a:gdLst>
              <a:gd name="connsiteX0" fmla="*/ 4338735 w 4338735"/>
              <a:gd name="connsiteY0" fmla="*/ 1147665 h 1147665"/>
              <a:gd name="connsiteX1" fmla="*/ 3191070 w 4338735"/>
              <a:gd name="connsiteY1" fmla="*/ 0 h 1147665"/>
              <a:gd name="connsiteX2" fmla="*/ 0 w 4338735"/>
              <a:gd name="connsiteY2" fmla="*/ 0 h 1147665"/>
            </a:gdLst>
            <a:ahLst/>
            <a:cxnLst>
              <a:cxn ang="0">
                <a:pos x="connsiteX0" y="connsiteY0"/>
              </a:cxn>
              <a:cxn ang="0">
                <a:pos x="connsiteX1" y="connsiteY1"/>
              </a:cxn>
              <a:cxn ang="0">
                <a:pos x="connsiteX2" y="connsiteY2"/>
              </a:cxn>
            </a:cxnLst>
            <a:rect l="l" t="t" r="r" b="b"/>
            <a:pathLst>
              <a:path w="4338735" h="1147665">
                <a:moveTo>
                  <a:pt x="4338735" y="114766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圆角 109"/>
          <p:cNvSpPr/>
          <p:nvPr/>
        </p:nvSpPr>
        <p:spPr>
          <a:xfrm>
            <a:off x="503850" y="3129440"/>
            <a:ext cx="2196201" cy="363432"/>
          </a:xfrm>
          <a:prstGeom prst="roundRect">
            <a:avLst>
              <a:gd name="adj" fmla="val 50000"/>
            </a:avLst>
          </a:prstGeom>
          <a:solidFill>
            <a:schemeClr val="accent5">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青年路径模糊</a:t>
            </a:r>
          </a:p>
        </p:txBody>
      </p:sp>
      <p:sp>
        <p:nvSpPr>
          <p:cNvPr id="111" name="文本框 110"/>
          <p:cNvSpPr txBox="1"/>
          <p:nvPr/>
        </p:nvSpPr>
        <p:spPr>
          <a:xfrm>
            <a:off x="412364" y="3651599"/>
            <a:ext cx="2954741"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技能需求动态变化快，职业发展路径不清晰，求职者难以定位。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15" name="任意多边形: 形状 114"/>
          <p:cNvSpPr/>
          <p:nvPr/>
        </p:nvSpPr>
        <p:spPr>
          <a:xfrm flipV="1">
            <a:off x="503851" y="4526682"/>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矩形: 圆角 115"/>
          <p:cNvSpPr/>
          <p:nvPr/>
        </p:nvSpPr>
        <p:spPr>
          <a:xfrm>
            <a:off x="503850" y="5041250"/>
            <a:ext cx="2196201" cy="363432"/>
          </a:xfrm>
          <a:prstGeom prst="roundRect">
            <a:avLst>
              <a:gd name="adj" fmla="val 50000"/>
            </a:avLst>
          </a:prstGeom>
          <a:solidFill>
            <a:schemeClr val="accent6">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关键词匹配局限</a:t>
            </a:r>
          </a:p>
        </p:txBody>
      </p:sp>
      <p:sp>
        <p:nvSpPr>
          <p:cNvPr id="117" name="文本框 116"/>
          <p:cNvSpPr txBox="1"/>
          <p:nvPr/>
        </p:nvSpPr>
        <p:spPr>
          <a:xfrm>
            <a:off x="412364" y="5583729"/>
            <a:ext cx="3245234"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传统检索无法回答“技术A爆发→岗位B新增哪些技能需求”这类因果问题。</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30" name="任意多边形: 形状 129"/>
          <p:cNvSpPr/>
          <p:nvPr/>
        </p:nvSpPr>
        <p:spPr>
          <a:xfrm flipH="1">
            <a:off x="7608459" y="1757897"/>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圆角 130"/>
          <p:cNvSpPr/>
          <p:nvPr/>
        </p:nvSpPr>
        <p:spPr>
          <a:xfrm flipH="1">
            <a:off x="9537634" y="1327585"/>
            <a:ext cx="2196201" cy="363432"/>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图谱驱动</a:t>
            </a:r>
          </a:p>
        </p:txBody>
      </p:sp>
      <p:sp>
        <p:nvSpPr>
          <p:cNvPr id="132" name="文本框 131"/>
          <p:cNvSpPr txBox="1"/>
          <p:nvPr/>
        </p:nvSpPr>
        <p:spPr>
          <a:xfrm flipH="1">
            <a:off x="8580087" y="1870064"/>
            <a:ext cx="3245234"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以岗位↔能力↔技术图谱为底座，构建数据驱动的导航系统，让岗位与能力可视化。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7" name="任意多边形: 形状 126"/>
          <p:cNvSpPr/>
          <p:nvPr/>
        </p:nvSpPr>
        <p:spPr>
          <a:xfrm flipH="1" flipV="1">
            <a:off x="8169834" y="3548206"/>
            <a:ext cx="3564000" cy="0"/>
          </a:xfrm>
          <a:custGeom>
            <a:avLst/>
            <a:gdLst>
              <a:gd name="connsiteX0" fmla="*/ 4338735 w 4338735"/>
              <a:gd name="connsiteY0" fmla="*/ 1147665 h 1147665"/>
              <a:gd name="connsiteX1" fmla="*/ 3191070 w 4338735"/>
              <a:gd name="connsiteY1" fmla="*/ 0 h 1147665"/>
              <a:gd name="connsiteX2" fmla="*/ 0 w 4338735"/>
              <a:gd name="connsiteY2" fmla="*/ 0 h 1147665"/>
            </a:gdLst>
            <a:ahLst/>
            <a:cxnLst>
              <a:cxn ang="0">
                <a:pos x="connsiteX0" y="connsiteY0"/>
              </a:cxn>
              <a:cxn ang="0">
                <a:pos x="connsiteX1" y="connsiteY1"/>
              </a:cxn>
              <a:cxn ang="0">
                <a:pos x="connsiteX2" y="connsiteY2"/>
              </a:cxn>
            </a:cxnLst>
            <a:rect l="l" t="t" r="r" b="b"/>
            <a:pathLst>
              <a:path w="4338735" h="1147665">
                <a:moveTo>
                  <a:pt x="4338735" y="114766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矩形: 圆角 127"/>
          <p:cNvSpPr/>
          <p:nvPr/>
        </p:nvSpPr>
        <p:spPr>
          <a:xfrm flipH="1">
            <a:off x="9537634" y="3129440"/>
            <a:ext cx="2196201" cy="363432"/>
          </a:xfrm>
          <a:prstGeom prst="roundRect">
            <a:avLst>
              <a:gd name="adj" fmla="val 50000"/>
            </a:avLst>
          </a:prstGeom>
          <a:solidFill>
            <a:schemeClr val="accent2">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多源采集</a:t>
            </a:r>
          </a:p>
        </p:txBody>
      </p:sp>
      <p:sp>
        <p:nvSpPr>
          <p:cNvPr id="129" name="文本框 128"/>
          <p:cNvSpPr txBox="1"/>
          <p:nvPr/>
        </p:nvSpPr>
        <p:spPr>
          <a:xfrm flipH="1">
            <a:off x="8580085" y="3651599"/>
            <a:ext cx="3245235"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覆盖 9 类数据源、620 条真实 JD，中/英/德多语言，构建第一手人才数据底座。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4" name="任意多边形: 形状 123"/>
          <p:cNvSpPr/>
          <p:nvPr/>
        </p:nvSpPr>
        <p:spPr>
          <a:xfrm flipH="1" flipV="1">
            <a:off x="7608459" y="4526682"/>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矩形: 圆角 124"/>
          <p:cNvSpPr/>
          <p:nvPr/>
        </p:nvSpPr>
        <p:spPr>
          <a:xfrm flipH="1">
            <a:off x="9537634" y="5041250"/>
            <a:ext cx="2196201" cy="363432"/>
          </a:xfrm>
          <a:prstGeom prst="roundRect">
            <a:avLst>
              <a:gd name="adj" fmla="val 50000"/>
            </a:avLst>
          </a:prstGeom>
          <a:solidFill>
            <a:schemeClr val="accent3">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动态演化</a:t>
            </a:r>
          </a:p>
        </p:txBody>
      </p:sp>
      <p:sp>
        <p:nvSpPr>
          <p:cNvPr id="126" name="文本框 125"/>
          <p:cNvSpPr txBox="1"/>
          <p:nvPr/>
        </p:nvSpPr>
        <p:spPr>
          <a:xfrm flipH="1">
            <a:off x="8580087" y="5583729"/>
            <a:ext cx="3245234"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按月快照 + 技能涌现检测，让图谱随技术演进持续更新，解决数据在两端失联。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2" name="标题 1"/>
          <p:cNvSpPr>
            <a:spLocks noGrp="1"/>
          </p:cNvSpPr>
          <p:nvPr>
            <p:ph type="title"/>
          </p:nvPr>
        </p:nvSpPr>
        <p:spPr>
          <a:xfrm>
            <a:off x="0" y="181867"/>
            <a:ext cx="9377266" cy="549275"/>
          </a:xfrm>
        </p:spPr>
        <p:txBody>
          <a:bodyPr/>
          <a:lstStyle/>
          <a:p>
            <a:r>
              <a:rPr lang="zh-CN" altLang="en-US"/>
              <a:t>背景痛点：人才结构性矛盾</a:t>
            </a:r>
          </a:p>
        </p:txBody>
      </p:sp>
      <p:sp>
        <p:nvSpPr>
          <p:cNvPr id="27" name="图形435"/>
          <p:cNvSpPr/>
          <p:nvPr/>
        </p:nvSpPr>
        <p:spPr bwMode="auto">
          <a:xfrm>
            <a:off x="3925898" y="2545355"/>
            <a:ext cx="2196201" cy="1116459"/>
          </a:xfrm>
          <a:custGeom>
            <a:avLst/>
            <a:gdLst>
              <a:gd name="T0" fmla="*/ 342 w 682"/>
              <a:gd name="T1" fmla="*/ 0 h 346"/>
              <a:gd name="T2" fmla="*/ 0 w 682"/>
              <a:gd name="T3" fmla="*/ 337 h 346"/>
              <a:gd name="T4" fmla="*/ 8 w 682"/>
              <a:gd name="T5" fmla="*/ 330 h 346"/>
              <a:gd name="T6" fmla="*/ 20 w 682"/>
              <a:gd name="T7" fmla="*/ 319 h 346"/>
              <a:gd name="T8" fmla="*/ 26 w 682"/>
              <a:gd name="T9" fmla="*/ 315 h 346"/>
              <a:gd name="T10" fmla="*/ 30 w 682"/>
              <a:gd name="T11" fmla="*/ 320 h 346"/>
              <a:gd name="T12" fmla="*/ 41 w 682"/>
              <a:gd name="T13" fmla="*/ 331 h 346"/>
              <a:gd name="T14" fmla="*/ 47 w 682"/>
              <a:gd name="T15" fmla="*/ 336 h 346"/>
              <a:gd name="T16" fmla="*/ 342 w 682"/>
              <a:gd name="T17" fmla="*/ 51 h 346"/>
              <a:gd name="T18" fmla="*/ 636 w 682"/>
              <a:gd name="T19" fmla="*/ 326 h 346"/>
              <a:gd name="T20" fmla="*/ 636 w 682"/>
              <a:gd name="T21" fmla="*/ 326 h 346"/>
              <a:gd name="T22" fmla="*/ 642 w 682"/>
              <a:gd name="T23" fmla="*/ 331 h 346"/>
              <a:gd name="T24" fmla="*/ 654 w 682"/>
              <a:gd name="T25" fmla="*/ 341 h 346"/>
              <a:gd name="T26" fmla="*/ 659 w 682"/>
              <a:gd name="T27" fmla="*/ 346 h 346"/>
              <a:gd name="T28" fmla="*/ 664 w 682"/>
              <a:gd name="T29" fmla="*/ 341 h 346"/>
              <a:gd name="T30" fmla="*/ 675 w 682"/>
              <a:gd name="T31" fmla="*/ 330 h 346"/>
              <a:gd name="T32" fmla="*/ 681 w 682"/>
              <a:gd name="T33" fmla="*/ 324 h 346"/>
              <a:gd name="T34" fmla="*/ 682 w 682"/>
              <a:gd name="T35" fmla="*/ 323 h 346"/>
              <a:gd name="T36" fmla="*/ 342 w 682"/>
              <a:gd name="T37"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2" h="346">
                <a:moveTo>
                  <a:pt x="342" y="0"/>
                </a:moveTo>
                <a:cubicBezTo>
                  <a:pt x="155" y="0"/>
                  <a:pt x="3" y="150"/>
                  <a:pt x="0" y="337"/>
                </a:cubicBezTo>
                <a:cubicBezTo>
                  <a:pt x="3" y="335"/>
                  <a:pt x="5" y="332"/>
                  <a:pt x="8" y="330"/>
                </a:cubicBezTo>
                <a:cubicBezTo>
                  <a:pt x="12" y="326"/>
                  <a:pt x="17" y="322"/>
                  <a:pt x="20" y="319"/>
                </a:cubicBezTo>
                <a:cubicBezTo>
                  <a:pt x="23" y="317"/>
                  <a:pt x="26" y="315"/>
                  <a:pt x="26" y="315"/>
                </a:cubicBezTo>
                <a:cubicBezTo>
                  <a:pt x="26" y="315"/>
                  <a:pt x="27" y="317"/>
                  <a:pt x="30" y="320"/>
                </a:cubicBezTo>
                <a:cubicBezTo>
                  <a:pt x="33" y="323"/>
                  <a:pt x="37" y="327"/>
                  <a:pt x="41" y="331"/>
                </a:cubicBezTo>
                <a:cubicBezTo>
                  <a:pt x="43" y="333"/>
                  <a:pt x="45" y="335"/>
                  <a:pt x="47" y="336"/>
                </a:cubicBezTo>
                <a:cubicBezTo>
                  <a:pt x="52" y="178"/>
                  <a:pt x="182" y="51"/>
                  <a:pt x="342" y="51"/>
                </a:cubicBezTo>
                <a:cubicBezTo>
                  <a:pt x="498" y="51"/>
                  <a:pt x="626" y="172"/>
                  <a:pt x="636" y="326"/>
                </a:cubicBezTo>
                <a:cubicBezTo>
                  <a:pt x="636" y="326"/>
                  <a:pt x="636" y="326"/>
                  <a:pt x="636" y="326"/>
                </a:cubicBezTo>
                <a:cubicBezTo>
                  <a:pt x="638" y="328"/>
                  <a:pt x="640" y="329"/>
                  <a:pt x="642" y="331"/>
                </a:cubicBezTo>
                <a:cubicBezTo>
                  <a:pt x="646" y="335"/>
                  <a:pt x="651" y="338"/>
                  <a:pt x="654" y="341"/>
                </a:cubicBezTo>
                <a:cubicBezTo>
                  <a:pt x="657" y="344"/>
                  <a:pt x="659" y="346"/>
                  <a:pt x="659" y="346"/>
                </a:cubicBezTo>
                <a:cubicBezTo>
                  <a:pt x="659" y="346"/>
                  <a:pt x="661" y="344"/>
                  <a:pt x="664" y="341"/>
                </a:cubicBezTo>
                <a:cubicBezTo>
                  <a:pt x="667" y="338"/>
                  <a:pt x="671" y="334"/>
                  <a:pt x="675" y="330"/>
                </a:cubicBezTo>
                <a:cubicBezTo>
                  <a:pt x="677" y="328"/>
                  <a:pt x="679" y="326"/>
                  <a:pt x="681" y="324"/>
                </a:cubicBezTo>
                <a:cubicBezTo>
                  <a:pt x="682" y="323"/>
                  <a:pt x="682" y="323"/>
                  <a:pt x="682" y="323"/>
                </a:cubicBezTo>
                <a:cubicBezTo>
                  <a:pt x="673" y="143"/>
                  <a:pt x="524" y="0"/>
                  <a:pt x="342" y="0"/>
                </a:cubicBezTo>
                <a:close/>
              </a:path>
            </a:pathLst>
          </a:custGeom>
          <a:solidFill>
            <a:schemeClr val="accent6"/>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8" name="图形436"/>
          <p:cNvSpPr/>
          <p:nvPr/>
        </p:nvSpPr>
        <p:spPr bwMode="auto">
          <a:xfrm>
            <a:off x="3928617" y="3631898"/>
            <a:ext cx="2092850" cy="1117820"/>
          </a:xfrm>
          <a:custGeom>
            <a:avLst/>
            <a:gdLst>
              <a:gd name="T0" fmla="*/ 628 w 650"/>
              <a:gd name="T1" fmla="*/ 74 h 346"/>
              <a:gd name="T2" fmla="*/ 341 w 650"/>
              <a:gd name="T3" fmla="*/ 303 h 346"/>
              <a:gd name="T4" fmla="*/ 46 w 650"/>
              <a:gd name="T5" fmla="*/ 22 h 346"/>
              <a:gd name="T6" fmla="*/ 40 w 650"/>
              <a:gd name="T7" fmla="*/ 17 h 346"/>
              <a:gd name="T8" fmla="*/ 29 w 650"/>
              <a:gd name="T9" fmla="*/ 6 h 346"/>
              <a:gd name="T10" fmla="*/ 23 w 650"/>
              <a:gd name="T11" fmla="*/ 0 h 346"/>
              <a:gd name="T12" fmla="*/ 18 w 650"/>
              <a:gd name="T13" fmla="*/ 5 h 346"/>
              <a:gd name="T14" fmla="*/ 7 w 650"/>
              <a:gd name="T15" fmla="*/ 16 h 346"/>
              <a:gd name="T16" fmla="*/ 1 w 650"/>
              <a:gd name="T17" fmla="*/ 22 h 346"/>
              <a:gd name="T18" fmla="*/ 0 w 650"/>
              <a:gd name="T19" fmla="*/ 23 h 346"/>
              <a:gd name="T20" fmla="*/ 341 w 650"/>
              <a:gd name="T21" fmla="*/ 346 h 346"/>
              <a:gd name="T22" fmla="*/ 650 w 650"/>
              <a:gd name="T23" fmla="*/ 148 h 346"/>
              <a:gd name="T24" fmla="*/ 628 w 650"/>
              <a:gd name="T25" fmla="*/ 74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0" h="346">
                <a:moveTo>
                  <a:pt x="628" y="74"/>
                </a:moveTo>
                <a:cubicBezTo>
                  <a:pt x="598" y="205"/>
                  <a:pt x="481" y="303"/>
                  <a:pt x="341" y="303"/>
                </a:cubicBezTo>
                <a:cubicBezTo>
                  <a:pt x="183" y="303"/>
                  <a:pt x="54" y="179"/>
                  <a:pt x="46" y="22"/>
                </a:cubicBezTo>
                <a:cubicBezTo>
                  <a:pt x="44" y="20"/>
                  <a:pt x="42" y="19"/>
                  <a:pt x="40" y="17"/>
                </a:cubicBezTo>
                <a:cubicBezTo>
                  <a:pt x="36" y="13"/>
                  <a:pt x="32" y="9"/>
                  <a:pt x="29" y="6"/>
                </a:cubicBezTo>
                <a:cubicBezTo>
                  <a:pt x="25" y="2"/>
                  <a:pt x="23" y="0"/>
                  <a:pt x="23" y="0"/>
                </a:cubicBezTo>
                <a:cubicBezTo>
                  <a:pt x="23" y="0"/>
                  <a:pt x="21" y="2"/>
                  <a:pt x="18" y="5"/>
                </a:cubicBezTo>
                <a:cubicBezTo>
                  <a:pt x="15" y="8"/>
                  <a:pt x="11" y="12"/>
                  <a:pt x="7" y="16"/>
                </a:cubicBezTo>
                <a:cubicBezTo>
                  <a:pt x="5" y="18"/>
                  <a:pt x="3" y="20"/>
                  <a:pt x="1" y="22"/>
                </a:cubicBezTo>
                <a:cubicBezTo>
                  <a:pt x="1" y="23"/>
                  <a:pt x="0" y="23"/>
                  <a:pt x="0" y="23"/>
                </a:cubicBezTo>
                <a:cubicBezTo>
                  <a:pt x="10" y="203"/>
                  <a:pt x="159" y="346"/>
                  <a:pt x="341" y="346"/>
                </a:cubicBezTo>
                <a:cubicBezTo>
                  <a:pt x="478" y="346"/>
                  <a:pt x="596" y="265"/>
                  <a:pt x="650" y="148"/>
                </a:cubicBezTo>
                <a:cubicBezTo>
                  <a:pt x="640" y="124"/>
                  <a:pt x="633" y="100"/>
                  <a:pt x="628" y="74"/>
                </a:cubicBezTo>
                <a:close/>
              </a:path>
            </a:pathLst>
          </a:custGeom>
          <a:solidFill>
            <a:schemeClr val="accent6"/>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9" name="图形437"/>
          <p:cNvSpPr/>
          <p:nvPr/>
        </p:nvSpPr>
        <p:spPr bwMode="auto">
          <a:xfrm>
            <a:off x="6073143" y="2545356"/>
            <a:ext cx="2099649" cy="1086542"/>
          </a:xfrm>
          <a:custGeom>
            <a:avLst/>
            <a:gdLst>
              <a:gd name="T0" fmla="*/ 311 w 652"/>
              <a:gd name="T1" fmla="*/ 0 h 337"/>
              <a:gd name="T2" fmla="*/ 2 w 652"/>
              <a:gd name="T3" fmla="*/ 195 h 337"/>
              <a:gd name="T4" fmla="*/ 0 w 652"/>
              <a:gd name="T5" fmla="*/ 200 h 337"/>
              <a:gd name="T6" fmla="*/ 24 w 652"/>
              <a:gd name="T7" fmla="*/ 277 h 337"/>
              <a:gd name="T8" fmla="*/ 44 w 652"/>
              <a:gd name="T9" fmla="*/ 220 h 337"/>
              <a:gd name="T10" fmla="*/ 311 w 652"/>
              <a:gd name="T11" fmla="*/ 51 h 337"/>
              <a:gd name="T12" fmla="*/ 605 w 652"/>
              <a:gd name="T13" fmla="*/ 336 h 337"/>
              <a:gd name="T14" fmla="*/ 611 w 652"/>
              <a:gd name="T15" fmla="*/ 331 h 337"/>
              <a:gd name="T16" fmla="*/ 622 w 652"/>
              <a:gd name="T17" fmla="*/ 320 h 337"/>
              <a:gd name="T18" fmla="*/ 627 w 652"/>
              <a:gd name="T19" fmla="*/ 315 h 337"/>
              <a:gd name="T20" fmla="*/ 632 w 652"/>
              <a:gd name="T21" fmla="*/ 319 h 337"/>
              <a:gd name="T22" fmla="*/ 644 w 652"/>
              <a:gd name="T23" fmla="*/ 330 h 337"/>
              <a:gd name="T24" fmla="*/ 652 w 652"/>
              <a:gd name="T25" fmla="*/ 337 h 337"/>
              <a:gd name="T26" fmla="*/ 311 w 652"/>
              <a:gd name="T27" fmla="*/ 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2" h="337">
                <a:moveTo>
                  <a:pt x="311" y="0"/>
                </a:moveTo>
                <a:cubicBezTo>
                  <a:pt x="175" y="0"/>
                  <a:pt x="57" y="80"/>
                  <a:pt x="2" y="195"/>
                </a:cubicBezTo>
                <a:cubicBezTo>
                  <a:pt x="1" y="197"/>
                  <a:pt x="1" y="198"/>
                  <a:pt x="0" y="200"/>
                </a:cubicBezTo>
                <a:cubicBezTo>
                  <a:pt x="11" y="225"/>
                  <a:pt x="19" y="250"/>
                  <a:pt x="24" y="277"/>
                </a:cubicBezTo>
                <a:cubicBezTo>
                  <a:pt x="29" y="257"/>
                  <a:pt x="35" y="238"/>
                  <a:pt x="44" y="220"/>
                </a:cubicBezTo>
                <a:cubicBezTo>
                  <a:pt x="91" y="120"/>
                  <a:pt x="193" y="51"/>
                  <a:pt x="311" y="51"/>
                </a:cubicBezTo>
                <a:cubicBezTo>
                  <a:pt x="470" y="51"/>
                  <a:pt x="600" y="178"/>
                  <a:pt x="605" y="336"/>
                </a:cubicBezTo>
                <a:cubicBezTo>
                  <a:pt x="607" y="335"/>
                  <a:pt x="609" y="333"/>
                  <a:pt x="611" y="331"/>
                </a:cubicBezTo>
                <a:cubicBezTo>
                  <a:pt x="615" y="327"/>
                  <a:pt x="619" y="323"/>
                  <a:pt x="622" y="320"/>
                </a:cubicBezTo>
                <a:cubicBezTo>
                  <a:pt x="625" y="317"/>
                  <a:pt x="627" y="315"/>
                  <a:pt x="627" y="315"/>
                </a:cubicBezTo>
                <a:cubicBezTo>
                  <a:pt x="627" y="315"/>
                  <a:pt x="629" y="317"/>
                  <a:pt x="632" y="319"/>
                </a:cubicBezTo>
                <a:cubicBezTo>
                  <a:pt x="636" y="322"/>
                  <a:pt x="640" y="326"/>
                  <a:pt x="644" y="330"/>
                </a:cubicBezTo>
                <a:cubicBezTo>
                  <a:pt x="647" y="332"/>
                  <a:pt x="649" y="335"/>
                  <a:pt x="652" y="337"/>
                </a:cubicBezTo>
                <a:cubicBezTo>
                  <a:pt x="649" y="150"/>
                  <a:pt x="498" y="0"/>
                  <a:pt x="311" y="0"/>
                </a:cubicBezTo>
                <a:close/>
              </a:path>
            </a:pathLst>
          </a:custGeom>
          <a:solidFill>
            <a:schemeClr val="accent3"/>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30" name="图形438"/>
          <p:cNvSpPr/>
          <p:nvPr/>
        </p:nvSpPr>
        <p:spPr bwMode="auto">
          <a:xfrm>
            <a:off x="5973872" y="3631898"/>
            <a:ext cx="2194842" cy="1117820"/>
          </a:xfrm>
          <a:custGeom>
            <a:avLst/>
            <a:gdLst>
              <a:gd name="T0" fmla="*/ 342 w 682"/>
              <a:gd name="T1" fmla="*/ 346 h 346"/>
              <a:gd name="T2" fmla="*/ 0 w 682"/>
              <a:gd name="T3" fmla="*/ 9 h 346"/>
              <a:gd name="T4" fmla="*/ 8 w 682"/>
              <a:gd name="T5" fmla="*/ 16 h 346"/>
              <a:gd name="T6" fmla="*/ 20 w 682"/>
              <a:gd name="T7" fmla="*/ 26 h 346"/>
              <a:gd name="T8" fmla="*/ 25 w 682"/>
              <a:gd name="T9" fmla="*/ 31 h 346"/>
              <a:gd name="T10" fmla="*/ 30 w 682"/>
              <a:gd name="T11" fmla="*/ 26 h 346"/>
              <a:gd name="T12" fmla="*/ 41 w 682"/>
              <a:gd name="T13" fmla="*/ 15 h 346"/>
              <a:gd name="T14" fmla="*/ 47 w 682"/>
              <a:gd name="T15" fmla="*/ 10 h 346"/>
              <a:gd name="T16" fmla="*/ 342 w 682"/>
              <a:gd name="T17" fmla="*/ 303 h 346"/>
              <a:gd name="T18" fmla="*/ 636 w 682"/>
              <a:gd name="T19" fmla="*/ 22 h 346"/>
              <a:gd name="T20" fmla="*/ 642 w 682"/>
              <a:gd name="T21" fmla="*/ 17 h 346"/>
              <a:gd name="T22" fmla="*/ 654 w 682"/>
              <a:gd name="T23" fmla="*/ 6 h 346"/>
              <a:gd name="T24" fmla="*/ 659 w 682"/>
              <a:gd name="T25" fmla="*/ 0 h 346"/>
              <a:gd name="T26" fmla="*/ 664 w 682"/>
              <a:gd name="T27" fmla="*/ 5 h 346"/>
              <a:gd name="T28" fmla="*/ 675 w 682"/>
              <a:gd name="T29" fmla="*/ 16 h 346"/>
              <a:gd name="T30" fmla="*/ 681 w 682"/>
              <a:gd name="T31" fmla="*/ 22 h 346"/>
              <a:gd name="T32" fmla="*/ 682 w 682"/>
              <a:gd name="T33" fmla="*/ 23 h 346"/>
              <a:gd name="T34" fmla="*/ 342 w 682"/>
              <a:gd name="T35" fmla="*/ 34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2" h="346">
                <a:moveTo>
                  <a:pt x="342" y="346"/>
                </a:moveTo>
                <a:cubicBezTo>
                  <a:pt x="155" y="346"/>
                  <a:pt x="3" y="195"/>
                  <a:pt x="0" y="9"/>
                </a:cubicBezTo>
                <a:cubicBezTo>
                  <a:pt x="3" y="11"/>
                  <a:pt x="5" y="14"/>
                  <a:pt x="8" y="16"/>
                </a:cubicBezTo>
                <a:cubicBezTo>
                  <a:pt x="12" y="20"/>
                  <a:pt x="17" y="24"/>
                  <a:pt x="20" y="26"/>
                </a:cubicBezTo>
                <a:cubicBezTo>
                  <a:pt x="23" y="29"/>
                  <a:pt x="25" y="31"/>
                  <a:pt x="25" y="31"/>
                </a:cubicBezTo>
                <a:cubicBezTo>
                  <a:pt x="25" y="31"/>
                  <a:pt x="27" y="29"/>
                  <a:pt x="30" y="26"/>
                </a:cubicBezTo>
                <a:cubicBezTo>
                  <a:pt x="33" y="23"/>
                  <a:pt x="37" y="19"/>
                  <a:pt x="41" y="15"/>
                </a:cubicBezTo>
                <a:cubicBezTo>
                  <a:pt x="43" y="13"/>
                  <a:pt x="45" y="11"/>
                  <a:pt x="47" y="10"/>
                </a:cubicBezTo>
                <a:cubicBezTo>
                  <a:pt x="48" y="172"/>
                  <a:pt x="179" y="303"/>
                  <a:pt x="342" y="303"/>
                </a:cubicBezTo>
                <a:cubicBezTo>
                  <a:pt x="500" y="303"/>
                  <a:pt x="629" y="179"/>
                  <a:pt x="636" y="22"/>
                </a:cubicBezTo>
                <a:cubicBezTo>
                  <a:pt x="638" y="20"/>
                  <a:pt x="640" y="19"/>
                  <a:pt x="642" y="17"/>
                </a:cubicBezTo>
                <a:cubicBezTo>
                  <a:pt x="646" y="13"/>
                  <a:pt x="650" y="9"/>
                  <a:pt x="654" y="6"/>
                </a:cubicBezTo>
                <a:cubicBezTo>
                  <a:pt x="657" y="2"/>
                  <a:pt x="659" y="0"/>
                  <a:pt x="659" y="0"/>
                </a:cubicBezTo>
                <a:cubicBezTo>
                  <a:pt x="659" y="0"/>
                  <a:pt x="661" y="2"/>
                  <a:pt x="664" y="5"/>
                </a:cubicBezTo>
                <a:cubicBezTo>
                  <a:pt x="667" y="8"/>
                  <a:pt x="671" y="12"/>
                  <a:pt x="675" y="16"/>
                </a:cubicBezTo>
                <a:cubicBezTo>
                  <a:pt x="677" y="18"/>
                  <a:pt x="679" y="20"/>
                  <a:pt x="681" y="22"/>
                </a:cubicBezTo>
                <a:cubicBezTo>
                  <a:pt x="682" y="23"/>
                  <a:pt x="682" y="23"/>
                  <a:pt x="682" y="23"/>
                </a:cubicBezTo>
                <a:cubicBezTo>
                  <a:pt x="673" y="203"/>
                  <a:pt x="524" y="346"/>
                  <a:pt x="342" y="346"/>
                </a:cubicBezTo>
                <a:close/>
              </a:path>
            </a:pathLst>
          </a:custGeom>
          <a:solidFill>
            <a:schemeClr val="accent3"/>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34" name="椭圆 33"/>
          <p:cNvSpPr/>
          <p:nvPr/>
        </p:nvSpPr>
        <p:spPr>
          <a:xfrm>
            <a:off x="4159699" y="2787350"/>
            <a:ext cx="1719013" cy="171901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椭圆 34"/>
          <p:cNvSpPr/>
          <p:nvPr/>
        </p:nvSpPr>
        <p:spPr>
          <a:xfrm>
            <a:off x="6211786" y="2787350"/>
            <a:ext cx="1719013" cy="171901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3" name="图形 41"/>
          <p:cNvGrpSpPr/>
          <p:nvPr/>
        </p:nvGrpSpPr>
        <p:grpSpPr>
          <a:xfrm>
            <a:off x="4548824" y="2978724"/>
            <a:ext cx="852436" cy="852436"/>
            <a:chOff x="5486400" y="2819400"/>
            <a:chExt cx="1219200" cy="1219200"/>
          </a:xfrm>
        </p:grpSpPr>
        <p:sp>
          <p:nvSpPr>
            <p:cNvPr id="44" name="任意多边形: 形状 43"/>
            <p:cNvSpPr/>
            <p:nvPr/>
          </p:nvSpPr>
          <p:spPr>
            <a:xfrm>
              <a:off x="5823965" y="3052952"/>
              <a:ext cx="702754" cy="772826"/>
            </a:xfrm>
            <a:custGeom>
              <a:avLst/>
              <a:gdLst>
                <a:gd name="connsiteX0" fmla="*/ 702827 w 702754"/>
                <a:gd name="connsiteY0" fmla="*/ 445073 h 772826"/>
                <a:gd name="connsiteX1" fmla="*/ 657488 w 702754"/>
                <a:gd name="connsiteY1" fmla="*/ 50357 h 772826"/>
                <a:gd name="connsiteX2" fmla="*/ 612149 w 702754"/>
                <a:gd name="connsiteY2" fmla="*/ 65 h 772826"/>
                <a:gd name="connsiteX3" fmla="*/ 68081 w 702754"/>
                <a:gd name="connsiteY3" fmla="*/ 65 h 772826"/>
                <a:gd name="connsiteX4" fmla="*/ 72 w 702754"/>
                <a:gd name="connsiteY4" fmla="*/ 47023 h 772826"/>
                <a:gd name="connsiteX5" fmla="*/ 72 w 702754"/>
                <a:gd name="connsiteY5" fmla="*/ 440501 h 772826"/>
                <a:gd name="connsiteX6" fmla="*/ 14360 w 702754"/>
                <a:gd name="connsiteY6" fmla="*/ 457741 h 772826"/>
                <a:gd name="connsiteX7" fmla="*/ 213432 w 702754"/>
                <a:gd name="connsiteY7" fmla="*/ 723775 h 772826"/>
                <a:gd name="connsiteX8" fmla="*/ 228387 w 702754"/>
                <a:gd name="connsiteY8" fmla="*/ 748159 h 772826"/>
                <a:gd name="connsiteX9" fmla="*/ 291728 w 702754"/>
                <a:gd name="connsiteY9" fmla="*/ 768352 h 772826"/>
                <a:gd name="connsiteX10" fmla="*/ 377453 w 702754"/>
                <a:gd name="connsiteY10" fmla="*/ 732728 h 772826"/>
                <a:gd name="connsiteX11" fmla="*/ 404980 w 702754"/>
                <a:gd name="connsiteY11" fmla="*/ 678817 h 772826"/>
                <a:gd name="connsiteX12" fmla="*/ 311826 w 702754"/>
                <a:gd name="connsiteY12" fmla="*/ 498794 h 772826"/>
                <a:gd name="connsiteX13" fmla="*/ 657488 w 702754"/>
                <a:gd name="connsiteY13" fmla="*/ 498794 h 772826"/>
                <a:gd name="connsiteX14" fmla="*/ 702827 w 702754"/>
                <a:gd name="connsiteY14" fmla="*/ 445073 h 77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2754" h="772826">
                  <a:moveTo>
                    <a:pt x="702827" y="445073"/>
                  </a:moveTo>
                  <a:lnTo>
                    <a:pt x="657488" y="50357"/>
                  </a:lnTo>
                  <a:cubicBezTo>
                    <a:pt x="658524" y="24068"/>
                    <a:pt x="638404" y="1750"/>
                    <a:pt x="612149" y="65"/>
                  </a:cubicBezTo>
                  <a:lnTo>
                    <a:pt x="68081" y="65"/>
                  </a:lnTo>
                  <a:cubicBezTo>
                    <a:pt x="43125" y="65"/>
                    <a:pt x="72" y="19782"/>
                    <a:pt x="72" y="47023"/>
                  </a:cubicBezTo>
                  <a:lnTo>
                    <a:pt x="72" y="440501"/>
                  </a:lnTo>
                  <a:cubicBezTo>
                    <a:pt x="72" y="446597"/>
                    <a:pt x="12360" y="452312"/>
                    <a:pt x="14360" y="457741"/>
                  </a:cubicBezTo>
                  <a:cubicBezTo>
                    <a:pt x="87702" y="541276"/>
                    <a:pt x="158187" y="626810"/>
                    <a:pt x="213432" y="723775"/>
                  </a:cubicBezTo>
                  <a:cubicBezTo>
                    <a:pt x="218004" y="731871"/>
                    <a:pt x="224005" y="739967"/>
                    <a:pt x="228387" y="748159"/>
                  </a:cubicBezTo>
                  <a:cubicBezTo>
                    <a:pt x="241085" y="770277"/>
                    <a:pt x="268571" y="779039"/>
                    <a:pt x="291728" y="768352"/>
                  </a:cubicBezTo>
                  <a:cubicBezTo>
                    <a:pt x="319350" y="755683"/>
                    <a:pt x="348878" y="743682"/>
                    <a:pt x="377453" y="732728"/>
                  </a:cubicBezTo>
                  <a:cubicBezTo>
                    <a:pt x="401742" y="723203"/>
                    <a:pt x="414981" y="702343"/>
                    <a:pt x="404980" y="678817"/>
                  </a:cubicBezTo>
                  <a:cubicBezTo>
                    <a:pt x="378786" y="616428"/>
                    <a:pt x="347640" y="566612"/>
                    <a:pt x="311826" y="498794"/>
                  </a:cubicBezTo>
                  <a:lnTo>
                    <a:pt x="657488" y="498794"/>
                  </a:lnTo>
                  <a:cubicBezTo>
                    <a:pt x="682443" y="498794"/>
                    <a:pt x="702827" y="472219"/>
                    <a:pt x="702827" y="445073"/>
                  </a:cubicBezTo>
                  <a:close/>
                </a:path>
              </a:pathLst>
            </a:custGeom>
            <a:solidFill>
              <a:schemeClr val="bg1"/>
            </a:solid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任意多边形: 形状 49"/>
            <p:cNvSpPr/>
            <p:nvPr/>
          </p:nvSpPr>
          <p:spPr>
            <a:xfrm>
              <a:off x="5486400" y="2819400"/>
              <a:ext cx="1219200" cy="1219200"/>
            </a:xfrm>
            <a:custGeom>
              <a:avLst/>
              <a:gdLst>
                <a:gd name="connsiteX0" fmla="*/ 64 w 1219200"/>
                <a:gd name="connsiteY0" fmla="*/ 64 h 1219200"/>
                <a:gd name="connsiteX1" fmla="*/ 1219264 w 1219200"/>
                <a:gd name="connsiteY1" fmla="*/ 64 h 1219200"/>
                <a:gd name="connsiteX2" fmla="*/ 1219264 w 1219200"/>
                <a:gd name="connsiteY2" fmla="*/ 1219264 h 1219200"/>
                <a:gd name="connsiteX3" fmla="*/ 64 w 1219200"/>
                <a:gd name="connsiteY3" fmla="*/ 1219264 h 1219200"/>
              </a:gdLst>
              <a:ahLst/>
              <a:cxnLst>
                <a:cxn ang="0">
                  <a:pos x="connsiteX0" y="connsiteY0"/>
                </a:cxn>
                <a:cxn ang="0">
                  <a:pos x="connsiteX1" y="connsiteY1"/>
                </a:cxn>
                <a:cxn ang="0">
                  <a:pos x="connsiteX2" y="connsiteY2"/>
                </a:cxn>
                <a:cxn ang="0">
                  <a:pos x="connsiteX3" y="connsiteY3"/>
                </a:cxn>
              </a:cxnLst>
              <a:rect l="l" t="t" r="r" b="b"/>
              <a:pathLst>
                <a:path w="1219200" h="1219200">
                  <a:moveTo>
                    <a:pt x="64" y="64"/>
                  </a:moveTo>
                  <a:lnTo>
                    <a:pt x="1219264" y="64"/>
                  </a:lnTo>
                  <a:lnTo>
                    <a:pt x="1219264" y="1219264"/>
                  </a:lnTo>
                  <a:lnTo>
                    <a:pt x="64" y="1219264"/>
                  </a:lnTo>
                  <a:close/>
                </a:path>
              </a:pathLst>
            </a:custGeom>
            <a:no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1" name="图形 41"/>
          <p:cNvGrpSpPr/>
          <p:nvPr/>
        </p:nvGrpSpPr>
        <p:grpSpPr>
          <a:xfrm flipV="1">
            <a:off x="6645074" y="2803497"/>
            <a:ext cx="852436" cy="852436"/>
            <a:chOff x="5486400" y="2819400"/>
            <a:chExt cx="1219200" cy="1219200"/>
          </a:xfrm>
        </p:grpSpPr>
        <p:sp>
          <p:nvSpPr>
            <p:cNvPr id="52" name="任意多边形: 形状 51"/>
            <p:cNvSpPr/>
            <p:nvPr/>
          </p:nvSpPr>
          <p:spPr>
            <a:xfrm>
              <a:off x="5823965" y="3052952"/>
              <a:ext cx="702754" cy="772826"/>
            </a:xfrm>
            <a:custGeom>
              <a:avLst/>
              <a:gdLst>
                <a:gd name="connsiteX0" fmla="*/ 702827 w 702754"/>
                <a:gd name="connsiteY0" fmla="*/ 445073 h 772826"/>
                <a:gd name="connsiteX1" fmla="*/ 657488 w 702754"/>
                <a:gd name="connsiteY1" fmla="*/ 50357 h 772826"/>
                <a:gd name="connsiteX2" fmla="*/ 612149 w 702754"/>
                <a:gd name="connsiteY2" fmla="*/ 65 h 772826"/>
                <a:gd name="connsiteX3" fmla="*/ 68081 w 702754"/>
                <a:gd name="connsiteY3" fmla="*/ 65 h 772826"/>
                <a:gd name="connsiteX4" fmla="*/ 72 w 702754"/>
                <a:gd name="connsiteY4" fmla="*/ 47023 h 772826"/>
                <a:gd name="connsiteX5" fmla="*/ 72 w 702754"/>
                <a:gd name="connsiteY5" fmla="*/ 440501 h 772826"/>
                <a:gd name="connsiteX6" fmla="*/ 14360 w 702754"/>
                <a:gd name="connsiteY6" fmla="*/ 457741 h 772826"/>
                <a:gd name="connsiteX7" fmla="*/ 213432 w 702754"/>
                <a:gd name="connsiteY7" fmla="*/ 723775 h 772826"/>
                <a:gd name="connsiteX8" fmla="*/ 228387 w 702754"/>
                <a:gd name="connsiteY8" fmla="*/ 748159 h 772826"/>
                <a:gd name="connsiteX9" fmla="*/ 291728 w 702754"/>
                <a:gd name="connsiteY9" fmla="*/ 768352 h 772826"/>
                <a:gd name="connsiteX10" fmla="*/ 377453 w 702754"/>
                <a:gd name="connsiteY10" fmla="*/ 732728 h 772826"/>
                <a:gd name="connsiteX11" fmla="*/ 404980 w 702754"/>
                <a:gd name="connsiteY11" fmla="*/ 678817 h 772826"/>
                <a:gd name="connsiteX12" fmla="*/ 311826 w 702754"/>
                <a:gd name="connsiteY12" fmla="*/ 498794 h 772826"/>
                <a:gd name="connsiteX13" fmla="*/ 657488 w 702754"/>
                <a:gd name="connsiteY13" fmla="*/ 498794 h 772826"/>
                <a:gd name="connsiteX14" fmla="*/ 702827 w 702754"/>
                <a:gd name="connsiteY14" fmla="*/ 445073 h 77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2754" h="772826">
                  <a:moveTo>
                    <a:pt x="702827" y="445073"/>
                  </a:moveTo>
                  <a:lnTo>
                    <a:pt x="657488" y="50357"/>
                  </a:lnTo>
                  <a:cubicBezTo>
                    <a:pt x="658524" y="24068"/>
                    <a:pt x="638404" y="1750"/>
                    <a:pt x="612149" y="65"/>
                  </a:cubicBezTo>
                  <a:lnTo>
                    <a:pt x="68081" y="65"/>
                  </a:lnTo>
                  <a:cubicBezTo>
                    <a:pt x="43125" y="65"/>
                    <a:pt x="72" y="19782"/>
                    <a:pt x="72" y="47023"/>
                  </a:cubicBezTo>
                  <a:lnTo>
                    <a:pt x="72" y="440501"/>
                  </a:lnTo>
                  <a:cubicBezTo>
                    <a:pt x="72" y="446597"/>
                    <a:pt x="12360" y="452312"/>
                    <a:pt x="14360" y="457741"/>
                  </a:cubicBezTo>
                  <a:cubicBezTo>
                    <a:pt x="87702" y="541276"/>
                    <a:pt x="158187" y="626810"/>
                    <a:pt x="213432" y="723775"/>
                  </a:cubicBezTo>
                  <a:cubicBezTo>
                    <a:pt x="218004" y="731871"/>
                    <a:pt x="224005" y="739967"/>
                    <a:pt x="228387" y="748159"/>
                  </a:cubicBezTo>
                  <a:cubicBezTo>
                    <a:pt x="241085" y="770277"/>
                    <a:pt x="268571" y="779039"/>
                    <a:pt x="291728" y="768352"/>
                  </a:cubicBezTo>
                  <a:cubicBezTo>
                    <a:pt x="319350" y="755683"/>
                    <a:pt x="348878" y="743682"/>
                    <a:pt x="377453" y="732728"/>
                  </a:cubicBezTo>
                  <a:cubicBezTo>
                    <a:pt x="401742" y="723203"/>
                    <a:pt x="414981" y="702343"/>
                    <a:pt x="404980" y="678817"/>
                  </a:cubicBezTo>
                  <a:cubicBezTo>
                    <a:pt x="378786" y="616428"/>
                    <a:pt x="347640" y="566612"/>
                    <a:pt x="311826" y="498794"/>
                  </a:cubicBezTo>
                  <a:lnTo>
                    <a:pt x="657488" y="498794"/>
                  </a:lnTo>
                  <a:cubicBezTo>
                    <a:pt x="682443" y="498794"/>
                    <a:pt x="702827" y="472219"/>
                    <a:pt x="702827" y="445073"/>
                  </a:cubicBezTo>
                  <a:close/>
                </a:path>
              </a:pathLst>
            </a:custGeom>
            <a:solidFill>
              <a:schemeClr val="bg1"/>
            </a:solid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5486400" y="2819400"/>
              <a:ext cx="1219200" cy="1219200"/>
            </a:xfrm>
            <a:custGeom>
              <a:avLst/>
              <a:gdLst>
                <a:gd name="connsiteX0" fmla="*/ 64 w 1219200"/>
                <a:gd name="connsiteY0" fmla="*/ 64 h 1219200"/>
                <a:gd name="connsiteX1" fmla="*/ 1219264 w 1219200"/>
                <a:gd name="connsiteY1" fmla="*/ 64 h 1219200"/>
                <a:gd name="connsiteX2" fmla="*/ 1219264 w 1219200"/>
                <a:gd name="connsiteY2" fmla="*/ 1219264 h 1219200"/>
                <a:gd name="connsiteX3" fmla="*/ 64 w 1219200"/>
                <a:gd name="connsiteY3" fmla="*/ 1219264 h 1219200"/>
              </a:gdLst>
              <a:ahLst/>
              <a:cxnLst>
                <a:cxn ang="0">
                  <a:pos x="connsiteX0" y="connsiteY0"/>
                </a:cxn>
                <a:cxn ang="0">
                  <a:pos x="connsiteX1" y="connsiteY1"/>
                </a:cxn>
                <a:cxn ang="0">
                  <a:pos x="connsiteX2" y="connsiteY2"/>
                </a:cxn>
                <a:cxn ang="0">
                  <a:pos x="connsiteX3" y="connsiteY3"/>
                </a:cxn>
              </a:cxnLst>
              <a:rect l="l" t="t" r="r" b="b"/>
              <a:pathLst>
                <a:path w="1219200" h="1219200">
                  <a:moveTo>
                    <a:pt x="64" y="64"/>
                  </a:moveTo>
                  <a:lnTo>
                    <a:pt x="1219264" y="64"/>
                  </a:lnTo>
                  <a:lnTo>
                    <a:pt x="1219264" y="1219264"/>
                  </a:lnTo>
                  <a:lnTo>
                    <a:pt x="64" y="1219264"/>
                  </a:lnTo>
                  <a:close/>
                </a:path>
              </a:pathLst>
            </a:custGeom>
            <a:no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9" name="文本框 58"/>
          <p:cNvSpPr txBox="1"/>
          <p:nvPr/>
        </p:nvSpPr>
        <p:spPr>
          <a:xfrm>
            <a:off x="4269993" y="3729197"/>
            <a:ext cx="1477845"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现状痛点</a:t>
            </a:r>
          </a:p>
        </p:txBody>
      </p:sp>
      <p:sp>
        <p:nvSpPr>
          <p:cNvPr id="60" name="文本框 59"/>
          <p:cNvSpPr txBox="1"/>
          <p:nvPr/>
        </p:nvSpPr>
        <p:spPr>
          <a:xfrm>
            <a:off x="6315248" y="3729197"/>
            <a:ext cx="1477845"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破局思路</a:t>
            </a:r>
          </a:p>
        </p:txBody>
      </p:sp>
      <p:grpSp>
        <p:nvGrpSpPr>
          <p:cNvPr id="141" name="组合 140"/>
          <p:cNvGrpSpPr/>
          <p:nvPr/>
        </p:nvGrpSpPr>
        <p:grpSpPr>
          <a:xfrm>
            <a:off x="4058814" y="1770645"/>
            <a:ext cx="4196080" cy="627570"/>
            <a:chOff x="4114800" y="1630680"/>
            <a:chExt cx="4196080" cy="627570"/>
          </a:xfrm>
        </p:grpSpPr>
        <p:sp>
          <p:nvSpPr>
            <p:cNvPr id="138" name="任意多边形: 形状 137"/>
            <p:cNvSpPr/>
            <p:nvPr/>
          </p:nvSpPr>
          <p:spPr>
            <a:xfrm>
              <a:off x="4114800" y="1630680"/>
              <a:ext cx="419608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任意多边形: 形状 138"/>
            <p:cNvSpPr/>
            <p:nvPr/>
          </p:nvSpPr>
          <p:spPr>
            <a:xfrm>
              <a:off x="4448840" y="1944465"/>
              <a:ext cx="3528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任意多边形: 形状 139"/>
            <p:cNvSpPr/>
            <p:nvPr/>
          </p:nvSpPr>
          <p:spPr>
            <a:xfrm>
              <a:off x="4790840" y="2258250"/>
              <a:ext cx="2844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42" name="组合 141"/>
          <p:cNvGrpSpPr/>
          <p:nvPr/>
        </p:nvGrpSpPr>
        <p:grpSpPr>
          <a:xfrm flipV="1">
            <a:off x="4058814" y="4888977"/>
            <a:ext cx="4196080" cy="627570"/>
            <a:chOff x="4114800" y="1630680"/>
            <a:chExt cx="4196080" cy="627570"/>
          </a:xfrm>
        </p:grpSpPr>
        <p:sp>
          <p:nvSpPr>
            <p:cNvPr id="143" name="任意多边形: 形状 142"/>
            <p:cNvSpPr/>
            <p:nvPr/>
          </p:nvSpPr>
          <p:spPr>
            <a:xfrm>
              <a:off x="4114800" y="1630680"/>
              <a:ext cx="419608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任意多边形: 形状 143"/>
            <p:cNvSpPr/>
            <p:nvPr/>
          </p:nvSpPr>
          <p:spPr>
            <a:xfrm>
              <a:off x="4448840" y="1944465"/>
              <a:ext cx="3528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任意多边形: 形状 144"/>
            <p:cNvSpPr/>
            <p:nvPr/>
          </p:nvSpPr>
          <p:spPr>
            <a:xfrm>
              <a:off x="4790840" y="2258250"/>
              <a:ext cx="2844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形状 42"/>
          <p:cNvSpPr/>
          <p:nvPr/>
        </p:nvSpPr>
        <p:spPr>
          <a:xfrm flipH="1">
            <a:off x="405292" y="2403019"/>
            <a:ext cx="11381414" cy="4237290"/>
          </a:xfrm>
          <a:custGeom>
            <a:avLst/>
            <a:gdLst>
              <a:gd name="connsiteX0" fmla="*/ 11381413 w 11381414"/>
              <a:gd name="connsiteY0" fmla="*/ 0 h 4237290"/>
              <a:gd name="connsiteX1" fmla="*/ 0 w 11381414"/>
              <a:gd name="connsiteY1" fmla="*/ 0 h 4237290"/>
              <a:gd name="connsiteX2" fmla="*/ 0 w 11381414"/>
              <a:gd name="connsiteY2" fmla="*/ 3484858 h 4237290"/>
              <a:gd name="connsiteX3" fmla="*/ 0 w 11381414"/>
              <a:gd name="connsiteY3" fmla="*/ 3505828 h 4237290"/>
              <a:gd name="connsiteX4" fmla="*/ 8008 w 11381414"/>
              <a:gd name="connsiteY4" fmla="*/ 3505828 h 4237290"/>
              <a:gd name="connsiteX5" fmla="*/ 29380 w 11381414"/>
              <a:gd name="connsiteY5" fmla="*/ 3561790 h 4237290"/>
              <a:gd name="connsiteX6" fmla="*/ 5690707 w 11381414"/>
              <a:gd name="connsiteY6" fmla="*/ 4237290 h 4237290"/>
              <a:gd name="connsiteX7" fmla="*/ 11352033 w 11381414"/>
              <a:gd name="connsiteY7" fmla="*/ 3561790 h 4237290"/>
              <a:gd name="connsiteX8" fmla="*/ 11373405 w 11381414"/>
              <a:gd name="connsiteY8" fmla="*/ 3505828 h 4237290"/>
              <a:gd name="connsiteX9" fmla="*/ 11381413 w 11381414"/>
              <a:gd name="connsiteY9" fmla="*/ 3505828 h 4237290"/>
              <a:gd name="connsiteX10" fmla="*/ 11381413 w 11381414"/>
              <a:gd name="connsiteY10" fmla="*/ 3484861 h 4237290"/>
              <a:gd name="connsiteX11" fmla="*/ 11381414 w 11381414"/>
              <a:gd name="connsiteY11" fmla="*/ 3484858 h 4237290"/>
              <a:gd name="connsiteX12" fmla="*/ 11381413 w 11381414"/>
              <a:gd name="connsiteY12" fmla="*/ 3484856 h 423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81414" h="4237290">
                <a:moveTo>
                  <a:pt x="11381413" y="0"/>
                </a:moveTo>
                <a:lnTo>
                  <a:pt x="0" y="0"/>
                </a:lnTo>
                <a:lnTo>
                  <a:pt x="0" y="3484858"/>
                </a:lnTo>
                <a:lnTo>
                  <a:pt x="0" y="3505828"/>
                </a:lnTo>
                <a:lnTo>
                  <a:pt x="8008" y="3505828"/>
                </a:lnTo>
                <a:lnTo>
                  <a:pt x="29380" y="3561790"/>
                </a:lnTo>
                <a:cubicBezTo>
                  <a:pt x="320801" y="3941209"/>
                  <a:pt x="2744247" y="4237290"/>
                  <a:pt x="5690707" y="4237290"/>
                </a:cubicBezTo>
                <a:cubicBezTo>
                  <a:pt x="8637167" y="4237290"/>
                  <a:pt x="11060612" y="3941209"/>
                  <a:pt x="11352033" y="3561790"/>
                </a:cubicBezTo>
                <a:lnTo>
                  <a:pt x="11373405" y="3505828"/>
                </a:lnTo>
                <a:lnTo>
                  <a:pt x="11381413" y="3505828"/>
                </a:lnTo>
                <a:lnTo>
                  <a:pt x="11381413" y="3484861"/>
                </a:lnTo>
                <a:lnTo>
                  <a:pt x="11381414" y="3484858"/>
                </a:lnTo>
                <a:lnTo>
                  <a:pt x="11381413" y="3484856"/>
                </a:lnTo>
                <a:close/>
              </a:path>
            </a:pathLst>
          </a:cu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椭圆 38"/>
          <p:cNvSpPr/>
          <p:nvPr/>
        </p:nvSpPr>
        <p:spPr>
          <a:xfrm flipH="1">
            <a:off x="405294" y="5135446"/>
            <a:ext cx="11381413" cy="1504863"/>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15" name="任意多边形: 形状 114"/>
          <p:cNvSpPr/>
          <p:nvPr/>
        </p:nvSpPr>
        <p:spPr>
          <a:xfrm flipH="1">
            <a:off x="480000" y="2415446"/>
            <a:ext cx="11232000" cy="4169449"/>
          </a:xfrm>
          <a:custGeom>
            <a:avLst/>
            <a:gdLst>
              <a:gd name="connsiteX0" fmla="*/ 11381413 w 11381414"/>
              <a:gd name="connsiteY0" fmla="*/ 0 h 4237290"/>
              <a:gd name="connsiteX1" fmla="*/ 0 w 11381414"/>
              <a:gd name="connsiteY1" fmla="*/ 0 h 4237290"/>
              <a:gd name="connsiteX2" fmla="*/ 0 w 11381414"/>
              <a:gd name="connsiteY2" fmla="*/ 3484858 h 4237290"/>
              <a:gd name="connsiteX3" fmla="*/ 0 w 11381414"/>
              <a:gd name="connsiteY3" fmla="*/ 3505828 h 4237290"/>
              <a:gd name="connsiteX4" fmla="*/ 8008 w 11381414"/>
              <a:gd name="connsiteY4" fmla="*/ 3505828 h 4237290"/>
              <a:gd name="connsiteX5" fmla="*/ 29380 w 11381414"/>
              <a:gd name="connsiteY5" fmla="*/ 3561790 h 4237290"/>
              <a:gd name="connsiteX6" fmla="*/ 5690707 w 11381414"/>
              <a:gd name="connsiteY6" fmla="*/ 4237290 h 4237290"/>
              <a:gd name="connsiteX7" fmla="*/ 11352033 w 11381414"/>
              <a:gd name="connsiteY7" fmla="*/ 3561790 h 4237290"/>
              <a:gd name="connsiteX8" fmla="*/ 11373405 w 11381414"/>
              <a:gd name="connsiteY8" fmla="*/ 3505828 h 4237290"/>
              <a:gd name="connsiteX9" fmla="*/ 11381413 w 11381414"/>
              <a:gd name="connsiteY9" fmla="*/ 3505828 h 4237290"/>
              <a:gd name="connsiteX10" fmla="*/ 11381413 w 11381414"/>
              <a:gd name="connsiteY10" fmla="*/ 3484861 h 4237290"/>
              <a:gd name="connsiteX11" fmla="*/ 11381414 w 11381414"/>
              <a:gd name="connsiteY11" fmla="*/ 3484858 h 4237290"/>
              <a:gd name="connsiteX12" fmla="*/ 11381413 w 11381414"/>
              <a:gd name="connsiteY12" fmla="*/ 3484856 h 423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81414" h="4237290">
                <a:moveTo>
                  <a:pt x="11381413" y="0"/>
                </a:moveTo>
                <a:lnTo>
                  <a:pt x="0" y="0"/>
                </a:lnTo>
                <a:lnTo>
                  <a:pt x="0" y="3484858"/>
                </a:lnTo>
                <a:lnTo>
                  <a:pt x="0" y="3505828"/>
                </a:lnTo>
                <a:lnTo>
                  <a:pt x="8008" y="3505828"/>
                </a:lnTo>
                <a:lnTo>
                  <a:pt x="29380" y="3561790"/>
                </a:lnTo>
                <a:cubicBezTo>
                  <a:pt x="320801" y="3941209"/>
                  <a:pt x="2744247" y="4237290"/>
                  <a:pt x="5690707" y="4237290"/>
                </a:cubicBezTo>
                <a:cubicBezTo>
                  <a:pt x="8637167" y="4237290"/>
                  <a:pt x="11060612" y="3941209"/>
                  <a:pt x="11352033" y="3561790"/>
                </a:cubicBezTo>
                <a:lnTo>
                  <a:pt x="11373405" y="3505828"/>
                </a:lnTo>
                <a:lnTo>
                  <a:pt x="11381413" y="3505828"/>
                </a:lnTo>
                <a:lnTo>
                  <a:pt x="11381413" y="3484861"/>
                </a:lnTo>
                <a:lnTo>
                  <a:pt x="11381414" y="3484858"/>
                </a:lnTo>
                <a:lnTo>
                  <a:pt x="11381413" y="3484856"/>
                </a:lnTo>
                <a:close/>
              </a:path>
            </a:pathLst>
          </a:cu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任意多边形: 形状 111"/>
          <p:cNvSpPr/>
          <p:nvPr/>
        </p:nvSpPr>
        <p:spPr>
          <a:xfrm flipH="1">
            <a:off x="405294" y="2403020"/>
            <a:ext cx="11381413" cy="1351795"/>
          </a:xfrm>
          <a:custGeom>
            <a:avLst/>
            <a:gdLst>
              <a:gd name="connsiteX0" fmla="*/ 11381413 w 11381413"/>
              <a:gd name="connsiteY0" fmla="*/ 0 h 1351795"/>
              <a:gd name="connsiteX1" fmla="*/ 11370085 w 11381413"/>
              <a:gd name="connsiteY1" fmla="*/ 0 h 1351795"/>
              <a:gd name="connsiteX2" fmla="*/ 11352033 w 11381413"/>
              <a:gd name="connsiteY2" fmla="*/ 47270 h 1351795"/>
              <a:gd name="connsiteX3" fmla="*/ 5690707 w 11381413"/>
              <a:gd name="connsiteY3" fmla="*/ 722770 h 1351795"/>
              <a:gd name="connsiteX4" fmla="*/ 29380 w 11381413"/>
              <a:gd name="connsiteY4" fmla="*/ 47270 h 1351795"/>
              <a:gd name="connsiteX5" fmla="*/ 11327 w 11381413"/>
              <a:gd name="connsiteY5" fmla="*/ 0 h 1351795"/>
              <a:gd name="connsiteX6" fmla="*/ 0 w 11381413"/>
              <a:gd name="connsiteY6" fmla="*/ 0 h 1351795"/>
              <a:gd name="connsiteX7" fmla="*/ 0 w 11381413"/>
              <a:gd name="connsiteY7" fmla="*/ 599363 h 1351795"/>
              <a:gd name="connsiteX8" fmla="*/ 0 w 11381413"/>
              <a:gd name="connsiteY8" fmla="*/ 620333 h 1351795"/>
              <a:gd name="connsiteX9" fmla="*/ 8008 w 11381413"/>
              <a:gd name="connsiteY9" fmla="*/ 620333 h 1351795"/>
              <a:gd name="connsiteX10" fmla="*/ 29380 w 11381413"/>
              <a:gd name="connsiteY10" fmla="*/ 676295 h 1351795"/>
              <a:gd name="connsiteX11" fmla="*/ 5690707 w 11381413"/>
              <a:gd name="connsiteY11" fmla="*/ 1351795 h 1351795"/>
              <a:gd name="connsiteX12" fmla="*/ 11352033 w 11381413"/>
              <a:gd name="connsiteY12" fmla="*/ 676295 h 1351795"/>
              <a:gd name="connsiteX13" fmla="*/ 11373405 w 11381413"/>
              <a:gd name="connsiteY13" fmla="*/ 620333 h 1351795"/>
              <a:gd name="connsiteX14" fmla="*/ 11381413 w 11381413"/>
              <a:gd name="connsiteY14" fmla="*/ 620333 h 1351795"/>
              <a:gd name="connsiteX15" fmla="*/ 11381413 w 11381413"/>
              <a:gd name="connsiteY15" fmla="*/ 599366 h 1351795"/>
              <a:gd name="connsiteX16" fmla="*/ 11381413 w 11381413"/>
              <a:gd name="connsiteY16" fmla="*/ 599361 h 1351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81413" h="1351795">
                <a:moveTo>
                  <a:pt x="11381413" y="0"/>
                </a:moveTo>
                <a:lnTo>
                  <a:pt x="11370085" y="0"/>
                </a:lnTo>
                <a:lnTo>
                  <a:pt x="11352033" y="47270"/>
                </a:lnTo>
                <a:cubicBezTo>
                  <a:pt x="11060612" y="426689"/>
                  <a:pt x="8637167" y="722770"/>
                  <a:pt x="5690707" y="722770"/>
                </a:cubicBezTo>
                <a:cubicBezTo>
                  <a:pt x="2744247" y="722770"/>
                  <a:pt x="320801" y="426689"/>
                  <a:pt x="29380" y="47270"/>
                </a:cubicBezTo>
                <a:lnTo>
                  <a:pt x="11327" y="0"/>
                </a:lnTo>
                <a:lnTo>
                  <a:pt x="0" y="0"/>
                </a:lnTo>
                <a:lnTo>
                  <a:pt x="0" y="599363"/>
                </a:lnTo>
                <a:lnTo>
                  <a:pt x="0" y="620333"/>
                </a:lnTo>
                <a:lnTo>
                  <a:pt x="8008" y="620333"/>
                </a:lnTo>
                <a:lnTo>
                  <a:pt x="29380" y="676295"/>
                </a:lnTo>
                <a:cubicBezTo>
                  <a:pt x="320801" y="1055714"/>
                  <a:pt x="2744247" y="1351795"/>
                  <a:pt x="5690707" y="1351795"/>
                </a:cubicBezTo>
                <a:cubicBezTo>
                  <a:pt x="8637167" y="1351795"/>
                  <a:pt x="11060612" y="1055714"/>
                  <a:pt x="11352033" y="676295"/>
                </a:cubicBezTo>
                <a:lnTo>
                  <a:pt x="11373405" y="620333"/>
                </a:lnTo>
                <a:lnTo>
                  <a:pt x="11381413" y="620333"/>
                </a:lnTo>
                <a:lnTo>
                  <a:pt x="11381413" y="599366"/>
                </a:lnTo>
                <a:lnTo>
                  <a:pt x="11381413" y="599361"/>
                </a:lnTo>
                <a:close/>
              </a:path>
            </a:pathLst>
          </a:custGeom>
          <a:solidFill>
            <a:schemeClr val="accent1"/>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椭圆 30"/>
          <p:cNvSpPr/>
          <p:nvPr/>
        </p:nvSpPr>
        <p:spPr>
          <a:xfrm flipH="1">
            <a:off x="246707" y="1428004"/>
            <a:ext cx="11698591" cy="154680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40" name="组合 139"/>
          <p:cNvGrpSpPr/>
          <p:nvPr/>
        </p:nvGrpSpPr>
        <p:grpSpPr>
          <a:xfrm>
            <a:off x="1607115" y="2119870"/>
            <a:ext cx="3774282" cy="778512"/>
            <a:chOff x="1607115" y="2164080"/>
            <a:chExt cx="3774282" cy="778512"/>
          </a:xfrm>
        </p:grpSpPr>
        <p:sp>
          <p:nvSpPr>
            <p:cNvPr id="47" name="任意多边形: 形状 46"/>
            <p:cNvSpPr/>
            <p:nvPr/>
          </p:nvSpPr>
          <p:spPr>
            <a:xfrm>
              <a:off x="1607115" y="2164080"/>
              <a:ext cx="2903925" cy="52633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4" name="任意多边形: 形状 63"/>
            <p:cNvSpPr/>
            <p:nvPr/>
          </p:nvSpPr>
          <p:spPr>
            <a:xfrm>
              <a:off x="4061461" y="2258640"/>
              <a:ext cx="1319936" cy="683952"/>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65" name="任意多边形: 形状 64"/>
          <p:cNvSpPr/>
          <p:nvPr/>
        </p:nvSpPr>
        <p:spPr>
          <a:xfrm>
            <a:off x="6096000" y="2345345"/>
            <a:ext cx="0" cy="57541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系统架构：五层技术栈</a:t>
            </a:r>
          </a:p>
        </p:txBody>
      </p:sp>
      <p:sp>
        <p:nvSpPr>
          <p:cNvPr id="37" name="任意多边形: 形状 36"/>
          <p:cNvSpPr/>
          <p:nvPr/>
        </p:nvSpPr>
        <p:spPr>
          <a:xfrm flipH="1">
            <a:off x="246703" y="2223883"/>
            <a:ext cx="11698591" cy="879304"/>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8" name="任意多边形: 形状 37"/>
          <p:cNvSpPr/>
          <p:nvPr/>
        </p:nvSpPr>
        <p:spPr>
          <a:xfrm flipH="1">
            <a:off x="246703" y="2223883"/>
            <a:ext cx="11698591" cy="879304"/>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lumMod val="60000"/>
                  <a:lumOff val="40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41" name="组合 140"/>
          <p:cNvGrpSpPr/>
          <p:nvPr/>
        </p:nvGrpSpPr>
        <p:grpSpPr>
          <a:xfrm flipH="1">
            <a:off x="6711112" y="2119870"/>
            <a:ext cx="3774282" cy="778512"/>
            <a:chOff x="1607115" y="2164080"/>
            <a:chExt cx="3774282" cy="778512"/>
          </a:xfrm>
        </p:grpSpPr>
        <p:sp>
          <p:nvSpPr>
            <p:cNvPr id="142" name="任意多边形: 形状 141"/>
            <p:cNvSpPr/>
            <p:nvPr/>
          </p:nvSpPr>
          <p:spPr>
            <a:xfrm>
              <a:off x="1607115" y="2164080"/>
              <a:ext cx="2903925" cy="52633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任意多边形: 形状 142"/>
            <p:cNvSpPr/>
            <p:nvPr/>
          </p:nvSpPr>
          <p:spPr>
            <a:xfrm>
              <a:off x="4061461" y="2258640"/>
              <a:ext cx="1319936" cy="683952"/>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0" name="组合 159"/>
          <p:cNvGrpSpPr/>
          <p:nvPr/>
        </p:nvGrpSpPr>
        <p:grpSpPr>
          <a:xfrm>
            <a:off x="3919016" y="940757"/>
            <a:ext cx="4353969" cy="2491077"/>
            <a:chOff x="3919016" y="910277"/>
            <a:chExt cx="4353969" cy="2491077"/>
          </a:xfrm>
        </p:grpSpPr>
        <p:sp>
          <p:nvSpPr>
            <p:cNvPr id="151" name="椭圆 150"/>
            <p:cNvSpPr/>
            <p:nvPr/>
          </p:nvSpPr>
          <p:spPr>
            <a:xfrm flipH="1">
              <a:off x="4434765" y="1888708"/>
              <a:ext cx="3232273" cy="427375"/>
            </a:xfrm>
            <a:prstGeom prst="ellipse">
              <a:avLst/>
            </a:prstGeom>
            <a:solidFill>
              <a:schemeClr val="bg1"/>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52" name="组合 151"/>
            <p:cNvGrpSpPr/>
            <p:nvPr/>
          </p:nvGrpSpPr>
          <p:grpSpPr>
            <a:xfrm>
              <a:off x="3919016" y="910277"/>
              <a:ext cx="4353969" cy="2491077"/>
              <a:chOff x="4207077" y="944563"/>
              <a:chExt cx="3879447" cy="2219584"/>
            </a:xfrm>
          </p:grpSpPr>
          <p:sp>
            <p:nvSpPr>
              <p:cNvPr id="153" name="不完整圆 152"/>
              <p:cNvSpPr/>
              <p:nvPr/>
            </p:nvSpPr>
            <p:spPr>
              <a:xfrm flipH="1" flipV="1">
                <a:off x="4656000" y="944563"/>
                <a:ext cx="2880000" cy="2219584"/>
              </a:xfrm>
              <a:prstGeom prst="pie">
                <a:avLst>
                  <a:gd name="adj1" fmla="val 0"/>
                  <a:gd name="adj2" fmla="val 10728074"/>
                </a:avLst>
              </a:prstGeom>
              <a:gradFill>
                <a:gsLst>
                  <a:gs pos="100000">
                    <a:schemeClr val="accent4">
                      <a:alpha val="18000"/>
                    </a:schemeClr>
                  </a:gs>
                  <a:gs pos="3000">
                    <a:schemeClr val="accent5">
                      <a:alpha val="0"/>
                    </a:schemeClr>
                  </a:gs>
                </a:gsLst>
                <a:lin ang="5400000" scaled="1"/>
              </a:gradFill>
              <a:ln w="3175">
                <a:gradFill flip="none" rotWithShape="1">
                  <a:gsLst>
                    <a:gs pos="25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54" name="组合 153"/>
              <p:cNvGrpSpPr/>
              <p:nvPr/>
            </p:nvGrpSpPr>
            <p:grpSpPr>
              <a:xfrm>
                <a:off x="4207077" y="949153"/>
                <a:ext cx="3879447" cy="1242469"/>
                <a:chOff x="4207077" y="949153"/>
                <a:chExt cx="3879447" cy="1242469"/>
              </a:xfrm>
            </p:grpSpPr>
            <p:grpSp>
              <p:nvGrpSpPr>
                <p:cNvPr id="155" name="组合 154"/>
                <p:cNvGrpSpPr/>
                <p:nvPr/>
              </p:nvGrpSpPr>
              <p:grpSpPr>
                <a:xfrm>
                  <a:off x="4656001" y="1749405"/>
                  <a:ext cx="2880000" cy="442217"/>
                  <a:chOff x="4656001" y="1866245"/>
                  <a:chExt cx="2880000" cy="674736"/>
                </a:xfrm>
              </p:grpSpPr>
              <p:sp>
                <p:nvSpPr>
                  <p:cNvPr id="157" name="椭圆 156"/>
                  <p:cNvSpPr/>
                  <p:nvPr/>
                </p:nvSpPr>
                <p:spPr>
                  <a:xfrm flipH="1">
                    <a:off x="4656001" y="1959961"/>
                    <a:ext cx="2880000" cy="581020"/>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8" name="椭圆 157"/>
                  <p:cNvSpPr/>
                  <p:nvPr/>
                </p:nvSpPr>
                <p:spPr>
                  <a:xfrm>
                    <a:off x="4791212" y="1866245"/>
                    <a:ext cx="2609577" cy="595063"/>
                  </a:xfrm>
                  <a:prstGeom prst="ellipse">
                    <a:avLst/>
                  </a:prstGeom>
                  <a:noFill/>
                  <a:ln w="15875">
                    <a:gradFill flip="none" rotWithShape="1">
                      <a:gsLst>
                        <a:gs pos="63000">
                          <a:schemeClr val="accent4">
                            <a:alpha val="0"/>
                          </a:schemeClr>
                        </a:gs>
                        <a:gs pos="77000">
                          <a:schemeClr val="accent4"/>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56" name="文本框 155"/>
                <p:cNvSpPr txBox="1"/>
                <p:nvPr/>
              </p:nvSpPr>
              <p:spPr>
                <a:xfrm>
                  <a:off x="4207077" y="949153"/>
                  <a:ext cx="3879447" cy="975015"/>
                </a:xfrm>
                <a:prstGeom prst="rect">
                  <a:avLst/>
                </a:prstGeom>
                <a:noFill/>
              </p:spPr>
              <p:txBody>
                <a:bodyPr spcFirstLastPara="1" wrap="square" numCol="1">
                  <a:prstTxWarp prst="textArchDown">
                    <a:avLst>
                      <a:gd name="adj" fmla="val 2031909"/>
                    </a:avLst>
                  </a:prstTxWarp>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9D3728"/>
                      </a:solidFill>
                      <a:effectLst>
                        <a:reflection blurRad="6350" stA="15000" endPos="61000" dir="5400000" sy="-100000" algn="bl" rotWithShape="0"/>
                      </a:effectLst>
                      <a:uLnTx/>
                      <a:uFillTx/>
                      <a:latin typeface="+mn-lt"/>
                      <a:ea typeface="+mn-ea"/>
                      <a:cs typeface="+mn-ea"/>
                      <a:sym typeface="+mn-lt"/>
                    </a:rPr>
                    <a:t>五层架构</a:t>
                  </a:r>
                </a:p>
              </p:txBody>
            </p:sp>
          </p:grpSp>
        </p:grpSp>
        <p:sp>
          <p:nvSpPr>
            <p:cNvPr id="159" name="任意多边形: 形状 158"/>
            <p:cNvSpPr/>
            <p:nvPr/>
          </p:nvSpPr>
          <p:spPr>
            <a:xfrm flipH="1">
              <a:off x="4422850" y="2102396"/>
              <a:ext cx="3232273" cy="242949"/>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lumMod val="60000"/>
                    <a:lumOff val="40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61" name="椭圆 160"/>
          <p:cNvSpPr/>
          <p:nvPr/>
        </p:nvSpPr>
        <p:spPr>
          <a:xfrm>
            <a:off x="3599414" y="2698560"/>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采</a:t>
            </a:r>
          </a:p>
        </p:txBody>
      </p:sp>
      <p:sp>
        <p:nvSpPr>
          <p:cNvPr id="162" name="椭圆 161"/>
          <p:cNvSpPr/>
          <p:nvPr/>
        </p:nvSpPr>
        <p:spPr>
          <a:xfrm>
            <a:off x="8047834" y="2698560"/>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洗</a:t>
            </a:r>
          </a:p>
        </p:txBody>
      </p:sp>
      <p:sp>
        <p:nvSpPr>
          <p:cNvPr id="163" name="椭圆 162"/>
          <p:cNvSpPr/>
          <p:nvPr/>
        </p:nvSpPr>
        <p:spPr>
          <a:xfrm>
            <a:off x="1434230" y="2410487"/>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抽</a:t>
            </a:r>
          </a:p>
        </p:txBody>
      </p:sp>
      <p:sp>
        <p:nvSpPr>
          <p:cNvPr id="164" name="椭圆 163"/>
          <p:cNvSpPr/>
          <p:nvPr/>
        </p:nvSpPr>
        <p:spPr>
          <a:xfrm>
            <a:off x="10213018" y="2410487"/>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谱</a:t>
            </a:r>
          </a:p>
        </p:txBody>
      </p:sp>
      <p:sp>
        <p:nvSpPr>
          <p:cNvPr id="165" name="椭圆 164"/>
          <p:cNvSpPr/>
          <p:nvPr/>
        </p:nvSpPr>
        <p:spPr>
          <a:xfrm>
            <a:off x="5823624" y="2747274"/>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用</a:t>
            </a:r>
          </a:p>
        </p:txBody>
      </p:sp>
      <p:sp>
        <p:nvSpPr>
          <p:cNvPr id="176" name="任意多边形: 形状 175"/>
          <p:cNvSpPr/>
          <p:nvPr/>
        </p:nvSpPr>
        <p:spPr>
          <a:xfrm>
            <a:off x="2693765" y="2963119"/>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7" name="任意多边形: 形状 176"/>
          <p:cNvSpPr/>
          <p:nvPr/>
        </p:nvSpPr>
        <p:spPr>
          <a:xfrm>
            <a:off x="9498236" y="2963119"/>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8" name="任意多边形: 形状 177"/>
          <p:cNvSpPr/>
          <p:nvPr/>
        </p:nvSpPr>
        <p:spPr>
          <a:xfrm>
            <a:off x="4950106" y="3102017"/>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9" name="任意多边形: 形状 178"/>
          <p:cNvSpPr/>
          <p:nvPr/>
        </p:nvSpPr>
        <p:spPr>
          <a:xfrm>
            <a:off x="7241895" y="3102017"/>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499362" y="3007145"/>
            <a:ext cx="2131237" cy="400110"/>
          </a:xfrm>
          <a:prstGeom prst="rect">
            <a:avLst/>
          </a:prstGeom>
          <a:noFill/>
          <a:effectLst/>
          <a:scene3d>
            <a:camera prst="isometricOffAxis2Lef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图谱展示</a:t>
            </a:r>
          </a:p>
        </p:txBody>
      </p:sp>
      <p:sp>
        <p:nvSpPr>
          <p:cNvPr id="183" name="文本框 182"/>
          <p:cNvSpPr txBox="1"/>
          <p:nvPr/>
        </p:nvSpPr>
        <p:spPr>
          <a:xfrm>
            <a:off x="9561401" y="3007145"/>
            <a:ext cx="2131237" cy="400110"/>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人岗匹配</a:t>
            </a:r>
          </a:p>
        </p:txBody>
      </p:sp>
      <p:sp>
        <p:nvSpPr>
          <p:cNvPr id="185" name="文本框 184"/>
          <p:cNvSpPr txBox="1"/>
          <p:nvPr/>
        </p:nvSpPr>
        <p:spPr>
          <a:xfrm>
            <a:off x="2728923" y="3266162"/>
            <a:ext cx="2131237" cy="400110"/>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岗位定义</a:t>
            </a:r>
          </a:p>
        </p:txBody>
      </p:sp>
      <p:sp>
        <p:nvSpPr>
          <p:cNvPr id="186" name="文本框 185"/>
          <p:cNvSpPr txBox="1"/>
          <p:nvPr/>
        </p:nvSpPr>
        <p:spPr>
          <a:xfrm>
            <a:off x="7323480" y="3266162"/>
            <a:ext cx="2131237" cy="400110"/>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数据追溯</a:t>
            </a:r>
          </a:p>
        </p:txBody>
      </p:sp>
      <p:sp>
        <p:nvSpPr>
          <p:cNvPr id="187" name="文本框 186"/>
          <p:cNvSpPr txBox="1"/>
          <p:nvPr/>
        </p:nvSpPr>
        <p:spPr>
          <a:xfrm>
            <a:off x="5030382" y="3357602"/>
            <a:ext cx="2131237" cy="400110"/>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图谱层应用</a:t>
            </a:r>
          </a:p>
        </p:txBody>
      </p:sp>
      <p:sp>
        <p:nvSpPr>
          <p:cNvPr id="188" name="任意多边形: 形状 187"/>
          <p:cNvSpPr/>
          <p:nvPr/>
        </p:nvSpPr>
        <p:spPr>
          <a:xfrm>
            <a:off x="2693765" y="38473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9" name="任意多边形: 形状 188"/>
          <p:cNvSpPr/>
          <p:nvPr/>
        </p:nvSpPr>
        <p:spPr>
          <a:xfrm>
            <a:off x="9498236" y="38473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94" name="文本框 193"/>
          <p:cNvSpPr txBox="1"/>
          <p:nvPr/>
        </p:nvSpPr>
        <p:spPr>
          <a:xfrm>
            <a:off x="705357" y="3645353"/>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岗位图谱</a:t>
            </a:r>
          </a:p>
        </p:txBody>
      </p:sp>
      <p:sp>
        <p:nvSpPr>
          <p:cNvPr id="195" name="文本框 194"/>
          <p:cNvSpPr txBox="1"/>
          <p:nvPr/>
        </p:nvSpPr>
        <p:spPr>
          <a:xfrm>
            <a:off x="705357" y="4104022"/>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能力图谱</a:t>
            </a:r>
          </a:p>
        </p:txBody>
      </p:sp>
      <p:sp>
        <p:nvSpPr>
          <p:cNvPr id="196" name="文本框 195"/>
          <p:cNvSpPr txBox="1"/>
          <p:nvPr/>
        </p:nvSpPr>
        <p:spPr>
          <a:xfrm>
            <a:off x="705357" y="4562691"/>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技术图谱</a:t>
            </a:r>
          </a:p>
        </p:txBody>
      </p:sp>
      <p:sp>
        <p:nvSpPr>
          <p:cNvPr id="197" name="文本框 196"/>
          <p:cNvSpPr txBox="1"/>
          <p:nvPr/>
        </p:nvSpPr>
        <p:spPr>
          <a:xfrm>
            <a:off x="705357" y="5021360"/>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Neo4j 存储</a:t>
            </a:r>
          </a:p>
        </p:txBody>
      </p:sp>
      <p:sp>
        <p:nvSpPr>
          <p:cNvPr id="198" name="文本框 197"/>
          <p:cNvSpPr txBox="1"/>
          <p:nvPr/>
        </p:nvSpPr>
        <p:spPr>
          <a:xfrm>
            <a:off x="705357" y="5480029"/>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图谱服务</a:t>
            </a:r>
          </a:p>
        </p:txBody>
      </p:sp>
      <p:sp>
        <p:nvSpPr>
          <p:cNvPr id="200" name="文本框 199"/>
          <p:cNvSpPr txBox="1"/>
          <p:nvPr/>
        </p:nvSpPr>
        <p:spPr>
          <a:xfrm>
            <a:off x="9805012" y="3571903"/>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LLM 抽取</a:t>
            </a:r>
          </a:p>
        </p:txBody>
      </p:sp>
      <p:sp>
        <p:nvSpPr>
          <p:cNvPr id="201" name="文本框 200"/>
          <p:cNvSpPr txBox="1"/>
          <p:nvPr/>
        </p:nvSpPr>
        <p:spPr>
          <a:xfrm>
            <a:off x="9805012" y="4075090"/>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能力谱系</a:t>
            </a:r>
          </a:p>
        </p:txBody>
      </p:sp>
      <p:sp>
        <p:nvSpPr>
          <p:cNvPr id="202" name="文本框 201"/>
          <p:cNvSpPr txBox="1"/>
          <p:nvPr/>
        </p:nvSpPr>
        <p:spPr>
          <a:xfrm>
            <a:off x="9805012" y="4473354"/>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技能涌现检测</a:t>
            </a:r>
          </a:p>
        </p:txBody>
      </p:sp>
      <p:sp>
        <p:nvSpPr>
          <p:cNvPr id="203" name="文本框 202"/>
          <p:cNvSpPr txBox="1"/>
          <p:nvPr/>
        </p:nvSpPr>
        <p:spPr>
          <a:xfrm>
            <a:off x="9805012" y="4976541"/>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qwen-plus</a:t>
            </a:r>
          </a:p>
        </p:txBody>
      </p:sp>
      <p:sp>
        <p:nvSpPr>
          <p:cNvPr id="207" name="任意多边形: 形状 206"/>
          <p:cNvSpPr/>
          <p:nvPr/>
        </p:nvSpPr>
        <p:spPr>
          <a:xfrm>
            <a:off x="7241895" y="39997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08" name="任意多边形: 形状 207"/>
          <p:cNvSpPr/>
          <p:nvPr/>
        </p:nvSpPr>
        <p:spPr>
          <a:xfrm>
            <a:off x="4950106" y="39997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09" name="文本框 208"/>
          <p:cNvSpPr txBox="1"/>
          <p:nvPr/>
        </p:nvSpPr>
        <p:spPr>
          <a:xfrm>
            <a:off x="2911803" y="3860239"/>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SimHash 去重</a:t>
            </a:r>
          </a:p>
        </p:txBody>
      </p:sp>
      <p:sp>
        <p:nvSpPr>
          <p:cNvPr id="210" name="文本框 209"/>
          <p:cNvSpPr txBox="1"/>
          <p:nvPr/>
        </p:nvSpPr>
        <p:spPr>
          <a:xfrm>
            <a:off x="2911803" y="4326052"/>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四因子信任</a:t>
            </a:r>
          </a:p>
        </p:txBody>
      </p:sp>
      <p:sp>
        <p:nvSpPr>
          <p:cNvPr id="211" name="文本框 210"/>
          <p:cNvSpPr txBox="1"/>
          <p:nvPr/>
        </p:nvSpPr>
        <p:spPr>
          <a:xfrm>
            <a:off x="2911803" y="4791865"/>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JD 时滞治理</a:t>
            </a:r>
          </a:p>
        </p:txBody>
      </p:sp>
      <p:sp>
        <p:nvSpPr>
          <p:cNvPr id="212" name="文本框 211"/>
          <p:cNvSpPr txBox="1"/>
          <p:nvPr/>
        </p:nvSpPr>
        <p:spPr>
          <a:xfrm>
            <a:off x="2911803" y="5257678"/>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噪音 / 抄袭清洗</a:t>
            </a:r>
          </a:p>
        </p:txBody>
      </p:sp>
      <p:sp>
        <p:nvSpPr>
          <p:cNvPr id="213" name="文本框 212"/>
          <p:cNvSpPr txBox="1"/>
          <p:nvPr/>
        </p:nvSpPr>
        <p:spPr>
          <a:xfrm>
            <a:off x="2911803" y="5723491"/>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Redis 缓存</a:t>
            </a:r>
          </a:p>
        </p:txBody>
      </p:sp>
      <p:sp>
        <p:nvSpPr>
          <p:cNvPr id="215" name="文本框 214"/>
          <p:cNvSpPr txBox="1"/>
          <p:nvPr/>
        </p:nvSpPr>
        <p:spPr>
          <a:xfrm>
            <a:off x="7506360" y="3875035"/>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FastAPI</a:t>
            </a:r>
          </a:p>
        </p:txBody>
      </p:sp>
      <p:sp>
        <p:nvSpPr>
          <p:cNvPr id="216" name="文本框 215"/>
          <p:cNvSpPr txBox="1"/>
          <p:nvPr/>
        </p:nvSpPr>
        <p:spPr>
          <a:xfrm>
            <a:off x="7506360" y="4326444"/>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PostgreSQL</a:t>
            </a:r>
          </a:p>
        </p:txBody>
      </p:sp>
      <p:sp>
        <p:nvSpPr>
          <p:cNvPr id="217" name="文本框 216"/>
          <p:cNvSpPr txBox="1"/>
          <p:nvPr/>
        </p:nvSpPr>
        <p:spPr>
          <a:xfrm>
            <a:off x="7506360" y="4777853"/>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9 类数据源</a:t>
            </a:r>
          </a:p>
        </p:txBody>
      </p:sp>
      <p:sp>
        <p:nvSpPr>
          <p:cNvPr id="218" name="文本框 217"/>
          <p:cNvSpPr txBox="1"/>
          <p:nvPr/>
        </p:nvSpPr>
        <p:spPr>
          <a:xfrm>
            <a:off x="7506360" y="5229261"/>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620 条真实 JD</a:t>
            </a:r>
          </a:p>
        </p:txBody>
      </p:sp>
      <p:sp>
        <p:nvSpPr>
          <p:cNvPr id="219" name="文本框 218"/>
          <p:cNvSpPr txBox="1"/>
          <p:nvPr/>
        </p:nvSpPr>
        <p:spPr>
          <a:xfrm>
            <a:off x="5030382" y="3922005"/>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多语言采集</a:t>
            </a:r>
          </a:p>
        </p:txBody>
      </p:sp>
      <p:sp>
        <p:nvSpPr>
          <p:cNvPr id="220" name="文本框 219"/>
          <p:cNvSpPr txBox="1"/>
          <p:nvPr/>
        </p:nvSpPr>
        <p:spPr>
          <a:xfrm>
            <a:off x="5030382" y="4375686"/>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定时任务调度</a:t>
            </a:r>
          </a:p>
        </p:txBody>
      </p:sp>
      <p:sp>
        <p:nvSpPr>
          <p:cNvPr id="221" name="文本框 220"/>
          <p:cNvSpPr txBox="1"/>
          <p:nvPr/>
        </p:nvSpPr>
        <p:spPr>
          <a:xfrm>
            <a:off x="5030382" y="4829367"/>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增量同步</a:t>
            </a:r>
          </a:p>
        </p:txBody>
      </p:sp>
      <p:sp>
        <p:nvSpPr>
          <p:cNvPr id="222" name="文本框 221"/>
          <p:cNvSpPr txBox="1"/>
          <p:nvPr/>
        </p:nvSpPr>
        <p:spPr>
          <a:xfrm>
            <a:off x="5030382" y="5283048"/>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数据留痕</a:t>
            </a:r>
          </a:p>
        </p:txBody>
      </p:sp>
      <p:sp>
        <p:nvSpPr>
          <p:cNvPr id="223" name="文本框 222"/>
          <p:cNvSpPr txBox="1"/>
          <p:nvPr/>
        </p:nvSpPr>
        <p:spPr>
          <a:xfrm>
            <a:off x="5030382" y="5736729"/>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来源可追溯</a:t>
            </a:r>
          </a:p>
        </p:txBody>
      </p:sp>
      <p:grpSp>
        <p:nvGrpSpPr>
          <p:cNvPr id="226" name="图形 224"/>
          <p:cNvGrpSpPr/>
          <p:nvPr/>
        </p:nvGrpSpPr>
        <p:grpSpPr>
          <a:xfrm>
            <a:off x="5809913" y="1160965"/>
            <a:ext cx="572174" cy="591252"/>
            <a:chOff x="5506069" y="2819400"/>
            <a:chExt cx="1179861" cy="1219200"/>
          </a:xfrm>
          <a:gradFill>
            <a:gsLst>
              <a:gs pos="0">
                <a:schemeClr val="accent4"/>
              </a:gs>
              <a:gs pos="100000">
                <a:schemeClr val="accent5">
                  <a:alpha val="0"/>
                </a:schemeClr>
              </a:gs>
            </a:gsLst>
            <a:lin ang="5400000" scaled="1"/>
          </a:gradFill>
        </p:grpSpPr>
        <p:sp>
          <p:nvSpPr>
            <p:cNvPr id="227" name="任意多边形: 形状 226"/>
            <p:cNvSpPr/>
            <p:nvPr/>
          </p:nvSpPr>
          <p:spPr>
            <a:xfrm>
              <a:off x="5506069" y="2819400"/>
              <a:ext cx="1179861" cy="629269"/>
            </a:xfrm>
            <a:custGeom>
              <a:avLst/>
              <a:gdLst>
                <a:gd name="connsiteX0" fmla="*/ 1179862 w 1179861"/>
                <a:gd name="connsiteY0" fmla="*/ 629269 h 629269"/>
                <a:gd name="connsiteX1" fmla="*/ 0 w 1179861"/>
                <a:gd name="connsiteY1" fmla="*/ 629269 h 629269"/>
                <a:gd name="connsiteX2" fmla="*/ 0 w 1179861"/>
                <a:gd name="connsiteY2" fmla="*/ 157163 h 629269"/>
                <a:gd name="connsiteX3" fmla="*/ 157163 w 1179861"/>
                <a:gd name="connsiteY3" fmla="*/ 0 h 629269"/>
                <a:gd name="connsiteX4" fmla="*/ 1022556 w 1179861"/>
                <a:gd name="connsiteY4" fmla="*/ 0 h 629269"/>
                <a:gd name="connsiteX5" fmla="*/ 1179719 w 1179861"/>
                <a:gd name="connsiteY5" fmla="*/ 157163 h 629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9861" h="629269">
                  <a:moveTo>
                    <a:pt x="1179862" y="629269"/>
                  </a:moveTo>
                  <a:lnTo>
                    <a:pt x="0" y="629269"/>
                  </a:lnTo>
                  <a:lnTo>
                    <a:pt x="0" y="157163"/>
                  </a:lnTo>
                  <a:cubicBezTo>
                    <a:pt x="0" y="70364"/>
                    <a:pt x="70364" y="0"/>
                    <a:pt x="157163" y="0"/>
                  </a:cubicBezTo>
                  <a:lnTo>
                    <a:pt x="1022556" y="0"/>
                  </a:lnTo>
                  <a:cubicBezTo>
                    <a:pt x="1109355" y="0"/>
                    <a:pt x="1179719" y="70364"/>
                    <a:pt x="1179719" y="157163"/>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28" name="任意多边形: 形状 227"/>
            <p:cNvSpPr/>
            <p:nvPr/>
          </p:nvSpPr>
          <p:spPr>
            <a:xfrm>
              <a:off x="5702712" y="3959923"/>
              <a:ext cx="786574" cy="78676"/>
            </a:xfrm>
            <a:custGeom>
              <a:avLst/>
              <a:gdLst>
                <a:gd name="connsiteX0" fmla="*/ 747236 w 786574"/>
                <a:gd name="connsiteY0" fmla="*/ 78677 h 78676"/>
                <a:gd name="connsiteX1" fmla="*/ 39338 w 786574"/>
                <a:gd name="connsiteY1" fmla="*/ 78677 h 78676"/>
                <a:gd name="connsiteX2" fmla="*/ 0 w 786574"/>
                <a:gd name="connsiteY2" fmla="*/ 39338 h 78676"/>
                <a:gd name="connsiteX3" fmla="*/ 39338 w 786574"/>
                <a:gd name="connsiteY3" fmla="*/ 0 h 78676"/>
                <a:gd name="connsiteX4" fmla="*/ 747236 w 786574"/>
                <a:gd name="connsiteY4" fmla="*/ 0 h 78676"/>
                <a:gd name="connsiteX5" fmla="*/ 786575 w 786574"/>
                <a:gd name="connsiteY5" fmla="*/ 39338 h 78676"/>
                <a:gd name="connsiteX6" fmla="*/ 747236 w 786574"/>
                <a:gd name="connsiteY6" fmla="*/ 78676 h 7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6574" h="78676">
                  <a:moveTo>
                    <a:pt x="747236" y="78677"/>
                  </a:moveTo>
                  <a:lnTo>
                    <a:pt x="39338" y="78677"/>
                  </a:lnTo>
                  <a:cubicBezTo>
                    <a:pt x="17612" y="78677"/>
                    <a:pt x="0" y="61064"/>
                    <a:pt x="0" y="39338"/>
                  </a:cubicBezTo>
                  <a:cubicBezTo>
                    <a:pt x="0" y="17612"/>
                    <a:pt x="17612" y="0"/>
                    <a:pt x="39338" y="0"/>
                  </a:cubicBezTo>
                  <a:lnTo>
                    <a:pt x="747236" y="0"/>
                  </a:lnTo>
                  <a:cubicBezTo>
                    <a:pt x="768962" y="0"/>
                    <a:pt x="786575" y="17612"/>
                    <a:pt x="786575" y="39338"/>
                  </a:cubicBezTo>
                  <a:cubicBezTo>
                    <a:pt x="786575" y="61064"/>
                    <a:pt x="768962" y="78676"/>
                    <a:pt x="747236" y="78676"/>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29" name="任意多边形: 形状 228"/>
            <p:cNvSpPr/>
            <p:nvPr/>
          </p:nvSpPr>
          <p:spPr>
            <a:xfrm>
              <a:off x="5506069" y="3488007"/>
              <a:ext cx="1179718" cy="235839"/>
            </a:xfrm>
            <a:custGeom>
              <a:avLst/>
              <a:gdLst>
                <a:gd name="connsiteX0" fmla="*/ 0 w 1179718"/>
                <a:gd name="connsiteY0" fmla="*/ 0 h 235839"/>
                <a:gd name="connsiteX1" fmla="*/ 0 w 1179718"/>
                <a:gd name="connsiteY1" fmla="*/ 78677 h 235839"/>
                <a:gd name="connsiteX2" fmla="*/ 157163 w 1179718"/>
                <a:gd name="connsiteY2" fmla="*/ 235839 h 235839"/>
                <a:gd name="connsiteX3" fmla="*/ 1022556 w 1179718"/>
                <a:gd name="connsiteY3" fmla="*/ 235839 h 235839"/>
                <a:gd name="connsiteX4" fmla="*/ 1179719 w 1179718"/>
                <a:gd name="connsiteY4" fmla="*/ 78677 h 235839"/>
                <a:gd name="connsiteX5" fmla="*/ 1179719 w 1179718"/>
                <a:gd name="connsiteY5" fmla="*/ 0 h 235839"/>
                <a:gd name="connsiteX6" fmla="*/ 668560 w 1179718"/>
                <a:gd name="connsiteY6" fmla="*/ 157163 h 235839"/>
                <a:gd name="connsiteX7" fmla="*/ 511397 w 1179718"/>
                <a:gd name="connsiteY7" fmla="*/ 157163 h 235839"/>
                <a:gd name="connsiteX8" fmla="*/ 470714 w 1179718"/>
                <a:gd name="connsiteY8" fmla="*/ 119217 h 235839"/>
                <a:gd name="connsiteX9" fmla="*/ 508660 w 1179718"/>
                <a:gd name="connsiteY9" fmla="*/ 78534 h 235839"/>
                <a:gd name="connsiteX10" fmla="*/ 511397 w 1179718"/>
                <a:gd name="connsiteY10" fmla="*/ 78534 h 235839"/>
                <a:gd name="connsiteX11" fmla="*/ 668560 w 1179718"/>
                <a:gd name="connsiteY11" fmla="*/ 78534 h 235839"/>
                <a:gd name="connsiteX12" fmla="*/ 709243 w 1179718"/>
                <a:gd name="connsiteY12" fmla="*/ 116480 h 235839"/>
                <a:gd name="connsiteX13" fmla="*/ 671297 w 1179718"/>
                <a:gd name="connsiteY13" fmla="*/ 157163 h 235839"/>
                <a:gd name="connsiteX14" fmla="*/ 668560 w 1179718"/>
                <a:gd name="connsiteY14" fmla="*/ 157163 h 23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9718" h="235839">
                  <a:moveTo>
                    <a:pt x="0" y="0"/>
                  </a:moveTo>
                  <a:lnTo>
                    <a:pt x="0" y="78677"/>
                  </a:lnTo>
                  <a:cubicBezTo>
                    <a:pt x="0" y="165475"/>
                    <a:pt x="70364" y="235839"/>
                    <a:pt x="157163" y="235839"/>
                  </a:cubicBezTo>
                  <a:lnTo>
                    <a:pt x="1022556" y="235839"/>
                  </a:lnTo>
                  <a:cubicBezTo>
                    <a:pt x="1109355" y="235839"/>
                    <a:pt x="1179719" y="165475"/>
                    <a:pt x="1179719" y="78677"/>
                  </a:cubicBezTo>
                  <a:lnTo>
                    <a:pt x="1179719" y="0"/>
                  </a:lnTo>
                  <a:close/>
                  <a:moveTo>
                    <a:pt x="668560" y="157163"/>
                  </a:moveTo>
                  <a:lnTo>
                    <a:pt x="511397" y="157163"/>
                  </a:lnTo>
                  <a:cubicBezTo>
                    <a:pt x="489685" y="157918"/>
                    <a:pt x="471470" y="140929"/>
                    <a:pt x="470714" y="119217"/>
                  </a:cubicBezTo>
                  <a:cubicBezTo>
                    <a:pt x="469958" y="97504"/>
                    <a:pt x="486947" y="79289"/>
                    <a:pt x="508660" y="78534"/>
                  </a:cubicBezTo>
                  <a:cubicBezTo>
                    <a:pt x="509572" y="78502"/>
                    <a:pt x="510485" y="78502"/>
                    <a:pt x="511397" y="78534"/>
                  </a:cubicBezTo>
                  <a:lnTo>
                    <a:pt x="668560" y="78534"/>
                  </a:lnTo>
                  <a:cubicBezTo>
                    <a:pt x="690273" y="77778"/>
                    <a:pt x="708487" y="94767"/>
                    <a:pt x="709243" y="116480"/>
                  </a:cubicBezTo>
                  <a:cubicBezTo>
                    <a:pt x="709999" y="138192"/>
                    <a:pt x="693010" y="156407"/>
                    <a:pt x="671297" y="157163"/>
                  </a:cubicBezTo>
                  <a:cubicBezTo>
                    <a:pt x="670385" y="157194"/>
                    <a:pt x="669472" y="157194"/>
                    <a:pt x="668560" y="157163"/>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30" name="任意多边形: 形状 229"/>
            <p:cNvSpPr/>
            <p:nvPr/>
          </p:nvSpPr>
          <p:spPr>
            <a:xfrm>
              <a:off x="5873305" y="3763279"/>
              <a:ext cx="445912" cy="157162"/>
            </a:xfrm>
            <a:custGeom>
              <a:avLst/>
              <a:gdLst>
                <a:gd name="connsiteX0" fmla="*/ 53340 w 445912"/>
                <a:gd name="connsiteY0" fmla="*/ 0 h 157162"/>
                <a:gd name="connsiteX1" fmla="*/ 0 w 445912"/>
                <a:gd name="connsiteY1" fmla="*/ 157163 h 157162"/>
                <a:gd name="connsiteX2" fmla="*/ 445913 w 445912"/>
                <a:gd name="connsiteY2" fmla="*/ 157163 h 157162"/>
                <a:gd name="connsiteX3" fmla="*/ 394907 w 445912"/>
                <a:gd name="connsiteY3" fmla="*/ 0 h 157162"/>
              </a:gdLst>
              <a:ahLst/>
              <a:cxnLst>
                <a:cxn ang="0">
                  <a:pos x="connsiteX0" y="connsiteY0"/>
                </a:cxn>
                <a:cxn ang="0">
                  <a:pos x="connsiteX1" y="connsiteY1"/>
                </a:cxn>
                <a:cxn ang="0">
                  <a:pos x="connsiteX2" y="connsiteY2"/>
                </a:cxn>
                <a:cxn ang="0">
                  <a:pos x="connsiteX3" y="connsiteY3"/>
                </a:cxn>
              </a:cxnLst>
              <a:rect l="l" t="t" r="r" b="b"/>
              <a:pathLst>
                <a:path w="445912" h="157162">
                  <a:moveTo>
                    <a:pt x="53340" y="0"/>
                  </a:moveTo>
                  <a:lnTo>
                    <a:pt x="0" y="157163"/>
                  </a:lnTo>
                  <a:lnTo>
                    <a:pt x="445913" y="157163"/>
                  </a:lnTo>
                  <a:lnTo>
                    <a:pt x="394907" y="0"/>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ectangle 147+"/>
          <p:cNvSpPr/>
          <p:nvPr/>
        </p:nvSpPr>
        <p:spPr>
          <a:xfrm>
            <a:off x="725714" y="3466766"/>
            <a:ext cx="2957953" cy="704529"/>
          </a:xfrm>
          <a:prstGeom prst="rect">
            <a:avLst/>
          </a:prstGeom>
          <a:gradFill>
            <a:gsLst>
              <a:gs pos="0">
                <a:schemeClr val="accent1">
                  <a:lumMod val="14000"/>
                  <a:lumOff val="86000"/>
                </a:schemeClr>
              </a:gs>
              <a:gs pos="100000">
                <a:schemeClr val="accent1">
                  <a:lumMod val="0"/>
                  <a:lumOff val="10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3" name="Rectangle 147++"/>
          <p:cNvSpPr/>
          <p:nvPr/>
        </p:nvSpPr>
        <p:spPr>
          <a:xfrm>
            <a:off x="725714" y="4608349"/>
            <a:ext cx="2957953" cy="704529"/>
          </a:xfrm>
          <a:prstGeom prst="rect">
            <a:avLst/>
          </a:prstGeom>
          <a:gradFill>
            <a:gsLst>
              <a:gs pos="0">
                <a:schemeClr val="accent1">
                  <a:lumMod val="14000"/>
                  <a:lumOff val="86000"/>
                </a:schemeClr>
              </a:gs>
              <a:gs pos="100000">
                <a:schemeClr val="accent1">
                  <a:lumMod val="0"/>
                  <a:lumOff val="10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4" name="Rectangle 147+++"/>
          <p:cNvSpPr/>
          <p:nvPr/>
        </p:nvSpPr>
        <p:spPr>
          <a:xfrm>
            <a:off x="725714" y="5749933"/>
            <a:ext cx="2957953" cy="704529"/>
          </a:xfrm>
          <a:prstGeom prst="rect">
            <a:avLst/>
          </a:prstGeom>
          <a:gradFill>
            <a:gsLst>
              <a:gs pos="0">
                <a:schemeClr val="accent1">
                  <a:lumMod val="14000"/>
                  <a:lumOff val="86000"/>
                </a:schemeClr>
              </a:gs>
              <a:gs pos="100000">
                <a:schemeClr val="accent1">
                  <a:lumMod val="0"/>
                  <a:lumOff val="10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70" name="椭圆 69"/>
          <p:cNvSpPr/>
          <p:nvPr/>
        </p:nvSpPr>
        <p:spPr>
          <a:xfrm>
            <a:off x="3403207" y="5507216"/>
            <a:ext cx="1872343" cy="37880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6" name="椭圆 65"/>
          <p:cNvSpPr/>
          <p:nvPr/>
        </p:nvSpPr>
        <p:spPr>
          <a:xfrm>
            <a:off x="3236293" y="4333664"/>
            <a:ext cx="2206171" cy="42982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48" name="矩形 147"/>
          <p:cNvSpPr/>
          <p:nvPr/>
        </p:nvSpPr>
        <p:spPr>
          <a:xfrm>
            <a:off x="725714" y="2204880"/>
            <a:ext cx="2957953" cy="704529"/>
          </a:xfrm>
          <a:prstGeom prst="rect">
            <a:avLst/>
          </a:prstGeom>
          <a:gradFill>
            <a:gsLst>
              <a:gs pos="0">
                <a:schemeClr val="accent1">
                  <a:lumMod val="14000"/>
                  <a:lumOff val="86000"/>
                </a:schemeClr>
              </a:gs>
              <a:gs pos="100000">
                <a:schemeClr val="accent1">
                  <a:lumMod val="0"/>
                  <a:lumOff val="10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45" name="矩形 144"/>
          <p:cNvSpPr/>
          <p:nvPr/>
        </p:nvSpPr>
        <p:spPr>
          <a:xfrm>
            <a:off x="725714" y="1102889"/>
            <a:ext cx="1959430" cy="704529"/>
          </a:xfrm>
          <a:prstGeom prst="rect">
            <a:avLst/>
          </a:prstGeom>
          <a:gradFill>
            <a:gsLst>
              <a:gs pos="0">
                <a:schemeClr val="accent1">
                  <a:lumMod val="14000"/>
                  <a:lumOff val="86000"/>
                </a:schemeClr>
              </a:gs>
              <a:gs pos="100000">
                <a:schemeClr val="accent1">
                  <a:lumMod val="0"/>
                  <a:lumOff val="10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45" name="椭圆 44"/>
          <p:cNvSpPr/>
          <p:nvPr/>
        </p:nvSpPr>
        <p:spPr>
          <a:xfrm>
            <a:off x="2468770" y="873125"/>
            <a:ext cx="3741216" cy="465614"/>
          </a:xfrm>
          <a:prstGeom prst="ellips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4" name="椭圆 53"/>
          <p:cNvSpPr/>
          <p:nvPr/>
        </p:nvSpPr>
        <p:spPr>
          <a:xfrm>
            <a:off x="2796273" y="2074164"/>
            <a:ext cx="3086211" cy="406157"/>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9" name="椭圆 58"/>
          <p:cNvSpPr/>
          <p:nvPr/>
        </p:nvSpPr>
        <p:spPr>
          <a:xfrm>
            <a:off x="3069378" y="3214070"/>
            <a:ext cx="2540000" cy="41450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cxnSp>
        <p:nvCxnSpPr>
          <p:cNvPr id="4" name="直接连接符 3"/>
          <p:cNvCxnSpPr/>
          <p:nvPr/>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2029845" y="196403"/>
            <a:ext cx="3590727" cy="430887"/>
          </a:xfrm>
          <a:prstGeom prst="rect">
            <a:avLst/>
          </a:prstGeom>
          <a:noFill/>
        </p:spPr>
        <p:txBody>
          <a:bodyPr wrap="none" lIns="0" tIns="0" rIns="0" bIns="0">
            <a:spAutoFit/>
          </a:bodyPr>
          <a:lstStyle>
            <a:defPPr>
              <a:defRPr lang="zh-CN"/>
            </a:defPPr>
            <a:lvl1pPr>
              <a:defRPr sz="2800">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新岗位发现与定义</a:t>
            </a:r>
            <a:endParaRPr kumimoji="0" lang="en-US" altLang="zh-CN" sz="28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9" name="文本框 8"/>
          <p:cNvSpPr txBox="1"/>
          <p:nvPr/>
        </p:nvSpPr>
        <p:spPr>
          <a:xfrm>
            <a:off x="437926" y="196403"/>
            <a:ext cx="1436291" cy="430887"/>
          </a:xfrm>
          <a:prstGeom prst="rect">
            <a:avLst/>
          </a:prstGeom>
          <a:noFill/>
        </p:spPr>
        <p:txBody>
          <a:bodyPr wrap="none" lIns="0" tIns="0" rIns="0" bIns="0">
            <a:spAutoFit/>
          </a:bodyPr>
          <a:lstStyle>
            <a:defPPr>
              <a:defRPr lang="zh-CN"/>
            </a:defPPr>
            <a:lvl1pPr>
              <a:defRPr sz="2800">
                <a:solidFill>
                  <a:schemeClr val="accent1"/>
                </a:solidFill>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核心功能一</a:t>
            </a:r>
          </a:p>
        </p:txBody>
      </p:sp>
      <p:cxnSp>
        <p:nvCxnSpPr>
          <p:cNvPr id="10" name="直接连接符 9"/>
          <p:cNvCxnSpPr/>
          <p:nvPr/>
        </p:nvCxnSpPr>
        <p:spPr>
          <a:xfrm>
            <a:off x="1934670" y="192772"/>
            <a:ext cx="0" cy="4381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梯形 10"/>
          <p:cNvSpPr/>
          <p:nvPr/>
        </p:nvSpPr>
        <p:spPr>
          <a:xfrm flipV="1">
            <a:off x="2839135" y="843189"/>
            <a:ext cx="3000486" cy="5485040"/>
          </a:xfrm>
          <a:prstGeom prst="trapezoid">
            <a:avLst/>
          </a:prstGeom>
          <a:gradFill>
            <a:gsLst>
              <a:gs pos="0">
                <a:schemeClr val="bg1">
                  <a:lumMod val="95000"/>
                  <a:alpha val="0"/>
                </a:schemeClr>
              </a:gs>
              <a:gs pos="100000">
                <a:schemeClr val="accent6">
                  <a:lumMod val="75000"/>
                </a:schemeClr>
              </a:gs>
              <a:gs pos="17000">
                <a:srgbClr val="D7D7D7">
                  <a:alpha val="20000"/>
                </a:srgb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44" name="任意多边形: 形状 43"/>
          <p:cNvSpPr/>
          <p:nvPr/>
        </p:nvSpPr>
        <p:spPr>
          <a:xfrm>
            <a:off x="2468770" y="1120011"/>
            <a:ext cx="3741216" cy="831707"/>
          </a:xfrm>
          <a:custGeom>
            <a:avLst/>
            <a:gdLst>
              <a:gd name="connsiteX0" fmla="*/ 0 w 3741216"/>
              <a:gd name="connsiteY0" fmla="*/ 0 h 747409"/>
              <a:gd name="connsiteX1" fmla="*/ 81762 w 3741216"/>
              <a:gd name="connsiteY1" fmla="*/ 27224 h 747409"/>
              <a:gd name="connsiteX2" fmla="*/ 1872002 w 3741216"/>
              <a:gd name="connsiteY2" fmla="*/ 198131 h 747409"/>
              <a:gd name="connsiteX3" fmla="*/ 3662242 w 3741216"/>
              <a:gd name="connsiteY3" fmla="*/ 27224 h 747409"/>
              <a:gd name="connsiteX4" fmla="*/ 3741216 w 3741216"/>
              <a:gd name="connsiteY4" fmla="*/ 928 h 747409"/>
              <a:gd name="connsiteX5" fmla="*/ 3653272 w 3741216"/>
              <a:gd name="connsiteY5" fmla="*/ 520748 h 747409"/>
              <a:gd name="connsiteX6" fmla="*/ 3609931 w 3741216"/>
              <a:gd name="connsiteY6" fmla="*/ 542435 h 747409"/>
              <a:gd name="connsiteX7" fmla="*/ 1872001 w 3741216"/>
              <a:gd name="connsiteY7" fmla="*/ 747409 h 747409"/>
              <a:gd name="connsiteX8" fmla="*/ 134072 w 3741216"/>
              <a:gd name="connsiteY8" fmla="*/ 542435 h 747409"/>
              <a:gd name="connsiteX9" fmla="*/ 83949 w 3741216"/>
              <a:gd name="connsiteY9" fmla="*/ 517354 h 747409"/>
              <a:gd name="connsiteX10" fmla="*/ 0 w 3741216"/>
              <a:gd name="connsiteY10" fmla="*/ 21150 h 74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41216" h="747409">
                <a:moveTo>
                  <a:pt x="0" y="0"/>
                </a:moveTo>
                <a:lnTo>
                  <a:pt x="81762" y="27224"/>
                </a:lnTo>
                <a:cubicBezTo>
                  <a:pt x="426532" y="129024"/>
                  <a:pt x="1098954" y="198131"/>
                  <a:pt x="1872002" y="198131"/>
                </a:cubicBezTo>
                <a:cubicBezTo>
                  <a:pt x="2645052" y="198131"/>
                  <a:pt x="3317472" y="129024"/>
                  <a:pt x="3662242" y="27224"/>
                </a:cubicBezTo>
                <a:lnTo>
                  <a:pt x="3741216" y="928"/>
                </a:lnTo>
                <a:lnTo>
                  <a:pt x="3653272" y="520748"/>
                </a:lnTo>
                <a:lnTo>
                  <a:pt x="3609931" y="542435"/>
                </a:lnTo>
                <a:cubicBezTo>
                  <a:pt x="3333469" y="662576"/>
                  <a:pt x="2659524" y="747409"/>
                  <a:pt x="1872001" y="747409"/>
                </a:cubicBezTo>
                <a:cubicBezTo>
                  <a:pt x="1084478" y="747409"/>
                  <a:pt x="410534" y="662576"/>
                  <a:pt x="134072" y="542435"/>
                </a:cubicBezTo>
                <a:lnTo>
                  <a:pt x="83949" y="517354"/>
                </a:lnTo>
                <a:lnTo>
                  <a:pt x="0" y="211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5" name="任意多边形: 形状 54"/>
          <p:cNvSpPr/>
          <p:nvPr/>
        </p:nvSpPr>
        <p:spPr>
          <a:xfrm>
            <a:off x="2796273" y="2261594"/>
            <a:ext cx="3086211" cy="831707"/>
          </a:xfrm>
          <a:custGeom>
            <a:avLst/>
            <a:gdLst>
              <a:gd name="connsiteX0" fmla="*/ 0 w 3741216"/>
              <a:gd name="connsiteY0" fmla="*/ 0 h 747409"/>
              <a:gd name="connsiteX1" fmla="*/ 81762 w 3741216"/>
              <a:gd name="connsiteY1" fmla="*/ 27224 h 747409"/>
              <a:gd name="connsiteX2" fmla="*/ 1872002 w 3741216"/>
              <a:gd name="connsiteY2" fmla="*/ 198131 h 747409"/>
              <a:gd name="connsiteX3" fmla="*/ 3662242 w 3741216"/>
              <a:gd name="connsiteY3" fmla="*/ 27224 h 747409"/>
              <a:gd name="connsiteX4" fmla="*/ 3741216 w 3741216"/>
              <a:gd name="connsiteY4" fmla="*/ 928 h 747409"/>
              <a:gd name="connsiteX5" fmla="*/ 3653272 w 3741216"/>
              <a:gd name="connsiteY5" fmla="*/ 520748 h 747409"/>
              <a:gd name="connsiteX6" fmla="*/ 3609931 w 3741216"/>
              <a:gd name="connsiteY6" fmla="*/ 542435 h 747409"/>
              <a:gd name="connsiteX7" fmla="*/ 1872001 w 3741216"/>
              <a:gd name="connsiteY7" fmla="*/ 747409 h 747409"/>
              <a:gd name="connsiteX8" fmla="*/ 134072 w 3741216"/>
              <a:gd name="connsiteY8" fmla="*/ 542435 h 747409"/>
              <a:gd name="connsiteX9" fmla="*/ 83949 w 3741216"/>
              <a:gd name="connsiteY9" fmla="*/ 517354 h 747409"/>
              <a:gd name="connsiteX10" fmla="*/ 0 w 3741216"/>
              <a:gd name="connsiteY10" fmla="*/ 21150 h 74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41216" h="747409">
                <a:moveTo>
                  <a:pt x="0" y="0"/>
                </a:moveTo>
                <a:lnTo>
                  <a:pt x="81762" y="27224"/>
                </a:lnTo>
                <a:cubicBezTo>
                  <a:pt x="426532" y="129024"/>
                  <a:pt x="1098954" y="198131"/>
                  <a:pt x="1872002" y="198131"/>
                </a:cubicBezTo>
                <a:cubicBezTo>
                  <a:pt x="2645052" y="198131"/>
                  <a:pt x="3317472" y="129024"/>
                  <a:pt x="3662242" y="27224"/>
                </a:cubicBezTo>
                <a:lnTo>
                  <a:pt x="3741216" y="928"/>
                </a:lnTo>
                <a:lnTo>
                  <a:pt x="3653272" y="520748"/>
                </a:lnTo>
                <a:lnTo>
                  <a:pt x="3609931" y="542435"/>
                </a:lnTo>
                <a:cubicBezTo>
                  <a:pt x="3333469" y="662576"/>
                  <a:pt x="2659524" y="747409"/>
                  <a:pt x="1872001" y="747409"/>
                </a:cubicBezTo>
                <a:cubicBezTo>
                  <a:pt x="1084478" y="747409"/>
                  <a:pt x="410534" y="662576"/>
                  <a:pt x="134072" y="542435"/>
                </a:cubicBezTo>
                <a:lnTo>
                  <a:pt x="83949" y="517354"/>
                </a:lnTo>
                <a:lnTo>
                  <a:pt x="0" y="2115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1" name="任意多边形: 形状 60"/>
          <p:cNvSpPr/>
          <p:nvPr/>
        </p:nvSpPr>
        <p:spPr>
          <a:xfrm>
            <a:off x="3069378" y="3403177"/>
            <a:ext cx="2540000" cy="831707"/>
          </a:xfrm>
          <a:custGeom>
            <a:avLst/>
            <a:gdLst>
              <a:gd name="connsiteX0" fmla="*/ 0 w 3741216"/>
              <a:gd name="connsiteY0" fmla="*/ 0 h 747409"/>
              <a:gd name="connsiteX1" fmla="*/ 81762 w 3741216"/>
              <a:gd name="connsiteY1" fmla="*/ 27224 h 747409"/>
              <a:gd name="connsiteX2" fmla="*/ 1872002 w 3741216"/>
              <a:gd name="connsiteY2" fmla="*/ 198131 h 747409"/>
              <a:gd name="connsiteX3" fmla="*/ 3662242 w 3741216"/>
              <a:gd name="connsiteY3" fmla="*/ 27224 h 747409"/>
              <a:gd name="connsiteX4" fmla="*/ 3741216 w 3741216"/>
              <a:gd name="connsiteY4" fmla="*/ 928 h 747409"/>
              <a:gd name="connsiteX5" fmla="*/ 3653272 w 3741216"/>
              <a:gd name="connsiteY5" fmla="*/ 520748 h 747409"/>
              <a:gd name="connsiteX6" fmla="*/ 3609931 w 3741216"/>
              <a:gd name="connsiteY6" fmla="*/ 542435 h 747409"/>
              <a:gd name="connsiteX7" fmla="*/ 1872001 w 3741216"/>
              <a:gd name="connsiteY7" fmla="*/ 747409 h 747409"/>
              <a:gd name="connsiteX8" fmla="*/ 134072 w 3741216"/>
              <a:gd name="connsiteY8" fmla="*/ 542435 h 747409"/>
              <a:gd name="connsiteX9" fmla="*/ 83949 w 3741216"/>
              <a:gd name="connsiteY9" fmla="*/ 517354 h 747409"/>
              <a:gd name="connsiteX10" fmla="*/ 0 w 3741216"/>
              <a:gd name="connsiteY10" fmla="*/ 21150 h 74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41216" h="747409">
                <a:moveTo>
                  <a:pt x="0" y="0"/>
                </a:moveTo>
                <a:lnTo>
                  <a:pt x="81762" y="27224"/>
                </a:lnTo>
                <a:cubicBezTo>
                  <a:pt x="426532" y="129024"/>
                  <a:pt x="1098954" y="198131"/>
                  <a:pt x="1872002" y="198131"/>
                </a:cubicBezTo>
                <a:cubicBezTo>
                  <a:pt x="2645052" y="198131"/>
                  <a:pt x="3317472" y="129024"/>
                  <a:pt x="3662242" y="27224"/>
                </a:cubicBezTo>
                <a:lnTo>
                  <a:pt x="3741216" y="928"/>
                </a:lnTo>
                <a:lnTo>
                  <a:pt x="3653272" y="520748"/>
                </a:lnTo>
                <a:lnTo>
                  <a:pt x="3609931" y="542435"/>
                </a:lnTo>
                <a:cubicBezTo>
                  <a:pt x="3333469" y="662576"/>
                  <a:pt x="2659524" y="747409"/>
                  <a:pt x="1872001" y="747409"/>
                </a:cubicBezTo>
                <a:cubicBezTo>
                  <a:pt x="1084478" y="747409"/>
                  <a:pt x="410534" y="662576"/>
                  <a:pt x="134072" y="542435"/>
                </a:cubicBezTo>
                <a:lnTo>
                  <a:pt x="83949" y="517354"/>
                </a:lnTo>
                <a:lnTo>
                  <a:pt x="0" y="2115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7" name="任意多边形: 形状 66"/>
          <p:cNvSpPr/>
          <p:nvPr/>
        </p:nvSpPr>
        <p:spPr>
          <a:xfrm>
            <a:off x="3236293" y="4544760"/>
            <a:ext cx="2206171" cy="831707"/>
          </a:xfrm>
          <a:custGeom>
            <a:avLst/>
            <a:gdLst>
              <a:gd name="connsiteX0" fmla="*/ 0 w 3741216"/>
              <a:gd name="connsiteY0" fmla="*/ 0 h 747409"/>
              <a:gd name="connsiteX1" fmla="*/ 81762 w 3741216"/>
              <a:gd name="connsiteY1" fmla="*/ 27224 h 747409"/>
              <a:gd name="connsiteX2" fmla="*/ 1872002 w 3741216"/>
              <a:gd name="connsiteY2" fmla="*/ 198131 h 747409"/>
              <a:gd name="connsiteX3" fmla="*/ 3662242 w 3741216"/>
              <a:gd name="connsiteY3" fmla="*/ 27224 h 747409"/>
              <a:gd name="connsiteX4" fmla="*/ 3741216 w 3741216"/>
              <a:gd name="connsiteY4" fmla="*/ 928 h 747409"/>
              <a:gd name="connsiteX5" fmla="*/ 3653272 w 3741216"/>
              <a:gd name="connsiteY5" fmla="*/ 520748 h 747409"/>
              <a:gd name="connsiteX6" fmla="*/ 3609931 w 3741216"/>
              <a:gd name="connsiteY6" fmla="*/ 542435 h 747409"/>
              <a:gd name="connsiteX7" fmla="*/ 1872001 w 3741216"/>
              <a:gd name="connsiteY7" fmla="*/ 747409 h 747409"/>
              <a:gd name="connsiteX8" fmla="*/ 134072 w 3741216"/>
              <a:gd name="connsiteY8" fmla="*/ 542435 h 747409"/>
              <a:gd name="connsiteX9" fmla="*/ 83949 w 3741216"/>
              <a:gd name="connsiteY9" fmla="*/ 517354 h 747409"/>
              <a:gd name="connsiteX10" fmla="*/ 0 w 3741216"/>
              <a:gd name="connsiteY10" fmla="*/ 21150 h 74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41216" h="747409">
                <a:moveTo>
                  <a:pt x="0" y="0"/>
                </a:moveTo>
                <a:lnTo>
                  <a:pt x="81762" y="27224"/>
                </a:lnTo>
                <a:cubicBezTo>
                  <a:pt x="426532" y="129024"/>
                  <a:pt x="1098954" y="198131"/>
                  <a:pt x="1872002" y="198131"/>
                </a:cubicBezTo>
                <a:cubicBezTo>
                  <a:pt x="2645052" y="198131"/>
                  <a:pt x="3317472" y="129024"/>
                  <a:pt x="3662242" y="27224"/>
                </a:cubicBezTo>
                <a:lnTo>
                  <a:pt x="3741216" y="928"/>
                </a:lnTo>
                <a:lnTo>
                  <a:pt x="3653272" y="520748"/>
                </a:lnTo>
                <a:lnTo>
                  <a:pt x="3609931" y="542435"/>
                </a:lnTo>
                <a:cubicBezTo>
                  <a:pt x="3333469" y="662576"/>
                  <a:pt x="2659524" y="747409"/>
                  <a:pt x="1872001" y="747409"/>
                </a:cubicBezTo>
                <a:cubicBezTo>
                  <a:pt x="1084478" y="747409"/>
                  <a:pt x="410534" y="662576"/>
                  <a:pt x="134072" y="542435"/>
                </a:cubicBezTo>
                <a:lnTo>
                  <a:pt x="83949" y="517354"/>
                </a:lnTo>
                <a:lnTo>
                  <a:pt x="0" y="211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72" name="任意多边形: 形状 71"/>
          <p:cNvSpPr/>
          <p:nvPr/>
        </p:nvSpPr>
        <p:spPr>
          <a:xfrm>
            <a:off x="3403207" y="5686344"/>
            <a:ext cx="1872343" cy="831707"/>
          </a:xfrm>
          <a:custGeom>
            <a:avLst/>
            <a:gdLst>
              <a:gd name="connsiteX0" fmla="*/ 0 w 3741216"/>
              <a:gd name="connsiteY0" fmla="*/ 0 h 747409"/>
              <a:gd name="connsiteX1" fmla="*/ 81762 w 3741216"/>
              <a:gd name="connsiteY1" fmla="*/ 27224 h 747409"/>
              <a:gd name="connsiteX2" fmla="*/ 1872002 w 3741216"/>
              <a:gd name="connsiteY2" fmla="*/ 198131 h 747409"/>
              <a:gd name="connsiteX3" fmla="*/ 3662242 w 3741216"/>
              <a:gd name="connsiteY3" fmla="*/ 27224 h 747409"/>
              <a:gd name="connsiteX4" fmla="*/ 3741216 w 3741216"/>
              <a:gd name="connsiteY4" fmla="*/ 928 h 747409"/>
              <a:gd name="connsiteX5" fmla="*/ 3653272 w 3741216"/>
              <a:gd name="connsiteY5" fmla="*/ 520748 h 747409"/>
              <a:gd name="connsiteX6" fmla="*/ 3609931 w 3741216"/>
              <a:gd name="connsiteY6" fmla="*/ 542435 h 747409"/>
              <a:gd name="connsiteX7" fmla="*/ 1872001 w 3741216"/>
              <a:gd name="connsiteY7" fmla="*/ 747409 h 747409"/>
              <a:gd name="connsiteX8" fmla="*/ 134072 w 3741216"/>
              <a:gd name="connsiteY8" fmla="*/ 542435 h 747409"/>
              <a:gd name="connsiteX9" fmla="*/ 83949 w 3741216"/>
              <a:gd name="connsiteY9" fmla="*/ 517354 h 747409"/>
              <a:gd name="connsiteX10" fmla="*/ 0 w 3741216"/>
              <a:gd name="connsiteY10" fmla="*/ 21150 h 74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41216" h="747409">
                <a:moveTo>
                  <a:pt x="0" y="0"/>
                </a:moveTo>
                <a:lnTo>
                  <a:pt x="81762" y="27224"/>
                </a:lnTo>
                <a:cubicBezTo>
                  <a:pt x="426532" y="129024"/>
                  <a:pt x="1098954" y="198131"/>
                  <a:pt x="1872002" y="198131"/>
                </a:cubicBezTo>
                <a:cubicBezTo>
                  <a:pt x="2645052" y="198131"/>
                  <a:pt x="3317472" y="129024"/>
                  <a:pt x="3662242" y="27224"/>
                </a:cubicBezTo>
                <a:lnTo>
                  <a:pt x="3741216" y="928"/>
                </a:lnTo>
                <a:lnTo>
                  <a:pt x="3653272" y="520748"/>
                </a:lnTo>
                <a:lnTo>
                  <a:pt x="3609931" y="542435"/>
                </a:lnTo>
                <a:cubicBezTo>
                  <a:pt x="3333469" y="662576"/>
                  <a:pt x="2659524" y="747409"/>
                  <a:pt x="1872001" y="747409"/>
                </a:cubicBezTo>
                <a:cubicBezTo>
                  <a:pt x="1084478" y="747409"/>
                  <a:pt x="410534" y="662576"/>
                  <a:pt x="134072" y="542435"/>
                </a:cubicBezTo>
                <a:lnTo>
                  <a:pt x="83949" y="517354"/>
                </a:lnTo>
                <a:lnTo>
                  <a:pt x="0" y="2115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76" name="组合 75"/>
          <p:cNvGrpSpPr/>
          <p:nvPr/>
        </p:nvGrpSpPr>
        <p:grpSpPr>
          <a:xfrm>
            <a:off x="3783519" y="1473786"/>
            <a:ext cx="1111718" cy="369332"/>
            <a:chOff x="3927406" y="1473786"/>
            <a:chExt cx="1111718" cy="369332"/>
          </a:xfrm>
        </p:grpSpPr>
        <p:sp>
          <p:nvSpPr>
            <p:cNvPr id="73" name="文本框 72"/>
            <p:cNvSpPr txBox="1"/>
            <p:nvPr/>
          </p:nvSpPr>
          <p:spPr>
            <a:xfrm>
              <a:off x="3927406" y="1473786"/>
              <a:ext cx="823944"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206</a:t>
              </a:r>
              <a:endParaRPr kumimoji="0" lang="zh-CN" altLang="en-US"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75" name="TextBox 72+"/>
            <p:cNvSpPr txBox="1"/>
            <p:nvPr/>
          </p:nvSpPr>
          <p:spPr>
            <a:xfrm>
              <a:off x="4833940" y="1561198"/>
              <a:ext cx="205184"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个</a:t>
              </a:r>
            </a:p>
          </p:txBody>
        </p:sp>
      </p:grpSp>
      <p:grpSp>
        <p:nvGrpSpPr>
          <p:cNvPr id="78" name="Group 75+"/>
          <p:cNvGrpSpPr/>
          <p:nvPr/>
        </p:nvGrpSpPr>
        <p:grpSpPr>
          <a:xfrm>
            <a:off x="3783519" y="2584297"/>
            <a:ext cx="1111718" cy="369332"/>
            <a:chOff x="3927406" y="1473786"/>
            <a:chExt cx="1111718" cy="369332"/>
          </a:xfrm>
        </p:grpSpPr>
        <p:sp>
          <p:nvSpPr>
            <p:cNvPr id="79" name="文本框 78"/>
            <p:cNvSpPr txBox="1"/>
            <p:nvPr/>
          </p:nvSpPr>
          <p:spPr>
            <a:xfrm>
              <a:off x="3927406" y="1473786"/>
              <a:ext cx="823945"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21</a:t>
              </a:r>
              <a:endParaRPr kumimoji="0" lang="zh-CN" altLang="en-US"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80" name="TextBox 72+"/>
            <p:cNvSpPr txBox="1"/>
            <p:nvPr/>
          </p:nvSpPr>
          <p:spPr>
            <a:xfrm>
              <a:off x="4833940" y="1561198"/>
              <a:ext cx="205184"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个</a:t>
              </a:r>
            </a:p>
          </p:txBody>
        </p:sp>
      </p:grpSp>
      <p:grpSp>
        <p:nvGrpSpPr>
          <p:cNvPr id="92" name="组合 91"/>
          <p:cNvGrpSpPr/>
          <p:nvPr/>
        </p:nvGrpSpPr>
        <p:grpSpPr>
          <a:xfrm>
            <a:off x="3936183" y="3778368"/>
            <a:ext cx="806390" cy="369332"/>
            <a:chOff x="3923783" y="3778368"/>
            <a:chExt cx="806390" cy="369332"/>
          </a:xfrm>
        </p:grpSpPr>
        <p:sp>
          <p:nvSpPr>
            <p:cNvPr id="86" name="文本框 85"/>
            <p:cNvSpPr txBox="1"/>
            <p:nvPr/>
          </p:nvSpPr>
          <p:spPr>
            <a:xfrm>
              <a:off x="3923783" y="3778368"/>
              <a:ext cx="543418"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31.25</a:t>
              </a:r>
              <a:endParaRPr kumimoji="0" lang="zh-CN" altLang="en-US"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87" name="TextBox 72+"/>
            <p:cNvSpPr txBox="1"/>
            <p:nvPr/>
          </p:nvSpPr>
          <p:spPr>
            <a:xfrm>
              <a:off x="4524989" y="3865780"/>
              <a:ext cx="205184"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z</a:t>
              </a:r>
            </a:p>
          </p:txBody>
        </p:sp>
      </p:grpSp>
      <p:grpSp>
        <p:nvGrpSpPr>
          <p:cNvPr id="112" name="组合 111"/>
          <p:cNvGrpSpPr/>
          <p:nvPr/>
        </p:nvGrpSpPr>
        <p:grpSpPr>
          <a:xfrm>
            <a:off x="4018392" y="4870036"/>
            <a:ext cx="641973" cy="369332"/>
            <a:chOff x="4026753" y="4870036"/>
            <a:chExt cx="641973" cy="369332"/>
          </a:xfrm>
        </p:grpSpPr>
        <p:sp>
          <p:nvSpPr>
            <p:cNvPr id="100" name="文本框 99"/>
            <p:cNvSpPr txBox="1"/>
            <p:nvPr/>
          </p:nvSpPr>
          <p:spPr>
            <a:xfrm>
              <a:off x="4026753" y="4870036"/>
              <a:ext cx="362279"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5.0</a:t>
              </a:r>
              <a:endParaRPr kumimoji="0" lang="zh-CN" altLang="en-US"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01" name="TextBox 72+"/>
            <p:cNvSpPr txBox="1"/>
            <p:nvPr/>
          </p:nvSpPr>
          <p:spPr>
            <a:xfrm>
              <a:off x="4463542" y="4957448"/>
              <a:ext cx="205184"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z</a:t>
              </a:r>
            </a:p>
          </p:txBody>
        </p:sp>
      </p:grpSp>
      <p:grpSp>
        <p:nvGrpSpPr>
          <p:cNvPr id="113" name="Group 111+"/>
          <p:cNvGrpSpPr/>
          <p:nvPr/>
        </p:nvGrpSpPr>
        <p:grpSpPr>
          <a:xfrm>
            <a:off x="4018392" y="6045945"/>
            <a:ext cx="641973" cy="369332"/>
            <a:chOff x="4026753" y="4870036"/>
            <a:chExt cx="641973" cy="369332"/>
          </a:xfrm>
        </p:grpSpPr>
        <p:sp>
          <p:nvSpPr>
            <p:cNvPr id="116" name="文本框 115"/>
            <p:cNvSpPr txBox="1"/>
            <p:nvPr/>
          </p:nvSpPr>
          <p:spPr>
            <a:xfrm>
              <a:off x="4026753" y="4870036"/>
              <a:ext cx="362279"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1.0</a:t>
              </a:r>
              <a:endParaRPr kumimoji="0" lang="zh-CN" altLang="en-US" sz="2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19" name="TextBox 72+"/>
            <p:cNvSpPr txBox="1"/>
            <p:nvPr/>
          </p:nvSpPr>
          <p:spPr>
            <a:xfrm>
              <a:off x="4463542" y="4957448"/>
              <a:ext cx="205184"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比</a:t>
              </a:r>
            </a:p>
          </p:txBody>
        </p:sp>
      </p:grpSp>
      <p:sp>
        <p:nvSpPr>
          <p:cNvPr id="125" name="文本框 124"/>
          <p:cNvSpPr txBox="1"/>
          <p:nvPr/>
        </p:nvSpPr>
        <p:spPr>
          <a:xfrm>
            <a:off x="1310399" y="1316654"/>
            <a:ext cx="976229"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候选岗位</a:t>
            </a:r>
          </a:p>
        </p:txBody>
      </p:sp>
      <p:sp>
        <p:nvSpPr>
          <p:cNvPr id="135" name="TextBox 124+"/>
          <p:cNvSpPr txBox="1"/>
          <p:nvPr/>
        </p:nvSpPr>
        <p:spPr>
          <a:xfrm>
            <a:off x="1310399" y="2418645"/>
            <a:ext cx="923330"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涌现技能</a:t>
            </a:r>
          </a:p>
        </p:txBody>
      </p:sp>
      <p:sp>
        <p:nvSpPr>
          <p:cNvPr id="151" name="矩形 150"/>
          <p:cNvSpPr/>
          <p:nvPr/>
        </p:nvSpPr>
        <p:spPr>
          <a:xfrm>
            <a:off x="442912" y="1102889"/>
            <a:ext cx="282606" cy="5415162"/>
          </a:xfrm>
          <a:prstGeom prst="rect">
            <a:avLst/>
          </a:prstGeom>
          <a:gradFill>
            <a:gsLst>
              <a:gs pos="0">
                <a:schemeClr val="accent4"/>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152" name="图形 2169"/>
          <p:cNvGrpSpPr/>
          <p:nvPr/>
        </p:nvGrpSpPr>
        <p:grpSpPr>
          <a:xfrm rot="5400000">
            <a:off x="345015" y="1351311"/>
            <a:ext cx="478401" cy="244948"/>
            <a:chOff x="3197117" y="1807537"/>
            <a:chExt cx="547638" cy="280398"/>
          </a:xfrm>
          <a:gradFill>
            <a:gsLst>
              <a:gs pos="0">
                <a:schemeClr val="bg1"/>
              </a:gs>
              <a:gs pos="100000">
                <a:schemeClr val="bg1">
                  <a:alpha val="0"/>
                </a:schemeClr>
              </a:gs>
            </a:gsLst>
            <a:lin ang="10800000" scaled="0"/>
          </a:gradFill>
        </p:grpSpPr>
        <p:sp>
          <p:nvSpPr>
            <p:cNvPr id="155" name="任意多边形: 形状 154"/>
            <p:cNvSpPr/>
            <p:nvPr/>
          </p:nvSpPr>
          <p:spPr>
            <a:xfrm>
              <a:off x="3527646" y="1807537"/>
              <a:ext cx="217110" cy="280398"/>
            </a:xfrm>
            <a:custGeom>
              <a:avLst/>
              <a:gdLst>
                <a:gd name="connsiteX0" fmla="*/ 112774 w 217110"/>
                <a:gd name="connsiteY0" fmla="*/ 0 h 280398"/>
                <a:gd name="connsiteX1" fmla="*/ 0 w 217110"/>
                <a:gd name="connsiteY1" fmla="*/ 0 h 280398"/>
                <a:gd name="connsiteX2" fmla="*/ 104300 w 217110"/>
                <a:gd name="connsiteY2" fmla="*/ 140199 h 280398"/>
                <a:gd name="connsiteX3" fmla="*/ 0 w 217110"/>
                <a:gd name="connsiteY3" fmla="*/ 280399 h 280398"/>
                <a:gd name="connsiteX4" fmla="*/ 112774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774" y="0"/>
                  </a:moveTo>
                  <a:lnTo>
                    <a:pt x="0" y="0"/>
                  </a:lnTo>
                  <a:lnTo>
                    <a:pt x="104300" y="140199"/>
                  </a:lnTo>
                  <a:lnTo>
                    <a:pt x="0" y="280399"/>
                  </a:lnTo>
                  <a:lnTo>
                    <a:pt x="112774"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6" name="任意多边形: 形状 155"/>
            <p:cNvSpPr/>
            <p:nvPr/>
          </p:nvSpPr>
          <p:spPr>
            <a:xfrm>
              <a:off x="3362381"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1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1"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9" name="任意多边形: 形状 158"/>
            <p:cNvSpPr/>
            <p:nvPr/>
          </p:nvSpPr>
          <p:spPr>
            <a:xfrm>
              <a:off x="3197117"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sp>
        <p:nvSpPr>
          <p:cNvPr id="168" name="TextBox 124++"/>
          <p:cNvSpPr txBox="1"/>
          <p:nvPr/>
        </p:nvSpPr>
        <p:spPr>
          <a:xfrm>
            <a:off x="1310399" y="3680531"/>
            <a:ext cx="923330"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Python</a:t>
            </a:r>
          </a:p>
        </p:txBody>
      </p:sp>
      <p:sp>
        <p:nvSpPr>
          <p:cNvPr id="170" name="TextBox 124+++"/>
          <p:cNvSpPr txBox="1"/>
          <p:nvPr/>
        </p:nvSpPr>
        <p:spPr>
          <a:xfrm>
            <a:off x="1310399" y="4822114"/>
            <a:ext cx="923330"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K8s</a:t>
            </a:r>
          </a:p>
        </p:txBody>
      </p:sp>
      <p:sp>
        <p:nvSpPr>
          <p:cNvPr id="172" name="TextBox 124++++"/>
          <p:cNvSpPr txBox="1"/>
          <p:nvPr/>
        </p:nvSpPr>
        <p:spPr>
          <a:xfrm>
            <a:off x="1310399" y="5963698"/>
            <a:ext cx="976229"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ratio</a:t>
            </a:r>
          </a:p>
        </p:txBody>
      </p:sp>
      <p:grpSp>
        <p:nvGrpSpPr>
          <p:cNvPr id="173" name="图形 2169+"/>
          <p:cNvGrpSpPr/>
          <p:nvPr/>
        </p:nvGrpSpPr>
        <p:grpSpPr>
          <a:xfrm rot="5400000">
            <a:off x="345015" y="2434670"/>
            <a:ext cx="478401" cy="244948"/>
            <a:chOff x="3197117" y="1807537"/>
            <a:chExt cx="547638" cy="280398"/>
          </a:xfrm>
          <a:gradFill>
            <a:gsLst>
              <a:gs pos="0">
                <a:schemeClr val="bg1"/>
              </a:gs>
              <a:gs pos="100000">
                <a:schemeClr val="bg1">
                  <a:alpha val="0"/>
                </a:schemeClr>
              </a:gs>
            </a:gsLst>
            <a:lin ang="10800000" scaled="0"/>
          </a:gradFill>
        </p:grpSpPr>
        <p:sp>
          <p:nvSpPr>
            <p:cNvPr id="174" name="任意多边形: 形状 173"/>
            <p:cNvSpPr/>
            <p:nvPr/>
          </p:nvSpPr>
          <p:spPr>
            <a:xfrm>
              <a:off x="3527646" y="1807537"/>
              <a:ext cx="217110" cy="280398"/>
            </a:xfrm>
            <a:custGeom>
              <a:avLst/>
              <a:gdLst>
                <a:gd name="connsiteX0" fmla="*/ 112774 w 217110"/>
                <a:gd name="connsiteY0" fmla="*/ 0 h 280398"/>
                <a:gd name="connsiteX1" fmla="*/ 0 w 217110"/>
                <a:gd name="connsiteY1" fmla="*/ 0 h 280398"/>
                <a:gd name="connsiteX2" fmla="*/ 104300 w 217110"/>
                <a:gd name="connsiteY2" fmla="*/ 140199 h 280398"/>
                <a:gd name="connsiteX3" fmla="*/ 0 w 217110"/>
                <a:gd name="connsiteY3" fmla="*/ 280399 h 280398"/>
                <a:gd name="connsiteX4" fmla="*/ 112774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774" y="0"/>
                  </a:moveTo>
                  <a:lnTo>
                    <a:pt x="0" y="0"/>
                  </a:lnTo>
                  <a:lnTo>
                    <a:pt x="104300" y="140199"/>
                  </a:lnTo>
                  <a:lnTo>
                    <a:pt x="0" y="280399"/>
                  </a:lnTo>
                  <a:lnTo>
                    <a:pt x="112774"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75" name="任意多边形: 形状 174"/>
            <p:cNvSpPr/>
            <p:nvPr/>
          </p:nvSpPr>
          <p:spPr>
            <a:xfrm>
              <a:off x="3362381"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1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1"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76" name="任意多边形: 形状 175"/>
            <p:cNvSpPr/>
            <p:nvPr/>
          </p:nvSpPr>
          <p:spPr>
            <a:xfrm>
              <a:off x="3197117"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186" name="图形 2169++"/>
          <p:cNvGrpSpPr/>
          <p:nvPr/>
        </p:nvGrpSpPr>
        <p:grpSpPr>
          <a:xfrm rot="5400000">
            <a:off x="345015" y="3696557"/>
            <a:ext cx="478401" cy="244948"/>
            <a:chOff x="3197117" y="1807537"/>
            <a:chExt cx="547638" cy="280398"/>
          </a:xfrm>
          <a:gradFill>
            <a:gsLst>
              <a:gs pos="0">
                <a:schemeClr val="bg1"/>
              </a:gs>
              <a:gs pos="100000">
                <a:schemeClr val="bg1">
                  <a:alpha val="0"/>
                </a:schemeClr>
              </a:gs>
            </a:gsLst>
            <a:lin ang="10800000" scaled="0"/>
          </a:gradFill>
        </p:grpSpPr>
        <p:sp>
          <p:nvSpPr>
            <p:cNvPr id="190" name="任意多边形: 形状 189"/>
            <p:cNvSpPr/>
            <p:nvPr/>
          </p:nvSpPr>
          <p:spPr>
            <a:xfrm>
              <a:off x="3527646" y="1807537"/>
              <a:ext cx="217110" cy="280398"/>
            </a:xfrm>
            <a:custGeom>
              <a:avLst/>
              <a:gdLst>
                <a:gd name="connsiteX0" fmla="*/ 112774 w 217110"/>
                <a:gd name="connsiteY0" fmla="*/ 0 h 280398"/>
                <a:gd name="connsiteX1" fmla="*/ 0 w 217110"/>
                <a:gd name="connsiteY1" fmla="*/ 0 h 280398"/>
                <a:gd name="connsiteX2" fmla="*/ 104300 w 217110"/>
                <a:gd name="connsiteY2" fmla="*/ 140199 h 280398"/>
                <a:gd name="connsiteX3" fmla="*/ 0 w 217110"/>
                <a:gd name="connsiteY3" fmla="*/ 280399 h 280398"/>
                <a:gd name="connsiteX4" fmla="*/ 112774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774" y="0"/>
                  </a:moveTo>
                  <a:lnTo>
                    <a:pt x="0" y="0"/>
                  </a:lnTo>
                  <a:lnTo>
                    <a:pt x="104300" y="140199"/>
                  </a:lnTo>
                  <a:lnTo>
                    <a:pt x="0" y="280399"/>
                  </a:lnTo>
                  <a:lnTo>
                    <a:pt x="112774"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92" name="任意多边形: 形状 191"/>
            <p:cNvSpPr/>
            <p:nvPr/>
          </p:nvSpPr>
          <p:spPr>
            <a:xfrm>
              <a:off x="3362381"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1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1"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93" name="任意多边形: 形状 192"/>
            <p:cNvSpPr/>
            <p:nvPr/>
          </p:nvSpPr>
          <p:spPr>
            <a:xfrm>
              <a:off x="3197117"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194" name="图形 2169+++"/>
          <p:cNvGrpSpPr/>
          <p:nvPr/>
        </p:nvGrpSpPr>
        <p:grpSpPr>
          <a:xfrm rot="5400000">
            <a:off x="345015" y="4838140"/>
            <a:ext cx="478401" cy="244948"/>
            <a:chOff x="3197117" y="1807537"/>
            <a:chExt cx="547638" cy="280398"/>
          </a:xfrm>
          <a:gradFill>
            <a:gsLst>
              <a:gs pos="0">
                <a:schemeClr val="bg1"/>
              </a:gs>
              <a:gs pos="100000">
                <a:schemeClr val="bg1">
                  <a:alpha val="0"/>
                </a:schemeClr>
              </a:gs>
            </a:gsLst>
            <a:lin ang="10800000" scaled="0"/>
          </a:gradFill>
        </p:grpSpPr>
        <p:sp>
          <p:nvSpPr>
            <p:cNvPr id="195" name="任意多边形: 形状 194"/>
            <p:cNvSpPr/>
            <p:nvPr/>
          </p:nvSpPr>
          <p:spPr>
            <a:xfrm>
              <a:off x="3527646" y="1807537"/>
              <a:ext cx="217110" cy="280398"/>
            </a:xfrm>
            <a:custGeom>
              <a:avLst/>
              <a:gdLst>
                <a:gd name="connsiteX0" fmla="*/ 112774 w 217110"/>
                <a:gd name="connsiteY0" fmla="*/ 0 h 280398"/>
                <a:gd name="connsiteX1" fmla="*/ 0 w 217110"/>
                <a:gd name="connsiteY1" fmla="*/ 0 h 280398"/>
                <a:gd name="connsiteX2" fmla="*/ 104300 w 217110"/>
                <a:gd name="connsiteY2" fmla="*/ 140199 h 280398"/>
                <a:gd name="connsiteX3" fmla="*/ 0 w 217110"/>
                <a:gd name="connsiteY3" fmla="*/ 280399 h 280398"/>
                <a:gd name="connsiteX4" fmla="*/ 112774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774" y="0"/>
                  </a:moveTo>
                  <a:lnTo>
                    <a:pt x="0" y="0"/>
                  </a:lnTo>
                  <a:lnTo>
                    <a:pt x="104300" y="140199"/>
                  </a:lnTo>
                  <a:lnTo>
                    <a:pt x="0" y="280399"/>
                  </a:lnTo>
                  <a:lnTo>
                    <a:pt x="112774"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96" name="任意多边形: 形状 195"/>
            <p:cNvSpPr/>
            <p:nvPr/>
          </p:nvSpPr>
          <p:spPr>
            <a:xfrm>
              <a:off x="3362381"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1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1"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97" name="任意多边形: 形状 196"/>
            <p:cNvSpPr/>
            <p:nvPr/>
          </p:nvSpPr>
          <p:spPr>
            <a:xfrm>
              <a:off x="3197117"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199" name="图形 2169++++"/>
          <p:cNvGrpSpPr/>
          <p:nvPr/>
        </p:nvGrpSpPr>
        <p:grpSpPr>
          <a:xfrm rot="5400000">
            <a:off x="345015" y="5979724"/>
            <a:ext cx="478401" cy="244948"/>
            <a:chOff x="3197117" y="1807537"/>
            <a:chExt cx="547638" cy="280398"/>
          </a:xfrm>
          <a:gradFill>
            <a:gsLst>
              <a:gs pos="0">
                <a:schemeClr val="bg1"/>
              </a:gs>
              <a:gs pos="100000">
                <a:schemeClr val="bg1">
                  <a:alpha val="0"/>
                </a:schemeClr>
              </a:gs>
            </a:gsLst>
            <a:lin ang="10800000" scaled="0"/>
          </a:gradFill>
        </p:grpSpPr>
        <p:sp>
          <p:nvSpPr>
            <p:cNvPr id="201" name="任意多边形: 形状 200"/>
            <p:cNvSpPr/>
            <p:nvPr/>
          </p:nvSpPr>
          <p:spPr>
            <a:xfrm>
              <a:off x="3527646" y="1807537"/>
              <a:ext cx="217110" cy="280398"/>
            </a:xfrm>
            <a:custGeom>
              <a:avLst/>
              <a:gdLst>
                <a:gd name="connsiteX0" fmla="*/ 112774 w 217110"/>
                <a:gd name="connsiteY0" fmla="*/ 0 h 280398"/>
                <a:gd name="connsiteX1" fmla="*/ 0 w 217110"/>
                <a:gd name="connsiteY1" fmla="*/ 0 h 280398"/>
                <a:gd name="connsiteX2" fmla="*/ 104300 w 217110"/>
                <a:gd name="connsiteY2" fmla="*/ 140199 h 280398"/>
                <a:gd name="connsiteX3" fmla="*/ 0 w 217110"/>
                <a:gd name="connsiteY3" fmla="*/ 280399 h 280398"/>
                <a:gd name="connsiteX4" fmla="*/ 112774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774" y="0"/>
                  </a:moveTo>
                  <a:lnTo>
                    <a:pt x="0" y="0"/>
                  </a:lnTo>
                  <a:lnTo>
                    <a:pt x="104300" y="140199"/>
                  </a:lnTo>
                  <a:lnTo>
                    <a:pt x="0" y="280399"/>
                  </a:lnTo>
                  <a:lnTo>
                    <a:pt x="112774"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05" name="任意多边形: 形状 204"/>
            <p:cNvSpPr/>
            <p:nvPr/>
          </p:nvSpPr>
          <p:spPr>
            <a:xfrm>
              <a:off x="3362381"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1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1"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06" name="任意多边形: 形状 205"/>
            <p:cNvSpPr/>
            <p:nvPr/>
          </p:nvSpPr>
          <p:spPr>
            <a:xfrm>
              <a:off x="3197117" y="1807537"/>
              <a:ext cx="217110" cy="280398"/>
            </a:xfrm>
            <a:custGeom>
              <a:avLst/>
              <a:gdLst>
                <a:gd name="connsiteX0" fmla="*/ 112810 w 217110"/>
                <a:gd name="connsiteY0" fmla="*/ 0 h 280398"/>
                <a:gd name="connsiteX1" fmla="*/ 0 w 217110"/>
                <a:gd name="connsiteY1" fmla="*/ 0 h 280398"/>
                <a:gd name="connsiteX2" fmla="*/ 104336 w 217110"/>
                <a:gd name="connsiteY2" fmla="*/ 140199 h 280398"/>
                <a:gd name="connsiteX3" fmla="*/ 0 w 217110"/>
                <a:gd name="connsiteY3" fmla="*/ 280399 h 280398"/>
                <a:gd name="connsiteX4" fmla="*/ 112810 w 217110"/>
                <a:gd name="connsiteY4" fmla="*/ 280399 h 280398"/>
                <a:gd name="connsiteX5" fmla="*/ 217110 w 217110"/>
                <a:gd name="connsiteY5" fmla="*/ 140199 h 28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0" h="280398">
                  <a:moveTo>
                    <a:pt x="112810" y="0"/>
                  </a:moveTo>
                  <a:lnTo>
                    <a:pt x="0" y="0"/>
                  </a:lnTo>
                  <a:lnTo>
                    <a:pt x="104336" y="140199"/>
                  </a:lnTo>
                  <a:lnTo>
                    <a:pt x="0" y="280399"/>
                  </a:lnTo>
                  <a:lnTo>
                    <a:pt x="112810" y="280399"/>
                  </a:lnTo>
                  <a:lnTo>
                    <a:pt x="217110" y="140199"/>
                  </a:ln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sp>
        <p:nvSpPr>
          <p:cNvPr id="212" name="图形 210"/>
          <p:cNvSpPr/>
          <p:nvPr/>
        </p:nvSpPr>
        <p:spPr>
          <a:xfrm>
            <a:off x="845375" y="1281494"/>
            <a:ext cx="335699" cy="384582"/>
          </a:xfrm>
          <a:custGeom>
            <a:avLst/>
            <a:gdLst>
              <a:gd name="connsiteX0" fmla="*/ 1234925 w 1662859"/>
              <a:gd name="connsiteY0" fmla="*/ 1230313 h 1904997"/>
              <a:gd name="connsiteX1" fmla="*/ 1280427 w 1662859"/>
              <a:gd name="connsiteY1" fmla="*/ 1248559 h 1904997"/>
              <a:gd name="connsiteX2" fmla="*/ 1451758 w 1662859"/>
              <a:gd name="connsiteY2" fmla="*/ 1397308 h 1904997"/>
              <a:gd name="connsiteX3" fmla="*/ 1462176 w 1662859"/>
              <a:gd name="connsiteY3" fmla="*/ 1406039 h 1904997"/>
              <a:gd name="connsiteX4" fmla="*/ 1650721 w 1662859"/>
              <a:gd name="connsiteY4" fmla="*/ 1560106 h 1904997"/>
              <a:gd name="connsiteX5" fmla="*/ 1651545 w 1662859"/>
              <a:gd name="connsiteY5" fmla="*/ 1602105 h 1904997"/>
              <a:gd name="connsiteX6" fmla="*/ 1650860 w 1662859"/>
              <a:gd name="connsiteY6" fmla="*/ 1602780 h 1904997"/>
              <a:gd name="connsiteX7" fmla="*/ 1650721 w 1662859"/>
              <a:gd name="connsiteY7" fmla="*/ 1602919 h 1904997"/>
              <a:gd name="connsiteX8" fmla="*/ 1371916 w 1662859"/>
              <a:gd name="connsiteY8" fmla="*/ 1889026 h 1904997"/>
              <a:gd name="connsiteX9" fmla="*/ 1294992 w 1662859"/>
              <a:gd name="connsiteY9" fmla="*/ 1889026 h 1904997"/>
              <a:gd name="connsiteX10" fmla="*/ 1173112 w 1662859"/>
              <a:gd name="connsiteY10" fmla="*/ 1789847 h 1904997"/>
              <a:gd name="connsiteX11" fmla="*/ 1091683 w 1662859"/>
              <a:gd name="connsiteY11" fmla="*/ 1758474 h 1904997"/>
              <a:gd name="connsiteX12" fmla="*/ 467091 w 1662859"/>
              <a:gd name="connsiteY12" fmla="*/ 1758474 h 1904997"/>
              <a:gd name="connsiteX13" fmla="*/ 417472 w 1662859"/>
              <a:gd name="connsiteY13" fmla="*/ 1749346 h 1904997"/>
              <a:gd name="connsiteX14" fmla="*/ 8105 w 1662859"/>
              <a:gd name="connsiteY14" fmla="*/ 1406376 h 1904997"/>
              <a:gd name="connsiteX15" fmla="*/ 8105 w 1662859"/>
              <a:gd name="connsiteY15" fmla="*/ 1347688 h 1904997"/>
              <a:gd name="connsiteX16" fmla="*/ 224600 w 1662859"/>
              <a:gd name="connsiteY16" fmla="*/ 1347688 h 1904997"/>
              <a:gd name="connsiteX17" fmla="*/ 289182 w 1662859"/>
              <a:gd name="connsiteY17" fmla="*/ 1393914 h 1904997"/>
              <a:gd name="connsiteX18" fmla="*/ 295691 w 1662859"/>
              <a:gd name="connsiteY18" fmla="*/ 1398528 h 1904997"/>
              <a:gd name="connsiteX19" fmla="*/ 334852 w 1662859"/>
              <a:gd name="connsiteY19" fmla="*/ 1426210 h 1904997"/>
              <a:gd name="connsiteX20" fmla="*/ 341301 w 1662859"/>
              <a:gd name="connsiteY20" fmla="*/ 1430754 h 1904997"/>
              <a:gd name="connsiteX21" fmla="*/ 468401 w 1662859"/>
              <a:gd name="connsiteY21" fmla="*/ 1519625 h 1904997"/>
              <a:gd name="connsiteX22" fmla="*/ 829636 w 1662859"/>
              <a:gd name="connsiteY22" fmla="*/ 1519625 h 1904997"/>
              <a:gd name="connsiteX23" fmla="*/ 933379 w 1662859"/>
              <a:gd name="connsiteY23" fmla="*/ 1451818 h 1904997"/>
              <a:gd name="connsiteX24" fmla="*/ 933379 w 1662859"/>
              <a:gd name="connsiteY24" fmla="*/ 1433681 h 1904997"/>
              <a:gd name="connsiteX25" fmla="*/ 694074 w 1662859"/>
              <a:gd name="connsiteY25" fmla="*/ 1410940 h 1904997"/>
              <a:gd name="connsiteX26" fmla="*/ 608081 w 1662859"/>
              <a:gd name="connsiteY26" fmla="*/ 1311751 h 1904997"/>
              <a:gd name="connsiteX27" fmla="*/ 694074 w 1662859"/>
              <a:gd name="connsiteY27" fmla="*/ 1230323 h 1904997"/>
              <a:gd name="connsiteX28" fmla="*/ 1428749 w 1662859"/>
              <a:gd name="connsiteY28" fmla="*/ 0 h 1904997"/>
              <a:gd name="connsiteX29" fmla="*/ 1597421 w 1662859"/>
              <a:gd name="connsiteY29" fmla="*/ 168672 h 1904997"/>
              <a:gd name="connsiteX30" fmla="*/ 1597421 w 1662859"/>
              <a:gd name="connsiteY30" fmla="*/ 1398984 h 1904997"/>
              <a:gd name="connsiteX31" fmla="*/ 1594345 w 1662859"/>
              <a:gd name="connsiteY31" fmla="*/ 1431211 h 1904997"/>
              <a:gd name="connsiteX32" fmla="*/ 1486504 w 1662859"/>
              <a:gd name="connsiteY32" fmla="*/ 1339731 h 1904997"/>
              <a:gd name="connsiteX33" fmla="*/ 1476920 w 1662859"/>
              <a:gd name="connsiteY33" fmla="*/ 1331496 h 1904997"/>
              <a:gd name="connsiteX34" fmla="*/ 1349176 w 1662859"/>
              <a:gd name="connsiteY34" fmla="*/ 1219924 h 1904997"/>
              <a:gd name="connsiteX35" fmla="*/ 1342925 w 1662859"/>
              <a:gd name="connsiteY35" fmla="*/ 1214299 h 1904997"/>
              <a:gd name="connsiteX36" fmla="*/ 1309210 w 1662859"/>
              <a:gd name="connsiteY36" fmla="*/ 1182261 h 1904997"/>
              <a:gd name="connsiteX37" fmla="*/ 1229905 w 1662859"/>
              <a:gd name="connsiteY37" fmla="*/ 1170851 h 1904997"/>
              <a:gd name="connsiteX38" fmla="*/ 675361 w 1662859"/>
              <a:gd name="connsiteY38" fmla="*/ 1170851 h 1904997"/>
              <a:gd name="connsiteX39" fmla="*/ 552776 w 1662859"/>
              <a:gd name="connsiteY39" fmla="*/ 1296422 h 1904997"/>
              <a:gd name="connsiteX40" fmla="*/ 627240 w 1662859"/>
              <a:gd name="connsiteY40" fmla="*/ 1429613 h 1904997"/>
              <a:gd name="connsiteX41" fmla="*/ 707111 w 1662859"/>
              <a:gd name="connsiteY41" fmla="*/ 1455609 h 1904997"/>
              <a:gd name="connsiteX42" fmla="*/ 490874 w 1662859"/>
              <a:gd name="connsiteY42" fmla="*/ 1455609 h 1904997"/>
              <a:gd name="connsiteX43" fmla="*/ 451037 w 1662859"/>
              <a:gd name="connsiteY43" fmla="*/ 1429187 h 1904997"/>
              <a:gd name="connsiteX44" fmla="*/ 446384 w 1662859"/>
              <a:gd name="connsiteY44" fmla="*/ 1426091 h 1904997"/>
              <a:gd name="connsiteX45" fmla="*/ 329574 w 1662859"/>
              <a:gd name="connsiteY45" fmla="*/ 1347063 h 1904997"/>
              <a:gd name="connsiteX46" fmla="*/ 319692 w 1662859"/>
              <a:gd name="connsiteY46" fmla="*/ 1340257 h 1904997"/>
              <a:gd name="connsiteX47" fmla="*/ 245049 w 1662859"/>
              <a:gd name="connsiteY47" fmla="*/ 1287681 h 1904997"/>
              <a:gd name="connsiteX48" fmla="*/ 109140 w 1662859"/>
              <a:gd name="connsiteY48" fmla="*/ 1241752 h 1904997"/>
              <a:gd name="connsiteX49" fmla="*/ 109140 w 1662859"/>
              <a:gd name="connsiteY49" fmla="*/ 168672 h 1904997"/>
              <a:gd name="connsiteX50" fmla="*/ 277811 w 1662859"/>
              <a:gd name="connsiteY50" fmla="*/ 0 h 1904997"/>
              <a:gd name="connsiteX51" fmla="*/ 1428749 w 1662859"/>
              <a:gd name="connsiteY51" fmla="*/ 0 h 1904997"/>
              <a:gd name="connsiteX52" fmla="*/ 1374179 w 1662859"/>
              <a:gd name="connsiteY52" fmla="*/ 922734 h 1904997"/>
              <a:gd name="connsiteX53" fmla="*/ 332382 w 1662859"/>
              <a:gd name="connsiteY53" fmla="*/ 922734 h 1904997"/>
              <a:gd name="connsiteX54" fmla="*/ 277811 w 1662859"/>
              <a:gd name="connsiteY54" fmla="*/ 977305 h 1904997"/>
              <a:gd name="connsiteX55" fmla="*/ 332382 w 1662859"/>
              <a:gd name="connsiteY55" fmla="*/ 1031875 h 1904997"/>
              <a:gd name="connsiteX56" fmla="*/ 1374179 w 1662859"/>
              <a:gd name="connsiteY56" fmla="*/ 1031875 h 1904997"/>
              <a:gd name="connsiteX57" fmla="*/ 1428749 w 1662859"/>
              <a:gd name="connsiteY57" fmla="*/ 977305 h 1904997"/>
              <a:gd name="connsiteX58" fmla="*/ 1374179 w 1662859"/>
              <a:gd name="connsiteY58" fmla="*/ 922734 h 1904997"/>
              <a:gd name="connsiteX59" fmla="*/ 524013 w 1662859"/>
              <a:gd name="connsiteY59" fmla="*/ 168672 h 1904997"/>
              <a:gd name="connsiteX60" fmla="*/ 520292 w 1662859"/>
              <a:gd name="connsiteY60" fmla="*/ 168731 h 1904997"/>
              <a:gd name="connsiteX61" fmla="*/ 347265 w 1662859"/>
              <a:gd name="connsiteY61" fmla="*/ 346402 h 1904997"/>
              <a:gd name="connsiteX62" fmla="*/ 483889 w 1662859"/>
              <a:gd name="connsiteY62" fmla="*/ 519341 h 1904997"/>
              <a:gd name="connsiteX63" fmla="*/ 277811 w 1662859"/>
              <a:gd name="connsiteY63" fmla="*/ 738803 h 1904997"/>
              <a:gd name="connsiteX64" fmla="*/ 337217 w 1662859"/>
              <a:gd name="connsiteY64" fmla="*/ 790771 h 1904997"/>
              <a:gd name="connsiteX65" fmla="*/ 389184 w 1662859"/>
              <a:gd name="connsiteY65" fmla="*/ 738803 h 1904997"/>
              <a:gd name="connsiteX66" fmla="*/ 527476 w 1662859"/>
              <a:gd name="connsiteY66" fmla="*/ 627301 h 1904997"/>
              <a:gd name="connsiteX67" fmla="*/ 665638 w 1662859"/>
              <a:gd name="connsiteY67" fmla="*/ 738803 h 1904997"/>
              <a:gd name="connsiteX68" fmla="*/ 724066 w 1662859"/>
              <a:gd name="connsiteY68" fmla="*/ 791866 h 1904997"/>
              <a:gd name="connsiteX69" fmla="*/ 777130 w 1662859"/>
              <a:gd name="connsiteY69" fmla="*/ 738803 h 1904997"/>
              <a:gd name="connsiteX70" fmla="*/ 567927 w 1662859"/>
              <a:gd name="connsiteY70" fmla="*/ 518855 h 1904997"/>
              <a:gd name="connsiteX71" fmla="*/ 697443 w 1662859"/>
              <a:gd name="connsiteY71" fmla="*/ 303444 h 1904997"/>
              <a:gd name="connsiteX72" fmla="*/ 527734 w 1662859"/>
              <a:gd name="connsiteY72" fmla="*/ 168682 h 1904997"/>
              <a:gd name="connsiteX73" fmla="*/ 524013 w 1662859"/>
              <a:gd name="connsiteY73" fmla="*/ 168672 h 1904997"/>
              <a:gd name="connsiteX74" fmla="*/ 1374179 w 1662859"/>
              <a:gd name="connsiteY74" fmla="*/ 635000 h 1904997"/>
              <a:gd name="connsiteX75" fmla="*/ 977304 w 1662859"/>
              <a:gd name="connsiteY75" fmla="*/ 635000 h 1904997"/>
              <a:gd name="connsiteX76" fmla="*/ 922733 w 1662859"/>
              <a:gd name="connsiteY76" fmla="*/ 689570 h 1904997"/>
              <a:gd name="connsiteX77" fmla="*/ 977304 w 1662859"/>
              <a:gd name="connsiteY77" fmla="*/ 744141 h 1904997"/>
              <a:gd name="connsiteX78" fmla="*/ 1374179 w 1662859"/>
              <a:gd name="connsiteY78" fmla="*/ 744141 h 1904997"/>
              <a:gd name="connsiteX79" fmla="*/ 1428749 w 1662859"/>
              <a:gd name="connsiteY79" fmla="*/ 689570 h 1904997"/>
              <a:gd name="connsiteX80" fmla="*/ 1374179 w 1662859"/>
              <a:gd name="connsiteY80" fmla="*/ 635000 h 1904997"/>
              <a:gd name="connsiteX81" fmla="*/ 1374179 w 1662859"/>
              <a:gd name="connsiteY81" fmla="*/ 396875 h 1904997"/>
              <a:gd name="connsiteX82" fmla="*/ 977304 w 1662859"/>
              <a:gd name="connsiteY82" fmla="*/ 396875 h 1904997"/>
              <a:gd name="connsiteX83" fmla="*/ 922733 w 1662859"/>
              <a:gd name="connsiteY83" fmla="*/ 451445 h 1904997"/>
              <a:gd name="connsiteX84" fmla="*/ 977304 w 1662859"/>
              <a:gd name="connsiteY84" fmla="*/ 506016 h 1904997"/>
              <a:gd name="connsiteX85" fmla="*/ 1374179 w 1662859"/>
              <a:gd name="connsiteY85" fmla="*/ 506016 h 1904997"/>
              <a:gd name="connsiteX86" fmla="*/ 1428749 w 1662859"/>
              <a:gd name="connsiteY86" fmla="*/ 451445 h 1904997"/>
              <a:gd name="connsiteX87" fmla="*/ 1374179 w 1662859"/>
              <a:gd name="connsiteY87" fmla="*/ 396875 h 1904997"/>
              <a:gd name="connsiteX88" fmla="*/ 526851 w 1662859"/>
              <a:gd name="connsiteY88" fmla="*/ 267891 h 1904997"/>
              <a:gd name="connsiteX89" fmla="*/ 607218 w 1662859"/>
              <a:gd name="connsiteY89" fmla="*/ 348258 h 1904997"/>
              <a:gd name="connsiteX90" fmla="*/ 526851 w 1662859"/>
              <a:gd name="connsiteY90" fmla="*/ 428625 h 1904997"/>
              <a:gd name="connsiteX91" fmla="*/ 446483 w 1662859"/>
              <a:gd name="connsiteY91" fmla="*/ 348258 h 1904997"/>
              <a:gd name="connsiteX92" fmla="*/ 526851 w 1662859"/>
              <a:gd name="connsiteY92" fmla="*/ 267891 h 1904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662859" h="1904997">
                <a:moveTo>
                  <a:pt x="1234925" y="1230313"/>
                </a:moveTo>
                <a:cubicBezTo>
                  <a:pt x="1251642" y="1231424"/>
                  <a:pt x="1267574" y="1237813"/>
                  <a:pt x="1280427" y="1248559"/>
                </a:cubicBezTo>
                <a:cubicBezTo>
                  <a:pt x="1289158" y="1259453"/>
                  <a:pt x="1368533" y="1327487"/>
                  <a:pt x="1451758" y="1397308"/>
                </a:cubicBezTo>
                <a:lnTo>
                  <a:pt x="1462176" y="1406039"/>
                </a:lnTo>
                <a:cubicBezTo>
                  <a:pt x="1549071" y="1478826"/>
                  <a:pt x="1637098" y="1551047"/>
                  <a:pt x="1650721" y="1560106"/>
                </a:cubicBezTo>
                <a:cubicBezTo>
                  <a:pt x="1675129" y="1575971"/>
                  <a:pt x="1655910" y="1597670"/>
                  <a:pt x="1651545" y="1602105"/>
                </a:cubicBezTo>
                <a:lnTo>
                  <a:pt x="1650860" y="1602780"/>
                </a:lnTo>
                <a:lnTo>
                  <a:pt x="1650721" y="1602919"/>
                </a:lnTo>
                <a:lnTo>
                  <a:pt x="1371916" y="1889026"/>
                </a:lnTo>
                <a:cubicBezTo>
                  <a:pt x="1371916" y="1889026"/>
                  <a:pt x="1344602" y="1924963"/>
                  <a:pt x="1294992" y="1889026"/>
                </a:cubicBezTo>
                <a:lnTo>
                  <a:pt x="1173112" y="1789847"/>
                </a:lnTo>
                <a:cubicBezTo>
                  <a:pt x="1149505" y="1771858"/>
                  <a:pt x="1121257" y="1760975"/>
                  <a:pt x="1091683" y="1758474"/>
                </a:cubicBezTo>
                <a:lnTo>
                  <a:pt x="467091" y="1758474"/>
                </a:lnTo>
                <a:cubicBezTo>
                  <a:pt x="450036" y="1763402"/>
                  <a:pt x="431656" y="1760021"/>
                  <a:pt x="417472" y="1749346"/>
                </a:cubicBezTo>
                <a:cubicBezTo>
                  <a:pt x="396080" y="1731169"/>
                  <a:pt x="94048" y="1478687"/>
                  <a:pt x="8105" y="1406376"/>
                </a:cubicBezTo>
                <a:cubicBezTo>
                  <a:pt x="-10131" y="1383625"/>
                  <a:pt x="8105" y="1347688"/>
                  <a:pt x="8105" y="1347688"/>
                </a:cubicBezTo>
                <a:cubicBezTo>
                  <a:pt x="8105" y="1347688"/>
                  <a:pt x="66743" y="1243945"/>
                  <a:pt x="224600" y="1347688"/>
                </a:cubicBezTo>
                <a:cubicBezTo>
                  <a:pt x="246059" y="1363193"/>
                  <a:pt x="267586" y="1378602"/>
                  <a:pt x="289182" y="1393914"/>
                </a:cubicBezTo>
                <a:lnTo>
                  <a:pt x="295691" y="1398528"/>
                </a:lnTo>
                <a:cubicBezTo>
                  <a:pt x="308738" y="1407785"/>
                  <a:pt x="321904" y="1417082"/>
                  <a:pt x="334852" y="1426210"/>
                </a:cubicBezTo>
                <a:lnTo>
                  <a:pt x="341301" y="1430754"/>
                </a:lnTo>
                <a:cubicBezTo>
                  <a:pt x="408820" y="1478300"/>
                  <a:pt x="468401" y="1519625"/>
                  <a:pt x="468401" y="1519625"/>
                </a:cubicBezTo>
                <a:lnTo>
                  <a:pt x="829636" y="1519625"/>
                </a:lnTo>
                <a:lnTo>
                  <a:pt x="933379" y="1451818"/>
                </a:lnTo>
                <a:cubicBezTo>
                  <a:pt x="933379" y="1451818"/>
                  <a:pt x="960625" y="1433681"/>
                  <a:pt x="933379" y="1433681"/>
                </a:cubicBezTo>
                <a:cubicBezTo>
                  <a:pt x="851941" y="1429117"/>
                  <a:pt x="739575" y="1419999"/>
                  <a:pt x="694074" y="1410940"/>
                </a:cubicBezTo>
                <a:cubicBezTo>
                  <a:pt x="644902" y="1403551"/>
                  <a:pt x="608423" y="1361474"/>
                  <a:pt x="608081" y="1311751"/>
                </a:cubicBezTo>
                <a:cubicBezTo>
                  <a:pt x="608081" y="1239441"/>
                  <a:pt x="653583" y="1230323"/>
                  <a:pt x="694074" y="1230323"/>
                </a:cubicBezTo>
                <a:close/>
                <a:moveTo>
                  <a:pt x="1428749" y="0"/>
                </a:moveTo>
                <a:cubicBezTo>
                  <a:pt x="1521905" y="0"/>
                  <a:pt x="1597421" y="75515"/>
                  <a:pt x="1597421" y="168672"/>
                </a:cubicBezTo>
                <a:lnTo>
                  <a:pt x="1597421" y="1398984"/>
                </a:lnTo>
                <a:cubicBezTo>
                  <a:pt x="1597421" y="1409998"/>
                  <a:pt x="1596359" y="1420783"/>
                  <a:pt x="1594345" y="1431211"/>
                </a:cubicBezTo>
                <a:cubicBezTo>
                  <a:pt x="1564103" y="1405960"/>
                  <a:pt x="1525487" y="1373188"/>
                  <a:pt x="1486504" y="1339731"/>
                </a:cubicBezTo>
                <a:lnTo>
                  <a:pt x="1476920" y="1331496"/>
                </a:lnTo>
                <a:cubicBezTo>
                  <a:pt x="1428997" y="1290300"/>
                  <a:pt x="1381471" y="1248906"/>
                  <a:pt x="1349176" y="1219924"/>
                </a:cubicBezTo>
                <a:lnTo>
                  <a:pt x="1342925" y="1214299"/>
                </a:lnTo>
                <a:cubicBezTo>
                  <a:pt x="1324788" y="1197928"/>
                  <a:pt x="1312484" y="1186349"/>
                  <a:pt x="1309210" y="1182261"/>
                </a:cubicBezTo>
                <a:cubicBezTo>
                  <a:pt x="1293305" y="1166217"/>
                  <a:pt x="1246623" y="1171952"/>
                  <a:pt x="1229905" y="1170851"/>
                </a:cubicBezTo>
                <a:lnTo>
                  <a:pt x="675361" y="1170851"/>
                </a:lnTo>
                <a:cubicBezTo>
                  <a:pt x="601195" y="1178927"/>
                  <a:pt x="560902" y="1224191"/>
                  <a:pt x="552776" y="1296422"/>
                </a:cubicBezTo>
                <a:cubicBezTo>
                  <a:pt x="547260" y="1345506"/>
                  <a:pt x="560674" y="1393289"/>
                  <a:pt x="627240" y="1429613"/>
                </a:cubicBezTo>
                <a:cubicBezTo>
                  <a:pt x="654595" y="1445210"/>
                  <a:pt x="681215" y="1453872"/>
                  <a:pt x="707111" y="1455609"/>
                </a:cubicBezTo>
                <a:lnTo>
                  <a:pt x="490874" y="1455609"/>
                </a:lnTo>
                <a:cubicBezTo>
                  <a:pt x="490874" y="1455609"/>
                  <a:pt x="475296" y="1445349"/>
                  <a:pt x="451037" y="1429187"/>
                </a:cubicBezTo>
                <a:lnTo>
                  <a:pt x="446384" y="1426091"/>
                </a:lnTo>
                <a:cubicBezTo>
                  <a:pt x="407265" y="1400018"/>
                  <a:pt x="368328" y="1373675"/>
                  <a:pt x="329574" y="1347063"/>
                </a:cubicBezTo>
                <a:lnTo>
                  <a:pt x="319692" y="1340257"/>
                </a:lnTo>
                <a:cubicBezTo>
                  <a:pt x="294623" y="1323000"/>
                  <a:pt x="269741" y="1305474"/>
                  <a:pt x="245049" y="1287681"/>
                </a:cubicBezTo>
                <a:cubicBezTo>
                  <a:pt x="188594" y="1250593"/>
                  <a:pt x="143628" y="1240026"/>
                  <a:pt x="109140" y="1241752"/>
                </a:cubicBezTo>
                <a:lnTo>
                  <a:pt x="109140" y="168672"/>
                </a:lnTo>
                <a:cubicBezTo>
                  <a:pt x="109140" y="75515"/>
                  <a:pt x="184655" y="0"/>
                  <a:pt x="277811" y="0"/>
                </a:cubicBezTo>
                <a:lnTo>
                  <a:pt x="1428749" y="0"/>
                </a:lnTo>
                <a:close/>
                <a:moveTo>
                  <a:pt x="1374179" y="922734"/>
                </a:moveTo>
                <a:lnTo>
                  <a:pt x="332382" y="922734"/>
                </a:lnTo>
                <a:cubicBezTo>
                  <a:pt x="302243" y="922734"/>
                  <a:pt x="277811" y="947166"/>
                  <a:pt x="277811" y="977305"/>
                </a:cubicBezTo>
                <a:cubicBezTo>
                  <a:pt x="277811" y="1007443"/>
                  <a:pt x="302243" y="1031875"/>
                  <a:pt x="332382" y="1031875"/>
                </a:cubicBezTo>
                <a:lnTo>
                  <a:pt x="1374179" y="1031875"/>
                </a:lnTo>
                <a:cubicBezTo>
                  <a:pt x="1404317" y="1031875"/>
                  <a:pt x="1428749" y="1007443"/>
                  <a:pt x="1428749" y="977305"/>
                </a:cubicBezTo>
                <a:cubicBezTo>
                  <a:pt x="1428749" y="947166"/>
                  <a:pt x="1404317" y="922734"/>
                  <a:pt x="1374179" y="922734"/>
                </a:cubicBezTo>
                <a:close/>
                <a:moveTo>
                  <a:pt x="524013" y="168672"/>
                </a:moveTo>
                <a:lnTo>
                  <a:pt x="520292" y="168731"/>
                </a:lnTo>
                <a:cubicBezTo>
                  <a:pt x="424000" y="171281"/>
                  <a:pt x="347265" y="250071"/>
                  <a:pt x="347265" y="346402"/>
                </a:cubicBezTo>
                <a:cubicBezTo>
                  <a:pt x="347265" y="430213"/>
                  <a:pt x="405367" y="500757"/>
                  <a:pt x="483889" y="519341"/>
                </a:cubicBezTo>
                <a:cubicBezTo>
                  <a:pt x="366930" y="537766"/>
                  <a:pt x="277811" y="629047"/>
                  <a:pt x="277811" y="738803"/>
                </a:cubicBezTo>
                <a:cubicBezTo>
                  <a:pt x="279865" y="769558"/>
                  <a:pt x="306462" y="792824"/>
                  <a:pt x="337217" y="790771"/>
                </a:cubicBezTo>
                <a:cubicBezTo>
                  <a:pt x="365110" y="788908"/>
                  <a:pt x="387322" y="766696"/>
                  <a:pt x="389184" y="738803"/>
                </a:cubicBezTo>
                <a:cubicBezTo>
                  <a:pt x="389184" y="678527"/>
                  <a:pt x="452555" y="627301"/>
                  <a:pt x="527476" y="627301"/>
                </a:cubicBezTo>
                <a:cubicBezTo>
                  <a:pt x="602386" y="627301"/>
                  <a:pt x="665638" y="678527"/>
                  <a:pt x="665638" y="738803"/>
                </a:cubicBezTo>
                <a:cubicBezTo>
                  <a:pt x="667119" y="769590"/>
                  <a:pt x="693278" y="793348"/>
                  <a:pt x="724066" y="791866"/>
                </a:cubicBezTo>
                <a:cubicBezTo>
                  <a:pt x="752781" y="790485"/>
                  <a:pt x="775748" y="767517"/>
                  <a:pt x="777130" y="738803"/>
                </a:cubicBezTo>
                <a:cubicBezTo>
                  <a:pt x="777130" y="628303"/>
                  <a:pt x="686424" y="536178"/>
                  <a:pt x="567927" y="518855"/>
                </a:cubicBezTo>
                <a:cubicBezTo>
                  <a:pt x="663176" y="495135"/>
                  <a:pt x="721162" y="398693"/>
                  <a:pt x="697443" y="303444"/>
                </a:cubicBezTo>
                <a:cubicBezTo>
                  <a:pt x="677969" y="225242"/>
                  <a:pt x="608314" y="169931"/>
                  <a:pt x="527734" y="168682"/>
                </a:cubicBezTo>
                <a:lnTo>
                  <a:pt x="524013" y="168672"/>
                </a:lnTo>
                <a:close/>
                <a:moveTo>
                  <a:pt x="1374179" y="635000"/>
                </a:moveTo>
                <a:lnTo>
                  <a:pt x="977304" y="635000"/>
                </a:lnTo>
                <a:cubicBezTo>
                  <a:pt x="947165" y="635000"/>
                  <a:pt x="922733" y="659432"/>
                  <a:pt x="922733" y="689570"/>
                </a:cubicBezTo>
                <a:cubicBezTo>
                  <a:pt x="922733" y="719709"/>
                  <a:pt x="947165" y="744141"/>
                  <a:pt x="977304" y="744141"/>
                </a:cubicBezTo>
                <a:lnTo>
                  <a:pt x="1374179" y="744141"/>
                </a:lnTo>
                <a:cubicBezTo>
                  <a:pt x="1404317" y="744141"/>
                  <a:pt x="1428749" y="719709"/>
                  <a:pt x="1428749" y="689570"/>
                </a:cubicBezTo>
                <a:cubicBezTo>
                  <a:pt x="1428749" y="659432"/>
                  <a:pt x="1404317" y="635000"/>
                  <a:pt x="1374179" y="635000"/>
                </a:cubicBezTo>
                <a:close/>
                <a:moveTo>
                  <a:pt x="1374179" y="396875"/>
                </a:moveTo>
                <a:lnTo>
                  <a:pt x="977304" y="396875"/>
                </a:lnTo>
                <a:cubicBezTo>
                  <a:pt x="947165" y="396875"/>
                  <a:pt x="922733" y="421307"/>
                  <a:pt x="922733" y="451445"/>
                </a:cubicBezTo>
                <a:cubicBezTo>
                  <a:pt x="922733" y="481584"/>
                  <a:pt x="947165" y="506016"/>
                  <a:pt x="977304" y="506016"/>
                </a:cubicBezTo>
                <a:lnTo>
                  <a:pt x="1374179" y="506016"/>
                </a:lnTo>
                <a:cubicBezTo>
                  <a:pt x="1404317" y="506016"/>
                  <a:pt x="1428749" y="481584"/>
                  <a:pt x="1428749" y="451445"/>
                </a:cubicBezTo>
                <a:cubicBezTo>
                  <a:pt x="1428749" y="421307"/>
                  <a:pt x="1404317" y="396875"/>
                  <a:pt x="1374179" y="396875"/>
                </a:cubicBezTo>
                <a:close/>
                <a:moveTo>
                  <a:pt x="526851" y="267891"/>
                </a:moveTo>
                <a:cubicBezTo>
                  <a:pt x="571236" y="267891"/>
                  <a:pt x="607218" y="303872"/>
                  <a:pt x="607218" y="348258"/>
                </a:cubicBezTo>
                <a:cubicBezTo>
                  <a:pt x="607218" y="392643"/>
                  <a:pt x="571236" y="428625"/>
                  <a:pt x="526851" y="428625"/>
                </a:cubicBezTo>
                <a:cubicBezTo>
                  <a:pt x="482465" y="428625"/>
                  <a:pt x="446483" y="392643"/>
                  <a:pt x="446483" y="348258"/>
                </a:cubicBezTo>
                <a:cubicBezTo>
                  <a:pt x="446483" y="303872"/>
                  <a:pt x="482465" y="267891"/>
                  <a:pt x="526851" y="267891"/>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221" name="组合 220"/>
          <p:cNvGrpSpPr/>
          <p:nvPr/>
        </p:nvGrpSpPr>
        <p:grpSpPr>
          <a:xfrm>
            <a:off x="822387" y="2371123"/>
            <a:ext cx="381675" cy="381675"/>
            <a:chOff x="0" y="0"/>
            <a:chExt cx="1905000" cy="1905000"/>
          </a:xfrm>
          <a:solidFill>
            <a:schemeClr val="accent3"/>
          </a:solidFill>
        </p:grpSpPr>
        <p:sp>
          <p:nvSpPr>
            <p:cNvPr id="219" name="任意多边形: 形状 218"/>
            <p:cNvSpPr/>
            <p:nvPr/>
          </p:nvSpPr>
          <p:spPr>
            <a:xfrm>
              <a:off x="0" y="0"/>
              <a:ext cx="1905000" cy="1905000"/>
            </a:xfrm>
            <a:custGeom>
              <a:avLst/>
              <a:gdLst>
                <a:gd name="connsiteX0" fmla="*/ 0 w 1905000"/>
                <a:gd name="connsiteY0" fmla="*/ 0 h 1905000"/>
                <a:gd name="connsiteX1" fmla="*/ 381000 w 1905000"/>
                <a:gd name="connsiteY1" fmla="*/ 762000 h 1905000"/>
                <a:gd name="connsiteX2" fmla="*/ 381000 w 1905000"/>
                <a:gd name="connsiteY2" fmla="*/ 1714500 h 1905000"/>
                <a:gd name="connsiteX3" fmla="*/ 952500 w 1905000"/>
                <a:gd name="connsiteY3" fmla="*/ 1905000 h 1905000"/>
                <a:gd name="connsiteX4" fmla="*/ 952500 w 1905000"/>
                <a:gd name="connsiteY4" fmla="*/ 762000 h 1905000"/>
                <a:gd name="connsiteX5" fmla="*/ 1333500 w 1905000"/>
                <a:gd name="connsiteY5" fmla="*/ 0 h 1905000"/>
                <a:gd name="connsiteX6" fmla="*/ 0 w 1905000"/>
                <a:gd name="connsiteY6" fmla="*/ 0 h 1905000"/>
                <a:gd name="connsiteX7" fmla="*/ 1143000 w 1905000"/>
                <a:gd name="connsiteY7" fmla="*/ 1524000 h 1905000"/>
                <a:gd name="connsiteX8" fmla="*/ 1905000 w 1905000"/>
                <a:gd name="connsiteY8" fmla="*/ 1524000 h 1905000"/>
                <a:gd name="connsiteX9" fmla="*/ 1905000 w 1905000"/>
                <a:gd name="connsiteY9" fmla="*/ 1714500 h 1905000"/>
                <a:gd name="connsiteX10" fmla="*/ 1143000 w 1905000"/>
                <a:gd name="connsiteY10" fmla="*/ 1714500 h 1905000"/>
                <a:gd name="connsiteX11" fmla="*/ 1143000 w 1905000"/>
                <a:gd name="connsiteY11" fmla="*/ 1143000 h 1905000"/>
                <a:gd name="connsiteX12" fmla="*/ 1905000 w 1905000"/>
                <a:gd name="connsiteY12" fmla="*/ 1143000 h 1905000"/>
                <a:gd name="connsiteX13" fmla="*/ 1905000 w 1905000"/>
                <a:gd name="connsiteY13" fmla="*/ 1333500 h 1905000"/>
                <a:gd name="connsiteX14" fmla="*/ 1143000 w 1905000"/>
                <a:gd name="connsiteY14" fmla="*/ 133350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0" h="1905000">
                  <a:moveTo>
                    <a:pt x="0" y="0"/>
                  </a:moveTo>
                  <a:lnTo>
                    <a:pt x="381000" y="762000"/>
                  </a:lnTo>
                  <a:lnTo>
                    <a:pt x="381000" y="1714500"/>
                  </a:lnTo>
                  <a:lnTo>
                    <a:pt x="952500" y="1905000"/>
                  </a:lnTo>
                  <a:lnTo>
                    <a:pt x="952500" y="762000"/>
                  </a:lnTo>
                  <a:lnTo>
                    <a:pt x="1333500" y="0"/>
                  </a:lnTo>
                  <a:lnTo>
                    <a:pt x="0" y="0"/>
                  </a:lnTo>
                  <a:close/>
                  <a:moveTo>
                    <a:pt x="1143000" y="1524000"/>
                  </a:moveTo>
                  <a:lnTo>
                    <a:pt x="1905000" y="1524000"/>
                  </a:lnTo>
                  <a:lnTo>
                    <a:pt x="1905000" y="1714500"/>
                  </a:lnTo>
                  <a:lnTo>
                    <a:pt x="1143000" y="1714500"/>
                  </a:lnTo>
                  <a:close/>
                  <a:moveTo>
                    <a:pt x="1143000" y="1143000"/>
                  </a:moveTo>
                  <a:lnTo>
                    <a:pt x="1905000" y="1143000"/>
                  </a:lnTo>
                  <a:lnTo>
                    <a:pt x="1905000" y="1333500"/>
                  </a:lnTo>
                  <a:lnTo>
                    <a:pt x="1143000" y="133350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20" name="任意多边形: 形状 219"/>
            <p:cNvSpPr/>
            <p:nvPr/>
          </p:nvSpPr>
          <p:spPr>
            <a:xfrm>
              <a:off x="1143000" y="762000"/>
              <a:ext cx="761999" cy="190499"/>
            </a:xfrm>
            <a:custGeom>
              <a:avLst/>
              <a:gdLst>
                <a:gd name="connsiteX0" fmla="*/ 0 w 761999"/>
                <a:gd name="connsiteY0" fmla="*/ 0 h 190499"/>
                <a:gd name="connsiteX1" fmla="*/ 762000 w 761999"/>
                <a:gd name="connsiteY1" fmla="*/ 0 h 190499"/>
                <a:gd name="connsiteX2" fmla="*/ 762000 w 761999"/>
                <a:gd name="connsiteY2" fmla="*/ 190500 h 190499"/>
                <a:gd name="connsiteX3" fmla="*/ 0 w 761999"/>
                <a:gd name="connsiteY3" fmla="*/ 190500 h 190499"/>
              </a:gdLst>
              <a:ahLst/>
              <a:cxnLst>
                <a:cxn ang="0">
                  <a:pos x="connsiteX0" y="connsiteY0"/>
                </a:cxn>
                <a:cxn ang="0">
                  <a:pos x="connsiteX1" y="connsiteY1"/>
                </a:cxn>
                <a:cxn ang="0">
                  <a:pos x="connsiteX2" y="connsiteY2"/>
                </a:cxn>
                <a:cxn ang="0">
                  <a:pos x="connsiteX3" y="connsiteY3"/>
                </a:cxn>
              </a:cxnLst>
              <a:rect l="l" t="t" r="r" b="b"/>
              <a:pathLst>
                <a:path w="761999" h="190499">
                  <a:moveTo>
                    <a:pt x="0" y="0"/>
                  </a:moveTo>
                  <a:lnTo>
                    <a:pt x="762000" y="0"/>
                  </a:lnTo>
                  <a:lnTo>
                    <a:pt x="762000" y="190500"/>
                  </a:lnTo>
                  <a:lnTo>
                    <a:pt x="0" y="19050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sp>
        <p:nvSpPr>
          <p:cNvPr id="226" name="图形 224"/>
          <p:cNvSpPr>
            <a:spLocks noChangeAspect="1"/>
          </p:cNvSpPr>
          <p:nvPr/>
        </p:nvSpPr>
        <p:spPr>
          <a:xfrm>
            <a:off x="846125" y="3618010"/>
            <a:ext cx="391490" cy="360000"/>
          </a:xfrm>
          <a:custGeom>
            <a:avLst/>
            <a:gdLst>
              <a:gd name="connsiteX0" fmla="*/ 1248195 w 1796498"/>
              <a:gd name="connsiteY0" fmla="*/ 0 h 1651992"/>
              <a:gd name="connsiteX1" fmla="*/ 1444565 w 1796498"/>
              <a:gd name="connsiteY1" fmla="*/ 205383 h 1651992"/>
              <a:gd name="connsiteX2" fmla="*/ 1444568 w 1796498"/>
              <a:gd name="connsiteY2" fmla="*/ 718044 h 1651992"/>
              <a:gd name="connsiteX3" fmla="*/ 1389320 w 1796498"/>
              <a:gd name="connsiteY3" fmla="*/ 714717 h 1651992"/>
              <a:gd name="connsiteX4" fmla="*/ 916664 w 1796498"/>
              <a:gd name="connsiteY4" fmla="*/ 1206886 h 1651992"/>
              <a:gd name="connsiteX5" fmla="*/ 1187358 w 1796498"/>
              <a:gd name="connsiteY5" fmla="*/ 1651992 h 1651992"/>
              <a:gd name="connsiteX6" fmla="*/ 196370 w 1796498"/>
              <a:gd name="connsiteY6" fmla="*/ 1651979 h 1651992"/>
              <a:gd name="connsiteX7" fmla="*/ 0 w 1796498"/>
              <a:gd name="connsiteY7" fmla="*/ 1446596 h 1651992"/>
              <a:gd name="connsiteX8" fmla="*/ 0 w 1796498"/>
              <a:gd name="connsiteY8" fmla="*/ 205383 h 1651992"/>
              <a:gd name="connsiteX9" fmla="*/ 196370 w 1796498"/>
              <a:gd name="connsiteY9" fmla="*/ 0 h 1651992"/>
              <a:gd name="connsiteX10" fmla="*/ 1248195 w 1796498"/>
              <a:gd name="connsiteY10" fmla="*/ 0 h 1651992"/>
              <a:gd name="connsiteX11" fmla="*/ 1389320 w 1796498"/>
              <a:gd name="connsiteY11" fmla="*/ 778913 h 1651992"/>
              <a:gd name="connsiteX12" fmla="*/ 1796499 w 1796498"/>
              <a:gd name="connsiteY12" fmla="*/ 1204747 h 1651992"/>
              <a:gd name="connsiteX13" fmla="*/ 1389320 w 1796498"/>
              <a:gd name="connsiteY13" fmla="*/ 1630582 h 1651992"/>
              <a:gd name="connsiteX14" fmla="*/ 982140 w 1796498"/>
              <a:gd name="connsiteY14" fmla="*/ 1204747 h 1651992"/>
              <a:gd name="connsiteX15" fmla="*/ 1389320 w 1796498"/>
              <a:gd name="connsiteY15" fmla="*/ 778913 h 1651992"/>
              <a:gd name="connsiteX16" fmla="*/ 1560569 w 1796498"/>
              <a:gd name="connsiteY16" fmla="*/ 1055100 h 1651992"/>
              <a:gd name="connsiteX17" fmla="*/ 1560042 w 1796498"/>
              <a:gd name="connsiteY17" fmla="*/ 1055603 h 1651992"/>
              <a:gd name="connsiteX18" fmla="*/ 1301857 w 1796498"/>
              <a:gd name="connsiteY18" fmla="*/ 1304763 h 1651992"/>
              <a:gd name="connsiteX19" fmla="*/ 1208538 w 1796498"/>
              <a:gd name="connsiteY19" fmla="*/ 1225090 h 1651992"/>
              <a:gd name="connsiteX20" fmla="*/ 1207594 w 1796498"/>
              <a:gd name="connsiteY20" fmla="*/ 1224305 h 1651992"/>
              <a:gd name="connsiteX21" fmla="*/ 1150960 w 1796498"/>
              <a:gd name="connsiteY21" fmla="*/ 1231175 h 1651992"/>
              <a:gd name="connsiteX22" fmla="*/ 1156243 w 1796498"/>
              <a:gd name="connsiteY22" fmla="*/ 1290928 h 1651992"/>
              <a:gd name="connsiteX23" fmla="*/ 1156780 w 1796498"/>
              <a:gd name="connsiteY23" fmla="*/ 1291393 h 1651992"/>
              <a:gd name="connsiteX24" fmla="*/ 1275455 w 1796498"/>
              <a:gd name="connsiteY24" fmla="*/ 1392719 h 1651992"/>
              <a:gd name="connsiteX25" fmla="*/ 1276400 w 1796498"/>
              <a:gd name="connsiteY25" fmla="*/ 1393504 h 1651992"/>
              <a:gd name="connsiteX26" fmla="*/ 1303504 w 1796498"/>
              <a:gd name="connsiteY26" fmla="*/ 1402303 h 1651992"/>
              <a:gd name="connsiteX27" fmla="*/ 1332547 w 1796498"/>
              <a:gd name="connsiteY27" fmla="*/ 1391606 h 1651992"/>
              <a:gd name="connsiteX28" fmla="*/ 1333178 w 1796498"/>
              <a:gd name="connsiteY28" fmla="*/ 1391007 h 1651992"/>
              <a:gd name="connsiteX29" fmla="*/ 1615545 w 1796498"/>
              <a:gd name="connsiteY29" fmla="*/ 1118503 h 1651992"/>
              <a:gd name="connsiteX30" fmla="*/ 1616434 w 1796498"/>
              <a:gd name="connsiteY30" fmla="*/ 1117619 h 1651992"/>
              <a:gd name="connsiteX31" fmla="*/ 1617866 w 1796498"/>
              <a:gd name="connsiteY31" fmla="*/ 1058028 h 1651992"/>
              <a:gd name="connsiteX32" fmla="*/ 1560567 w 1796498"/>
              <a:gd name="connsiteY32" fmla="*/ 1055098 h 1651992"/>
              <a:gd name="connsiteX33" fmla="*/ 771303 w 1796498"/>
              <a:gd name="connsiteY33" fmla="*/ 864394 h 1651992"/>
              <a:gd name="connsiteX34" fmla="*/ 278272 w 1796498"/>
              <a:gd name="connsiteY34" fmla="*/ 864394 h 1651992"/>
              <a:gd name="connsiteX35" fmla="*/ 277017 w 1796498"/>
              <a:gd name="connsiteY35" fmla="*/ 864409 h 1651992"/>
              <a:gd name="connsiteX36" fmla="*/ 225075 w 1796498"/>
              <a:gd name="connsiteY36" fmla="*/ 920029 h 1651992"/>
              <a:gd name="connsiteX37" fmla="*/ 277394 w 1796498"/>
              <a:gd name="connsiteY37" fmla="*/ 975660 h 1651992"/>
              <a:gd name="connsiteX38" fmla="*/ 278272 w 1796498"/>
              <a:gd name="connsiteY38" fmla="*/ 975667 h 1651992"/>
              <a:gd name="connsiteX39" fmla="*/ 771303 w 1796498"/>
              <a:gd name="connsiteY39" fmla="*/ 975667 h 1651992"/>
              <a:gd name="connsiteX40" fmla="*/ 772558 w 1796498"/>
              <a:gd name="connsiteY40" fmla="*/ 975652 h 1651992"/>
              <a:gd name="connsiteX41" fmla="*/ 824502 w 1796498"/>
              <a:gd name="connsiteY41" fmla="*/ 920029 h 1651992"/>
              <a:gd name="connsiteX42" fmla="*/ 771303 w 1796498"/>
              <a:gd name="connsiteY42" fmla="*/ 864394 h 1651992"/>
              <a:gd name="connsiteX43" fmla="*/ 1044911 w 1796498"/>
              <a:gd name="connsiteY43" fmla="*/ 430113 h 1651992"/>
              <a:gd name="connsiteX44" fmla="*/ 278272 w 1796498"/>
              <a:gd name="connsiteY44" fmla="*/ 430113 h 1651992"/>
              <a:gd name="connsiteX45" fmla="*/ 277017 w 1796498"/>
              <a:gd name="connsiteY45" fmla="*/ 430128 h 1651992"/>
              <a:gd name="connsiteX46" fmla="*/ 225075 w 1796498"/>
              <a:gd name="connsiteY46" fmla="*/ 485751 h 1651992"/>
              <a:gd name="connsiteX47" fmla="*/ 277394 w 1796498"/>
              <a:gd name="connsiteY47" fmla="*/ 541379 h 1651992"/>
              <a:gd name="connsiteX48" fmla="*/ 278272 w 1796498"/>
              <a:gd name="connsiteY48" fmla="*/ 541387 h 1651992"/>
              <a:gd name="connsiteX49" fmla="*/ 1044911 w 1796498"/>
              <a:gd name="connsiteY49" fmla="*/ 541387 h 1651992"/>
              <a:gd name="connsiteX50" fmla="*/ 1046167 w 1796498"/>
              <a:gd name="connsiteY50" fmla="*/ 541372 h 1651992"/>
              <a:gd name="connsiteX51" fmla="*/ 1098111 w 1796498"/>
              <a:gd name="connsiteY51" fmla="*/ 485751 h 1651992"/>
              <a:gd name="connsiteX52" fmla="*/ 1044909 w 1796498"/>
              <a:gd name="connsiteY52" fmla="*/ 430113 h 1651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96498" h="1651992">
                <a:moveTo>
                  <a:pt x="1248195" y="0"/>
                </a:moveTo>
                <a:cubicBezTo>
                  <a:pt x="1356646" y="0"/>
                  <a:pt x="1444565" y="91953"/>
                  <a:pt x="1444565" y="205383"/>
                </a:cubicBezTo>
                <a:lnTo>
                  <a:pt x="1444568" y="718044"/>
                </a:lnTo>
                <a:cubicBezTo>
                  <a:pt x="1426229" y="715824"/>
                  <a:pt x="1407782" y="714713"/>
                  <a:pt x="1389320" y="714717"/>
                </a:cubicBezTo>
                <a:cubicBezTo>
                  <a:pt x="1128279" y="714717"/>
                  <a:pt x="916664" y="935069"/>
                  <a:pt x="916664" y="1206886"/>
                </a:cubicBezTo>
                <a:cubicBezTo>
                  <a:pt x="916664" y="1403468"/>
                  <a:pt x="1027345" y="1573130"/>
                  <a:pt x="1187358" y="1651992"/>
                </a:cubicBezTo>
                <a:lnTo>
                  <a:pt x="196370" y="1651979"/>
                </a:lnTo>
                <a:cubicBezTo>
                  <a:pt x="87918" y="1651979"/>
                  <a:pt x="0" y="1560026"/>
                  <a:pt x="0" y="1446596"/>
                </a:cubicBezTo>
                <a:lnTo>
                  <a:pt x="0" y="205383"/>
                </a:lnTo>
                <a:cubicBezTo>
                  <a:pt x="0" y="91953"/>
                  <a:pt x="87918" y="0"/>
                  <a:pt x="196370" y="0"/>
                </a:cubicBezTo>
                <a:lnTo>
                  <a:pt x="1248195" y="0"/>
                </a:lnTo>
                <a:close/>
                <a:moveTo>
                  <a:pt x="1389320" y="778913"/>
                </a:moveTo>
                <a:cubicBezTo>
                  <a:pt x="1614199" y="778913"/>
                  <a:pt x="1796499" y="969565"/>
                  <a:pt x="1796499" y="1204747"/>
                </a:cubicBezTo>
                <a:cubicBezTo>
                  <a:pt x="1796499" y="1439929"/>
                  <a:pt x="1614199" y="1630582"/>
                  <a:pt x="1389320" y="1630582"/>
                </a:cubicBezTo>
                <a:cubicBezTo>
                  <a:pt x="1164441" y="1630582"/>
                  <a:pt x="982140" y="1439929"/>
                  <a:pt x="982140" y="1204747"/>
                </a:cubicBezTo>
                <a:cubicBezTo>
                  <a:pt x="982140" y="969565"/>
                  <a:pt x="1164441" y="778913"/>
                  <a:pt x="1389320" y="778913"/>
                </a:cubicBezTo>
                <a:close/>
                <a:moveTo>
                  <a:pt x="1560569" y="1055100"/>
                </a:moveTo>
                <a:lnTo>
                  <a:pt x="1560042" y="1055603"/>
                </a:lnTo>
                <a:lnTo>
                  <a:pt x="1301857" y="1304763"/>
                </a:lnTo>
                <a:lnTo>
                  <a:pt x="1208538" y="1225090"/>
                </a:lnTo>
                <a:lnTo>
                  <a:pt x="1207594" y="1224305"/>
                </a:lnTo>
                <a:cubicBezTo>
                  <a:pt x="1190115" y="1210244"/>
                  <a:pt x="1164997" y="1213193"/>
                  <a:pt x="1150960" y="1231175"/>
                </a:cubicBezTo>
                <a:cubicBezTo>
                  <a:pt x="1136814" y="1249295"/>
                  <a:pt x="1139220" y="1275891"/>
                  <a:pt x="1156243" y="1290928"/>
                </a:cubicBezTo>
                <a:lnTo>
                  <a:pt x="1156780" y="1291393"/>
                </a:lnTo>
                <a:lnTo>
                  <a:pt x="1275455" y="1392719"/>
                </a:lnTo>
                <a:lnTo>
                  <a:pt x="1276400" y="1393504"/>
                </a:lnTo>
                <a:cubicBezTo>
                  <a:pt x="1284135" y="1399737"/>
                  <a:pt x="1293753" y="1402860"/>
                  <a:pt x="1303504" y="1402303"/>
                </a:cubicBezTo>
                <a:cubicBezTo>
                  <a:pt x="1314149" y="1402842"/>
                  <a:pt x="1324573" y="1399003"/>
                  <a:pt x="1332547" y="1391606"/>
                </a:cubicBezTo>
                <a:lnTo>
                  <a:pt x="1333178" y="1391007"/>
                </a:lnTo>
                <a:lnTo>
                  <a:pt x="1615545" y="1118503"/>
                </a:lnTo>
                <a:lnTo>
                  <a:pt x="1616434" y="1117619"/>
                </a:lnTo>
                <a:cubicBezTo>
                  <a:pt x="1632187" y="1101494"/>
                  <a:pt x="1632914" y="1075082"/>
                  <a:pt x="1617866" y="1058028"/>
                </a:cubicBezTo>
                <a:cubicBezTo>
                  <a:pt x="1602701" y="1040839"/>
                  <a:pt x="1577192" y="1039594"/>
                  <a:pt x="1560567" y="1055098"/>
                </a:cubicBezTo>
                <a:close/>
                <a:moveTo>
                  <a:pt x="771303" y="864394"/>
                </a:moveTo>
                <a:lnTo>
                  <a:pt x="278272" y="864394"/>
                </a:lnTo>
                <a:lnTo>
                  <a:pt x="277017" y="864409"/>
                </a:lnTo>
                <a:cubicBezTo>
                  <a:pt x="248216" y="865106"/>
                  <a:pt x="225075" y="889741"/>
                  <a:pt x="225075" y="920029"/>
                </a:cubicBezTo>
                <a:cubicBezTo>
                  <a:pt x="225075" y="950450"/>
                  <a:pt x="248418" y="975168"/>
                  <a:pt x="277394" y="975660"/>
                </a:cubicBezTo>
                <a:lnTo>
                  <a:pt x="278272" y="975667"/>
                </a:lnTo>
                <a:lnTo>
                  <a:pt x="771303" y="975667"/>
                </a:lnTo>
                <a:lnTo>
                  <a:pt x="772558" y="975652"/>
                </a:lnTo>
                <a:cubicBezTo>
                  <a:pt x="801359" y="974954"/>
                  <a:pt x="824502" y="950318"/>
                  <a:pt x="824502" y="920029"/>
                </a:cubicBezTo>
                <a:cubicBezTo>
                  <a:pt x="824502" y="889304"/>
                  <a:pt x="800685" y="864394"/>
                  <a:pt x="771303" y="864394"/>
                </a:cubicBezTo>
                <a:close/>
                <a:moveTo>
                  <a:pt x="1044911" y="430113"/>
                </a:moveTo>
                <a:lnTo>
                  <a:pt x="278272" y="430113"/>
                </a:lnTo>
                <a:lnTo>
                  <a:pt x="277017" y="430128"/>
                </a:lnTo>
                <a:cubicBezTo>
                  <a:pt x="248216" y="430826"/>
                  <a:pt x="225075" y="455462"/>
                  <a:pt x="225075" y="485751"/>
                </a:cubicBezTo>
                <a:cubicBezTo>
                  <a:pt x="225075" y="516169"/>
                  <a:pt x="248418" y="540888"/>
                  <a:pt x="277394" y="541379"/>
                </a:cubicBezTo>
                <a:lnTo>
                  <a:pt x="278272" y="541387"/>
                </a:lnTo>
                <a:lnTo>
                  <a:pt x="1044911" y="541387"/>
                </a:lnTo>
                <a:lnTo>
                  <a:pt x="1046167" y="541372"/>
                </a:lnTo>
                <a:cubicBezTo>
                  <a:pt x="1074968" y="540674"/>
                  <a:pt x="1098111" y="516039"/>
                  <a:pt x="1098111" y="485751"/>
                </a:cubicBezTo>
                <a:cubicBezTo>
                  <a:pt x="1098111" y="455023"/>
                  <a:pt x="1074292" y="430113"/>
                  <a:pt x="1044909" y="430113"/>
                </a:cubicBezTo>
                <a:close/>
              </a:path>
            </a:pathLst>
          </a:custGeom>
          <a:solidFill>
            <a:schemeClr val="accent2"/>
          </a:solidFill>
          <a:ln w="177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33" name="图形 231"/>
          <p:cNvSpPr>
            <a:spLocks noChangeAspect="1"/>
          </p:cNvSpPr>
          <p:nvPr/>
        </p:nvSpPr>
        <p:spPr>
          <a:xfrm>
            <a:off x="861549" y="4777450"/>
            <a:ext cx="360000" cy="359996"/>
          </a:xfrm>
          <a:custGeom>
            <a:avLst/>
            <a:gdLst>
              <a:gd name="connsiteX0" fmla="*/ 816786 w 1905016"/>
              <a:gd name="connsiteY0" fmla="*/ 0 h 1905000"/>
              <a:gd name="connsiteX1" fmla="*/ 1225219 w 1905016"/>
              <a:gd name="connsiteY1" fmla="*/ 408336 h 1905000"/>
              <a:gd name="connsiteX2" fmla="*/ 1179926 w 1905016"/>
              <a:gd name="connsiteY2" fmla="*/ 595313 h 1905000"/>
              <a:gd name="connsiteX3" fmla="*/ 1088248 w 1905016"/>
              <a:gd name="connsiteY3" fmla="*/ 595313 h 1905000"/>
              <a:gd name="connsiteX4" fmla="*/ 940611 w 1905016"/>
              <a:gd name="connsiteY4" fmla="*/ 656034 h 1905000"/>
              <a:gd name="connsiteX5" fmla="*/ 878698 w 1905016"/>
              <a:gd name="connsiteY5" fmla="*/ 804863 h 1905000"/>
              <a:gd name="connsiteX6" fmla="*/ 878698 w 1905016"/>
              <a:gd name="connsiteY6" fmla="*/ 810816 h 1905000"/>
              <a:gd name="connsiteX7" fmla="*/ 816786 w 1905016"/>
              <a:gd name="connsiteY7" fmla="*/ 816769 h 1905000"/>
              <a:gd name="connsiteX8" fmla="*/ 408401 w 1905016"/>
              <a:gd name="connsiteY8" fmla="*/ 408384 h 1905000"/>
              <a:gd name="connsiteX9" fmla="*/ 816786 w 1905016"/>
              <a:gd name="connsiteY9" fmla="*/ 0 h 1905000"/>
              <a:gd name="connsiteX10" fmla="*/ 1638317 w 1905016"/>
              <a:gd name="connsiteY10" fmla="*/ 916781 h 1905000"/>
              <a:gd name="connsiteX11" fmla="*/ 1264461 w 1905016"/>
              <a:gd name="connsiteY11" fmla="*/ 916781 h 1905000"/>
              <a:gd name="connsiteX12" fmla="*/ 1210883 w 1905016"/>
              <a:gd name="connsiteY12" fmla="*/ 970359 h 1905000"/>
              <a:gd name="connsiteX13" fmla="*/ 1264461 w 1905016"/>
              <a:gd name="connsiteY13" fmla="*/ 1023938 h 1905000"/>
              <a:gd name="connsiteX14" fmla="*/ 1638317 w 1905016"/>
              <a:gd name="connsiteY14" fmla="*/ 1023938 h 1905000"/>
              <a:gd name="connsiteX15" fmla="*/ 1676417 w 1905016"/>
              <a:gd name="connsiteY15" fmla="*/ 1008459 h 1905000"/>
              <a:gd name="connsiteX16" fmla="*/ 1691895 w 1905016"/>
              <a:gd name="connsiteY16" fmla="*/ 970359 h 1905000"/>
              <a:gd name="connsiteX17" fmla="*/ 1638317 w 1905016"/>
              <a:gd name="connsiteY17" fmla="*/ 916781 h 1905000"/>
              <a:gd name="connsiteX18" fmla="*/ 1424005 w 1905016"/>
              <a:gd name="connsiteY18" fmla="*/ 1131094 h 1905000"/>
              <a:gd name="connsiteX19" fmla="*/ 1264461 w 1905016"/>
              <a:gd name="connsiteY19" fmla="*/ 1131094 h 1905000"/>
              <a:gd name="connsiteX20" fmla="*/ 1210883 w 1905016"/>
              <a:gd name="connsiteY20" fmla="*/ 1184672 h 1905000"/>
              <a:gd name="connsiteX21" fmla="*/ 1264461 w 1905016"/>
              <a:gd name="connsiteY21" fmla="*/ 1238250 h 1905000"/>
              <a:gd name="connsiteX22" fmla="*/ 1424005 w 1905016"/>
              <a:gd name="connsiteY22" fmla="*/ 1238250 h 1905000"/>
              <a:gd name="connsiteX23" fmla="*/ 1477583 w 1905016"/>
              <a:gd name="connsiteY23" fmla="*/ 1184672 h 1905000"/>
              <a:gd name="connsiteX24" fmla="*/ 1424005 w 1905016"/>
              <a:gd name="connsiteY24" fmla="*/ 1131094 h 1905000"/>
              <a:gd name="connsiteX25" fmla="*/ 478648 w 1905016"/>
              <a:gd name="connsiteY25" fmla="*/ 1382316 h 1905000"/>
              <a:gd name="connsiteX26" fmla="*/ 282195 w 1905016"/>
              <a:gd name="connsiteY26" fmla="*/ 1382316 h 1905000"/>
              <a:gd name="connsiteX27" fmla="*/ 216711 w 1905016"/>
              <a:gd name="connsiteY27" fmla="*/ 1447800 h 1905000"/>
              <a:gd name="connsiteX28" fmla="*/ 282195 w 1905016"/>
              <a:gd name="connsiteY28" fmla="*/ 1513284 h 1905000"/>
              <a:gd name="connsiteX29" fmla="*/ 478648 w 1905016"/>
              <a:gd name="connsiteY29" fmla="*/ 1513284 h 1905000"/>
              <a:gd name="connsiteX30" fmla="*/ 544133 w 1905016"/>
              <a:gd name="connsiteY30" fmla="*/ 1447800 h 1905000"/>
              <a:gd name="connsiteX31" fmla="*/ 482027 w 1905016"/>
              <a:gd name="connsiteY31" fmla="*/ 1382316 h 1905000"/>
              <a:gd name="connsiteX32" fmla="*/ 478648 w 1905016"/>
              <a:gd name="connsiteY32" fmla="*/ 1382316 h 1905000"/>
              <a:gd name="connsiteX33" fmla="*/ 1813339 w 1905016"/>
              <a:gd name="connsiteY33" fmla="*/ 714375 h 1905000"/>
              <a:gd name="connsiteX34" fmla="*/ 1877633 w 1905016"/>
              <a:gd name="connsiteY34" fmla="*/ 740569 h 1905000"/>
              <a:gd name="connsiteX35" fmla="*/ 1905017 w 1905016"/>
              <a:gd name="connsiteY35" fmla="*/ 804863 h 1905000"/>
              <a:gd name="connsiteX36" fmla="*/ 1905017 w 1905016"/>
              <a:gd name="connsiteY36" fmla="*/ 1372791 h 1905000"/>
              <a:gd name="connsiteX37" fmla="*/ 1878823 w 1905016"/>
              <a:gd name="connsiteY37" fmla="*/ 1437084 h 1905000"/>
              <a:gd name="connsiteX38" fmla="*/ 1814530 w 1905016"/>
              <a:gd name="connsiteY38" fmla="*/ 1463278 h 1905000"/>
              <a:gd name="connsiteX39" fmla="*/ 1326373 w 1905016"/>
              <a:gd name="connsiteY39" fmla="*/ 1463278 h 1905000"/>
              <a:gd name="connsiteX40" fmla="*/ 1237076 w 1905016"/>
              <a:gd name="connsiteY40" fmla="*/ 1487091 h 1905000"/>
              <a:gd name="connsiteX41" fmla="*/ 1057292 w 1905016"/>
              <a:gd name="connsiteY41" fmla="*/ 1588294 h 1905000"/>
              <a:gd name="connsiteX42" fmla="*/ 1027526 w 1905016"/>
              <a:gd name="connsiteY42" fmla="*/ 1591866 h 1905000"/>
              <a:gd name="connsiteX43" fmla="*/ 1006095 w 1905016"/>
              <a:gd name="connsiteY43" fmla="*/ 1576388 h 1905000"/>
              <a:gd name="connsiteX44" fmla="*/ 1003714 w 1905016"/>
              <a:gd name="connsiteY44" fmla="*/ 1566863 h 1905000"/>
              <a:gd name="connsiteX45" fmla="*/ 998951 w 1905016"/>
              <a:gd name="connsiteY45" fmla="*/ 804863 h 1905000"/>
              <a:gd name="connsiteX46" fmla="*/ 1088244 w 1905016"/>
              <a:gd name="connsiteY46" fmla="*/ 714375 h 1905000"/>
              <a:gd name="connsiteX47" fmla="*/ 1088248 w 1905016"/>
              <a:gd name="connsiteY47" fmla="*/ 714375 h 1905000"/>
              <a:gd name="connsiteX48" fmla="*/ 1813339 w 1905016"/>
              <a:gd name="connsiteY48" fmla="*/ 714375 h 1905000"/>
              <a:gd name="connsiteX49" fmla="*/ 586995 w 1905016"/>
              <a:gd name="connsiteY49" fmla="*/ 952500 h 1905000"/>
              <a:gd name="connsiteX50" fmla="*/ 648908 w 1905016"/>
              <a:gd name="connsiteY50" fmla="*/ 979884 h 1905000"/>
              <a:gd name="connsiteX51" fmla="*/ 814405 w 1905016"/>
              <a:gd name="connsiteY51" fmla="*/ 1184672 h 1905000"/>
              <a:gd name="connsiteX52" fmla="*/ 879889 w 1905016"/>
              <a:gd name="connsiteY52" fmla="*/ 1107281 h 1905000"/>
              <a:gd name="connsiteX53" fmla="*/ 883461 w 1905016"/>
              <a:gd name="connsiteY53" fmla="*/ 1584722 h 1905000"/>
              <a:gd name="connsiteX54" fmla="*/ 896558 w 1905016"/>
              <a:gd name="connsiteY54" fmla="*/ 1631156 h 1905000"/>
              <a:gd name="connsiteX55" fmla="*/ 909655 w 1905016"/>
              <a:gd name="connsiteY55" fmla="*/ 1649016 h 1905000"/>
              <a:gd name="connsiteX56" fmla="*/ 994189 w 1905016"/>
              <a:gd name="connsiteY56" fmla="*/ 1707356 h 1905000"/>
              <a:gd name="connsiteX57" fmla="*/ 1114442 w 1905016"/>
              <a:gd name="connsiteY57" fmla="*/ 1694259 h 1905000"/>
              <a:gd name="connsiteX58" fmla="*/ 1295417 w 1905016"/>
              <a:gd name="connsiteY58" fmla="*/ 1591866 h 1905000"/>
              <a:gd name="connsiteX59" fmla="*/ 1326373 w 1905016"/>
              <a:gd name="connsiteY59" fmla="*/ 1583531 h 1905000"/>
              <a:gd name="connsiteX60" fmla="*/ 1632364 w 1905016"/>
              <a:gd name="connsiteY60" fmla="*/ 1583531 h 1905000"/>
              <a:gd name="connsiteX61" fmla="*/ 1632364 w 1905016"/>
              <a:gd name="connsiteY61" fmla="*/ 1841897 h 1905000"/>
              <a:gd name="connsiteX62" fmla="*/ 1569261 w 1905016"/>
              <a:gd name="connsiteY62" fmla="*/ 1905000 h 1905000"/>
              <a:gd name="connsiteX63" fmla="*/ 75026 w 1905016"/>
              <a:gd name="connsiteY63" fmla="*/ 1905000 h 1905000"/>
              <a:gd name="connsiteX64" fmla="*/ 17 w 1905016"/>
              <a:gd name="connsiteY64" fmla="*/ 1840706 h 1905000"/>
              <a:gd name="connsiteX65" fmla="*/ 17 w 1905016"/>
              <a:gd name="connsiteY65" fmla="*/ 1432322 h 1905000"/>
              <a:gd name="connsiteX66" fmla="*/ 553658 w 1905016"/>
              <a:gd name="connsiteY66" fmla="*/ 952500 h 1905000"/>
              <a:gd name="connsiteX67" fmla="*/ 586995 w 1905016"/>
              <a:gd name="connsiteY67" fmla="*/ 95250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905016" h="1905000">
                <a:moveTo>
                  <a:pt x="816786" y="0"/>
                </a:moveTo>
                <a:cubicBezTo>
                  <a:pt x="1042330" y="-27"/>
                  <a:pt x="1225192" y="182791"/>
                  <a:pt x="1225219" y="408336"/>
                </a:cubicBezTo>
                <a:cubicBezTo>
                  <a:pt x="1225227" y="473379"/>
                  <a:pt x="1209698" y="537483"/>
                  <a:pt x="1179926" y="595313"/>
                </a:cubicBezTo>
                <a:lnTo>
                  <a:pt x="1088248" y="595313"/>
                </a:lnTo>
                <a:cubicBezTo>
                  <a:pt x="1032289" y="595313"/>
                  <a:pt x="979901" y="616744"/>
                  <a:pt x="940611" y="656034"/>
                </a:cubicBezTo>
                <a:cubicBezTo>
                  <a:pt x="900130" y="696516"/>
                  <a:pt x="878698" y="748903"/>
                  <a:pt x="878698" y="804863"/>
                </a:cubicBezTo>
                <a:lnTo>
                  <a:pt x="878698" y="810816"/>
                </a:lnTo>
                <a:cubicBezTo>
                  <a:pt x="858458" y="814388"/>
                  <a:pt x="837026" y="816769"/>
                  <a:pt x="816786" y="816769"/>
                </a:cubicBezTo>
                <a:cubicBezTo>
                  <a:pt x="591241" y="816769"/>
                  <a:pt x="408401" y="633929"/>
                  <a:pt x="408401" y="408384"/>
                </a:cubicBezTo>
                <a:cubicBezTo>
                  <a:pt x="408401" y="182166"/>
                  <a:pt x="590567" y="0"/>
                  <a:pt x="816786" y="0"/>
                </a:cubicBezTo>
                <a:close/>
                <a:moveTo>
                  <a:pt x="1638317" y="916781"/>
                </a:moveTo>
                <a:lnTo>
                  <a:pt x="1264461" y="916781"/>
                </a:lnTo>
                <a:cubicBezTo>
                  <a:pt x="1234695" y="916781"/>
                  <a:pt x="1210883" y="940594"/>
                  <a:pt x="1210883" y="970359"/>
                </a:cubicBezTo>
                <a:cubicBezTo>
                  <a:pt x="1210883" y="1000125"/>
                  <a:pt x="1234695" y="1023938"/>
                  <a:pt x="1264461" y="1023938"/>
                </a:cubicBezTo>
                <a:lnTo>
                  <a:pt x="1638317" y="1023938"/>
                </a:lnTo>
                <a:cubicBezTo>
                  <a:pt x="1652605" y="1023938"/>
                  <a:pt x="1665701" y="1017984"/>
                  <a:pt x="1676417" y="1008459"/>
                </a:cubicBezTo>
                <a:cubicBezTo>
                  <a:pt x="1687133" y="998934"/>
                  <a:pt x="1691895" y="984647"/>
                  <a:pt x="1691895" y="970359"/>
                </a:cubicBezTo>
                <a:cubicBezTo>
                  <a:pt x="1691204" y="941060"/>
                  <a:pt x="1667616" y="917472"/>
                  <a:pt x="1638317" y="916781"/>
                </a:cubicBezTo>
                <a:close/>
                <a:moveTo>
                  <a:pt x="1424005" y="1131094"/>
                </a:moveTo>
                <a:lnTo>
                  <a:pt x="1264461" y="1131094"/>
                </a:lnTo>
                <a:cubicBezTo>
                  <a:pt x="1234695" y="1131094"/>
                  <a:pt x="1210883" y="1154906"/>
                  <a:pt x="1210883" y="1184672"/>
                </a:cubicBezTo>
                <a:cubicBezTo>
                  <a:pt x="1210883" y="1214438"/>
                  <a:pt x="1234695" y="1238250"/>
                  <a:pt x="1264461" y="1238250"/>
                </a:cubicBezTo>
                <a:lnTo>
                  <a:pt x="1424005" y="1238250"/>
                </a:lnTo>
                <a:cubicBezTo>
                  <a:pt x="1453770" y="1238250"/>
                  <a:pt x="1477583" y="1214438"/>
                  <a:pt x="1477583" y="1184672"/>
                </a:cubicBezTo>
                <a:cubicBezTo>
                  <a:pt x="1477583" y="1154906"/>
                  <a:pt x="1453770" y="1131094"/>
                  <a:pt x="1424005" y="1131094"/>
                </a:cubicBezTo>
                <a:close/>
                <a:moveTo>
                  <a:pt x="478648" y="1382316"/>
                </a:moveTo>
                <a:lnTo>
                  <a:pt x="282195" y="1382316"/>
                </a:lnTo>
                <a:cubicBezTo>
                  <a:pt x="245286" y="1382316"/>
                  <a:pt x="216711" y="1412081"/>
                  <a:pt x="216711" y="1447800"/>
                </a:cubicBezTo>
                <a:cubicBezTo>
                  <a:pt x="216711" y="1484709"/>
                  <a:pt x="246476" y="1513284"/>
                  <a:pt x="282195" y="1513284"/>
                </a:cubicBezTo>
                <a:lnTo>
                  <a:pt x="478648" y="1513284"/>
                </a:lnTo>
                <a:cubicBezTo>
                  <a:pt x="514367" y="1513284"/>
                  <a:pt x="544133" y="1484709"/>
                  <a:pt x="544133" y="1447800"/>
                </a:cubicBezTo>
                <a:cubicBezTo>
                  <a:pt x="545066" y="1412567"/>
                  <a:pt x="517260" y="1383249"/>
                  <a:pt x="482027" y="1382316"/>
                </a:cubicBezTo>
                <a:cubicBezTo>
                  <a:pt x="480901" y="1382286"/>
                  <a:pt x="479774" y="1382286"/>
                  <a:pt x="478648" y="1382316"/>
                </a:cubicBezTo>
                <a:close/>
                <a:moveTo>
                  <a:pt x="1813339" y="714375"/>
                </a:moveTo>
                <a:cubicBezTo>
                  <a:pt x="1837151" y="714375"/>
                  <a:pt x="1860964" y="723900"/>
                  <a:pt x="1877633" y="740569"/>
                </a:cubicBezTo>
                <a:cubicBezTo>
                  <a:pt x="1895492" y="758428"/>
                  <a:pt x="1905017" y="781050"/>
                  <a:pt x="1905017" y="804863"/>
                </a:cubicBezTo>
                <a:lnTo>
                  <a:pt x="1905017" y="1372791"/>
                </a:lnTo>
                <a:cubicBezTo>
                  <a:pt x="1905017" y="1397794"/>
                  <a:pt x="1895492" y="1420416"/>
                  <a:pt x="1878823" y="1437084"/>
                </a:cubicBezTo>
                <a:cubicBezTo>
                  <a:pt x="1862155" y="1453753"/>
                  <a:pt x="1838342" y="1463278"/>
                  <a:pt x="1814530" y="1463278"/>
                </a:cubicBezTo>
                <a:lnTo>
                  <a:pt x="1326373" y="1463278"/>
                </a:lnTo>
                <a:cubicBezTo>
                  <a:pt x="1295417" y="1463278"/>
                  <a:pt x="1264461" y="1471613"/>
                  <a:pt x="1237076" y="1487091"/>
                </a:cubicBezTo>
                <a:lnTo>
                  <a:pt x="1057292" y="1588294"/>
                </a:lnTo>
                <a:cubicBezTo>
                  <a:pt x="1047767" y="1593056"/>
                  <a:pt x="1037051" y="1594247"/>
                  <a:pt x="1027526" y="1591866"/>
                </a:cubicBezTo>
                <a:cubicBezTo>
                  <a:pt x="1018487" y="1590033"/>
                  <a:pt x="1010677" y="1584392"/>
                  <a:pt x="1006095" y="1576388"/>
                </a:cubicBezTo>
                <a:lnTo>
                  <a:pt x="1003714" y="1566863"/>
                </a:lnTo>
                <a:lnTo>
                  <a:pt x="998951" y="804863"/>
                </a:lnTo>
                <a:cubicBezTo>
                  <a:pt x="998622" y="755218"/>
                  <a:pt x="1038599" y="714705"/>
                  <a:pt x="1088244" y="714375"/>
                </a:cubicBezTo>
                <a:cubicBezTo>
                  <a:pt x="1088246" y="714375"/>
                  <a:pt x="1088247" y="714375"/>
                  <a:pt x="1088248" y="714375"/>
                </a:cubicBezTo>
                <a:lnTo>
                  <a:pt x="1813339" y="714375"/>
                </a:lnTo>
                <a:close/>
                <a:moveTo>
                  <a:pt x="586995" y="952500"/>
                </a:moveTo>
                <a:cubicBezTo>
                  <a:pt x="611998" y="952500"/>
                  <a:pt x="634620" y="962025"/>
                  <a:pt x="648908" y="979884"/>
                </a:cubicBezTo>
                <a:lnTo>
                  <a:pt x="814405" y="1184672"/>
                </a:lnTo>
                <a:lnTo>
                  <a:pt x="879889" y="1107281"/>
                </a:lnTo>
                <a:lnTo>
                  <a:pt x="883461" y="1584722"/>
                </a:lnTo>
                <a:lnTo>
                  <a:pt x="896558" y="1631156"/>
                </a:lnTo>
                <a:lnTo>
                  <a:pt x="909655" y="1649016"/>
                </a:lnTo>
                <a:cubicBezTo>
                  <a:pt x="931086" y="1677591"/>
                  <a:pt x="959661" y="1697831"/>
                  <a:pt x="994189" y="1707356"/>
                </a:cubicBezTo>
                <a:cubicBezTo>
                  <a:pt x="1035861" y="1718072"/>
                  <a:pt x="1077533" y="1713309"/>
                  <a:pt x="1114442" y="1694259"/>
                </a:cubicBezTo>
                <a:lnTo>
                  <a:pt x="1295417" y="1591866"/>
                </a:lnTo>
                <a:cubicBezTo>
                  <a:pt x="1304942" y="1585913"/>
                  <a:pt x="1315658" y="1583531"/>
                  <a:pt x="1326373" y="1583531"/>
                </a:cubicBezTo>
                <a:lnTo>
                  <a:pt x="1632364" y="1583531"/>
                </a:lnTo>
                <a:lnTo>
                  <a:pt x="1632364" y="1841897"/>
                </a:lnTo>
                <a:cubicBezTo>
                  <a:pt x="1632364" y="1874044"/>
                  <a:pt x="1604980" y="1900238"/>
                  <a:pt x="1569261" y="1905000"/>
                </a:cubicBezTo>
                <a:lnTo>
                  <a:pt x="75026" y="1905000"/>
                </a:lnTo>
                <a:cubicBezTo>
                  <a:pt x="33355" y="1905000"/>
                  <a:pt x="17" y="1875234"/>
                  <a:pt x="17" y="1840706"/>
                </a:cubicBezTo>
                <a:lnTo>
                  <a:pt x="17" y="1432322"/>
                </a:lnTo>
                <a:cubicBezTo>
                  <a:pt x="-2364" y="1169194"/>
                  <a:pt x="245286" y="954881"/>
                  <a:pt x="553658" y="952500"/>
                </a:cubicBezTo>
                <a:lnTo>
                  <a:pt x="586995" y="952500"/>
                </a:lnTo>
                <a:close/>
              </a:path>
            </a:pathLst>
          </a:custGeom>
          <a:solidFill>
            <a:schemeClr val="accent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40" name="图形 238"/>
          <p:cNvSpPr>
            <a:spLocks noChangeAspect="1"/>
          </p:cNvSpPr>
          <p:nvPr/>
        </p:nvSpPr>
        <p:spPr>
          <a:xfrm>
            <a:off x="885208" y="5876367"/>
            <a:ext cx="360000" cy="360000"/>
          </a:xfrm>
          <a:custGeom>
            <a:avLst/>
            <a:gdLst>
              <a:gd name="connsiteX0" fmla="*/ 920750 w 1651000"/>
              <a:gd name="connsiteY0" fmla="*/ 444500 h 1651000"/>
              <a:gd name="connsiteX1" fmla="*/ 1589310 w 1651000"/>
              <a:gd name="connsiteY1" fmla="*/ 444500 h 1651000"/>
              <a:gd name="connsiteX2" fmla="*/ 1621063 w 1651000"/>
              <a:gd name="connsiteY2" fmla="*/ 412753 h 1651000"/>
              <a:gd name="connsiteX3" fmla="*/ 1615154 w 1651000"/>
              <a:gd name="connsiteY3" fmla="*/ 394303 h 1651000"/>
              <a:gd name="connsiteX4" fmla="*/ 1371473 w 1651000"/>
              <a:gd name="connsiteY4" fmla="*/ 53181 h 1651000"/>
              <a:gd name="connsiteX5" fmla="*/ 1268159 w 1651000"/>
              <a:gd name="connsiteY5" fmla="*/ 0 h 1651000"/>
              <a:gd name="connsiteX6" fmla="*/ 920750 w 1651000"/>
              <a:gd name="connsiteY6" fmla="*/ 0 h 1651000"/>
              <a:gd name="connsiteX7" fmla="*/ 889000 w 1651000"/>
              <a:gd name="connsiteY7" fmla="*/ 31750 h 1651000"/>
              <a:gd name="connsiteX8" fmla="*/ 889000 w 1651000"/>
              <a:gd name="connsiteY8" fmla="*/ 412750 h 1651000"/>
              <a:gd name="connsiteX9" fmla="*/ 920750 w 1651000"/>
              <a:gd name="connsiteY9" fmla="*/ 444500 h 1651000"/>
              <a:gd name="connsiteX10" fmla="*/ 61690 w 1651000"/>
              <a:gd name="connsiteY10" fmla="*/ 444500 h 1651000"/>
              <a:gd name="connsiteX11" fmla="*/ 730250 w 1651000"/>
              <a:gd name="connsiteY11" fmla="*/ 444500 h 1651000"/>
              <a:gd name="connsiteX12" fmla="*/ 762000 w 1651000"/>
              <a:gd name="connsiteY12" fmla="*/ 412750 h 1651000"/>
              <a:gd name="connsiteX13" fmla="*/ 762000 w 1651000"/>
              <a:gd name="connsiteY13" fmla="*/ 31750 h 1651000"/>
              <a:gd name="connsiteX14" fmla="*/ 730250 w 1651000"/>
              <a:gd name="connsiteY14" fmla="*/ 0 h 1651000"/>
              <a:gd name="connsiteX15" fmla="*/ 382841 w 1651000"/>
              <a:gd name="connsiteY15" fmla="*/ 0 h 1651000"/>
              <a:gd name="connsiteX16" fmla="*/ 279495 w 1651000"/>
              <a:gd name="connsiteY16" fmla="*/ 53181 h 1651000"/>
              <a:gd name="connsiteX17" fmla="*/ 35846 w 1651000"/>
              <a:gd name="connsiteY17" fmla="*/ 394303 h 1651000"/>
              <a:gd name="connsiteX18" fmla="*/ 43240 w 1651000"/>
              <a:gd name="connsiteY18" fmla="*/ 438591 h 1651000"/>
              <a:gd name="connsiteX19" fmla="*/ 61690 w 1651000"/>
              <a:gd name="connsiteY19" fmla="*/ 444500 h 1651000"/>
              <a:gd name="connsiteX20" fmla="*/ 1619250 w 1651000"/>
              <a:gd name="connsiteY20" fmla="*/ 571500 h 1651000"/>
              <a:gd name="connsiteX21" fmla="*/ 31750 w 1651000"/>
              <a:gd name="connsiteY21" fmla="*/ 571500 h 1651000"/>
              <a:gd name="connsiteX22" fmla="*/ 0 w 1651000"/>
              <a:gd name="connsiteY22" fmla="*/ 603250 h 1651000"/>
              <a:gd name="connsiteX23" fmla="*/ 0 w 1651000"/>
              <a:gd name="connsiteY23" fmla="*/ 1524000 h 1651000"/>
              <a:gd name="connsiteX24" fmla="*/ 127000 w 1651000"/>
              <a:gd name="connsiteY24" fmla="*/ 1651000 h 1651000"/>
              <a:gd name="connsiteX25" fmla="*/ 1524000 w 1651000"/>
              <a:gd name="connsiteY25" fmla="*/ 1651000 h 1651000"/>
              <a:gd name="connsiteX26" fmla="*/ 1651000 w 1651000"/>
              <a:gd name="connsiteY26" fmla="*/ 1524000 h 1651000"/>
              <a:gd name="connsiteX27" fmla="*/ 1651000 w 1651000"/>
              <a:gd name="connsiteY27" fmla="*/ 603250 h 1651000"/>
              <a:gd name="connsiteX28" fmla="*/ 1619250 w 1651000"/>
              <a:gd name="connsiteY28" fmla="*/ 571500 h 1651000"/>
              <a:gd name="connsiteX29" fmla="*/ 1124395 w 1651000"/>
              <a:gd name="connsiteY29" fmla="*/ 984695 h 1651000"/>
              <a:gd name="connsiteX30" fmla="*/ 794195 w 1651000"/>
              <a:gd name="connsiteY30" fmla="*/ 1314895 h 1651000"/>
              <a:gd name="connsiteX31" fmla="*/ 749300 w 1651000"/>
              <a:gd name="connsiteY31" fmla="*/ 1333500 h 1651000"/>
              <a:gd name="connsiteX32" fmla="*/ 704406 w 1651000"/>
              <a:gd name="connsiteY32" fmla="*/ 1314895 h 1651000"/>
              <a:gd name="connsiteX33" fmla="*/ 526606 w 1651000"/>
              <a:gd name="connsiteY33" fmla="*/ 1137095 h 1651000"/>
              <a:gd name="connsiteX34" fmla="*/ 525045 w 1651000"/>
              <a:gd name="connsiteY34" fmla="*/ 1047306 h 1651000"/>
              <a:gd name="connsiteX35" fmla="*/ 614834 w 1651000"/>
              <a:gd name="connsiteY35" fmla="*/ 1045745 h 1651000"/>
              <a:gd name="connsiteX36" fmla="*/ 616395 w 1651000"/>
              <a:gd name="connsiteY36" fmla="*/ 1047306 h 1651000"/>
              <a:gd name="connsiteX37" fmla="*/ 749300 w 1651000"/>
              <a:gd name="connsiteY37" fmla="*/ 1180211 h 1651000"/>
              <a:gd name="connsiteX38" fmla="*/ 1034606 w 1651000"/>
              <a:gd name="connsiteY38" fmla="*/ 894906 h 1651000"/>
              <a:gd name="connsiteX39" fmla="*/ 1124395 w 1651000"/>
              <a:gd name="connsiteY39" fmla="*/ 893345 h 1651000"/>
              <a:gd name="connsiteX40" fmla="*/ 1125955 w 1651000"/>
              <a:gd name="connsiteY40" fmla="*/ 983134 h 1651000"/>
              <a:gd name="connsiteX41" fmla="*/ 1124395 w 1651000"/>
              <a:gd name="connsiteY41" fmla="*/ 984695 h 165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51000" h="1651000">
                <a:moveTo>
                  <a:pt x="920750" y="444500"/>
                </a:moveTo>
                <a:lnTo>
                  <a:pt x="1589310" y="444500"/>
                </a:lnTo>
                <a:cubicBezTo>
                  <a:pt x="1606845" y="444502"/>
                  <a:pt x="1621061" y="430288"/>
                  <a:pt x="1621063" y="412753"/>
                </a:cubicBezTo>
                <a:cubicBezTo>
                  <a:pt x="1621064" y="406138"/>
                  <a:pt x="1618998" y="399687"/>
                  <a:pt x="1615154" y="394303"/>
                </a:cubicBezTo>
                <a:lnTo>
                  <a:pt x="1371473" y="53181"/>
                </a:lnTo>
                <a:cubicBezTo>
                  <a:pt x="1347643" y="19811"/>
                  <a:pt x="1309164" y="4"/>
                  <a:pt x="1268159" y="0"/>
                </a:cubicBezTo>
                <a:lnTo>
                  <a:pt x="920750" y="0"/>
                </a:lnTo>
                <a:cubicBezTo>
                  <a:pt x="903215" y="0"/>
                  <a:pt x="889000" y="14215"/>
                  <a:pt x="889000" y="31750"/>
                </a:cubicBezTo>
                <a:lnTo>
                  <a:pt x="889000" y="412750"/>
                </a:lnTo>
                <a:cubicBezTo>
                  <a:pt x="889000" y="430285"/>
                  <a:pt x="903215" y="444500"/>
                  <a:pt x="920750" y="444500"/>
                </a:cubicBezTo>
                <a:close/>
                <a:moveTo>
                  <a:pt x="61690" y="444500"/>
                </a:moveTo>
                <a:lnTo>
                  <a:pt x="730250" y="444500"/>
                </a:lnTo>
                <a:cubicBezTo>
                  <a:pt x="747785" y="444500"/>
                  <a:pt x="762000" y="430285"/>
                  <a:pt x="762000" y="412750"/>
                </a:cubicBezTo>
                <a:lnTo>
                  <a:pt x="762000" y="31750"/>
                </a:lnTo>
                <a:cubicBezTo>
                  <a:pt x="762000" y="14215"/>
                  <a:pt x="747785" y="0"/>
                  <a:pt x="730250" y="0"/>
                </a:cubicBezTo>
                <a:lnTo>
                  <a:pt x="382841" y="0"/>
                </a:lnTo>
                <a:cubicBezTo>
                  <a:pt x="341826" y="-1"/>
                  <a:pt x="303335" y="19806"/>
                  <a:pt x="279495" y="53181"/>
                </a:cubicBezTo>
                <a:lnTo>
                  <a:pt x="35846" y="394303"/>
                </a:lnTo>
                <a:cubicBezTo>
                  <a:pt x="25658" y="408575"/>
                  <a:pt x="28969" y="428404"/>
                  <a:pt x="43240" y="438591"/>
                </a:cubicBezTo>
                <a:cubicBezTo>
                  <a:pt x="48625" y="442435"/>
                  <a:pt x="55075" y="444501"/>
                  <a:pt x="61690" y="444500"/>
                </a:cubicBezTo>
                <a:close/>
                <a:moveTo>
                  <a:pt x="1619250" y="571500"/>
                </a:moveTo>
                <a:lnTo>
                  <a:pt x="31750" y="571500"/>
                </a:lnTo>
                <a:cubicBezTo>
                  <a:pt x="14215" y="571500"/>
                  <a:pt x="0" y="585715"/>
                  <a:pt x="0" y="603250"/>
                </a:cubicBezTo>
                <a:lnTo>
                  <a:pt x="0" y="1524000"/>
                </a:lnTo>
                <a:cubicBezTo>
                  <a:pt x="0" y="1594140"/>
                  <a:pt x="56860" y="1651000"/>
                  <a:pt x="127000" y="1651000"/>
                </a:cubicBezTo>
                <a:lnTo>
                  <a:pt x="1524000" y="1651000"/>
                </a:lnTo>
                <a:cubicBezTo>
                  <a:pt x="1594140" y="1651000"/>
                  <a:pt x="1651000" y="1594140"/>
                  <a:pt x="1651000" y="1524000"/>
                </a:cubicBezTo>
                <a:lnTo>
                  <a:pt x="1651000" y="603250"/>
                </a:lnTo>
                <a:cubicBezTo>
                  <a:pt x="1651000" y="585715"/>
                  <a:pt x="1636785" y="571500"/>
                  <a:pt x="1619250" y="571500"/>
                </a:cubicBezTo>
                <a:close/>
                <a:moveTo>
                  <a:pt x="1124395" y="984695"/>
                </a:moveTo>
                <a:lnTo>
                  <a:pt x="794195" y="1314895"/>
                </a:lnTo>
                <a:cubicBezTo>
                  <a:pt x="781812" y="1327309"/>
                  <a:pt x="765556" y="1333500"/>
                  <a:pt x="749300" y="1333500"/>
                </a:cubicBezTo>
                <a:cubicBezTo>
                  <a:pt x="733044" y="1333500"/>
                  <a:pt x="716820" y="1327309"/>
                  <a:pt x="704406" y="1314895"/>
                </a:cubicBezTo>
                <a:lnTo>
                  <a:pt x="526606" y="1137095"/>
                </a:lnTo>
                <a:cubicBezTo>
                  <a:pt x="501380" y="1112731"/>
                  <a:pt x="500681" y="1072531"/>
                  <a:pt x="525045" y="1047306"/>
                </a:cubicBezTo>
                <a:cubicBezTo>
                  <a:pt x="549409" y="1022080"/>
                  <a:pt x="589609" y="1021381"/>
                  <a:pt x="614834" y="1045745"/>
                </a:cubicBezTo>
                <a:cubicBezTo>
                  <a:pt x="615363" y="1046256"/>
                  <a:pt x="615883" y="1046776"/>
                  <a:pt x="616395" y="1047306"/>
                </a:cubicBezTo>
                <a:lnTo>
                  <a:pt x="749300" y="1180211"/>
                </a:lnTo>
                <a:lnTo>
                  <a:pt x="1034606" y="894906"/>
                </a:lnTo>
                <a:cubicBezTo>
                  <a:pt x="1058969" y="869680"/>
                  <a:pt x="1099169" y="868981"/>
                  <a:pt x="1124395" y="893345"/>
                </a:cubicBezTo>
                <a:cubicBezTo>
                  <a:pt x="1149620" y="917709"/>
                  <a:pt x="1150319" y="957908"/>
                  <a:pt x="1125955" y="983134"/>
                </a:cubicBezTo>
                <a:cubicBezTo>
                  <a:pt x="1125444" y="983663"/>
                  <a:pt x="1124924" y="984183"/>
                  <a:pt x="1124395" y="984695"/>
                </a:cubicBezTo>
                <a:close/>
              </a:path>
            </a:pathLst>
          </a:custGeom>
          <a:solidFill>
            <a:schemeClr val="accent1">
              <a:lumMod val="75000"/>
            </a:schemeClr>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62" name="文本框 261"/>
          <p:cNvSpPr txBox="1"/>
          <p:nvPr/>
        </p:nvSpPr>
        <p:spPr>
          <a:xfrm>
            <a:off x="6392128" y="1016391"/>
            <a:ext cx="1610402" cy="583878"/>
          </a:xfrm>
          <a:prstGeom prst="rect">
            <a:avLst/>
          </a:prstGeom>
          <a:noFill/>
        </p:spPr>
        <p:txBody>
          <a:bodyPr wrap="square" lIns="0" tIns="0" rIns="0" bIns="0">
            <a:spAutoFit/>
          </a:bodyPr>
          <a:lstStyle>
            <a:defPPr>
              <a:defRPr lang="zh-CN"/>
            </a:defPPr>
            <a:lvl1pPr>
              <a:defRPr sz="1000" b="0" i="0">
                <a:solidFill>
                  <a:srgbClr val="0F1115"/>
                </a:solidFill>
                <a:effectLst/>
                <a:latin typeface="思源黑体 CN Regular" panose="020B0500000000000000" pitchFamily="34" charset="-122"/>
                <a:ea typeface="思源黑体 CN Regular" panose="020B0500000000000000" pitchFamily="34" charset="-122"/>
              </a:defRPr>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F1115"/>
                </a:solidFill>
                <a:effectLst/>
                <a:uLnTx/>
                <a:uFillTx/>
                <a:latin typeface="思源黑体 CN Normal" panose="020B0400000000000000" charset="-122"/>
                <a:ea typeface="思源黑体 CN Normal" panose="020B0400000000000000" charset="-122"/>
                <a:cs typeface="思源黑体 CN Normal" panose="020B0400000000000000" charset="-122"/>
              </a:rPr>
              <a:t>Z-score 检测技能涌现</a:t>
            </a:r>
            <a:endParaRPr kumimoji="0" lang="en-US" altLang="zh-CN" sz="1000" b="0" i="0" u="none" strike="noStrike" kern="1200" cap="none" spc="0" normalizeH="0" baseline="0" noProof="0" dirty="0">
              <a:ln>
                <a:noFill/>
              </a:ln>
              <a:solidFill>
                <a:srgbClr val="0F1115"/>
              </a:solidFill>
              <a:effectLst/>
              <a:uLnTx/>
              <a:uFillTx/>
              <a:latin typeface="思源黑体 CN Normal" panose="020B0400000000000000" charset="-122"/>
              <a:ea typeface="思源黑体 CN Normal" panose="020B0400000000000000" charset="-122"/>
              <a:cs typeface="思源黑体 CN Normal" panose="020B0400000000000000" charset="-122"/>
            </a:endParaRP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F1115"/>
                </a:solidFill>
                <a:effectLst/>
                <a:uLnTx/>
                <a:uFillTx/>
                <a:latin typeface="思源黑体 CN Normal" panose="020B0400000000000000" charset="-122"/>
                <a:ea typeface="思源黑体 CN Normal" panose="020B0400000000000000" charset="-122"/>
                <a:cs typeface="思源黑体 CN Normal" panose="020B0400000000000000" charset="-122"/>
              </a:rPr>
              <a:t>反查岗位画像自动生成定义</a:t>
            </a:r>
            <a:r>
              <a:rPr kumimoji="0" lang="en-US" altLang="zh-CN" sz="1000" b="0" i="0" u="none" strike="noStrike" kern="1200" cap="none" spc="0" normalizeH="0" baseline="0" noProof="0" dirty="0">
                <a:ln>
                  <a:noFill/>
                </a:ln>
                <a:solidFill>
                  <a:srgbClr val="0F1115"/>
                </a:solidFill>
                <a:effectLst/>
                <a:uLnTx/>
                <a:uFillTx/>
                <a:latin typeface="思源黑体 CN Normal" panose="020B0400000000000000" charset="-122"/>
                <a:ea typeface="思源黑体 CN Normal" panose="020B0400000000000000" charset="-122"/>
                <a:cs typeface="思源黑体 CN Normal" panose="020B0400000000000000" charset="-122"/>
              </a:rPr>
              <a:t/>
            </a:r>
          </a:p>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F1115"/>
                </a:solidFill>
                <a:effectLst/>
                <a:uLnTx/>
                <a:uFillTx/>
                <a:latin typeface="思源黑体 CN Normal" panose="020B0400000000000000" charset="-122"/>
                <a:ea typeface="思源黑体 CN Normal" panose="020B0400000000000000" charset="-122"/>
                <a:cs typeface="思源黑体 CN Normal" panose="020B0400000000000000" charset="-122"/>
              </a:rPr>
              <a:t>206 个新兴候选岗位实测</a:t>
            </a:r>
          </a:p>
        </p:txBody>
      </p:sp>
      <p:sp>
        <p:nvSpPr>
          <p:cNvPr id="251" name="文本框 250"/>
          <p:cNvSpPr txBox="1"/>
          <p:nvPr/>
        </p:nvSpPr>
        <p:spPr>
          <a:xfrm>
            <a:off x="8055430" y="1380119"/>
            <a:ext cx="769441"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F1115"/>
                </a:solidFill>
                <a:effectLst/>
                <a:uLnTx/>
                <a:uFillTx/>
                <a:latin typeface="思源黑体 CN Normal" panose="020B0400000000000000" charset="-122"/>
                <a:ea typeface="思源黑体 CN Normal" panose="020B0400000000000000" charset="-122"/>
                <a:cs typeface="思源黑体 CN Normal" panose="020B0400000000000000" charset="-122"/>
              </a:rPr>
              <a:t>首席卡车</a:t>
            </a:r>
          </a:p>
        </p:txBody>
      </p:sp>
      <p:sp>
        <p:nvSpPr>
          <p:cNvPr id="264" name="文本框 263"/>
          <p:cNvSpPr txBox="1"/>
          <p:nvPr/>
        </p:nvSpPr>
        <p:spPr>
          <a:xfrm>
            <a:off x="8097108" y="1064301"/>
            <a:ext cx="686085"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自动驾驶</a:t>
            </a:r>
            <a:r>
              <a:rPr kumimoji="0" lang="zh-CN" altLang="en-US"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274" name="矩形 273"/>
          <p:cNvSpPr/>
          <p:nvPr/>
        </p:nvSpPr>
        <p:spPr>
          <a:xfrm>
            <a:off x="8002530" y="950637"/>
            <a:ext cx="864018" cy="715386"/>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57" name="文本框 256"/>
          <p:cNvSpPr txBox="1"/>
          <p:nvPr/>
        </p:nvSpPr>
        <p:spPr>
          <a:xfrm>
            <a:off x="9007097" y="1380119"/>
            <a:ext cx="769441"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F1115"/>
                </a:solidFill>
                <a:effectLst/>
                <a:uLnTx/>
                <a:uFillTx/>
                <a:latin typeface="思源黑体 CN Normal" panose="020B0400000000000000" charset="-122"/>
                <a:ea typeface="思源黑体 CN Normal" panose="020B0400000000000000" charset="-122"/>
                <a:cs typeface="思源黑体 CN Normal" panose="020B0400000000000000" charset="-122"/>
              </a:rPr>
              <a:t>数据科学家</a:t>
            </a:r>
          </a:p>
        </p:txBody>
      </p:sp>
      <p:sp>
        <p:nvSpPr>
          <p:cNvPr id="267" name="TextBox 263+"/>
          <p:cNvSpPr txBox="1"/>
          <p:nvPr/>
        </p:nvSpPr>
        <p:spPr>
          <a:xfrm>
            <a:off x="9048775" y="1064301"/>
            <a:ext cx="686085"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MLOps</a:t>
            </a:r>
            <a:r>
              <a:rPr kumimoji="0" lang="zh-CN" altLang="en-US"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277" name="Rectangle 273+"/>
          <p:cNvSpPr/>
          <p:nvPr/>
        </p:nvSpPr>
        <p:spPr>
          <a:xfrm>
            <a:off x="8965419" y="950637"/>
            <a:ext cx="864018" cy="715386"/>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55" name="文本框 254"/>
          <p:cNvSpPr txBox="1"/>
          <p:nvPr/>
        </p:nvSpPr>
        <p:spPr>
          <a:xfrm>
            <a:off x="9975597" y="1380119"/>
            <a:ext cx="769441"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F1115"/>
                </a:solidFill>
                <a:effectLst/>
                <a:uLnTx/>
                <a:uFillTx/>
                <a:latin typeface="思源黑体 CN Normal" panose="020B0400000000000000" charset="-122"/>
                <a:ea typeface="思源黑体 CN Normal" panose="020B0400000000000000" charset="-122"/>
                <a:cs typeface="思源黑体 CN Normal" panose="020B0400000000000000" charset="-122"/>
              </a:rPr>
              <a:t>咨询顾问</a:t>
            </a:r>
          </a:p>
        </p:txBody>
      </p:sp>
      <p:sp>
        <p:nvSpPr>
          <p:cNvPr id="270" name="TextBox 263++"/>
          <p:cNvSpPr txBox="1"/>
          <p:nvPr/>
        </p:nvSpPr>
        <p:spPr>
          <a:xfrm>
            <a:off x="10077387" y="1064301"/>
            <a:ext cx="565861"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AI 治理</a:t>
            </a:r>
            <a:r>
              <a:rPr kumimoji="0" lang="zh-CN" altLang="en-US"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280" name="Rectangle 273++"/>
          <p:cNvSpPr/>
          <p:nvPr/>
        </p:nvSpPr>
        <p:spPr>
          <a:xfrm>
            <a:off x="9928308" y="950637"/>
            <a:ext cx="864018" cy="715386"/>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56" name="文本框 255"/>
          <p:cNvSpPr txBox="1"/>
          <p:nvPr/>
        </p:nvSpPr>
        <p:spPr>
          <a:xfrm>
            <a:off x="10938486" y="1380119"/>
            <a:ext cx="769441"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F1115"/>
                </a:solidFill>
                <a:effectLst/>
                <a:uLnTx/>
                <a:uFillTx/>
                <a:latin typeface="思源黑体 CN Normal" panose="020B0400000000000000" charset="-122"/>
                <a:ea typeface="思源黑体 CN Normal" panose="020B0400000000000000" charset="-122"/>
                <a:cs typeface="思源黑体 CN Normal" panose="020B0400000000000000" charset="-122"/>
              </a:rPr>
              <a:t>岗位定义</a:t>
            </a:r>
          </a:p>
        </p:txBody>
      </p:sp>
      <p:sp>
        <p:nvSpPr>
          <p:cNvPr id="272" name="TextBox 263+++"/>
          <p:cNvSpPr txBox="1"/>
          <p:nvPr/>
        </p:nvSpPr>
        <p:spPr>
          <a:xfrm>
            <a:off x="11040276" y="1064301"/>
            <a:ext cx="565861"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自动生成</a:t>
            </a:r>
            <a:r>
              <a:rPr kumimoji="0" lang="zh-CN" altLang="en-US"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281" name="Rectangle 273+++"/>
          <p:cNvSpPr/>
          <p:nvPr/>
        </p:nvSpPr>
        <p:spPr>
          <a:xfrm>
            <a:off x="10891197" y="950637"/>
            <a:ext cx="864018" cy="715386"/>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88" name="箭头: 右 287"/>
          <p:cNvSpPr/>
          <p:nvPr/>
        </p:nvSpPr>
        <p:spPr>
          <a:xfrm rot="5400000">
            <a:off x="5618614" y="2210565"/>
            <a:ext cx="1037381" cy="231085"/>
          </a:xfrm>
          <a:prstGeom prst="rightArrow">
            <a:avLst>
              <a:gd name="adj1" fmla="val 50000"/>
              <a:gd name="adj2" fmla="val 8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90" name="文本框 289"/>
          <p:cNvSpPr txBox="1"/>
          <p:nvPr/>
        </p:nvSpPr>
        <p:spPr>
          <a:xfrm>
            <a:off x="6585490" y="1959434"/>
            <a:ext cx="939360" cy="369332"/>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31.25</a:t>
            </a:r>
            <a:endParaRPr kumimoji="0" lang="zh-CN" altLang="en-US" sz="2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92" name="文本框 291"/>
          <p:cNvSpPr txBox="1"/>
          <p:nvPr/>
        </p:nvSpPr>
        <p:spPr>
          <a:xfrm>
            <a:off x="6606329" y="2372478"/>
            <a:ext cx="897682"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Python z 值</a:t>
            </a:r>
          </a:p>
        </p:txBody>
      </p:sp>
      <p:sp>
        <p:nvSpPr>
          <p:cNvPr id="295" name="Right Arrow 287+"/>
          <p:cNvSpPr/>
          <p:nvPr/>
        </p:nvSpPr>
        <p:spPr>
          <a:xfrm rot="5400000">
            <a:off x="5618614" y="3355150"/>
            <a:ext cx="1037381" cy="231085"/>
          </a:xfrm>
          <a:prstGeom prst="rightArrow">
            <a:avLst>
              <a:gd name="adj1" fmla="val 50000"/>
              <a:gd name="adj2" fmla="val 8765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96" name="TextBox 289+"/>
          <p:cNvSpPr txBox="1"/>
          <p:nvPr/>
        </p:nvSpPr>
        <p:spPr>
          <a:xfrm>
            <a:off x="6585490" y="3124236"/>
            <a:ext cx="939360" cy="369332"/>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5.0</a:t>
            </a:r>
            <a:endParaRPr kumimoji="0" lang="zh-CN" altLang="en-US" sz="2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97" name="TextBox 291+"/>
          <p:cNvSpPr txBox="1"/>
          <p:nvPr/>
        </p:nvSpPr>
        <p:spPr>
          <a:xfrm>
            <a:off x="6606329" y="3537280"/>
            <a:ext cx="897682"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K8s z 值</a:t>
            </a:r>
          </a:p>
        </p:txBody>
      </p:sp>
      <p:sp>
        <p:nvSpPr>
          <p:cNvPr id="299" name="文本框 298"/>
          <p:cNvSpPr txBox="1"/>
          <p:nvPr/>
        </p:nvSpPr>
        <p:spPr>
          <a:xfrm>
            <a:off x="7960168" y="3240648"/>
            <a:ext cx="3363100" cy="153888"/>
          </a:xfrm>
          <a:prstGeom prst="rect">
            <a:avLst/>
          </a:prstGeom>
          <a:noFill/>
        </p:spPr>
        <p:txBody>
          <a:bodyPr wrap="square" lIns="0" tIns="0" rIns="0" bIns="0">
            <a:spAutoFit/>
          </a:bodyPr>
          <a:lstStyle>
            <a:defPPr>
              <a:defRPr lang="zh-CN"/>
            </a:defPPr>
            <a:lvl1pPr>
              <a:defRPr sz="1000" b="0" i="0">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候选岗位：首席自主卡车工程师、Applied Data Scientist/ML Engineer、高级咨询顾问（AI 治理）</a:t>
            </a:r>
            <a:r>
              <a:rPr kumimoji="0" lang="en-US" altLang="zh-CN"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en-US" altLang="zh-CN"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cxnSp>
        <p:nvCxnSpPr>
          <p:cNvPr id="301" name="直接连接符 300"/>
          <p:cNvCxnSpPr>
            <a:stCxn id="44" idx="5"/>
          </p:cNvCxnSpPr>
          <p:nvPr/>
        </p:nvCxnSpPr>
        <p:spPr>
          <a:xfrm>
            <a:off x="6122042" y="1699493"/>
            <a:ext cx="5624871" cy="72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2" name="Straight Connector 300+"/>
          <p:cNvCxnSpPr/>
          <p:nvPr/>
        </p:nvCxnSpPr>
        <p:spPr>
          <a:xfrm>
            <a:off x="5797088" y="2834603"/>
            <a:ext cx="595200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4" name="Straight Connector 300++"/>
          <p:cNvCxnSpPr/>
          <p:nvPr/>
        </p:nvCxnSpPr>
        <p:spPr>
          <a:xfrm>
            <a:off x="5532769" y="3972044"/>
            <a:ext cx="6274602"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6" name="Straight Connector 300+++"/>
          <p:cNvCxnSpPr/>
          <p:nvPr/>
        </p:nvCxnSpPr>
        <p:spPr>
          <a:xfrm>
            <a:off x="5388474" y="5137446"/>
            <a:ext cx="6360614"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09" name="文本框 308"/>
          <p:cNvSpPr txBox="1"/>
          <p:nvPr/>
        </p:nvSpPr>
        <p:spPr>
          <a:xfrm>
            <a:off x="8187803" y="2927805"/>
            <a:ext cx="3411190"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流程闭环：涌现 → 画像 → 定义</a:t>
            </a:r>
          </a:p>
        </p:txBody>
      </p:sp>
      <p:sp>
        <p:nvSpPr>
          <p:cNvPr id="311" name="文本框 310"/>
          <p:cNvSpPr txBox="1"/>
          <p:nvPr/>
        </p:nvSpPr>
        <p:spPr>
          <a:xfrm>
            <a:off x="8300591" y="3466408"/>
            <a:ext cx="718145" cy="215444"/>
          </a:xfrm>
          <a:prstGeom prst="rect">
            <a:avLst/>
          </a:prstGeom>
          <a:noFill/>
        </p:spPr>
        <p:txBody>
          <a:bodyPr wrap="none" lIns="0" tIns="0" rIns="0" bIns="0">
            <a:spAutoFit/>
          </a:bodyPr>
          <a:lstStyle>
            <a:defPPr>
              <a:defRPr lang="zh-CN"/>
            </a:defPPr>
            <a:lvl1pPr>
              <a:defRPr sz="1400" i="0">
                <a:solidFill>
                  <a:schemeClr val="accent1"/>
                </a:solidFill>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Top 候选</a:t>
            </a:r>
          </a:p>
        </p:txBody>
      </p:sp>
      <p:sp>
        <p:nvSpPr>
          <p:cNvPr id="313" name="文本框 312"/>
          <p:cNvSpPr txBox="1"/>
          <p:nvPr/>
        </p:nvSpPr>
        <p:spPr>
          <a:xfrm>
            <a:off x="7960168" y="3711276"/>
            <a:ext cx="3462486" cy="172227"/>
          </a:xfrm>
          <a:prstGeom prst="rect">
            <a:avLst/>
          </a:prstGeom>
          <a:noFill/>
        </p:spPr>
        <p:txBody>
          <a:bodyPr wrap="none" lIns="0" tIns="0" rIns="0" bIns="0">
            <a:spAutoFit/>
          </a:bodyPr>
          <a:lstStyle>
            <a:defPPr>
              <a:defRPr lang="zh-CN"/>
            </a:defPPr>
            <a:lvl1pPr>
              <a:defRPr sz="1000" b="0" i="0">
                <a:effectLst/>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首席自主卡车工程师（自动驾驶 · 车路协同）</a:t>
            </a:r>
          </a:p>
        </p:txBody>
      </p:sp>
      <p:sp>
        <p:nvSpPr>
          <p:cNvPr id="314" name="Right Arrow 287++"/>
          <p:cNvSpPr/>
          <p:nvPr/>
        </p:nvSpPr>
        <p:spPr>
          <a:xfrm rot="5400000">
            <a:off x="5618614" y="4505120"/>
            <a:ext cx="1037381" cy="231085"/>
          </a:xfrm>
          <a:prstGeom prst="rightArrow">
            <a:avLst>
              <a:gd name="adj1" fmla="val 50000"/>
              <a:gd name="adj2" fmla="val 8765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15" name="TextBox 291++"/>
          <p:cNvSpPr txBox="1"/>
          <p:nvPr/>
        </p:nvSpPr>
        <p:spPr>
          <a:xfrm>
            <a:off x="6606329" y="4674721"/>
            <a:ext cx="897682"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来源支撑</a:t>
            </a:r>
          </a:p>
        </p:txBody>
      </p:sp>
      <p:sp>
        <p:nvSpPr>
          <p:cNvPr id="316" name="TextBox 289++"/>
          <p:cNvSpPr txBox="1"/>
          <p:nvPr/>
        </p:nvSpPr>
        <p:spPr>
          <a:xfrm>
            <a:off x="6585490" y="4261677"/>
            <a:ext cx="939360" cy="369332"/>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12</a:t>
            </a:r>
            <a:endParaRPr kumimoji="0" lang="zh-CN" altLang="en-US" sz="2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318" name="文本框 317"/>
          <p:cNvSpPr txBox="1"/>
          <p:nvPr/>
        </p:nvSpPr>
        <p:spPr>
          <a:xfrm>
            <a:off x="8300591" y="4054646"/>
            <a:ext cx="718145" cy="215444"/>
          </a:xfrm>
          <a:prstGeom prst="rect">
            <a:avLst/>
          </a:prstGeom>
          <a:noFill/>
        </p:spPr>
        <p:txBody>
          <a:bodyPr wrap="none" lIns="0" tIns="0" rIns="0" bIns="0">
            <a:spAutoFit/>
          </a:bodyPr>
          <a:lstStyle>
            <a:defPPr>
              <a:defRPr lang="zh-CN"/>
            </a:defPPr>
            <a:lvl1pPr>
              <a:defRPr sz="1400" i="0">
                <a:solidFill>
                  <a:schemeClr val="accent1"/>
                </a:solidFill>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数据源</a:t>
            </a:r>
          </a:p>
        </p:txBody>
      </p:sp>
      <p:sp>
        <p:nvSpPr>
          <p:cNvPr id="320" name="文本框 319"/>
          <p:cNvSpPr txBox="1"/>
          <p:nvPr/>
        </p:nvSpPr>
        <p:spPr>
          <a:xfrm>
            <a:off x="7877618" y="4322659"/>
            <a:ext cx="3917739" cy="172227"/>
          </a:xfrm>
          <a:prstGeom prst="rect">
            <a:avLst/>
          </a:prstGeom>
          <a:noFill/>
        </p:spPr>
        <p:txBody>
          <a:bodyPr wrap="none" lIns="0" tIns="0" rIns="0" bIns="0">
            <a:spAutoFit/>
          </a:bodyPr>
          <a:lstStyle>
            <a:defPPr>
              <a:defRPr lang="zh-CN"/>
            </a:defPPr>
            <a:lvl1pPr>
              <a:lnSpc>
                <a:spcPct val="120000"/>
              </a:lnSpc>
              <a:defRPr sz="1000" b="0" i="0">
                <a:effectLst/>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Python 在 12 个数据源同时涌现（z=31.25），Kubernetes z=5.0</a:t>
            </a:r>
            <a:r>
              <a:rPr kumimoji="0" lang="en-US" altLang="zh-CN"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sp>
        <p:nvSpPr>
          <p:cNvPr id="322" name="文本框 321"/>
          <p:cNvSpPr txBox="1"/>
          <p:nvPr/>
        </p:nvSpPr>
        <p:spPr>
          <a:xfrm>
            <a:off x="8299474" y="4584065"/>
            <a:ext cx="718145" cy="215444"/>
          </a:xfrm>
          <a:prstGeom prst="rect">
            <a:avLst/>
          </a:prstGeom>
          <a:noFill/>
        </p:spPr>
        <p:txBody>
          <a:bodyPr wrap="none" lIns="0" tIns="0" rIns="0" bIns="0">
            <a:spAutoFit/>
          </a:bodyPr>
          <a:lstStyle>
            <a:defPPr>
              <a:defRPr lang="zh-CN"/>
            </a:defPPr>
            <a:lvl1pPr>
              <a:defRPr sz="1400" i="0">
                <a:solidFill>
                  <a:schemeClr val="accent1"/>
                </a:solidFill>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价值</a:t>
            </a:r>
          </a:p>
        </p:txBody>
      </p:sp>
      <p:sp>
        <p:nvSpPr>
          <p:cNvPr id="324" name="文本框 323"/>
          <p:cNvSpPr txBox="1"/>
          <p:nvPr/>
        </p:nvSpPr>
        <p:spPr>
          <a:xfrm>
            <a:off x="7960168" y="4841578"/>
            <a:ext cx="3844001" cy="172227"/>
          </a:xfrm>
          <a:prstGeom prst="rect">
            <a:avLst/>
          </a:prstGeom>
          <a:noFill/>
        </p:spPr>
        <p:txBody>
          <a:bodyPr wrap="none" lIns="0" tIns="0" rIns="0" bIns="0">
            <a:spAutoFit/>
          </a:bodyPr>
          <a:lstStyle>
            <a:defPPr>
              <a:defRPr lang="zh-CN"/>
            </a:defPPr>
            <a:lvl1pPr>
              <a:lnSpc>
                <a:spcPct val="120000"/>
              </a:lnSpc>
              <a:defRPr sz="1000" b="0" i="0">
                <a:effectLst/>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从技术爆发到岗位定义的全自动闭环</a:t>
            </a:r>
            <a:r>
              <a:rPr kumimoji="0" lang="en-US" altLang="zh-CN"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en-US" altLang="zh-CN"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sp>
        <p:nvSpPr>
          <p:cNvPr id="325" name="Right Arrow 287+++"/>
          <p:cNvSpPr/>
          <p:nvPr/>
        </p:nvSpPr>
        <p:spPr>
          <a:xfrm rot="5400000">
            <a:off x="5618614" y="5808798"/>
            <a:ext cx="1037381" cy="231085"/>
          </a:xfrm>
          <a:prstGeom prst="rightArrow">
            <a:avLst>
              <a:gd name="adj1" fmla="val 50000"/>
              <a:gd name="adj2" fmla="val 876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26" name="TextBox 289+++"/>
          <p:cNvSpPr txBox="1"/>
          <p:nvPr/>
        </p:nvSpPr>
        <p:spPr>
          <a:xfrm>
            <a:off x="6585490" y="5520852"/>
            <a:ext cx="939360" cy="369332"/>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0.92</a:t>
            </a:r>
            <a:endParaRPr kumimoji="0" lang="zh-CN" altLang="en-US" sz="24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327" name="TextBox 291+++"/>
          <p:cNvSpPr txBox="1"/>
          <p:nvPr/>
        </p:nvSpPr>
        <p:spPr>
          <a:xfrm>
            <a:off x="6606329" y="5933896"/>
            <a:ext cx="897682"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信任分</a:t>
            </a:r>
          </a:p>
        </p:txBody>
      </p:sp>
      <p:sp>
        <p:nvSpPr>
          <p:cNvPr id="328" name="文本框 327"/>
          <p:cNvSpPr txBox="1"/>
          <p:nvPr/>
        </p:nvSpPr>
        <p:spPr>
          <a:xfrm>
            <a:off x="7966518" y="1961303"/>
            <a:ext cx="2055050" cy="172227"/>
          </a:xfrm>
          <a:prstGeom prst="rect">
            <a:avLst/>
          </a:prstGeom>
          <a:noFill/>
        </p:spPr>
        <p:txBody>
          <a:bodyPr wrap="none" lIns="0" tIns="0" rIns="0" bIns="0">
            <a:spAutoFit/>
          </a:bodyPr>
          <a:lstStyle/>
          <a:p>
            <a:pPr marL="107950" marR="0" lvl="0" indent="-107950" algn="l" defTabSz="914400" rtl="0" eaLnBrk="1" fontAlgn="auto" latinLnBrk="0" hangingPunct="1">
              <a:lnSpc>
                <a:spcPct val="120000"/>
              </a:lnSpc>
              <a:spcBef>
                <a:spcPts val="0"/>
              </a:spcBef>
              <a:spcAft>
                <a:spcPts val="0"/>
              </a:spcAft>
              <a:buClrTx/>
              <a:buSzTx/>
              <a:buFont typeface="+mj-lt"/>
              <a:buAutoNum type="arabicPeriod"/>
              <a:defRPr/>
            </a:pPr>
            <a:r>
              <a:rPr kumimoji="0" lang="en-US" altLang="zh-CN" sz="1000" b="0" i="0" u="none" strike="noStrike" kern="1200" cap="none" spc="0" normalizeH="0" baseline="0" noProof="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新增技能经四重门禁校验</a:t>
            </a:r>
            <a:r>
              <a:rPr kumimoji="0" lang="zh-CN" altLang="en-US" sz="1000" b="0" i="0" u="none" strike="noStrike" kern="1200" cap="none" spc="0" normalizeH="0" baseline="0" noProof="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en-US" altLang="zh-CN" sz="1000" b="0" i="0" u="none" strike="noStrike" kern="1200" cap="none" spc="0" normalizeH="0" baseline="0" noProof="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endPar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29" name="文本框 328"/>
          <p:cNvSpPr txBox="1"/>
          <p:nvPr/>
        </p:nvSpPr>
        <p:spPr>
          <a:xfrm>
            <a:off x="7966518" y="2205373"/>
            <a:ext cx="2991203" cy="172227"/>
          </a:xfrm>
          <a:prstGeom prst="rect">
            <a:avLst/>
          </a:prstGeom>
          <a:noFill/>
        </p:spPr>
        <p:txBody>
          <a:bodyPr wrap="none" lIns="0" tIns="0" rIns="0" bIns="0">
            <a:spAutoFit/>
          </a:bodyPr>
          <a:lstStyle/>
          <a:p>
            <a:pPr marL="107950" marR="0" lvl="0" indent="-107950" algn="l" defTabSz="914400" rtl="0" eaLnBrk="1" fontAlgn="auto" latinLnBrk="0" hangingPunct="1">
              <a:lnSpc>
                <a:spcPct val="120000"/>
              </a:lnSpc>
              <a:spcBef>
                <a:spcPts val="0"/>
              </a:spcBef>
              <a:spcAft>
                <a:spcPts val="0"/>
              </a:spcAft>
              <a:buClrTx/>
              <a:buSzTx/>
              <a:buFont typeface="+mj-lt"/>
              <a:buAutoNum type="arabicPeriod" startAt="2"/>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LLM 交叉验证 + 技能词典双重校验</a:t>
            </a:r>
            <a:r>
              <a:rPr kumimoji="0" lang="en-US" altLang="zh-CN"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sp>
        <p:nvSpPr>
          <p:cNvPr id="330" name="文本框 329"/>
          <p:cNvSpPr txBox="1"/>
          <p:nvPr/>
        </p:nvSpPr>
        <p:spPr>
          <a:xfrm>
            <a:off x="7966518" y="2449442"/>
            <a:ext cx="1519647" cy="172227"/>
          </a:xfrm>
          <a:prstGeom prst="rect">
            <a:avLst/>
          </a:prstGeom>
          <a:noFill/>
        </p:spPr>
        <p:txBody>
          <a:bodyPr wrap="none" lIns="0" tIns="0" rIns="0" bIns="0">
            <a:spAutoFit/>
          </a:bodyPr>
          <a:lstStyle/>
          <a:p>
            <a:pPr marL="107950" marR="0" lvl="0" indent="-107950" algn="l" defTabSz="914400" rtl="0" eaLnBrk="1" fontAlgn="auto" latinLnBrk="0" hangingPunct="1">
              <a:lnSpc>
                <a:spcPct val="120000"/>
              </a:lnSpc>
              <a:spcBef>
                <a:spcPts val="0"/>
              </a:spcBef>
              <a:spcAft>
                <a:spcPts val="0"/>
              </a:spcAft>
              <a:buClrTx/>
              <a:buSzTx/>
              <a:buFont typeface="+mj-lt"/>
              <a:buAutoNum type="arabicPeriod" startAt="3"/>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杜绝幻觉入图</a:t>
            </a:r>
          </a:p>
        </p:txBody>
      </p:sp>
      <p:sp>
        <p:nvSpPr>
          <p:cNvPr id="335" name="文本框 334"/>
          <p:cNvSpPr txBox="1"/>
          <p:nvPr/>
        </p:nvSpPr>
        <p:spPr>
          <a:xfrm>
            <a:off x="7960168" y="6049279"/>
            <a:ext cx="4088397" cy="356893"/>
          </a:xfrm>
          <a:prstGeom prst="rect">
            <a:avLst/>
          </a:prstGeom>
          <a:noFill/>
        </p:spPr>
        <p:txBody>
          <a:bodyPr wrap="square" lIns="0" tIns="0" rIns="0" bIns="0">
            <a:spAutoFit/>
          </a:bodyPr>
          <a:lstStyle>
            <a:defPPr>
              <a:defRPr lang="zh-CN"/>
            </a:defPPr>
            <a:lvl1pPr>
              <a:lnSpc>
                <a:spcPct val="120000"/>
              </a:lnSpc>
              <a:defRPr sz="1000" b="0" i="0">
                <a:effectLst/>
                <a:latin typeface="+mn-ea"/>
              </a:defRPr>
            </a:lvl1p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ratio=1.0 的候选岗位已具备完整技能画像</a:t>
            </a:r>
            <a:endParaRPr kumimoji="0" lang="en-US" altLang="zh-CN"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自动生成岗位定义与能力模型</a:t>
            </a:r>
          </a:p>
        </p:txBody>
      </p:sp>
      <p:sp>
        <p:nvSpPr>
          <p:cNvPr id="344" name="图形 342"/>
          <p:cNvSpPr>
            <a:spLocks noChangeAspect="1"/>
          </p:cNvSpPr>
          <p:nvPr/>
        </p:nvSpPr>
        <p:spPr>
          <a:xfrm>
            <a:off x="7971108" y="4565834"/>
            <a:ext cx="252000" cy="251906"/>
          </a:xfrm>
          <a:custGeom>
            <a:avLst/>
            <a:gdLst>
              <a:gd name="connsiteX0" fmla="*/ 967083 w 1899717"/>
              <a:gd name="connsiteY0" fmla="*/ 0 h 1899012"/>
              <a:gd name="connsiteX1" fmla="*/ 949530 w 1899717"/>
              <a:gd name="connsiteY1" fmla="*/ 0 h 1899012"/>
              <a:gd name="connsiteX2" fmla="*/ 160 w 1899717"/>
              <a:gd name="connsiteY2" fmla="*/ 931953 h 1899012"/>
              <a:gd name="connsiteX3" fmla="*/ 932657 w 1899717"/>
              <a:gd name="connsiteY3" fmla="*/ 1899013 h 1899012"/>
              <a:gd name="connsiteX4" fmla="*/ 950346 w 1899717"/>
              <a:gd name="connsiteY4" fmla="*/ 1899013 h 1899012"/>
              <a:gd name="connsiteX5" fmla="*/ 1899581 w 1899717"/>
              <a:gd name="connsiteY5" fmla="*/ 966788 h 1899012"/>
              <a:gd name="connsiteX6" fmla="*/ 967083 w 1899717"/>
              <a:gd name="connsiteY6" fmla="*/ 0 h 1899012"/>
              <a:gd name="connsiteX7" fmla="*/ 1494496 w 1899717"/>
              <a:gd name="connsiteY7" fmla="*/ 728799 h 1899012"/>
              <a:gd name="connsiteX8" fmla="*/ 879589 w 1899717"/>
              <a:gd name="connsiteY8" fmla="*/ 1361803 h 1899012"/>
              <a:gd name="connsiteX9" fmla="*/ 841217 w 1899717"/>
              <a:gd name="connsiteY9" fmla="*/ 1376907 h 1899012"/>
              <a:gd name="connsiteX10" fmla="*/ 801076 w 1899717"/>
              <a:gd name="connsiteY10" fmla="*/ 1360306 h 1899012"/>
              <a:gd name="connsiteX11" fmla="*/ 492466 w 1899717"/>
              <a:gd name="connsiteY11" fmla="*/ 986926 h 1899012"/>
              <a:gd name="connsiteX12" fmla="*/ 492466 w 1899717"/>
              <a:gd name="connsiteY12" fmla="*/ 883648 h 1899012"/>
              <a:gd name="connsiteX13" fmla="*/ 599282 w 1899717"/>
              <a:gd name="connsiteY13" fmla="*/ 883648 h 1899012"/>
              <a:gd name="connsiteX14" fmla="*/ 842442 w 1899717"/>
              <a:gd name="connsiteY14" fmla="*/ 1194843 h 1899012"/>
              <a:gd name="connsiteX15" fmla="*/ 1387544 w 1899717"/>
              <a:gd name="connsiteY15" fmla="*/ 625520 h 1899012"/>
              <a:gd name="connsiteX16" fmla="*/ 1494632 w 1899717"/>
              <a:gd name="connsiteY16" fmla="*/ 625520 h 1899012"/>
              <a:gd name="connsiteX17" fmla="*/ 1494632 w 1899717"/>
              <a:gd name="connsiteY17" fmla="*/ 728935 h 189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99717" h="1899012">
                <a:moveTo>
                  <a:pt x="967083" y="0"/>
                </a:moveTo>
                <a:lnTo>
                  <a:pt x="949530" y="0"/>
                </a:lnTo>
                <a:cubicBezTo>
                  <a:pt x="435452" y="-136"/>
                  <a:pt x="9685" y="418011"/>
                  <a:pt x="160" y="931953"/>
                </a:cubicBezTo>
                <a:cubicBezTo>
                  <a:pt x="-9365" y="1455828"/>
                  <a:pt x="408918" y="1889352"/>
                  <a:pt x="932657" y="1899013"/>
                </a:cubicBezTo>
                <a:lnTo>
                  <a:pt x="950346" y="1899013"/>
                </a:lnTo>
                <a:cubicBezTo>
                  <a:pt x="1464152" y="1899013"/>
                  <a:pt x="1890192" y="1480729"/>
                  <a:pt x="1899581" y="966788"/>
                </a:cubicBezTo>
                <a:cubicBezTo>
                  <a:pt x="1908380" y="442578"/>
                  <a:pt x="1491269" y="10128"/>
                  <a:pt x="967083" y="0"/>
                </a:cubicBezTo>
                <a:close/>
                <a:moveTo>
                  <a:pt x="1494496" y="728799"/>
                </a:moveTo>
                <a:lnTo>
                  <a:pt x="879589" y="1361803"/>
                </a:lnTo>
                <a:cubicBezTo>
                  <a:pt x="869145" y="1371472"/>
                  <a:pt x="855449" y="1376863"/>
                  <a:pt x="841217" y="1376907"/>
                </a:cubicBezTo>
                <a:cubicBezTo>
                  <a:pt x="825297" y="1380989"/>
                  <a:pt x="811690" y="1370920"/>
                  <a:pt x="801076" y="1360306"/>
                </a:cubicBezTo>
                <a:lnTo>
                  <a:pt x="492466" y="986926"/>
                </a:lnTo>
                <a:cubicBezTo>
                  <a:pt x="471103" y="965155"/>
                  <a:pt x="470286" y="904195"/>
                  <a:pt x="492466" y="883648"/>
                </a:cubicBezTo>
                <a:cubicBezTo>
                  <a:pt x="514373" y="862829"/>
                  <a:pt x="578191" y="861877"/>
                  <a:pt x="599282" y="883648"/>
                </a:cubicBezTo>
                <a:lnTo>
                  <a:pt x="842442" y="1194843"/>
                </a:lnTo>
                <a:lnTo>
                  <a:pt x="1387544" y="625520"/>
                </a:lnTo>
                <a:cubicBezTo>
                  <a:pt x="1409723" y="604974"/>
                  <a:pt x="1473133" y="604157"/>
                  <a:pt x="1494632" y="625520"/>
                </a:cubicBezTo>
                <a:cubicBezTo>
                  <a:pt x="1515723" y="647020"/>
                  <a:pt x="1516676" y="708252"/>
                  <a:pt x="1494632" y="728935"/>
                </a:cubicBezTo>
                <a:close/>
              </a:path>
            </a:pathLst>
          </a:custGeom>
          <a:solidFill>
            <a:schemeClr val="accent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45" name="图形 342+"/>
          <p:cNvSpPr>
            <a:spLocks noChangeAspect="1"/>
          </p:cNvSpPr>
          <p:nvPr/>
        </p:nvSpPr>
        <p:spPr>
          <a:xfrm>
            <a:off x="7971108" y="3448177"/>
            <a:ext cx="252000" cy="251906"/>
          </a:xfrm>
          <a:custGeom>
            <a:avLst/>
            <a:gdLst>
              <a:gd name="connsiteX0" fmla="*/ 967083 w 1899717"/>
              <a:gd name="connsiteY0" fmla="*/ 0 h 1899012"/>
              <a:gd name="connsiteX1" fmla="*/ 949530 w 1899717"/>
              <a:gd name="connsiteY1" fmla="*/ 0 h 1899012"/>
              <a:gd name="connsiteX2" fmla="*/ 160 w 1899717"/>
              <a:gd name="connsiteY2" fmla="*/ 931953 h 1899012"/>
              <a:gd name="connsiteX3" fmla="*/ 932657 w 1899717"/>
              <a:gd name="connsiteY3" fmla="*/ 1899013 h 1899012"/>
              <a:gd name="connsiteX4" fmla="*/ 950346 w 1899717"/>
              <a:gd name="connsiteY4" fmla="*/ 1899013 h 1899012"/>
              <a:gd name="connsiteX5" fmla="*/ 1899581 w 1899717"/>
              <a:gd name="connsiteY5" fmla="*/ 966788 h 1899012"/>
              <a:gd name="connsiteX6" fmla="*/ 967083 w 1899717"/>
              <a:gd name="connsiteY6" fmla="*/ 0 h 1899012"/>
              <a:gd name="connsiteX7" fmla="*/ 1494496 w 1899717"/>
              <a:gd name="connsiteY7" fmla="*/ 728799 h 1899012"/>
              <a:gd name="connsiteX8" fmla="*/ 879589 w 1899717"/>
              <a:gd name="connsiteY8" fmla="*/ 1361803 h 1899012"/>
              <a:gd name="connsiteX9" fmla="*/ 841217 w 1899717"/>
              <a:gd name="connsiteY9" fmla="*/ 1376907 h 1899012"/>
              <a:gd name="connsiteX10" fmla="*/ 801076 w 1899717"/>
              <a:gd name="connsiteY10" fmla="*/ 1360306 h 1899012"/>
              <a:gd name="connsiteX11" fmla="*/ 492466 w 1899717"/>
              <a:gd name="connsiteY11" fmla="*/ 986926 h 1899012"/>
              <a:gd name="connsiteX12" fmla="*/ 492466 w 1899717"/>
              <a:gd name="connsiteY12" fmla="*/ 883648 h 1899012"/>
              <a:gd name="connsiteX13" fmla="*/ 599282 w 1899717"/>
              <a:gd name="connsiteY13" fmla="*/ 883648 h 1899012"/>
              <a:gd name="connsiteX14" fmla="*/ 842442 w 1899717"/>
              <a:gd name="connsiteY14" fmla="*/ 1194843 h 1899012"/>
              <a:gd name="connsiteX15" fmla="*/ 1387544 w 1899717"/>
              <a:gd name="connsiteY15" fmla="*/ 625520 h 1899012"/>
              <a:gd name="connsiteX16" fmla="*/ 1494632 w 1899717"/>
              <a:gd name="connsiteY16" fmla="*/ 625520 h 1899012"/>
              <a:gd name="connsiteX17" fmla="*/ 1494632 w 1899717"/>
              <a:gd name="connsiteY17" fmla="*/ 728935 h 189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99717" h="1899012">
                <a:moveTo>
                  <a:pt x="967083" y="0"/>
                </a:moveTo>
                <a:lnTo>
                  <a:pt x="949530" y="0"/>
                </a:lnTo>
                <a:cubicBezTo>
                  <a:pt x="435452" y="-136"/>
                  <a:pt x="9685" y="418011"/>
                  <a:pt x="160" y="931953"/>
                </a:cubicBezTo>
                <a:cubicBezTo>
                  <a:pt x="-9365" y="1455828"/>
                  <a:pt x="408918" y="1889352"/>
                  <a:pt x="932657" y="1899013"/>
                </a:cubicBezTo>
                <a:lnTo>
                  <a:pt x="950346" y="1899013"/>
                </a:lnTo>
                <a:cubicBezTo>
                  <a:pt x="1464152" y="1899013"/>
                  <a:pt x="1890192" y="1480729"/>
                  <a:pt x="1899581" y="966788"/>
                </a:cubicBezTo>
                <a:cubicBezTo>
                  <a:pt x="1908380" y="442578"/>
                  <a:pt x="1491269" y="10128"/>
                  <a:pt x="967083" y="0"/>
                </a:cubicBezTo>
                <a:close/>
                <a:moveTo>
                  <a:pt x="1494496" y="728799"/>
                </a:moveTo>
                <a:lnTo>
                  <a:pt x="879589" y="1361803"/>
                </a:lnTo>
                <a:cubicBezTo>
                  <a:pt x="869145" y="1371472"/>
                  <a:pt x="855449" y="1376863"/>
                  <a:pt x="841217" y="1376907"/>
                </a:cubicBezTo>
                <a:cubicBezTo>
                  <a:pt x="825297" y="1380989"/>
                  <a:pt x="811690" y="1370920"/>
                  <a:pt x="801076" y="1360306"/>
                </a:cubicBezTo>
                <a:lnTo>
                  <a:pt x="492466" y="986926"/>
                </a:lnTo>
                <a:cubicBezTo>
                  <a:pt x="471103" y="965155"/>
                  <a:pt x="470286" y="904195"/>
                  <a:pt x="492466" y="883648"/>
                </a:cubicBezTo>
                <a:cubicBezTo>
                  <a:pt x="514373" y="862829"/>
                  <a:pt x="578191" y="861877"/>
                  <a:pt x="599282" y="883648"/>
                </a:cubicBezTo>
                <a:lnTo>
                  <a:pt x="842442" y="1194843"/>
                </a:lnTo>
                <a:lnTo>
                  <a:pt x="1387544" y="625520"/>
                </a:lnTo>
                <a:cubicBezTo>
                  <a:pt x="1409723" y="604974"/>
                  <a:pt x="1473133" y="604157"/>
                  <a:pt x="1494632" y="625520"/>
                </a:cubicBezTo>
                <a:cubicBezTo>
                  <a:pt x="1515723" y="647020"/>
                  <a:pt x="1516676" y="708252"/>
                  <a:pt x="1494632" y="728935"/>
                </a:cubicBezTo>
                <a:close/>
              </a:path>
            </a:pathLst>
          </a:custGeom>
          <a:solidFill>
            <a:schemeClr val="accent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48" name="图形 346"/>
          <p:cNvSpPr>
            <a:spLocks noChangeAspect="1"/>
          </p:cNvSpPr>
          <p:nvPr/>
        </p:nvSpPr>
        <p:spPr>
          <a:xfrm>
            <a:off x="7953042" y="2909527"/>
            <a:ext cx="252000" cy="252000"/>
          </a:xfrm>
          <a:custGeom>
            <a:avLst/>
            <a:gdLst>
              <a:gd name="connsiteX0" fmla="*/ 110250 w 220500"/>
              <a:gd name="connsiteY0" fmla="*/ 0 h 220500"/>
              <a:gd name="connsiteX1" fmla="*/ 0 w 220500"/>
              <a:gd name="connsiteY1" fmla="*/ 110250 h 220500"/>
              <a:gd name="connsiteX2" fmla="*/ 110250 w 220500"/>
              <a:gd name="connsiteY2" fmla="*/ 220500 h 220500"/>
              <a:gd name="connsiteX3" fmla="*/ 220500 w 220500"/>
              <a:gd name="connsiteY3" fmla="*/ 110250 h 220500"/>
              <a:gd name="connsiteX4" fmla="*/ 110250 w 220500"/>
              <a:gd name="connsiteY4" fmla="*/ 0 h 220500"/>
              <a:gd name="connsiteX5" fmla="*/ 168919 w 220500"/>
              <a:gd name="connsiteY5" fmla="*/ 157894 h 220500"/>
              <a:gd name="connsiteX6" fmla="*/ 157697 w 220500"/>
              <a:gd name="connsiteY6" fmla="*/ 169116 h 220500"/>
              <a:gd name="connsiteX7" fmla="*/ 110250 w 220500"/>
              <a:gd name="connsiteY7" fmla="*/ 121472 h 220500"/>
              <a:gd name="connsiteX8" fmla="*/ 62606 w 220500"/>
              <a:gd name="connsiteY8" fmla="*/ 168919 h 220500"/>
              <a:gd name="connsiteX9" fmla="*/ 51384 w 220500"/>
              <a:gd name="connsiteY9" fmla="*/ 157697 h 220500"/>
              <a:gd name="connsiteX10" fmla="*/ 99225 w 220500"/>
              <a:gd name="connsiteY10" fmla="*/ 110250 h 220500"/>
              <a:gd name="connsiteX11" fmla="*/ 51581 w 220500"/>
              <a:gd name="connsiteY11" fmla="*/ 62606 h 220500"/>
              <a:gd name="connsiteX12" fmla="*/ 62803 w 220500"/>
              <a:gd name="connsiteY12" fmla="*/ 51384 h 220500"/>
              <a:gd name="connsiteX13" fmla="*/ 110250 w 220500"/>
              <a:gd name="connsiteY13" fmla="*/ 99225 h 220500"/>
              <a:gd name="connsiteX14" fmla="*/ 157894 w 220500"/>
              <a:gd name="connsiteY14" fmla="*/ 51581 h 220500"/>
              <a:gd name="connsiteX15" fmla="*/ 169116 w 220500"/>
              <a:gd name="connsiteY15" fmla="*/ 62803 h 220500"/>
              <a:gd name="connsiteX16" fmla="*/ 121472 w 220500"/>
              <a:gd name="connsiteY16" fmla="*/ 110250 h 220500"/>
              <a:gd name="connsiteX17" fmla="*/ 168919 w 220500"/>
              <a:gd name="connsiteY17" fmla="*/ 157894 h 22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0500" h="220500">
                <a:moveTo>
                  <a:pt x="110250" y="0"/>
                </a:moveTo>
                <a:cubicBezTo>
                  <a:pt x="49416" y="0"/>
                  <a:pt x="0" y="49416"/>
                  <a:pt x="0" y="110250"/>
                </a:cubicBezTo>
                <a:cubicBezTo>
                  <a:pt x="0" y="171084"/>
                  <a:pt x="49416" y="220500"/>
                  <a:pt x="110250" y="220500"/>
                </a:cubicBezTo>
                <a:cubicBezTo>
                  <a:pt x="171084" y="220500"/>
                  <a:pt x="220500" y="171084"/>
                  <a:pt x="220500" y="110250"/>
                </a:cubicBezTo>
                <a:cubicBezTo>
                  <a:pt x="220500" y="49416"/>
                  <a:pt x="171084" y="0"/>
                  <a:pt x="110250" y="0"/>
                </a:cubicBezTo>
                <a:close/>
                <a:moveTo>
                  <a:pt x="168919" y="157894"/>
                </a:moveTo>
                <a:lnTo>
                  <a:pt x="157697" y="169116"/>
                </a:lnTo>
                <a:lnTo>
                  <a:pt x="110250" y="121472"/>
                </a:lnTo>
                <a:lnTo>
                  <a:pt x="62606" y="168919"/>
                </a:lnTo>
                <a:lnTo>
                  <a:pt x="51384" y="157697"/>
                </a:lnTo>
                <a:lnTo>
                  <a:pt x="99225" y="110250"/>
                </a:lnTo>
                <a:lnTo>
                  <a:pt x="51581" y="62606"/>
                </a:lnTo>
                <a:lnTo>
                  <a:pt x="62803" y="51384"/>
                </a:lnTo>
                <a:lnTo>
                  <a:pt x="110250" y="99225"/>
                </a:lnTo>
                <a:lnTo>
                  <a:pt x="157894" y="51581"/>
                </a:lnTo>
                <a:lnTo>
                  <a:pt x="169116" y="62803"/>
                </a:lnTo>
                <a:lnTo>
                  <a:pt x="121472" y="110250"/>
                </a:lnTo>
                <a:lnTo>
                  <a:pt x="168919" y="157894"/>
                </a:lnTo>
                <a:close/>
              </a:path>
            </a:pathLst>
          </a:custGeom>
          <a:solidFill>
            <a:schemeClr val="accent2"/>
          </a:solidFill>
          <a:ln w="2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49" name="图形 346+"/>
          <p:cNvSpPr>
            <a:spLocks noChangeAspect="1"/>
          </p:cNvSpPr>
          <p:nvPr/>
        </p:nvSpPr>
        <p:spPr>
          <a:xfrm>
            <a:off x="7953042" y="4036368"/>
            <a:ext cx="252000" cy="252000"/>
          </a:xfrm>
          <a:custGeom>
            <a:avLst/>
            <a:gdLst>
              <a:gd name="connsiteX0" fmla="*/ 110250 w 220500"/>
              <a:gd name="connsiteY0" fmla="*/ 0 h 220500"/>
              <a:gd name="connsiteX1" fmla="*/ 0 w 220500"/>
              <a:gd name="connsiteY1" fmla="*/ 110250 h 220500"/>
              <a:gd name="connsiteX2" fmla="*/ 110250 w 220500"/>
              <a:gd name="connsiteY2" fmla="*/ 220500 h 220500"/>
              <a:gd name="connsiteX3" fmla="*/ 220500 w 220500"/>
              <a:gd name="connsiteY3" fmla="*/ 110250 h 220500"/>
              <a:gd name="connsiteX4" fmla="*/ 110250 w 220500"/>
              <a:gd name="connsiteY4" fmla="*/ 0 h 220500"/>
              <a:gd name="connsiteX5" fmla="*/ 168919 w 220500"/>
              <a:gd name="connsiteY5" fmla="*/ 157894 h 220500"/>
              <a:gd name="connsiteX6" fmla="*/ 157697 w 220500"/>
              <a:gd name="connsiteY6" fmla="*/ 169116 h 220500"/>
              <a:gd name="connsiteX7" fmla="*/ 110250 w 220500"/>
              <a:gd name="connsiteY7" fmla="*/ 121472 h 220500"/>
              <a:gd name="connsiteX8" fmla="*/ 62606 w 220500"/>
              <a:gd name="connsiteY8" fmla="*/ 168919 h 220500"/>
              <a:gd name="connsiteX9" fmla="*/ 51384 w 220500"/>
              <a:gd name="connsiteY9" fmla="*/ 157697 h 220500"/>
              <a:gd name="connsiteX10" fmla="*/ 99225 w 220500"/>
              <a:gd name="connsiteY10" fmla="*/ 110250 h 220500"/>
              <a:gd name="connsiteX11" fmla="*/ 51581 w 220500"/>
              <a:gd name="connsiteY11" fmla="*/ 62606 h 220500"/>
              <a:gd name="connsiteX12" fmla="*/ 62803 w 220500"/>
              <a:gd name="connsiteY12" fmla="*/ 51384 h 220500"/>
              <a:gd name="connsiteX13" fmla="*/ 110250 w 220500"/>
              <a:gd name="connsiteY13" fmla="*/ 99225 h 220500"/>
              <a:gd name="connsiteX14" fmla="*/ 157894 w 220500"/>
              <a:gd name="connsiteY14" fmla="*/ 51581 h 220500"/>
              <a:gd name="connsiteX15" fmla="*/ 169116 w 220500"/>
              <a:gd name="connsiteY15" fmla="*/ 62803 h 220500"/>
              <a:gd name="connsiteX16" fmla="*/ 121472 w 220500"/>
              <a:gd name="connsiteY16" fmla="*/ 110250 h 220500"/>
              <a:gd name="connsiteX17" fmla="*/ 168919 w 220500"/>
              <a:gd name="connsiteY17" fmla="*/ 157894 h 22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0500" h="220500">
                <a:moveTo>
                  <a:pt x="110250" y="0"/>
                </a:moveTo>
                <a:cubicBezTo>
                  <a:pt x="49416" y="0"/>
                  <a:pt x="0" y="49416"/>
                  <a:pt x="0" y="110250"/>
                </a:cubicBezTo>
                <a:cubicBezTo>
                  <a:pt x="0" y="171084"/>
                  <a:pt x="49416" y="220500"/>
                  <a:pt x="110250" y="220500"/>
                </a:cubicBezTo>
                <a:cubicBezTo>
                  <a:pt x="171084" y="220500"/>
                  <a:pt x="220500" y="171084"/>
                  <a:pt x="220500" y="110250"/>
                </a:cubicBezTo>
                <a:cubicBezTo>
                  <a:pt x="220500" y="49416"/>
                  <a:pt x="171084" y="0"/>
                  <a:pt x="110250" y="0"/>
                </a:cubicBezTo>
                <a:close/>
                <a:moveTo>
                  <a:pt x="168919" y="157894"/>
                </a:moveTo>
                <a:lnTo>
                  <a:pt x="157697" y="169116"/>
                </a:lnTo>
                <a:lnTo>
                  <a:pt x="110250" y="121472"/>
                </a:lnTo>
                <a:lnTo>
                  <a:pt x="62606" y="168919"/>
                </a:lnTo>
                <a:lnTo>
                  <a:pt x="51384" y="157697"/>
                </a:lnTo>
                <a:lnTo>
                  <a:pt x="99225" y="110250"/>
                </a:lnTo>
                <a:lnTo>
                  <a:pt x="51581" y="62606"/>
                </a:lnTo>
                <a:lnTo>
                  <a:pt x="62803" y="51384"/>
                </a:lnTo>
                <a:lnTo>
                  <a:pt x="110250" y="99225"/>
                </a:lnTo>
                <a:lnTo>
                  <a:pt x="157894" y="51581"/>
                </a:lnTo>
                <a:lnTo>
                  <a:pt x="169116" y="62803"/>
                </a:lnTo>
                <a:lnTo>
                  <a:pt x="121472" y="110250"/>
                </a:lnTo>
                <a:lnTo>
                  <a:pt x="168919" y="157894"/>
                </a:lnTo>
                <a:close/>
              </a:path>
            </a:pathLst>
          </a:custGeom>
          <a:solidFill>
            <a:schemeClr val="accent2"/>
          </a:solidFill>
          <a:ln w="2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aphicFrame>
        <p:nvGraphicFramePr>
          <p:cNvPr id="350" name="Chart 349"/>
          <p:cNvGraphicFramePr>
            <a:graphicFrameLocks noGrp="1"/>
          </p:cNvGraphicFramePr>
          <p:nvPr/>
        </p:nvGraphicFramePr>
        <p:xfrm>
          <a:off x="7865015" y="5191299"/>
          <a:ext cx="3200000" cy="1400000"/>
        </p:xfrm>
        <a:graphic>
          <a:graphicData uri="http://schemas.openxmlformats.org/drawingml/2006/chart">
            <c:chart xmlns:c="http://schemas.openxmlformats.org/drawingml/2006/chart" r:id="rId3"/>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核心功能②：既有岗位能力动态更新</a:t>
            </a:r>
          </a:p>
        </p:txBody>
      </p:sp>
      <p:sp>
        <p:nvSpPr>
          <p:cNvPr id="20" name="任意多边形: 形状 19"/>
          <p:cNvSpPr/>
          <p:nvPr/>
        </p:nvSpPr>
        <p:spPr>
          <a:xfrm rot="5400000" flipH="1">
            <a:off x="2956717" y="1218157"/>
            <a:ext cx="6120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任意多边形: 形状 20"/>
          <p:cNvSpPr/>
          <p:nvPr/>
        </p:nvSpPr>
        <p:spPr>
          <a:xfrm rot="5400000">
            <a:off x="3262716" y="616224"/>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5400000">
            <a:off x="2956717" y="3482569"/>
            <a:ext cx="612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任意多边形: 形状 18"/>
          <p:cNvSpPr/>
          <p:nvPr/>
        </p:nvSpPr>
        <p:spPr>
          <a:xfrm rot="5400000" flipH="1">
            <a:off x="3262715" y="3503779"/>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文本框 21"/>
          <p:cNvSpPr txBox="1"/>
          <p:nvPr/>
        </p:nvSpPr>
        <p:spPr>
          <a:xfrm>
            <a:off x="3008680" y="1574189"/>
            <a:ext cx="551815" cy="1617306"/>
          </a:xfrm>
          <a:prstGeom prst="rect">
            <a:avLst/>
          </a:prstGeom>
          <a:noFill/>
        </p:spPr>
        <p:txBody>
          <a:bodyPr vert="eaVert"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能力更新</a:t>
            </a:r>
          </a:p>
        </p:txBody>
      </p:sp>
      <p:grpSp>
        <p:nvGrpSpPr>
          <p:cNvPr id="6" name="组合 5"/>
          <p:cNvGrpSpPr/>
          <p:nvPr/>
        </p:nvGrpSpPr>
        <p:grpSpPr>
          <a:xfrm>
            <a:off x="241188" y="1005279"/>
            <a:ext cx="2660398" cy="5566580"/>
            <a:chOff x="1391920" y="-1127760"/>
            <a:chExt cx="2887472" cy="4978400"/>
          </a:xfrm>
        </p:grpSpPr>
        <p:sp>
          <p:nvSpPr>
            <p:cNvPr id="4" name="等腰三角形 3"/>
            <p:cNvSpPr/>
            <p:nvPr/>
          </p:nvSpPr>
          <p:spPr>
            <a:xfrm>
              <a:off x="1391920" y="1361440"/>
              <a:ext cx="2887472" cy="2489200"/>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等腰三角形 4"/>
            <p:cNvSpPr/>
            <p:nvPr/>
          </p:nvSpPr>
          <p:spPr>
            <a:xfrm flipV="1">
              <a:off x="1391920" y="-1127760"/>
              <a:ext cx="2887472" cy="24892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 name="等腰三角形 6"/>
          <p:cNvSpPr/>
          <p:nvPr/>
        </p:nvSpPr>
        <p:spPr>
          <a:xfrm>
            <a:off x="241188" y="5423938"/>
            <a:ext cx="2660398" cy="1147921"/>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任意多边形: 形状 9"/>
          <p:cNvSpPr/>
          <p:nvPr/>
        </p:nvSpPr>
        <p:spPr>
          <a:xfrm>
            <a:off x="241188" y="5423938"/>
            <a:ext cx="2660398" cy="1147921"/>
          </a:xfrm>
          <a:custGeom>
            <a:avLst/>
            <a:gdLst>
              <a:gd name="connsiteX0" fmla="*/ 2921455 w 3349564"/>
              <a:gd name="connsiteY0" fmla="*/ 886499 h 1190923"/>
              <a:gd name="connsiteX1" fmla="*/ 3349564 w 3349564"/>
              <a:gd name="connsiteY1" fmla="*/ 1190923 h 1190923"/>
              <a:gd name="connsiteX2" fmla="*/ 3124135 w 3349564"/>
              <a:gd name="connsiteY2" fmla="*/ 1190923 h 1190923"/>
              <a:gd name="connsiteX3" fmla="*/ 1674782 w 3349564"/>
              <a:gd name="connsiteY3" fmla="*/ 0 h 1190923"/>
              <a:gd name="connsiteX4" fmla="*/ 1682727 w 3349564"/>
              <a:gd name="connsiteY4" fmla="*/ 5650 h 1190923"/>
              <a:gd name="connsiteX5" fmla="*/ 893595 w 3349564"/>
              <a:gd name="connsiteY5" fmla="*/ 1190923 h 1190923"/>
              <a:gd name="connsiteX6" fmla="*/ 0 w 3349564"/>
              <a:gd name="connsiteY6" fmla="*/ 1190923 h 119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9564" h="1190923">
                <a:moveTo>
                  <a:pt x="2921455" y="886499"/>
                </a:moveTo>
                <a:lnTo>
                  <a:pt x="3349564" y="1190923"/>
                </a:lnTo>
                <a:lnTo>
                  <a:pt x="3124135" y="1190923"/>
                </a:lnTo>
                <a:close/>
                <a:moveTo>
                  <a:pt x="1674782" y="0"/>
                </a:moveTo>
                <a:lnTo>
                  <a:pt x="1682727" y="5650"/>
                </a:lnTo>
                <a:lnTo>
                  <a:pt x="893595" y="1190923"/>
                </a:lnTo>
                <a:lnTo>
                  <a:pt x="0" y="1190923"/>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任意多边形: 形状 43"/>
          <p:cNvSpPr/>
          <p:nvPr/>
        </p:nvSpPr>
        <p:spPr>
          <a:xfrm flipV="1">
            <a:off x="823820" y="1579244"/>
            <a:ext cx="1495133" cy="2209325"/>
          </a:xfrm>
          <a:custGeom>
            <a:avLst/>
            <a:gdLst>
              <a:gd name="connsiteX0" fmla="*/ 941221 w 1882442"/>
              <a:gd name="connsiteY0" fmla="*/ 2292089 h 2292089"/>
              <a:gd name="connsiteX1" fmla="*/ 1882442 w 1882442"/>
              <a:gd name="connsiteY1" fmla="*/ 1622795 h 2292089"/>
              <a:gd name="connsiteX2" fmla="*/ 1579897 w 1882442"/>
              <a:gd name="connsiteY2" fmla="*/ 1101166 h 2292089"/>
              <a:gd name="connsiteX3" fmla="*/ 941221 w 1882442"/>
              <a:gd name="connsiteY3" fmla="*/ 0 h 2292089"/>
              <a:gd name="connsiteX4" fmla="*/ 302545 w 1882442"/>
              <a:gd name="connsiteY4" fmla="*/ 1101166 h 2292089"/>
              <a:gd name="connsiteX5" fmla="*/ 0 w 1882442"/>
              <a:gd name="connsiteY5" fmla="*/ 1622795 h 22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2442" h="2292089">
                <a:moveTo>
                  <a:pt x="941221" y="2292089"/>
                </a:moveTo>
                <a:lnTo>
                  <a:pt x="1882442" y="1622795"/>
                </a:lnTo>
                <a:lnTo>
                  <a:pt x="1579897" y="1101166"/>
                </a:lnTo>
                <a:lnTo>
                  <a:pt x="941221" y="0"/>
                </a:lnTo>
                <a:lnTo>
                  <a:pt x="302545" y="1101166"/>
                </a:lnTo>
                <a:lnTo>
                  <a:pt x="0" y="1622795"/>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任意多边形: 形状 46"/>
          <p:cNvSpPr/>
          <p:nvPr/>
        </p:nvSpPr>
        <p:spPr>
          <a:xfrm flipV="1">
            <a:off x="823821" y="1579244"/>
            <a:ext cx="757541" cy="1519524"/>
          </a:xfrm>
          <a:custGeom>
            <a:avLst/>
            <a:gdLst>
              <a:gd name="connsiteX0" fmla="*/ 941221 w 953779"/>
              <a:gd name="connsiteY0" fmla="*/ 1576447 h 1576447"/>
              <a:gd name="connsiteX1" fmla="*/ 953779 w 953779"/>
              <a:gd name="connsiteY1" fmla="*/ 1567517 h 1576447"/>
              <a:gd name="connsiteX2" fmla="*/ 811518 w 953779"/>
              <a:gd name="connsiteY2" fmla="*/ 1046048 h 1576447"/>
              <a:gd name="connsiteX3" fmla="*/ 526149 w 953779"/>
              <a:gd name="connsiteY3" fmla="*/ 0 h 1576447"/>
              <a:gd name="connsiteX4" fmla="*/ 302545 w 953779"/>
              <a:gd name="connsiteY4" fmla="*/ 385524 h 1576447"/>
              <a:gd name="connsiteX5" fmla="*/ 0 w 953779"/>
              <a:gd name="connsiteY5" fmla="*/ 907153 h 1576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3779" h="1576447">
                <a:moveTo>
                  <a:pt x="941221" y="1576447"/>
                </a:moveTo>
                <a:lnTo>
                  <a:pt x="953779" y="1567517"/>
                </a:lnTo>
                <a:lnTo>
                  <a:pt x="811518" y="1046048"/>
                </a:lnTo>
                <a:lnTo>
                  <a:pt x="526149" y="0"/>
                </a:lnTo>
                <a:lnTo>
                  <a:pt x="302545" y="385524"/>
                </a:lnTo>
                <a:lnTo>
                  <a:pt x="0" y="907153"/>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圆角 48"/>
          <p:cNvSpPr/>
          <p:nvPr/>
        </p:nvSpPr>
        <p:spPr>
          <a:xfrm>
            <a:off x="227013" y="908050"/>
            <a:ext cx="2683759" cy="74715"/>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227013" y="6594373"/>
            <a:ext cx="2683759" cy="74715"/>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任意多边形: 形状 55"/>
          <p:cNvSpPr/>
          <p:nvPr/>
        </p:nvSpPr>
        <p:spPr>
          <a:xfrm rot="5400000" flipH="1">
            <a:off x="2956717" y="4106377"/>
            <a:ext cx="6120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rot="5400000">
            <a:off x="3262716" y="3504444"/>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4" name="任意多边形: 形状 53"/>
          <p:cNvSpPr/>
          <p:nvPr/>
        </p:nvSpPr>
        <p:spPr>
          <a:xfrm rot="5400000">
            <a:off x="2956717" y="6370789"/>
            <a:ext cx="612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5" name="任意多边形: 形状 54"/>
          <p:cNvSpPr/>
          <p:nvPr/>
        </p:nvSpPr>
        <p:spPr>
          <a:xfrm rot="5400000" flipH="1">
            <a:off x="3262715" y="6391999"/>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文本框 57"/>
          <p:cNvSpPr txBox="1"/>
          <p:nvPr/>
        </p:nvSpPr>
        <p:spPr>
          <a:xfrm>
            <a:off x="3008680" y="4380592"/>
            <a:ext cx="551815" cy="1617306"/>
          </a:xfrm>
          <a:prstGeom prst="rect">
            <a:avLst/>
          </a:prstGeom>
          <a:noFill/>
        </p:spPr>
        <p:txBody>
          <a:bodyPr vert="eaVert"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演化闭环</a:t>
            </a:r>
          </a:p>
        </p:txBody>
      </p:sp>
      <p:sp>
        <p:nvSpPr>
          <p:cNvPr id="64" name="任意多边形: 形状 63"/>
          <p:cNvSpPr/>
          <p:nvPr/>
        </p:nvSpPr>
        <p:spPr>
          <a:xfrm rot="5400000" flipH="1">
            <a:off x="2218873" y="2136372"/>
            <a:ext cx="78893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rot="5400000">
            <a:off x="2218872" y="5451679"/>
            <a:ext cx="78893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2338949" y="2470414"/>
            <a:ext cx="553998" cy="26765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9D3728">
                    <a:lumMod val="75000"/>
                  </a:srgbClr>
                </a:solidFill>
                <a:effectLst/>
                <a:uLnTx/>
                <a:uFillTx/>
                <a:latin typeface="Roboto" panose="02000000000000000000" charset="0"/>
                <a:ea typeface="思源黑体 CN Normal" panose="020B0400000000000000" charset="-122"/>
                <a:cs typeface="思源黑体 CN Normal" panose="020B0400000000000000" charset="-122"/>
              </a:rPr>
              <a:t>动态更新闭环</a:t>
            </a:r>
            <a:r>
              <a:rPr kumimoji="0" lang="zh-CN" altLang="en-US" sz="2400" b="0" i="0" u="none" strike="noStrike" kern="1200" cap="none" spc="0" normalizeH="0" baseline="0" noProof="0">
                <a:ln>
                  <a:noFill/>
                </a:ln>
                <a:solidFill>
                  <a:srgbClr val="9D3728">
                    <a:lumMod val="75000"/>
                  </a:srgbClr>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67" name="矩形: 圆角 66"/>
          <p:cNvSpPr/>
          <p:nvPr/>
        </p:nvSpPr>
        <p:spPr>
          <a:xfrm>
            <a:off x="3679124" y="908050"/>
            <a:ext cx="2680363" cy="861848"/>
          </a:xfrm>
          <a:prstGeom prst="roundRect">
            <a:avLst>
              <a:gd name="adj" fmla="val 1101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矩形: 圆角 68"/>
          <p:cNvSpPr/>
          <p:nvPr/>
        </p:nvSpPr>
        <p:spPr>
          <a:xfrm>
            <a:off x="3679124"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2" name="矩形: 圆角 71"/>
          <p:cNvSpPr/>
          <p:nvPr/>
        </p:nvSpPr>
        <p:spPr>
          <a:xfrm>
            <a:off x="6475143" y="908050"/>
            <a:ext cx="2680363" cy="861848"/>
          </a:xfrm>
          <a:prstGeom prst="roundRect">
            <a:avLst>
              <a:gd name="adj" fmla="val 11018"/>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矩形: 圆角 72"/>
          <p:cNvSpPr/>
          <p:nvPr/>
        </p:nvSpPr>
        <p:spPr>
          <a:xfrm>
            <a:off x="6475143"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9284625" y="908050"/>
            <a:ext cx="2680363" cy="861848"/>
          </a:xfrm>
          <a:prstGeom prst="roundRect">
            <a:avLst>
              <a:gd name="adj" fmla="val 11018"/>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矩形: 圆角 75"/>
          <p:cNvSpPr/>
          <p:nvPr/>
        </p:nvSpPr>
        <p:spPr>
          <a:xfrm>
            <a:off x="9284625"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矩形: 圆角 85"/>
          <p:cNvSpPr/>
          <p:nvPr/>
        </p:nvSpPr>
        <p:spPr>
          <a:xfrm>
            <a:off x="3679124" y="3997414"/>
            <a:ext cx="2680363" cy="861848"/>
          </a:xfrm>
          <a:prstGeom prst="roundRect">
            <a:avLst>
              <a:gd name="adj" fmla="val 1101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矩形: 圆角 86"/>
          <p:cNvSpPr/>
          <p:nvPr/>
        </p:nvSpPr>
        <p:spPr>
          <a:xfrm>
            <a:off x="3679124"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4" name="矩形: 圆角 83"/>
          <p:cNvSpPr/>
          <p:nvPr/>
        </p:nvSpPr>
        <p:spPr>
          <a:xfrm>
            <a:off x="6475143" y="3997414"/>
            <a:ext cx="2680363" cy="861848"/>
          </a:xfrm>
          <a:prstGeom prst="roundRect">
            <a:avLst>
              <a:gd name="adj" fmla="val 11018"/>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5" name="矩形: 圆角 84"/>
          <p:cNvSpPr/>
          <p:nvPr/>
        </p:nvSpPr>
        <p:spPr>
          <a:xfrm>
            <a:off x="6475143"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2" name="矩形: 圆角 81"/>
          <p:cNvSpPr/>
          <p:nvPr/>
        </p:nvSpPr>
        <p:spPr>
          <a:xfrm>
            <a:off x="9284625" y="3997414"/>
            <a:ext cx="2680363" cy="861848"/>
          </a:xfrm>
          <a:prstGeom prst="roundRect">
            <a:avLst>
              <a:gd name="adj" fmla="val 11018"/>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3" name="矩形: 圆角 82"/>
          <p:cNvSpPr/>
          <p:nvPr/>
        </p:nvSpPr>
        <p:spPr>
          <a:xfrm>
            <a:off x="9284625"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图形43"/>
          <p:cNvSpPr/>
          <p:nvPr/>
        </p:nvSpPr>
        <p:spPr>
          <a:xfrm rot="8100000">
            <a:off x="4996515"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0" name="图形43"/>
          <p:cNvSpPr/>
          <p:nvPr/>
        </p:nvSpPr>
        <p:spPr>
          <a:xfrm rot="13500000">
            <a:off x="4895238"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1" name="图形43"/>
          <p:cNvSpPr/>
          <p:nvPr/>
        </p:nvSpPr>
        <p:spPr>
          <a:xfrm rot="5400000">
            <a:off x="4869878"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5" name="图形43"/>
          <p:cNvSpPr/>
          <p:nvPr/>
        </p:nvSpPr>
        <p:spPr>
          <a:xfrm rot="8100000">
            <a:off x="7783301"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6" name="图形43"/>
          <p:cNvSpPr/>
          <p:nvPr/>
        </p:nvSpPr>
        <p:spPr>
          <a:xfrm rot="13500000">
            <a:off x="7682024"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7" name="图形43"/>
          <p:cNvSpPr/>
          <p:nvPr/>
        </p:nvSpPr>
        <p:spPr>
          <a:xfrm rot="5400000">
            <a:off x="7656664"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9" name="图形43"/>
          <p:cNvSpPr/>
          <p:nvPr/>
        </p:nvSpPr>
        <p:spPr>
          <a:xfrm rot="8100000">
            <a:off x="10570086"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0" name="图形43"/>
          <p:cNvSpPr/>
          <p:nvPr/>
        </p:nvSpPr>
        <p:spPr>
          <a:xfrm rot="13500000">
            <a:off x="10468809"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1" name="图形433"/>
          <p:cNvSpPr/>
          <p:nvPr/>
        </p:nvSpPr>
        <p:spPr>
          <a:xfrm rot="5400000">
            <a:off x="10443449"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2" name="文本框 101"/>
          <p:cNvSpPr txBox="1"/>
          <p:nvPr/>
        </p:nvSpPr>
        <p:spPr>
          <a:xfrm>
            <a:off x="3679124"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6 类能力变更</a:t>
            </a:r>
          </a:p>
        </p:txBody>
      </p:sp>
      <p:sp>
        <p:nvSpPr>
          <p:cNvPr id="103" name="文本框 102"/>
          <p:cNvSpPr txBox="1"/>
          <p:nvPr/>
        </p:nvSpPr>
        <p:spPr>
          <a:xfrm>
            <a:off x="3894977"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新增 / 移除 / 升级 / 降级，附中文更新说明与数据源追溯；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能力变更全程留痕，可回溯、可对账。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06" name="文本框 105"/>
          <p:cNvSpPr txBox="1"/>
          <p:nvPr/>
        </p:nvSpPr>
        <p:spPr>
          <a:xfrm>
            <a:off x="6475143"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演化 KPI 实测</a:t>
            </a:r>
          </a:p>
        </p:txBody>
      </p:sp>
      <p:sp>
        <p:nvSpPr>
          <p:cNvPr id="107" name="文本框 106"/>
          <p:cNvSpPr txBox="1"/>
          <p:nvPr/>
        </p:nvSpPr>
        <p:spPr>
          <a:xfrm>
            <a:off x="6690996"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21 个涌现技能、信任均值 0.639、CII 通胀均值 102；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全部指标来自 API 真实实测。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09" name="文本框 108"/>
          <p:cNvSpPr txBox="1"/>
          <p:nvPr/>
        </p:nvSpPr>
        <p:spPr>
          <a:xfrm>
            <a:off x="9298088"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更新示例</a:t>
            </a:r>
          </a:p>
        </p:txBody>
      </p:sp>
      <p:sp>
        <p:nvSpPr>
          <p:cNvPr id="110" name="文本框 109"/>
          <p:cNvSpPr txBox="1"/>
          <p:nvPr/>
        </p:nvSpPr>
        <p:spPr>
          <a:xfrm>
            <a:off x="9513941"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「机器学习工程师」新增技能 大模型微调·RAG；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数据源可追溯，信任分 0.92。</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2" name="文本框 121"/>
          <p:cNvSpPr txBox="1"/>
          <p:nvPr/>
        </p:nvSpPr>
        <p:spPr>
          <a:xfrm>
            <a:off x="3679124"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快照对比</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3894977" y="4540128"/>
            <a:ext cx="2235195" cy="208216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按月快照比对，识别岗位能力变化，生成变更集；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新增 / 移除 / 升级 / 降级四类自动标注。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0" name="文本框 119"/>
          <p:cNvSpPr txBox="1"/>
          <p:nvPr/>
        </p:nvSpPr>
        <p:spPr>
          <a:xfrm>
            <a:off x="6475143"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信任分诊</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6690996" y="4540128"/>
            <a:ext cx="2235195" cy="186118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四因子信任评分，高可信变更自动放行；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低置信变更进入人工复核队列。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18" name="文本框 117"/>
          <p:cNvSpPr txBox="1"/>
          <p:nvPr/>
        </p:nvSpPr>
        <p:spPr>
          <a:xfrm>
            <a:off x="9298088"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审核即生效</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18"/>
          <p:cNvSpPr txBox="1"/>
          <p:nvPr/>
        </p:nvSpPr>
        <p:spPr>
          <a:xfrm>
            <a:off x="9513941" y="4540128"/>
            <a:ext cx="2235195" cy="208216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审核通过立即生效，双库对账保证一致性；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自动审核消化 90%+ 待审队列。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124" name="等腰三角形 123"/>
          <p:cNvSpPr/>
          <p:nvPr/>
        </p:nvSpPr>
        <p:spPr>
          <a:xfrm rot="20469344">
            <a:off x="1530352" y="4183169"/>
            <a:ext cx="77081" cy="12706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2913" y="2129065"/>
            <a:ext cx="6440487" cy="338636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cxnSp>
        <p:nvCxnSpPr>
          <p:cNvPr id="5" name="直接连接符 4"/>
          <p:cNvCxnSpPr/>
          <p:nvPr/>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013594" y="196403"/>
            <a:ext cx="2154436" cy="430887"/>
          </a:xfrm>
          <a:prstGeom prst="rect">
            <a:avLst/>
          </a:prstGeom>
          <a:noFill/>
        </p:spPr>
        <p:txBody>
          <a:bodyPr wrap="none" lIns="0" tIns="0" rIns="0" bIns="0" anchor="ctr">
            <a:spAutoFit/>
          </a:bodyPr>
          <a:lstStyle>
            <a:defPPr>
              <a:defRPr lang="zh-CN"/>
            </a:defPPr>
            <a:lvl1pPr>
              <a:defRPr sz="2800">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岗位全景图谱</a:t>
            </a:r>
          </a:p>
        </p:txBody>
      </p:sp>
      <p:sp>
        <p:nvSpPr>
          <p:cNvPr id="10" name="文本框 9"/>
          <p:cNvSpPr txBox="1"/>
          <p:nvPr/>
        </p:nvSpPr>
        <p:spPr>
          <a:xfrm>
            <a:off x="437926" y="196403"/>
            <a:ext cx="1436291" cy="430887"/>
          </a:xfrm>
          <a:prstGeom prst="rect">
            <a:avLst/>
          </a:prstGeom>
          <a:noFill/>
        </p:spPr>
        <p:txBody>
          <a:bodyPr wrap="none" lIns="0" tIns="0" rIns="0" bIns="0" anchor="ctr">
            <a:spAutoFit/>
          </a:bodyPr>
          <a:lstStyle>
            <a:defPPr>
              <a:defRPr lang="zh-CN"/>
            </a:defPPr>
            <a:lvl1pPr>
              <a:defRPr sz="2800">
                <a:solidFill>
                  <a:schemeClr val="accent1"/>
                </a:solidFill>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核心功能三</a:t>
            </a:r>
          </a:p>
        </p:txBody>
      </p:sp>
      <p:cxnSp>
        <p:nvCxnSpPr>
          <p:cNvPr id="11" name="直接连接符 10"/>
          <p:cNvCxnSpPr/>
          <p:nvPr/>
        </p:nvCxnSpPr>
        <p:spPr>
          <a:xfrm>
            <a:off x="1918419" y="192772"/>
            <a:ext cx="0" cy="4381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42913" y="879250"/>
            <a:ext cx="2539923" cy="10460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3" name="Rectangle 18+"/>
          <p:cNvSpPr/>
          <p:nvPr/>
        </p:nvSpPr>
        <p:spPr>
          <a:xfrm>
            <a:off x="3364997" y="879250"/>
            <a:ext cx="2539923" cy="104607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4" name="Rectangle 18++"/>
          <p:cNvSpPr/>
          <p:nvPr/>
        </p:nvSpPr>
        <p:spPr>
          <a:xfrm>
            <a:off x="6287081" y="879250"/>
            <a:ext cx="2539923" cy="10460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 name="Rectangle 18+++"/>
          <p:cNvSpPr/>
          <p:nvPr/>
        </p:nvSpPr>
        <p:spPr>
          <a:xfrm>
            <a:off x="9209165" y="879250"/>
            <a:ext cx="2539923" cy="1047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 name="文本框 15"/>
          <p:cNvSpPr txBox="1"/>
          <p:nvPr/>
        </p:nvSpPr>
        <p:spPr>
          <a:xfrm>
            <a:off x="655983" y="991995"/>
            <a:ext cx="71814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独立岗位</a:t>
            </a:r>
          </a:p>
        </p:txBody>
      </p:sp>
      <p:sp>
        <p:nvSpPr>
          <p:cNvPr id="17" name="文本框 16"/>
          <p:cNvSpPr txBox="1"/>
          <p:nvPr/>
        </p:nvSpPr>
        <p:spPr>
          <a:xfrm>
            <a:off x="655983" y="1270112"/>
            <a:ext cx="1240724"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465</a:t>
            </a:r>
            <a:endParaRPr kumimoji="0" lang="zh-CN" altLang="en-US"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18" name="组合 17"/>
          <p:cNvGrpSpPr/>
          <p:nvPr/>
        </p:nvGrpSpPr>
        <p:grpSpPr>
          <a:xfrm>
            <a:off x="655983" y="1609785"/>
            <a:ext cx="1221401" cy="215444"/>
            <a:chOff x="655983" y="1708519"/>
            <a:chExt cx="1221401" cy="215444"/>
          </a:xfrm>
        </p:grpSpPr>
        <p:sp>
          <p:nvSpPr>
            <p:cNvPr id="19" name="TextBox 23+"/>
            <p:cNvSpPr txBox="1"/>
            <p:nvPr/>
          </p:nvSpPr>
          <p:spPr>
            <a:xfrm>
              <a:off x="655983" y="1708519"/>
              <a:ext cx="359073"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图谱技能</a:t>
              </a:r>
            </a:p>
          </p:txBody>
        </p:sp>
        <p:sp>
          <p:nvSpPr>
            <p:cNvPr id="20" name="TextBox 23++"/>
            <p:cNvSpPr txBox="1"/>
            <p:nvPr/>
          </p:nvSpPr>
          <p:spPr>
            <a:xfrm>
              <a:off x="1117739" y="1708519"/>
              <a:ext cx="512961"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1275</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1" name="等腰三角形 20"/>
            <p:cNvSpPr>
              <a:spLocks noChangeAspect="1"/>
            </p:cNvSpPr>
            <p:nvPr/>
          </p:nvSpPr>
          <p:spPr>
            <a:xfrm>
              <a:off x="1733384" y="1754172"/>
              <a:ext cx="144000" cy="12413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sp>
        <p:nvSpPr>
          <p:cNvPr id="22" name="图形 31"/>
          <p:cNvSpPr/>
          <p:nvPr/>
        </p:nvSpPr>
        <p:spPr>
          <a:xfrm>
            <a:off x="2220270" y="1029731"/>
            <a:ext cx="637230" cy="686294"/>
          </a:xfrm>
          <a:custGeom>
            <a:avLst/>
            <a:gdLst>
              <a:gd name="connsiteX0" fmla="*/ 103837 w 1768814"/>
              <a:gd name="connsiteY0" fmla="*/ 211455 h 1905000"/>
              <a:gd name="connsiteX1" fmla="*/ 1456387 w 1768814"/>
              <a:gd name="connsiteY1" fmla="*/ 211455 h 1905000"/>
              <a:gd name="connsiteX2" fmla="*/ 1560209 w 1768814"/>
              <a:gd name="connsiteY2" fmla="*/ 317183 h 1905000"/>
              <a:gd name="connsiteX3" fmla="*/ 1560209 w 1768814"/>
              <a:gd name="connsiteY3" fmla="*/ 1799273 h 1905000"/>
              <a:gd name="connsiteX4" fmla="*/ 1456387 w 1768814"/>
              <a:gd name="connsiteY4" fmla="*/ 1905000 h 1905000"/>
              <a:gd name="connsiteX5" fmla="*/ 103837 w 1768814"/>
              <a:gd name="connsiteY5" fmla="*/ 1905000 h 1905000"/>
              <a:gd name="connsiteX6" fmla="*/ 14 w 1768814"/>
              <a:gd name="connsiteY6" fmla="*/ 1799273 h 1905000"/>
              <a:gd name="connsiteX7" fmla="*/ 14 w 1768814"/>
              <a:gd name="connsiteY7" fmla="*/ 317183 h 1905000"/>
              <a:gd name="connsiteX8" fmla="*/ 103837 w 1768814"/>
              <a:gd name="connsiteY8" fmla="*/ 211455 h 1905000"/>
              <a:gd name="connsiteX9" fmla="*/ 311482 w 1768814"/>
              <a:gd name="connsiteY9" fmla="*/ 1216343 h 1905000"/>
              <a:gd name="connsiteX10" fmla="*/ 311482 w 1768814"/>
              <a:gd name="connsiteY10" fmla="*/ 1533525 h 1905000"/>
              <a:gd name="connsiteX11" fmla="*/ 364822 w 1768814"/>
              <a:gd name="connsiteY11" fmla="*/ 1586865 h 1905000"/>
              <a:gd name="connsiteX12" fmla="*/ 415304 w 1768814"/>
              <a:gd name="connsiteY12" fmla="*/ 1536383 h 1905000"/>
              <a:gd name="connsiteX13" fmla="*/ 415304 w 1768814"/>
              <a:gd name="connsiteY13" fmla="*/ 1215390 h 1905000"/>
              <a:gd name="connsiteX14" fmla="*/ 363869 w 1768814"/>
              <a:gd name="connsiteY14" fmla="*/ 1163955 h 1905000"/>
              <a:gd name="connsiteX15" fmla="*/ 311482 w 1768814"/>
              <a:gd name="connsiteY15" fmla="*/ 1216343 h 1905000"/>
              <a:gd name="connsiteX16" fmla="*/ 727724 w 1768814"/>
              <a:gd name="connsiteY16" fmla="*/ 1323975 h 1905000"/>
              <a:gd name="connsiteX17" fmla="*/ 727724 w 1768814"/>
              <a:gd name="connsiteY17" fmla="*/ 1532573 h 1905000"/>
              <a:gd name="connsiteX18" fmla="*/ 782017 w 1768814"/>
              <a:gd name="connsiteY18" fmla="*/ 1586865 h 1905000"/>
              <a:gd name="connsiteX19" fmla="*/ 831547 w 1768814"/>
              <a:gd name="connsiteY19" fmla="*/ 1537335 h 1905000"/>
              <a:gd name="connsiteX20" fmla="*/ 831547 w 1768814"/>
              <a:gd name="connsiteY20" fmla="*/ 1319213 h 1905000"/>
              <a:gd name="connsiteX21" fmla="*/ 782017 w 1768814"/>
              <a:gd name="connsiteY21" fmla="*/ 1269683 h 1905000"/>
              <a:gd name="connsiteX22" fmla="*/ 727724 w 1768814"/>
              <a:gd name="connsiteY22" fmla="*/ 1323975 h 1905000"/>
              <a:gd name="connsiteX23" fmla="*/ 1143967 w 1768814"/>
              <a:gd name="connsiteY23" fmla="*/ 1006793 h 1905000"/>
              <a:gd name="connsiteX24" fmla="*/ 1143967 w 1768814"/>
              <a:gd name="connsiteY24" fmla="*/ 1531620 h 1905000"/>
              <a:gd name="connsiteX25" fmla="*/ 1200164 w 1768814"/>
              <a:gd name="connsiteY25" fmla="*/ 1587818 h 1905000"/>
              <a:gd name="connsiteX26" fmla="*/ 1247789 w 1768814"/>
              <a:gd name="connsiteY26" fmla="*/ 1540193 h 1905000"/>
              <a:gd name="connsiteX27" fmla="*/ 1247789 w 1768814"/>
              <a:gd name="connsiteY27" fmla="*/ 1002030 h 1905000"/>
              <a:gd name="connsiteX28" fmla="*/ 1198259 w 1768814"/>
              <a:gd name="connsiteY28" fmla="*/ 952500 h 1905000"/>
              <a:gd name="connsiteX29" fmla="*/ 1143967 w 1768814"/>
              <a:gd name="connsiteY29" fmla="*/ 1006793 h 1905000"/>
              <a:gd name="connsiteX30" fmla="*/ 802019 w 1768814"/>
              <a:gd name="connsiteY30" fmla="*/ 959168 h 1905000"/>
              <a:gd name="connsiteX31" fmla="*/ 1247789 w 1768814"/>
              <a:gd name="connsiteY31" fmla="*/ 690563 h 1905000"/>
              <a:gd name="connsiteX32" fmla="*/ 1264934 w 1768814"/>
              <a:gd name="connsiteY32" fmla="*/ 621983 h 1905000"/>
              <a:gd name="connsiteX33" fmla="*/ 1189687 w 1768814"/>
              <a:gd name="connsiteY33" fmla="*/ 602933 h 1905000"/>
              <a:gd name="connsiteX34" fmla="*/ 816307 w 1768814"/>
              <a:gd name="connsiteY34" fmla="*/ 828675 h 1905000"/>
              <a:gd name="connsiteX35" fmla="*/ 785827 w 1768814"/>
              <a:gd name="connsiteY35" fmla="*/ 824865 h 1905000"/>
              <a:gd name="connsiteX36" fmla="*/ 586754 w 1768814"/>
              <a:gd name="connsiteY36" fmla="*/ 618173 h 1905000"/>
              <a:gd name="connsiteX37" fmla="*/ 547702 w 1768814"/>
              <a:gd name="connsiteY37" fmla="*/ 614363 h 1905000"/>
              <a:gd name="connsiteX38" fmla="*/ 297194 w 1768814"/>
              <a:gd name="connsiteY38" fmla="*/ 782955 h 1905000"/>
              <a:gd name="connsiteX39" fmla="*/ 281954 w 1768814"/>
              <a:gd name="connsiteY39" fmla="*/ 860108 h 1905000"/>
              <a:gd name="connsiteX40" fmla="*/ 351487 w 1768814"/>
              <a:gd name="connsiteY40" fmla="*/ 874395 h 1905000"/>
              <a:gd name="connsiteX41" fmla="*/ 536272 w 1768814"/>
              <a:gd name="connsiteY41" fmla="*/ 748665 h 1905000"/>
              <a:gd name="connsiteX42" fmla="*/ 569609 w 1768814"/>
              <a:gd name="connsiteY42" fmla="*/ 752475 h 1905000"/>
              <a:gd name="connsiteX43" fmla="*/ 765824 w 1768814"/>
              <a:gd name="connsiteY43" fmla="*/ 956310 h 1905000"/>
              <a:gd name="connsiteX44" fmla="*/ 802019 w 1768814"/>
              <a:gd name="connsiteY44" fmla="*/ 959168 h 1905000"/>
              <a:gd name="connsiteX45" fmla="*/ 1716419 w 1768814"/>
              <a:gd name="connsiteY45" fmla="*/ 1692593 h 1905000"/>
              <a:gd name="connsiteX46" fmla="*/ 1664032 w 1768814"/>
              <a:gd name="connsiteY46" fmla="*/ 1640205 h 1905000"/>
              <a:gd name="connsiteX47" fmla="*/ 1664032 w 1768814"/>
              <a:gd name="connsiteY47" fmla="*/ 211455 h 1905000"/>
              <a:gd name="connsiteX48" fmla="*/ 1560209 w 1768814"/>
              <a:gd name="connsiteY48" fmla="*/ 105728 h 1905000"/>
              <a:gd name="connsiteX49" fmla="*/ 257189 w 1768814"/>
              <a:gd name="connsiteY49" fmla="*/ 105728 h 1905000"/>
              <a:gd name="connsiteX50" fmla="*/ 207659 w 1768814"/>
              <a:gd name="connsiteY50" fmla="*/ 56198 h 1905000"/>
              <a:gd name="connsiteX51" fmla="*/ 263857 w 1768814"/>
              <a:gd name="connsiteY51" fmla="*/ 0 h 1905000"/>
              <a:gd name="connsiteX52" fmla="*/ 1560209 w 1768814"/>
              <a:gd name="connsiteY52" fmla="*/ 0 h 1905000"/>
              <a:gd name="connsiteX53" fmla="*/ 1768807 w 1768814"/>
              <a:gd name="connsiteY53" fmla="*/ 211455 h 1905000"/>
              <a:gd name="connsiteX54" fmla="*/ 1768807 w 1768814"/>
              <a:gd name="connsiteY54" fmla="*/ 1641158 h 1905000"/>
              <a:gd name="connsiteX55" fmla="*/ 1716419 w 1768814"/>
              <a:gd name="connsiteY55" fmla="*/ 1692593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768814" h="1905000">
                <a:moveTo>
                  <a:pt x="103837" y="211455"/>
                </a:moveTo>
                <a:lnTo>
                  <a:pt x="1456387" y="211455"/>
                </a:lnTo>
                <a:cubicBezTo>
                  <a:pt x="1514489" y="211455"/>
                  <a:pt x="1561162" y="259080"/>
                  <a:pt x="1560209" y="317183"/>
                </a:cubicBezTo>
                <a:lnTo>
                  <a:pt x="1560209" y="1799273"/>
                </a:lnTo>
                <a:cubicBezTo>
                  <a:pt x="1561162" y="1857375"/>
                  <a:pt x="1514489" y="1905000"/>
                  <a:pt x="1456387" y="1905000"/>
                </a:cubicBezTo>
                <a:lnTo>
                  <a:pt x="103837" y="1905000"/>
                </a:lnTo>
                <a:cubicBezTo>
                  <a:pt x="45734" y="1905000"/>
                  <a:pt x="-938" y="1857375"/>
                  <a:pt x="14" y="1799273"/>
                </a:cubicBezTo>
                <a:lnTo>
                  <a:pt x="14" y="317183"/>
                </a:lnTo>
                <a:cubicBezTo>
                  <a:pt x="-938" y="259080"/>
                  <a:pt x="45734" y="212408"/>
                  <a:pt x="103837" y="211455"/>
                </a:cubicBezTo>
                <a:close/>
                <a:moveTo>
                  <a:pt x="311482" y="1216343"/>
                </a:moveTo>
                <a:lnTo>
                  <a:pt x="311482" y="1533525"/>
                </a:lnTo>
                <a:cubicBezTo>
                  <a:pt x="311482" y="1563053"/>
                  <a:pt x="335294" y="1586865"/>
                  <a:pt x="364822" y="1586865"/>
                </a:cubicBezTo>
                <a:cubicBezTo>
                  <a:pt x="392444" y="1586865"/>
                  <a:pt x="415304" y="1564005"/>
                  <a:pt x="415304" y="1536383"/>
                </a:cubicBezTo>
                <a:lnTo>
                  <a:pt x="415304" y="1215390"/>
                </a:lnTo>
                <a:cubicBezTo>
                  <a:pt x="415304" y="1186815"/>
                  <a:pt x="392444" y="1163955"/>
                  <a:pt x="363869" y="1163955"/>
                </a:cubicBezTo>
                <a:cubicBezTo>
                  <a:pt x="335294" y="1163955"/>
                  <a:pt x="311482" y="1187768"/>
                  <a:pt x="311482" y="1216343"/>
                </a:cubicBezTo>
                <a:close/>
                <a:moveTo>
                  <a:pt x="727724" y="1323975"/>
                </a:moveTo>
                <a:lnTo>
                  <a:pt x="727724" y="1532573"/>
                </a:lnTo>
                <a:cubicBezTo>
                  <a:pt x="727724" y="1562100"/>
                  <a:pt x="751537" y="1586865"/>
                  <a:pt x="782017" y="1586865"/>
                </a:cubicBezTo>
                <a:cubicBezTo>
                  <a:pt x="809639" y="1586865"/>
                  <a:pt x="831547" y="1564958"/>
                  <a:pt x="831547" y="1537335"/>
                </a:cubicBezTo>
                <a:lnTo>
                  <a:pt x="831547" y="1319213"/>
                </a:lnTo>
                <a:cubicBezTo>
                  <a:pt x="831547" y="1291590"/>
                  <a:pt x="809639" y="1269683"/>
                  <a:pt x="782017" y="1269683"/>
                </a:cubicBezTo>
                <a:cubicBezTo>
                  <a:pt x="752489" y="1269683"/>
                  <a:pt x="727724" y="1294448"/>
                  <a:pt x="727724" y="1323975"/>
                </a:cubicBezTo>
                <a:close/>
                <a:moveTo>
                  <a:pt x="1143967" y="1006793"/>
                </a:moveTo>
                <a:lnTo>
                  <a:pt x="1143967" y="1531620"/>
                </a:lnTo>
                <a:cubicBezTo>
                  <a:pt x="1143967" y="1562100"/>
                  <a:pt x="1168732" y="1587818"/>
                  <a:pt x="1200164" y="1587818"/>
                </a:cubicBezTo>
                <a:cubicBezTo>
                  <a:pt x="1226834" y="1587818"/>
                  <a:pt x="1247789" y="1565910"/>
                  <a:pt x="1247789" y="1540193"/>
                </a:cubicBezTo>
                <a:lnTo>
                  <a:pt x="1247789" y="1002030"/>
                </a:lnTo>
                <a:cubicBezTo>
                  <a:pt x="1247789" y="974408"/>
                  <a:pt x="1225882" y="952500"/>
                  <a:pt x="1198259" y="952500"/>
                </a:cubicBezTo>
                <a:cubicBezTo>
                  <a:pt x="1168732" y="952500"/>
                  <a:pt x="1143967" y="977265"/>
                  <a:pt x="1143967" y="1006793"/>
                </a:cubicBezTo>
                <a:close/>
                <a:moveTo>
                  <a:pt x="802019" y="959168"/>
                </a:moveTo>
                <a:lnTo>
                  <a:pt x="1247789" y="690563"/>
                </a:lnTo>
                <a:cubicBezTo>
                  <a:pt x="1271602" y="676275"/>
                  <a:pt x="1279222" y="645795"/>
                  <a:pt x="1264934" y="621983"/>
                </a:cubicBezTo>
                <a:cubicBezTo>
                  <a:pt x="1249694" y="596265"/>
                  <a:pt x="1215404" y="587693"/>
                  <a:pt x="1189687" y="602933"/>
                </a:cubicBezTo>
                <a:lnTo>
                  <a:pt x="816307" y="828675"/>
                </a:lnTo>
                <a:cubicBezTo>
                  <a:pt x="806782" y="834390"/>
                  <a:pt x="793447" y="833438"/>
                  <a:pt x="785827" y="824865"/>
                </a:cubicBezTo>
                <a:lnTo>
                  <a:pt x="586754" y="618173"/>
                </a:lnTo>
                <a:cubicBezTo>
                  <a:pt x="576277" y="607695"/>
                  <a:pt x="560084" y="605790"/>
                  <a:pt x="547702" y="614363"/>
                </a:cubicBezTo>
                <a:lnTo>
                  <a:pt x="297194" y="782955"/>
                </a:lnTo>
                <a:cubicBezTo>
                  <a:pt x="271477" y="800100"/>
                  <a:pt x="264809" y="834390"/>
                  <a:pt x="281954" y="860108"/>
                </a:cubicBezTo>
                <a:cubicBezTo>
                  <a:pt x="297194" y="882968"/>
                  <a:pt x="328627" y="889635"/>
                  <a:pt x="351487" y="874395"/>
                </a:cubicBezTo>
                <a:lnTo>
                  <a:pt x="536272" y="748665"/>
                </a:lnTo>
                <a:cubicBezTo>
                  <a:pt x="546749" y="741998"/>
                  <a:pt x="560084" y="742950"/>
                  <a:pt x="569609" y="752475"/>
                </a:cubicBezTo>
                <a:lnTo>
                  <a:pt x="765824" y="956310"/>
                </a:lnTo>
                <a:cubicBezTo>
                  <a:pt x="775349" y="964883"/>
                  <a:pt x="790589" y="966788"/>
                  <a:pt x="802019" y="959168"/>
                </a:cubicBezTo>
                <a:close/>
                <a:moveTo>
                  <a:pt x="1716419" y="1692593"/>
                </a:moveTo>
                <a:cubicBezTo>
                  <a:pt x="1687844" y="1692593"/>
                  <a:pt x="1664032" y="1668780"/>
                  <a:pt x="1664032" y="1640205"/>
                </a:cubicBezTo>
                <a:lnTo>
                  <a:pt x="1664032" y="211455"/>
                </a:lnTo>
                <a:cubicBezTo>
                  <a:pt x="1664984" y="153353"/>
                  <a:pt x="1618312" y="105728"/>
                  <a:pt x="1560209" y="105728"/>
                </a:cubicBezTo>
                <a:lnTo>
                  <a:pt x="257189" y="105728"/>
                </a:lnTo>
                <a:cubicBezTo>
                  <a:pt x="229567" y="105728"/>
                  <a:pt x="207659" y="83820"/>
                  <a:pt x="207659" y="56198"/>
                </a:cubicBezTo>
                <a:cubicBezTo>
                  <a:pt x="207659" y="24765"/>
                  <a:pt x="232424" y="0"/>
                  <a:pt x="263857" y="0"/>
                </a:cubicBezTo>
                <a:lnTo>
                  <a:pt x="1560209" y="0"/>
                </a:lnTo>
                <a:cubicBezTo>
                  <a:pt x="1676414" y="953"/>
                  <a:pt x="1769759" y="95250"/>
                  <a:pt x="1768807" y="211455"/>
                </a:cubicBezTo>
                <a:lnTo>
                  <a:pt x="1768807" y="1641158"/>
                </a:lnTo>
                <a:cubicBezTo>
                  <a:pt x="1768807" y="1669733"/>
                  <a:pt x="1744994" y="1693545"/>
                  <a:pt x="1716419" y="1692593"/>
                </a:cubicBezTo>
                <a:close/>
              </a:path>
            </a:pathLst>
          </a:custGeom>
          <a:gradFill>
            <a:gsLst>
              <a:gs pos="0">
                <a:schemeClr val="accent1">
                  <a:lumMod val="5000"/>
                  <a:lumOff val="95000"/>
                  <a:alpha val="0"/>
                </a:schemeClr>
              </a:gs>
              <a:gs pos="100000">
                <a:schemeClr val="bg1"/>
              </a:gs>
            </a:gsLst>
            <a:lin ang="0" scaled="0"/>
          </a:gra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3" name="文本框 22"/>
          <p:cNvSpPr txBox="1"/>
          <p:nvPr/>
        </p:nvSpPr>
        <p:spPr>
          <a:xfrm>
            <a:off x="3615260" y="991995"/>
            <a:ext cx="718145" cy="215444"/>
          </a:xfrm>
          <a:prstGeom prst="rect">
            <a:avLst/>
          </a:prstGeom>
          <a:noFill/>
        </p:spPr>
        <p:txBody>
          <a:bodyPr wrap="none" lIns="0" tIns="0" rIns="0" bIns="0">
            <a:spAutoFit/>
          </a:bodyPr>
          <a:lstStyle>
            <a:defPPr>
              <a:defRPr lang="zh-CN"/>
            </a:defPPr>
            <a:lvl1pPr>
              <a:defRPr sz="1400" b="0" i="0">
                <a:solidFill>
                  <a:schemeClr val="bg1"/>
                </a:solidFill>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图谱关系</a:t>
            </a:r>
          </a:p>
        </p:txBody>
      </p:sp>
      <p:sp>
        <p:nvSpPr>
          <p:cNvPr id="24" name="文本框 23"/>
          <p:cNvSpPr txBox="1"/>
          <p:nvPr/>
        </p:nvSpPr>
        <p:spPr>
          <a:xfrm>
            <a:off x="3615260" y="1270112"/>
            <a:ext cx="620363" cy="276999"/>
          </a:xfrm>
          <a:prstGeom prst="rect">
            <a:avLst/>
          </a:prstGeom>
          <a:noFill/>
        </p:spPr>
        <p:txBody>
          <a:bodyPr wrap="none" lIns="0" tIns="0" rIns="0" bIns="0">
            <a:spAutoFit/>
          </a:bodyPr>
          <a:lstStyle>
            <a:defPPr>
              <a:defRPr lang="zh-CN"/>
            </a:defPPr>
            <a:lvl1pPr>
              <a:defRPr i="0">
                <a:solidFill>
                  <a:schemeClr val="bg1"/>
                </a:solidFill>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2182</a:t>
            </a:r>
            <a:endParaRPr kumimoji="0" lang="zh-CN" altLang="en-US"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5" name="Group 29+"/>
          <p:cNvGrpSpPr/>
          <p:nvPr/>
        </p:nvGrpSpPr>
        <p:grpSpPr>
          <a:xfrm>
            <a:off x="3615260" y="1609785"/>
            <a:ext cx="1221401" cy="215444"/>
            <a:chOff x="655983" y="1708519"/>
            <a:chExt cx="1221401" cy="215444"/>
          </a:xfrm>
        </p:grpSpPr>
        <p:sp>
          <p:nvSpPr>
            <p:cNvPr id="26" name="TextBox 23+"/>
            <p:cNvSpPr txBox="1"/>
            <p:nvPr/>
          </p:nvSpPr>
          <p:spPr>
            <a:xfrm>
              <a:off x="655983" y="1708519"/>
              <a:ext cx="359073"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岗位总量</a:t>
              </a:r>
            </a:p>
          </p:txBody>
        </p:sp>
        <p:sp>
          <p:nvSpPr>
            <p:cNvPr id="27" name="TextBox 23++"/>
            <p:cNvSpPr txBox="1"/>
            <p:nvPr/>
          </p:nvSpPr>
          <p:spPr>
            <a:xfrm>
              <a:off x="1117739" y="1708519"/>
              <a:ext cx="41357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938</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8" name="等腰三角形 27"/>
            <p:cNvSpPr>
              <a:spLocks noChangeAspect="1"/>
            </p:cNvSpPr>
            <p:nvPr/>
          </p:nvSpPr>
          <p:spPr>
            <a:xfrm>
              <a:off x="1733384" y="1754172"/>
              <a:ext cx="144000" cy="12413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sp>
        <p:nvSpPr>
          <p:cNvPr id="29" name="图形 42"/>
          <p:cNvSpPr/>
          <p:nvPr/>
        </p:nvSpPr>
        <p:spPr>
          <a:xfrm>
            <a:off x="4974608" y="1007234"/>
            <a:ext cx="743804" cy="743226"/>
          </a:xfrm>
          <a:custGeom>
            <a:avLst/>
            <a:gdLst>
              <a:gd name="connsiteX0" fmla="*/ 1543800 w 1906394"/>
              <a:gd name="connsiteY0" fmla="*/ 1632505 h 1904911"/>
              <a:gd name="connsiteX1" fmla="*/ 1410412 w 1906394"/>
              <a:gd name="connsiteY1" fmla="*/ 1767803 h 1904911"/>
              <a:gd name="connsiteX2" fmla="*/ 1543800 w 1906394"/>
              <a:gd name="connsiteY2" fmla="*/ 1903078 h 1904911"/>
              <a:gd name="connsiteX3" fmla="*/ 1677242 w 1906394"/>
              <a:gd name="connsiteY3" fmla="*/ 1767803 h 1904911"/>
              <a:gd name="connsiteX4" fmla="*/ 1543800 w 1906394"/>
              <a:gd name="connsiteY4" fmla="*/ 1632505 h 1904911"/>
              <a:gd name="connsiteX5" fmla="*/ 605982 w 1906394"/>
              <a:gd name="connsiteY5" fmla="*/ 1630650 h 1904911"/>
              <a:gd name="connsiteX6" fmla="*/ 470831 w 1906394"/>
              <a:gd name="connsiteY6" fmla="*/ 1767803 h 1904911"/>
              <a:gd name="connsiteX7" fmla="*/ 605982 w 1906394"/>
              <a:gd name="connsiteY7" fmla="*/ 1904912 h 1904911"/>
              <a:gd name="connsiteX8" fmla="*/ 741220 w 1906394"/>
              <a:gd name="connsiteY8" fmla="*/ 1767803 h 1904911"/>
              <a:gd name="connsiteX9" fmla="*/ 605982 w 1906394"/>
              <a:gd name="connsiteY9" fmla="*/ 1630650 h 1904911"/>
              <a:gd name="connsiteX10" fmla="*/ 1852316 w 1906394"/>
              <a:gd name="connsiteY10" fmla="*/ 269192 h 1904911"/>
              <a:gd name="connsiteX11" fmla="*/ 1710785 w 1906394"/>
              <a:gd name="connsiteY11" fmla="*/ 204261 h 1904911"/>
              <a:gd name="connsiteX12" fmla="*/ 363670 w 1906394"/>
              <a:gd name="connsiteY12" fmla="*/ 204261 h 1904911"/>
              <a:gd name="connsiteX13" fmla="*/ 353164 w 1906394"/>
              <a:gd name="connsiteY13" fmla="*/ 205056 h 1904911"/>
              <a:gd name="connsiteX14" fmla="*/ 350017 w 1906394"/>
              <a:gd name="connsiteY14" fmla="*/ 186641 h 1904911"/>
              <a:gd name="connsiteX15" fmla="*/ 164427 w 1906394"/>
              <a:gd name="connsiteY15" fmla="*/ 0 h 1904911"/>
              <a:gd name="connsiteX16" fmla="*/ 78909 w 1906394"/>
              <a:gd name="connsiteY16" fmla="*/ 0 h 1904911"/>
              <a:gd name="connsiteX17" fmla="*/ 0 w 1906394"/>
              <a:gd name="connsiteY17" fmla="*/ 80043 h 1904911"/>
              <a:gd name="connsiteX18" fmla="*/ 78909 w 1906394"/>
              <a:gd name="connsiteY18" fmla="*/ 160130 h 1904911"/>
              <a:gd name="connsiteX19" fmla="*/ 164427 w 1906394"/>
              <a:gd name="connsiteY19" fmla="*/ 160130 h 1904911"/>
              <a:gd name="connsiteX20" fmla="*/ 215574 w 1906394"/>
              <a:gd name="connsiteY20" fmla="*/ 209629 h 1904911"/>
              <a:gd name="connsiteX21" fmla="*/ 280493 w 1906394"/>
              <a:gd name="connsiteY21" fmla="*/ 590512 h 1904911"/>
              <a:gd name="connsiteX22" fmla="*/ 394284 w 1906394"/>
              <a:gd name="connsiteY22" fmla="*/ 1403026 h 1904911"/>
              <a:gd name="connsiteX23" fmla="*/ 599548 w 1906394"/>
              <a:gd name="connsiteY23" fmla="*/ 1579118 h 1904911"/>
              <a:gd name="connsiteX24" fmla="*/ 609052 w 1906394"/>
              <a:gd name="connsiteY24" fmla="*/ 1579073 h 1904911"/>
              <a:gd name="connsiteX25" fmla="*/ 1689719 w 1906394"/>
              <a:gd name="connsiteY25" fmla="*/ 1579073 h 1904911"/>
              <a:gd name="connsiteX26" fmla="*/ 1768606 w 1906394"/>
              <a:gd name="connsiteY26" fmla="*/ 1510165 h 1904911"/>
              <a:gd name="connsiteX27" fmla="*/ 1689719 w 1906394"/>
              <a:gd name="connsiteY27" fmla="*/ 1441081 h 1904911"/>
              <a:gd name="connsiteX28" fmla="*/ 588661 w 1906394"/>
              <a:gd name="connsiteY28" fmla="*/ 1441081 h 1904911"/>
              <a:gd name="connsiteX29" fmla="*/ 529076 w 1906394"/>
              <a:gd name="connsiteY29" fmla="*/ 1382446 h 1904911"/>
              <a:gd name="connsiteX30" fmla="*/ 523077 w 1906394"/>
              <a:gd name="connsiteY30" fmla="*/ 1339552 h 1904911"/>
              <a:gd name="connsiteX31" fmla="*/ 525745 w 1906394"/>
              <a:gd name="connsiteY31" fmla="*/ 1328672 h 1904911"/>
              <a:gd name="connsiteX32" fmla="*/ 1662980 w 1906394"/>
              <a:gd name="connsiteY32" fmla="*/ 1241537 h 1904911"/>
              <a:gd name="connsiteX33" fmla="*/ 1741203 w 1906394"/>
              <a:gd name="connsiteY33" fmla="*/ 1196014 h 1904911"/>
              <a:gd name="connsiteX34" fmla="*/ 1798676 w 1906394"/>
              <a:gd name="connsiteY34" fmla="*/ 1065997 h 1904911"/>
              <a:gd name="connsiteX35" fmla="*/ 1904400 w 1906394"/>
              <a:gd name="connsiteY35" fmla="*/ 452762 h 1904911"/>
              <a:gd name="connsiteX36" fmla="*/ 1904487 w 1906394"/>
              <a:gd name="connsiteY36" fmla="*/ 452276 h 1904911"/>
              <a:gd name="connsiteX37" fmla="*/ 1852316 w 1906394"/>
              <a:gd name="connsiteY37" fmla="*/ 269192 h 1904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6394" h="1904911">
                <a:moveTo>
                  <a:pt x="1543800" y="1632505"/>
                </a:moveTo>
                <a:cubicBezTo>
                  <a:pt x="1470247" y="1632505"/>
                  <a:pt x="1410412" y="1693195"/>
                  <a:pt x="1410412" y="1767803"/>
                </a:cubicBezTo>
                <a:cubicBezTo>
                  <a:pt x="1410412" y="1842389"/>
                  <a:pt x="1470247" y="1903078"/>
                  <a:pt x="1543800" y="1903078"/>
                </a:cubicBezTo>
                <a:cubicBezTo>
                  <a:pt x="1617385" y="1903078"/>
                  <a:pt x="1677242" y="1842389"/>
                  <a:pt x="1677242" y="1767803"/>
                </a:cubicBezTo>
                <a:cubicBezTo>
                  <a:pt x="1677242" y="1693195"/>
                  <a:pt x="1617385" y="1632505"/>
                  <a:pt x="1543800" y="1632505"/>
                </a:cubicBezTo>
                <a:close/>
                <a:moveTo>
                  <a:pt x="605982" y="1630650"/>
                </a:moveTo>
                <a:cubicBezTo>
                  <a:pt x="531471" y="1630650"/>
                  <a:pt x="470831" y="1692178"/>
                  <a:pt x="470831" y="1767803"/>
                </a:cubicBezTo>
                <a:cubicBezTo>
                  <a:pt x="470831" y="1843416"/>
                  <a:pt x="531460" y="1904912"/>
                  <a:pt x="605982" y="1904912"/>
                </a:cubicBezTo>
                <a:cubicBezTo>
                  <a:pt x="680558" y="1904912"/>
                  <a:pt x="741220" y="1843416"/>
                  <a:pt x="741220" y="1767803"/>
                </a:cubicBezTo>
                <a:cubicBezTo>
                  <a:pt x="741220" y="1692178"/>
                  <a:pt x="680558" y="1630650"/>
                  <a:pt x="605982" y="1630650"/>
                </a:cubicBezTo>
                <a:close/>
                <a:moveTo>
                  <a:pt x="1852316" y="269192"/>
                </a:moveTo>
                <a:cubicBezTo>
                  <a:pt x="1815757" y="227326"/>
                  <a:pt x="1765459" y="204261"/>
                  <a:pt x="1710785" y="204261"/>
                </a:cubicBezTo>
                <a:lnTo>
                  <a:pt x="363670" y="204261"/>
                </a:lnTo>
                <a:cubicBezTo>
                  <a:pt x="360154" y="204285"/>
                  <a:pt x="356644" y="204550"/>
                  <a:pt x="353164" y="205056"/>
                </a:cubicBezTo>
                <a:lnTo>
                  <a:pt x="350017" y="186641"/>
                </a:lnTo>
                <a:cubicBezTo>
                  <a:pt x="337236" y="81987"/>
                  <a:pt x="267962" y="0"/>
                  <a:pt x="164427" y="0"/>
                </a:cubicBezTo>
                <a:lnTo>
                  <a:pt x="78909" y="0"/>
                </a:lnTo>
                <a:cubicBezTo>
                  <a:pt x="35405" y="0"/>
                  <a:pt x="0" y="35901"/>
                  <a:pt x="0" y="80043"/>
                </a:cubicBezTo>
                <a:cubicBezTo>
                  <a:pt x="0" y="124207"/>
                  <a:pt x="35405" y="160130"/>
                  <a:pt x="78909" y="160130"/>
                </a:cubicBezTo>
                <a:lnTo>
                  <a:pt x="164427" y="160130"/>
                </a:lnTo>
                <a:cubicBezTo>
                  <a:pt x="188095" y="160130"/>
                  <a:pt x="212471" y="183725"/>
                  <a:pt x="215574" y="209629"/>
                </a:cubicBezTo>
                <a:lnTo>
                  <a:pt x="280493" y="590512"/>
                </a:lnTo>
                <a:lnTo>
                  <a:pt x="394284" y="1403026"/>
                </a:lnTo>
                <a:cubicBezTo>
                  <a:pt x="406826" y="1507967"/>
                  <a:pt x="496992" y="1579118"/>
                  <a:pt x="599548" y="1579118"/>
                </a:cubicBezTo>
                <a:lnTo>
                  <a:pt x="609052" y="1579073"/>
                </a:lnTo>
                <a:lnTo>
                  <a:pt x="1689719" y="1579073"/>
                </a:lnTo>
                <a:cubicBezTo>
                  <a:pt x="1733223" y="1579073"/>
                  <a:pt x="1768606" y="1554263"/>
                  <a:pt x="1768606" y="1510165"/>
                </a:cubicBezTo>
                <a:cubicBezTo>
                  <a:pt x="1768606" y="1465979"/>
                  <a:pt x="1733223" y="1441081"/>
                  <a:pt x="1689719" y="1441081"/>
                </a:cubicBezTo>
                <a:lnTo>
                  <a:pt x="588661" y="1441081"/>
                </a:lnTo>
                <a:cubicBezTo>
                  <a:pt x="566103" y="1441081"/>
                  <a:pt x="532016" y="1407466"/>
                  <a:pt x="529076" y="1382446"/>
                </a:cubicBezTo>
                <a:lnTo>
                  <a:pt x="523077" y="1339552"/>
                </a:lnTo>
                <a:lnTo>
                  <a:pt x="525745" y="1328672"/>
                </a:lnTo>
                <a:lnTo>
                  <a:pt x="1662980" y="1241537"/>
                </a:lnTo>
                <a:cubicBezTo>
                  <a:pt x="1662980" y="1241537"/>
                  <a:pt x="1705864" y="1236875"/>
                  <a:pt x="1741203" y="1196014"/>
                </a:cubicBezTo>
                <a:cubicBezTo>
                  <a:pt x="1779199" y="1161594"/>
                  <a:pt x="1792612" y="1115408"/>
                  <a:pt x="1798676" y="1065997"/>
                </a:cubicBezTo>
                <a:lnTo>
                  <a:pt x="1904400" y="452762"/>
                </a:lnTo>
                <a:lnTo>
                  <a:pt x="1904487" y="452276"/>
                </a:lnTo>
                <a:cubicBezTo>
                  <a:pt x="1912783" y="383357"/>
                  <a:pt x="1893774" y="316614"/>
                  <a:pt x="1852316" y="269192"/>
                </a:cubicBezTo>
                <a:close/>
              </a:path>
            </a:pathLst>
          </a:custGeom>
          <a:gradFill>
            <a:gsLst>
              <a:gs pos="0">
                <a:schemeClr val="accent1">
                  <a:lumMod val="5000"/>
                  <a:lumOff val="95000"/>
                  <a:alpha val="0"/>
                </a:schemeClr>
              </a:gs>
              <a:gs pos="100000">
                <a:schemeClr val="bg1"/>
              </a:gs>
            </a:gsLst>
            <a:lin ang="0" scaled="0"/>
          </a:gradFill>
          <a:ln w="186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0" name="文本框 29"/>
          <p:cNvSpPr txBox="1"/>
          <p:nvPr/>
        </p:nvSpPr>
        <p:spPr>
          <a:xfrm>
            <a:off x="6550926" y="991995"/>
            <a:ext cx="897682" cy="215444"/>
          </a:xfrm>
          <a:prstGeom prst="rect">
            <a:avLst/>
          </a:prstGeom>
          <a:noFill/>
        </p:spPr>
        <p:txBody>
          <a:bodyPr wrap="none" lIns="0" tIns="0" rIns="0" bIns="0">
            <a:spAutoFit/>
          </a:bodyPr>
          <a:lstStyle>
            <a:defPPr>
              <a:defRPr lang="zh-CN"/>
            </a:defPPr>
            <a:lvl1pPr>
              <a:defRPr sz="1400" b="0" i="0">
                <a:solidFill>
                  <a:schemeClr val="bg1"/>
                </a:solidFill>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视图</a:t>
            </a:r>
          </a:p>
        </p:txBody>
      </p:sp>
      <p:sp>
        <p:nvSpPr>
          <p:cNvPr id="31" name="文本框 30"/>
          <p:cNvSpPr txBox="1"/>
          <p:nvPr/>
        </p:nvSpPr>
        <p:spPr>
          <a:xfrm>
            <a:off x="6550926" y="1270112"/>
            <a:ext cx="756617" cy="276999"/>
          </a:xfrm>
          <a:prstGeom prst="rect">
            <a:avLst/>
          </a:prstGeom>
          <a:noFill/>
        </p:spPr>
        <p:txBody>
          <a:bodyPr wrap="none" lIns="0" tIns="0" rIns="0" bIns="0">
            <a:spAutoFit/>
          </a:bodyPr>
          <a:lstStyle>
            <a:defPPr>
              <a:defRPr lang="zh-CN"/>
            </a:defPPr>
            <a:lvl1pPr>
              <a:defRPr i="0">
                <a:solidFill>
                  <a:schemeClr val="bg1"/>
                </a:solidFill>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32" name="Group 29++"/>
          <p:cNvGrpSpPr/>
          <p:nvPr/>
        </p:nvGrpSpPr>
        <p:grpSpPr>
          <a:xfrm>
            <a:off x="6550926" y="1609785"/>
            <a:ext cx="1221401" cy="215444"/>
            <a:chOff x="655983" y="1708519"/>
            <a:chExt cx="1221401" cy="215444"/>
          </a:xfrm>
        </p:grpSpPr>
        <p:sp>
          <p:nvSpPr>
            <p:cNvPr id="33" name="TextBox 23+"/>
            <p:cNvSpPr txBox="1"/>
            <p:nvPr/>
          </p:nvSpPr>
          <p:spPr>
            <a:xfrm>
              <a:off x="655983" y="1708519"/>
              <a:ext cx="359073"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四视图</a:t>
              </a:r>
            </a:p>
          </p:txBody>
        </p:sp>
        <p:sp>
          <p:nvSpPr>
            <p:cNvPr id="34" name="TextBox 23++"/>
            <p:cNvSpPr txBox="1"/>
            <p:nvPr/>
          </p:nvSpPr>
          <p:spPr>
            <a:xfrm>
              <a:off x="1117739" y="1708519"/>
              <a:ext cx="41357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分析</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5" name="等腰三角形 34"/>
            <p:cNvSpPr>
              <a:spLocks noChangeAspect="1"/>
            </p:cNvSpPr>
            <p:nvPr/>
          </p:nvSpPr>
          <p:spPr>
            <a:xfrm>
              <a:off x="1733384" y="1754172"/>
              <a:ext cx="144000" cy="12413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36" name="组合 35"/>
          <p:cNvGrpSpPr/>
          <p:nvPr/>
        </p:nvGrpSpPr>
        <p:grpSpPr>
          <a:xfrm>
            <a:off x="8026023" y="1023995"/>
            <a:ext cx="674424" cy="757476"/>
            <a:chOff x="160972" y="63499"/>
            <a:chExt cx="1583055" cy="1777999"/>
          </a:xfrm>
        </p:grpSpPr>
        <p:sp>
          <p:nvSpPr>
            <p:cNvPr id="37" name="任意多边形: 形状 36"/>
            <p:cNvSpPr/>
            <p:nvPr/>
          </p:nvSpPr>
          <p:spPr>
            <a:xfrm>
              <a:off x="160972" y="63499"/>
              <a:ext cx="1532255" cy="1751329"/>
            </a:xfrm>
            <a:custGeom>
              <a:avLst/>
              <a:gdLst>
                <a:gd name="connsiteX0" fmla="*/ 1151255 w 1532255"/>
                <a:gd name="connsiteY0" fmla="*/ 1741488 h 1751329"/>
                <a:gd name="connsiteX1" fmla="*/ 1133475 w 1532255"/>
                <a:gd name="connsiteY1" fmla="*/ 1741488 h 1751329"/>
                <a:gd name="connsiteX2" fmla="*/ 953452 w 1532255"/>
                <a:gd name="connsiteY2" fmla="*/ 1568768 h 1751329"/>
                <a:gd name="connsiteX3" fmla="*/ 997267 w 1532255"/>
                <a:gd name="connsiteY3" fmla="*/ 1455103 h 1751329"/>
                <a:gd name="connsiteX4" fmla="*/ 953452 w 1532255"/>
                <a:gd name="connsiteY4" fmla="*/ 1340803 h 1751329"/>
                <a:gd name="connsiteX5" fmla="*/ 1013460 w 1532255"/>
                <a:gd name="connsiteY5" fmla="*/ 1210310 h 1751329"/>
                <a:gd name="connsiteX6" fmla="*/ 1009015 w 1532255"/>
                <a:gd name="connsiteY6" fmla="*/ 1205865 h 1751329"/>
                <a:gd name="connsiteX7" fmla="*/ 992505 w 1532255"/>
                <a:gd name="connsiteY7" fmla="*/ 969963 h 1751329"/>
                <a:gd name="connsiteX8" fmla="*/ 1234718 w 1532255"/>
                <a:gd name="connsiteY8" fmla="*/ 946310 h 1751329"/>
                <a:gd name="connsiteX9" fmla="*/ 1247140 w 1532255"/>
                <a:gd name="connsiteY9" fmla="*/ 957580 h 1751329"/>
                <a:gd name="connsiteX10" fmla="*/ 1323023 w 1532255"/>
                <a:gd name="connsiteY10" fmla="*/ 1033463 h 1751329"/>
                <a:gd name="connsiteX11" fmla="*/ 1398905 w 1532255"/>
                <a:gd name="connsiteY11" fmla="*/ 957580 h 1751329"/>
                <a:gd name="connsiteX12" fmla="*/ 1532255 w 1532255"/>
                <a:gd name="connsiteY12" fmla="*/ 908368 h 1751329"/>
                <a:gd name="connsiteX13" fmla="*/ 1532255 w 1532255"/>
                <a:gd name="connsiteY13" fmla="*/ 127000 h 1751329"/>
                <a:gd name="connsiteX14" fmla="*/ 1405255 w 1532255"/>
                <a:gd name="connsiteY14" fmla="*/ 0 h 1751329"/>
                <a:gd name="connsiteX15" fmla="*/ 127000 w 1532255"/>
                <a:gd name="connsiteY15" fmla="*/ 0 h 1751329"/>
                <a:gd name="connsiteX16" fmla="*/ 0 w 1532255"/>
                <a:gd name="connsiteY16" fmla="*/ 127000 h 1751329"/>
                <a:gd name="connsiteX17" fmla="*/ 0 w 1532255"/>
                <a:gd name="connsiteY17" fmla="*/ 1624330 h 1751329"/>
                <a:gd name="connsiteX18" fmla="*/ 127000 w 1532255"/>
                <a:gd name="connsiteY18" fmla="*/ 1751330 h 1751329"/>
                <a:gd name="connsiteX19" fmla="*/ 1151255 w 1532255"/>
                <a:gd name="connsiteY19" fmla="*/ 1751330 h 1751329"/>
                <a:gd name="connsiteX20" fmla="*/ 1151255 w 1532255"/>
                <a:gd name="connsiteY20" fmla="*/ 1741488 h 1751329"/>
                <a:gd name="connsiteX21" fmla="*/ 593408 w 1532255"/>
                <a:gd name="connsiteY21" fmla="*/ 1027430 h 1751329"/>
                <a:gd name="connsiteX22" fmla="*/ 526733 w 1532255"/>
                <a:gd name="connsiteY22" fmla="*/ 1001395 h 1751329"/>
                <a:gd name="connsiteX23" fmla="*/ 323850 w 1532255"/>
                <a:gd name="connsiteY23" fmla="*/ 816928 h 1751329"/>
                <a:gd name="connsiteX24" fmla="*/ 319723 w 1532255"/>
                <a:gd name="connsiteY24" fmla="*/ 728663 h 1751329"/>
                <a:gd name="connsiteX25" fmla="*/ 407987 w 1532255"/>
                <a:gd name="connsiteY25" fmla="*/ 724535 h 1751329"/>
                <a:gd name="connsiteX26" fmla="*/ 593090 w 1532255"/>
                <a:gd name="connsiteY26" fmla="*/ 892810 h 1751329"/>
                <a:gd name="connsiteX27" fmla="*/ 1123633 w 1532255"/>
                <a:gd name="connsiteY27" fmla="*/ 400685 h 1751329"/>
                <a:gd name="connsiteX28" fmla="*/ 1211898 w 1532255"/>
                <a:gd name="connsiteY28" fmla="*/ 403860 h 1751329"/>
                <a:gd name="connsiteX29" fmla="*/ 1208723 w 1532255"/>
                <a:gd name="connsiteY29" fmla="*/ 492125 h 1751329"/>
                <a:gd name="connsiteX30" fmla="*/ 660718 w 1532255"/>
                <a:gd name="connsiteY30" fmla="*/ 1000760 h 1751329"/>
                <a:gd name="connsiteX31" fmla="*/ 593408 w 1532255"/>
                <a:gd name="connsiteY31" fmla="*/ 1027430 h 1751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32255" h="1751329">
                  <a:moveTo>
                    <a:pt x="1151255" y="1741488"/>
                  </a:moveTo>
                  <a:lnTo>
                    <a:pt x="1133475" y="1741488"/>
                  </a:lnTo>
                  <a:cubicBezTo>
                    <a:pt x="1038225" y="1741488"/>
                    <a:pt x="953135" y="1663700"/>
                    <a:pt x="953452" y="1568768"/>
                  </a:cubicBezTo>
                  <a:cubicBezTo>
                    <a:pt x="953770" y="1524953"/>
                    <a:pt x="970280" y="1485265"/>
                    <a:pt x="997267" y="1455103"/>
                  </a:cubicBezTo>
                  <a:cubicBezTo>
                    <a:pt x="969030" y="1423732"/>
                    <a:pt x="953420" y="1383010"/>
                    <a:pt x="953452" y="1340803"/>
                  </a:cubicBezTo>
                  <a:cubicBezTo>
                    <a:pt x="953452" y="1288733"/>
                    <a:pt x="976947" y="1242060"/>
                    <a:pt x="1013460" y="1210310"/>
                  </a:cubicBezTo>
                  <a:lnTo>
                    <a:pt x="1009015" y="1205865"/>
                  </a:lnTo>
                  <a:cubicBezTo>
                    <a:pt x="945515" y="1142365"/>
                    <a:pt x="935355" y="1039178"/>
                    <a:pt x="992505" y="969963"/>
                  </a:cubicBezTo>
                  <a:cubicBezTo>
                    <a:pt x="1052859" y="896546"/>
                    <a:pt x="1161301" y="885956"/>
                    <a:pt x="1234718" y="946310"/>
                  </a:cubicBezTo>
                  <a:cubicBezTo>
                    <a:pt x="1239039" y="949863"/>
                    <a:pt x="1243185" y="953624"/>
                    <a:pt x="1247140" y="957580"/>
                  </a:cubicBezTo>
                  <a:lnTo>
                    <a:pt x="1323023" y="1033463"/>
                  </a:lnTo>
                  <a:lnTo>
                    <a:pt x="1398905" y="957580"/>
                  </a:lnTo>
                  <a:cubicBezTo>
                    <a:pt x="1434072" y="922546"/>
                    <a:pt x="1482760" y="904578"/>
                    <a:pt x="1532255" y="908368"/>
                  </a:cubicBezTo>
                  <a:lnTo>
                    <a:pt x="1532255" y="127000"/>
                  </a:lnTo>
                  <a:cubicBezTo>
                    <a:pt x="1532255" y="56833"/>
                    <a:pt x="1475423" y="0"/>
                    <a:pt x="1405255" y="0"/>
                  </a:cubicBezTo>
                  <a:lnTo>
                    <a:pt x="127000" y="0"/>
                  </a:lnTo>
                  <a:cubicBezTo>
                    <a:pt x="56832" y="0"/>
                    <a:pt x="0" y="56832"/>
                    <a:pt x="0" y="127000"/>
                  </a:cubicBezTo>
                  <a:lnTo>
                    <a:pt x="0" y="1624330"/>
                  </a:lnTo>
                  <a:cubicBezTo>
                    <a:pt x="0" y="1694498"/>
                    <a:pt x="56832" y="1751330"/>
                    <a:pt x="127000" y="1751330"/>
                  </a:cubicBezTo>
                  <a:lnTo>
                    <a:pt x="1151255" y="1751330"/>
                  </a:lnTo>
                  <a:lnTo>
                    <a:pt x="1151255" y="1741488"/>
                  </a:lnTo>
                  <a:close/>
                  <a:moveTo>
                    <a:pt x="593408" y="1027430"/>
                  </a:moveTo>
                  <a:cubicBezTo>
                    <a:pt x="569595" y="1027430"/>
                    <a:pt x="545783" y="1018858"/>
                    <a:pt x="526733" y="1001395"/>
                  </a:cubicBezTo>
                  <a:lnTo>
                    <a:pt x="323850" y="816928"/>
                  </a:lnTo>
                  <a:cubicBezTo>
                    <a:pt x="298133" y="793750"/>
                    <a:pt x="296545" y="754063"/>
                    <a:pt x="319723" y="728663"/>
                  </a:cubicBezTo>
                  <a:cubicBezTo>
                    <a:pt x="342900" y="703263"/>
                    <a:pt x="382588" y="701358"/>
                    <a:pt x="407987" y="724535"/>
                  </a:cubicBezTo>
                  <a:lnTo>
                    <a:pt x="593090" y="892810"/>
                  </a:lnTo>
                  <a:lnTo>
                    <a:pt x="1123633" y="400685"/>
                  </a:lnTo>
                  <a:cubicBezTo>
                    <a:pt x="1149033" y="377190"/>
                    <a:pt x="1188720" y="378778"/>
                    <a:pt x="1211898" y="403860"/>
                  </a:cubicBezTo>
                  <a:cubicBezTo>
                    <a:pt x="1235393" y="429260"/>
                    <a:pt x="1233805" y="468630"/>
                    <a:pt x="1208723" y="492125"/>
                  </a:cubicBezTo>
                  <a:lnTo>
                    <a:pt x="660718" y="1000760"/>
                  </a:lnTo>
                  <a:cubicBezTo>
                    <a:pt x="641668" y="1018540"/>
                    <a:pt x="617538" y="1027430"/>
                    <a:pt x="593408" y="1027430"/>
                  </a:cubicBezTo>
                  <a:close/>
                </a:path>
              </a:pathLst>
            </a:custGeom>
            <a:gradFill>
              <a:gsLst>
                <a:gs pos="0">
                  <a:schemeClr val="accent1">
                    <a:lumMod val="5000"/>
                    <a:lumOff val="95000"/>
                    <a:alpha val="0"/>
                  </a:schemeClr>
                </a:gs>
                <a:gs pos="100000">
                  <a:schemeClr val="bg1"/>
                </a:gs>
              </a:gsLst>
              <a:lin ang="0" scaled="0"/>
            </a:gradFill>
            <a:ln w="186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8" name="任意多边形: 形状 37"/>
            <p:cNvSpPr/>
            <p:nvPr/>
          </p:nvSpPr>
          <p:spPr>
            <a:xfrm>
              <a:off x="1223962" y="1092170"/>
              <a:ext cx="520065" cy="749328"/>
            </a:xfrm>
            <a:custGeom>
              <a:avLst/>
              <a:gdLst>
                <a:gd name="connsiteX0" fmla="*/ 457518 w 520065"/>
                <a:gd name="connsiteY0" fmla="*/ 354359 h 749328"/>
                <a:gd name="connsiteX1" fmla="*/ 520065 w 520065"/>
                <a:gd name="connsiteY1" fmla="*/ 291811 h 749328"/>
                <a:gd name="connsiteX2" fmla="*/ 457518 w 520065"/>
                <a:gd name="connsiteY2" fmla="*/ 229264 h 749328"/>
                <a:gd name="connsiteX3" fmla="*/ 378143 w 520065"/>
                <a:gd name="connsiteY3" fmla="*/ 229264 h 749328"/>
                <a:gd name="connsiteX4" fmla="*/ 501968 w 520065"/>
                <a:gd name="connsiteY4" fmla="*/ 105439 h 749328"/>
                <a:gd name="connsiteX5" fmla="*/ 498914 w 520065"/>
                <a:gd name="connsiteY5" fmla="*/ 16856 h 749328"/>
                <a:gd name="connsiteX6" fmla="*/ 413385 w 520065"/>
                <a:gd name="connsiteY6" fmla="*/ 16856 h 749328"/>
                <a:gd name="connsiteX7" fmla="*/ 260033 w 520065"/>
                <a:gd name="connsiteY7" fmla="*/ 170209 h 749328"/>
                <a:gd name="connsiteX8" fmla="*/ 106680 w 520065"/>
                <a:gd name="connsiteY8" fmla="*/ 16857 h 749328"/>
                <a:gd name="connsiteX9" fmla="*/ 18097 w 520065"/>
                <a:gd name="connsiteY9" fmla="*/ 19910 h 749328"/>
                <a:gd name="connsiteX10" fmla="*/ 18097 w 520065"/>
                <a:gd name="connsiteY10" fmla="*/ 105439 h 749328"/>
                <a:gd name="connsiteX11" fmla="*/ 141923 w 520065"/>
                <a:gd name="connsiteY11" fmla="*/ 229264 h 749328"/>
                <a:gd name="connsiteX12" fmla="*/ 62548 w 520065"/>
                <a:gd name="connsiteY12" fmla="*/ 229264 h 749328"/>
                <a:gd name="connsiteX13" fmla="*/ 0 w 520065"/>
                <a:gd name="connsiteY13" fmla="*/ 291811 h 749328"/>
                <a:gd name="connsiteX14" fmla="*/ 62548 w 520065"/>
                <a:gd name="connsiteY14" fmla="*/ 354359 h 749328"/>
                <a:gd name="connsiteX15" fmla="*/ 197803 w 520065"/>
                <a:gd name="connsiteY15" fmla="*/ 354359 h 749328"/>
                <a:gd name="connsiteX16" fmla="*/ 197803 w 520065"/>
                <a:gd name="connsiteY16" fmla="*/ 426749 h 749328"/>
                <a:gd name="connsiteX17" fmla="*/ 62548 w 520065"/>
                <a:gd name="connsiteY17" fmla="*/ 426749 h 749328"/>
                <a:gd name="connsiteX18" fmla="*/ 0 w 520065"/>
                <a:gd name="connsiteY18" fmla="*/ 489296 h 749328"/>
                <a:gd name="connsiteX19" fmla="*/ 62548 w 520065"/>
                <a:gd name="connsiteY19" fmla="*/ 551844 h 749328"/>
                <a:gd name="connsiteX20" fmla="*/ 197803 w 520065"/>
                <a:gd name="connsiteY20" fmla="*/ 551844 h 749328"/>
                <a:gd name="connsiteX21" fmla="*/ 197803 w 520065"/>
                <a:gd name="connsiteY21" fmla="*/ 686782 h 749328"/>
                <a:gd name="connsiteX22" fmla="*/ 260350 w 520065"/>
                <a:gd name="connsiteY22" fmla="*/ 749329 h 749328"/>
                <a:gd name="connsiteX23" fmla="*/ 322898 w 520065"/>
                <a:gd name="connsiteY23" fmla="*/ 686782 h 749328"/>
                <a:gd name="connsiteX24" fmla="*/ 322898 w 520065"/>
                <a:gd name="connsiteY24" fmla="*/ 551844 h 749328"/>
                <a:gd name="connsiteX25" fmla="*/ 457518 w 520065"/>
                <a:gd name="connsiteY25" fmla="*/ 551844 h 749328"/>
                <a:gd name="connsiteX26" fmla="*/ 520065 w 520065"/>
                <a:gd name="connsiteY26" fmla="*/ 489296 h 749328"/>
                <a:gd name="connsiteX27" fmla="*/ 457518 w 520065"/>
                <a:gd name="connsiteY27" fmla="*/ 426749 h 749328"/>
                <a:gd name="connsiteX28" fmla="*/ 322898 w 520065"/>
                <a:gd name="connsiteY28" fmla="*/ 426749 h 749328"/>
                <a:gd name="connsiteX29" fmla="*/ 322898 w 520065"/>
                <a:gd name="connsiteY29" fmla="*/ 354359 h 749328"/>
                <a:gd name="connsiteX30" fmla="*/ 457518 w 520065"/>
                <a:gd name="connsiteY30" fmla="*/ 354359 h 74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20065" h="749328">
                  <a:moveTo>
                    <a:pt x="457518" y="354359"/>
                  </a:moveTo>
                  <a:cubicBezTo>
                    <a:pt x="492125" y="354359"/>
                    <a:pt x="520065" y="326419"/>
                    <a:pt x="520065" y="291811"/>
                  </a:cubicBezTo>
                  <a:cubicBezTo>
                    <a:pt x="520065" y="257204"/>
                    <a:pt x="492125" y="229264"/>
                    <a:pt x="457518" y="229264"/>
                  </a:cubicBezTo>
                  <a:lnTo>
                    <a:pt x="378143" y="229264"/>
                  </a:lnTo>
                  <a:lnTo>
                    <a:pt x="501968" y="105439"/>
                  </a:lnTo>
                  <a:cubicBezTo>
                    <a:pt x="525586" y="80134"/>
                    <a:pt x="524218" y="40474"/>
                    <a:pt x="498914" y="16856"/>
                  </a:cubicBezTo>
                  <a:cubicBezTo>
                    <a:pt x="474834" y="-5619"/>
                    <a:pt x="437465" y="-5619"/>
                    <a:pt x="413385" y="16856"/>
                  </a:cubicBezTo>
                  <a:lnTo>
                    <a:pt x="260033" y="170209"/>
                  </a:lnTo>
                  <a:lnTo>
                    <a:pt x="106680" y="16857"/>
                  </a:lnTo>
                  <a:cubicBezTo>
                    <a:pt x="81375" y="-6762"/>
                    <a:pt x="41716" y="-5394"/>
                    <a:pt x="18097" y="19910"/>
                  </a:cubicBezTo>
                  <a:cubicBezTo>
                    <a:pt x="-4378" y="43991"/>
                    <a:pt x="-4378" y="81359"/>
                    <a:pt x="18097" y="105439"/>
                  </a:cubicBezTo>
                  <a:lnTo>
                    <a:pt x="141923" y="229264"/>
                  </a:lnTo>
                  <a:lnTo>
                    <a:pt x="62548" y="229264"/>
                  </a:lnTo>
                  <a:cubicBezTo>
                    <a:pt x="27940" y="229264"/>
                    <a:pt x="0" y="257204"/>
                    <a:pt x="0" y="291811"/>
                  </a:cubicBezTo>
                  <a:cubicBezTo>
                    <a:pt x="0" y="326419"/>
                    <a:pt x="27940" y="354359"/>
                    <a:pt x="62548" y="354359"/>
                  </a:cubicBezTo>
                  <a:lnTo>
                    <a:pt x="197803" y="354359"/>
                  </a:lnTo>
                  <a:lnTo>
                    <a:pt x="197803" y="426749"/>
                  </a:lnTo>
                  <a:lnTo>
                    <a:pt x="62548" y="426749"/>
                  </a:lnTo>
                  <a:cubicBezTo>
                    <a:pt x="27940" y="426749"/>
                    <a:pt x="0" y="454689"/>
                    <a:pt x="0" y="489296"/>
                  </a:cubicBezTo>
                  <a:cubicBezTo>
                    <a:pt x="0" y="523904"/>
                    <a:pt x="27940" y="551844"/>
                    <a:pt x="62548" y="551844"/>
                  </a:cubicBezTo>
                  <a:lnTo>
                    <a:pt x="197803" y="551844"/>
                  </a:lnTo>
                  <a:lnTo>
                    <a:pt x="197803" y="686782"/>
                  </a:lnTo>
                  <a:cubicBezTo>
                    <a:pt x="197803" y="721389"/>
                    <a:pt x="225742" y="749329"/>
                    <a:pt x="260350" y="749329"/>
                  </a:cubicBezTo>
                  <a:cubicBezTo>
                    <a:pt x="294958" y="749329"/>
                    <a:pt x="322898" y="721389"/>
                    <a:pt x="322898" y="686782"/>
                  </a:cubicBezTo>
                  <a:lnTo>
                    <a:pt x="322898" y="551844"/>
                  </a:lnTo>
                  <a:lnTo>
                    <a:pt x="457518" y="551844"/>
                  </a:lnTo>
                  <a:cubicBezTo>
                    <a:pt x="492125" y="551844"/>
                    <a:pt x="520065" y="523904"/>
                    <a:pt x="520065" y="489296"/>
                  </a:cubicBezTo>
                  <a:cubicBezTo>
                    <a:pt x="520065" y="454689"/>
                    <a:pt x="492125" y="426749"/>
                    <a:pt x="457518" y="426749"/>
                  </a:cubicBezTo>
                  <a:lnTo>
                    <a:pt x="322898" y="426749"/>
                  </a:lnTo>
                  <a:lnTo>
                    <a:pt x="322898" y="354359"/>
                  </a:lnTo>
                  <a:lnTo>
                    <a:pt x="457518" y="354359"/>
                  </a:lnTo>
                  <a:close/>
                </a:path>
              </a:pathLst>
            </a:custGeom>
            <a:gradFill>
              <a:gsLst>
                <a:gs pos="0">
                  <a:schemeClr val="accent1">
                    <a:lumMod val="5000"/>
                    <a:lumOff val="95000"/>
                    <a:alpha val="0"/>
                  </a:schemeClr>
                </a:gs>
                <a:gs pos="100000">
                  <a:schemeClr val="bg1"/>
                </a:gs>
              </a:gsLst>
              <a:lin ang="0" scaled="0"/>
            </a:gradFill>
            <a:ln w="186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sp>
        <p:nvSpPr>
          <p:cNvPr id="39" name="文本框 38"/>
          <p:cNvSpPr txBox="1"/>
          <p:nvPr/>
        </p:nvSpPr>
        <p:spPr>
          <a:xfrm>
            <a:off x="9471547" y="1026229"/>
            <a:ext cx="897682" cy="215444"/>
          </a:xfrm>
          <a:prstGeom prst="rect">
            <a:avLst/>
          </a:prstGeom>
          <a:noFill/>
        </p:spPr>
        <p:txBody>
          <a:bodyPr wrap="none" lIns="0" tIns="0" rIns="0" bIns="0">
            <a:spAutoFit/>
          </a:bodyPr>
          <a:lstStyle>
            <a:defPPr>
              <a:defRPr lang="zh-CN"/>
            </a:defPPr>
            <a:lvl1pPr>
              <a:defRPr sz="1400" b="0" i="0">
                <a:solidFill>
                  <a:schemeClr val="bg1"/>
                </a:solidFill>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数据源</a:t>
            </a:r>
          </a:p>
        </p:txBody>
      </p:sp>
      <p:sp>
        <p:nvSpPr>
          <p:cNvPr id="40" name="文本框 39"/>
          <p:cNvSpPr txBox="1"/>
          <p:nvPr/>
        </p:nvSpPr>
        <p:spPr>
          <a:xfrm>
            <a:off x="9471547" y="1270112"/>
            <a:ext cx="620363" cy="276999"/>
          </a:xfrm>
          <a:prstGeom prst="rect">
            <a:avLst/>
          </a:prstGeom>
          <a:noFill/>
        </p:spPr>
        <p:txBody>
          <a:bodyPr wrap="none" lIns="0" tIns="0" rIns="0" bIns="0">
            <a:spAutoFit/>
          </a:bodyPr>
          <a:lstStyle>
            <a:defPPr>
              <a:defRPr lang="zh-CN"/>
            </a:defPPr>
            <a:lvl1pPr>
              <a:defRPr i="0">
                <a:solidFill>
                  <a:schemeClr val="bg1"/>
                </a:solidFill>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9</a:t>
            </a:r>
            <a:endParaRPr kumimoji="0" lang="zh-CN" altLang="en-US"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41" name="TextBox 23+"/>
          <p:cNvSpPr txBox="1"/>
          <p:nvPr/>
        </p:nvSpPr>
        <p:spPr>
          <a:xfrm>
            <a:off x="9471547" y="1609785"/>
            <a:ext cx="359073"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覆盖</a:t>
            </a:r>
          </a:p>
        </p:txBody>
      </p:sp>
      <p:sp>
        <p:nvSpPr>
          <p:cNvPr id="42" name="TextBox 23++"/>
          <p:cNvSpPr txBox="1"/>
          <p:nvPr/>
        </p:nvSpPr>
        <p:spPr>
          <a:xfrm>
            <a:off x="9933303" y="1609785"/>
            <a:ext cx="41357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源</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43" name="等腰三角形 42"/>
          <p:cNvSpPr>
            <a:spLocks noChangeAspect="1"/>
          </p:cNvSpPr>
          <p:nvPr/>
        </p:nvSpPr>
        <p:spPr>
          <a:xfrm flipV="1">
            <a:off x="10548948" y="1655438"/>
            <a:ext cx="144000" cy="12413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44" name="组合 43"/>
          <p:cNvGrpSpPr/>
          <p:nvPr/>
        </p:nvGrpSpPr>
        <p:grpSpPr>
          <a:xfrm>
            <a:off x="10851343" y="959936"/>
            <a:ext cx="785845" cy="786616"/>
            <a:chOff x="8230387" y="4036308"/>
            <a:chExt cx="1455128" cy="1456557"/>
          </a:xfrm>
          <a:gradFill>
            <a:gsLst>
              <a:gs pos="0">
                <a:schemeClr val="accent1">
                  <a:lumMod val="5000"/>
                  <a:lumOff val="95000"/>
                  <a:alpha val="0"/>
                </a:schemeClr>
              </a:gs>
              <a:gs pos="100000">
                <a:schemeClr val="bg1"/>
              </a:gs>
            </a:gsLst>
            <a:lin ang="0" scaled="0"/>
          </a:gradFill>
        </p:grpSpPr>
        <p:sp>
          <p:nvSpPr>
            <p:cNvPr id="45" name="任意多边形: 形状 44"/>
            <p:cNvSpPr/>
            <p:nvPr/>
          </p:nvSpPr>
          <p:spPr>
            <a:xfrm>
              <a:off x="8230387" y="4154545"/>
              <a:ext cx="1330814" cy="1338320"/>
            </a:xfrm>
            <a:custGeom>
              <a:avLst/>
              <a:gdLst>
                <a:gd name="connsiteX0" fmla="*/ 1253566 w 1330815"/>
                <a:gd name="connsiteY0" fmla="*/ 1338320 h 1338320"/>
                <a:gd name="connsiteX1" fmla="*/ 77283 w 1330815"/>
                <a:gd name="connsiteY1" fmla="*/ 1338320 h 1338320"/>
                <a:gd name="connsiteX2" fmla="*/ 0 w 1330815"/>
                <a:gd name="connsiteY2" fmla="*/ 1338320 h 1338320"/>
                <a:gd name="connsiteX3" fmla="*/ 1377 w 1330815"/>
                <a:gd name="connsiteY3" fmla="*/ 1325465 h 1338320"/>
                <a:gd name="connsiteX4" fmla="*/ 435447 w 1330815"/>
                <a:gd name="connsiteY4" fmla="*/ 768989 h 1338320"/>
                <a:gd name="connsiteX5" fmla="*/ 442550 w 1330815"/>
                <a:gd name="connsiteY5" fmla="*/ 766404 h 1338320"/>
                <a:gd name="connsiteX6" fmla="*/ 436191 w 1330815"/>
                <a:gd name="connsiteY6" fmla="*/ 762320 h 1338320"/>
                <a:gd name="connsiteX7" fmla="*/ 246050 w 1330815"/>
                <a:gd name="connsiteY7" fmla="*/ 422536 h 1338320"/>
                <a:gd name="connsiteX8" fmla="*/ 665418 w 1330815"/>
                <a:gd name="connsiteY8" fmla="*/ 0 h 1338320"/>
                <a:gd name="connsiteX9" fmla="*/ 1084786 w 1330815"/>
                <a:gd name="connsiteY9" fmla="*/ 422583 h 1338320"/>
                <a:gd name="connsiteX10" fmla="*/ 894649 w 1330815"/>
                <a:gd name="connsiteY10" fmla="*/ 762385 h 1338320"/>
                <a:gd name="connsiteX11" fmla="*/ 888286 w 1330815"/>
                <a:gd name="connsiteY11" fmla="*/ 766441 h 1338320"/>
                <a:gd name="connsiteX12" fmla="*/ 895374 w 1330815"/>
                <a:gd name="connsiteY12" fmla="*/ 769054 h 1338320"/>
                <a:gd name="connsiteX13" fmla="*/ 1329430 w 1330815"/>
                <a:gd name="connsiteY13" fmla="*/ 1325540 h 1338320"/>
                <a:gd name="connsiteX14" fmla="*/ 1330816 w 1330815"/>
                <a:gd name="connsiteY14" fmla="*/ 1338320 h 1338320"/>
                <a:gd name="connsiteX15" fmla="*/ 1253566 w 1330815"/>
                <a:gd name="connsiteY15" fmla="*/ 1338320 h 1338320"/>
                <a:gd name="connsiteX16" fmla="*/ 1253566 w 1330815"/>
                <a:gd name="connsiteY16" fmla="*/ 1338320 h 133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30815" h="1338320">
                  <a:moveTo>
                    <a:pt x="1253566" y="1338320"/>
                  </a:moveTo>
                  <a:lnTo>
                    <a:pt x="77283" y="1338320"/>
                  </a:lnTo>
                  <a:lnTo>
                    <a:pt x="0" y="1338320"/>
                  </a:lnTo>
                  <a:lnTo>
                    <a:pt x="1377" y="1325465"/>
                  </a:lnTo>
                  <a:cubicBezTo>
                    <a:pt x="28119" y="1077341"/>
                    <a:pt x="202555" y="853663"/>
                    <a:pt x="435447" y="768989"/>
                  </a:cubicBezTo>
                  <a:lnTo>
                    <a:pt x="442550" y="766404"/>
                  </a:lnTo>
                  <a:lnTo>
                    <a:pt x="436191" y="762320"/>
                  </a:lnTo>
                  <a:cubicBezTo>
                    <a:pt x="317125" y="686074"/>
                    <a:pt x="246050" y="559077"/>
                    <a:pt x="246050" y="422536"/>
                  </a:cubicBezTo>
                  <a:cubicBezTo>
                    <a:pt x="246050" y="197448"/>
                    <a:pt x="442033" y="0"/>
                    <a:pt x="665418" y="0"/>
                  </a:cubicBezTo>
                  <a:cubicBezTo>
                    <a:pt x="888828" y="0"/>
                    <a:pt x="1084786" y="197448"/>
                    <a:pt x="1084786" y="422583"/>
                  </a:cubicBezTo>
                  <a:cubicBezTo>
                    <a:pt x="1084786" y="559123"/>
                    <a:pt x="1013693" y="686111"/>
                    <a:pt x="894649" y="762385"/>
                  </a:cubicBezTo>
                  <a:lnTo>
                    <a:pt x="888286" y="766441"/>
                  </a:lnTo>
                  <a:lnTo>
                    <a:pt x="895374" y="769054"/>
                  </a:lnTo>
                  <a:cubicBezTo>
                    <a:pt x="1128272" y="853756"/>
                    <a:pt x="1302706" y="1077380"/>
                    <a:pt x="1329430" y="1325540"/>
                  </a:cubicBezTo>
                  <a:lnTo>
                    <a:pt x="1330816" y="1338320"/>
                  </a:lnTo>
                  <a:lnTo>
                    <a:pt x="1253566" y="1338320"/>
                  </a:lnTo>
                  <a:lnTo>
                    <a:pt x="1253566" y="133832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46" name="任意多边形: 形状 45"/>
            <p:cNvSpPr/>
            <p:nvPr/>
          </p:nvSpPr>
          <p:spPr>
            <a:xfrm>
              <a:off x="9148545" y="4036308"/>
              <a:ext cx="536970" cy="531097"/>
            </a:xfrm>
            <a:custGeom>
              <a:avLst/>
              <a:gdLst>
                <a:gd name="connsiteX0" fmla="*/ 494593 w 536971"/>
                <a:gd name="connsiteY0" fmla="*/ 223622 h 531098"/>
                <a:gd name="connsiteX1" fmla="*/ 310874 w 536971"/>
                <a:gd name="connsiteY1" fmla="*/ 223622 h 531098"/>
                <a:gd name="connsiteX2" fmla="*/ 310874 w 536971"/>
                <a:gd name="connsiteY2" fmla="*/ 41927 h 531098"/>
                <a:gd name="connsiteX3" fmla="*/ 268486 w 536971"/>
                <a:gd name="connsiteY3" fmla="*/ 0 h 531098"/>
                <a:gd name="connsiteX4" fmla="*/ 226089 w 536971"/>
                <a:gd name="connsiteY4" fmla="*/ 41927 h 531098"/>
                <a:gd name="connsiteX5" fmla="*/ 226089 w 536971"/>
                <a:gd name="connsiteY5" fmla="*/ 223622 h 531098"/>
                <a:gd name="connsiteX6" fmla="*/ 42388 w 536971"/>
                <a:gd name="connsiteY6" fmla="*/ 223622 h 531098"/>
                <a:gd name="connsiteX7" fmla="*/ 0 w 536971"/>
                <a:gd name="connsiteY7" fmla="*/ 265548 h 531098"/>
                <a:gd name="connsiteX8" fmla="*/ 42388 w 536971"/>
                <a:gd name="connsiteY8" fmla="*/ 307475 h 531098"/>
                <a:gd name="connsiteX9" fmla="*/ 226089 w 536971"/>
                <a:gd name="connsiteY9" fmla="*/ 307475 h 531098"/>
                <a:gd name="connsiteX10" fmla="*/ 226089 w 536971"/>
                <a:gd name="connsiteY10" fmla="*/ 489176 h 531098"/>
                <a:gd name="connsiteX11" fmla="*/ 268486 w 536971"/>
                <a:gd name="connsiteY11" fmla="*/ 531099 h 531098"/>
                <a:gd name="connsiteX12" fmla="*/ 310865 w 536971"/>
                <a:gd name="connsiteY12" fmla="*/ 489176 h 531098"/>
                <a:gd name="connsiteX13" fmla="*/ 310865 w 536971"/>
                <a:gd name="connsiteY13" fmla="*/ 307475 h 531098"/>
                <a:gd name="connsiteX14" fmla="*/ 494575 w 536971"/>
                <a:gd name="connsiteY14" fmla="*/ 307475 h 531098"/>
                <a:gd name="connsiteX15" fmla="*/ 536972 w 536971"/>
                <a:gd name="connsiteY15" fmla="*/ 265548 h 531098"/>
                <a:gd name="connsiteX16" fmla="*/ 494593 w 536971"/>
                <a:gd name="connsiteY16" fmla="*/ 223622 h 531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6971" h="531098">
                  <a:moveTo>
                    <a:pt x="494593" y="223622"/>
                  </a:moveTo>
                  <a:lnTo>
                    <a:pt x="310874" y="223622"/>
                  </a:lnTo>
                  <a:lnTo>
                    <a:pt x="310874" y="41927"/>
                  </a:lnTo>
                  <a:cubicBezTo>
                    <a:pt x="310874" y="18780"/>
                    <a:pt x="291899" y="0"/>
                    <a:pt x="268486" y="0"/>
                  </a:cubicBezTo>
                  <a:cubicBezTo>
                    <a:pt x="245064" y="0"/>
                    <a:pt x="226089" y="18780"/>
                    <a:pt x="226089" y="41927"/>
                  </a:cubicBezTo>
                  <a:lnTo>
                    <a:pt x="226089" y="223622"/>
                  </a:lnTo>
                  <a:lnTo>
                    <a:pt x="42388" y="223622"/>
                  </a:lnTo>
                  <a:cubicBezTo>
                    <a:pt x="18976" y="223622"/>
                    <a:pt x="0" y="242402"/>
                    <a:pt x="0" y="265548"/>
                  </a:cubicBezTo>
                  <a:cubicBezTo>
                    <a:pt x="0" y="288704"/>
                    <a:pt x="18976" y="307475"/>
                    <a:pt x="42388" y="307475"/>
                  </a:cubicBezTo>
                  <a:lnTo>
                    <a:pt x="226089" y="307475"/>
                  </a:lnTo>
                  <a:lnTo>
                    <a:pt x="226089" y="489176"/>
                  </a:lnTo>
                  <a:cubicBezTo>
                    <a:pt x="226089" y="512322"/>
                    <a:pt x="245064" y="531099"/>
                    <a:pt x="268486" y="531099"/>
                  </a:cubicBezTo>
                  <a:cubicBezTo>
                    <a:pt x="291899" y="531099"/>
                    <a:pt x="310865" y="512324"/>
                    <a:pt x="310865" y="489176"/>
                  </a:cubicBezTo>
                  <a:lnTo>
                    <a:pt x="310865" y="307475"/>
                  </a:lnTo>
                  <a:lnTo>
                    <a:pt x="494575" y="307475"/>
                  </a:lnTo>
                  <a:cubicBezTo>
                    <a:pt x="517987" y="307475"/>
                    <a:pt x="536972" y="288704"/>
                    <a:pt x="536972" y="265548"/>
                  </a:cubicBezTo>
                  <a:cubicBezTo>
                    <a:pt x="536972" y="242400"/>
                    <a:pt x="517996" y="223622"/>
                    <a:pt x="494593" y="223622"/>
                  </a:cubicBez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sp>
        <p:nvSpPr>
          <p:cNvPr id="48" name="Rectangle 79+"/>
          <p:cNvSpPr/>
          <p:nvPr/>
        </p:nvSpPr>
        <p:spPr>
          <a:xfrm>
            <a:off x="442913" y="2129065"/>
            <a:ext cx="6440487" cy="5334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49" name="文本框 48"/>
          <p:cNvSpPr txBox="1"/>
          <p:nvPr/>
        </p:nvSpPr>
        <p:spPr>
          <a:xfrm>
            <a:off x="2210034" y="2257266"/>
            <a:ext cx="2906245"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领域分布（岗位数）</a:t>
            </a: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50" name="Rectangle 79+"/>
          <p:cNvSpPr/>
          <p:nvPr/>
        </p:nvSpPr>
        <p:spPr>
          <a:xfrm>
            <a:off x="7112000" y="2129065"/>
            <a:ext cx="4637088" cy="338636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1" name="Rectangle 79++"/>
          <p:cNvSpPr/>
          <p:nvPr/>
        </p:nvSpPr>
        <p:spPr>
          <a:xfrm>
            <a:off x="7112000" y="2129065"/>
            <a:ext cx="4637088" cy="5334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3" name="文本框 52"/>
          <p:cNvSpPr txBox="1"/>
          <p:nvPr/>
        </p:nvSpPr>
        <p:spPr>
          <a:xfrm>
            <a:off x="627137" y="5080001"/>
            <a:ext cx="64120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单位：个</a:t>
            </a:r>
          </a:p>
        </p:txBody>
      </p:sp>
      <p:sp>
        <p:nvSpPr>
          <p:cNvPr id="54" name="TextBox 82+"/>
          <p:cNvSpPr txBox="1"/>
          <p:nvPr/>
        </p:nvSpPr>
        <p:spPr>
          <a:xfrm>
            <a:off x="8350120" y="2257266"/>
            <a:ext cx="2160848"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技能热度 Top8</a:t>
            </a: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55" name="文本框 54"/>
          <p:cNvSpPr txBox="1"/>
          <p:nvPr/>
        </p:nvSpPr>
        <p:spPr>
          <a:xfrm>
            <a:off x="1458913" y="6284396"/>
            <a:ext cx="4664739"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互联网/IT 363 个岗位领跑，AI/机器学习 41 个、云计算/DevOps 22 个紧随其后。</a:t>
            </a:r>
            <a:r>
              <a:rPr kumimoji="0" lang="en-US" altLang="zh-CN"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en-US" altLang="zh-CN"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endPar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6" name="文本框 55"/>
          <p:cNvSpPr txBox="1"/>
          <p:nvPr/>
        </p:nvSpPr>
        <p:spPr>
          <a:xfrm>
            <a:off x="7400474" y="5842340"/>
            <a:ext cx="3956211"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Python 164 岗位引用居首，SQL 83、Java 53、Kubernetes 51 次之。</a:t>
            </a:r>
            <a:r>
              <a:rPr kumimoji="0" lang="en-US" altLang="zh-CN"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sp>
        <p:nvSpPr>
          <p:cNvPr id="57" name="文本框 56"/>
          <p:cNvSpPr txBox="1"/>
          <p:nvPr/>
        </p:nvSpPr>
        <p:spPr>
          <a:xfrm>
            <a:off x="7400474" y="6298165"/>
            <a:ext cx="4337726"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四视图覆盖领域 / 技术栈 / 职级 / 热度四个维度。</a:t>
            </a:r>
            <a:r>
              <a:rPr kumimoji="0" lang="en-US" altLang="zh-CN"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en-US" altLang="zh-CN"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grpSp>
        <p:nvGrpSpPr>
          <p:cNvPr id="58" name="组合 57"/>
          <p:cNvGrpSpPr/>
          <p:nvPr/>
        </p:nvGrpSpPr>
        <p:grpSpPr>
          <a:xfrm>
            <a:off x="442913" y="5725887"/>
            <a:ext cx="943429" cy="326570"/>
            <a:chOff x="442913" y="5725887"/>
            <a:chExt cx="943429" cy="326570"/>
          </a:xfrm>
        </p:grpSpPr>
        <p:sp>
          <p:nvSpPr>
            <p:cNvPr id="59" name="箭头: 五边形 58"/>
            <p:cNvSpPr/>
            <p:nvPr/>
          </p:nvSpPr>
          <p:spPr>
            <a:xfrm>
              <a:off x="442913" y="5725887"/>
              <a:ext cx="943429" cy="32657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0" name="文本框 59"/>
            <p:cNvSpPr txBox="1"/>
            <p:nvPr/>
          </p:nvSpPr>
          <p:spPr>
            <a:xfrm>
              <a:off x="512056" y="5796839"/>
              <a:ext cx="732573"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互联网IT</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sp>
        <p:nvSpPr>
          <p:cNvPr id="61" name="文本框 60"/>
          <p:cNvSpPr txBox="1"/>
          <p:nvPr/>
        </p:nvSpPr>
        <p:spPr>
          <a:xfrm>
            <a:off x="1458913" y="5812228"/>
            <a:ext cx="4725653"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互联网/IT 领域 363 个岗位，占比 78%，是绝对主体。</a:t>
            </a:r>
            <a:r>
              <a:rPr kumimoji="0" lang="en-US" altLang="zh-CN"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grpSp>
        <p:nvGrpSpPr>
          <p:cNvPr id="62" name="Group 102+"/>
          <p:cNvGrpSpPr/>
          <p:nvPr/>
        </p:nvGrpSpPr>
        <p:grpSpPr>
          <a:xfrm>
            <a:off x="442913" y="6198055"/>
            <a:ext cx="943429" cy="326570"/>
            <a:chOff x="442913" y="5725887"/>
            <a:chExt cx="943429" cy="326570"/>
          </a:xfrm>
        </p:grpSpPr>
        <p:sp>
          <p:nvSpPr>
            <p:cNvPr id="63" name="箭头: 五边形 62"/>
            <p:cNvSpPr/>
            <p:nvPr/>
          </p:nvSpPr>
          <p:spPr>
            <a:xfrm>
              <a:off x="442913" y="5725887"/>
              <a:ext cx="943429" cy="32657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4" name="文本框 63"/>
            <p:cNvSpPr txBox="1"/>
            <p:nvPr/>
          </p:nvSpPr>
          <p:spPr>
            <a:xfrm>
              <a:off x="512056" y="5796839"/>
              <a:ext cx="732573"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AI/ML</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65" name="Group 102+"/>
          <p:cNvGrpSpPr/>
          <p:nvPr/>
        </p:nvGrpSpPr>
        <p:grpSpPr>
          <a:xfrm>
            <a:off x="6364742" y="5725887"/>
            <a:ext cx="943429" cy="326570"/>
            <a:chOff x="442913" y="5725887"/>
            <a:chExt cx="943429" cy="326570"/>
          </a:xfrm>
        </p:grpSpPr>
        <p:sp>
          <p:nvSpPr>
            <p:cNvPr id="66" name="箭头: 五边形 65"/>
            <p:cNvSpPr/>
            <p:nvPr/>
          </p:nvSpPr>
          <p:spPr>
            <a:xfrm>
              <a:off x="442913" y="5725887"/>
              <a:ext cx="943429" cy="32657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7" name="文本框 66"/>
            <p:cNvSpPr txBox="1"/>
            <p:nvPr/>
          </p:nvSpPr>
          <p:spPr>
            <a:xfrm>
              <a:off x="512056" y="5796839"/>
              <a:ext cx="732573"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云计算</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68" name="Group 102++"/>
          <p:cNvGrpSpPr/>
          <p:nvPr/>
        </p:nvGrpSpPr>
        <p:grpSpPr>
          <a:xfrm>
            <a:off x="6364742" y="6198055"/>
            <a:ext cx="943429" cy="326570"/>
            <a:chOff x="442913" y="5725887"/>
            <a:chExt cx="943429" cy="326570"/>
          </a:xfrm>
        </p:grpSpPr>
        <p:sp>
          <p:nvSpPr>
            <p:cNvPr id="69" name="箭头: 五边形 68"/>
            <p:cNvSpPr/>
            <p:nvPr/>
          </p:nvSpPr>
          <p:spPr>
            <a:xfrm>
              <a:off x="442913" y="5725887"/>
              <a:ext cx="943429" cy="32657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70" name="文本框 69"/>
            <p:cNvSpPr txBox="1"/>
            <p:nvPr/>
          </p:nvSpPr>
          <p:spPr>
            <a:xfrm>
              <a:off x="512056" y="5796839"/>
              <a:ext cx="732573" cy="184666"/>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数据科学</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pic>
        <p:nvPicPr>
          <p:cNvPr id="71" name="图片 7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859713" y="3222399"/>
            <a:ext cx="413202" cy="413202"/>
          </a:xfrm>
          <a:prstGeom prst="rect">
            <a:avLst/>
          </a:prstGeom>
        </p:spPr>
      </p:pic>
      <p:sp>
        <p:nvSpPr>
          <p:cNvPr id="72" name="文本框 71"/>
          <p:cNvSpPr txBox="1"/>
          <p:nvPr/>
        </p:nvSpPr>
        <p:spPr>
          <a:xfrm>
            <a:off x="7750856" y="2859315"/>
            <a:ext cx="639599"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465</a:t>
            </a: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73" name="TextBox 88+"/>
          <p:cNvSpPr txBox="1"/>
          <p:nvPr/>
        </p:nvSpPr>
        <p:spPr>
          <a:xfrm>
            <a:off x="7276569" y="5080001"/>
            <a:ext cx="51296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岗位</a:t>
            </a:r>
          </a:p>
        </p:txBody>
      </p:sp>
      <p:sp>
        <p:nvSpPr>
          <p:cNvPr id="74" name="文本框 73"/>
          <p:cNvSpPr txBox="1"/>
          <p:nvPr/>
        </p:nvSpPr>
        <p:spPr>
          <a:xfrm>
            <a:off x="8810172" y="2900272"/>
            <a:ext cx="1124857" cy="428322"/>
          </a:xfrm>
          <a:prstGeom prst="rect">
            <a:avLst/>
          </a:prstGeom>
          <a:noFill/>
        </p:spPr>
        <p:txBody>
          <a:bodyPr wrap="square" lIns="0" tIns="0" rIns="0" b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技能 Top8 覆盖</a:t>
            </a:r>
            <a:r>
              <a:rPr kumimoji="0" lang="en-US" altLang="zh-CN" sz="12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核心技能栈全貌</a:t>
            </a:r>
            <a:r>
              <a:rPr kumimoji="0" lang="en-US" altLang="zh-CN" sz="12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75" name="任意多边形: 形状 74"/>
          <p:cNvSpPr/>
          <p:nvPr/>
        </p:nvSpPr>
        <p:spPr>
          <a:xfrm>
            <a:off x="8429825" y="2830286"/>
            <a:ext cx="1621318" cy="598714"/>
          </a:xfrm>
          <a:custGeom>
            <a:avLst/>
            <a:gdLst>
              <a:gd name="connsiteX0" fmla="*/ 249717 w 1969660"/>
              <a:gd name="connsiteY0" fmla="*/ 0 h 598714"/>
              <a:gd name="connsiteX1" fmla="*/ 1969660 w 1969660"/>
              <a:gd name="connsiteY1" fmla="*/ 0 h 598714"/>
              <a:gd name="connsiteX2" fmla="*/ 1969660 w 1969660"/>
              <a:gd name="connsiteY2" fmla="*/ 598714 h 598714"/>
              <a:gd name="connsiteX3" fmla="*/ 249717 w 1969660"/>
              <a:gd name="connsiteY3" fmla="*/ 598714 h 598714"/>
              <a:gd name="connsiteX4" fmla="*/ 249717 w 1969660"/>
              <a:gd name="connsiteY4" fmla="*/ 398077 h 598714"/>
              <a:gd name="connsiteX5" fmla="*/ 0 w 1969660"/>
              <a:gd name="connsiteY5" fmla="*/ 352809 h 598714"/>
              <a:gd name="connsiteX6" fmla="*/ 249717 w 1969660"/>
              <a:gd name="connsiteY6" fmla="*/ 65998 h 59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9660" h="598714">
                <a:moveTo>
                  <a:pt x="249717" y="0"/>
                </a:moveTo>
                <a:lnTo>
                  <a:pt x="1969660" y="0"/>
                </a:lnTo>
                <a:lnTo>
                  <a:pt x="1969660" y="598714"/>
                </a:lnTo>
                <a:lnTo>
                  <a:pt x="249717" y="598714"/>
                </a:lnTo>
                <a:lnTo>
                  <a:pt x="249717" y="398077"/>
                </a:lnTo>
                <a:lnTo>
                  <a:pt x="0" y="352809"/>
                </a:lnTo>
                <a:lnTo>
                  <a:pt x="249717" y="65998"/>
                </a:ln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aphicFrame>
        <p:nvGraphicFramePr>
          <p:cNvPr id="76" name="Chart 75"/>
          <p:cNvGraphicFramePr>
            <a:graphicFrameLocks noGrp="1"/>
          </p:cNvGraphicFramePr>
          <p:nvPr/>
        </p:nvGraphicFramePr>
        <p:xfrm>
          <a:off x="720726" y="2657020"/>
          <a:ext cx="3000000" cy="1300000"/>
        </p:xfrm>
        <a:graphic>
          <a:graphicData uri="http://schemas.openxmlformats.org/drawingml/2006/chart">
            <c:chart xmlns:c="http://schemas.openxmlformats.org/drawingml/2006/chart" r:id="rId8"/>
          </a:graphicData>
        </a:graphic>
      </p:graphicFrame>
      <p:graphicFrame>
        <p:nvGraphicFramePr>
          <p:cNvPr id="77" name="Chart 76"/>
          <p:cNvGraphicFramePr>
            <a:graphicFrameLocks noGrp="1"/>
          </p:cNvGraphicFramePr>
          <p:nvPr/>
        </p:nvGraphicFramePr>
        <p:xfrm>
          <a:off x="7329714" y="2816981"/>
          <a:ext cx="3000000" cy="1300000"/>
        </p:xfrm>
        <a:graphic>
          <a:graphicData uri="http://schemas.openxmlformats.org/drawingml/2006/chart">
            <c:chart xmlns:c="http://schemas.openxmlformats.org/drawingml/2006/chart" r:id="rId9"/>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圆角 29"/>
          <p:cNvSpPr/>
          <p:nvPr/>
        </p:nvSpPr>
        <p:spPr>
          <a:xfrm>
            <a:off x="465945" y="1635760"/>
            <a:ext cx="5265420" cy="4775156"/>
          </a:xfrm>
          <a:prstGeom prst="roundRect">
            <a:avLst>
              <a:gd name="adj" fmla="val 0"/>
            </a:avLst>
          </a:prstGeom>
          <a:gradFill flip="none" rotWithShape="1">
            <a:gsLst>
              <a:gs pos="0">
                <a:schemeClr val="bg1"/>
              </a:gs>
              <a:gs pos="100000">
                <a:schemeClr val="bg1">
                  <a:lumMod val="95000"/>
                </a:schemeClr>
              </a:gs>
            </a:gsLst>
            <a:lin ang="0" scaled="1"/>
            <a:tileRect/>
          </a:gradFill>
          <a:ln w="12700" cap="flat" cmpd="sng" algn="ctr">
            <a:gradFill flip="none" rotWithShape="1">
              <a:gsLst>
                <a:gs pos="0">
                  <a:schemeClr val="bg1">
                    <a:lumMod val="95000"/>
                  </a:schemeClr>
                </a:gs>
                <a:gs pos="23000">
                  <a:schemeClr val="accent4"/>
                </a:gs>
              </a:gsLst>
              <a:lin ang="108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核心功能④：人岗匹配诊断</a:t>
            </a:r>
          </a:p>
        </p:txBody>
      </p:sp>
      <p:sp>
        <p:nvSpPr>
          <p:cNvPr id="11" name="形状 10"/>
          <p:cNvSpPr/>
          <p:nvPr/>
        </p:nvSpPr>
        <p:spPr>
          <a:xfrm>
            <a:off x="227013" y="908050"/>
            <a:ext cx="11737975" cy="979780"/>
          </a:xfrm>
          <a:prstGeom prst="leftRightRibbon">
            <a:avLst>
              <a:gd name="adj1" fmla="val 66667"/>
              <a:gd name="adj2" fmla="val 26218"/>
              <a:gd name="adj3" fmla="val 33333"/>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文本框 26"/>
          <p:cNvSpPr txBox="1"/>
          <p:nvPr/>
        </p:nvSpPr>
        <p:spPr>
          <a:xfrm>
            <a:off x="2268437" y="992991"/>
            <a:ext cx="147784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匹配流程</a:t>
            </a:r>
          </a:p>
        </p:txBody>
      </p:sp>
      <p:sp>
        <p:nvSpPr>
          <p:cNvPr id="28" name="文本框 27"/>
          <p:cNvSpPr txBox="1"/>
          <p:nvPr/>
        </p:nvSpPr>
        <p:spPr>
          <a:xfrm>
            <a:off x="8355488" y="1362621"/>
            <a:ext cx="147784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匹配输出</a:t>
            </a:r>
          </a:p>
        </p:txBody>
      </p:sp>
      <p:sp>
        <p:nvSpPr>
          <p:cNvPr id="43" name="任意多边形: 形状 42"/>
          <p:cNvSpPr/>
          <p:nvPr/>
        </p:nvSpPr>
        <p:spPr>
          <a:xfrm>
            <a:off x="5742940" y="1887829"/>
            <a:ext cx="5971540" cy="4775156"/>
          </a:xfrm>
          <a:custGeom>
            <a:avLst/>
            <a:gdLst>
              <a:gd name="connsiteX0" fmla="*/ 0 w 6222046"/>
              <a:gd name="connsiteY0" fmla="*/ 0 h 4775156"/>
              <a:gd name="connsiteX1" fmla="*/ 15075 w 6222046"/>
              <a:gd name="connsiteY1" fmla="*/ 13254 h 4775156"/>
              <a:gd name="connsiteX2" fmla="*/ 353061 w 6222046"/>
              <a:gd name="connsiteY2" fmla="*/ 74395 h 4775156"/>
              <a:gd name="connsiteX3" fmla="*/ 6222046 w 6222046"/>
              <a:gd name="connsiteY3" fmla="*/ 74395 h 4775156"/>
              <a:gd name="connsiteX4" fmla="*/ 6222046 w 6222046"/>
              <a:gd name="connsiteY4" fmla="*/ 4775156 h 4775156"/>
              <a:gd name="connsiteX5" fmla="*/ 353061 w 6222046"/>
              <a:gd name="connsiteY5" fmla="*/ 4775156 h 4775156"/>
              <a:gd name="connsiteX6" fmla="*/ 15075 w 6222046"/>
              <a:gd name="connsiteY6" fmla="*/ 4714015 h 4775156"/>
              <a:gd name="connsiteX7" fmla="*/ 0 w 6222046"/>
              <a:gd name="connsiteY7" fmla="*/ 4700761 h 477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22046" h="4775156">
                <a:moveTo>
                  <a:pt x="0" y="0"/>
                </a:moveTo>
                <a:lnTo>
                  <a:pt x="15075" y="13254"/>
                </a:lnTo>
                <a:cubicBezTo>
                  <a:pt x="70760" y="49184"/>
                  <a:pt x="201123" y="74395"/>
                  <a:pt x="353061" y="74395"/>
                </a:cubicBezTo>
                <a:lnTo>
                  <a:pt x="6222046" y="74395"/>
                </a:lnTo>
                <a:lnTo>
                  <a:pt x="6222046" y="4775156"/>
                </a:lnTo>
                <a:lnTo>
                  <a:pt x="353061" y="4775156"/>
                </a:lnTo>
                <a:cubicBezTo>
                  <a:pt x="201123" y="4775156"/>
                  <a:pt x="70760" y="4749945"/>
                  <a:pt x="15075" y="4714015"/>
                </a:cubicBezTo>
                <a:lnTo>
                  <a:pt x="0" y="4700761"/>
                </a:lnTo>
                <a:close/>
              </a:path>
            </a:pathLst>
          </a:custGeom>
          <a:gradFill flip="none" rotWithShape="1">
            <a:gsLst>
              <a:gs pos="0">
                <a:schemeClr val="bg1"/>
              </a:gs>
              <a:gs pos="100000">
                <a:schemeClr val="bg1">
                  <a:lumMod val="95000"/>
                </a:schemeClr>
              </a:gs>
            </a:gsLst>
            <a:lin ang="10800000" scaled="1"/>
            <a:tileRect/>
          </a:gradFill>
          <a:ln w="1270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3" name="文本框 52"/>
          <p:cNvSpPr txBox="1"/>
          <p:nvPr/>
        </p:nvSpPr>
        <p:spPr>
          <a:xfrm>
            <a:off x="1713687" y="2099742"/>
            <a:ext cx="1989526"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简历解析</a:t>
            </a:r>
          </a:p>
        </p:txBody>
      </p:sp>
      <p:sp>
        <p:nvSpPr>
          <p:cNvPr id="54" name="文本框 53"/>
          <p:cNvSpPr txBox="1"/>
          <p:nvPr/>
        </p:nvSpPr>
        <p:spPr>
          <a:xfrm>
            <a:off x="1713687" y="2463120"/>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解析简历提取技能，统一映射到能力图谱标准技能节点。</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57" name="文本框 56"/>
          <p:cNvSpPr txBox="1"/>
          <p:nvPr/>
        </p:nvSpPr>
        <p:spPr>
          <a:xfrm>
            <a:off x="1713687" y="3085493"/>
            <a:ext cx="252303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四层匹配</a:t>
            </a:r>
          </a:p>
        </p:txBody>
      </p:sp>
      <p:sp>
        <p:nvSpPr>
          <p:cNvPr id="58" name="文本框 57"/>
          <p:cNvSpPr txBox="1"/>
          <p:nvPr/>
        </p:nvSpPr>
        <p:spPr>
          <a:xfrm>
            <a:off x="1713688" y="3448871"/>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精确匹配 / 模糊匹配 / 向量语义匹配 / 熟练度匹配 四层递进。</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67" name="文本框 66"/>
          <p:cNvSpPr txBox="1"/>
          <p:nvPr/>
        </p:nvSpPr>
        <p:spPr>
          <a:xfrm>
            <a:off x="1713687" y="4071244"/>
            <a:ext cx="2372176"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差距分析</a:t>
            </a:r>
          </a:p>
        </p:txBody>
      </p:sp>
      <p:sp>
        <p:nvSpPr>
          <p:cNvPr id="68" name="文本框 67"/>
          <p:cNvSpPr txBox="1"/>
          <p:nvPr/>
        </p:nvSpPr>
        <p:spPr>
          <a:xfrm>
            <a:off x="1713687" y="4434622"/>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对比岗位要求输出技能差距清单，量化缺口优先级。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70" name="文本框 69"/>
          <p:cNvSpPr txBox="1"/>
          <p:nvPr/>
        </p:nvSpPr>
        <p:spPr>
          <a:xfrm>
            <a:off x="1713687" y="5056995"/>
            <a:ext cx="252303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学习路径</a:t>
            </a:r>
          </a:p>
        </p:txBody>
      </p:sp>
      <p:sp>
        <p:nvSpPr>
          <p:cNvPr id="71" name="文本框 70"/>
          <p:cNvSpPr txBox="1"/>
          <p:nvPr/>
        </p:nvSpPr>
        <p:spPr>
          <a:xfrm>
            <a:off x="1713688" y="5420373"/>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基于差距生成个性化学习路径，匹配在线课程与资料。</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sp>
        <p:nvSpPr>
          <p:cNvPr id="72" name="任意多边形: 形状 71"/>
          <p:cNvSpPr/>
          <p:nvPr/>
        </p:nvSpPr>
        <p:spPr>
          <a:xfrm>
            <a:off x="521136" y="2268220"/>
            <a:ext cx="122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任意多边形: 形状 72"/>
          <p:cNvSpPr/>
          <p:nvPr/>
        </p:nvSpPr>
        <p:spPr>
          <a:xfrm>
            <a:off x="881136" y="3251200"/>
            <a:ext cx="86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4" name="任意多边形: 形状 73"/>
          <p:cNvSpPr/>
          <p:nvPr/>
        </p:nvSpPr>
        <p:spPr>
          <a:xfrm>
            <a:off x="881136" y="4257040"/>
            <a:ext cx="86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任意多边形: 形状 74"/>
          <p:cNvSpPr/>
          <p:nvPr/>
        </p:nvSpPr>
        <p:spPr>
          <a:xfrm>
            <a:off x="521136" y="5232400"/>
            <a:ext cx="122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78" name="组合 77"/>
          <p:cNvGrpSpPr/>
          <p:nvPr/>
        </p:nvGrpSpPr>
        <p:grpSpPr>
          <a:xfrm>
            <a:off x="477520" y="2094386"/>
            <a:ext cx="985660" cy="3936844"/>
            <a:chOff x="477520" y="2013106"/>
            <a:chExt cx="985660" cy="3936844"/>
          </a:xfrm>
        </p:grpSpPr>
        <p:sp>
          <p:nvSpPr>
            <p:cNvPr id="76" name="任意多边形: 形状 75"/>
            <p:cNvSpPr/>
            <p:nvPr/>
          </p:nvSpPr>
          <p:spPr>
            <a:xfrm>
              <a:off x="477520" y="2013106"/>
              <a:ext cx="985660" cy="3936844"/>
            </a:xfrm>
            <a:custGeom>
              <a:avLst/>
              <a:gdLst>
                <a:gd name="connsiteX0" fmla="*/ 0 w 773717"/>
                <a:gd name="connsiteY0" fmla="*/ 0 h 3090322"/>
                <a:gd name="connsiteX1" fmla="*/ 15447 w 773717"/>
                <a:gd name="connsiteY1" fmla="*/ 10991 h 3090322"/>
                <a:gd name="connsiteX2" fmla="*/ 390531 w 773717"/>
                <a:gd name="connsiteY2" fmla="*/ 390630 h 3090322"/>
                <a:gd name="connsiteX3" fmla="*/ 574600 w 773717"/>
                <a:gd name="connsiteY3" fmla="*/ 2399280 h 3090322"/>
                <a:gd name="connsiteX4" fmla="*/ 85269 w 773717"/>
                <a:gd name="connsiteY4" fmla="*/ 3023463 h 3090322"/>
                <a:gd name="connsiteX5" fmla="*/ 0 w 773717"/>
                <a:gd name="connsiteY5" fmla="*/ 3090322 h 3090322"/>
                <a:gd name="connsiteX6" fmla="*/ 0 w 773717"/>
                <a:gd name="connsiteY6" fmla="*/ 2548356 h 3090322"/>
                <a:gd name="connsiteX7" fmla="*/ 110200 w 773717"/>
                <a:gd name="connsiteY7" fmla="*/ 2408245 h 3090322"/>
                <a:gd name="connsiteX8" fmla="*/ 217932 w 773717"/>
                <a:gd name="connsiteY8" fmla="*/ 2223416 h 3090322"/>
                <a:gd name="connsiteX9" fmla="*/ 71766 w 773717"/>
                <a:gd name="connsiteY9" fmla="*/ 628388 h 3090322"/>
                <a:gd name="connsiteX10" fmla="*/ 0 w 773717"/>
                <a:gd name="connsiteY10" fmla="*/ 544978 h 309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3717" h="3090322">
                  <a:moveTo>
                    <a:pt x="0" y="0"/>
                  </a:moveTo>
                  <a:lnTo>
                    <a:pt x="15447" y="10991"/>
                  </a:lnTo>
                  <a:cubicBezTo>
                    <a:pt x="155472" y="118022"/>
                    <a:pt x="282050" y="245188"/>
                    <a:pt x="390531" y="390630"/>
                  </a:cubicBezTo>
                  <a:cubicBezTo>
                    <a:pt x="824457" y="972398"/>
                    <a:pt x="895563" y="1748336"/>
                    <a:pt x="574600" y="2399280"/>
                  </a:cubicBezTo>
                  <a:cubicBezTo>
                    <a:pt x="454239" y="2643384"/>
                    <a:pt x="286365" y="2854453"/>
                    <a:pt x="85269" y="3023463"/>
                  </a:cubicBezTo>
                  <a:lnTo>
                    <a:pt x="0" y="3090322"/>
                  </a:lnTo>
                  <a:lnTo>
                    <a:pt x="0" y="2548356"/>
                  </a:lnTo>
                  <a:lnTo>
                    <a:pt x="110200" y="2408245"/>
                  </a:lnTo>
                  <a:cubicBezTo>
                    <a:pt x="150023" y="2349727"/>
                    <a:pt x="186073" y="2288029"/>
                    <a:pt x="217932" y="2223416"/>
                  </a:cubicBezTo>
                  <a:cubicBezTo>
                    <a:pt x="472802" y="1706514"/>
                    <a:pt x="416339" y="1090358"/>
                    <a:pt x="71766" y="628388"/>
                  </a:cubicBezTo>
                  <a:lnTo>
                    <a:pt x="0" y="544978"/>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任意多边形: 形状 76"/>
            <p:cNvSpPr/>
            <p:nvPr/>
          </p:nvSpPr>
          <p:spPr>
            <a:xfrm>
              <a:off x="477520" y="2377674"/>
              <a:ext cx="773717" cy="3090322"/>
            </a:xfrm>
            <a:custGeom>
              <a:avLst/>
              <a:gdLst>
                <a:gd name="connsiteX0" fmla="*/ 0 w 773717"/>
                <a:gd name="connsiteY0" fmla="*/ 0 h 3090322"/>
                <a:gd name="connsiteX1" fmla="*/ 15447 w 773717"/>
                <a:gd name="connsiteY1" fmla="*/ 10991 h 3090322"/>
                <a:gd name="connsiteX2" fmla="*/ 390531 w 773717"/>
                <a:gd name="connsiteY2" fmla="*/ 390630 h 3090322"/>
                <a:gd name="connsiteX3" fmla="*/ 574600 w 773717"/>
                <a:gd name="connsiteY3" fmla="*/ 2399280 h 3090322"/>
                <a:gd name="connsiteX4" fmla="*/ 85269 w 773717"/>
                <a:gd name="connsiteY4" fmla="*/ 3023463 h 3090322"/>
                <a:gd name="connsiteX5" fmla="*/ 0 w 773717"/>
                <a:gd name="connsiteY5" fmla="*/ 3090322 h 3090322"/>
                <a:gd name="connsiteX6" fmla="*/ 0 w 773717"/>
                <a:gd name="connsiteY6" fmla="*/ 2548356 h 3090322"/>
                <a:gd name="connsiteX7" fmla="*/ 110200 w 773717"/>
                <a:gd name="connsiteY7" fmla="*/ 2408245 h 3090322"/>
                <a:gd name="connsiteX8" fmla="*/ 217932 w 773717"/>
                <a:gd name="connsiteY8" fmla="*/ 2223416 h 3090322"/>
                <a:gd name="connsiteX9" fmla="*/ 71766 w 773717"/>
                <a:gd name="connsiteY9" fmla="*/ 628388 h 3090322"/>
                <a:gd name="connsiteX10" fmla="*/ 0 w 773717"/>
                <a:gd name="connsiteY10" fmla="*/ 544978 h 309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3717" h="3090322">
                  <a:moveTo>
                    <a:pt x="0" y="0"/>
                  </a:moveTo>
                  <a:lnTo>
                    <a:pt x="15447" y="10991"/>
                  </a:lnTo>
                  <a:cubicBezTo>
                    <a:pt x="155472" y="118022"/>
                    <a:pt x="282050" y="245188"/>
                    <a:pt x="390531" y="390630"/>
                  </a:cubicBezTo>
                  <a:cubicBezTo>
                    <a:pt x="824457" y="972398"/>
                    <a:pt x="895563" y="1748336"/>
                    <a:pt x="574600" y="2399280"/>
                  </a:cubicBezTo>
                  <a:cubicBezTo>
                    <a:pt x="454239" y="2643384"/>
                    <a:pt x="286365" y="2854453"/>
                    <a:pt x="85269" y="3023463"/>
                  </a:cubicBezTo>
                  <a:lnTo>
                    <a:pt x="0" y="3090322"/>
                  </a:lnTo>
                  <a:lnTo>
                    <a:pt x="0" y="2548356"/>
                  </a:lnTo>
                  <a:lnTo>
                    <a:pt x="110200" y="2408245"/>
                  </a:lnTo>
                  <a:cubicBezTo>
                    <a:pt x="150023" y="2349727"/>
                    <a:pt x="186073" y="2288029"/>
                    <a:pt x="217932" y="2223416"/>
                  </a:cubicBezTo>
                  <a:cubicBezTo>
                    <a:pt x="472802" y="1706514"/>
                    <a:pt x="416339" y="1090358"/>
                    <a:pt x="71766" y="628388"/>
                  </a:cubicBezTo>
                  <a:lnTo>
                    <a:pt x="0" y="544978"/>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95" name="任意多边形: 形状 94"/>
          <p:cNvSpPr/>
          <p:nvPr/>
        </p:nvSpPr>
        <p:spPr>
          <a:xfrm>
            <a:off x="5602914" y="2331019"/>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文本框 98"/>
          <p:cNvSpPr txBox="1"/>
          <p:nvPr/>
        </p:nvSpPr>
        <p:spPr>
          <a:xfrm>
            <a:off x="6877233" y="2377425"/>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输出岗位匹配分 + 技能差距清单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100" name="组合 99"/>
          <p:cNvGrpSpPr/>
          <p:nvPr/>
        </p:nvGrpSpPr>
        <p:grpSpPr>
          <a:xfrm>
            <a:off x="6723627" y="2213305"/>
            <a:ext cx="182762" cy="182762"/>
            <a:chOff x="6705601" y="4048125"/>
            <a:chExt cx="284480" cy="284480"/>
          </a:xfrm>
        </p:grpSpPr>
        <p:sp>
          <p:nvSpPr>
            <p:cNvPr id="101" name="椭圆 10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2" name="组合 101"/>
            <p:cNvGrpSpPr/>
            <p:nvPr/>
          </p:nvGrpSpPr>
          <p:grpSpPr>
            <a:xfrm>
              <a:off x="6705601" y="4048125"/>
              <a:ext cx="284480" cy="284480"/>
              <a:chOff x="6705600" y="4232302"/>
              <a:chExt cx="1219199" cy="1219199"/>
            </a:xfrm>
          </p:grpSpPr>
          <p:sp>
            <p:nvSpPr>
              <p:cNvPr id="103" name="任意多边形: 形状 10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任意多边形: 形状 10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10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6" name="文本框 105"/>
          <p:cNvSpPr txBox="1"/>
          <p:nvPr/>
        </p:nvSpPr>
        <p:spPr>
          <a:xfrm>
            <a:off x="6864142" y="2153550"/>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匹配评分</a:t>
            </a:r>
          </a:p>
        </p:txBody>
      </p:sp>
      <p:sp>
        <p:nvSpPr>
          <p:cNvPr id="109" name="文本框 108"/>
          <p:cNvSpPr txBox="1"/>
          <p:nvPr/>
        </p:nvSpPr>
        <p:spPr>
          <a:xfrm>
            <a:off x="6877233" y="2880829"/>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生成个性化学习路径建议</a:t>
            </a:r>
          </a:p>
        </p:txBody>
      </p:sp>
      <p:grpSp>
        <p:nvGrpSpPr>
          <p:cNvPr id="110" name="组合 109"/>
          <p:cNvGrpSpPr/>
          <p:nvPr/>
        </p:nvGrpSpPr>
        <p:grpSpPr>
          <a:xfrm>
            <a:off x="6723627" y="2716709"/>
            <a:ext cx="182762" cy="182762"/>
            <a:chOff x="6705601" y="4048125"/>
            <a:chExt cx="284480" cy="284480"/>
          </a:xfrm>
        </p:grpSpPr>
        <p:sp>
          <p:nvSpPr>
            <p:cNvPr id="112" name="椭圆 111"/>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3" name="组合 112"/>
            <p:cNvGrpSpPr/>
            <p:nvPr/>
          </p:nvGrpSpPr>
          <p:grpSpPr>
            <a:xfrm>
              <a:off x="6705601" y="4048125"/>
              <a:ext cx="284480" cy="284480"/>
              <a:chOff x="6705600" y="4232302"/>
              <a:chExt cx="1219199" cy="1219199"/>
            </a:xfrm>
          </p:grpSpPr>
          <p:sp>
            <p:nvSpPr>
              <p:cNvPr id="114" name="任意多边形: 形状 113"/>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任意多边形: 形状 114"/>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任意多边形: 形状 115"/>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11" name="文本框 110"/>
          <p:cNvSpPr txBox="1"/>
          <p:nvPr/>
        </p:nvSpPr>
        <p:spPr>
          <a:xfrm>
            <a:off x="6864142" y="2656954"/>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路径推荐</a:t>
            </a:r>
          </a:p>
        </p:txBody>
      </p:sp>
      <p:sp>
        <p:nvSpPr>
          <p:cNvPr id="159" name="任意多边形: 形状 158"/>
          <p:cNvSpPr/>
          <p:nvPr/>
        </p:nvSpPr>
        <p:spPr>
          <a:xfrm>
            <a:off x="5602914" y="3447565"/>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1" name="文本框 160"/>
          <p:cNvSpPr txBox="1"/>
          <p:nvPr/>
        </p:nvSpPr>
        <p:spPr>
          <a:xfrm>
            <a:off x="6877233" y="3493971"/>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清晰标注差距技能与推荐优先级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162" name="组合 161"/>
          <p:cNvGrpSpPr/>
          <p:nvPr/>
        </p:nvGrpSpPr>
        <p:grpSpPr>
          <a:xfrm>
            <a:off x="6723627" y="3329851"/>
            <a:ext cx="182762" cy="182762"/>
            <a:chOff x="6705601" y="4048125"/>
            <a:chExt cx="284480" cy="284480"/>
          </a:xfrm>
        </p:grpSpPr>
        <p:sp>
          <p:nvSpPr>
            <p:cNvPr id="172" name="椭圆 171"/>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3" name="组合 172"/>
            <p:cNvGrpSpPr/>
            <p:nvPr/>
          </p:nvGrpSpPr>
          <p:grpSpPr>
            <a:xfrm>
              <a:off x="6705601" y="4048125"/>
              <a:ext cx="284480" cy="284480"/>
              <a:chOff x="6705600" y="4232302"/>
              <a:chExt cx="1219199" cy="1219199"/>
            </a:xfrm>
          </p:grpSpPr>
          <p:sp>
            <p:nvSpPr>
              <p:cNvPr id="174" name="任意多边形: 形状 173"/>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任意多边形: 形状 174"/>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任意多边形: 形状 175"/>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63" name="文本框 162"/>
          <p:cNvSpPr txBox="1"/>
          <p:nvPr/>
        </p:nvSpPr>
        <p:spPr>
          <a:xfrm>
            <a:off x="6864142" y="3270096"/>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差距标注</a:t>
            </a:r>
          </a:p>
        </p:txBody>
      </p:sp>
      <p:sp>
        <p:nvSpPr>
          <p:cNvPr id="164" name="文本框 163"/>
          <p:cNvSpPr txBox="1"/>
          <p:nvPr/>
        </p:nvSpPr>
        <p:spPr>
          <a:xfrm>
            <a:off x="6877233" y="3997375"/>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岗位要求与简历能力可视化对比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165" name="组合 164"/>
          <p:cNvGrpSpPr/>
          <p:nvPr/>
        </p:nvGrpSpPr>
        <p:grpSpPr>
          <a:xfrm>
            <a:off x="6723627" y="3833255"/>
            <a:ext cx="182762" cy="182762"/>
            <a:chOff x="6705601" y="4048125"/>
            <a:chExt cx="284480" cy="284480"/>
          </a:xfrm>
        </p:grpSpPr>
        <p:sp>
          <p:nvSpPr>
            <p:cNvPr id="167" name="椭圆 166"/>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68" name="组合 167"/>
            <p:cNvGrpSpPr/>
            <p:nvPr/>
          </p:nvGrpSpPr>
          <p:grpSpPr>
            <a:xfrm>
              <a:off x="6705601" y="4048125"/>
              <a:ext cx="284480" cy="284480"/>
              <a:chOff x="6705600" y="4232302"/>
              <a:chExt cx="1219199" cy="1219199"/>
            </a:xfrm>
          </p:grpSpPr>
          <p:sp>
            <p:nvSpPr>
              <p:cNvPr id="169" name="任意多边形: 形状 168"/>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0" name="任意多边形: 形状 169"/>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1" name="任意多边形: 形状 170"/>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66" name="文本框 165"/>
          <p:cNvSpPr txBox="1"/>
          <p:nvPr/>
        </p:nvSpPr>
        <p:spPr>
          <a:xfrm>
            <a:off x="6864142" y="3773500"/>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对比视图</a:t>
            </a:r>
          </a:p>
        </p:txBody>
      </p:sp>
      <p:sp>
        <p:nvSpPr>
          <p:cNvPr id="178" name="任意多边形: 形状 177"/>
          <p:cNvSpPr/>
          <p:nvPr/>
        </p:nvSpPr>
        <p:spPr>
          <a:xfrm>
            <a:off x="5602914" y="4564111"/>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0" name="文本框 179"/>
          <p:cNvSpPr txBox="1"/>
          <p:nvPr/>
        </p:nvSpPr>
        <p:spPr>
          <a:xfrm>
            <a:off x="6877233" y="4610517"/>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匹配分 97.45%（432 样本实测）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1" name="组合 180"/>
          <p:cNvGrpSpPr/>
          <p:nvPr/>
        </p:nvGrpSpPr>
        <p:grpSpPr>
          <a:xfrm>
            <a:off x="6723627" y="4446397"/>
            <a:ext cx="182762" cy="182762"/>
            <a:chOff x="6705601" y="4048125"/>
            <a:chExt cx="284480" cy="284480"/>
          </a:xfrm>
        </p:grpSpPr>
        <p:sp>
          <p:nvSpPr>
            <p:cNvPr id="191" name="椭圆 19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92" name="组合 191"/>
            <p:cNvGrpSpPr/>
            <p:nvPr/>
          </p:nvGrpSpPr>
          <p:grpSpPr>
            <a:xfrm>
              <a:off x="6705601" y="4048125"/>
              <a:ext cx="284480" cy="284480"/>
              <a:chOff x="6705600" y="4232302"/>
              <a:chExt cx="1219199" cy="1219199"/>
            </a:xfrm>
          </p:grpSpPr>
          <p:sp>
            <p:nvSpPr>
              <p:cNvPr id="193" name="任意多边形: 形状 19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4" name="任意多边形: 形状 19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5" name="任意多边形: 形状 19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82" name="文本框 181"/>
          <p:cNvSpPr txBox="1"/>
          <p:nvPr/>
        </p:nvSpPr>
        <p:spPr>
          <a:xfrm>
            <a:off x="6864142" y="4386642"/>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匹配精度</a:t>
            </a:r>
          </a:p>
        </p:txBody>
      </p:sp>
      <p:sp>
        <p:nvSpPr>
          <p:cNvPr id="183" name="文本框 182"/>
          <p:cNvSpPr txBox="1"/>
          <p:nvPr/>
        </p:nvSpPr>
        <p:spPr>
          <a:xfrm>
            <a:off x="6877233" y="5113921"/>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区间 + 方向双重判定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184" name="组合 183"/>
          <p:cNvGrpSpPr/>
          <p:nvPr/>
        </p:nvGrpSpPr>
        <p:grpSpPr>
          <a:xfrm>
            <a:off x="6723627" y="4949801"/>
            <a:ext cx="182762" cy="182762"/>
            <a:chOff x="6705601" y="4048125"/>
            <a:chExt cx="284480" cy="284480"/>
          </a:xfrm>
        </p:grpSpPr>
        <p:sp>
          <p:nvSpPr>
            <p:cNvPr id="186" name="椭圆 185"/>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7" name="组合 186"/>
            <p:cNvGrpSpPr/>
            <p:nvPr/>
          </p:nvGrpSpPr>
          <p:grpSpPr>
            <a:xfrm>
              <a:off x="6705601" y="4048125"/>
              <a:ext cx="284480" cy="284480"/>
              <a:chOff x="6705600" y="4232302"/>
              <a:chExt cx="1219199" cy="1219199"/>
            </a:xfrm>
          </p:grpSpPr>
          <p:sp>
            <p:nvSpPr>
              <p:cNvPr id="188" name="任意多边形: 形状 187"/>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9" name="任意多边形: 形状 188"/>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0" name="任意多边形: 形状 189"/>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85" name="文本框 184"/>
          <p:cNvSpPr txBox="1"/>
          <p:nvPr/>
        </p:nvSpPr>
        <p:spPr>
          <a:xfrm>
            <a:off x="6864142" y="4890046"/>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判定方式</a:t>
            </a:r>
          </a:p>
        </p:txBody>
      </p:sp>
      <p:sp>
        <p:nvSpPr>
          <p:cNvPr id="197" name="任意多边形: 形状 196"/>
          <p:cNvSpPr/>
          <p:nvPr/>
        </p:nvSpPr>
        <p:spPr>
          <a:xfrm>
            <a:off x="5602914" y="5680656"/>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9" name="文本框 198"/>
          <p:cNvSpPr txBox="1"/>
          <p:nvPr/>
        </p:nvSpPr>
        <p:spPr>
          <a:xfrm>
            <a:off x="6877233" y="5727062"/>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从简历解析到路径生成全链路自动化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00" name="组合 199"/>
          <p:cNvGrpSpPr/>
          <p:nvPr/>
        </p:nvGrpSpPr>
        <p:grpSpPr>
          <a:xfrm>
            <a:off x="6723627" y="5562942"/>
            <a:ext cx="182762" cy="182762"/>
            <a:chOff x="6705601" y="4048125"/>
            <a:chExt cx="284480" cy="284480"/>
          </a:xfrm>
        </p:grpSpPr>
        <p:sp>
          <p:nvSpPr>
            <p:cNvPr id="210" name="椭圆 209"/>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11" name="组合 210"/>
            <p:cNvGrpSpPr/>
            <p:nvPr/>
          </p:nvGrpSpPr>
          <p:grpSpPr>
            <a:xfrm>
              <a:off x="6705601" y="4048125"/>
              <a:ext cx="284480" cy="284480"/>
              <a:chOff x="6705600" y="4232302"/>
              <a:chExt cx="1219199" cy="1219199"/>
            </a:xfrm>
          </p:grpSpPr>
          <p:sp>
            <p:nvSpPr>
              <p:cNvPr id="212" name="任意多边形: 形状 211"/>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3" name="任意多边形: 形状 212"/>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4" name="任意多边形: 形状 213"/>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01" name="文本框 200"/>
          <p:cNvSpPr txBox="1"/>
          <p:nvPr/>
        </p:nvSpPr>
        <p:spPr>
          <a:xfrm>
            <a:off x="6864142" y="5503187"/>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全链路</a:t>
            </a:r>
          </a:p>
        </p:txBody>
      </p:sp>
      <p:sp>
        <p:nvSpPr>
          <p:cNvPr id="202" name="文本框 201"/>
          <p:cNvSpPr txBox="1"/>
          <p:nvPr/>
        </p:nvSpPr>
        <p:spPr>
          <a:xfrm>
            <a:off x="6877233" y="6230466"/>
            <a:ext cx="460356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人岗匹配准确率 97.45%</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203" name="组合 202"/>
          <p:cNvGrpSpPr/>
          <p:nvPr/>
        </p:nvGrpSpPr>
        <p:grpSpPr>
          <a:xfrm>
            <a:off x="6723627" y="6066346"/>
            <a:ext cx="182762" cy="182762"/>
            <a:chOff x="6705601" y="4048125"/>
            <a:chExt cx="284480" cy="284480"/>
          </a:xfrm>
        </p:grpSpPr>
        <p:sp>
          <p:nvSpPr>
            <p:cNvPr id="205" name="椭圆 20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06" name="组合 205"/>
            <p:cNvGrpSpPr/>
            <p:nvPr/>
          </p:nvGrpSpPr>
          <p:grpSpPr>
            <a:xfrm>
              <a:off x="6705601" y="4048125"/>
              <a:ext cx="284480" cy="284480"/>
              <a:chOff x="6705600" y="4232302"/>
              <a:chExt cx="1219199" cy="1219199"/>
            </a:xfrm>
          </p:grpSpPr>
          <p:sp>
            <p:nvSpPr>
              <p:cNvPr id="207" name="任意多边形: 形状 20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8" name="任意多边形: 形状 20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任意多边形: 形状 20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04" name="文本框 203"/>
          <p:cNvSpPr txBox="1"/>
          <p:nvPr/>
        </p:nvSpPr>
        <p:spPr>
          <a:xfrm>
            <a:off x="6864142" y="6006591"/>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验证数据</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任意多边形: 形状 236"/>
          <p:cNvSpPr/>
          <p:nvPr/>
        </p:nvSpPr>
        <p:spPr>
          <a:xfrm>
            <a:off x="7325360" y="1493520"/>
            <a:ext cx="1148080" cy="1351280"/>
          </a:xfrm>
          <a:custGeom>
            <a:avLst/>
            <a:gdLst>
              <a:gd name="connsiteX0" fmla="*/ 0 w 1148080"/>
              <a:gd name="connsiteY0" fmla="*/ 1351280 h 1351280"/>
              <a:gd name="connsiteX1" fmla="*/ 436880 w 1148080"/>
              <a:gd name="connsiteY1" fmla="*/ 0 h 1351280"/>
              <a:gd name="connsiteX2" fmla="*/ 1148080 w 1148080"/>
              <a:gd name="connsiteY2" fmla="*/ 0 h 1351280"/>
            </a:gdLst>
            <a:ahLst/>
            <a:cxnLst>
              <a:cxn ang="0">
                <a:pos x="connsiteX0" y="connsiteY0"/>
              </a:cxn>
              <a:cxn ang="0">
                <a:pos x="connsiteX1" y="connsiteY1"/>
              </a:cxn>
              <a:cxn ang="0">
                <a:pos x="connsiteX2" y="connsiteY2"/>
              </a:cxn>
            </a:cxnLst>
            <a:rect l="l" t="t" r="r" b="b"/>
            <a:pathLst>
              <a:path w="1148080" h="1351280">
                <a:moveTo>
                  <a:pt x="0" y="1351280"/>
                </a:moveTo>
                <a:lnTo>
                  <a:pt x="436880" y="0"/>
                </a:lnTo>
                <a:lnTo>
                  <a:pt x="114808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8" name="任意多边形: 形状 237"/>
          <p:cNvSpPr/>
          <p:nvPr/>
        </p:nvSpPr>
        <p:spPr>
          <a:xfrm>
            <a:off x="6593840" y="4958080"/>
            <a:ext cx="1991360" cy="619760"/>
          </a:xfrm>
          <a:custGeom>
            <a:avLst/>
            <a:gdLst>
              <a:gd name="connsiteX0" fmla="*/ 0 w 1991360"/>
              <a:gd name="connsiteY0" fmla="*/ 0 h 619760"/>
              <a:gd name="connsiteX1" fmla="*/ 619760 w 1991360"/>
              <a:gd name="connsiteY1" fmla="*/ 619760 h 619760"/>
              <a:gd name="connsiteX2" fmla="*/ 1991360 w 1991360"/>
              <a:gd name="connsiteY2" fmla="*/ 619760 h 619760"/>
            </a:gdLst>
            <a:ahLst/>
            <a:cxnLst>
              <a:cxn ang="0">
                <a:pos x="connsiteX0" y="connsiteY0"/>
              </a:cxn>
              <a:cxn ang="0">
                <a:pos x="connsiteX1" y="connsiteY1"/>
              </a:cxn>
              <a:cxn ang="0">
                <a:pos x="connsiteX2" y="connsiteY2"/>
              </a:cxn>
            </a:cxnLst>
            <a:rect l="l" t="t" r="r" b="b"/>
            <a:pathLst>
              <a:path w="1991360" h="619760">
                <a:moveTo>
                  <a:pt x="0" y="0"/>
                </a:moveTo>
                <a:lnTo>
                  <a:pt x="619760" y="619760"/>
                </a:lnTo>
                <a:lnTo>
                  <a:pt x="1991360" y="61976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normAutofit/>
          </a:bodyPr>
          <a:lstStyle/>
          <a:p>
            <a:r>
              <a:rPr lang="zh-CN" altLang="en-US"/>
              <a:t>技术创新①：多源异构数据清洗与交叉验证</a:t>
            </a:r>
            <a:r>
              <a:rPr lang="en-US" altLang="zh-CN" b="1"/>
              <a:t/>
            </a:r>
            <a:r>
              <a:rPr lang="zh-CN" altLang="en-US"/>
              <a:t/>
            </a:r>
          </a:p>
        </p:txBody>
      </p:sp>
      <p:sp>
        <p:nvSpPr>
          <p:cNvPr id="16" name="形状 10"/>
          <p:cNvSpPr/>
          <p:nvPr/>
        </p:nvSpPr>
        <p:spPr bwMode="gray">
          <a:xfrm>
            <a:off x="5022788" y="1422968"/>
            <a:ext cx="1734207" cy="1819323"/>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2"/>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2">
                <a:lumMod val="75000"/>
              </a:schemeClr>
            </a:extrusionClr>
            <a:contourClr>
              <a:srgbClr val="00CC99"/>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7" name="椭圆11"/>
          <p:cNvSpPr>
            <a:spLocks noChangeArrowheads="1"/>
          </p:cNvSpPr>
          <p:nvPr/>
        </p:nvSpPr>
        <p:spPr bwMode="gray">
          <a:xfrm rot="2506802">
            <a:off x="5458113" y="1793898"/>
            <a:ext cx="893702" cy="1160202"/>
          </a:xfrm>
          <a:prstGeom prst="ellipse">
            <a:avLst/>
          </a:prstGeom>
          <a:solidFill>
            <a:schemeClr val="bg1">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8" name="椭圆 12"/>
          <p:cNvSpPr>
            <a:spLocks noChangeArrowheads="1"/>
          </p:cNvSpPr>
          <p:nvPr/>
        </p:nvSpPr>
        <p:spPr bwMode="gray">
          <a:xfrm rot="2506802">
            <a:off x="5612383" y="1907315"/>
            <a:ext cx="706627" cy="1074674"/>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3" name="形状 5"/>
          <p:cNvSpPr/>
          <p:nvPr/>
        </p:nvSpPr>
        <p:spPr bwMode="gray">
          <a:xfrm>
            <a:off x="4149880" y="2919186"/>
            <a:ext cx="1457068" cy="1528359"/>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1"/>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1">
                <a:lumMod val="75000"/>
              </a:schemeClr>
            </a:extrusionClr>
            <a:contourClr>
              <a:srgbClr val="B29B5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 name="椭圆6"/>
          <p:cNvSpPr>
            <a:spLocks noChangeArrowheads="1"/>
          </p:cNvSpPr>
          <p:nvPr/>
        </p:nvSpPr>
        <p:spPr bwMode="gray">
          <a:xfrm rot="2506802">
            <a:off x="4515637" y="3230793"/>
            <a:ext cx="750882" cy="974651"/>
          </a:xfrm>
          <a:prstGeom prst="ellipse">
            <a:avLst/>
          </a:prstGeom>
          <a:solidFill>
            <a:schemeClr val="bg2">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5" name="椭圆 7"/>
          <p:cNvSpPr>
            <a:spLocks noChangeArrowheads="1"/>
          </p:cNvSpPr>
          <p:nvPr/>
        </p:nvSpPr>
        <p:spPr bwMode="gray">
          <a:xfrm rot="2506802">
            <a:off x="4645253" y="3326072"/>
            <a:ext cx="593703" cy="902802"/>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 name="形状 14"/>
          <p:cNvSpPr/>
          <p:nvPr/>
        </p:nvSpPr>
        <p:spPr bwMode="gray">
          <a:xfrm>
            <a:off x="6171733" y="2607056"/>
            <a:ext cx="1734207" cy="1819321"/>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4"/>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4">
                <a:lumMod val="60000"/>
                <a:lumOff val="40000"/>
              </a:schemeClr>
            </a:extrusionClr>
            <a:contourClr>
              <a:srgbClr val="666699"/>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椭圆15"/>
          <p:cNvSpPr>
            <a:spLocks noChangeArrowheads="1"/>
          </p:cNvSpPr>
          <p:nvPr/>
        </p:nvSpPr>
        <p:spPr bwMode="gray">
          <a:xfrm rot="2506802">
            <a:off x="6607058" y="2977986"/>
            <a:ext cx="893702" cy="1160201"/>
          </a:xfrm>
          <a:prstGeom prst="ellipse">
            <a:avLst/>
          </a:prstGeom>
          <a:solidFill>
            <a:schemeClr val="bg1">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 name="椭圆 16"/>
          <p:cNvSpPr>
            <a:spLocks noChangeArrowheads="1"/>
          </p:cNvSpPr>
          <p:nvPr/>
        </p:nvSpPr>
        <p:spPr bwMode="gray">
          <a:xfrm rot="2506802">
            <a:off x="6761328" y="3091403"/>
            <a:ext cx="706627" cy="1074673"/>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0" name="形状 5"/>
          <p:cNvSpPr/>
          <p:nvPr/>
        </p:nvSpPr>
        <p:spPr bwMode="gray">
          <a:xfrm>
            <a:off x="4910877" y="4015940"/>
            <a:ext cx="1958027" cy="2053829"/>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5"/>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5">
                <a:lumMod val="60000"/>
                <a:lumOff val="40000"/>
              </a:schemeClr>
            </a:extrusionClr>
            <a:contourClr>
              <a:srgbClr val="B29B5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1" name="椭圆 6"/>
          <p:cNvSpPr>
            <a:spLocks noChangeArrowheads="1"/>
          </p:cNvSpPr>
          <p:nvPr/>
        </p:nvSpPr>
        <p:spPr bwMode="gray">
          <a:xfrm rot="2506802">
            <a:off x="5402386" y="4434682"/>
            <a:ext cx="1009045" cy="1309749"/>
          </a:xfrm>
          <a:prstGeom prst="ellipse">
            <a:avLst/>
          </a:prstGeom>
          <a:solidFill>
            <a:schemeClr val="bg2">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2" name="椭圆 7"/>
          <p:cNvSpPr>
            <a:spLocks noChangeArrowheads="1"/>
          </p:cNvSpPr>
          <p:nvPr/>
        </p:nvSpPr>
        <p:spPr bwMode="gray">
          <a:xfrm rot="2506802">
            <a:off x="5576566" y="4562718"/>
            <a:ext cx="797826" cy="1213197"/>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5" name="任意多边形: 形状 24"/>
          <p:cNvSpPr/>
          <p:nvPr/>
        </p:nvSpPr>
        <p:spPr>
          <a:xfrm>
            <a:off x="3779520" y="1441050"/>
            <a:ext cx="1696720" cy="579120"/>
          </a:xfrm>
          <a:custGeom>
            <a:avLst/>
            <a:gdLst>
              <a:gd name="connsiteX0" fmla="*/ 1696720 w 1696720"/>
              <a:gd name="connsiteY0" fmla="*/ 579120 h 579120"/>
              <a:gd name="connsiteX1" fmla="*/ 1117600 w 1696720"/>
              <a:gd name="connsiteY1" fmla="*/ 0 h 579120"/>
              <a:gd name="connsiteX2" fmla="*/ 0 w 1696720"/>
              <a:gd name="connsiteY2" fmla="*/ 0 h 579120"/>
            </a:gdLst>
            <a:ahLst/>
            <a:cxnLst>
              <a:cxn ang="0">
                <a:pos x="connsiteX0" y="connsiteY0"/>
              </a:cxn>
              <a:cxn ang="0">
                <a:pos x="connsiteX1" y="connsiteY1"/>
              </a:cxn>
              <a:cxn ang="0">
                <a:pos x="connsiteX2" y="connsiteY2"/>
              </a:cxn>
            </a:cxnLst>
            <a:rect l="l" t="t" r="r" b="b"/>
            <a:pathLst>
              <a:path w="1696720" h="579120">
                <a:moveTo>
                  <a:pt x="1696720" y="579120"/>
                </a:moveTo>
                <a:lnTo>
                  <a:pt x="1117600" y="0"/>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3779520" y="4235050"/>
            <a:ext cx="873760" cy="345440"/>
          </a:xfrm>
          <a:custGeom>
            <a:avLst/>
            <a:gdLst>
              <a:gd name="connsiteX0" fmla="*/ 873760 w 873760"/>
              <a:gd name="connsiteY0" fmla="*/ 0 h 345440"/>
              <a:gd name="connsiteX1" fmla="*/ 528320 w 873760"/>
              <a:gd name="connsiteY1" fmla="*/ 345440 h 345440"/>
              <a:gd name="connsiteX2" fmla="*/ 0 w 873760"/>
              <a:gd name="connsiteY2" fmla="*/ 345440 h 345440"/>
            </a:gdLst>
            <a:ahLst/>
            <a:cxnLst>
              <a:cxn ang="0">
                <a:pos x="connsiteX0" y="connsiteY0"/>
              </a:cxn>
              <a:cxn ang="0">
                <a:pos x="connsiteX1" y="connsiteY1"/>
              </a:cxn>
              <a:cxn ang="0">
                <a:pos x="connsiteX2" y="connsiteY2"/>
              </a:cxn>
            </a:cxnLst>
            <a:rect l="l" t="t" r="r" b="b"/>
            <a:pathLst>
              <a:path w="873760" h="345440">
                <a:moveTo>
                  <a:pt x="873760" y="0"/>
                </a:moveTo>
                <a:lnTo>
                  <a:pt x="528320" y="345440"/>
                </a:lnTo>
                <a:lnTo>
                  <a:pt x="0" y="34544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矩形: 圆角 38"/>
          <p:cNvSpPr/>
          <p:nvPr/>
        </p:nvSpPr>
        <p:spPr>
          <a:xfrm>
            <a:off x="227427" y="981980"/>
            <a:ext cx="3555903" cy="919130"/>
          </a:xfrm>
          <a:prstGeom prst="roundRect">
            <a:avLst>
              <a:gd name="adj" fmla="val 703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a:off x="227427" y="1443835"/>
            <a:ext cx="3555903" cy="21959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3" name="文本框 52"/>
          <p:cNvSpPr txBox="1"/>
          <p:nvPr/>
        </p:nvSpPr>
        <p:spPr>
          <a:xfrm>
            <a:off x="531845" y="1030982"/>
            <a:ext cx="2841327"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Keep（SimHash 去重）</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矩形: 圆角 56"/>
          <p:cNvSpPr/>
          <p:nvPr/>
        </p:nvSpPr>
        <p:spPr>
          <a:xfrm>
            <a:off x="227427" y="3947485"/>
            <a:ext cx="3555903" cy="919129"/>
          </a:xfrm>
          <a:prstGeom prst="roundRect">
            <a:avLst>
              <a:gd name="adj" fmla="val 7039"/>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矩形: 圆角 57"/>
          <p:cNvSpPr/>
          <p:nvPr/>
        </p:nvSpPr>
        <p:spPr>
          <a:xfrm>
            <a:off x="227427" y="4409338"/>
            <a:ext cx="3555903" cy="2196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文本框 58"/>
          <p:cNvSpPr txBox="1"/>
          <p:nvPr/>
        </p:nvSpPr>
        <p:spPr>
          <a:xfrm>
            <a:off x="227427" y="3996487"/>
            <a:ext cx="3550006"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Improve（交叉验证）</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文本框 70"/>
          <p:cNvSpPr txBox="1"/>
          <p:nvPr/>
        </p:nvSpPr>
        <p:spPr>
          <a:xfrm>
            <a:off x="337942" y="1998628"/>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字符级 SimHash 剔除跨源搬运与抄袭 JD。</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73" name="组合 72"/>
          <p:cNvGrpSpPr/>
          <p:nvPr/>
        </p:nvGrpSpPr>
        <p:grpSpPr>
          <a:xfrm>
            <a:off x="337942" y="1565040"/>
            <a:ext cx="2988000" cy="361128"/>
            <a:chOff x="385171" y="1495590"/>
            <a:chExt cx="2988000" cy="361128"/>
          </a:xfrm>
        </p:grpSpPr>
        <p:sp>
          <p:nvSpPr>
            <p:cNvPr id="70" name="文本框 69"/>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去重机制</a:t>
              </a:r>
            </a:p>
          </p:txBody>
        </p:sp>
        <p:sp>
          <p:nvSpPr>
            <p:cNvPr id="72" name="任意多边形: 形状 71"/>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85" name="文本框 84"/>
          <p:cNvSpPr txBox="1"/>
          <p:nvPr/>
        </p:nvSpPr>
        <p:spPr>
          <a:xfrm>
            <a:off x="337942" y="2980343"/>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四因子信任评分：权威性×时效性×独立性×交叉一致性。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86" name="组合 85"/>
          <p:cNvGrpSpPr/>
          <p:nvPr/>
        </p:nvGrpSpPr>
        <p:grpSpPr>
          <a:xfrm>
            <a:off x="337942" y="2546755"/>
            <a:ext cx="2988000" cy="361128"/>
            <a:chOff x="385171" y="1495590"/>
            <a:chExt cx="2988000" cy="361128"/>
          </a:xfrm>
        </p:grpSpPr>
        <p:sp>
          <p:nvSpPr>
            <p:cNvPr id="87" name="文本框 86"/>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信任评分</a:t>
              </a:r>
            </a:p>
          </p:txBody>
        </p:sp>
        <p:sp>
          <p:nvSpPr>
            <p:cNvPr id="88" name="任意多边形: 形状 87"/>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99" name="矩形: 圆角 198"/>
          <p:cNvSpPr/>
          <p:nvPr/>
        </p:nvSpPr>
        <p:spPr>
          <a:xfrm>
            <a:off x="8413120" y="981980"/>
            <a:ext cx="3555903" cy="919130"/>
          </a:xfrm>
          <a:prstGeom prst="roundRect">
            <a:avLst>
              <a:gd name="adj" fmla="val 7039"/>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0" name="矩形: 圆角 199"/>
          <p:cNvSpPr/>
          <p:nvPr/>
        </p:nvSpPr>
        <p:spPr>
          <a:xfrm>
            <a:off x="8413120" y="1443835"/>
            <a:ext cx="3555903" cy="21959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1" name="文本框 200"/>
          <p:cNvSpPr txBox="1"/>
          <p:nvPr/>
        </p:nvSpPr>
        <p:spPr>
          <a:xfrm>
            <a:off x="8413120" y="1030982"/>
            <a:ext cx="3538042"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Start（动态治理）</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6" name="矩形: 圆角 195"/>
          <p:cNvSpPr/>
          <p:nvPr/>
        </p:nvSpPr>
        <p:spPr>
          <a:xfrm>
            <a:off x="8413120" y="3947485"/>
            <a:ext cx="3555903" cy="919129"/>
          </a:xfrm>
          <a:prstGeom prst="roundRect">
            <a:avLst>
              <a:gd name="adj" fmla="val 7039"/>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矩形: 圆角 196"/>
          <p:cNvSpPr/>
          <p:nvPr/>
        </p:nvSpPr>
        <p:spPr>
          <a:xfrm>
            <a:off x="8413120" y="4409338"/>
            <a:ext cx="3555903" cy="2196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8" name="文本框 197"/>
          <p:cNvSpPr txBox="1"/>
          <p:nvPr/>
        </p:nvSpPr>
        <p:spPr>
          <a:xfrm>
            <a:off x="8413120" y="3996487"/>
            <a:ext cx="3538042"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Stop（放弃单源）</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3" name="文本框 202"/>
          <p:cNvSpPr txBox="1"/>
          <p:nvPr/>
        </p:nvSpPr>
        <p:spPr>
          <a:xfrm>
            <a:off x="337942" y="4998242"/>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JD 时滞 / 噪音 / 抄袭三类问题专项治理。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04" name="组合 203"/>
          <p:cNvGrpSpPr/>
          <p:nvPr/>
        </p:nvGrpSpPr>
        <p:grpSpPr>
          <a:xfrm>
            <a:off x="337942" y="4564654"/>
            <a:ext cx="2988000" cy="361128"/>
            <a:chOff x="385171" y="1495590"/>
            <a:chExt cx="2988000" cy="361128"/>
          </a:xfrm>
        </p:grpSpPr>
        <p:sp>
          <p:nvSpPr>
            <p:cNvPr id="205" name="文本框 204"/>
            <p:cNvSpPr txBox="1"/>
            <p:nvPr/>
          </p:nvSpPr>
          <p:spPr>
            <a:xfrm>
              <a:off x="416799" y="1495590"/>
              <a:ext cx="2956372"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问题治理</a:t>
              </a:r>
            </a:p>
          </p:txBody>
        </p:sp>
        <p:sp>
          <p:nvSpPr>
            <p:cNvPr id="206" name="任意多边形: 形状 20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08" name="文本框 207"/>
          <p:cNvSpPr txBox="1"/>
          <p:nvPr/>
        </p:nvSpPr>
        <p:spPr>
          <a:xfrm>
            <a:off x="337942" y="5979957"/>
            <a:ext cx="303523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拒绝单一来源低可信 JD，保证图谱数据质量。</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grpSp>
        <p:nvGrpSpPr>
          <p:cNvPr id="209" name="组合 208"/>
          <p:cNvGrpSpPr/>
          <p:nvPr/>
        </p:nvGrpSpPr>
        <p:grpSpPr>
          <a:xfrm>
            <a:off x="337942" y="5546369"/>
            <a:ext cx="2988000" cy="361128"/>
            <a:chOff x="385171" y="1495590"/>
            <a:chExt cx="2988000" cy="361128"/>
          </a:xfrm>
        </p:grpSpPr>
        <p:sp>
          <p:nvSpPr>
            <p:cNvPr id="210" name="文本框 209"/>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质量底线</a:t>
              </a:r>
            </a:p>
          </p:txBody>
        </p:sp>
        <p:sp>
          <p:nvSpPr>
            <p:cNvPr id="211" name="任意多边形: 形状 21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13" name="文本框 212"/>
          <p:cNvSpPr txBox="1"/>
          <p:nvPr/>
        </p:nvSpPr>
        <p:spPr>
          <a:xfrm>
            <a:off x="8576401" y="1998628"/>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多源交叉验证，同一技能需多源一致才可入图。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14" name="组合 213"/>
          <p:cNvGrpSpPr/>
          <p:nvPr/>
        </p:nvGrpSpPr>
        <p:grpSpPr>
          <a:xfrm>
            <a:off x="8576401" y="1565040"/>
            <a:ext cx="2988000" cy="361128"/>
            <a:chOff x="385171" y="1495590"/>
            <a:chExt cx="2988000" cy="361128"/>
          </a:xfrm>
        </p:grpSpPr>
        <p:sp>
          <p:nvSpPr>
            <p:cNvPr id="215" name="文本框 214"/>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一致性校验</a:t>
              </a:r>
            </a:p>
          </p:txBody>
        </p:sp>
        <p:sp>
          <p:nvSpPr>
            <p:cNvPr id="216" name="任意多边形: 形状 21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18" name="文本框 217"/>
          <p:cNvSpPr txBox="1"/>
          <p:nvPr/>
        </p:nvSpPr>
        <p:spPr>
          <a:xfrm>
            <a:off x="8576401" y="2980343"/>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信任分随时间衰减，旧数据定期重评与更新。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19" name="组合 218"/>
          <p:cNvGrpSpPr/>
          <p:nvPr/>
        </p:nvGrpSpPr>
        <p:grpSpPr>
          <a:xfrm>
            <a:off x="8576401" y="2546755"/>
            <a:ext cx="2988000" cy="361128"/>
            <a:chOff x="385171" y="1495590"/>
            <a:chExt cx="2988000" cy="361128"/>
          </a:xfrm>
        </p:grpSpPr>
        <p:sp>
          <p:nvSpPr>
            <p:cNvPr id="220" name="文本框 219"/>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时间衰减</a:t>
              </a:r>
            </a:p>
          </p:txBody>
        </p:sp>
        <p:sp>
          <p:nvSpPr>
            <p:cNvPr id="221" name="任意多边形: 形状 22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3" name="文本框 222"/>
          <p:cNvSpPr txBox="1"/>
          <p:nvPr/>
        </p:nvSpPr>
        <p:spPr>
          <a:xfrm>
            <a:off x="8576401" y="4998242"/>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来源可信度不足的数据自动进入人工复核队列。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p>
        </p:txBody>
      </p:sp>
      <p:grpSp>
        <p:nvGrpSpPr>
          <p:cNvPr id="224" name="组合 223"/>
          <p:cNvGrpSpPr/>
          <p:nvPr/>
        </p:nvGrpSpPr>
        <p:grpSpPr>
          <a:xfrm>
            <a:off x="8576401" y="4564654"/>
            <a:ext cx="2988000" cy="361128"/>
            <a:chOff x="385171" y="1495590"/>
            <a:chExt cx="2988000" cy="361128"/>
          </a:xfrm>
        </p:grpSpPr>
        <p:sp>
          <p:nvSpPr>
            <p:cNvPr id="225" name="文本框 224"/>
            <p:cNvSpPr txBox="1"/>
            <p:nvPr/>
          </p:nvSpPr>
          <p:spPr>
            <a:xfrm>
              <a:off x="416799" y="1495590"/>
              <a:ext cx="2956372"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人工复核</a:t>
              </a:r>
            </a:p>
          </p:txBody>
        </p:sp>
        <p:sp>
          <p:nvSpPr>
            <p:cNvPr id="226" name="任意多边形: 形状 22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8" name="文本框 227"/>
          <p:cNvSpPr txBox="1"/>
          <p:nvPr/>
        </p:nvSpPr>
        <p:spPr>
          <a:xfrm>
            <a:off x="8576401" y="5979957"/>
            <a:ext cx="303523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清洗流水线覆盖采集到入图全流程。</a:t>
            </a:r>
          </a:p>
        </p:txBody>
      </p:sp>
      <p:grpSp>
        <p:nvGrpSpPr>
          <p:cNvPr id="229" name="组合 228"/>
          <p:cNvGrpSpPr/>
          <p:nvPr/>
        </p:nvGrpSpPr>
        <p:grpSpPr>
          <a:xfrm>
            <a:off x="8576401" y="5546369"/>
            <a:ext cx="2988000" cy="361128"/>
            <a:chOff x="385171" y="1495590"/>
            <a:chExt cx="2988000" cy="361128"/>
          </a:xfrm>
        </p:grpSpPr>
        <p:sp>
          <p:nvSpPr>
            <p:cNvPr id="230" name="文本框 229"/>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全流程覆盖</a:t>
              </a:r>
            </a:p>
          </p:txBody>
        </p:sp>
        <p:sp>
          <p:nvSpPr>
            <p:cNvPr id="231" name="任意多边形: 形状 23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33" name="文本框 232"/>
          <p:cNvSpPr txBox="1"/>
          <p:nvPr/>
        </p:nvSpPr>
        <p:spPr>
          <a:xfrm>
            <a:off x="5572986" y="2015463"/>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K</a:t>
            </a:r>
          </a:p>
        </p:txBody>
      </p:sp>
      <p:sp>
        <p:nvSpPr>
          <p:cNvPr id="234" name="文本框 233"/>
          <p:cNvSpPr txBox="1"/>
          <p:nvPr/>
        </p:nvSpPr>
        <p:spPr>
          <a:xfrm>
            <a:off x="4644652" y="3357347"/>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I</a:t>
            </a:r>
          </a:p>
        </p:txBody>
      </p:sp>
      <p:sp>
        <p:nvSpPr>
          <p:cNvPr id="235" name="文本框 234"/>
          <p:cNvSpPr txBox="1"/>
          <p:nvPr/>
        </p:nvSpPr>
        <p:spPr>
          <a:xfrm>
            <a:off x="6752227" y="3205783"/>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a:t>
            </a:r>
          </a:p>
        </p:txBody>
      </p:sp>
      <p:sp>
        <p:nvSpPr>
          <p:cNvPr id="236" name="文本框 235"/>
          <p:cNvSpPr txBox="1"/>
          <p:nvPr/>
        </p:nvSpPr>
        <p:spPr>
          <a:xfrm>
            <a:off x="5608053" y="4700249"/>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630993" y="1098248"/>
            <a:ext cx="8930015" cy="5381276"/>
            <a:chOff x="2152114" y="1098248"/>
            <a:chExt cx="7906286" cy="5381276"/>
          </a:xfrm>
        </p:grpSpPr>
        <p:sp>
          <p:nvSpPr>
            <p:cNvPr id="151" name="箭头: 手杖形 150"/>
            <p:cNvSpPr/>
            <p:nvPr/>
          </p:nvSpPr>
          <p:spPr>
            <a:xfrm rot="10800000">
              <a:off x="2152114" y="5824095"/>
              <a:ext cx="7819053" cy="655429"/>
            </a:xfrm>
            <a:prstGeom prst="uturnArrow">
              <a:avLst>
                <a:gd name="adj1" fmla="val 25000"/>
                <a:gd name="adj2" fmla="val 25000"/>
                <a:gd name="adj3" fmla="val 23306"/>
                <a:gd name="adj4" fmla="val 25243"/>
                <a:gd name="adj5" fmla="val 7500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箭头: 手杖形 148"/>
            <p:cNvSpPr/>
            <p:nvPr/>
          </p:nvSpPr>
          <p:spPr>
            <a:xfrm>
              <a:off x="2239347" y="1098248"/>
              <a:ext cx="7819053" cy="655429"/>
            </a:xfrm>
            <a:prstGeom prst="uturnArrow">
              <a:avLst>
                <a:gd name="adj1" fmla="val 25000"/>
                <a:gd name="adj2" fmla="val 25000"/>
                <a:gd name="adj3" fmla="val 23306"/>
                <a:gd name="adj4" fmla="val 25243"/>
                <a:gd name="adj5" fmla="val 7500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0" name="箭头: 下 149"/>
            <p:cNvSpPr/>
            <p:nvPr/>
          </p:nvSpPr>
          <p:spPr>
            <a:xfrm>
              <a:off x="9758683" y="3222292"/>
              <a:ext cx="299717" cy="1132096"/>
            </a:xfrm>
            <a:prstGeom prst="down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任意多边形: 形状 6"/>
            <p:cNvSpPr/>
            <p:nvPr/>
          </p:nvSpPr>
          <p:spPr>
            <a:xfrm rot="10800000">
              <a:off x="2154458" y="3167569"/>
              <a:ext cx="299717" cy="1132096"/>
            </a:xfrm>
            <a:custGeom>
              <a:avLst/>
              <a:gdLst>
                <a:gd name="connsiteX0" fmla="*/ 224788 w 299717"/>
                <a:gd name="connsiteY0" fmla="*/ 96929 h 1132096"/>
                <a:gd name="connsiteX1" fmla="*/ 74929 w 299717"/>
                <a:gd name="connsiteY1" fmla="*/ 96929 h 1132096"/>
                <a:gd name="connsiteX2" fmla="*/ 74929 w 299717"/>
                <a:gd name="connsiteY2" fmla="*/ 0 h 1132096"/>
                <a:gd name="connsiteX3" fmla="*/ 224788 w 299717"/>
                <a:gd name="connsiteY3" fmla="*/ 0 h 1132096"/>
                <a:gd name="connsiteX4" fmla="*/ 224788 w 299717"/>
                <a:gd name="connsiteY4" fmla="*/ 223255 h 1132096"/>
                <a:gd name="connsiteX5" fmla="*/ 74929 w 299717"/>
                <a:gd name="connsiteY5" fmla="*/ 223255 h 1132096"/>
                <a:gd name="connsiteX6" fmla="*/ 74929 w 299717"/>
                <a:gd name="connsiteY6" fmla="*/ 142648 h 1132096"/>
                <a:gd name="connsiteX7" fmla="*/ 224788 w 299717"/>
                <a:gd name="connsiteY7" fmla="*/ 142648 h 1132096"/>
                <a:gd name="connsiteX8" fmla="*/ 224788 w 299717"/>
                <a:gd name="connsiteY8" fmla="*/ 349580 h 1132096"/>
                <a:gd name="connsiteX9" fmla="*/ 74929 w 299717"/>
                <a:gd name="connsiteY9" fmla="*/ 349580 h 1132096"/>
                <a:gd name="connsiteX10" fmla="*/ 74929 w 299717"/>
                <a:gd name="connsiteY10" fmla="*/ 268974 h 1132096"/>
                <a:gd name="connsiteX11" fmla="*/ 224788 w 299717"/>
                <a:gd name="connsiteY11" fmla="*/ 268974 h 1132096"/>
                <a:gd name="connsiteX12" fmla="*/ 224788 w 299717"/>
                <a:gd name="connsiteY12" fmla="*/ 475905 h 1132096"/>
                <a:gd name="connsiteX13" fmla="*/ 74929 w 299717"/>
                <a:gd name="connsiteY13" fmla="*/ 475905 h 1132096"/>
                <a:gd name="connsiteX14" fmla="*/ 74929 w 299717"/>
                <a:gd name="connsiteY14" fmla="*/ 395299 h 1132096"/>
                <a:gd name="connsiteX15" fmla="*/ 224788 w 299717"/>
                <a:gd name="connsiteY15" fmla="*/ 395299 h 1132096"/>
                <a:gd name="connsiteX16" fmla="*/ 224788 w 299717"/>
                <a:gd name="connsiteY16" fmla="*/ 602230 h 1132096"/>
                <a:gd name="connsiteX17" fmla="*/ 74929 w 299717"/>
                <a:gd name="connsiteY17" fmla="*/ 602230 h 1132096"/>
                <a:gd name="connsiteX18" fmla="*/ 74929 w 299717"/>
                <a:gd name="connsiteY18" fmla="*/ 521624 h 1132096"/>
                <a:gd name="connsiteX19" fmla="*/ 224788 w 299717"/>
                <a:gd name="connsiteY19" fmla="*/ 521624 h 1132096"/>
                <a:gd name="connsiteX20" fmla="*/ 224788 w 299717"/>
                <a:gd name="connsiteY20" fmla="*/ 728555 h 1132096"/>
                <a:gd name="connsiteX21" fmla="*/ 74929 w 299717"/>
                <a:gd name="connsiteY21" fmla="*/ 728555 h 1132096"/>
                <a:gd name="connsiteX22" fmla="*/ 74929 w 299717"/>
                <a:gd name="connsiteY22" fmla="*/ 647949 h 1132096"/>
                <a:gd name="connsiteX23" fmla="*/ 224788 w 299717"/>
                <a:gd name="connsiteY23" fmla="*/ 647949 h 1132096"/>
                <a:gd name="connsiteX24" fmla="*/ 224788 w 299717"/>
                <a:gd name="connsiteY24" fmla="*/ 854880 h 1132096"/>
                <a:gd name="connsiteX25" fmla="*/ 74929 w 299717"/>
                <a:gd name="connsiteY25" fmla="*/ 854880 h 1132096"/>
                <a:gd name="connsiteX26" fmla="*/ 74929 w 299717"/>
                <a:gd name="connsiteY26" fmla="*/ 774274 h 1132096"/>
                <a:gd name="connsiteX27" fmla="*/ 224788 w 299717"/>
                <a:gd name="connsiteY27" fmla="*/ 774274 h 1132096"/>
                <a:gd name="connsiteX28" fmla="*/ 149859 w 299717"/>
                <a:gd name="connsiteY28" fmla="*/ 1132096 h 1132096"/>
                <a:gd name="connsiteX29" fmla="*/ 0 w 299717"/>
                <a:gd name="connsiteY29" fmla="*/ 982238 h 1132096"/>
                <a:gd name="connsiteX30" fmla="*/ 74929 w 299717"/>
                <a:gd name="connsiteY30" fmla="*/ 982238 h 1132096"/>
                <a:gd name="connsiteX31" fmla="*/ 74929 w 299717"/>
                <a:gd name="connsiteY31" fmla="*/ 900599 h 1132096"/>
                <a:gd name="connsiteX32" fmla="*/ 224788 w 299717"/>
                <a:gd name="connsiteY32" fmla="*/ 900599 h 1132096"/>
                <a:gd name="connsiteX33" fmla="*/ 224788 w 299717"/>
                <a:gd name="connsiteY33" fmla="*/ 982238 h 1132096"/>
                <a:gd name="connsiteX34" fmla="*/ 299717 w 299717"/>
                <a:gd name="connsiteY34" fmla="*/ 982238 h 113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99717" h="1132096">
                  <a:moveTo>
                    <a:pt x="224788" y="96929"/>
                  </a:moveTo>
                  <a:lnTo>
                    <a:pt x="74929" y="96929"/>
                  </a:lnTo>
                  <a:lnTo>
                    <a:pt x="74929" y="0"/>
                  </a:lnTo>
                  <a:lnTo>
                    <a:pt x="224788" y="0"/>
                  </a:lnTo>
                  <a:close/>
                  <a:moveTo>
                    <a:pt x="224788" y="223255"/>
                  </a:moveTo>
                  <a:lnTo>
                    <a:pt x="74929" y="223255"/>
                  </a:lnTo>
                  <a:lnTo>
                    <a:pt x="74929" y="142648"/>
                  </a:lnTo>
                  <a:lnTo>
                    <a:pt x="224788" y="142648"/>
                  </a:lnTo>
                  <a:close/>
                  <a:moveTo>
                    <a:pt x="224788" y="349580"/>
                  </a:moveTo>
                  <a:lnTo>
                    <a:pt x="74929" y="349580"/>
                  </a:lnTo>
                  <a:lnTo>
                    <a:pt x="74929" y="268974"/>
                  </a:lnTo>
                  <a:lnTo>
                    <a:pt x="224788" y="268974"/>
                  </a:lnTo>
                  <a:close/>
                  <a:moveTo>
                    <a:pt x="224788" y="475905"/>
                  </a:moveTo>
                  <a:lnTo>
                    <a:pt x="74929" y="475905"/>
                  </a:lnTo>
                  <a:lnTo>
                    <a:pt x="74929" y="395299"/>
                  </a:lnTo>
                  <a:lnTo>
                    <a:pt x="224788" y="395299"/>
                  </a:lnTo>
                  <a:close/>
                  <a:moveTo>
                    <a:pt x="224788" y="602230"/>
                  </a:moveTo>
                  <a:lnTo>
                    <a:pt x="74929" y="602230"/>
                  </a:lnTo>
                  <a:lnTo>
                    <a:pt x="74929" y="521624"/>
                  </a:lnTo>
                  <a:lnTo>
                    <a:pt x="224788" y="521624"/>
                  </a:lnTo>
                  <a:close/>
                  <a:moveTo>
                    <a:pt x="224788" y="728555"/>
                  </a:moveTo>
                  <a:lnTo>
                    <a:pt x="74929" y="728555"/>
                  </a:lnTo>
                  <a:lnTo>
                    <a:pt x="74929" y="647949"/>
                  </a:lnTo>
                  <a:lnTo>
                    <a:pt x="224788" y="647949"/>
                  </a:lnTo>
                  <a:close/>
                  <a:moveTo>
                    <a:pt x="224788" y="854880"/>
                  </a:moveTo>
                  <a:lnTo>
                    <a:pt x="74929" y="854880"/>
                  </a:lnTo>
                  <a:lnTo>
                    <a:pt x="74929" y="774274"/>
                  </a:lnTo>
                  <a:lnTo>
                    <a:pt x="224788" y="774274"/>
                  </a:lnTo>
                  <a:close/>
                  <a:moveTo>
                    <a:pt x="149859" y="1132096"/>
                  </a:moveTo>
                  <a:lnTo>
                    <a:pt x="0" y="982238"/>
                  </a:lnTo>
                  <a:lnTo>
                    <a:pt x="74929" y="982238"/>
                  </a:lnTo>
                  <a:lnTo>
                    <a:pt x="74929" y="900599"/>
                  </a:lnTo>
                  <a:lnTo>
                    <a:pt x="224788" y="900599"/>
                  </a:lnTo>
                  <a:lnTo>
                    <a:pt x="224788" y="982238"/>
                  </a:lnTo>
                  <a:lnTo>
                    <a:pt x="299717" y="982238"/>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 name="标题 1"/>
          <p:cNvSpPr>
            <a:spLocks noGrp="1"/>
          </p:cNvSpPr>
          <p:nvPr>
            <p:ph type="title"/>
          </p:nvPr>
        </p:nvSpPr>
        <p:spPr>
          <a:xfrm>
            <a:off x="0" y="181867"/>
            <a:ext cx="9377266" cy="549275"/>
          </a:xfrm>
        </p:spPr>
        <p:txBody>
          <a:bodyPr>
            <a:normAutofit/>
          </a:bodyPr>
          <a:lstStyle/>
          <a:p>
            <a:r>
              <a:rPr lang="en-US" altLang="zh-CN" b="1"/>
              <a:t>技术创新②：能力幻觉防控</a:t>
            </a:r>
            <a:r>
              <a:rPr lang="zh-CN" altLang="en-US"/>
              <a:t/>
            </a:r>
          </a:p>
        </p:txBody>
      </p:sp>
      <p:grpSp>
        <p:nvGrpSpPr>
          <p:cNvPr id="92" name="组合 91"/>
          <p:cNvGrpSpPr/>
          <p:nvPr/>
        </p:nvGrpSpPr>
        <p:grpSpPr>
          <a:xfrm>
            <a:off x="3887325" y="1222331"/>
            <a:ext cx="4427999" cy="5080768"/>
            <a:chOff x="3887325" y="1212997"/>
            <a:chExt cx="4427999" cy="5080768"/>
          </a:xfrm>
        </p:grpSpPr>
        <p:grpSp>
          <p:nvGrpSpPr>
            <p:cNvPr id="14" name="组合 13"/>
            <p:cNvGrpSpPr/>
            <p:nvPr/>
          </p:nvGrpSpPr>
          <p:grpSpPr>
            <a:xfrm rot="18915558">
              <a:off x="3887325" y="1545944"/>
              <a:ext cx="4427999" cy="4428000"/>
              <a:chOff x="4387557" y="1949807"/>
              <a:chExt cx="3394074" cy="3392488"/>
            </a:xfrm>
          </p:grpSpPr>
          <p:sp>
            <p:nvSpPr>
              <p:cNvPr id="15" name="任意多边形: 形状 14"/>
              <p:cNvSpPr/>
              <p:nvPr/>
            </p:nvSpPr>
            <p:spPr bwMode="auto">
              <a:xfrm>
                <a:off x="6308431" y="2905482"/>
                <a:ext cx="1473200" cy="1482725"/>
              </a:xfrm>
              <a:custGeom>
                <a:avLst/>
                <a:gdLst>
                  <a:gd name="connsiteX0" fmla="*/ 782638 w 1473200"/>
                  <a:gd name="connsiteY0" fmla="*/ 717550 h 1482725"/>
                  <a:gd name="connsiteX1" fmla="*/ 782638 w 1473200"/>
                  <a:gd name="connsiteY1" fmla="*/ 717550 h 1482725"/>
                  <a:gd name="connsiteX2" fmla="*/ 782638 w 1473200"/>
                  <a:gd name="connsiteY2" fmla="*/ 718185 h 1482725"/>
                  <a:gd name="connsiteX3" fmla="*/ 783829 w 1473200"/>
                  <a:gd name="connsiteY3" fmla="*/ 717947 h 1482725"/>
                  <a:gd name="connsiteX4" fmla="*/ 805286 w 1473200"/>
                  <a:gd name="connsiteY4" fmla="*/ 711625 h 1482725"/>
                  <a:gd name="connsiteX5" fmla="*/ 804863 w 1473200"/>
                  <a:gd name="connsiteY5" fmla="*/ 712787 h 1482725"/>
                  <a:gd name="connsiteX6" fmla="*/ 804863 w 1473200"/>
                  <a:gd name="connsiteY6" fmla="*/ 712788 h 1482725"/>
                  <a:gd name="connsiteX7" fmla="*/ 806096 w 1473200"/>
                  <a:gd name="connsiteY7" fmla="*/ 712435 h 1482725"/>
                  <a:gd name="connsiteX8" fmla="*/ 719138 w 1473200"/>
                  <a:gd name="connsiteY8" fmla="*/ 0 h 1482725"/>
                  <a:gd name="connsiteX9" fmla="*/ 749300 w 1473200"/>
                  <a:gd name="connsiteY9" fmla="*/ 0 h 1482725"/>
                  <a:gd name="connsiteX10" fmla="*/ 777875 w 1473200"/>
                  <a:gd name="connsiteY10" fmla="*/ 3175 h 1482725"/>
                  <a:gd name="connsiteX11" fmla="*/ 808038 w 1473200"/>
                  <a:gd name="connsiteY11" fmla="*/ 4762 h 1482725"/>
                  <a:gd name="connsiteX12" fmla="*/ 839788 w 1473200"/>
                  <a:gd name="connsiteY12" fmla="*/ 9525 h 1482725"/>
                  <a:gd name="connsiteX13" fmla="*/ 839785 w 1473200"/>
                  <a:gd name="connsiteY13" fmla="*/ 9525 h 1482725"/>
                  <a:gd name="connsiteX14" fmla="*/ 839787 w 1473200"/>
                  <a:gd name="connsiteY14" fmla="*/ 9525 h 1482725"/>
                  <a:gd name="connsiteX15" fmla="*/ 903287 w 1473200"/>
                  <a:gd name="connsiteY15" fmla="*/ 22225 h 1482725"/>
                  <a:gd name="connsiteX16" fmla="*/ 962024 w 1473200"/>
                  <a:gd name="connsiteY16" fmla="*/ 36513 h 1482725"/>
                  <a:gd name="connsiteX17" fmla="*/ 1019175 w 1473200"/>
                  <a:gd name="connsiteY17" fmla="*/ 57150 h 1482725"/>
                  <a:gd name="connsiteX18" fmla="*/ 1074737 w 1473200"/>
                  <a:gd name="connsiteY18" fmla="*/ 82550 h 1482725"/>
                  <a:gd name="connsiteX19" fmla="*/ 1127125 w 1473200"/>
                  <a:gd name="connsiteY19" fmla="*/ 114300 h 1482725"/>
                  <a:gd name="connsiteX20" fmla="*/ 1176338 w 1473200"/>
                  <a:gd name="connsiteY20" fmla="*/ 149225 h 1482725"/>
                  <a:gd name="connsiteX21" fmla="*/ 1223963 w 1473200"/>
                  <a:gd name="connsiteY21" fmla="*/ 187325 h 1482725"/>
                  <a:gd name="connsiteX22" fmla="*/ 1271588 w 1473200"/>
                  <a:gd name="connsiteY22" fmla="*/ 231775 h 1482725"/>
                  <a:gd name="connsiteX23" fmla="*/ 1303338 w 1473200"/>
                  <a:gd name="connsiteY23" fmla="*/ 271463 h 1482725"/>
                  <a:gd name="connsiteX24" fmla="*/ 1336675 w 1473200"/>
                  <a:gd name="connsiteY24" fmla="*/ 311150 h 1482725"/>
                  <a:gd name="connsiteX25" fmla="*/ 1362075 w 1473200"/>
                  <a:gd name="connsiteY25" fmla="*/ 352425 h 1482725"/>
                  <a:gd name="connsiteX26" fmla="*/ 1389063 w 1473200"/>
                  <a:gd name="connsiteY26" fmla="*/ 393700 h 1482725"/>
                  <a:gd name="connsiteX27" fmla="*/ 1409700 w 1473200"/>
                  <a:gd name="connsiteY27" fmla="*/ 438151 h 1482725"/>
                  <a:gd name="connsiteX28" fmla="*/ 1428750 w 1473200"/>
                  <a:gd name="connsiteY28" fmla="*/ 484188 h 1482725"/>
                  <a:gd name="connsiteX29" fmla="*/ 1443038 w 1473200"/>
                  <a:gd name="connsiteY29" fmla="*/ 528638 h 1482725"/>
                  <a:gd name="connsiteX30" fmla="*/ 1457325 w 1473200"/>
                  <a:gd name="connsiteY30" fmla="*/ 573088 h 1482725"/>
                  <a:gd name="connsiteX31" fmla="*/ 1463675 w 1473200"/>
                  <a:gd name="connsiteY31" fmla="*/ 620713 h 1482725"/>
                  <a:gd name="connsiteX32" fmla="*/ 1471613 w 1473200"/>
                  <a:gd name="connsiteY32" fmla="*/ 665163 h 1482725"/>
                  <a:gd name="connsiteX33" fmla="*/ 1473200 w 1473200"/>
                  <a:gd name="connsiteY33" fmla="*/ 712788 h 1482725"/>
                  <a:gd name="connsiteX34" fmla="*/ 1473200 w 1473200"/>
                  <a:gd name="connsiteY34" fmla="*/ 758826 h 1482725"/>
                  <a:gd name="connsiteX35" fmla="*/ 1471613 w 1473200"/>
                  <a:gd name="connsiteY35" fmla="*/ 804863 h 1482725"/>
                  <a:gd name="connsiteX36" fmla="*/ 1466850 w 1473200"/>
                  <a:gd name="connsiteY36" fmla="*/ 850901 h 1482725"/>
                  <a:gd name="connsiteX37" fmla="*/ 1457325 w 1473200"/>
                  <a:gd name="connsiteY37" fmla="*/ 895351 h 1482725"/>
                  <a:gd name="connsiteX38" fmla="*/ 1447800 w 1473200"/>
                  <a:gd name="connsiteY38" fmla="*/ 941389 h 1482725"/>
                  <a:gd name="connsiteX39" fmla="*/ 1433513 w 1473200"/>
                  <a:gd name="connsiteY39" fmla="*/ 985839 h 1482725"/>
                  <a:gd name="connsiteX40" fmla="*/ 1417638 w 1473200"/>
                  <a:gd name="connsiteY40" fmla="*/ 1028701 h 1482725"/>
                  <a:gd name="connsiteX41" fmla="*/ 1398588 w 1473200"/>
                  <a:gd name="connsiteY41" fmla="*/ 1069976 h 1482725"/>
                  <a:gd name="connsiteX42" fmla="*/ 1374775 w 1473200"/>
                  <a:gd name="connsiteY42" fmla="*/ 1111251 h 1482725"/>
                  <a:gd name="connsiteX43" fmla="*/ 1350963 w 1473200"/>
                  <a:gd name="connsiteY43" fmla="*/ 1150939 h 1482725"/>
                  <a:gd name="connsiteX44" fmla="*/ 1325563 w 1473200"/>
                  <a:gd name="connsiteY44" fmla="*/ 1189039 h 1482725"/>
                  <a:gd name="connsiteX45" fmla="*/ 1293813 w 1473200"/>
                  <a:gd name="connsiteY45" fmla="*/ 1223964 h 1482725"/>
                  <a:gd name="connsiteX46" fmla="*/ 1263650 w 1473200"/>
                  <a:gd name="connsiteY46" fmla="*/ 1258889 h 1482725"/>
                  <a:gd name="connsiteX47" fmla="*/ 1228725 w 1473200"/>
                  <a:gd name="connsiteY47" fmla="*/ 1292226 h 1482725"/>
                  <a:gd name="connsiteX48" fmla="*/ 1193800 w 1473200"/>
                  <a:gd name="connsiteY48" fmla="*/ 1322389 h 1482725"/>
                  <a:gd name="connsiteX49" fmla="*/ 1152525 w 1473200"/>
                  <a:gd name="connsiteY49" fmla="*/ 1350964 h 1482725"/>
                  <a:gd name="connsiteX50" fmla="*/ 1112837 w 1473200"/>
                  <a:gd name="connsiteY50" fmla="*/ 1376364 h 1482725"/>
                  <a:gd name="connsiteX51" fmla="*/ 1068387 w 1473200"/>
                  <a:gd name="connsiteY51" fmla="*/ 1400176 h 1482725"/>
                  <a:gd name="connsiteX52" fmla="*/ 1023937 w 1473200"/>
                  <a:gd name="connsiteY52" fmla="*/ 1420814 h 1482725"/>
                  <a:gd name="connsiteX53" fmla="*/ 976312 w 1473200"/>
                  <a:gd name="connsiteY53" fmla="*/ 1439864 h 1482725"/>
                  <a:gd name="connsiteX54" fmla="*/ 927099 w 1473200"/>
                  <a:gd name="connsiteY54" fmla="*/ 1454151 h 1482725"/>
                  <a:gd name="connsiteX55" fmla="*/ 877887 w 1473200"/>
                  <a:gd name="connsiteY55" fmla="*/ 1468439 h 1482725"/>
                  <a:gd name="connsiteX56" fmla="*/ 850899 w 1473200"/>
                  <a:gd name="connsiteY56" fmla="*/ 1473201 h 1482725"/>
                  <a:gd name="connsiteX57" fmla="*/ 825499 w 1473200"/>
                  <a:gd name="connsiteY57" fmla="*/ 1473201 h 1482725"/>
                  <a:gd name="connsiteX58" fmla="*/ 806449 w 1473200"/>
                  <a:gd name="connsiteY58" fmla="*/ 1476376 h 1482725"/>
                  <a:gd name="connsiteX59" fmla="*/ 803268 w 1473200"/>
                  <a:gd name="connsiteY59" fmla="*/ 1476376 h 1482725"/>
                  <a:gd name="connsiteX60" fmla="*/ 792163 w 1473200"/>
                  <a:gd name="connsiteY60" fmla="*/ 1477963 h 1482725"/>
                  <a:gd name="connsiteX61" fmla="*/ 758825 w 1473200"/>
                  <a:gd name="connsiteY61" fmla="*/ 1481138 h 1482725"/>
                  <a:gd name="connsiteX62" fmla="*/ 728663 w 1473200"/>
                  <a:gd name="connsiteY62" fmla="*/ 1482725 h 1482725"/>
                  <a:gd name="connsiteX63" fmla="*/ 695325 w 1473200"/>
                  <a:gd name="connsiteY63" fmla="*/ 1482725 h 1482725"/>
                  <a:gd name="connsiteX64" fmla="*/ 661988 w 1473200"/>
                  <a:gd name="connsiteY64" fmla="*/ 1481138 h 1482725"/>
                  <a:gd name="connsiteX65" fmla="*/ 630238 w 1473200"/>
                  <a:gd name="connsiteY65" fmla="*/ 1476375 h 1482725"/>
                  <a:gd name="connsiteX66" fmla="*/ 596900 w 1473200"/>
                  <a:gd name="connsiteY66" fmla="*/ 1471613 h 1482725"/>
                  <a:gd name="connsiteX67" fmla="*/ 563563 w 1473200"/>
                  <a:gd name="connsiteY67" fmla="*/ 1463675 h 1482725"/>
                  <a:gd name="connsiteX68" fmla="*/ 557213 w 1473200"/>
                  <a:gd name="connsiteY68" fmla="*/ 1458913 h 1482725"/>
                  <a:gd name="connsiteX69" fmla="*/ 552450 w 1473200"/>
                  <a:gd name="connsiteY69" fmla="*/ 1452563 h 1482725"/>
                  <a:gd name="connsiteX70" fmla="*/ 549275 w 1473200"/>
                  <a:gd name="connsiteY70" fmla="*/ 1444625 h 1482725"/>
                  <a:gd name="connsiteX71" fmla="*/ 547688 w 1473200"/>
                  <a:gd name="connsiteY71" fmla="*/ 1435100 h 1482725"/>
                  <a:gd name="connsiteX72" fmla="*/ 539750 w 1473200"/>
                  <a:gd name="connsiteY72" fmla="*/ 1366838 h 1482725"/>
                  <a:gd name="connsiteX73" fmla="*/ 528638 w 1473200"/>
                  <a:gd name="connsiteY73" fmla="*/ 1301750 h 1482725"/>
                  <a:gd name="connsiteX74" fmla="*/ 520700 w 1473200"/>
                  <a:gd name="connsiteY74" fmla="*/ 1268413 h 1482725"/>
                  <a:gd name="connsiteX75" fmla="*/ 511175 w 1473200"/>
                  <a:gd name="connsiteY75" fmla="*/ 1235075 h 1482725"/>
                  <a:gd name="connsiteX76" fmla="*/ 500063 w 1473200"/>
                  <a:gd name="connsiteY76" fmla="*/ 1201738 h 1482725"/>
                  <a:gd name="connsiteX77" fmla="*/ 488950 w 1473200"/>
                  <a:gd name="connsiteY77" fmla="*/ 1169988 h 1482725"/>
                  <a:gd name="connsiteX78" fmla="*/ 471488 w 1473200"/>
                  <a:gd name="connsiteY78" fmla="*/ 1136650 h 1482725"/>
                  <a:gd name="connsiteX79" fmla="*/ 455613 w 1473200"/>
                  <a:gd name="connsiteY79" fmla="*/ 1103313 h 1482725"/>
                  <a:gd name="connsiteX80" fmla="*/ 436563 w 1473200"/>
                  <a:gd name="connsiteY80" fmla="*/ 1069975 h 1482725"/>
                  <a:gd name="connsiteX81" fmla="*/ 417513 w 1473200"/>
                  <a:gd name="connsiteY81" fmla="*/ 1039813 h 1482725"/>
                  <a:gd name="connsiteX82" fmla="*/ 396875 w 1473200"/>
                  <a:gd name="connsiteY82" fmla="*/ 1011238 h 1482725"/>
                  <a:gd name="connsiteX83" fmla="*/ 374650 w 1473200"/>
                  <a:gd name="connsiteY83" fmla="*/ 982663 h 1482725"/>
                  <a:gd name="connsiteX84" fmla="*/ 350837 w 1473200"/>
                  <a:gd name="connsiteY84" fmla="*/ 957263 h 1482725"/>
                  <a:gd name="connsiteX85" fmla="*/ 328612 w 1473200"/>
                  <a:gd name="connsiteY85" fmla="*/ 931863 h 1482725"/>
                  <a:gd name="connsiteX86" fmla="*/ 301625 w 1473200"/>
                  <a:gd name="connsiteY86" fmla="*/ 908050 h 1482725"/>
                  <a:gd name="connsiteX87" fmla="*/ 273050 w 1473200"/>
                  <a:gd name="connsiteY87" fmla="*/ 884238 h 1482725"/>
                  <a:gd name="connsiteX88" fmla="*/ 246062 w 1473200"/>
                  <a:gd name="connsiteY88" fmla="*/ 863600 h 1482725"/>
                  <a:gd name="connsiteX89" fmla="*/ 217487 w 1473200"/>
                  <a:gd name="connsiteY89" fmla="*/ 841375 h 1482725"/>
                  <a:gd name="connsiteX90" fmla="*/ 185737 w 1473200"/>
                  <a:gd name="connsiteY90" fmla="*/ 822325 h 1482725"/>
                  <a:gd name="connsiteX91" fmla="*/ 155575 w 1473200"/>
                  <a:gd name="connsiteY91" fmla="*/ 806450 h 1482725"/>
                  <a:gd name="connsiteX92" fmla="*/ 122237 w 1473200"/>
                  <a:gd name="connsiteY92" fmla="*/ 790575 h 1482725"/>
                  <a:gd name="connsiteX93" fmla="*/ 87312 w 1473200"/>
                  <a:gd name="connsiteY93" fmla="*/ 773113 h 1482725"/>
                  <a:gd name="connsiteX94" fmla="*/ 44450 w 1473200"/>
                  <a:gd name="connsiteY94" fmla="*/ 757238 h 1482725"/>
                  <a:gd name="connsiteX95" fmla="*/ 0 w 1473200"/>
                  <a:gd name="connsiteY95" fmla="*/ 739775 h 1482725"/>
                  <a:gd name="connsiteX96" fmla="*/ 49212 w 1473200"/>
                  <a:gd name="connsiteY96" fmla="*/ 723900 h 1482725"/>
                  <a:gd name="connsiteX97" fmla="*/ 96837 w 1473200"/>
                  <a:gd name="connsiteY97" fmla="*/ 704850 h 1482725"/>
                  <a:gd name="connsiteX98" fmla="*/ 141287 w 1473200"/>
                  <a:gd name="connsiteY98" fmla="*/ 684212 h 1482725"/>
                  <a:gd name="connsiteX99" fmla="*/ 185737 w 1473200"/>
                  <a:gd name="connsiteY99" fmla="*/ 660400 h 1482725"/>
                  <a:gd name="connsiteX100" fmla="*/ 241300 w 1473200"/>
                  <a:gd name="connsiteY100" fmla="*/ 622300 h 1482725"/>
                  <a:gd name="connsiteX101" fmla="*/ 290512 w 1473200"/>
                  <a:gd name="connsiteY101" fmla="*/ 582612 h 1482725"/>
                  <a:gd name="connsiteX102" fmla="*/ 336550 w 1473200"/>
                  <a:gd name="connsiteY102" fmla="*/ 538162 h 1482725"/>
                  <a:gd name="connsiteX103" fmla="*/ 379412 w 1473200"/>
                  <a:gd name="connsiteY103" fmla="*/ 490537 h 1482725"/>
                  <a:gd name="connsiteX104" fmla="*/ 417513 w 1473200"/>
                  <a:gd name="connsiteY104" fmla="*/ 441325 h 1482725"/>
                  <a:gd name="connsiteX105" fmla="*/ 450850 w 1473200"/>
                  <a:gd name="connsiteY105" fmla="*/ 387350 h 1482725"/>
                  <a:gd name="connsiteX106" fmla="*/ 481013 w 1473200"/>
                  <a:gd name="connsiteY106" fmla="*/ 328612 h 1482725"/>
                  <a:gd name="connsiteX107" fmla="*/ 504825 w 1473200"/>
                  <a:gd name="connsiteY107" fmla="*/ 266700 h 1482725"/>
                  <a:gd name="connsiteX108" fmla="*/ 520700 w 1473200"/>
                  <a:gd name="connsiteY108" fmla="*/ 219075 h 1482725"/>
                  <a:gd name="connsiteX109" fmla="*/ 530225 w 1473200"/>
                  <a:gd name="connsiteY109" fmla="*/ 173037 h 1482725"/>
                  <a:gd name="connsiteX110" fmla="*/ 539750 w 1473200"/>
                  <a:gd name="connsiteY110" fmla="*/ 125412 h 1482725"/>
                  <a:gd name="connsiteX111" fmla="*/ 542925 w 1473200"/>
                  <a:gd name="connsiteY111" fmla="*/ 77787 h 1482725"/>
                  <a:gd name="connsiteX112" fmla="*/ 544513 w 1473200"/>
                  <a:gd name="connsiteY112" fmla="*/ 46037 h 1482725"/>
                  <a:gd name="connsiteX113" fmla="*/ 547688 w 1473200"/>
                  <a:gd name="connsiteY113" fmla="*/ 33337 h 1482725"/>
                  <a:gd name="connsiteX114" fmla="*/ 552450 w 1473200"/>
                  <a:gd name="connsiteY114" fmla="*/ 26987 h 1482725"/>
                  <a:gd name="connsiteX115" fmla="*/ 558800 w 1473200"/>
                  <a:gd name="connsiteY115" fmla="*/ 22225 h 1482725"/>
                  <a:gd name="connsiteX116" fmla="*/ 568325 w 1473200"/>
                  <a:gd name="connsiteY116" fmla="*/ 17462 h 1482725"/>
                  <a:gd name="connsiteX117" fmla="*/ 598488 w 1473200"/>
                  <a:gd name="connsiteY117" fmla="*/ 12700 h 1482725"/>
                  <a:gd name="connsiteX118" fmla="*/ 657225 w 1473200"/>
                  <a:gd name="connsiteY118" fmla="*/ 3175 h 148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1473200" h="1482725">
                    <a:moveTo>
                      <a:pt x="782638" y="717550"/>
                    </a:moveTo>
                    <a:lnTo>
                      <a:pt x="782638" y="717550"/>
                    </a:lnTo>
                    <a:lnTo>
                      <a:pt x="782638" y="718185"/>
                    </a:lnTo>
                    <a:lnTo>
                      <a:pt x="783829" y="717947"/>
                    </a:lnTo>
                    <a:close/>
                    <a:moveTo>
                      <a:pt x="805286" y="711625"/>
                    </a:moveTo>
                    <a:lnTo>
                      <a:pt x="804863" y="712787"/>
                    </a:lnTo>
                    <a:lnTo>
                      <a:pt x="804863" y="712788"/>
                    </a:lnTo>
                    <a:lnTo>
                      <a:pt x="806096" y="712435"/>
                    </a:lnTo>
                    <a:close/>
                    <a:moveTo>
                      <a:pt x="719138" y="0"/>
                    </a:moveTo>
                    <a:lnTo>
                      <a:pt x="749300" y="0"/>
                    </a:lnTo>
                    <a:lnTo>
                      <a:pt x="777875" y="3175"/>
                    </a:lnTo>
                    <a:lnTo>
                      <a:pt x="808038" y="4762"/>
                    </a:lnTo>
                    <a:lnTo>
                      <a:pt x="839788" y="9525"/>
                    </a:lnTo>
                    <a:lnTo>
                      <a:pt x="839785" y="9525"/>
                    </a:lnTo>
                    <a:lnTo>
                      <a:pt x="839787" y="9525"/>
                    </a:lnTo>
                    <a:lnTo>
                      <a:pt x="903287" y="22225"/>
                    </a:lnTo>
                    <a:lnTo>
                      <a:pt x="962024" y="36513"/>
                    </a:lnTo>
                    <a:lnTo>
                      <a:pt x="1019175" y="57150"/>
                    </a:lnTo>
                    <a:lnTo>
                      <a:pt x="1074737" y="82550"/>
                    </a:lnTo>
                    <a:lnTo>
                      <a:pt x="1127125" y="114300"/>
                    </a:lnTo>
                    <a:lnTo>
                      <a:pt x="1176338" y="149225"/>
                    </a:lnTo>
                    <a:lnTo>
                      <a:pt x="1223963" y="187325"/>
                    </a:lnTo>
                    <a:lnTo>
                      <a:pt x="1271588" y="231775"/>
                    </a:lnTo>
                    <a:lnTo>
                      <a:pt x="1303338" y="271463"/>
                    </a:lnTo>
                    <a:lnTo>
                      <a:pt x="1336675" y="311150"/>
                    </a:lnTo>
                    <a:lnTo>
                      <a:pt x="1362075" y="352425"/>
                    </a:lnTo>
                    <a:lnTo>
                      <a:pt x="1389063" y="393700"/>
                    </a:lnTo>
                    <a:lnTo>
                      <a:pt x="1409700" y="438151"/>
                    </a:lnTo>
                    <a:lnTo>
                      <a:pt x="1428750" y="484188"/>
                    </a:lnTo>
                    <a:lnTo>
                      <a:pt x="1443038" y="528638"/>
                    </a:lnTo>
                    <a:lnTo>
                      <a:pt x="1457325" y="573088"/>
                    </a:lnTo>
                    <a:lnTo>
                      <a:pt x="1463675" y="620713"/>
                    </a:lnTo>
                    <a:lnTo>
                      <a:pt x="1471613" y="665163"/>
                    </a:lnTo>
                    <a:lnTo>
                      <a:pt x="1473200" y="712788"/>
                    </a:lnTo>
                    <a:lnTo>
                      <a:pt x="1473200" y="758826"/>
                    </a:lnTo>
                    <a:lnTo>
                      <a:pt x="1471613" y="804863"/>
                    </a:lnTo>
                    <a:lnTo>
                      <a:pt x="1466850" y="850901"/>
                    </a:lnTo>
                    <a:lnTo>
                      <a:pt x="1457325" y="895351"/>
                    </a:lnTo>
                    <a:lnTo>
                      <a:pt x="1447800" y="941389"/>
                    </a:lnTo>
                    <a:lnTo>
                      <a:pt x="1433513" y="985839"/>
                    </a:lnTo>
                    <a:lnTo>
                      <a:pt x="1417638" y="1028701"/>
                    </a:lnTo>
                    <a:lnTo>
                      <a:pt x="1398588" y="1069976"/>
                    </a:lnTo>
                    <a:lnTo>
                      <a:pt x="1374775" y="1111251"/>
                    </a:lnTo>
                    <a:lnTo>
                      <a:pt x="1350963" y="1150939"/>
                    </a:lnTo>
                    <a:lnTo>
                      <a:pt x="1325563" y="1189039"/>
                    </a:lnTo>
                    <a:lnTo>
                      <a:pt x="1293813" y="1223964"/>
                    </a:lnTo>
                    <a:lnTo>
                      <a:pt x="1263650" y="1258889"/>
                    </a:lnTo>
                    <a:lnTo>
                      <a:pt x="1228725" y="1292226"/>
                    </a:lnTo>
                    <a:lnTo>
                      <a:pt x="1193800" y="1322389"/>
                    </a:lnTo>
                    <a:lnTo>
                      <a:pt x="1152525" y="1350964"/>
                    </a:lnTo>
                    <a:lnTo>
                      <a:pt x="1112837" y="1376364"/>
                    </a:lnTo>
                    <a:lnTo>
                      <a:pt x="1068387" y="1400176"/>
                    </a:lnTo>
                    <a:lnTo>
                      <a:pt x="1023937" y="1420814"/>
                    </a:lnTo>
                    <a:lnTo>
                      <a:pt x="976312" y="1439864"/>
                    </a:lnTo>
                    <a:lnTo>
                      <a:pt x="927099" y="1454151"/>
                    </a:lnTo>
                    <a:lnTo>
                      <a:pt x="877887" y="1468439"/>
                    </a:lnTo>
                    <a:lnTo>
                      <a:pt x="850899" y="1473201"/>
                    </a:lnTo>
                    <a:lnTo>
                      <a:pt x="825499" y="1473201"/>
                    </a:lnTo>
                    <a:lnTo>
                      <a:pt x="806449" y="1476376"/>
                    </a:lnTo>
                    <a:lnTo>
                      <a:pt x="803268" y="1476376"/>
                    </a:lnTo>
                    <a:lnTo>
                      <a:pt x="792163" y="1477963"/>
                    </a:lnTo>
                    <a:lnTo>
                      <a:pt x="758825" y="1481138"/>
                    </a:lnTo>
                    <a:lnTo>
                      <a:pt x="728663" y="1482725"/>
                    </a:lnTo>
                    <a:lnTo>
                      <a:pt x="695325" y="1482725"/>
                    </a:lnTo>
                    <a:lnTo>
                      <a:pt x="661988" y="1481138"/>
                    </a:lnTo>
                    <a:lnTo>
                      <a:pt x="630238" y="1476375"/>
                    </a:lnTo>
                    <a:lnTo>
                      <a:pt x="596900" y="1471613"/>
                    </a:lnTo>
                    <a:lnTo>
                      <a:pt x="563563" y="1463675"/>
                    </a:lnTo>
                    <a:lnTo>
                      <a:pt x="557213" y="1458913"/>
                    </a:lnTo>
                    <a:lnTo>
                      <a:pt x="552450" y="1452563"/>
                    </a:lnTo>
                    <a:lnTo>
                      <a:pt x="549275" y="1444625"/>
                    </a:lnTo>
                    <a:lnTo>
                      <a:pt x="547688" y="1435100"/>
                    </a:lnTo>
                    <a:lnTo>
                      <a:pt x="539750" y="1366838"/>
                    </a:lnTo>
                    <a:lnTo>
                      <a:pt x="528638" y="1301750"/>
                    </a:lnTo>
                    <a:lnTo>
                      <a:pt x="520700" y="1268413"/>
                    </a:lnTo>
                    <a:lnTo>
                      <a:pt x="511175" y="1235075"/>
                    </a:lnTo>
                    <a:lnTo>
                      <a:pt x="500063" y="1201738"/>
                    </a:lnTo>
                    <a:lnTo>
                      <a:pt x="488950" y="1169988"/>
                    </a:lnTo>
                    <a:lnTo>
                      <a:pt x="471488" y="1136650"/>
                    </a:lnTo>
                    <a:lnTo>
                      <a:pt x="455613" y="1103313"/>
                    </a:lnTo>
                    <a:lnTo>
                      <a:pt x="436563" y="1069975"/>
                    </a:lnTo>
                    <a:lnTo>
                      <a:pt x="417513" y="1039813"/>
                    </a:lnTo>
                    <a:lnTo>
                      <a:pt x="396875" y="1011238"/>
                    </a:lnTo>
                    <a:lnTo>
                      <a:pt x="374650" y="982663"/>
                    </a:lnTo>
                    <a:lnTo>
                      <a:pt x="350837" y="957263"/>
                    </a:lnTo>
                    <a:lnTo>
                      <a:pt x="328612" y="931863"/>
                    </a:lnTo>
                    <a:lnTo>
                      <a:pt x="301625" y="908050"/>
                    </a:lnTo>
                    <a:lnTo>
                      <a:pt x="273050" y="884238"/>
                    </a:lnTo>
                    <a:lnTo>
                      <a:pt x="246062" y="863600"/>
                    </a:lnTo>
                    <a:lnTo>
                      <a:pt x="217487" y="841375"/>
                    </a:lnTo>
                    <a:lnTo>
                      <a:pt x="185737" y="822325"/>
                    </a:lnTo>
                    <a:lnTo>
                      <a:pt x="155575" y="806450"/>
                    </a:lnTo>
                    <a:lnTo>
                      <a:pt x="122237" y="790575"/>
                    </a:lnTo>
                    <a:lnTo>
                      <a:pt x="87312" y="773113"/>
                    </a:lnTo>
                    <a:lnTo>
                      <a:pt x="44450" y="757238"/>
                    </a:lnTo>
                    <a:lnTo>
                      <a:pt x="0" y="739775"/>
                    </a:lnTo>
                    <a:lnTo>
                      <a:pt x="49212" y="723900"/>
                    </a:lnTo>
                    <a:lnTo>
                      <a:pt x="96837" y="704850"/>
                    </a:lnTo>
                    <a:lnTo>
                      <a:pt x="141287" y="684212"/>
                    </a:lnTo>
                    <a:lnTo>
                      <a:pt x="185737" y="660400"/>
                    </a:lnTo>
                    <a:lnTo>
                      <a:pt x="241300" y="622300"/>
                    </a:lnTo>
                    <a:lnTo>
                      <a:pt x="290512" y="582612"/>
                    </a:lnTo>
                    <a:lnTo>
                      <a:pt x="336550" y="538162"/>
                    </a:lnTo>
                    <a:lnTo>
                      <a:pt x="379412" y="490537"/>
                    </a:lnTo>
                    <a:lnTo>
                      <a:pt x="417513" y="441325"/>
                    </a:lnTo>
                    <a:lnTo>
                      <a:pt x="450850" y="387350"/>
                    </a:lnTo>
                    <a:lnTo>
                      <a:pt x="481013" y="328612"/>
                    </a:lnTo>
                    <a:lnTo>
                      <a:pt x="504825" y="266700"/>
                    </a:lnTo>
                    <a:lnTo>
                      <a:pt x="520700" y="219075"/>
                    </a:lnTo>
                    <a:lnTo>
                      <a:pt x="530225" y="173037"/>
                    </a:lnTo>
                    <a:lnTo>
                      <a:pt x="539750" y="125412"/>
                    </a:lnTo>
                    <a:lnTo>
                      <a:pt x="542925" y="77787"/>
                    </a:lnTo>
                    <a:lnTo>
                      <a:pt x="544513" y="46037"/>
                    </a:lnTo>
                    <a:lnTo>
                      <a:pt x="547688" y="33337"/>
                    </a:lnTo>
                    <a:lnTo>
                      <a:pt x="552450" y="26987"/>
                    </a:lnTo>
                    <a:lnTo>
                      <a:pt x="558800" y="22225"/>
                    </a:lnTo>
                    <a:lnTo>
                      <a:pt x="568325" y="17462"/>
                    </a:lnTo>
                    <a:lnTo>
                      <a:pt x="598488" y="12700"/>
                    </a:lnTo>
                    <a:lnTo>
                      <a:pt x="657225" y="3175"/>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bwMode="auto">
              <a:xfrm>
                <a:off x="5344820" y="3872270"/>
                <a:ext cx="1482726" cy="1470025"/>
              </a:xfrm>
              <a:custGeom>
                <a:avLst/>
                <a:gdLst>
                  <a:gd name="connsiteX0" fmla="*/ 500684 w 1482726"/>
                  <a:gd name="connsiteY0" fmla="*/ 926825 h 1470025"/>
                  <a:gd name="connsiteX1" fmla="*/ 500063 w 1482726"/>
                  <a:gd name="connsiteY1" fmla="*/ 928687 h 1470025"/>
                  <a:gd name="connsiteX2" fmla="*/ 501848 w 1482726"/>
                  <a:gd name="connsiteY2" fmla="*/ 928687 h 1470025"/>
                  <a:gd name="connsiteX3" fmla="*/ 895350 w 1482726"/>
                  <a:gd name="connsiteY3" fmla="*/ 860425 h 1470025"/>
                  <a:gd name="connsiteX4" fmla="*/ 895595 w 1482726"/>
                  <a:gd name="connsiteY4" fmla="*/ 861280 h 1470025"/>
                  <a:gd name="connsiteX5" fmla="*/ 895874 w 1482726"/>
                  <a:gd name="connsiteY5" fmla="*/ 860896 h 1470025"/>
                  <a:gd name="connsiteX6" fmla="*/ 895351 w 1482726"/>
                  <a:gd name="connsiteY6" fmla="*/ 860425 h 1470025"/>
                  <a:gd name="connsiteX7" fmla="*/ 467571 w 1482726"/>
                  <a:gd name="connsiteY7" fmla="*/ 824865 h 1470025"/>
                  <a:gd name="connsiteX8" fmla="*/ 466725 w 1482726"/>
                  <a:gd name="connsiteY8" fmla="*/ 825499 h 1470025"/>
                  <a:gd name="connsiteX9" fmla="*/ 466728 w 1482726"/>
                  <a:gd name="connsiteY9" fmla="*/ 825500 h 1470025"/>
                  <a:gd name="connsiteX10" fmla="*/ 467783 w 1482726"/>
                  <a:gd name="connsiteY10" fmla="*/ 825500 h 1470025"/>
                  <a:gd name="connsiteX11" fmla="*/ 738187 w 1482726"/>
                  <a:gd name="connsiteY11" fmla="*/ 0 h 1470025"/>
                  <a:gd name="connsiteX12" fmla="*/ 744537 w 1482726"/>
                  <a:gd name="connsiteY12" fmla="*/ 4762 h 1470025"/>
                  <a:gd name="connsiteX13" fmla="*/ 749300 w 1482726"/>
                  <a:gd name="connsiteY13" fmla="*/ 9525 h 1470025"/>
                  <a:gd name="connsiteX14" fmla="*/ 750887 w 1482726"/>
                  <a:gd name="connsiteY14" fmla="*/ 23812 h 1470025"/>
                  <a:gd name="connsiteX15" fmla="*/ 768350 w 1482726"/>
                  <a:gd name="connsiteY15" fmla="*/ 73025 h 1470025"/>
                  <a:gd name="connsiteX16" fmla="*/ 788987 w 1482726"/>
                  <a:gd name="connsiteY16" fmla="*/ 117475 h 1470025"/>
                  <a:gd name="connsiteX17" fmla="*/ 811212 w 1482726"/>
                  <a:gd name="connsiteY17" fmla="*/ 161925 h 1470025"/>
                  <a:gd name="connsiteX18" fmla="*/ 836612 w 1482726"/>
                  <a:gd name="connsiteY18" fmla="*/ 204787 h 1470025"/>
                  <a:gd name="connsiteX19" fmla="*/ 865188 w 1482726"/>
                  <a:gd name="connsiteY19" fmla="*/ 244475 h 1470025"/>
                  <a:gd name="connsiteX20" fmla="*/ 898525 w 1482726"/>
                  <a:gd name="connsiteY20" fmla="*/ 285750 h 1470025"/>
                  <a:gd name="connsiteX21" fmla="*/ 930275 w 1482726"/>
                  <a:gd name="connsiteY21" fmla="*/ 322262 h 1470025"/>
                  <a:gd name="connsiteX22" fmla="*/ 966788 w 1482726"/>
                  <a:gd name="connsiteY22" fmla="*/ 358775 h 1470025"/>
                  <a:gd name="connsiteX23" fmla="*/ 966788 w 1482726"/>
                  <a:gd name="connsiteY23" fmla="*/ 358775 h 1470025"/>
                  <a:gd name="connsiteX24" fmla="*/ 966788 w 1482726"/>
                  <a:gd name="connsiteY24" fmla="*/ 358775 h 1470025"/>
                  <a:gd name="connsiteX25" fmla="*/ 1003301 w 1482726"/>
                  <a:gd name="connsiteY25" fmla="*/ 388937 h 1470025"/>
                  <a:gd name="connsiteX26" fmla="*/ 1044576 w 1482726"/>
                  <a:gd name="connsiteY26" fmla="*/ 417512 h 1470025"/>
                  <a:gd name="connsiteX27" fmla="*/ 1084263 w 1482726"/>
                  <a:gd name="connsiteY27" fmla="*/ 442912 h 1470025"/>
                  <a:gd name="connsiteX28" fmla="*/ 1123951 w 1482726"/>
                  <a:gd name="connsiteY28" fmla="*/ 463550 h 1470025"/>
                  <a:gd name="connsiteX29" fmla="*/ 1168401 w 1482726"/>
                  <a:gd name="connsiteY29" fmla="*/ 485775 h 1470025"/>
                  <a:gd name="connsiteX30" fmla="*/ 1214439 w 1482726"/>
                  <a:gd name="connsiteY30" fmla="*/ 501650 h 1470025"/>
                  <a:gd name="connsiteX31" fmla="*/ 1258889 w 1482726"/>
                  <a:gd name="connsiteY31" fmla="*/ 515937 h 1470025"/>
                  <a:gd name="connsiteX32" fmla="*/ 1304926 w 1482726"/>
                  <a:gd name="connsiteY32" fmla="*/ 527050 h 1470025"/>
                  <a:gd name="connsiteX33" fmla="*/ 1336676 w 1482726"/>
                  <a:gd name="connsiteY33" fmla="*/ 534987 h 1470025"/>
                  <a:gd name="connsiteX34" fmla="*/ 1370014 w 1482726"/>
                  <a:gd name="connsiteY34" fmla="*/ 539750 h 1470025"/>
                  <a:gd name="connsiteX35" fmla="*/ 1401764 w 1482726"/>
                  <a:gd name="connsiteY35" fmla="*/ 541337 h 1470025"/>
                  <a:gd name="connsiteX36" fmla="*/ 1435101 w 1482726"/>
                  <a:gd name="connsiteY36" fmla="*/ 541337 h 1470025"/>
                  <a:gd name="connsiteX37" fmla="*/ 1444626 w 1482726"/>
                  <a:gd name="connsiteY37" fmla="*/ 544512 h 1470025"/>
                  <a:gd name="connsiteX38" fmla="*/ 1454151 w 1482726"/>
                  <a:gd name="connsiteY38" fmla="*/ 546100 h 1470025"/>
                  <a:gd name="connsiteX39" fmla="*/ 1458914 w 1482726"/>
                  <a:gd name="connsiteY39" fmla="*/ 550862 h 1470025"/>
                  <a:gd name="connsiteX40" fmla="*/ 1463676 w 1482726"/>
                  <a:gd name="connsiteY40" fmla="*/ 563562 h 1470025"/>
                  <a:gd name="connsiteX41" fmla="*/ 1470026 w 1482726"/>
                  <a:gd name="connsiteY41" fmla="*/ 598487 h 1470025"/>
                  <a:gd name="connsiteX42" fmla="*/ 1477964 w 1482726"/>
                  <a:gd name="connsiteY42" fmla="*/ 636587 h 1470025"/>
                  <a:gd name="connsiteX43" fmla="*/ 1479551 w 1482726"/>
                  <a:gd name="connsiteY43" fmla="*/ 671512 h 1470025"/>
                  <a:gd name="connsiteX44" fmla="*/ 1482726 w 1482726"/>
                  <a:gd name="connsiteY44" fmla="*/ 706437 h 1470025"/>
                  <a:gd name="connsiteX45" fmla="*/ 1482726 w 1482726"/>
                  <a:gd name="connsiteY45" fmla="*/ 742950 h 1470025"/>
                  <a:gd name="connsiteX46" fmla="*/ 1482726 w 1482726"/>
                  <a:gd name="connsiteY46" fmla="*/ 777875 h 1470025"/>
                  <a:gd name="connsiteX47" fmla="*/ 1477964 w 1482726"/>
                  <a:gd name="connsiteY47" fmla="*/ 812800 h 1470025"/>
                  <a:gd name="connsiteX48" fmla="*/ 1473201 w 1482726"/>
                  <a:gd name="connsiteY48" fmla="*/ 846137 h 1470025"/>
                  <a:gd name="connsiteX49" fmla="*/ 1465264 w 1482726"/>
                  <a:gd name="connsiteY49" fmla="*/ 881063 h 1470025"/>
                  <a:gd name="connsiteX50" fmla="*/ 1458914 w 1482726"/>
                  <a:gd name="connsiteY50" fmla="*/ 914400 h 1470025"/>
                  <a:gd name="connsiteX51" fmla="*/ 1449389 w 1482726"/>
                  <a:gd name="connsiteY51" fmla="*/ 947738 h 1470025"/>
                  <a:gd name="connsiteX52" fmla="*/ 1438276 w 1482726"/>
                  <a:gd name="connsiteY52" fmla="*/ 979488 h 1470025"/>
                  <a:gd name="connsiteX53" fmla="*/ 1425576 w 1482726"/>
                  <a:gd name="connsiteY53" fmla="*/ 1012826 h 1470025"/>
                  <a:gd name="connsiteX54" fmla="*/ 1411289 w 1482726"/>
                  <a:gd name="connsiteY54" fmla="*/ 1044576 h 1470025"/>
                  <a:gd name="connsiteX55" fmla="*/ 1395414 w 1482726"/>
                  <a:gd name="connsiteY55" fmla="*/ 1074738 h 1470025"/>
                  <a:gd name="connsiteX56" fmla="*/ 1377951 w 1482726"/>
                  <a:gd name="connsiteY56" fmla="*/ 1104901 h 1470025"/>
                  <a:gd name="connsiteX57" fmla="*/ 1362076 w 1482726"/>
                  <a:gd name="connsiteY57" fmla="*/ 1135063 h 1470025"/>
                  <a:gd name="connsiteX58" fmla="*/ 1341439 w 1482726"/>
                  <a:gd name="connsiteY58" fmla="*/ 1163638 h 1470025"/>
                  <a:gd name="connsiteX59" fmla="*/ 1322389 w 1482726"/>
                  <a:gd name="connsiteY59" fmla="*/ 1190626 h 1470025"/>
                  <a:gd name="connsiteX60" fmla="*/ 1298576 w 1482726"/>
                  <a:gd name="connsiteY60" fmla="*/ 1216026 h 1470025"/>
                  <a:gd name="connsiteX61" fmla="*/ 1274764 w 1482726"/>
                  <a:gd name="connsiteY61" fmla="*/ 1241426 h 1470025"/>
                  <a:gd name="connsiteX62" fmla="*/ 1250951 w 1482726"/>
                  <a:gd name="connsiteY62" fmla="*/ 1268413 h 1470025"/>
                  <a:gd name="connsiteX63" fmla="*/ 1225551 w 1482726"/>
                  <a:gd name="connsiteY63" fmla="*/ 1289051 h 1470025"/>
                  <a:gd name="connsiteX64" fmla="*/ 1200151 w 1482726"/>
                  <a:gd name="connsiteY64" fmla="*/ 1312863 h 1470025"/>
                  <a:gd name="connsiteX65" fmla="*/ 1171576 w 1482726"/>
                  <a:gd name="connsiteY65" fmla="*/ 1333501 h 1470025"/>
                  <a:gd name="connsiteX66" fmla="*/ 1143001 w 1482726"/>
                  <a:gd name="connsiteY66" fmla="*/ 1352551 h 1470025"/>
                  <a:gd name="connsiteX67" fmla="*/ 1112838 w 1482726"/>
                  <a:gd name="connsiteY67" fmla="*/ 1371601 h 1470025"/>
                  <a:gd name="connsiteX68" fmla="*/ 1081088 w 1482726"/>
                  <a:gd name="connsiteY68" fmla="*/ 1387476 h 1470025"/>
                  <a:gd name="connsiteX69" fmla="*/ 1049338 w 1482726"/>
                  <a:gd name="connsiteY69" fmla="*/ 1401763 h 1470025"/>
                  <a:gd name="connsiteX70" fmla="*/ 1016001 w 1482726"/>
                  <a:gd name="connsiteY70" fmla="*/ 1416051 h 1470025"/>
                  <a:gd name="connsiteX71" fmla="*/ 982663 w 1482726"/>
                  <a:gd name="connsiteY71" fmla="*/ 1430338 h 1470025"/>
                  <a:gd name="connsiteX72" fmla="*/ 947738 w 1482726"/>
                  <a:gd name="connsiteY72" fmla="*/ 1439863 h 1470025"/>
                  <a:gd name="connsiteX73" fmla="*/ 942976 w 1482726"/>
                  <a:gd name="connsiteY73" fmla="*/ 1439863 h 1470025"/>
                  <a:gd name="connsiteX74" fmla="*/ 942975 w 1482726"/>
                  <a:gd name="connsiteY74" fmla="*/ 1439863 h 1470025"/>
                  <a:gd name="connsiteX75" fmla="*/ 890588 w 1482726"/>
                  <a:gd name="connsiteY75" fmla="*/ 1454150 h 1470025"/>
                  <a:gd name="connsiteX76" fmla="*/ 841375 w 1482726"/>
                  <a:gd name="connsiteY76" fmla="*/ 1463675 h 1470025"/>
                  <a:gd name="connsiteX77" fmla="*/ 788987 w 1482726"/>
                  <a:gd name="connsiteY77" fmla="*/ 1468438 h 1470025"/>
                  <a:gd name="connsiteX78" fmla="*/ 739775 w 1482726"/>
                  <a:gd name="connsiteY78" fmla="*/ 1470025 h 1470025"/>
                  <a:gd name="connsiteX79" fmla="*/ 687387 w 1482726"/>
                  <a:gd name="connsiteY79" fmla="*/ 1468438 h 1470025"/>
                  <a:gd name="connsiteX80" fmla="*/ 638175 w 1482726"/>
                  <a:gd name="connsiteY80" fmla="*/ 1463675 h 1470025"/>
                  <a:gd name="connsiteX81" fmla="*/ 587375 w 1482726"/>
                  <a:gd name="connsiteY81" fmla="*/ 1454150 h 1470025"/>
                  <a:gd name="connsiteX82" fmla="*/ 536575 w 1482726"/>
                  <a:gd name="connsiteY82" fmla="*/ 1439863 h 1470025"/>
                  <a:gd name="connsiteX83" fmla="*/ 536575 w 1482726"/>
                  <a:gd name="connsiteY83" fmla="*/ 1439862 h 1470025"/>
                  <a:gd name="connsiteX84" fmla="*/ 487363 w 1482726"/>
                  <a:gd name="connsiteY84" fmla="*/ 1425575 h 1470025"/>
                  <a:gd name="connsiteX85" fmla="*/ 439738 w 1482726"/>
                  <a:gd name="connsiteY85" fmla="*/ 1406525 h 1470025"/>
                  <a:gd name="connsiteX86" fmla="*/ 395288 w 1482726"/>
                  <a:gd name="connsiteY86" fmla="*/ 1385887 h 1470025"/>
                  <a:gd name="connsiteX87" fmla="*/ 350838 w 1482726"/>
                  <a:gd name="connsiteY87" fmla="*/ 1358900 h 1470025"/>
                  <a:gd name="connsiteX88" fmla="*/ 311150 w 1482726"/>
                  <a:gd name="connsiteY88" fmla="*/ 1333500 h 1470025"/>
                  <a:gd name="connsiteX89" fmla="*/ 271463 w 1482726"/>
                  <a:gd name="connsiteY89" fmla="*/ 1303337 h 1470025"/>
                  <a:gd name="connsiteX90" fmla="*/ 233363 w 1482726"/>
                  <a:gd name="connsiteY90" fmla="*/ 1268412 h 1470025"/>
                  <a:gd name="connsiteX91" fmla="*/ 198438 w 1482726"/>
                  <a:gd name="connsiteY91" fmla="*/ 1231900 h 1470025"/>
                  <a:gd name="connsiteX92" fmla="*/ 166688 w 1482726"/>
                  <a:gd name="connsiteY92" fmla="*/ 1196975 h 1470025"/>
                  <a:gd name="connsiteX93" fmla="*/ 138112 w 1482726"/>
                  <a:gd name="connsiteY93" fmla="*/ 1158875 h 1470025"/>
                  <a:gd name="connsiteX94" fmla="*/ 112712 w 1482726"/>
                  <a:gd name="connsiteY94" fmla="*/ 1123950 h 1470025"/>
                  <a:gd name="connsiteX95" fmla="*/ 92075 w 1482726"/>
                  <a:gd name="connsiteY95" fmla="*/ 1085850 h 1470025"/>
                  <a:gd name="connsiteX96" fmla="*/ 69850 w 1482726"/>
                  <a:gd name="connsiteY96" fmla="*/ 1049337 h 1470025"/>
                  <a:gd name="connsiteX97" fmla="*/ 53975 w 1482726"/>
                  <a:gd name="connsiteY97" fmla="*/ 1008062 h 1470025"/>
                  <a:gd name="connsiteX98" fmla="*/ 39687 w 1482726"/>
                  <a:gd name="connsiteY98" fmla="*/ 968375 h 1470025"/>
                  <a:gd name="connsiteX99" fmla="*/ 25400 w 1482726"/>
                  <a:gd name="connsiteY99" fmla="*/ 928687 h 1470025"/>
                  <a:gd name="connsiteX100" fmla="*/ 15875 w 1482726"/>
                  <a:gd name="connsiteY100" fmla="*/ 889000 h 1470025"/>
                  <a:gd name="connsiteX101" fmla="*/ 9525 w 1482726"/>
                  <a:gd name="connsiteY101" fmla="*/ 846137 h 1470025"/>
                  <a:gd name="connsiteX102" fmla="*/ 1587 w 1482726"/>
                  <a:gd name="connsiteY102" fmla="*/ 803274 h 1470025"/>
                  <a:gd name="connsiteX103" fmla="*/ 0 w 1482726"/>
                  <a:gd name="connsiteY103" fmla="*/ 760412 h 1470025"/>
                  <a:gd name="connsiteX104" fmla="*/ 0 w 1482726"/>
                  <a:gd name="connsiteY104" fmla="*/ 715962 h 1470025"/>
                  <a:gd name="connsiteX105" fmla="*/ 1587 w 1482726"/>
                  <a:gd name="connsiteY105" fmla="*/ 671512 h 1470025"/>
                  <a:gd name="connsiteX106" fmla="*/ 6350 w 1482726"/>
                  <a:gd name="connsiteY106" fmla="*/ 627062 h 1470025"/>
                  <a:gd name="connsiteX107" fmla="*/ 14287 w 1482726"/>
                  <a:gd name="connsiteY107" fmla="*/ 582612 h 1470025"/>
                  <a:gd name="connsiteX108" fmla="*/ 19050 w 1482726"/>
                  <a:gd name="connsiteY108" fmla="*/ 563562 h 1470025"/>
                  <a:gd name="connsiteX109" fmla="*/ 20637 w 1482726"/>
                  <a:gd name="connsiteY109" fmla="*/ 558799 h 1470025"/>
                  <a:gd name="connsiteX110" fmla="*/ 25400 w 1482726"/>
                  <a:gd name="connsiteY110" fmla="*/ 550862 h 1470025"/>
                  <a:gd name="connsiteX111" fmla="*/ 33337 w 1482726"/>
                  <a:gd name="connsiteY111" fmla="*/ 546099 h 1470025"/>
                  <a:gd name="connsiteX112" fmla="*/ 39687 w 1482726"/>
                  <a:gd name="connsiteY112" fmla="*/ 544512 h 1470025"/>
                  <a:gd name="connsiteX113" fmla="*/ 58737 w 1482726"/>
                  <a:gd name="connsiteY113" fmla="*/ 541337 h 1470025"/>
                  <a:gd name="connsiteX114" fmla="*/ 107950 w 1482726"/>
                  <a:gd name="connsiteY114" fmla="*/ 539749 h 1470025"/>
                  <a:gd name="connsiteX115" fmla="*/ 157163 w 1482726"/>
                  <a:gd name="connsiteY115" fmla="*/ 531812 h 1470025"/>
                  <a:gd name="connsiteX116" fmla="*/ 204788 w 1482726"/>
                  <a:gd name="connsiteY116" fmla="*/ 520699 h 1470025"/>
                  <a:gd name="connsiteX117" fmla="*/ 249238 w 1482726"/>
                  <a:gd name="connsiteY117" fmla="*/ 509587 h 1470025"/>
                  <a:gd name="connsiteX118" fmla="*/ 296863 w 1482726"/>
                  <a:gd name="connsiteY118" fmla="*/ 492124 h 1470025"/>
                  <a:gd name="connsiteX119" fmla="*/ 341313 w 1482726"/>
                  <a:gd name="connsiteY119" fmla="*/ 471487 h 1470025"/>
                  <a:gd name="connsiteX120" fmla="*/ 384175 w 1482726"/>
                  <a:gd name="connsiteY120" fmla="*/ 450849 h 1470025"/>
                  <a:gd name="connsiteX121" fmla="*/ 427038 w 1482726"/>
                  <a:gd name="connsiteY121" fmla="*/ 423862 h 1470025"/>
                  <a:gd name="connsiteX122" fmla="*/ 444500 w 1482726"/>
                  <a:gd name="connsiteY122" fmla="*/ 414337 h 1470025"/>
                  <a:gd name="connsiteX123" fmla="*/ 444502 w 1482726"/>
                  <a:gd name="connsiteY123" fmla="*/ 414337 h 1470025"/>
                  <a:gd name="connsiteX124" fmla="*/ 487361 w 1482726"/>
                  <a:gd name="connsiteY124" fmla="*/ 384176 h 1470025"/>
                  <a:gd name="connsiteX125" fmla="*/ 487363 w 1482726"/>
                  <a:gd name="connsiteY125" fmla="*/ 384174 h 1470025"/>
                  <a:gd name="connsiteX126" fmla="*/ 492125 w 1482726"/>
                  <a:gd name="connsiteY126" fmla="*/ 379412 h 1470025"/>
                  <a:gd name="connsiteX127" fmla="*/ 492125 w 1482726"/>
                  <a:gd name="connsiteY127" fmla="*/ 379412 h 1470025"/>
                  <a:gd name="connsiteX128" fmla="*/ 534987 w 1482726"/>
                  <a:gd name="connsiteY128" fmla="*/ 339725 h 1470025"/>
                  <a:gd name="connsiteX129" fmla="*/ 574675 w 1482726"/>
                  <a:gd name="connsiteY129" fmla="*/ 296862 h 1470025"/>
                  <a:gd name="connsiteX130" fmla="*/ 609600 w 1482726"/>
                  <a:gd name="connsiteY130" fmla="*/ 254000 h 1470025"/>
                  <a:gd name="connsiteX131" fmla="*/ 642937 w 1482726"/>
                  <a:gd name="connsiteY131" fmla="*/ 207962 h 1470025"/>
                  <a:gd name="connsiteX132" fmla="*/ 673100 w 1482726"/>
                  <a:gd name="connsiteY132" fmla="*/ 160337 h 1470025"/>
                  <a:gd name="connsiteX133" fmla="*/ 696912 w 1482726"/>
                  <a:gd name="connsiteY133" fmla="*/ 107950 h 1470025"/>
                  <a:gd name="connsiteX134" fmla="*/ 720725 w 1482726"/>
                  <a:gd name="connsiteY134" fmla="*/ 57150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1482726" h="1470025">
                    <a:moveTo>
                      <a:pt x="500684" y="926825"/>
                    </a:moveTo>
                    <a:lnTo>
                      <a:pt x="500063" y="928687"/>
                    </a:lnTo>
                    <a:lnTo>
                      <a:pt x="501848" y="928687"/>
                    </a:lnTo>
                    <a:close/>
                    <a:moveTo>
                      <a:pt x="895350" y="860425"/>
                    </a:moveTo>
                    <a:lnTo>
                      <a:pt x="895595" y="861280"/>
                    </a:lnTo>
                    <a:lnTo>
                      <a:pt x="895874" y="860896"/>
                    </a:lnTo>
                    <a:lnTo>
                      <a:pt x="895351" y="860425"/>
                    </a:lnTo>
                    <a:close/>
                    <a:moveTo>
                      <a:pt x="467571" y="824865"/>
                    </a:moveTo>
                    <a:lnTo>
                      <a:pt x="466725" y="825499"/>
                    </a:lnTo>
                    <a:lnTo>
                      <a:pt x="466728" y="825500"/>
                    </a:lnTo>
                    <a:lnTo>
                      <a:pt x="467783" y="825500"/>
                    </a:lnTo>
                    <a:close/>
                    <a:moveTo>
                      <a:pt x="738187" y="0"/>
                    </a:moveTo>
                    <a:lnTo>
                      <a:pt x="744537" y="4762"/>
                    </a:lnTo>
                    <a:lnTo>
                      <a:pt x="749300" y="9525"/>
                    </a:lnTo>
                    <a:lnTo>
                      <a:pt x="750887" y="23812"/>
                    </a:lnTo>
                    <a:lnTo>
                      <a:pt x="768350" y="73025"/>
                    </a:lnTo>
                    <a:lnTo>
                      <a:pt x="788987" y="117475"/>
                    </a:lnTo>
                    <a:lnTo>
                      <a:pt x="811212" y="161925"/>
                    </a:lnTo>
                    <a:lnTo>
                      <a:pt x="836612" y="204787"/>
                    </a:lnTo>
                    <a:lnTo>
                      <a:pt x="865188" y="244475"/>
                    </a:lnTo>
                    <a:lnTo>
                      <a:pt x="898525" y="285750"/>
                    </a:lnTo>
                    <a:lnTo>
                      <a:pt x="930275" y="322262"/>
                    </a:lnTo>
                    <a:lnTo>
                      <a:pt x="966788" y="358775"/>
                    </a:lnTo>
                    <a:lnTo>
                      <a:pt x="966788" y="358775"/>
                    </a:lnTo>
                    <a:lnTo>
                      <a:pt x="966788" y="358775"/>
                    </a:lnTo>
                    <a:lnTo>
                      <a:pt x="1003301" y="388937"/>
                    </a:lnTo>
                    <a:lnTo>
                      <a:pt x="1044576" y="417512"/>
                    </a:lnTo>
                    <a:lnTo>
                      <a:pt x="1084263" y="442912"/>
                    </a:lnTo>
                    <a:lnTo>
                      <a:pt x="1123951" y="463550"/>
                    </a:lnTo>
                    <a:lnTo>
                      <a:pt x="1168401" y="485775"/>
                    </a:lnTo>
                    <a:lnTo>
                      <a:pt x="1214439" y="501650"/>
                    </a:lnTo>
                    <a:lnTo>
                      <a:pt x="1258889" y="515937"/>
                    </a:lnTo>
                    <a:lnTo>
                      <a:pt x="1304926" y="527050"/>
                    </a:lnTo>
                    <a:lnTo>
                      <a:pt x="1336676" y="534987"/>
                    </a:lnTo>
                    <a:lnTo>
                      <a:pt x="1370014" y="539750"/>
                    </a:lnTo>
                    <a:lnTo>
                      <a:pt x="1401764" y="541337"/>
                    </a:lnTo>
                    <a:lnTo>
                      <a:pt x="1435101" y="541337"/>
                    </a:lnTo>
                    <a:lnTo>
                      <a:pt x="1444626" y="544512"/>
                    </a:lnTo>
                    <a:lnTo>
                      <a:pt x="1454151" y="546100"/>
                    </a:lnTo>
                    <a:lnTo>
                      <a:pt x="1458914" y="550862"/>
                    </a:lnTo>
                    <a:lnTo>
                      <a:pt x="1463676" y="563562"/>
                    </a:lnTo>
                    <a:lnTo>
                      <a:pt x="1470026" y="598487"/>
                    </a:lnTo>
                    <a:lnTo>
                      <a:pt x="1477964" y="636587"/>
                    </a:lnTo>
                    <a:lnTo>
                      <a:pt x="1479551" y="671512"/>
                    </a:lnTo>
                    <a:lnTo>
                      <a:pt x="1482726" y="706437"/>
                    </a:lnTo>
                    <a:lnTo>
                      <a:pt x="1482726" y="742950"/>
                    </a:lnTo>
                    <a:lnTo>
                      <a:pt x="1482726" y="777875"/>
                    </a:lnTo>
                    <a:lnTo>
                      <a:pt x="1477964" y="812800"/>
                    </a:lnTo>
                    <a:lnTo>
                      <a:pt x="1473201" y="846137"/>
                    </a:lnTo>
                    <a:lnTo>
                      <a:pt x="1465264" y="881063"/>
                    </a:lnTo>
                    <a:lnTo>
                      <a:pt x="1458914" y="914400"/>
                    </a:lnTo>
                    <a:lnTo>
                      <a:pt x="1449389" y="947738"/>
                    </a:lnTo>
                    <a:lnTo>
                      <a:pt x="1438276" y="979488"/>
                    </a:lnTo>
                    <a:lnTo>
                      <a:pt x="1425576" y="1012826"/>
                    </a:lnTo>
                    <a:lnTo>
                      <a:pt x="1411289" y="1044576"/>
                    </a:lnTo>
                    <a:lnTo>
                      <a:pt x="1395414" y="1074738"/>
                    </a:lnTo>
                    <a:lnTo>
                      <a:pt x="1377951" y="1104901"/>
                    </a:lnTo>
                    <a:lnTo>
                      <a:pt x="1362076" y="1135063"/>
                    </a:lnTo>
                    <a:lnTo>
                      <a:pt x="1341439" y="1163638"/>
                    </a:lnTo>
                    <a:lnTo>
                      <a:pt x="1322389" y="1190626"/>
                    </a:lnTo>
                    <a:lnTo>
                      <a:pt x="1298576" y="1216026"/>
                    </a:lnTo>
                    <a:lnTo>
                      <a:pt x="1274764" y="1241426"/>
                    </a:lnTo>
                    <a:lnTo>
                      <a:pt x="1250951" y="1268413"/>
                    </a:lnTo>
                    <a:lnTo>
                      <a:pt x="1225551" y="1289051"/>
                    </a:lnTo>
                    <a:lnTo>
                      <a:pt x="1200151" y="1312863"/>
                    </a:lnTo>
                    <a:lnTo>
                      <a:pt x="1171576" y="1333501"/>
                    </a:lnTo>
                    <a:lnTo>
                      <a:pt x="1143001" y="1352551"/>
                    </a:lnTo>
                    <a:lnTo>
                      <a:pt x="1112838" y="1371601"/>
                    </a:lnTo>
                    <a:lnTo>
                      <a:pt x="1081088" y="1387476"/>
                    </a:lnTo>
                    <a:lnTo>
                      <a:pt x="1049338" y="1401763"/>
                    </a:lnTo>
                    <a:lnTo>
                      <a:pt x="1016001" y="1416051"/>
                    </a:lnTo>
                    <a:lnTo>
                      <a:pt x="982663" y="1430338"/>
                    </a:lnTo>
                    <a:lnTo>
                      <a:pt x="947738" y="1439863"/>
                    </a:lnTo>
                    <a:lnTo>
                      <a:pt x="942976" y="1439863"/>
                    </a:lnTo>
                    <a:lnTo>
                      <a:pt x="942975" y="1439863"/>
                    </a:lnTo>
                    <a:lnTo>
                      <a:pt x="890588" y="1454150"/>
                    </a:lnTo>
                    <a:lnTo>
                      <a:pt x="841375" y="1463675"/>
                    </a:lnTo>
                    <a:lnTo>
                      <a:pt x="788987" y="1468438"/>
                    </a:lnTo>
                    <a:lnTo>
                      <a:pt x="739775" y="1470025"/>
                    </a:lnTo>
                    <a:lnTo>
                      <a:pt x="687387" y="1468438"/>
                    </a:lnTo>
                    <a:lnTo>
                      <a:pt x="638175" y="1463675"/>
                    </a:lnTo>
                    <a:lnTo>
                      <a:pt x="587375" y="1454150"/>
                    </a:lnTo>
                    <a:lnTo>
                      <a:pt x="536575" y="1439863"/>
                    </a:lnTo>
                    <a:lnTo>
                      <a:pt x="536575" y="1439862"/>
                    </a:lnTo>
                    <a:lnTo>
                      <a:pt x="487363" y="1425575"/>
                    </a:lnTo>
                    <a:lnTo>
                      <a:pt x="439738" y="1406525"/>
                    </a:lnTo>
                    <a:lnTo>
                      <a:pt x="395288" y="1385887"/>
                    </a:lnTo>
                    <a:lnTo>
                      <a:pt x="350838" y="1358900"/>
                    </a:lnTo>
                    <a:lnTo>
                      <a:pt x="311150" y="1333500"/>
                    </a:lnTo>
                    <a:lnTo>
                      <a:pt x="271463" y="1303337"/>
                    </a:lnTo>
                    <a:lnTo>
                      <a:pt x="233363" y="1268412"/>
                    </a:lnTo>
                    <a:lnTo>
                      <a:pt x="198438" y="1231900"/>
                    </a:lnTo>
                    <a:lnTo>
                      <a:pt x="166688" y="1196975"/>
                    </a:lnTo>
                    <a:lnTo>
                      <a:pt x="138112" y="1158875"/>
                    </a:lnTo>
                    <a:lnTo>
                      <a:pt x="112712" y="1123950"/>
                    </a:lnTo>
                    <a:lnTo>
                      <a:pt x="92075" y="1085850"/>
                    </a:lnTo>
                    <a:lnTo>
                      <a:pt x="69850" y="1049337"/>
                    </a:lnTo>
                    <a:lnTo>
                      <a:pt x="53975" y="1008062"/>
                    </a:lnTo>
                    <a:lnTo>
                      <a:pt x="39687" y="968375"/>
                    </a:lnTo>
                    <a:lnTo>
                      <a:pt x="25400" y="928687"/>
                    </a:lnTo>
                    <a:lnTo>
                      <a:pt x="15875" y="889000"/>
                    </a:lnTo>
                    <a:lnTo>
                      <a:pt x="9525" y="846137"/>
                    </a:lnTo>
                    <a:lnTo>
                      <a:pt x="1587" y="803274"/>
                    </a:lnTo>
                    <a:lnTo>
                      <a:pt x="0" y="760412"/>
                    </a:lnTo>
                    <a:lnTo>
                      <a:pt x="0" y="715962"/>
                    </a:lnTo>
                    <a:lnTo>
                      <a:pt x="1587" y="671512"/>
                    </a:lnTo>
                    <a:lnTo>
                      <a:pt x="6350" y="627062"/>
                    </a:lnTo>
                    <a:lnTo>
                      <a:pt x="14287" y="582612"/>
                    </a:lnTo>
                    <a:lnTo>
                      <a:pt x="19050" y="563562"/>
                    </a:lnTo>
                    <a:lnTo>
                      <a:pt x="20637" y="558799"/>
                    </a:lnTo>
                    <a:lnTo>
                      <a:pt x="25400" y="550862"/>
                    </a:lnTo>
                    <a:lnTo>
                      <a:pt x="33337" y="546099"/>
                    </a:lnTo>
                    <a:lnTo>
                      <a:pt x="39687" y="544512"/>
                    </a:lnTo>
                    <a:lnTo>
                      <a:pt x="58737" y="541337"/>
                    </a:lnTo>
                    <a:lnTo>
                      <a:pt x="107950" y="539749"/>
                    </a:lnTo>
                    <a:lnTo>
                      <a:pt x="157163" y="531812"/>
                    </a:lnTo>
                    <a:lnTo>
                      <a:pt x="204788" y="520699"/>
                    </a:lnTo>
                    <a:lnTo>
                      <a:pt x="249238" y="509587"/>
                    </a:lnTo>
                    <a:lnTo>
                      <a:pt x="296863" y="492124"/>
                    </a:lnTo>
                    <a:lnTo>
                      <a:pt x="341313" y="471487"/>
                    </a:lnTo>
                    <a:lnTo>
                      <a:pt x="384175" y="450849"/>
                    </a:lnTo>
                    <a:lnTo>
                      <a:pt x="427038" y="423862"/>
                    </a:lnTo>
                    <a:lnTo>
                      <a:pt x="444500" y="414337"/>
                    </a:lnTo>
                    <a:lnTo>
                      <a:pt x="444502" y="414337"/>
                    </a:lnTo>
                    <a:lnTo>
                      <a:pt x="487361" y="384176"/>
                    </a:lnTo>
                    <a:lnTo>
                      <a:pt x="487363" y="384174"/>
                    </a:lnTo>
                    <a:lnTo>
                      <a:pt x="492125" y="379412"/>
                    </a:lnTo>
                    <a:lnTo>
                      <a:pt x="492125" y="379412"/>
                    </a:lnTo>
                    <a:lnTo>
                      <a:pt x="534987" y="339725"/>
                    </a:lnTo>
                    <a:lnTo>
                      <a:pt x="574675" y="296862"/>
                    </a:lnTo>
                    <a:lnTo>
                      <a:pt x="609600" y="254000"/>
                    </a:lnTo>
                    <a:lnTo>
                      <a:pt x="642937" y="207962"/>
                    </a:lnTo>
                    <a:lnTo>
                      <a:pt x="673100" y="160337"/>
                    </a:lnTo>
                    <a:lnTo>
                      <a:pt x="696912" y="107950"/>
                    </a:lnTo>
                    <a:lnTo>
                      <a:pt x="720725" y="5715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任意多边形: 形状 16"/>
              <p:cNvSpPr/>
              <p:nvPr/>
            </p:nvSpPr>
            <p:spPr bwMode="auto">
              <a:xfrm>
                <a:off x="4387557" y="2905482"/>
                <a:ext cx="1479550" cy="1482725"/>
              </a:xfrm>
              <a:custGeom>
                <a:avLst/>
                <a:gdLst>
                  <a:gd name="connsiteX0" fmla="*/ 744537 w 1479550"/>
                  <a:gd name="connsiteY0" fmla="*/ 758826 h 1482725"/>
                  <a:gd name="connsiteX1" fmla="*/ 744934 w 1479550"/>
                  <a:gd name="connsiteY1" fmla="*/ 760016 h 1482725"/>
                  <a:gd name="connsiteX2" fmla="*/ 746124 w 1479550"/>
                  <a:gd name="connsiteY2" fmla="*/ 758826 h 1482725"/>
                  <a:gd name="connsiteX3" fmla="*/ 738187 w 1479550"/>
                  <a:gd name="connsiteY3" fmla="*/ 717550 h 1482725"/>
                  <a:gd name="connsiteX4" fmla="*/ 738187 w 1479550"/>
                  <a:gd name="connsiteY4" fmla="*/ 717550 h 1482725"/>
                  <a:gd name="connsiteX5" fmla="*/ 738188 w 1479550"/>
                  <a:gd name="connsiteY5" fmla="*/ 717550 h 1482725"/>
                  <a:gd name="connsiteX6" fmla="*/ 735012 w 1479550"/>
                  <a:gd name="connsiteY6" fmla="*/ 0 h 1482725"/>
                  <a:gd name="connsiteX7" fmla="*/ 762000 w 1479550"/>
                  <a:gd name="connsiteY7" fmla="*/ 0 h 1482725"/>
                  <a:gd name="connsiteX8" fmla="*/ 811212 w 1479550"/>
                  <a:gd name="connsiteY8" fmla="*/ 4762 h 1482725"/>
                  <a:gd name="connsiteX9" fmla="*/ 912813 w 1479550"/>
                  <a:gd name="connsiteY9" fmla="*/ 23812 h 1482725"/>
                  <a:gd name="connsiteX10" fmla="*/ 919163 w 1479550"/>
                  <a:gd name="connsiteY10" fmla="*/ 26987 h 1482725"/>
                  <a:gd name="connsiteX11" fmla="*/ 920750 w 1479550"/>
                  <a:gd name="connsiteY11" fmla="*/ 31750 h 1482725"/>
                  <a:gd name="connsiteX12" fmla="*/ 920750 w 1479550"/>
                  <a:gd name="connsiteY12" fmla="*/ 42862 h 1482725"/>
                  <a:gd name="connsiteX13" fmla="*/ 928688 w 1479550"/>
                  <a:gd name="connsiteY13" fmla="*/ 106362 h 1482725"/>
                  <a:gd name="connsiteX14" fmla="*/ 939800 w 1479550"/>
                  <a:gd name="connsiteY14" fmla="*/ 169862 h 1482725"/>
                  <a:gd name="connsiteX15" fmla="*/ 944563 w 1479550"/>
                  <a:gd name="connsiteY15" fmla="*/ 201612 h 1482725"/>
                  <a:gd name="connsiteX16" fmla="*/ 954088 w 1479550"/>
                  <a:gd name="connsiteY16" fmla="*/ 231775 h 1482725"/>
                  <a:gd name="connsiteX17" fmla="*/ 963613 w 1479550"/>
                  <a:gd name="connsiteY17" fmla="*/ 261937 h 1482725"/>
                  <a:gd name="connsiteX18" fmla="*/ 976313 w 1479550"/>
                  <a:gd name="connsiteY18" fmla="*/ 290512 h 1482725"/>
                  <a:gd name="connsiteX19" fmla="*/ 992188 w 1479550"/>
                  <a:gd name="connsiteY19" fmla="*/ 328612 h 1482725"/>
                  <a:gd name="connsiteX20" fmla="*/ 1008063 w 1479550"/>
                  <a:gd name="connsiteY20" fmla="*/ 363537 h 1482725"/>
                  <a:gd name="connsiteX21" fmla="*/ 1030288 w 1479550"/>
                  <a:gd name="connsiteY21" fmla="*/ 396875 h 1482725"/>
                  <a:gd name="connsiteX22" fmla="*/ 1050925 w 1479550"/>
                  <a:gd name="connsiteY22" fmla="*/ 430212 h 1482725"/>
                  <a:gd name="connsiteX23" fmla="*/ 1073150 w 1479550"/>
                  <a:gd name="connsiteY23" fmla="*/ 461962 h 1482725"/>
                  <a:gd name="connsiteX24" fmla="*/ 1095375 w 1479550"/>
                  <a:gd name="connsiteY24" fmla="*/ 490537 h 1482725"/>
                  <a:gd name="connsiteX25" fmla="*/ 1119188 w 1479550"/>
                  <a:gd name="connsiteY25" fmla="*/ 520700 h 1482725"/>
                  <a:gd name="connsiteX26" fmla="*/ 1146175 w 1479550"/>
                  <a:gd name="connsiteY26" fmla="*/ 547687 h 1482725"/>
                  <a:gd name="connsiteX27" fmla="*/ 1173163 w 1479550"/>
                  <a:gd name="connsiteY27" fmla="*/ 573087 h 1482725"/>
                  <a:gd name="connsiteX28" fmla="*/ 1201738 w 1479550"/>
                  <a:gd name="connsiteY28" fmla="*/ 598487 h 1482725"/>
                  <a:gd name="connsiteX29" fmla="*/ 1233488 w 1479550"/>
                  <a:gd name="connsiteY29" fmla="*/ 622300 h 1482725"/>
                  <a:gd name="connsiteX30" fmla="*/ 1263650 w 1479550"/>
                  <a:gd name="connsiteY30" fmla="*/ 644525 h 1482725"/>
                  <a:gd name="connsiteX31" fmla="*/ 1298575 w 1479550"/>
                  <a:gd name="connsiteY31" fmla="*/ 665162 h 1482725"/>
                  <a:gd name="connsiteX32" fmla="*/ 1331913 w 1479550"/>
                  <a:gd name="connsiteY32" fmla="*/ 681037 h 1482725"/>
                  <a:gd name="connsiteX33" fmla="*/ 1370013 w 1479550"/>
                  <a:gd name="connsiteY33" fmla="*/ 700087 h 1482725"/>
                  <a:gd name="connsiteX34" fmla="*/ 1404938 w 1479550"/>
                  <a:gd name="connsiteY34" fmla="*/ 717550 h 1482725"/>
                  <a:gd name="connsiteX35" fmla="*/ 1479550 w 1479550"/>
                  <a:gd name="connsiteY35" fmla="*/ 739775 h 1482725"/>
                  <a:gd name="connsiteX36" fmla="*/ 1416050 w 1479550"/>
                  <a:gd name="connsiteY36" fmla="*/ 763588 h 1482725"/>
                  <a:gd name="connsiteX37" fmla="*/ 1355725 w 1479550"/>
                  <a:gd name="connsiteY37" fmla="*/ 790575 h 1482725"/>
                  <a:gd name="connsiteX38" fmla="*/ 1323975 w 1479550"/>
                  <a:gd name="connsiteY38" fmla="*/ 804863 h 1482725"/>
                  <a:gd name="connsiteX39" fmla="*/ 1296988 w 1479550"/>
                  <a:gd name="connsiteY39" fmla="*/ 817563 h 1482725"/>
                  <a:gd name="connsiteX40" fmla="*/ 1268413 w 1479550"/>
                  <a:gd name="connsiteY40" fmla="*/ 836613 h 1482725"/>
                  <a:gd name="connsiteX41" fmla="*/ 1241425 w 1479550"/>
                  <a:gd name="connsiteY41" fmla="*/ 854075 h 1482725"/>
                  <a:gd name="connsiteX42" fmla="*/ 1201738 w 1479550"/>
                  <a:gd name="connsiteY42" fmla="*/ 887413 h 1482725"/>
                  <a:gd name="connsiteX43" fmla="*/ 1163638 w 1479550"/>
                  <a:gd name="connsiteY43" fmla="*/ 919163 h 1482725"/>
                  <a:gd name="connsiteX44" fmla="*/ 1128713 w 1479550"/>
                  <a:gd name="connsiteY44" fmla="*/ 955675 h 1482725"/>
                  <a:gd name="connsiteX45" fmla="*/ 1095375 w 1479550"/>
                  <a:gd name="connsiteY45" fmla="*/ 992188 h 1482725"/>
                  <a:gd name="connsiteX46" fmla="*/ 1065213 w 1479550"/>
                  <a:gd name="connsiteY46" fmla="*/ 1030288 h 1482725"/>
                  <a:gd name="connsiteX47" fmla="*/ 1036638 w 1479550"/>
                  <a:gd name="connsiteY47" fmla="*/ 1073150 h 1482725"/>
                  <a:gd name="connsiteX48" fmla="*/ 1012825 w 1479550"/>
                  <a:gd name="connsiteY48" fmla="*/ 1117600 h 1482725"/>
                  <a:gd name="connsiteX49" fmla="*/ 990600 w 1479550"/>
                  <a:gd name="connsiteY49" fmla="*/ 1162050 h 1482725"/>
                  <a:gd name="connsiteX50" fmla="*/ 966788 w 1479550"/>
                  <a:gd name="connsiteY50" fmla="*/ 1219200 h 1482725"/>
                  <a:gd name="connsiteX51" fmla="*/ 949325 w 1479550"/>
                  <a:gd name="connsiteY51" fmla="*/ 1274763 h 1482725"/>
                  <a:gd name="connsiteX52" fmla="*/ 942975 w 1479550"/>
                  <a:gd name="connsiteY52" fmla="*/ 1306513 h 1482725"/>
                  <a:gd name="connsiteX53" fmla="*/ 935038 w 1479550"/>
                  <a:gd name="connsiteY53" fmla="*/ 1335088 h 1482725"/>
                  <a:gd name="connsiteX54" fmla="*/ 933450 w 1479550"/>
                  <a:gd name="connsiteY54" fmla="*/ 1365250 h 1482725"/>
                  <a:gd name="connsiteX55" fmla="*/ 930275 w 1479550"/>
                  <a:gd name="connsiteY55" fmla="*/ 1395413 h 1482725"/>
                  <a:gd name="connsiteX56" fmla="*/ 928688 w 1479550"/>
                  <a:gd name="connsiteY56" fmla="*/ 1409700 h 1482725"/>
                  <a:gd name="connsiteX57" fmla="*/ 925513 w 1479550"/>
                  <a:gd name="connsiteY57" fmla="*/ 1423988 h 1482725"/>
                  <a:gd name="connsiteX58" fmla="*/ 920750 w 1479550"/>
                  <a:gd name="connsiteY58" fmla="*/ 1435100 h 1482725"/>
                  <a:gd name="connsiteX59" fmla="*/ 920750 w 1479550"/>
                  <a:gd name="connsiteY59" fmla="*/ 1449388 h 1482725"/>
                  <a:gd name="connsiteX60" fmla="*/ 920750 w 1479550"/>
                  <a:gd name="connsiteY60" fmla="*/ 1454150 h 1482725"/>
                  <a:gd name="connsiteX61" fmla="*/ 919163 w 1479550"/>
                  <a:gd name="connsiteY61" fmla="*/ 1458913 h 1482725"/>
                  <a:gd name="connsiteX62" fmla="*/ 914400 w 1479550"/>
                  <a:gd name="connsiteY62" fmla="*/ 1462088 h 1482725"/>
                  <a:gd name="connsiteX63" fmla="*/ 898525 w 1479550"/>
                  <a:gd name="connsiteY63" fmla="*/ 1466850 h 1482725"/>
                  <a:gd name="connsiteX64" fmla="*/ 850900 w 1479550"/>
                  <a:gd name="connsiteY64" fmla="*/ 1476375 h 1482725"/>
                  <a:gd name="connsiteX65" fmla="*/ 801687 w 1479550"/>
                  <a:gd name="connsiteY65" fmla="*/ 1481138 h 1482725"/>
                  <a:gd name="connsiteX66" fmla="*/ 752475 w 1479550"/>
                  <a:gd name="connsiteY66" fmla="*/ 1482725 h 1482725"/>
                  <a:gd name="connsiteX67" fmla="*/ 701676 w 1479550"/>
                  <a:gd name="connsiteY67" fmla="*/ 1481138 h 1482725"/>
                  <a:gd name="connsiteX68" fmla="*/ 701675 w 1479550"/>
                  <a:gd name="connsiteY68" fmla="*/ 1481138 h 1482725"/>
                  <a:gd name="connsiteX69" fmla="*/ 665162 w 1479550"/>
                  <a:gd name="connsiteY69" fmla="*/ 1477963 h 1482725"/>
                  <a:gd name="connsiteX70" fmla="*/ 627062 w 1479550"/>
                  <a:gd name="connsiteY70" fmla="*/ 1473201 h 1482725"/>
                  <a:gd name="connsiteX71" fmla="*/ 592137 w 1479550"/>
                  <a:gd name="connsiteY71" fmla="*/ 1466851 h 1482725"/>
                  <a:gd name="connsiteX72" fmla="*/ 555625 w 1479550"/>
                  <a:gd name="connsiteY72" fmla="*/ 1458913 h 1482725"/>
                  <a:gd name="connsiteX73" fmla="*/ 520700 w 1479550"/>
                  <a:gd name="connsiteY73" fmla="*/ 1449388 h 1482725"/>
                  <a:gd name="connsiteX74" fmla="*/ 487362 w 1479550"/>
                  <a:gd name="connsiteY74" fmla="*/ 1438276 h 1482725"/>
                  <a:gd name="connsiteX75" fmla="*/ 454025 w 1479550"/>
                  <a:gd name="connsiteY75" fmla="*/ 1425576 h 1482725"/>
                  <a:gd name="connsiteX76" fmla="*/ 422275 w 1479550"/>
                  <a:gd name="connsiteY76" fmla="*/ 1412876 h 1482725"/>
                  <a:gd name="connsiteX77" fmla="*/ 390525 w 1479550"/>
                  <a:gd name="connsiteY77" fmla="*/ 1395413 h 1482725"/>
                  <a:gd name="connsiteX78" fmla="*/ 360362 w 1479550"/>
                  <a:gd name="connsiteY78" fmla="*/ 1379538 h 1482725"/>
                  <a:gd name="connsiteX79" fmla="*/ 330200 w 1479550"/>
                  <a:gd name="connsiteY79" fmla="*/ 1357313 h 1482725"/>
                  <a:gd name="connsiteX80" fmla="*/ 301625 w 1479550"/>
                  <a:gd name="connsiteY80" fmla="*/ 1336676 h 1482725"/>
                  <a:gd name="connsiteX81" fmla="*/ 273050 w 1479550"/>
                  <a:gd name="connsiteY81" fmla="*/ 1316038 h 1482725"/>
                  <a:gd name="connsiteX82" fmla="*/ 244475 w 1479550"/>
                  <a:gd name="connsiteY82" fmla="*/ 1292226 h 1482725"/>
                  <a:gd name="connsiteX83" fmla="*/ 219075 w 1479550"/>
                  <a:gd name="connsiteY83" fmla="*/ 1266826 h 1482725"/>
                  <a:gd name="connsiteX84" fmla="*/ 193675 w 1479550"/>
                  <a:gd name="connsiteY84" fmla="*/ 1238251 h 1482725"/>
                  <a:gd name="connsiteX85" fmla="*/ 160337 w 1479550"/>
                  <a:gd name="connsiteY85" fmla="*/ 1195388 h 1482725"/>
                  <a:gd name="connsiteX86" fmla="*/ 130175 w 1479550"/>
                  <a:gd name="connsiteY86" fmla="*/ 1155701 h 1482725"/>
                  <a:gd name="connsiteX87" fmla="*/ 101600 w 1479550"/>
                  <a:gd name="connsiteY87" fmla="*/ 1111251 h 1482725"/>
                  <a:gd name="connsiteX88" fmla="*/ 77787 w 1479550"/>
                  <a:gd name="connsiteY88" fmla="*/ 1068388 h 1482725"/>
                  <a:gd name="connsiteX89" fmla="*/ 57150 w 1479550"/>
                  <a:gd name="connsiteY89" fmla="*/ 1023938 h 1482725"/>
                  <a:gd name="connsiteX90" fmla="*/ 38100 w 1479550"/>
                  <a:gd name="connsiteY90" fmla="*/ 977901 h 1482725"/>
                  <a:gd name="connsiteX91" fmla="*/ 23812 w 1479550"/>
                  <a:gd name="connsiteY91" fmla="*/ 933451 h 1482725"/>
                  <a:gd name="connsiteX92" fmla="*/ 11112 w 1479550"/>
                  <a:gd name="connsiteY92" fmla="*/ 887413 h 1482725"/>
                  <a:gd name="connsiteX93" fmla="*/ 4762 w 1479550"/>
                  <a:gd name="connsiteY93" fmla="*/ 839788 h 1482725"/>
                  <a:gd name="connsiteX94" fmla="*/ 0 w 1479550"/>
                  <a:gd name="connsiteY94" fmla="*/ 792163 h 1482725"/>
                  <a:gd name="connsiteX95" fmla="*/ 0 w 1479550"/>
                  <a:gd name="connsiteY95" fmla="*/ 742950 h 1482725"/>
                  <a:gd name="connsiteX96" fmla="*/ 1587 w 1479550"/>
                  <a:gd name="connsiteY96" fmla="*/ 695325 h 1482725"/>
                  <a:gd name="connsiteX97" fmla="*/ 6350 w 1479550"/>
                  <a:gd name="connsiteY97" fmla="*/ 646113 h 1482725"/>
                  <a:gd name="connsiteX98" fmla="*/ 15875 w 1479550"/>
                  <a:gd name="connsiteY98" fmla="*/ 596900 h 1482725"/>
                  <a:gd name="connsiteX99" fmla="*/ 30162 w 1479550"/>
                  <a:gd name="connsiteY99" fmla="*/ 544513 h 1482725"/>
                  <a:gd name="connsiteX100" fmla="*/ 47625 w 1479550"/>
                  <a:gd name="connsiteY100" fmla="*/ 495300 h 1482725"/>
                  <a:gd name="connsiteX101" fmla="*/ 65087 w 1479550"/>
                  <a:gd name="connsiteY101" fmla="*/ 442913 h 1482725"/>
                  <a:gd name="connsiteX102" fmla="*/ 87312 w 1479550"/>
                  <a:gd name="connsiteY102" fmla="*/ 396875 h 1482725"/>
                  <a:gd name="connsiteX103" fmla="*/ 111125 w 1479550"/>
                  <a:gd name="connsiteY103" fmla="*/ 354012 h 1482725"/>
                  <a:gd name="connsiteX104" fmla="*/ 138112 w 1479550"/>
                  <a:gd name="connsiteY104" fmla="*/ 311150 h 1482725"/>
                  <a:gd name="connsiteX105" fmla="*/ 166687 w 1479550"/>
                  <a:gd name="connsiteY105" fmla="*/ 271462 h 1482725"/>
                  <a:gd name="connsiteX106" fmla="*/ 198437 w 1479550"/>
                  <a:gd name="connsiteY106" fmla="*/ 236537 h 1482725"/>
                  <a:gd name="connsiteX107" fmla="*/ 230187 w 1479550"/>
                  <a:gd name="connsiteY107" fmla="*/ 201612 h 1482725"/>
                  <a:gd name="connsiteX108" fmla="*/ 266700 w 1479550"/>
                  <a:gd name="connsiteY108" fmla="*/ 169862 h 1482725"/>
                  <a:gd name="connsiteX109" fmla="*/ 303212 w 1479550"/>
                  <a:gd name="connsiteY109" fmla="*/ 139700 h 1482725"/>
                  <a:gd name="connsiteX110" fmla="*/ 344487 w 1479550"/>
                  <a:gd name="connsiteY110" fmla="*/ 114300 h 1482725"/>
                  <a:gd name="connsiteX111" fmla="*/ 385762 w 1479550"/>
                  <a:gd name="connsiteY111" fmla="*/ 90487 h 1482725"/>
                  <a:gd name="connsiteX112" fmla="*/ 431800 w 1479550"/>
                  <a:gd name="connsiteY112" fmla="*/ 68262 h 1482725"/>
                  <a:gd name="connsiteX113" fmla="*/ 477837 w 1479550"/>
                  <a:gd name="connsiteY113" fmla="*/ 50800 h 1482725"/>
                  <a:gd name="connsiteX114" fmla="*/ 525462 w 1479550"/>
                  <a:gd name="connsiteY114" fmla="*/ 33337 h 1482725"/>
                  <a:gd name="connsiteX115" fmla="*/ 577850 w 1479550"/>
                  <a:gd name="connsiteY115" fmla="*/ 19050 h 1482725"/>
                  <a:gd name="connsiteX116" fmla="*/ 628650 w 1479550"/>
                  <a:gd name="connsiteY116" fmla="*/ 9525 h 1482725"/>
                  <a:gd name="connsiteX117" fmla="*/ 669925 w 1479550"/>
                  <a:gd name="connsiteY117" fmla="*/ 3175 h 1482725"/>
                  <a:gd name="connsiteX118" fmla="*/ 687387 w 1479550"/>
                  <a:gd name="connsiteY118" fmla="*/ 3175 h 1482725"/>
                  <a:gd name="connsiteX119" fmla="*/ 709612 w 1479550"/>
                  <a:gd name="connsiteY119" fmla="*/ 3175 h 148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479550" h="1482725">
                    <a:moveTo>
                      <a:pt x="744537" y="758826"/>
                    </a:moveTo>
                    <a:lnTo>
                      <a:pt x="744934" y="760016"/>
                    </a:lnTo>
                    <a:lnTo>
                      <a:pt x="746124" y="758826"/>
                    </a:lnTo>
                    <a:close/>
                    <a:moveTo>
                      <a:pt x="738187" y="717550"/>
                    </a:moveTo>
                    <a:lnTo>
                      <a:pt x="738187" y="717550"/>
                    </a:lnTo>
                    <a:lnTo>
                      <a:pt x="738188" y="717550"/>
                    </a:lnTo>
                    <a:close/>
                    <a:moveTo>
                      <a:pt x="735012" y="0"/>
                    </a:moveTo>
                    <a:lnTo>
                      <a:pt x="762000" y="0"/>
                    </a:lnTo>
                    <a:lnTo>
                      <a:pt x="811212" y="4762"/>
                    </a:lnTo>
                    <a:lnTo>
                      <a:pt x="912813" y="23812"/>
                    </a:lnTo>
                    <a:lnTo>
                      <a:pt x="919163" y="26987"/>
                    </a:lnTo>
                    <a:lnTo>
                      <a:pt x="920750" y="31750"/>
                    </a:lnTo>
                    <a:lnTo>
                      <a:pt x="920750" y="42862"/>
                    </a:lnTo>
                    <a:lnTo>
                      <a:pt x="928688" y="106362"/>
                    </a:lnTo>
                    <a:lnTo>
                      <a:pt x="939800" y="169862"/>
                    </a:lnTo>
                    <a:lnTo>
                      <a:pt x="944563" y="201612"/>
                    </a:lnTo>
                    <a:lnTo>
                      <a:pt x="954088" y="231775"/>
                    </a:lnTo>
                    <a:lnTo>
                      <a:pt x="963613" y="261937"/>
                    </a:lnTo>
                    <a:lnTo>
                      <a:pt x="976313" y="290512"/>
                    </a:lnTo>
                    <a:lnTo>
                      <a:pt x="992188" y="328612"/>
                    </a:lnTo>
                    <a:lnTo>
                      <a:pt x="1008063" y="363537"/>
                    </a:lnTo>
                    <a:lnTo>
                      <a:pt x="1030288" y="396875"/>
                    </a:lnTo>
                    <a:lnTo>
                      <a:pt x="1050925" y="430212"/>
                    </a:lnTo>
                    <a:lnTo>
                      <a:pt x="1073150" y="461962"/>
                    </a:lnTo>
                    <a:lnTo>
                      <a:pt x="1095375" y="490537"/>
                    </a:lnTo>
                    <a:lnTo>
                      <a:pt x="1119188" y="520700"/>
                    </a:lnTo>
                    <a:lnTo>
                      <a:pt x="1146175" y="547687"/>
                    </a:lnTo>
                    <a:lnTo>
                      <a:pt x="1173163" y="573087"/>
                    </a:lnTo>
                    <a:lnTo>
                      <a:pt x="1201738" y="598487"/>
                    </a:lnTo>
                    <a:lnTo>
                      <a:pt x="1233488" y="622300"/>
                    </a:lnTo>
                    <a:lnTo>
                      <a:pt x="1263650" y="644525"/>
                    </a:lnTo>
                    <a:lnTo>
                      <a:pt x="1298575" y="665162"/>
                    </a:lnTo>
                    <a:lnTo>
                      <a:pt x="1331913" y="681037"/>
                    </a:lnTo>
                    <a:lnTo>
                      <a:pt x="1370013" y="700087"/>
                    </a:lnTo>
                    <a:lnTo>
                      <a:pt x="1404938" y="717550"/>
                    </a:lnTo>
                    <a:lnTo>
                      <a:pt x="1479550" y="739775"/>
                    </a:lnTo>
                    <a:lnTo>
                      <a:pt x="1416050" y="763588"/>
                    </a:lnTo>
                    <a:lnTo>
                      <a:pt x="1355725" y="790575"/>
                    </a:lnTo>
                    <a:lnTo>
                      <a:pt x="1323975" y="804863"/>
                    </a:lnTo>
                    <a:lnTo>
                      <a:pt x="1296988" y="817563"/>
                    </a:lnTo>
                    <a:lnTo>
                      <a:pt x="1268413" y="836613"/>
                    </a:lnTo>
                    <a:lnTo>
                      <a:pt x="1241425" y="854075"/>
                    </a:lnTo>
                    <a:lnTo>
                      <a:pt x="1201738" y="887413"/>
                    </a:lnTo>
                    <a:lnTo>
                      <a:pt x="1163638" y="919163"/>
                    </a:lnTo>
                    <a:lnTo>
                      <a:pt x="1128713" y="955675"/>
                    </a:lnTo>
                    <a:lnTo>
                      <a:pt x="1095375" y="992188"/>
                    </a:lnTo>
                    <a:lnTo>
                      <a:pt x="1065213" y="1030288"/>
                    </a:lnTo>
                    <a:lnTo>
                      <a:pt x="1036638" y="1073150"/>
                    </a:lnTo>
                    <a:lnTo>
                      <a:pt x="1012825" y="1117600"/>
                    </a:lnTo>
                    <a:lnTo>
                      <a:pt x="990600" y="1162050"/>
                    </a:lnTo>
                    <a:lnTo>
                      <a:pt x="966788" y="1219200"/>
                    </a:lnTo>
                    <a:lnTo>
                      <a:pt x="949325" y="1274763"/>
                    </a:lnTo>
                    <a:lnTo>
                      <a:pt x="942975" y="1306513"/>
                    </a:lnTo>
                    <a:lnTo>
                      <a:pt x="935038" y="1335088"/>
                    </a:lnTo>
                    <a:lnTo>
                      <a:pt x="933450" y="1365250"/>
                    </a:lnTo>
                    <a:lnTo>
                      <a:pt x="930275" y="1395413"/>
                    </a:lnTo>
                    <a:lnTo>
                      <a:pt x="928688" y="1409700"/>
                    </a:lnTo>
                    <a:lnTo>
                      <a:pt x="925513" y="1423988"/>
                    </a:lnTo>
                    <a:lnTo>
                      <a:pt x="920750" y="1435100"/>
                    </a:lnTo>
                    <a:lnTo>
                      <a:pt x="920750" y="1449388"/>
                    </a:lnTo>
                    <a:lnTo>
                      <a:pt x="920750" y="1454150"/>
                    </a:lnTo>
                    <a:lnTo>
                      <a:pt x="919163" y="1458913"/>
                    </a:lnTo>
                    <a:lnTo>
                      <a:pt x="914400" y="1462088"/>
                    </a:lnTo>
                    <a:lnTo>
                      <a:pt x="898525" y="1466850"/>
                    </a:lnTo>
                    <a:lnTo>
                      <a:pt x="850900" y="1476375"/>
                    </a:lnTo>
                    <a:lnTo>
                      <a:pt x="801687" y="1481138"/>
                    </a:lnTo>
                    <a:lnTo>
                      <a:pt x="752475" y="1482725"/>
                    </a:lnTo>
                    <a:lnTo>
                      <a:pt x="701676" y="1481138"/>
                    </a:lnTo>
                    <a:lnTo>
                      <a:pt x="701675" y="1481138"/>
                    </a:lnTo>
                    <a:lnTo>
                      <a:pt x="665162" y="1477963"/>
                    </a:lnTo>
                    <a:lnTo>
                      <a:pt x="627062" y="1473201"/>
                    </a:lnTo>
                    <a:lnTo>
                      <a:pt x="592137" y="1466851"/>
                    </a:lnTo>
                    <a:lnTo>
                      <a:pt x="555625" y="1458913"/>
                    </a:lnTo>
                    <a:lnTo>
                      <a:pt x="520700" y="1449388"/>
                    </a:lnTo>
                    <a:lnTo>
                      <a:pt x="487362" y="1438276"/>
                    </a:lnTo>
                    <a:lnTo>
                      <a:pt x="454025" y="1425576"/>
                    </a:lnTo>
                    <a:lnTo>
                      <a:pt x="422275" y="1412876"/>
                    </a:lnTo>
                    <a:lnTo>
                      <a:pt x="390525" y="1395413"/>
                    </a:lnTo>
                    <a:lnTo>
                      <a:pt x="360362" y="1379538"/>
                    </a:lnTo>
                    <a:lnTo>
                      <a:pt x="330200" y="1357313"/>
                    </a:lnTo>
                    <a:lnTo>
                      <a:pt x="301625" y="1336676"/>
                    </a:lnTo>
                    <a:lnTo>
                      <a:pt x="273050" y="1316038"/>
                    </a:lnTo>
                    <a:lnTo>
                      <a:pt x="244475" y="1292226"/>
                    </a:lnTo>
                    <a:lnTo>
                      <a:pt x="219075" y="1266826"/>
                    </a:lnTo>
                    <a:lnTo>
                      <a:pt x="193675" y="1238251"/>
                    </a:lnTo>
                    <a:lnTo>
                      <a:pt x="160337" y="1195388"/>
                    </a:lnTo>
                    <a:lnTo>
                      <a:pt x="130175" y="1155701"/>
                    </a:lnTo>
                    <a:lnTo>
                      <a:pt x="101600" y="1111251"/>
                    </a:lnTo>
                    <a:lnTo>
                      <a:pt x="77787" y="1068388"/>
                    </a:lnTo>
                    <a:lnTo>
                      <a:pt x="57150" y="1023938"/>
                    </a:lnTo>
                    <a:lnTo>
                      <a:pt x="38100" y="977901"/>
                    </a:lnTo>
                    <a:lnTo>
                      <a:pt x="23812" y="933451"/>
                    </a:lnTo>
                    <a:lnTo>
                      <a:pt x="11112" y="887413"/>
                    </a:lnTo>
                    <a:lnTo>
                      <a:pt x="4762" y="839788"/>
                    </a:lnTo>
                    <a:lnTo>
                      <a:pt x="0" y="792163"/>
                    </a:lnTo>
                    <a:lnTo>
                      <a:pt x="0" y="742950"/>
                    </a:lnTo>
                    <a:lnTo>
                      <a:pt x="1587" y="695325"/>
                    </a:lnTo>
                    <a:lnTo>
                      <a:pt x="6350" y="646113"/>
                    </a:lnTo>
                    <a:lnTo>
                      <a:pt x="15875" y="596900"/>
                    </a:lnTo>
                    <a:lnTo>
                      <a:pt x="30162" y="544513"/>
                    </a:lnTo>
                    <a:lnTo>
                      <a:pt x="47625" y="495300"/>
                    </a:lnTo>
                    <a:lnTo>
                      <a:pt x="65087" y="442913"/>
                    </a:lnTo>
                    <a:lnTo>
                      <a:pt x="87312" y="396875"/>
                    </a:lnTo>
                    <a:lnTo>
                      <a:pt x="111125" y="354012"/>
                    </a:lnTo>
                    <a:lnTo>
                      <a:pt x="138112" y="311150"/>
                    </a:lnTo>
                    <a:lnTo>
                      <a:pt x="166687" y="271462"/>
                    </a:lnTo>
                    <a:lnTo>
                      <a:pt x="198437" y="236537"/>
                    </a:lnTo>
                    <a:lnTo>
                      <a:pt x="230187" y="201612"/>
                    </a:lnTo>
                    <a:lnTo>
                      <a:pt x="266700" y="169862"/>
                    </a:lnTo>
                    <a:lnTo>
                      <a:pt x="303212" y="139700"/>
                    </a:lnTo>
                    <a:lnTo>
                      <a:pt x="344487" y="114300"/>
                    </a:lnTo>
                    <a:lnTo>
                      <a:pt x="385762" y="90487"/>
                    </a:lnTo>
                    <a:lnTo>
                      <a:pt x="431800" y="68262"/>
                    </a:lnTo>
                    <a:lnTo>
                      <a:pt x="477837" y="50800"/>
                    </a:lnTo>
                    <a:lnTo>
                      <a:pt x="525462" y="33337"/>
                    </a:lnTo>
                    <a:lnTo>
                      <a:pt x="577850" y="19050"/>
                    </a:lnTo>
                    <a:lnTo>
                      <a:pt x="628650" y="9525"/>
                    </a:lnTo>
                    <a:lnTo>
                      <a:pt x="669925" y="3175"/>
                    </a:lnTo>
                    <a:lnTo>
                      <a:pt x="687387" y="3175"/>
                    </a:lnTo>
                    <a:lnTo>
                      <a:pt x="709612" y="3175"/>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bwMode="auto">
              <a:xfrm>
                <a:off x="5344820" y="1949807"/>
                <a:ext cx="1482725" cy="1471613"/>
              </a:xfrm>
              <a:custGeom>
                <a:avLst/>
                <a:gdLst>
                  <a:gd name="connsiteX0" fmla="*/ 937817 w 1482725"/>
                  <a:gd name="connsiteY0" fmla="*/ 64955 h 1471613"/>
                  <a:gd name="connsiteX1" fmla="*/ 939503 w 1482725"/>
                  <a:gd name="connsiteY1" fmla="*/ 67767 h 1471613"/>
                  <a:gd name="connsiteX2" fmla="*/ 940755 w 1482725"/>
                  <a:gd name="connsiteY2" fmla="*/ 68518 h 1471613"/>
                  <a:gd name="connsiteX3" fmla="*/ 941012 w 1482725"/>
                  <a:gd name="connsiteY3" fmla="*/ 68586 h 1471613"/>
                  <a:gd name="connsiteX4" fmla="*/ 938213 w 1482725"/>
                  <a:gd name="connsiteY4" fmla="*/ 65087 h 1471613"/>
                  <a:gd name="connsiteX5" fmla="*/ 749300 w 1482725"/>
                  <a:gd name="connsiteY5" fmla="*/ 0 h 1471613"/>
                  <a:gd name="connsiteX6" fmla="*/ 803275 w 1482725"/>
                  <a:gd name="connsiteY6" fmla="*/ 4762 h 1471613"/>
                  <a:gd name="connsiteX7" fmla="*/ 857251 w 1482725"/>
                  <a:gd name="connsiteY7" fmla="*/ 11112 h 1471613"/>
                  <a:gd name="connsiteX8" fmla="*/ 911226 w 1482725"/>
                  <a:gd name="connsiteY8" fmla="*/ 23812 h 1471613"/>
                  <a:gd name="connsiteX9" fmla="*/ 911226 w 1482725"/>
                  <a:gd name="connsiteY9" fmla="*/ 23813 h 1471613"/>
                  <a:gd name="connsiteX10" fmla="*/ 958850 w 1482725"/>
                  <a:gd name="connsiteY10" fmla="*/ 34925 h 1471613"/>
                  <a:gd name="connsiteX11" fmla="*/ 1003300 w 1482725"/>
                  <a:gd name="connsiteY11" fmla="*/ 49213 h 1471613"/>
                  <a:gd name="connsiteX12" fmla="*/ 1046163 w 1482725"/>
                  <a:gd name="connsiteY12" fmla="*/ 65088 h 1471613"/>
                  <a:gd name="connsiteX13" fmla="*/ 1085850 w 1482725"/>
                  <a:gd name="connsiteY13" fmla="*/ 87313 h 1471613"/>
                  <a:gd name="connsiteX14" fmla="*/ 1127125 w 1482725"/>
                  <a:gd name="connsiteY14" fmla="*/ 107950 h 1471613"/>
                  <a:gd name="connsiteX15" fmla="*/ 1166813 w 1482725"/>
                  <a:gd name="connsiteY15" fmla="*/ 133350 h 1471613"/>
                  <a:gd name="connsiteX16" fmla="*/ 1201738 w 1482725"/>
                  <a:gd name="connsiteY16" fmla="*/ 161925 h 1471613"/>
                  <a:gd name="connsiteX17" fmla="*/ 1236663 w 1482725"/>
                  <a:gd name="connsiteY17" fmla="*/ 192088 h 1471613"/>
                  <a:gd name="connsiteX18" fmla="*/ 1274763 w 1482725"/>
                  <a:gd name="connsiteY18" fmla="*/ 230188 h 1471613"/>
                  <a:gd name="connsiteX19" fmla="*/ 1308100 w 1482725"/>
                  <a:gd name="connsiteY19" fmla="*/ 265113 h 1471613"/>
                  <a:gd name="connsiteX20" fmla="*/ 1338263 w 1482725"/>
                  <a:gd name="connsiteY20" fmla="*/ 306388 h 1471613"/>
                  <a:gd name="connsiteX21" fmla="*/ 1366838 w 1482725"/>
                  <a:gd name="connsiteY21" fmla="*/ 342901 h 1471613"/>
                  <a:gd name="connsiteX22" fmla="*/ 1390650 w 1482725"/>
                  <a:gd name="connsiteY22" fmla="*/ 384176 h 1471613"/>
                  <a:gd name="connsiteX23" fmla="*/ 1411288 w 1482725"/>
                  <a:gd name="connsiteY23" fmla="*/ 425451 h 1471613"/>
                  <a:gd name="connsiteX24" fmla="*/ 1430338 w 1482725"/>
                  <a:gd name="connsiteY24" fmla="*/ 468313 h 1471613"/>
                  <a:gd name="connsiteX25" fmla="*/ 1447800 w 1482725"/>
                  <a:gd name="connsiteY25" fmla="*/ 511176 h 1471613"/>
                  <a:gd name="connsiteX26" fmla="*/ 1458913 w 1482725"/>
                  <a:gd name="connsiteY26" fmla="*/ 555626 h 1471613"/>
                  <a:gd name="connsiteX27" fmla="*/ 1468438 w 1482725"/>
                  <a:gd name="connsiteY27" fmla="*/ 600076 h 1471613"/>
                  <a:gd name="connsiteX28" fmla="*/ 1474788 w 1482725"/>
                  <a:gd name="connsiteY28" fmla="*/ 647701 h 1471613"/>
                  <a:gd name="connsiteX29" fmla="*/ 1479550 w 1482725"/>
                  <a:gd name="connsiteY29" fmla="*/ 695326 h 1471613"/>
                  <a:gd name="connsiteX30" fmla="*/ 1482725 w 1482725"/>
                  <a:gd name="connsiteY30" fmla="*/ 741363 h 1471613"/>
                  <a:gd name="connsiteX31" fmla="*/ 1479550 w 1482725"/>
                  <a:gd name="connsiteY31" fmla="*/ 790576 h 1471613"/>
                  <a:gd name="connsiteX32" fmla="*/ 1474788 w 1482725"/>
                  <a:gd name="connsiteY32" fmla="*/ 841376 h 1471613"/>
                  <a:gd name="connsiteX33" fmla="*/ 1468438 w 1482725"/>
                  <a:gd name="connsiteY33" fmla="*/ 892176 h 1471613"/>
                  <a:gd name="connsiteX34" fmla="*/ 1463675 w 1482725"/>
                  <a:gd name="connsiteY34" fmla="*/ 909639 h 1471613"/>
                  <a:gd name="connsiteX35" fmla="*/ 1458913 w 1482725"/>
                  <a:gd name="connsiteY35" fmla="*/ 915989 h 1471613"/>
                  <a:gd name="connsiteX36" fmla="*/ 1454150 w 1482725"/>
                  <a:gd name="connsiteY36" fmla="*/ 920751 h 1471613"/>
                  <a:gd name="connsiteX37" fmla="*/ 1447800 w 1482725"/>
                  <a:gd name="connsiteY37" fmla="*/ 925514 h 1471613"/>
                  <a:gd name="connsiteX38" fmla="*/ 1439863 w 1482725"/>
                  <a:gd name="connsiteY38" fmla="*/ 928689 h 1471613"/>
                  <a:gd name="connsiteX39" fmla="*/ 1420813 w 1482725"/>
                  <a:gd name="connsiteY39" fmla="*/ 930276 h 1471613"/>
                  <a:gd name="connsiteX40" fmla="*/ 1365250 w 1482725"/>
                  <a:gd name="connsiteY40" fmla="*/ 935039 h 1471613"/>
                  <a:gd name="connsiteX41" fmla="*/ 1304925 w 1482725"/>
                  <a:gd name="connsiteY41" fmla="*/ 944564 h 1471613"/>
                  <a:gd name="connsiteX42" fmla="*/ 1250950 w 1482725"/>
                  <a:gd name="connsiteY42" fmla="*/ 955676 h 1471613"/>
                  <a:gd name="connsiteX43" fmla="*/ 1196975 w 1482725"/>
                  <a:gd name="connsiteY43" fmla="*/ 974726 h 1471613"/>
                  <a:gd name="connsiteX44" fmla="*/ 1144588 w 1482725"/>
                  <a:gd name="connsiteY44" fmla="*/ 996951 h 1471613"/>
                  <a:gd name="connsiteX45" fmla="*/ 1093788 w 1482725"/>
                  <a:gd name="connsiteY45" fmla="*/ 1022351 h 1471613"/>
                  <a:gd name="connsiteX46" fmla="*/ 1044575 w 1482725"/>
                  <a:gd name="connsiteY46" fmla="*/ 1052514 h 1471613"/>
                  <a:gd name="connsiteX47" fmla="*/ 996950 w 1482725"/>
                  <a:gd name="connsiteY47" fmla="*/ 1085851 h 1471613"/>
                  <a:gd name="connsiteX48" fmla="*/ 996950 w 1482725"/>
                  <a:gd name="connsiteY48" fmla="*/ 1085851 h 1471613"/>
                  <a:gd name="connsiteX49" fmla="*/ 966788 w 1482725"/>
                  <a:gd name="connsiteY49" fmla="*/ 1116013 h 1471613"/>
                  <a:gd name="connsiteX50" fmla="*/ 935038 w 1482725"/>
                  <a:gd name="connsiteY50" fmla="*/ 1144588 h 1471613"/>
                  <a:gd name="connsiteX51" fmla="*/ 906463 w 1482725"/>
                  <a:gd name="connsiteY51" fmla="*/ 1174750 h 1471613"/>
                  <a:gd name="connsiteX52" fmla="*/ 879476 w 1482725"/>
                  <a:gd name="connsiteY52" fmla="*/ 1208088 h 1471613"/>
                  <a:gd name="connsiteX53" fmla="*/ 852488 w 1482725"/>
                  <a:gd name="connsiteY53" fmla="*/ 1241425 h 1471613"/>
                  <a:gd name="connsiteX54" fmla="*/ 828675 w 1482725"/>
                  <a:gd name="connsiteY54" fmla="*/ 1276350 h 1471613"/>
                  <a:gd name="connsiteX55" fmla="*/ 808038 w 1482725"/>
                  <a:gd name="connsiteY55" fmla="*/ 1312863 h 1471613"/>
                  <a:gd name="connsiteX56" fmla="*/ 788988 w 1482725"/>
                  <a:gd name="connsiteY56" fmla="*/ 1352550 h 1471613"/>
                  <a:gd name="connsiteX57" fmla="*/ 769938 w 1482725"/>
                  <a:gd name="connsiteY57" fmla="*/ 1393825 h 1471613"/>
                  <a:gd name="connsiteX58" fmla="*/ 754063 w 1482725"/>
                  <a:gd name="connsiteY58" fmla="*/ 1439863 h 1471613"/>
                  <a:gd name="connsiteX59" fmla="*/ 754062 w 1482725"/>
                  <a:gd name="connsiteY59" fmla="*/ 1439863 h 1471613"/>
                  <a:gd name="connsiteX60" fmla="*/ 754063 w 1482725"/>
                  <a:gd name="connsiteY60" fmla="*/ 1439863 h 1471613"/>
                  <a:gd name="connsiteX61" fmla="*/ 754063 w 1482725"/>
                  <a:gd name="connsiteY61" fmla="*/ 1449388 h 1471613"/>
                  <a:gd name="connsiteX62" fmla="*/ 750888 w 1482725"/>
                  <a:gd name="connsiteY62" fmla="*/ 1458913 h 1471613"/>
                  <a:gd name="connsiteX63" fmla="*/ 747713 w 1482725"/>
                  <a:gd name="connsiteY63" fmla="*/ 1465263 h 1471613"/>
                  <a:gd name="connsiteX64" fmla="*/ 739775 w 1482725"/>
                  <a:gd name="connsiteY64" fmla="*/ 1471613 h 1471613"/>
                  <a:gd name="connsiteX65" fmla="*/ 733425 w 1482725"/>
                  <a:gd name="connsiteY65" fmla="*/ 1465263 h 1471613"/>
                  <a:gd name="connsiteX66" fmla="*/ 730250 w 1482725"/>
                  <a:gd name="connsiteY66" fmla="*/ 1458913 h 1471613"/>
                  <a:gd name="connsiteX67" fmla="*/ 728663 w 1482725"/>
                  <a:gd name="connsiteY67" fmla="*/ 1449388 h 1471613"/>
                  <a:gd name="connsiteX68" fmla="*/ 728663 w 1482725"/>
                  <a:gd name="connsiteY68" fmla="*/ 1439863 h 1471613"/>
                  <a:gd name="connsiteX69" fmla="*/ 728663 w 1482725"/>
                  <a:gd name="connsiteY69" fmla="*/ 1439863 h 1471613"/>
                  <a:gd name="connsiteX70" fmla="*/ 728663 w 1482725"/>
                  <a:gd name="connsiteY70" fmla="*/ 1439863 h 1471613"/>
                  <a:gd name="connsiteX71" fmla="*/ 706438 w 1482725"/>
                  <a:gd name="connsiteY71" fmla="*/ 1382713 h 1471613"/>
                  <a:gd name="connsiteX72" fmla="*/ 682625 w 1482725"/>
                  <a:gd name="connsiteY72" fmla="*/ 1330325 h 1471613"/>
                  <a:gd name="connsiteX73" fmla="*/ 652463 w 1482725"/>
                  <a:gd name="connsiteY73" fmla="*/ 1279525 h 1471613"/>
                  <a:gd name="connsiteX74" fmla="*/ 622300 w 1482725"/>
                  <a:gd name="connsiteY74" fmla="*/ 1231900 h 1471613"/>
                  <a:gd name="connsiteX75" fmla="*/ 587375 w 1482725"/>
                  <a:gd name="connsiteY75" fmla="*/ 1187450 h 1471613"/>
                  <a:gd name="connsiteX76" fmla="*/ 546100 w 1482725"/>
                  <a:gd name="connsiteY76" fmla="*/ 1144588 h 1471613"/>
                  <a:gd name="connsiteX77" fmla="*/ 501650 w 1482725"/>
                  <a:gd name="connsiteY77" fmla="*/ 1104900 h 1471613"/>
                  <a:gd name="connsiteX78" fmla="*/ 454025 w 1482725"/>
                  <a:gd name="connsiteY78" fmla="*/ 1069975 h 1471613"/>
                  <a:gd name="connsiteX79" fmla="*/ 454025 w 1482725"/>
                  <a:gd name="connsiteY79" fmla="*/ 1066800 h 1471613"/>
                  <a:gd name="connsiteX80" fmla="*/ 452438 w 1482725"/>
                  <a:gd name="connsiteY80" fmla="*/ 1062038 h 1471613"/>
                  <a:gd name="connsiteX81" fmla="*/ 452437 w 1482725"/>
                  <a:gd name="connsiteY81" fmla="*/ 1062038 h 1471613"/>
                  <a:gd name="connsiteX82" fmla="*/ 407987 w 1482725"/>
                  <a:gd name="connsiteY82" fmla="*/ 1036638 h 1471613"/>
                  <a:gd name="connsiteX83" fmla="*/ 360362 w 1482725"/>
                  <a:gd name="connsiteY83" fmla="*/ 1011238 h 1471613"/>
                  <a:gd name="connsiteX84" fmla="*/ 312737 w 1482725"/>
                  <a:gd name="connsiteY84" fmla="*/ 987426 h 1471613"/>
                  <a:gd name="connsiteX85" fmla="*/ 263525 w 1482725"/>
                  <a:gd name="connsiteY85" fmla="*/ 968376 h 1471613"/>
                  <a:gd name="connsiteX86" fmla="*/ 214312 w 1482725"/>
                  <a:gd name="connsiteY86" fmla="*/ 954088 h 1471613"/>
                  <a:gd name="connsiteX87" fmla="*/ 165100 w 1482725"/>
                  <a:gd name="connsiteY87" fmla="*/ 941388 h 1471613"/>
                  <a:gd name="connsiteX88" fmla="*/ 112712 w 1482725"/>
                  <a:gd name="connsiteY88" fmla="*/ 933451 h 1471613"/>
                  <a:gd name="connsiteX89" fmla="*/ 87312 w 1482725"/>
                  <a:gd name="connsiteY89" fmla="*/ 930276 h 1471613"/>
                  <a:gd name="connsiteX90" fmla="*/ 60325 w 1482725"/>
                  <a:gd name="connsiteY90" fmla="*/ 930276 h 1471613"/>
                  <a:gd name="connsiteX91" fmla="*/ 42862 w 1482725"/>
                  <a:gd name="connsiteY91" fmla="*/ 928688 h 1471613"/>
                  <a:gd name="connsiteX92" fmla="*/ 34925 w 1482725"/>
                  <a:gd name="connsiteY92" fmla="*/ 925513 h 1471613"/>
                  <a:gd name="connsiteX93" fmla="*/ 28575 w 1482725"/>
                  <a:gd name="connsiteY93" fmla="*/ 920751 h 1471613"/>
                  <a:gd name="connsiteX94" fmla="*/ 23812 w 1482725"/>
                  <a:gd name="connsiteY94" fmla="*/ 915988 h 1471613"/>
                  <a:gd name="connsiteX95" fmla="*/ 19050 w 1482725"/>
                  <a:gd name="connsiteY95" fmla="*/ 909638 h 1471613"/>
                  <a:gd name="connsiteX96" fmla="*/ 14287 w 1482725"/>
                  <a:gd name="connsiteY96" fmla="*/ 890588 h 1471613"/>
                  <a:gd name="connsiteX97" fmla="*/ 6350 w 1482725"/>
                  <a:gd name="connsiteY97" fmla="*/ 846138 h 1471613"/>
                  <a:gd name="connsiteX98" fmla="*/ 1587 w 1482725"/>
                  <a:gd name="connsiteY98" fmla="*/ 800101 h 1471613"/>
                  <a:gd name="connsiteX99" fmla="*/ 0 w 1482725"/>
                  <a:gd name="connsiteY99" fmla="*/ 755651 h 1471613"/>
                  <a:gd name="connsiteX100" fmla="*/ 0 w 1482725"/>
                  <a:gd name="connsiteY100" fmla="*/ 711201 h 1471613"/>
                  <a:gd name="connsiteX101" fmla="*/ 4762 w 1482725"/>
                  <a:gd name="connsiteY101" fmla="*/ 666751 h 1471613"/>
                  <a:gd name="connsiteX102" fmla="*/ 9525 w 1482725"/>
                  <a:gd name="connsiteY102" fmla="*/ 622301 h 1471613"/>
                  <a:gd name="connsiteX103" fmla="*/ 19050 w 1482725"/>
                  <a:gd name="connsiteY103" fmla="*/ 576263 h 1471613"/>
                  <a:gd name="connsiteX104" fmla="*/ 30162 w 1482725"/>
                  <a:gd name="connsiteY104" fmla="*/ 534988 h 1471613"/>
                  <a:gd name="connsiteX105" fmla="*/ 39687 w 1482725"/>
                  <a:gd name="connsiteY105" fmla="*/ 501650 h 1471613"/>
                  <a:gd name="connsiteX106" fmla="*/ 50800 w 1482725"/>
                  <a:gd name="connsiteY106" fmla="*/ 471488 h 1471613"/>
                  <a:gd name="connsiteX107" fmla="*/ 65087 w 1482725"/>
                  <a:gd name="connsiteY107" fmla="*/ 438150 h 1471613"/>
                  <a:gd name="connsiteX108" fmla="*/ 79375 w 1482725"/>
                  <a:gd name="connsiteY108" fmla="*/ 409575 h 1471613"/>
                  <a:gd name="connsiteX109" fmla="*/ 93662 w 1482725"/>
                  <a:gd name="connsiteY109" fmla="*/ 381000 h 1471613"/>
                  <a:gd name="connsiteX110" fmla="*/ 111125 w 1482725"/>
                  <a:gd name="connsiteY110" fmla="*/ 352425 h 1471613"/>
                  <a:gd name="connsiteX111" fmla="*/ 127000 w 1482725"/>
                  <a:gd name="connsiteY111" fmla="*/ 325438 h 1471613"/>
                  <a:gd name="connsiteX112" fmla="*/ 146050 w 1482725"/>
                  <a:gd name="connsiteY112" fmla="*/ 298450 h 1471613"/>
                  <a:gd name="connsiteX113" fmla="*/ 166687 w 1482725"/>
                  <a:gd name="connsiteY113" fmla="*/ 273050 h 1471613"/>
                  <a:gd name="connsiteX114" fmla="*/ 188912 w 1482725"/>
                  <a:gd name="connsiteY114" fmla="*/ 249238 h 1471613"/>
                  <a:gd name="connsiteX115" fmla="*/ 209550 w 1482725"/>
                  <a:gd name="connsiteY115" fmla="*/ 225425 h 1471613"/>
                  <a:gd name="connsiteX116" fmla="*/ 233362 w 1482725"/>
                  <a:gd name="connsiteY116" fmla="*/ 201613 h 1471613"/>
                  <a:gd name="connsiteX117" fmla="*/ 257175 w 1482725"/>
                  <a:gd name="connsiteY117" fmla="*/ 180975 h 1471613"/>
                  <a:gd name="connsiteX118" fmla="*/ 282575 w 1482725"/>
                  <a:gd name="connsiteY118" fmla="*/ 160338 h 1471613"/>
                  <a:gd name="connsiteX119" fmla="*/ 339725 w 1482725"/>
                  <a:gd name="connsiteY119" fmla="*/ 119063 h 1471613"/>
                  <a:gd name="connsiteX120" fmla="*/ 371475 w 1482725"/>
                  <a:gd name="connsiteY120" fmla="*/ 98425 h 1471613"/>
                  <a:gd name="connsiteX121" fmla="*/ 407987 w 1482725"/>
                  <a:gd name="connsiteY121" fmla="*/ 79375 h 1471613"/>
                  <a:gd name="connsiteX122" fmla="*/ 442912 w 1482725"/>
                  <a:gd name="connsiteY122" fmla="*/ 63500 h 1471613"/>
                  <a:gd name="connsiteX123" fmla="*/ 461962 w 1482725"/>
                  <a:gd name="connsiteY123" fmla="*/ 55563 h 1471613"/>
                  <a:gd name="connsiteX124" fmla="*/ 482600 w 1482725"/>
                  <a:gd name="connsiteY124" fmla="*/ 50800 h 1471613"/>
                  <a:gd name="connsiteX125" fmla="*/ 482601 w 1482725"/>
                  <a:gd name="connsiteY125" fmla="*/ 50801 h 1471613"/>
                  <a:gd name="connsiteX126" fmla="*/ 482600 w 1482725"/>
                  <a:gd name="connsiteY126" fmla="*/ 50800 h 1471613"/>
                  <a:gd name="connsiteX127" fmla="*/ 534988 w 1482725"/>
                  <a:gd name="connsiteY127" fmla="*/ 33337 h 1471613"/>
                  <a:gd name="connsiteX128" fmla="*/ 588963 w 1482725"/>
                  <a:gd name="connsiteY128" fmla="*/ 15875 h 1471613"/>
                  <a:gd name="connsiteX129" fmla="*/ 641350 w 1482725"/>
                  <a:gd name="connsiteY129" fmla="*/ 6350 h 1471613"/>
                  <a:gd name="connsiteX130" fmla="*/ 695325 w 1482725"/>
                  <a:gd name="connsiteY130" fmla="*/ 1587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1482725" h="1471613">
                    <a:moveTo>
                      <a:pt x="937817" y="64955"/>
                    </a:moveTo>
                    <a:lnTo>
                      <a:pt x="939503" y="67767"/>
                    </a:lnTo>
                    <a:lnTo>
                      <a:pt x="940755" y="68518"/>
                    </a:lnTo>
                    <a:lnTo>
                      <a:pt x="941012" y="68586"/>
                    </a:lnTo>
                    <a:lnTo>
                      <a:pt x="938213" y="65087"/>
                    </a:lnTo>
                    <a:close/>
                    <a:moveTo>
                      <a:pt x="749300" y="0"/>
                    </a:moveTo>
                    <a:lnTo>
                      <a:pt x="803275" y="4762"/>
                    </a:lnTo>
                    <a:lnTo>
                      <a:pt x="857251" y="11112"/>
                    </a:lnTo>
                    <a:lnTo>
                      <a:pt x="911226" y="23812"/>
                    </a:lnTo>
                    <a:lnTo>
                      <a:pt x="911226" y="23813"/>
                    </a:lnTo>
                    <a:lnTo>
                      <a:pt x="958850" y="34925"/>
                    </a:lnTo>
                    <a:lnTo>
                      <a:pt x="1003300" y="49213"/>
                    </a:lnTo>
                    <a:lnTo>
                      <a:pt x="1046163" y="65088"/>
                    </a:lnTo>
                    <a:lnTo>
                      <a:pt x="1085850" y="87313"/>
                    </a:lnTo>
                    <a:lnTo>
                      <a:pt x="1127125" y="107950"/>
                    </a:lnTo>
                    <a:lnTo>
                      <a:pt x="1166813" y="133350"/>
                    </a:lnTo>
                    <a:lnTo>
                      <a:pt x="1201738" y="161925"/>
                    </a:lnTo>
                    <a:lnTo>
                      <a:pt x="1236663" y="192088"/>
                    </a:lnTo>
                    <a:lnTo>
                      <a:pt x="1274763" y="230188"/>
                    </a:lnTo>
                    <a:lnTo>
                      <a:pt x="1308100" y="265113"/>
                    </a:lnTo>
                    <a:lnTo>
                      <a:pt x="1338263" y="306388"/>
                    </a:lnTo>
                    <a:lnTo>
                      <a:pt x="1366838" y="342901"/>
                    </a:lnTo>
                    <a:lnTo>
                      <a:pt x="1390650" y="384176"/>
                    </a:lnTo>
                    <a:lnTo>
                      <a:pt x="1411288" y="425451"/>
                    </a:lnTo>
                    <a:lnTo>
                      <a:pt x="1430338" y="468313"/>
                    </a:lnTo>
                    <a:lnTo>
                      <a:pt x="1447800" y="511176"/>
                    </a:lnTo>
                    <a:lnTo>
                      <a:pt x="1458913" y="555626"/>
                    </a:lnTo>
                    <a:lnTo>
                      <a:pt x="1468438" y="600076"/>
                    </a:lnTo>
                    <a:lnTo>
                      <a:pt x="1474788" y="647701"/>
                    </a:lnTo>
                    <a:lnTo>
                      <a:pt x="1479550" y="695326"/>
                    </a:lnTo>
                    <a:lnTo>
                      <a:pt x="1482725" y="741363"/>
                    </a:lnTo>
                    <a:lnTo>
                      <a:pt x="1479550" y="790576"/>
                    </a:lnTo>
                    <a:lnTo>
                      <a:pt x="1474788" y="841376"/>
                    </a:lnTo>
                    <a:lnTo>
                      <a:pt x="1468438" y="892176"/>
                    </a:lnTo>
                    <a:lnTo>
                      <a:pt x="1463675" y="909639"/>
                    </a:lnTo>
                    <a:lnTo>
                      <a:pt x="1458913" y="915989"/>
                    </a:lnTo>
                    <a:lnTo>
                      <a:pt x="1454150" y="920751"/>
                    </a:lnTo>
                    <a:lnTo>
                      <a:pt x="1447800" y="925514"/>
                    </a:lnTo>
                    <a:lnTo>
                      <a:pt x="1439863" y="928689"/>
                    </a:lnTo>
                    <a:lnTo>
                      <a:pt x="1420813" y="930276"/>
                    </a:lnTo>
                    <a:lnTo>
                      <a:pt x="1365250" y="935039"/>
                    </a:lnTo>
                    <a:lnTo>
                      <a:pt x="1304925" y="944564"/>
                    </a:lnTo>
                    <a:lnTo>
                      <a:pt x="1250950" y="955676"/>
                    </a:lnTo>
                    <a:lnTo>
                      <a:pt x="1196975" y="974726"/>
                    </a:lnTo>
                    <a:lnTo>
                      <a:pt x="1144588" y="996951"/>
                    </a:lnTo>
                    <a:lnTo>
                      <a:pt x="1093788" y="1022351"/>
                    </a:lnTo>
                    <a:lnTo>
                      <a:pt x="1044575" y="1052514"/>
                    </a:lnTo>
                    <a:lnTo>
                      <a:pt x="996950" y="1085851"/>
                    </a:lnTo>
                    <a:lnTo>
                      <a:pt x="996950" y="1085851"/>
                    </a:lnTo>
                    <a:lnTo>
                      <a:pt x="966788" y="1116013"/>
                    </a:lnTo>
                    <a:lnTo>
                      <a:pt x="935038" y="1144588"/>
                    </a:lnTo>
                    <a:lnTo>
                      <a:pt x="906463" y="1174750"/>
                    </a:lnTo>
                    <a:lnTo>
                      <a:pt x="879476" y="1208088"/>
                    </a:lnTo>
                    <a:lnTo>
                      <a:pt x="852488" y="1241425"/>
                    </a:lnTo>
                    <a:lnTo>
                      <a:pt x="828675" y="1276350"/>
                    </a:lnTo>
                    <a:lnTo>
                      <a:pt x="808038" y="1312863"/>
                    </a:lnTo>
                    <a:lnTo>
                      <a:pt x="788988" y="1352550"/>
                    </a:lnTo>
                    <a:lnTo>
                      <a:pt x="769938" y="1393825"/>
                    </a:lnTo>
                    <a:lnTo>
                      <a:pt x="754063" y="1439863"/>
                    </a:lnTo>
                    <a:lnTo>
                      <a:pt x="754062" y="1439863"/>
                    </a:lnTo>
                    <a:lnTo>
                      <a:pt x="754063" y="1439863"/>
                    </a:lnTo>
                    <a:lnTo>
                      <a:pt x="754063" y="1449388"/>
                    </a:lnTo>
                    <a:lnTo>
                      <a:pt x="750888" y="1458913"/>
                    </a:lnTo>
                    <a:lnTo>
                      <a:pt x="747713" y="1465263"/>
                    </a:lnTo>
                    <a:lnTo>
                      <a:pt x="739775" y="1471613"/>
                    </a:lnTo>
                    <a:lnTo>
                      <a:pt x="733425" y="1465263"/>
                    </a:lnTo>
                    <a:lnTo>
                      <a:pt x="730250" y="1458913"/>
                    </a:lnTo>
                    <a:lnTo>
                      <a:pt x="728663" y="1449388"/>
                    </a:lnTo>
                    <a:lnTo>
                      <a:pt x="728663" y="1439863"/>
                    </a:lnTo>
                    <a:lnTo>
                      <a:pt x="728663" y="1439863"/>
                    </a:lnTo>
                    <a:lnTo>
                      <a:pt x="728663" y="1439863"/>
                    </a:lnTo>
                    <a:lnTo>
                      <a:pt x="706438" y="1382713"/>
                    </a:lnTo>
                    <a:lnTo>
                      <a:pt x="682625" y="1330325"/>
                    </a:lnTo>
                    <a:lnTo>
                      <a:pt x="652463" y="1279525"/>
                    </a:lnTo>
                    <a:lnTo>
                      <a:pt x="622300" y="1231900"/>
                    </a:lnTo>
                    <a:lnTo>
                      <a:pt x="587375" y="1187450"/>
                    </a:lnTo>
                    <a:lnTo>
                      <a:pt x="546100" y="1144588"/>
                    </a:lnTo>
                    <a:lnTo>
                      <a:pt x="501650" y="1104900"/>
                    </a:lnTo>
                    <a:lnTo>
                      <a:pt x="454025" y="1069975"/>
                    </a:lnTo>
                    <a:lnTo>
                      <a:pt x="454025" y="1066800"/>
                    </a:lnTo>
                    <a:lnTo>
                      <a:pt x="452438" y="1062038"/>
                    </a:lnTo>
                    <a:lnTo>
                      <a:pt x="452437" y="1062038"/>
                    </a:lnTo>
                    <a:lnTo>
                      <a:pt x="407987" y="1036638"/>
                    </a:lnTo>
                    <a:lnTo>
                      <a:pt x="360362" y="1011238"/>
                    </a:lnTo>
                    <a:lnTo>
                      <a:pt x="312737" y="987426"/>
                    </a:lnTo>
                    <a:lnTo>
                      <a:pt x="263525" y="968376"/>
                    </a:lnTo>
                    <a:lnTo>
                      <a:pt x="214312" y="954088"/>
                    </a:lnTo>
                    <a:lnTo>
                      <a:pt x="165100" y="941388"/>
                    </a:lnTo>
                    <a:lnTo>
                      <a:pt x="112712" y="933451"/>
                    </a:lnTo>
                    <a:lnTo>
                      <a:pt x="87312" y="930276"/>
                    </a:lnTo>
                    <a:lnTo>
                      <a:pt x="60325" y="930276"/>
                    </a:lnTo>
                    <a:lnTo>
                      <a:pt x="42862" y="928688"/>
                    </a:lnTo>
                    <a:lnTo>
                      <a:pt x="34925" y="925513"/>
                    </a:lnTo>
                    <a:lnTo>
                      <a:pt x="28575" y="920751"/>
                    </a:lnTo>
                    <a:lnTo>
                      <a:pt x="23812" y="915988"/>
                    </a:lnTo>
                    <a:lnTo>
                      <a:pt x="19050" y="909638"/>
                    </a:lnTo>
                    <a:lnTo>
                      <a:pt x="14287" y="890588"/>
                    </a:lnTo>
                    <a:lnTo>
                      <a:pt x="6350" y="846138"/>
                    </a:lnTo>
                    <a:lnTo>
                      <a:pt x="1587" y="800101"/>
                    </a:lnTo>
                    <a:lnTo>
                      <a:pt x="0" y="755651"/>
                    </a:lnTo>
                    <a:lnTo>
                      <a:pt x="0" y="711201"/>
                    </a:lnTo>
                    <a:lnTo>
                      <a:pt x="4762" y="666751"/>
                    </a:lnTo>
                    <a:lnTo>
                      <a:pt x="9525" y="622301"/>
                    </a:lnTo>
                    <a:lnTo>
                      <a:pt x="19050" y="576263"/>
                    </a:lnTo>
                    <a:lnTo>
                      <a:pt x="30162" y="534988"/>
                    </a:lnTo>
                    <a:lnTo>
                      <a:pt x="39687" y="501650"/>
                    </a:lnTo>
                    <a:lnTo>
                      <a:pt x="50800" y="471488"/>
                    </a:lnTo>
                    <a:lnTo>
                      <a:pt x="65087" y="438150"/>
                    </a:lnTo>
                    <a:lnTo>
                      <a:pt x="79375" y="409575"/>
                    </a:lnTo>
                    <a:lnTo>
                      <a:pt x="93662" y="381000"/>
                    </a:lnTo>
                    <a:lnTo>
                      <a:pt x="111125" y="352425"/>
                    </a:lnTo>
                    <a:lnTo>
                      <a:pt x="127000" y="325438"/>
                    </a:lnTo>
                    <a:lnTo>
                      <a:pt x="146050" y="298450"/>
                    </a:lnTo>
                    <a:lnTo>
                      <a:pt x="166687" y="273050"/>
                    </a:lnTo>
                    <a:lnTo>
                      <a:pt x="188912" y="249238"/>
                    </a:lnTo>
                    <a:lnTo>
                      <a:pt x="209550" y="225425"/>
                    </a:lnTo>
                    <a:lnTo>
                      <a:pt x="233362" y="201613"/>
                    </a:lnTo>
                    <a:lnTo>
                      <a:pt x="257175" y="180975"/>
                    </a:lnTo>
                    <a:lnTo>
                      <a:pt x="282575" y="160338"/>
                    </a:lnTo>
                    <a:lnTo>
                      <a:pt x="339725" y="119063"/>
                    </a:lnTo>
                    <a:lnTo>
                      <a:pt x="371475" y="98425"/>
                    </a:lnTo>
                    <a:lnTo>
                      <a:pt x="407987" y="79375"/>
                    </a:lnTo>
                    <a:lnTo>
                      <a:pt x="442912" y="63500"/>
                    </a:lnTo>
                    <a:lnTo>
                      <a:pt x="461962" y="55563"/>
                    </a:lnTo>
                    <a:lnTo>
                      <a:pt x="482600" y="50800"/>
                    </a:lnTo>
                    <a:lnTo>
                      <a:pt x="482601" y="50801"/>
                    </a:lnTo>
                    <a:lnTo>
                      <a:pt x="482600" y="50800"/>
                    </a:lnTo>
                    <a:lnTo>
                      <a:pt x="534988" y="33337"/>
                    </a:lnTo>
                    <a:lnTo>
                      <a:pt x="588963" y="15875"/>
                    </a:lnTo>
                    <a:lnTo>
                      <a:pt x="641350" y="6350"/>
                    </a:lnTo>
                    <a:lnTo>
                      <a:pt x="695325" y="1587"/>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3" name="组合 82"/>
            <p:cNvGrpSpPr/>
            <p:nvPr/>
          </p:nvGrpSpPr>
          <p:grpSpPr>
            <a:xfrm rot="18915558">
              <a:off x="6705856" y="1212997"/>
              <a:ext cx="649799" cy="3211383"/>
              <a:chOff x="7075160" y="2142097"/>
              <a:chExt cx="649799" cy="3211383"/>
            </a:xfrm>
          </p:grpSpPr>
          <p:sp>
            <p:nvSpPr>
              <p:cNvPr id="73" name="任意多边形: 形状 72"/>
              <p:cNvSpPr/>
              <p:nvPr/>
            </p:nvSpPr>
            <p:spPr>
              <a:xfrm>
                <a:off x="7075160" y="2142097"/>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2" name="任意多边形: 形状 81"/>
              <p:cNvSpPr/>
              <p:nvPr/>
            </p:nvSpPr>
            <p:spPr>
              <a:xfrm rot="5400000">
                <a:off x="7097491" y="4726013"/>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4" name="组合 83"/>
            <p:cNvGrpSpPr/>
            <p:nvPr/>
          </p:nvGrpSpPr>
          <p:grpSpPr>
            <a:xfrm rot="18915558" flipH="1">
              <a:off x="4819474" y="3082382"/>
              <a:ext cx="649800" cy="3211383"/>
              <a:chOff x="7075160" y="2142097"/>
              <a:chExt cx="649800" cy="3211383"/>
            </a:xfrm>
          </p:grpSpPr>
          <p:sp>
            <p:nvSpPr>
              <p:cNvPr id="85" name="任意多边形: 形状 84"/>
              <p:cNvSpPr/>
              <p:nvPr/>
            </p:nvSpPr>
            <p:spPr>
              <a:xfrm>
                <a:off x="7075160" y="2142097"/>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任意多边形: 形状 85"/>
              <p:cNvSpPr/>
              <p:nvPr/>
            </p:nvSpPr>
            <p:spPr>
              <a:xfrm rot="5400000">
                <a:off x="7097491" y="4726013"/>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93" name="文本框 92"/>
          <p:cNvSpPr txBox="1"/>
          <p:nvPr/>
        </p:nvSpPr>
        <p:spPr>
          <a:xfrm>
            <a:off x="4688717" y="2323944"/>
            <a:ext cx="78295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94" name="文本框 93"/>
          <p:cNvSpPr txBox="1"/>
          <p:nvPr/>
        </p:nvSpPr>
        <p:spPr>
          <a:xfrm>
            <a:off x="4651503" y="2736044"/>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规则层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5" name="文本框 94"/>
          <p:cNvSpPr txBox="1"/>
          <p:nvPr/>
        </p:nvSpPr>
        <p:spPr>
          <a:xfrm>
            <a:off x="6588682" y="4420008"/>
            <a:ext cx="1023620"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96" name="文本框 95"/>
          <p:cNvSpPr txBox="1"/>
          <p:nvPr/>
        </p:nvSpPr>
        <p:spPr>
          <a:xfrm>
            <a:off x="6671801" y="4832108"/>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校验层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8" name="文本框 97"/>
          <p:cNvSpPr txBox="1"/>
          <p:nvPr/>
        </p:nvSpPr>
        <p:spPr>
          <a:xfrm>
            <a:off x="6732194" y="2695560"/>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词典层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文本框 98"/>
          <p:cNvSpPr txBox="1"/>
          <p:nvPr/>
        </p:nvSpPr>
        <p:spPr>
          <a:xfrm>
            <a:off x="4798965" y="4312282"/>
            <a:ext cx="64071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00" name="文本框 99"/>
          <p:cNvSpPr txBox="1"/>
          <p:nvPr/>
        </p:nvSpPr>
        <p:spPr>
          <a:xfrm>
            <a:off x="4690631" y="4724382"/>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门禁层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5" name="组合 114"/>
          <p:cNvGrpSpPr/>
          <p:nvPr/>
        </p:nvGrpSpPr>
        <p:grpSpPr>
          <a:xfrm>
            <a:off x="192682" y="1595053"/>
            <a:ext cx="3672000" cy="1565643"/>
            <a:chOff x="230003" y="1044526"/>
            <a:chExt cx="3983182" cy="1565643"/>
          </a:xfrm>
        </p:grpSpPr>
        <p:grpSp>
          <p:nvGrpSpPr>
            <p:cNvPr id="108" name="组合 107"/>
            <p:cNvGrpSpPr/>
            <p:nvPr/>
          </p:nvGrpSpPr>
          <p:grpSpPr>
            <a:xfrm>
              <a:off x="230003" y="1044526"/>
              <a:ext cx="3983182" cy="428479"/>
              <a:chOff x="445819" y="1086443"/>
              <a:chExt cx="3760311" cy="428479"/>
            </a:xfrm>
          </p:grpSpPr>
          <p:sp>
            <p:nvSpPr>
              <p:cNvPr id="105" name="矩形: 圆角 104"/>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文本框 106"/>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预置黑名单规则，拦截明显异常技能词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9" name="组合 108"/>
            <p:cNvGrpSpPr/>
            <p:nvPr/>
          </p:nvGrpSpPr>
          <p:grpSpPr>
            <a:xfrm>
              <a:off x="230003" y="1596518"/>
              <a:ext cx="3983182" cy="428479"/>
              <a:chOff x="445819" y="1086443"/>
              <a:chExt cx="3760311" cy="428479"/>
            </a:xfrm>
          </p:grpSpPr>
          <p:sp>
            <p:nvSpPr>
              <p:cNvPr id="110" name="矩形: 圆角 109"/>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11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LLM 抽取结果交叉验证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2" name="组合 111"/>
            <p:cNvGrpSpPr/>
            <p:nvPr/>
          </p:nvGrpSpPr>
          <p:grpSpPr>
            <a:xfrm>
              <a:off x="230003" y="2181690"/>
              <a:ext cx="3983182" cy="428479"/>
              <a:chOff x="445819" y="1086443"/>
              <a:chExt cx="3760311" cy="428479"/>
            </a:xfrm>
          </p:grpSpPr>
          <p:sp>
            <p:nvSpPr>
              <p:cNvPr id="113" name="矩形: 圆角 112"/>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文本框 113"/>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对照技能词典校验规范名称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116" name="组合 115"/>
          <p:cNvGrpSpPr/>
          <p:nvPr/>
        </p:nvGrpSpPr>
        <p:grpSpPr>
          <a:xfrm>
            <a:off x="8303848" y="1595053"/>
            <a:ext cx="3672000" cy="1565643"/>
            <a:chOff x="230003" y="1044526"/>
            <a:chExt cx="3983182" cy="1565643"/>
          </a:xfrm>
        </p:grpSpPr>
        <p:grpSp>
          <p:nvGrpSpPr>
            <p:cNvPr id="117" name="组合 116"/>
            <p:cNvGrpSpPr/>
            <p:nvPr/>
          </p:nvGrpSpPr>
          <p:grpSpPr>
            <a:xfrm>
              <a:off x="230003" y="1044526"/>
              <a:ext cx="3983182" cy="428479"/>
              <a:chOff x="445819" y="1086443"/>
              <a:chExt cx="3760311" cy="428479"/>
            </a:xfrm>
          </p:grpSpPr>
          <p:sp>
            <p:nvSpPr>
              <p:cNvPr id="124" name="矩形: 圆角 123"/>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文本框 12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低置信技能禁止写入图谱</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8" name="组合 117"/>
            <p:cNvGrpSpPr/>
            <p:nvPr/>
          </p:nvGrpSpPr>
          <p:grpSpPr>
            <a:xfrm>
              <a:off x="230003" y="1596518"/>
              <a:ext cx="3983182" cy="428479"/>
              <a:chOff x="445819" y="1086443"/>
              <a:chExt cx="3760311" cy="428479"/>
            </a:xfrm>
          </p:grpSpPr>
          <p:sp>
            <p:nvSpPr>
              <p:cNvPr id="122" name="矩形: 圆角 121"/>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四级闸门逐层拦截</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9" name="组合 118"/>
            <p:cNvGrpSpPr/>
            <p:nvPr/>
          </p:nvGrpSpPr>
          <p:grpSpPr>
            <a:xfrm>
              <a:off x="230003" y="2181690"/>
              <a:ext cx="3983182" cy="428479"/>
              <a:chOff x="445819" y="1086443"/>
              <a:chExt cx="3760311" cy="428479"/>
            </a:xfrm>
          </p:grpSpPr>
          <p:sp>
            <p:nvSpPr>
              <p:cNvPr id="120" name="矩形: 圆角 119"/>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从源头防止幻觉入图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126" name="组合 125"/>
          <p:cNvGrpSpPr/>
          <p:nvPr/>
        </p:nvGrpSpPr>
        <p:grpSpPr>
          <a:xfrm>
            <a:off x="192682" y="4373512"/>
            <a:ext cx="3672000" cy="1565643"/>
            <a:chOff x="230003" y="1044526"/>
            <a:chExt cx="3983182" cy="1565643"/>
          </a:xfrm>
        </p:grpSpPr>
        <p:grpSp>
          <p:nvGrpSpPr>
            <p:cNvPr id="127" name="组合 126"/>
            <p:cNvGrpSpPr/>
            <p:nvPr/>
          </p:nvGrpSpPr>
          <p:grpSpPr>
            <a:xfrm>
              <a:off x="230003" y="1044526"/>
              <a:ext cx="3983182" cy="428479"/>
              <a:chOff x="445819" y="1086443"/>
              <a:chExt cx="3760311" cy="428479"/>
            </a:xfrm>
          </p:grpSpPr>
          <p:sp>
            <p:nvSpPr>
              <p:cNvPr id="134" name="矩形: 圆角 133"/>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5" name="文本框 13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来源多样性参与评分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28" name="组合 127"/>
            <p:cNvGrpSpPr/>
            <p:nvPr/>
          </p:nvGrpSpPr>
          <p:grpSpPr>
            <a:xfrm>
              <a:off x="230003" y="1596518"/>
              <a:ext cx="3983182" cy="428479"/>
              <a:chOff x="445819" y="1086443"/>
              <a:chExt cx="3760311" cy="428479"/>
            </a:xfrm>
          </p:grpSpPr>
          <p:sp>
            <p:nvSpPr>
              <p:cNvPr id="132" name="矩形: 圆角 131"/>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3" name="文本框 13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抽取置信度加权</a:t>
                </a:r>
              </a:p>
            </p:txBody>
          </p:sp>
        </p:grpSp>
        <p:grpSp>
          <p:nvGrpSpPr>
            <p:cNvPr id="129" name="组合 128"/>
            <p:cNvGrpSpPr/>
            <p:nvPr/>
          </p:nvGrpSpPr>
          <p:grpSpPr>
            <a:xfrm>
              <a:off x="230003" y="2181690"/>
              <a:ext cx="3983182" cy="428479"/>
              <a:chOff x="445819" y="1086443"/>
              <a:chExt cx="3760311" cy="428479"/>
            </a:xfrm>
          </p:grpSpPr>
          <p:sp>
            <p:nvSpPr>
              <p:cNvPr id="130" name="矩形: 圆角 129"/>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交叉验证一致性加分</a:t>
                </a:r>
              </a:p>
            </p:txBody>
          </p:sp>
        </p:grpSp>
      </p:grpSp>
      <p:grpSp>
        <p:nvGrpSpPr>
          <p:cNvPr id="136" name="组合 135"/>
          <p:cNvGrpSpPr/>
          <p:nvPr/>
        </p:nvGrpSpPr>
        <p:grpSpPr>
          <a:xfrm>
            <a:off x="8303848" y="4373512"/>
            <a:ext cx="3672000" cy="1565643"/>
            <a:chOff x="230003" y="1044526"/>
            <a:chExt cx="3983182" cy="1565643"/>
          </a:xfrm>
        </p:grpSpPr>
        <p:grpSp>
          <p:nvGrpSpPr>
            <p:cNvPr id="137" name="组合 136"/>
            <p:cNvGrpSpPr/>
            <p:nvPr/>
          </p:nvGrpSpPr>
          <p:grpSpPr>
            <a:xfrm>
              <a:off x="230003" y="1044526"/>
              <a:ext cx="3983182" cy="428479"/>
              <a:chOff x="445819" y="1086443"/>
              <a:chExt cx="3760311" cy="428479"/>
            </a:xfrm>
          </p:grpSpPr>
          <p:sp>
            <p:nvSpPr>
              <p:cNvPr id="144" name="矩形: 圆角 143"/>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时间衰减：旧来源降权</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8" name="组合 137"/>
            <p:cNvGrpSpPr/>
            <p:nvPr/>
          </p:nvGrpSpPr>
          <p:grpSpPr>
            <a:xfrm>
              <a:off x="230003" y="1596518"/>
              <a:ext cx="3983182" cy="428479"/>
              <a:chOff x="445819" y="1086443"/>
              <a:chExt cx="3760311" cy="428479"/>
            </a:xfrm>
          </p:grpSpPr>
          <p:sp>
            <p:nvSpPr>
              <p:cNvPr id="142" name="矩形: 圆角 141"/>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14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四因子信任度全面评估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9" name="组合 138"/>
            <p:cNvGrpSpPr/>
            <p:nvPr/>
          </p:nvGrpSpPr>
          <p:grpSpPr>
            <a:xfrm>
              <a:off x="230003" y="2181690"/>
              <a:ext cx="3983182" cy="428479"/>
              <a:chOff x="445819" y="1086443"/>
              <a:chExt cx="3760311" cy="428479"/>
            </a:xfrm>
          </p:grpSpPr>
          <p:sp>
            <p:nvSpPr>
              <p:cNvPr id="140" name="矩形: 圆角 139"/>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文本框 14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任何单一来源幻觉最多 0.3 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46" name="文本框 145"/>
          <p:cNvSpPr txBox="1"/>
          <p:nvPr/>
        </p:nvSpPr>
        <p:spPr>
          <a:xfrm>
            <a:off x="6882437" y="2283460"/>
            <a:ext cx="55689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Do</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7+"/>
          <p:cNvSpPr/>
          <p:nvPr/>
        </p:nvSpPr>
        <p:spPr>
          <a:xfrm>
            <a:off x="8766629" y="4989443"/>
            <a:ext cx="2982459" cy="153518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cxnSp>
        <p:nvCxnSpPr>
          <p:cNvPr id="5" name="直接连接符 4"/>
          <p:cNvCxnSpPr/>
          <p:nvPr/>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002970" y="196403"/>
            <a:ext cx="2154436" cy="430887"/>
          </a:xfrm>
          <a:prstGeom prst="rect">
            <a:avLst/>
          </a:prstGeom>
          <a:noFill/>
        </p:spPr>
        <p:txBody>
          <a:bodyPr wrap="none" lIns="0" tIns="0" rIns="0" bIns="0" anchor="ctr">
            <a:spAutoFit/>
          </a:bodyPr>
          <a:lstStyle>
            <a:defPPr>
              <a:defRPr lang="zh-CN"/>
            </a:defPPr>
            <a:lvl1pPr>
              <a:defRPr sz="2800">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动态演化机制</a:t>
            </a:r>
          </a:p>
        </p:txBody>
      </p:sp>
      <p:sp>
        <p:nvSpPr>
          <p:cNvPr id="10" name="文本框 9"/>
          <p:cNvSpPr txBox="1"/>
          <p:nvPr/>
        </p:nvSpPr>
        <p:spPr>
          <a:xfrm>
            <a:off x="427302" y="196403"/>
            <a:ext cx="1436291" cy="430887"/>
          </a:xfrm>
          <a:prstGeom prst="rect">
            <a:avLst/>
          </a:prstGeom>
          <a:noFill/>
        </p:spPr>
        <p:txBody>
          <a:bodyPr wrap="none" lIns="0" tIns="0" rIns="0" bIns="0" anchor="ctr">
            <a:spAutoFit/>
          </a:bodyPr>
          <a:lstStyle>
            <a:defPPr>
              <a:defRPr lang="zh-CN"/>
            </a:defPPr>
            <a:lvl1pPr>
              <a:defRPr sz="2800">
                <a:solidFill>
                  <a:schemeClr val="accent1"/>
                </a:solidFill>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核心功能二</a:t>
            </a:r>
          </a:p>
        </p:txBody>
      </p:sp>
      <p:cxnSp>
        <p:nvCxnSpPr>
          <p:cNvPr id="11" name="直接连接符 10"/>
          <p:cNvCxnSpPr/>
          <p:nvPr/>
        </p:nvCxnSpPr>
        <p:spPr>
          <a:xfrm>
            <a:off x="1907795" y="192772"/>
            <a:ext cx="0" cy="4381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a:xfrm>
            <a:off x="442912" y="873124"/>
            <a:ext cx="7099311" cy="1374184"/>
          </a:xfrm>
          <a:custGeom>
            <a:avLst/>
            <a:gdLst>
              <a:gd name="connsiteX0" fmla="*/ 0 w 7099311"/>
              <a:gd name="connsiteY0" fmla="*/ 687091 h 1374184"/>
              <a:gd name="connsiteX1" fmla="*/ 0 w 7099311"/>
              <a:gd name="connsiteY1" fmla="*/ 687092 h 1374184"/>
              <a:gd name="connsiteX2" fmla="*/ 0 w 7099311"/>
              <a:gd name="connsiteY2" fmla="*/ 687092 h 1374184"/>
              <a:gd name="connsiteX3" fmla="*/ 687092 w 7099311"/>
              <a:gd name="connsiteY3" fmla="*/ 0 h 1374184"/>
              <a:gd name="connsiteX4" fmla="*/ 7099311 w 7099311"/>
              <a:gd name="connsiteY4" fmla="*/ 0 h 1374184"/>
              <a:gd name="connsiteX5" fmla="*/ 7099311 w 7099311"/>
              <a:gd name="connsiteY5" fmla="*/ 1374184 h 1374184"/>
              <a:gd name="connsiteX6" fmla="*/ 687092 w 7099311"/>
              <a:gd name="connsiteY6" fmla="*/ 1374183 h 1374184"/>
              <a:gd name="connsiteX7" fmla="*/ 13959 w 7099311"/>
              <a:gd name="connsiteY7" fmla="*/ 825564 h 1374184"/>
              <a:gd name="connsiteX8" fmla="*/ 0 w 7099311"/>
              <a:gd name="connsiteY8" fmla="*/ 687092 h 1374184"/>
              <a:gd name="connsiteX9" fmla="*/ 13959 w 7099311"/>
              <a:gd name="connsiteY9" fmla="*/ 548619 h 1374184"/>
              <a:gd name="connsiteX10" fmla="*/ 687092 w 7099311"/>
              <a:gd name="connsiteY10" fmla="*/ 0 h 137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99311" h="1374184">
                <a:moveTo>
                  <a:pt x="0" y="687091"/>
                </a:moveTo>
                <a:lnTo>
                  <a:pt x="0" y="687092"/>
                </a:lnTo>
                <a:lnTo>
                  <a:pt x="0" y="687092"/>
                </a:lnTo>
                <a:close/>
                <a:moveTo>
                  <a:pt x="687092" y="0"/>
                </a:moveTo>
                <a:lnTo>
                  <a:pt x="7099311" y="0"/>
                </a:lnTo>
                <a:lnTo>
                  <a:pt x="7099311" y="1374184"/>
                </a:lnTo>
                <a:lnTo>
                  <a:pt x="687092" y="1374183"/>
                </a:lnTo>
                <a:cubicBezTo>
                  <a:pt x="355056" y="1374183"/>
                  <a:pt x="78028" y="1138660"/>
                  <a:pt x="13959" y="825564"/>
                </a:cubicBezTo>
                <a:lnTo>
                  <a:pt x="0" y="687092"/>
                </a:lnTo>
                <a:lnTo>
                  <a:pt x="13959" y="548619"/>
                </a:lnTo>
                <a:cubicBezTo>
                  <a:pt x="78028" y="235523"/>
                  <a:pt x="355056" y="0"/>
                  <a:pt x="687092"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4" name="任意多边形: 形状 13"/>
          <p:cNvSpPr/>
          <p:nvPr/>
        </p:nvSpPr>
        <p:spPr>
          <a:xfrm>
            <a:off x="442913" y="873124"/>
            <a:ext cx="8258401" cy="1374184"/>
          </a:xfrm>
          <a:custGeom>
            <a:avLst/>
            <a:gdLst>
              <a:gd name="connsiteX0" fmla="*/ 0 w 7099311"/>
              <a:gd name="connsiteY0" fmla="*/ 687091 h 1374184"/>
              <a:gd name="connsiteX1" fmla="*/ 0 w 7099311"/>
              <a:gd name="connsiteY1" fmla="*/ 687092 h 1374184"/>
              <a:gd name="connsiteX2" fmla="*/ 0 w 7099311"/>
              <a:gd name="connsiteY2" fmla="*/ 687092 h 1374184"/>
              <a:gd name="connsiteX3" fmla="*/ 687092 w 7099311"/>
              <a:gd name="connsiteY3" fmla="*/ 0 h 1374184"/>
              <a:gd name="connsiteX4" fmla="*/ 7099311 w 7099311"/>
              <a:gd name="connsiteY4" fmla="*/ 0 h 1374184"/>
              <a:gd name="connsiteX5" fmla="*/ 7099311 w 7099311"/>
              <a:gd name="connsiteY5" fmla="*/ 1374184 h 1374184"/>
              <a:gd name="connsiteX6" fmla="*/ 687092 w 7099311"/>
              <a:gd name="connsiteY6" fmla="*/ 1374183 h 1374184"/>
              <a:gd name="connsiteX7" fmla="*/ 13959 w 7099311"/>
              <a:gd name="connsiteY7" fmla="*/ 825564 h 1374184"/>
              <a:gd name="connsiteX8" fmla="*/ 0 w 7099311"/>
              <a:gd name="connsiteY8" fmla="*/ 687092 h 1374184"/>
              <a:gd name="connsiteX9" fmla="*/ 13959 w 7099311"/>
              <a:gd name="connsiteY9" fmla="*/ 548619 h 1374184"/>
              <a:gd name="connsiteX10" fmla="*/ 687092 w 7099311"/>
              <a:gd name="connsiteY10" fmla="*/ 0 h 137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99311" h="1374184">
                <a:moveTo>
                  <a:pt x="0" y="687091"/>
                </a:moveTo>
                <a:lnTo>
                  <a:pt x="0" y="687092"/>
                </a:lnTo>
                <a:lnTo>
                  <a:pt x="0" y="687092"/>
                </a:lnTo>
                <a:close/>
                <a:moveTo>
                  <a:pt x="687092" y="0"/>
                </a:moveTo>
                <a:lnTo>
                  <a:pt x="7099311" y="0"/>
                </a:lnTo>
                <a:lnTo>
                  <a:pt x="7099311" y="1374184"/>
                </a:lnTo>
                <a:lnTo>
                  <a:pt x="687092" y="1374183"/>
                </a:lnTo>
                <a:cubicBezTo>
                  <a:pt x="355056" y="1374183"/>
                  <a:pt x="78028" y="1138660"/>
                  <a:pt x="13959" y="825564"/>
                </a:cubicBezTo>
                <a:lnTo>
                  <a:pt x="0" y="687092"/>
                </a:lnTo>
                <a:lnTo>
                  <a:pt x="13959" y="548619"/>
                </a:lnTo>
                <a:cubicBezTo>
                  <a:pt x="78028" y="235523"/>
                  <a:pt x="355056" y="0"/>
                  <a:pt x="687092"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 name="文本框 15"/>
          <p:cNvSpPr txBox="1"/>
          <p:nvPr/>
        </p:nvSpPr>
        <p:spPr>
          <a:xfrm>
            <a:off x="903288" y="1365092"/>
            <a:ext cx="62517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21</a:t>
            </a:r>
            <a:endParaRPr kumimoji="0" lang="zh-CN" altLang="en-US"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 name="文本框 16"/>
          <p:cNvSpPr txBox="1"/>
          <p:nvPr/>
        </p:nvSpPr>
        <p:spPr>
          <a:xfrm>
            <a:off x="2302326" y="1104900"/>
            <a:ext cx="92333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涌现技能</a:t>
            </a:r>
            <a:endPar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8" name="图形 52"/>
          <p:cNvSpPr/>
          <p:nvPr/>
        </p:nvSpPr>
        <p:spPr>
          <a:xfrm>
            <a:off x="2007052" y="1108076"/>
            <a:ext cx="238124" cy="238124"/>
          </a:xfrm>
          <a:custGeom>
            <a:avLst/>
            <a:gdLst>
              <a:gd name="connsiteX0" fmla="*/ 1542574 w 1746249"/>
              <a:gd name="connsiteY0" fmla="*/ 793750 h 1746249"/>
              <a:gd name="connsiteX1" fmla="*/ 1309688 w 1746249"/>
              <a:gd name="connsiteY1" fmla="*/ 635000 h 1746249"/>
              <a:gd name="connsiteX2" fmla="*/ 1076881 w 1746249"/>
              <a:gd name="connsiteY2" fmla="*/ 793750 h 1746249"/>
              <a:gd name="connsiteX3" fmla="*/ 873125 w 1746249"/>
              <a:gd name="connsiteY3" fmla="*/ 635000 h 1746249"/>
              <a:gd name="connsiteX4" fmla="*/ 669449 w 1746249"/>
              <a:gd name="connsiteY4" fmla="*/ 793750 h 1746249"/>
              <a:gd name="connsiteX5" fmla="*/ 436563 w 1746249"/>
              <a:gd name="connsiteY5" fmla="*/ 635000 h 1746249"/>
              <a:gd name="connsiteX6" fmla="*/ 232886 w 1746249"/>
              <a:gd name="connsiteY6" fmla="*/ 793750 h 1746249"/>
              <a:gd name="connsiteX7" fmla="*/ 79375 w 1746249"/>
              <a:gd name="connsiteY7" fmla="*/ 755968 h 1746249"/>
              <a:gd name="connsiteX8" fmla="*/ 79375 w 1746249"/>
              <a:gd name="connsiteY8" fmla="*/ 1666319 h 1746249"/>
              <a:gd name="connsiteX9" fmla="*/ 158031 w 1746249"/>
              <a:gd name="connsiteY9" fmla="*/ 1746249 h 1746249"/>
              <a:gd name="connsiteX10" fmla="*/ 158115 w 1746249"/>
              <a:gd name="connsiteY10" fmla="*/ 1746250 h 1746249"/>
              <a:gd name="connsiteX11" fmla="*/ 952500 w 1746249"/>
              <a:gd name="connsiteY11" fmla="*/ 1746250 h 1746249"/>
              <a:gd name="connsiteX12" fmla="*/ 952500 w 1746249"/>
              <a:gd name="connsiteY12" fmla="*/ 1270238 h 1746249"/>
              <a:gd name="connsiteX13" fmla="*/ 1031637 w 1746249"/>
              <a:gd name="connsiteY13" fmla="*/ 1190625 h 1746249"/>
              <a:gd name="connsiteX14" fmla="*/ 1031875 w 1746249"/>
              <a:gd name="connsiteY14" fmla="*/ 1190625 h 1746249"/>
              <a:gd name="connsiteX15" fmla="*/ 1270000 w 1746249"/>
              <a:gd name="connsiteY15" fmla="*/ 1190625 h 1746249"/>
              <a:gd name="connsiteX16" fmla="*/ 1349375 w 1746249"/>
              <a:gd name="connsiteY16" fmla="*/ 1270238 h 1746249"/>
              <a:gd name="connsiteX17" fmla="*/ 1349375 w 1746249"/>
              <a:gd name="connsiteY17" fmla="*/ 1746250 h 1746249"/>
              <a:gd name="connsiteX18" fmla="*/ 1588214 w 1746249"/>
              <a:gd name="connsiteY18" fmla="*/ 1746250 h 1746249"/>
              <a:gd name="connsiteX19" fmla="*/ 1666796 w 1746249"/>
              <a:gd name="connsiteY19" fmla="*/ 1666319 h 1746249"/>
              <a:gd name="connsiteX20" fmla="*/ 1666796 w 1746249"/>
              <a:gd name="connsiteY20" fmla="*/ 759063 h 1746249"/>
              <a:gd name="connsiteX21" fmla="*/ 1542574 w 1746249"/>
              <a:gd name="connsiteY21" fmla="*/ 793750 h 1746249"/>
              <a:gd name="connsiteX22" fmla="*/ 1484313 w 1746249"/>
              <a:gd name="connsiteY22" fmla="*/ 59531 h 1746249"/>
              <a:gd name="connsiteX23" fmla="*/ 1367869 w 1746249"/>
              <a:gd name="connsiteY23" fmla="*/ 0 h 1746249"/>
              <a:gd name="connsiteX24" fmla="*/ 378301 w 1746249"/>
              <a:gd name="connsiteY24" fmla="*/ 0 h 1746249"/>
              <a:gd name="connsiteX25" fmla="*/ 261937 w 1746249"/>
              <a:gd name="connsiteY25" fmla="*/ 59531 h 1746249"/>
              <a:gd name="connsiteX26" fmla="*/ 0 w 1746249"/>
              <a:gd name="connsiteY26" fmla="*/ 476250 h 1746249"/>
              <a:gd name="connsiteX27" fmla="*/ 232807 w 1746249"/>
              <a:gd name="connsiteY27" fmla="*/ 635000 h 1746249"/>
              <a:gd name="connsiteX28" fmla="*/ 436563 w 1746249"/>
              <a:gd name="connsiteY28" fmla="*/ 476250 h 1746249"/>
              <a:gd name="connsiteX29" fmla="*/ 669369 w 1746249"/>
              <a:gd name="connsiteY29" fmla="*/ 635000 h 1746249"/>
              <a:gd name="connsiteX30" fmla="*/ 873125 w 1746249"/>
              <a:gd name="connsiteY30" fmla="*/ 476250 h 1746249"/>
              <a:gd name="connsiteX31" fmla="*/ 1076801 w 1746249"/>
              <a:gd name="connsiteY31" fmla="*/ 635000 h 1746249"/>
              <a:gd name="connsiteX32" fmla="*/ 1309688 w 1746249"/>
              <a:gd name="connsiteY32" fmla="*/ 476250 h 1746249"/>
              <a:gd name="connsiteX33" fmla="*/ 1542494 w 1746249"/>
              <a:gd name="connsiteY33" fmla="*/ 635000 h 1746249"/>
              <a:gd name="connsiteX34" fmla="*/ 1746250 w 1746249"/>
              <a:gd name="connsiteY34" fmla="*/ 476250 h 1746249"/>
              <a:gd name="connsiteX35" fmla="*/ 1484313 w 1746249"/>
              <a:gd name="connsiteY35" fmla="*/ 59531 h 17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46249" h="1746249">
                <a:moveTo>
                  <a:pt x="1542574" y="793750"/>
                </a:moveTo>
                <a:cubicBezTo>
                  <a:pt x="1407478" y="793750"/>
                  <a:pt x="1309688" y="722709"/>
                  <a:pt x="1309688" y="635000"/>
                </a:cubicBezTo>
                <a:cubicBezTo>
                  <a:pt x="1309688" y="722709"/>
                  <a:pt x="1211739" y="793750"/>
                  <a:pt x="1076881" y="793750"/>
                </a:cubicBezTo>
                <a:cubicBezTo>
                  <a:pt x="970915" y="793750"/>
                  <a:pt x="873125" y="722709"/>
                  <a:pt x="873125" y="635000"/>
                </a:cubicBezTo>
                <a:cubicBezTo>
                  <a:pt x="873125" y="722789"/>
                  <a:pt x="775176" y="793750"/>
                  <a:pt x="669449" y="793750"/>
                </a:cubicBezTo>
                <a:cubicBezTo>
                  <a:pt x="534353" y="793750"/>
                  <a:pt x="436563" y="722709"/>
                  <a:pt x="436563" y="635000"/>
                </a:cubicBezTo>
                <a:cubicBezTo>
                  <a:pt x="436563" y="722630"/>
                  <a:pt x="338614" y="793750"/>
                  <a:pt x="232886" y="793750"/>
                </a:cubicBezTo>
                <a:cubicBezTo>
                  <a:pt x="172403" y="793750"/>
                  <a:pt x="119380" y="779542"/>
                  <a:pt x="79375" y="755968"/>
                </a:cubicBezTo>
                <a:lnTo>
                  <a:pt x="79375" y="1666319"/>
                </a:lnTo>
                <a:cubicBezTo>
                  <a:pt x="79023" y="1710112"/>
                  <a:pt x="114239" y="1745898"/>
                  <a:pt x="158031" y="1746249"/>
                </a:cubicBezTo>
                <a:cubicBezTo>
                  <a:pt x="158059" y="1746250"/>
                  <a:pt x="158087" y="1746250"/>
                  <a:pt x="158115" y="1746250"/>
                </a:cubicBezTo>
                <a:lnTo>
                  <a:pt x="952500" y="1746250"/>
                </a:lnTo>
                <a:lnTo>
                  <a:pt x="952500" y="1270238"/>
                </a:lnTo>
                <a:cubicBezTo>
                  <a:pt x="952369" y="1226401"/>
                  <a:pt x="987799" y="1190757"/>
                  <a:pt x="1031637" y="1190625"/>
                </a:cubicBezTo>
                <a:cubicBezTo>
                  <a:pt x="1031716" y="1190625"/>
                  <a:pt x="1031796" y="1190625"/>
                  <a:pt x="1031875" y="1190625"/>
                </a:cubicBezTo>
                <a:lnTo>
                  <a:pt x="1270000" y="1190625"/>
                </a:lnTo>
                <a:cubicBezTo>
                  <a:pt x="1313894" y="1190625"/>
                  <a:pt x="1349375" y="1225391"/>
                  <a:pt x="1349375" y="1270238"/>
                </a:cubicBezTo>
                <a:lnTo>
                  <a:pt x="1349375" y="1746250"/>
                </a:lnTo>
                <a:lnTo>
                  <a:pt x="1588214" y="1746250"/>
                </a:lnTo>
                <a:cubicBezTo>
                  <a:pt x="1630759" y="1746250"/>
                  <a:pt x="1666796" y="1710452"/>
                  <a:pt x="1666796" y="1666319"/>
                </a:cubicBezTo>
                <a:lnTo>
                  <a:pt x="1666796" y="759063"/>
                </a:lnTo>
                <a:cubicBezTo>
                  <a:pt x="1629322" y="781727"/>
                  <a:pt x="1586368" y="793721"/>
                  <a:pt x="1542574" y="793750"/>
                </a:cubicBezTo>
                <a:moveTo>
                  <a:pt x="1484313" y="59531"/>
                </a:moveTo>
                <a:cubicBezTo>
                  <a:pt x="1473835" y="30242"/>
                  <a:pt x="1419463" y="0"/>
                  <a:pt x="1367869" y="0"/>
                </a:cubicBezTo>
                <a:lnTo>
                  <a:pt x="378301" y="0"/>
                </a:lnTo>
                <a:cubicBezTo>
                  <a:pt x="326311" y="0"/>
                  <a:pt x="272177" y="30242"/>
                  <a:pt x="261937" y="59531"/>
                </a:cubicBezTo>
                <a:lnTo>
                  <a:pt x="0" y="476250"/>
                </a:lnTo>
                <a:cubicBezTo>
                  <a:pt x="0" y="564039"/>
                  <a:pt x="97711" y="635000"/>
                  <a:pt x="232807" y="635000"/>
                </a:cubicBezTo>
                <a:cubicBezTo>
                  <a:pt x="338534" y="635000"/>
                  <a:pt x="436563" y="563880"/>
                  <a:pt x="436563" y="476250"/>
                </a:cubicBezTo>
                <a:cubicBezTo>
                  <a:pt x="436563" y="563959"/>
                  <a:pt x="534273" y="635000"/>
                  <a:pt x="669369" y="635000"/>
                </a:cubicBezTo>
                <a:cubicBezTo>
                  <a:pt x="775097" y="635000"/>
                  <a:pt x="873125" y="564039"/>
                  <a:pt x="873125" y="476250"/>
                </a:cubicBezTo>
                <a:cubicBezTo>
                  <a:pt x="873125" y="563959"/>
                  <a:pt x="970836" y="635000"/>
                  <a:pt x="1076801" y="635000"/>
                </a:cubicBezTo>
                <a:cubicBezTo>
                  <a:pt x="1211739" y="635000"/>
                  <a:pt x="1309688" y="563959"/>
                  <a:pt x="1309688" y="476250"/>
                </a:cubicBezTo>
                <a:cubicBezTo>
                  <a:pt x="1309688" y="563959"/>
                  <a:pt x="1407398" y="635000"/>
                  <a:pt x="1542494" y="635000"/>
                </a:cubicBezTo>
                <a:cubicBezTo>
                  <a:pt x="1648222" y="635000"/>
                  <a:pt x="1746250" y="563880"/>
                  <a:pt x="1746250" y="476250"/>
                </a:cubicBezTo>
                <a:lnTo>
                  <a:pt x="1484313" y="59531"/>
                </a:lnTo>
                <a:close/>
              </a:path>
            </a:pathLst>
          </a:custGeom>
          <a:solidFill>
            <a:schemeClr val="accent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9" name="文本框 18"/>
          <p:cNvSpPr txBox="1"/>
          <p:nvPr/>
        </p:nvSpPr>
        <p:spPr>
          <a:xfrm>
            <a:off x="2022926" y="1453356"/>
            <a:ext cx="85119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0.639</a:t>
            </a: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20" name="文本框 19"/>
          <p:cNvSpPr txBox="1"/>
          <p:nvPr/>
        </p:nvSpPr>
        <p:spPr>
          <a:xfrm>
            <a:off x="1997526" y="1801813"/>
            <a:ext cx="1077218"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信任均值</a:t>
            </a:r>
          </a:p>
        </p:txBody>
      </p:sp>
      <p:sp>
        <p:nvSpPr>
          <p:cNvPr id="21" name="TextBox 55+"/>
          <p:cNvSpPr txBox="1"/>
          <p:nvPr/>
        </p:nvSpPr>
        <p:spPr>
          <a:xfrm>
            <a:off x="985041" y="1592491"/>
            <a:ext cx="461665"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KPI</a:t>
            </a:r>
          </a:p>
        </p:txBody>
      </p:sp>
      <p:sp>
        <p:nvSpPr>
          <p:cNvPr id="22" name="Freeform 46+"/>
          <p:cNvSpPr/>
          <p:nvPr/>
        </p:nvSpPr>
        <p:spPr>
          <a:xfrm>
            <a:off x="442913" y="2298896"/>
            <a:ext cx="8258401" cy="1374184"/>
          </a:xfrm>
          <a:custGeom>
            <a:avLst/>
            <a:gdLst>
              <a:gd name="connsiteX0" fmla="*/ 0 w 7099311"/>
              <a:gd name="connsiteY0" fmla="*/ 687091 h 1374184"/>
              <a:gd name="connsiteX1" fmla="*/ 0 w 7099311"/>
              <a:gd name="connsiteY1" fmla="*/ 687092 h 1374184"/>
              <a:gd name="connsiteX2" fmla="*/ 0 w 7099311"/>
              <a:gd name="connsiteY2" fmla="*/ 687092 h 1374184"/>
              <a:gd name="connsiteX3" fmla="*/ 687092 w 7099311"/>
              <a:gd name="connsiteY3" fmla="*/ 0 h 1374184"/>
              <a:gd name="connsiteX4" fmla="*/ 7099311 w 7099311"/>
              <a:gd name="connsiteY4" fmla="*/ 0 h 1374184"/>
              <a:gd name="connsiteX5" fmla="*/ 7099311 w 7099311"/>
              <a:gd name="connsiteY5" fmla="*/ 1374184 h 1374184"/>
              <a:gd name="connsiteX6" fmla="*/ 687092 w 7099311"/>
              <a:gd name="connsiteY6" fmla="*/ 1374183 h 1374184"/>
              <a:gd name="connsiteX7" fmla="*/ 13959 w 7099311"/>
              <a:gd name="connsiteY7" fmla="*/ 825564 h 1374184"/>
              <a:gd name="connsiteX8" fmla="*/ 0 w 7099311"/>
              <a:gd name="connsiteY8" fmla="*/ 687092 h 1374184"/>
              <a:gd name="connsiteX9" fmla="*/ 13959 w 7099311"/>
              <a:gd name="connsiteY9" fmla="*/ 548619 h 1374184"/>
              <a:gd name="connsiteX10" fmla="*/ 687092 w 7099311"/>
              <a:gd name="connsiteY10" fmla="*/ 0 h 137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99311" h="1374184">
                <a:moveTo>
                  <a:pt x="0" y="687091"/>
                </a:moveTo>
                <a:lnTo>
                  <a:pt x="0" y="687092"/>
                </a:lnTo>
                <a:lnTo>
                  <a:pt x="0" y="687092"/>
                </a:lnTo>
                <a:close/>
                <a:moveTo>
                  <a:pt x="687092" y="0"/>
                </a:moveTo>
                <a:lnTo>
                  <a:pt x="7099311" y="0"/>
                </a:lnTo>
                <a:lnTo>
                  <a:pt x="7099311" y="1374184"/>
                </a:lnTo>
                <a:lnTo>
                  <a:pt x="687092" y="1374183"/>
                </a:lnTo>
                <a:cubicBezTo>
                  <a:pt x="355056" y="1374183"/>
                  <a:pt x="78028" y="1138660"/>
                  <a:pt x="13959" y="825564"/>
                </a:cubicBezTo>
                <a:lnTo>
                  <a:pt x="0" y="687092"/>
                </a:lnTo>
                <a:lnTo>
                  <a:pt x="13959" y="548619"/>
                </a:lnTo>
                <a:cubicBezTo>
                  <a:pt x="78028" y="235523"/>
                  <a:pt x="355056" y="0"/>
                  <a:pt x="687092"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3" name="Freeform 46++"/>
          <p:cNvSpPr/>
          <p:nvPr/>
        </p:nvSpPr>
        <p:spPr>
          <a:xfrm>
            <a:off x="442913" y="3724668"/>
            <a:ext cx="8258401" cy="1374184"/>
          </a:xfrm>
          <a:custGeom>
            <a:avLst/>
            <a:gdLst>
              <a:gd name="connsiteX0" fmla="*/ 0 w 7099311"/>
              <a:gd name="connsiteY0" fmla="*/ 687091 h 1374184"/>
              <a:gd name="connsiteX1" fmla="*/ 0 w 7099311"/>
              <a:gd name="connsiteY1" fmla="*/ 687092 h 1374184"/>
              <a:gd name="connsiteX2" fmla="*/ 0 w 7099311"/>
              <a:gd name="connsiteY2" fmla="*/ 687092 h 1374184"/>
              <a:gd name="connsiteX3" fmla="*/ 687092 w 7099311"/>
              <a:gd name="connsiteY3" fmla="*/ 0 h 1374184"/>
              <a:gd name="connsiteX4" fmla="*/ 7099311 w 7099311"/>
              <a:gd name="connsiteY4" fmla="*/ 0 h 1374184"/>
              <a:gd name="connsiteX5" fmla="*/ 7099311 w 7099311"/>
              <a:gd name="connsiteY5" fmla="*/ 1374184 h 1374184"/>
              <a:gd name="connsiteX6" fmla="*/ 687092 w 7099311"/>
              <a:gd name="connsiteY6" fmla="*/ 1374183 h 1374184"/>
              <a:gd name="connsiteX7" fmla="*/ 13959 w 7099311"/>
              <a:gd name="connsiteY7" fmla="*/ 825564 h 1374184"/>
              <a:gd name="connsiteX8" fmla="*/ 0 w 7099311"/>
              <a:gd name="connsiteY8" fmla="*/ 687092 h 1374184"/>
              <a:gd name="connsiteX9" fmla="*/ 13959 w 7099311"/>
              <a:gd name="connsiteY9" fmla="*/ 548619 h 1374184"/>
              <a:gd name="connsiteX10" fmla="*/ 687092 w 7099311"/>
              <a:gd name="connsiteY10" fmla="*/ 0 h 137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99311" h="1374184">
                <a:moveTo>
                  <a:pt x="0" y="687091"/>
                </a:moveTo>
                <a:lnTo>
                  <a:pt x="0" y="687092"/>
                </a:lnTo>
                <a:lnTo>
                  <a:pt x="0" y="687092"/>
                </a:lnTo>
                <a:close/>
                <a:moveTo>
                  <a:pt x="687092" y="0"/>
                </a:moveTo>
                <a:lnTo>
                  <a:pt x="7099311" y="0"/>
                </a:lnTo>
                <a:lnTo>
                  <a:pt x="7099311" y="1374184"/>
                </a:lnTo>
                <a:lnTo>
                  <a:pt x="687092" y="1374183"/>
                </a:lnTo>
                <a:cubicBezTo>
                  <a:pt x="355056" y="1374183"/>
                  <a:pt x="78028" y="1138660"/>
                  <a:pt x="13959" y="825564"/>
                </a:cubicBezTo>
                <a:lnTo>
                  <a:pt x="0" y="687092"/>
                </a:lnTo>
                <a:lnTo>
                  <a:pt x="13959" y="548619"/>
                </a:lnTo>
                <a:cubicBezTo>
                  <a:pt x="78028" y="235523"/>
                  <a:pt x="355056" y="0"/>
                  <a:pt x="687092"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4" name="Freeform 46+++"/>
          <p:cNvSpPr/>
          <p:nvPr/>
        </p:nvSpPr>
        <p:spPr>
          <a:xfrm>
            <a:off x="442913" y="5150441"/>
            <a:ext cx="8258401" cy="1374184"/>
          </a:xfrm>
          <a:custGeom>
            <a:avLst/>
            <a:gdLst>
              <a:gd name="connsiteX0" fmla="*/ 0 w 7099311"/>
              <a:gd name="connsiteY0" fmla="*/ 687091 h 1374184"/>
              <a:gd name="connsiteX1" fmla="*/ 0 w 7099311"/>
              <a:gd name="connsiteY1" fmla="*/ 687092 h 1374184"/>
              <a:gd name="connsiteX2" fmla="*/ 0 w 7099311"/>
              <a:gd name="connsiteY2" fmla="*/ 687092 h 1374184"/>
              <a:gd name="connsiteX3" fmla="*/ 687092 w 7099311"/>
              <a:gd name="connsiteY3" fmla="*/ 0 h 1374184"/>
              <a:gd name="connsiteX4" fmla="*/ 7099311 w 7099311"/>
              <a:gd name="connsiteY4" fmla="*/ 0 h 1374184"/>
              <a:gd name="connsiteX5" fmla="*/ 7099311 w 7099311"/>
              <a:gd name="connsiteY5" fmla="*/ 1374184 h 1374184"/>
              <a:gd name="connsiteX6" fmla="*/ 687092 w 7099311"/>
              <a:gd name="connsiteY6" fmla="*/ 1374183 h 1374184"/>
              <a:gd name="connsiteX7" fmla="*/ 13959 w 7099311"/>
              <a:gd name="connsiteY7" fmla="*/ 825564 h 1374184"/>
              <a:gd name="connsiteX8" fmla="*/ 0 w 7099311"/>
              <a:gd name="connsiteY8" fmla="*/ 687092 h 1374184"/>
              <a:gd name="connsiteX9" fmla="*/ 13959 w 7099311"/>
              <a:gd name="connsiteY9" fmla="*/ 548619 h 1374184"/>
              <a:gd name="connsiteX10" fmla="*/ 687092 w 7099311"/>
              <a:gd name="connsiteY10" fmla="*/ 0 h 137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99311" h="1374184">
                <a:moveTo>
                  <a:pt x="0" y="687091"/>
                </a:moveTo>
                <a:lnTo>
                  <a:pt x="0" y="687092"/>
                </a:lnTo>
                <a:lnTo>
                  <a:pt x="0" y="687092"/>
                </a:lnTo>
                <a:close/>
                <a:moveTo>
                  <a:pt x="687092" y="0"/>
                </a:moveTo>
                <a:lnTo>
                  <a:pt x="7099311" y="0"/>
                </a:lnTo>
                <a:lnTo>
                  <a:pt x="7099311" y="1374184"/>
                </a:lnTo>
                <a:lnTo>
                  <a:pt x="687092" y="1374183"/>
                </a:lnTo>
                <a:cubicBezTo>
                  <a:pt x="355056" y="1374183"/>
                  <a:pt x="78028" y="1138660"/>
                  <a:pt x="13959" y="825564"/>
                </a:cubicBezTo>
                <a:lnTo>
                  <a:pt x="0" y="687092"/>
                </a:lnTo>
                <a:lnTo>
                  <a:pt x="13959" y="548619"/>
                </a:lnTo>
                <a:cubicBezTo>
                  <a:pt x="78028" y="235523"/>
                  <a:pt x="355056" y="0"/>
                  <a:pt x="687092" y="0"/>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6" name="TextBox 49+"/>
          <p:cNvSpPr txBox="1"/>
          <p:nvPr/>
        </p:nvSpPr>
        <p:spPr>
          <a:xfrm>
            <a:off x="903288" y="2802006"/>
            <a:ext cx="62517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102</a:t>
            </a:r>
            <a:endParaRPr kumimoji="0" lang="zh-CN" altLang="en-US"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7" name="TextBox 55++"/>
          <p:cNvSpPr txBox="1"/>
          <p:nvPr/>
        </p:nvSpPr>
        <p:spPr>
          <a:xfrm>
            <a:off x="985041" y="3029405"/>
            <a:ext cx="461665"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CII 通胀</a:t>
            </a:r>
          </a:p>
        </p:txBody>
      </p:sp>
      <p:sp>
        <p:nvSpPr>
          <p:cNvPr id="28" name="TextBox 50+"/>
          <p:cNvSpPr txBox="1"/>
          <p:nvPr/>
        </p:nvSpPr>
        <p:spPr>
          <a:xfrm>
            <a:off x="2302326" y="2516643"/>
            <a:ext cx="92333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技能更新</a:t>
            </a:r>
            <a:endPar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9" name="TextBox 54+"/>
          <p:cNvSpPr txBox="1"/>
          <p:nvPr/>
        </p:nvSpPr>
        <p:spPr>
          <a:xfrm>
            <a:off x="2022926" y="2865100"/>
            <a:ext cx="85119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6 类</a:t>
            </a: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30" name="TextBox 55+"/>
          <p:cNvSpPr txBox="1"/>
          <p:nvPr/>
        </p:nvSpPr>
        <p:spPr>
          <a:xfrm>
            <a:off x="1997526" y="3213556"/>
            <a:ext cx="1077218"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变更</a:t>
            </a:r>
          </a:p>
        </p:txBody>
      </p:sp>
      <p:sp>
        <p:nvSpPr>
          <p:cNvPr id="31" name="图形 68"/>
          <p:cNvSpPr>
            <a:spLocks noChangeAspect="1"/>
          </p:cNvSpPr>
          <p:nvPr/>
        </p:nvSpPr>
        <p:spPr>
          <a:xfrm>
            <a:off x="2000114" y="2531834"/>
            <a:ext cx="252000" cy="234024"/>
          </a:xfrm>
          <a:custGeom>
            <a:avLst/>
            <a:gdLst>
              <a:gd name="connsiteX0" fmla="*/ 298452 w 1709438"/>
              <a:gd name="connsiteY0" fmla="*/ 0 h 1587500"/>
              <a:gd name="connsiteX1" fmla="*/ 1410972 w 1709438"/>
              <a:gd name="connsiteY1" fmla="*/ 0 h 1587500"/>
              <a:gd name="connsiteX2" fmla="*/ 1568770 w 1709438"/>
              <a:gd name="connsiteY2" fmla="*/ 141367 h 1587500"/>
              <a:gd name="connsiteX3" fmla="*/ 1708470 w 1709438"/>
              <a:gd name="connsiteY3" fmla="*/ 1411367 h 1587500"/>
              <a:gd name="connsiteX4" fmla="*/ 1568057 w 1709438"/>
              <a:gd name="connsiteY4" fmla="*/ 1586545 h 1587500"/>
              <a:gd name="connsiteX5" fmla="*/ 1550672 w 1709438"/>
              <a:gd name="connsiteY5" fmla="*/ 1587500 h 1587500"/>
              <a:gd name="connsiteX6" fmla="*/ 158752 w 1709438"/>
              <a:gd name="connsiteY6" fmla="*/ 1587500 h 1587500"/>
              <a:gd name="connsiteX7" fmla="*/ 0 w 1709438"/>
              <a:gd name="connsiteY7" fmla="*/ 1428752 h 1587500"/>
              <a:gd name="connsiteX8" fmla="*/ 955 w 1709438"/>
              <a:gd name="connsiteY8" fmla="*/ 1411367 h 1587500"/>
              <a:gd name="connsiteX9" fmla="*/ 140655 w 1709438"/>
              <a:gd name="connsiteY9" fmla="*/ 141367 h 1587500"/>
              <a:gd name="connsiteX10" fmla="*/ 298452 w 1709438"/>
              <a:gd name="connsiteY10" fmla="*/ 0 h 1587500"/>
              <a:gd name="connsiteX11" fmla="*/ 457837 w 1709438"/>
              <a:gd name="connsiteY11" fmla="*/ 476250 h 1587500"/>
              <a:gd name="connsiteX12" fmla="*/ 854712 w 1709438"/>
              <a:gd name="connsiteY12" fmla="*/ 873125 h 1587500"/>
              <a:gd name="connsiteX13" fmla="*/ 1251587 w 1709438"/>
              <a:gd name="connsiteY13" fmla="*/ 476250 h 1587500"/>
              <a:gd name="connsiteX14" fmla="*/ 1172200 w 1709438"/>
              <a:gd name="connsiteY14" fmla="*/ 396887 h 1587500"/>
              <a:gd name="connsiteX15" fmla="*/ 1092837 w 1709438"/>
              <a:gd name="connsiteY15" fmla="*/ 476250 h 1587500"/>
              <a:gd name="connsiteX16" fmla="*/ 854712 w 1709438"/>
              <a:gd name="connsiteY16" fmla="*/ 714375 h 1587500"/>
              <a:gd name="connsiteX17" fmla="*/ 616587 w 1709438"/>
              <a:gd name="connsiteY17" fmla="*/ 476250 h 1587500"/>
              <a:gd name="connsiteX18" fmla="*/ 537224 w 1709438"/>
              <a:gd name="connsiteY18" fmla="*/ 396863 h 1587500"/>
              <a:gd name="connsiteX19" fmla="*/ 457837 w 1709438"/>
              <a:gd name="connsiteY19" fmla="*/ 476226 h 1587500"/>
              <a:gd name="connsiteX20" fmla="*/ 457837 w 1709438"/>
              <a:gd name="connsiteY20" fmla="*/ 476250 h 158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09438" h="1587500">
                <a:moveTo>
                  <a:pt x="298452" y="0"/>
                </a:moveTo>
                <a:lnTo>
                  <a:pt x="1410972" y="0"/>
                </a:lnTo>
                <a:cubicBezTo>
                  <a:pt x="1491921" y="-1"/>
                  <a:pt x="1559906" y="60905"/>
                  <a:pt x="1568770" y="141367"/>
                </a:cubicBezTo>
                <a:lnTo>
                  <a:pt x="1708470" y="1411367"/>
                </a:lnTo>
                <a:cubicBezTo>
                  <a:pt x="1718070" y="1498515"/>
                  <a:pt x="1655205" y="1576945"/>
                  <a:pt x="1568057" y="1586545"/>
                </a:cubicBezTo>
                <a:cubicBezTo>
                  <a:pt x="1562284" y="1587181"/>
                  <a:pt x="1556480" y="1587500"/>
                  <a:pt x="1550672" y="1587500"/>
                </a:cubicBezTo>
                <a:lnTo>
                  <a:pt x="158752" y="1587500"/>
                </a:lnTo>
                <a:cubicBezTo>
                  <a:pt x="71077" y="1587501"/>
                  <a:pt x="1" y="1516427"/>
                  <a:pt x="0" y="1428752"/>
                </a:cubicBezTo>
                <a:cubicBezTo>
                  <a:pt x="0" y="1422944"/>
                  <a:pt x="319" y="1417140"/>
                  <a:pt x="955" y="1411367"/>
                </a:cubicBezTo>
                <a:lnTo>
                  <a:pt x="140655" y="141367"/>
                </a:lnTo>
                <a:cubicBezTo>
                  <a:pt x="149518" y="60905"/>
                  <a:pt x="217504" y="-1"/>
                  <a:pt x="298452" y="0"/>
                </a:cubicBezTo>
                <a:close/>
                <a:moveTo>
                  <a:pt x="457837" y="476250"/>
                </a:moveTo>
                <a:cubicBezTo>
                  <a:pt x="457837" y="695438"/>
                  <a:pt x="635524" y="873125"/>
                  <a:pt x="854712" y="873125"/>
                </a:cubicBezTo>
                <a:cubicBezTo>
                  <a:pt x="1073900" y="873125"/>
                  <a:pt x="1251587" y="695438"/>
                  <a:pt x="1251587" y="476250"/>
                </a:cubicBezTo>
                <a:cubicBezTo>
                  <a:pt x="1251580" y="432412"/>
                  <a:pt x="1216038" y="396881"/>
                  <a:pt x="1172200" y="396887"/>
                </a:cubicBezTo>
                <a:cubicBezTo>
                  <a:pt x="1128372" y="396894"/>
                  <a:pt x="1092844" y="432422"/>
                  <a:pt x="1092837" y="476250"/>
                </a:cubicBezTo>
                <a:cubicBezTo>
                  <a:pt x="1092837" y="607763"/>
                  <a:pt x="986225" y="714375"/>
                  <a:pt x="854712" y="714375"/>
                </a:cubicBezTo>
                <a:cubicBezTo>
                  <a:pt x="723199" y="714375"/>
                  <a:pt x="616587" y="607763"/>
                  <a:pt x="616587" y="476250"/>
                </a:cubicBezTo>
                <a:cubicBezTo>
                  <a:pt x="616594" y="432412"/>
                  <a:pt x="581062" y="396870"/>
                  <a:pt x="537224" y="396863"/>
                </a:cubicBezTo>
                <a:cubicBezTo>
                  <a:pt x="493387" y="396856"/>
                  <a:pt x="457844" y="432388"/>
                  <a:pt x="457837" y="476226"/>
                </a:cubicBezTo>
                <a:cubicBezTo>
                  <a:pt x="457837" y="476234"/>
                  <a:pt x="457837" y="476242"/>
                  <a:pt x="457837" y="476250"/>
                </a:cubicBezTo>
                <a:close/>
              </a:path>
            </a:pathLst>
          </a:custGeom>
          <a:solidFill>
            <a:schemeClr val="accent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3" name="TextBox 49++"/>
          <p:cNvSpPr txBox="1"/>
          <p:nvPr/>
        </p:nvSpPr>
        <p:spPr>
          <a:xfrm>
            <a:off x="903288" y="4224406"/>
            <a:ext cx="62517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90%</a:t>
            </a:r>
            <a:endParaRPr kumimoji="0" lang="zh-CN" altLang="en-US"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34" name="TextBox 55+++"/>
          <p:cNvSpPr txBox="1"/>
          <p:nvPr/>
        </p:nvSpPr>
        <p:spPr>
          <a:xfrm>
            <a:off x="985041" y="4451805"/>
            <a:ext cx="461665"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自动审核</a:t>
            </a:r>
          </a:p>
        </p:txBody>
      </p:sp>
      <p:sp>
        <p:nvSpPr>
          <p:cNvPr id="35" name="TextBox 50++"/>
          <p:cNvSpPr txBox="1"/>
          <p:nvPr/>
        </p:nvSpPr>
        <p:spPr>
          <a:xfrm>
            <a:off x="2302326" y="3968071"/>
            <a:ext cx="92333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审核生效</a:t>
            </a:r>
            <a:endPar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36" name="TextBox 54++"/>
          <p:cNvSpPr txBox="1"/>
          <p:nvPr/>
        </p:nvSpPr>
        <p:spPr>
          <a:xfrm>
            <a:off x="2022926" y="4316528"/>
            <a:ext cx="85119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即效</a:t>
            </a: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37" name="TextBox 55++"/>
          <p:cNvSpPr txBox="1"/>
          <p:nvPr/>
        </p:nvSpPr>
        <p:spPr>
          <a:xfrm>
            <a:off x="1997526" y="4664984"/>
            <a:ext cx="1077218"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机制</a:t>
            </a:r>
          </a:p>
        </p:txBody>
      </p:sp>
      <p:sp>
        <p:nvSpPr>
          <p:cNvPr id="38" name="图形 77"/>
          <p:cNvSpPr>
            <a:spLocks noChangeAspect="1"/>
          </p:cNvSpPr>
          <p:nvPr/>
        </p:nvSpPr>
        <p:spPr>
          <a:xfrm>
            <a:off x="2023380" y="3936319"/>
            <a:ext cx="252000" cy="280729"/>
          </a:xfrm>
          <a:custGeom>
            <a:avLst/>
            <a:gdLst>
              <a:gd name="connsiteX0" fmla="*/ 1134815 w 1501303"/>
              <a:gd name="connsiteY0" fmla="*/ 939478 h 1672456"/>
              <a:gd name="connsiteX1" fmla="*/ 1501304 w 1501303"/>
              <a:gd name="connsiteY1" fmla="*/ 1305967 h 1672456"/>
              <a:gd name="connsiteX2" fmla="*/ 1134815 w 1501303"/>
              <a:gd name="connsiteY2" fmla="*/ 1672456 h 1672456"/>
              <a:gd name="connsiteX3" fmla="*/ 768325 w 1501303"/>
              <a:gd name="connsiteY3" fmla="*/ 1305967 h 1672456"/>
              <a:gd name="connsiteX4" fmla="*/ 1134815 w 1501303"/>
              <a:gd name="connsiteY4" fmla="*/ 939478 h 1672456"/>
              <a:gd name="connsiteX5" fmla="*/ 740978 w 1501303"/>
              <a:gd name="connsiteY5" fmla="*/ 997148 h 1672456"/>
              <a:gd name="connsiteX6" fmla="*/ 634380 w 1501303"/>
              <a:gd name="connsiteY6" fmla="*/ 1305967 h 1672456"/>
              <a:gd name="connsiteX7" fmla="*/ 788231 w 1501303"/>
              <a:gd name="connsiteY7" fmla="*/ 1666875 h 1672456"/>
              <a:gd name="connsiteX8" fmla="*/ 148828 w 1501303"/>
              <a:gd name="connsiteY8" fmla="*/ 1666875 h 1672456"/>
              <a:gd name="connsiteX9" fmla="*/ 0 w 1501303"/>
              <a:gd name="connsiteY9" fmla="*/ 1518047 h 1672456"/>
              <a:gd name="connsiteX10" fmla="*/ 0 w 1501303"/>
              <a:gd name="connsiteY10" fmla="*/ 1313408 h 1672456"/>
              <a:gd name="connsiteX11" fmla="*/ 316260 w 1501303"/>
              <a:gd name="connsiteY11" fmla="*/ 997148 h 1672456"/>
              <a:gd name="connsiteX12" fmla="*/ 740978 w 1501303"/>
              <a:gd name="connsiteY12" fmla="*/ 997148 h 1672456"/>
              <a:gd name="connsiteX13" fmla="*/ 1019473 w 1501303"/>
              <a:gd name="connsiteY13" fmla="*/ 1137605 h 1672456"/>
              <a:gd name="connsiteX14" fmla="*/ 1000683 w 1501303"/>
              <a:gd name="connsiteY14" fmla="*/ 1135559 h 1672456"/>
              <a:gd name="connsiteX15" fmla="*/ 977615 w 1501303"/>
              <a:gd name="connsiteY15" fmla="*/ 1170347 h 1672456"/>
              <a:gd name="connsiteX16" fmla="*/ 977801 w 1501303"/>
              <a:gd name="connsiteY16" fmla="*/ 1170905 h 1672456"/>
              <a:gd name="connsiteX17" fmla="*/ 1000869 w 1501303"/>
              <a:gd name="connsiteY17" fmla="*/ 1279922 h 1672456"/>
              <a:gd name="connsiteX18" fmla="*/ 1195834 w 1501303"/>
              <a:gd name="connsiteY18" fmla="*/ 1309688 h 1672456"/>
              <a:gd name="connsiteX19" fmla="*/ 1000869 w 1501303"/>
              <a:gd name="connsiteY19" fmla="*/ 1339639 h 1672456"/>
              <a:gd name="connsiteX20" fmla="*/ 977801 w 1501303"/>
              <a:gd name="connsiteY20" fmla="*/ 1448656 h 1672456"/>
              <a:gd name="connsiteX21" fmla="*/ 979847 w 1501303"/>
              <a:gd name="connsiteY21" fmla="*/ 1467445 h 1672456"/>
              <a:gd name="connsiteX22" fmla="*/ 1018915 w 1501303"/>
              <a:gd name="connsiteY22" fmla="*/ 1482142 h 1672456"/>
              <a:gd name="connsiteX23" fmla="*/ 1019473 w 1501303"/>
              <a:gd name="connsiteY23" fmla="*/ 1481956 h 1672456"/>
              <a:gd name="connsiteX24" fmla="*/ 1331454 w 1501303"/>
              <a:gd name="connsiteY24" fmla="*/ 1336849 h 1672456"/>
              <a:gd name="connsiteX25" fmla="*/ 1345964 w 1501303"/>
              <a:gd name="connsiteY25" fmla="*/ 1322338 h 1672456"/>
              <a:gd name="connsiteX26" fmla="*/ 1332012 w 1501303"/>
              <a:gd name="connsiteY26" fmla="*/ 1283085 h 1672456"/>
              <a:gd name="connsiteX27" fmla="*/ 1331454 w 1501303"/>
              <a:gd name="connsiteY27" fmla="*/ 1282898 h 1672456"/>
              <a:gd name="connsiteX28" fmla="*/ 1019473 w 1501303"/>
              <a:gd name="connsiteY28" fmla="*/ 1137605 h 1672456"/>
              <a:gd name="connsiteX29" fmla="*/ 677168 w 1501303"/>
              <a:gd name="connsiteY29" fmla="*/ 0 h 1672456"/>
              <a:gd name="connsiteX30" fmla="*/ 1114351 w 1501303"/>
              <a:gd name="connsiteY30" fmla="*/ 437183 h 1672456"/>
              <a:gd name="connsiteX31" fmla="*/ 684423 w 1501303"/>
              <a:gd name="connsiteY31" fmla="*/ 874365 h 1672456"/>
              <a:gd name="connsiteX32" fmla="*/ 677168 w 1501303"/>
              <a:gd name="connsiteY32" fmla="*/ 874365 h 1672456"/>
              <a:gd name="connsiteX33" fmla="*/ 239985 w 1501303"/>
              <a:gd name="connsiteY33" fmla="*/ 437183 h 1672456"/>
              <a:gd name="connsiteX34" fmla="*/ 669913 w 1501303"/>
              <a:gd name="connsiteY34" fmla="*/ 0 h 1672456"/>
              <a:gd name="connsiteX35" fmla="*/ 677168 w 1501303"/>
              <a:gd name="connsiteY35" fmla="*/ 0 h 1672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1303" h="1672456">
                <a:moveTo>
                  <a:pt x="1134815" y="939478"/>
                </a:moveTo>
                <a:cubicBezTo>
                  <a:pt x="1337221" y="939478"/>
                  <a:pt x="1501304" y="1103561"/>
                  <a:pt x="1501304" y="1305967"/>
                </a:cubicBezTo>
                <a:cubicBezTo>
                  <a:pt x="1501304" y="1508373"/>
                  <a:pt x="1337221" y="1672456"/>
                  <a:pt x="1134815" y="1672456"/>
                </a:cubicBezTo>
                <a:cubicBezTo>
                  <a:pt x="932408" y="1672456"/>
                  <a:pt x="768325" y="1508373"/>
                  <a:pt x="768325" y="1305967"/>
                </a:cubicBezTo>
                <a:cubicBezTo>
                  <a:pt x="768325" y="1103561"/>
                  <a:pt x="932408" y="939478"/>
                  <a:pt x="1134815" y="939478"/>
                </a:cubicBezTo>
                <a:close/>
                <a:moveTo>
                  <a:pt x="740978" y="997148"/>
                </a:moveTo>
                <a:cubicBezTo>
                  <a:pt x="674191" y="1082167"/>
                  <a:pt x="634380" y="1189509"/>
                  <a:pt x="634380" y="1305967"/>
                </a:cubicBezTo>
                <a:cubicBezTo>
                  <a:pt x="634380" y="1447726"/>
                  <a:pt x="693353" y="1575904"/>
                  <a:pt x="788231" y="1666875"/>
                </a:cubicBezTo>
                <a:lnTo>
                  <a:pt x="148828" y="1666875"/>
                </a:lnTo>
                <a:cubicBezTo>
                  <a:pt x="66601" y="1666875"/>
                  <a:pt x="0" y="1600274"/>
                  <a:pt x="0" y="1518047"/>
                </a:cubicBezTo>
                <a:lnTo>
                  <a:pt x="0" y="1313408"/>
                </a:lnTo>
                <a:cubicBezTo>
                  <a:pt x="0" y="1138721"/>
                  <a:pt x="141573" y="997148"/>
                  <a:pt x="316260" y="997148"/>
                </a:cubicBezTo>
                <a:lnTo>
                  <a:pt x="740978" y="997148"/>
                </a:lnTo>
                <a:close/>
                <a:moveTo>
                  <a:pt x="1019473" y="1137605"/>
                </a:moveTo>
                <a:cubicBezTo>
                  <a:pt x="1013706" y="1134815"/>
                  <a:pt x="1007008" y="1134070"/>
                  <a:pt x="1000683" y="1135559"/>
                </a:cubicBezTo>
                <a:cubicBezTo>
                  <a:pt x="984870" y="1138907"/>
                  <a:pt x="974638" y="1154348"/>
                  <a:pt x="977615" y="1170347"/>
                </a:cubicBezTo>
                <a:lnTo>
                  <a:pt x="977801" y="1170905"/>
                </a:lnTo>
                <a:lnTo>
                  <a:pt x="1000869" y="1279922"/>
                </a:lnTo>
                <a:lnTo>
                  <a:pt x="1195834" y="1309688"/>
                </a:lnTo>
                <a:lnTo>
                  <a:pt x="1000869" y="1339639"/>
                </a:lnTo>
                <a:lnTo>
                  <a:pt x="977801" y="1448656"/>
                </a:lnTo>
                <a:cubicBezTo>
                  <a:pt x="976499" y="1454981"/>
                  <a:pt x="977243" y="1461492"/>
                  <a:pt x="979847" y="1467445"/>
                </a:cubicBezTo>
                <a:cubicBezTo>
                  <a:pt x="986731" y="1482142"/>
                  <a:pt x="1004032" y="1488653"/>
                  <a:pt x="1018915" y="1482142"/>
                </a:cubicBezTo>
                <a:lnTo>
                  <a:pt x="1019473" y="1481956"/>
                </a:lnTo>
                <a:lnTo>
                  <a:pt x="1331454" y="1336849"/>
                </a:lnTo>
                <a:cubicBezTo>
                  <a:pt x="1337779" y="1333872"/>
                  <a:pt x="1342988" y="1328849"/>
                  <a:pt x="1345964" y="1322338"/>
                </a:cubicBezTo>
                <a:cubicBezTo>
                  <a:pt x="1352848" y="1307641"/>
                  <a:pt x="1346523" y="1290154"/>
                  <a:pt x="1332012" y="1283085"/>
                </a:cubicBezTo>
                <a:lnTo>
                  <a:pt x="1331454" y="1282898"/>
                </a:lnTo>
                <a:lnTo>
                  <a:pt x="1019473" y="1137605"/>
                </a:lnTo>
                <a:close/>
                <a:moveTo>
                  <a:pt x="677168" y="0"/>
                </a:moveTo>
                <a:cubicBezTo>
                  <a:pt x="918642" y="0"/>
                  <a:pt x="1114351" y="195709"/>
                  <a:pt x="1114351" y="437183"/>
                </a:cubicBezTo>
                <a:cubicBezTo>
                  <a:pt x="1114351" y="676238"/>
                  <a:pt x="922548" y="870459"/>
                  <a:pt x="684423" y="874365"/>
                </a:cubicBezTo>
                <a:lnTo>
                  <a:pt x="677168" y="874365"/>
                </a:lnTo>
                <a:cubicBezTo>
                  <a:pt x="435694" y="874365"/>
                  <a:pt x="239985" y="678656"/>
                  <a:pt x="239985" y="437183"/>
                </a:cubicBezTo>
                <a:cubicBezTo>
                  <a:pt x="239985" y="198127"/>
                  <a:pt x="431788" y="3907"/>
                  <a:pt x="669913" y="0"/>
                </a:cubicBezTo>
                <a:lnTo>
                  <a:pt x="677168" y="0"/>
                </a:lnTo>
                <a:close/>
              </a:path>
            </a:pathLst>
          </a:custGeom>
          <a:solidFill>
            <a:schemeClr val="accent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40" name="TextBox 49+++"/>
          <p:cNvSpPr txBox="1"/>
          <p:nvPr/>
        </p:nvSpPr>
        <p:spPr>
          <a:xfrm>
            <a:off x="903288" y="5654063"/>
            <a:ext cx="62517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快照</a:t>
            </a:r>
            <a:endParaRPr kumimoji="0" lang="zh-CN" altLang="en-US" sz="16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41" name="TextBox 55++++"/>
          <p:cNvSpPr txBox="1"/>
          <p:nvPr/>
        </p:nvSpPr>
        <p:spPr>
          <a:xfrm>
            <a:off x="985041" y="5881462"/>
            <a:ext cx="461665"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按月</a:t>
            </a:r>
          </a:p>
        </p:txBody>
      </p:sp>
      <p:sp>
        <p:nvSpPr>
          <p:cNvPr id="42" name="TextBox 50+++"/>
          <p:cNvSpPr txBox="1"/>
          <p:nvPr/>
        </p:nvSpPr>
        <p:spPr>
          <a:xfrm>
            <a:off x="2302326" y="5426757"/>
            <a:ext cx="69249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双库</a:t>
            </a:r>
            <a:endPar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43" name="TextBox 54+++"/>
          <p:cNvSpPr txBox="1"/>
          <p:nvPr/>
        </p:nvSpPr>
        <p:spPr>
          <a:xfrm>
            <a:off x="2022926" y="5775214"/>
            <a:ext cx="85119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对账</a:t>
            </a:r>
            <a:r>
              <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
            </a:r>
          </a:p>
        </p:txBody>
      </p:sp>
      <p:sp>
        <p:nvSpPr>
          <p:cNvPr id="44" name="TextBox 55+++"/>
          <p:cNvSpPr txBox="1"/>
          <p:nvPr/>
        </p:nvSpPr>
        <p:spPr>
          <a:xfrm>
            <a:off x="1997526" y="6123670"/>
            <a:ext cx="1077218"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闭环</a:t>
            </a:r>
          </a:p>
        </p:txBody>
      </p:sp>
      <p:grpSp>
        <p:nvGrpSpPr>
          <p:cNvPr id="45" name="组合 44"/>
          <p:cNvGrpSpPr>
            <a:grpSpLocks noChangeAspect="1"/>
          </p:cNvGrpSpPr>
          <p:nvPr/>
        </p:nvGrpSpPr>
        <p:grpSpPr>
          <a:xfrm>
            <a:off x="2053770" y="5442858"/>
            <a:ext cx="216000" cy="215176"/>
            <a:chOff x="0" y="0"/>
            <a:chExt cx="1905465" cy="1898196"/>
          </a:xfrm>
          <a:solidFill>
            <a:schemeClr val="accent1"/>
          </a:solidFill>
        </p:grpSpPr>
        <p:sp>
          <p:nvSpPr>
            <p:cNvPr id="46" name="任意多边形: 形状 45"/>
            <p:cNvSpPr/>
            <p:nvPr/>
          </p:nvSpPr>
          <p:spPr>
            <a:xfrm>
              <a:off x="0" y="0"/>
              <a:ext cx="1548190" cy="1768928"/>
            </a:xfrm>
            <a:custGeom>
              <a:avLst/>
              <a:gdLst>
                <a:gd name="connsiteX0" fmla="*/ 1024188 w 1548190"/>
                <a:gd name="connsiteY0" fmla="*/ 663348 h 1768928"/>
                <a:gd name="connsiteX1" fmla="*/ 952733 w 1548190"/>
                <a:gd name="connsiteY1" fmla="*/ 884464 h 1768928"/>
                <a:gd name="connsiteX2" fmla="*/ 1024188 w 1548190"/>
                <a:gd name="connsiteY2" fmla="*/ 1105580 h 1768928"/>
                <a:gd name="connsiteX3" fmla="*/ 96821 w 1548190"/>
                <a:gd name="connsiteY3" fmla="*/ 1105580 h 1768928"/>
                <a:gd name="connsiteX4" fmla="*/ 0 w 1548190"/>
                <a:gd name="connsiteY4" fmla="*/ 994954 h 1768928"/>
                <a:gd name="connsiteX5" fmla="*/ 0 w 1548190"/>
                <a:gd name="connsiteY5" fmla="*/ 773974 h 1768928"/>
                <a:gd name="connsiteX6" fmla="*/ 96821 w 1548190"/>
                <a:gd name="connsiteY6" fmla="*/ 663484 h 1768928"/>
                <a:gd name="connsiteX7" fmla="*/ 1024188 w 1548190"/>
                <a:gd name="connsiteY7" fmla="*/ 663484 h 1768928"/>
                <a:gd name="connsiteX8" fmla="*/ 1479475 w 1548190"/>
                <a:gd name="connsiteY8" fmla="*/ 1101770 h 1768928"/>
                <a:gd name="connsiteX9" fmla="*/ 1548190 w 1548190"/>
                <a:gd name="connsiteY9" fmla="*/ 884464 h 1768928"/>
                <a:gd name="connsiteX10" fmla="*/ 1479475 w 1548190"/>
                <a:gd name="connsiteY10" fmla="*/ 667158 h 1768928"/>
                <a:gd name="connsiteX11" fmla="*/ 1548190 w 1548190"/>
                <a:gd name="connsiteY11" fmla="*/ 773974 h 1768928"/>
                <a:gd name="connsiteX12" fmla="*/ 1548190 w 1548190"/>
                <a:gd name="connsiteY12" fmla="*/ 995090 h 1768928"/>
                <a:gd name="connsiteX13" fmla="*/ 1479475 w 1548190"/>
                <a:gd name="connsiteY13" fmla="*/ 1101770 h 1768928"/>
                <a:gd name="connsiteX14" fmla="*/ 815420 w 1548190"/>
                <a:gd name="connsiteY14" fmla="*/ 1326697 h 1768928"/>
                <a:gd name="connsiteX15" fmla="*/ 714549 w 1548190"/>
                <a:gd name="connsiteY15" fmla="*/ 1661024 h 1768928"/>
                <a:gd name="connsiteX16" fmla="*/ 764806 w 1548190"/>
                <a:gd name="connsiteY16" fmla="*/ 1768929 h 1768928"/>
                <a:gd name="connsiteX17" fmla="*/ 96702 w 1548190"/>
                <a:gd name="connsiteY17" fmla="*/ 1768929 h 1768928"/>
                <a:gd name="connsiteX18" fmla="*/ 0 w 1548190"/>
                <a:gd name="connsiteY18" fmla="*/ 1658303 h 1768928"/>
                <a:gd name="connsiteX19" fmla="*/ 0 w 1548190"/>
                <a:gd name="connsiteY19" fmla="*/ 1437323 h 1768928"/>
                <a:gd name="connsiteX20" fmla="*/ 96821 w 1548190"/>
                <a:gd name="connsiteY20" fmla="*/ 1326697 h 1768928"/>
                <a:gd name="connsiteX21" fmla="*/ 815420 w 1548190"/>
                <a:gd name="connsiteY21" fmla="*/ 1326697 h 1768928"/>
                <a:gd name="connsiteX22" fmla="*/ 1451369 w 1548190"/>
                <a:gd name="connsiteY22" fmla="*/ 0 h 1768928"/>
                <a:gd name="connsiteX23" fmla="*/ 1548190 w 1548190"/>
                <a:gd name="connsiteY23" fmla="*/ 110626 h 1768928"/>
                <a:gd name="connsiteX24" fmla="*/ 1548190 w 1548190"/>
                <a:gd name="connsiteY24" fmla="*/ 331742 h 1768928"/>
                <a:gd name="connsiteX25" fmla="*/ 1451369 w 1548190"/>
                <a:gd name="connsiteY25" fmla="*/ 442232 h 1768928"/>
                <a:gd name="connsiteX26" fmla="*/ 96821 w 1548190"/>
                <a:gd name="connsiteY26" fmla="*/ 442232 h 1768928"/>
                <a:gd name="connsiteX27" fmla="*/ 0 w 1548190"/>
                <a:gd name="connsiteY27" fmla="*/ 331742 h 1768928"/>
                <a:gd name="connsiteX28" fmla="*/ 0 w 1548190"/>
                <a:gd name="connsiteY28" fmla="*/ 110626 h 1768928"/>
                <a:gd name="connsiteX29" fmla="*/ 96821 w 1548190"/>
                <a:gd name="connsiteY29" fmla="*/ 0 h 1768928"/>
                <a:gd name="connsiteX30" fmla="*/ 1451369 w 1548190"/>
                <a:gd name="connsiteY30" fmla="*/ 0 h 1768928"/>
                <a:gd name="connsiteX31" fmla="*/ 1354667 w 1548190"/>
                <a:gd name="connsiteY31" fmla="*/ 331742 h 1768928"/>
                <a:gd name="connsiteX32" fmla="*/ 1354667 w 1548190"/>
                <a:gd name="connsiteY32" fmla="*/ 221116 h 1768928"/>
                <a:gd name="connsiteX33" fmla="*/ 1064441 w 1548190"/>
                <a:gd name="connsiteY33" fmla="*/ 221116 h 1768928"/>
                <a:gd name="connsiteX34" fmla="*/ 1064441 w 1548190"/>
                <a:gd name="connsiteY34" fmla="*/ 331742 h 1768928"/>
                <a:gd name="connsiteX35" fmla="*/ 1354667 w 1548190"/>
                <a:gd name="connsiteY35" fmla="*/ 331742 h 176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48190" h="1768928">
                  <a:moveTo>
                    <a:pt x="1024188" y="663348"/>
                  </a:moveTo>
                  <a:cubicBezTo>
                    <a:pt x="977975" y="724907"/>
                    <a:pt x="952622" y="803363"/>
                    <a:pt x="952733" y="884464"/>
                  </a:cubicBezTo>
                  <a:cubicBezTo>
                    <a:pt x="952733" y="968829"/>
                    <a:pt x="979647" y="1046117"/>
                    <a:pt x="1024188" y="1105580"/>
                  </a:cubicBezTo>
                  <a:lnTo>
                    <a:pt x="96821" y="1105580"/>
                  </a:lnTo>
                  <a:cubicBezTo>
                    <a:pt x="38705" y="1105580"/>
                    <a:pt x="0" y="1061357"/>
                    <a:pt x="0" y="994954"/>
                  </a:cubicBezTo>
                  <a:lnTo>
                    <a:pt x="0" y="773974"/>
                  </a:lnTo>
                  <a:cubicBezTo>
                    <a:pt x="0" y="707708"/>
                    <a:pt x="38705" y="663484"/>
                    <a:pt x="96821" y="663484"/>
                  </a:cubicBezTo>
                  <a:lnTo>
                    <a:pt x="1024188" y="663484"/>
                  </a:lnTo>
                  <a:close/>
                  <a:moveTo>
                    <a:pt x="1479475" y="1101770"/>
                  </a:moveTo>
                  <a:cubicBezTo>
                    <a:pt x="1522348" y="1042851"/>
                    <a:pt x="1548190" y="967060"/>
                    <a:pt x="1548190" y="884464"/>
                  </a:cubicBezTo>
                  <a:cubicBezTo>
                    <a:pt x="1548277" y="805067"/>
                    <a:pt x="1523957" y="728157"/>
                    <a:pt x="1479475" y="667158"/>
                  </a:cubicBezTo>
                  <a:cubicBezTo>
                    <a:pt x="1521633" y="679133"/>
                    <a:pt x="1548190" y="718865"/>
                    <a:pt x="1548190" y="773974"/>
                  </a:cubicBezTo>
                  <a:lnTo>
                    <a:pt x="1548190" y="995090"/>
                  </a:lnTo>
                  <a:cubicBezTo>
                    <a:pt x="1548190" y="1049927"/>
                    <a:pt x="1521633" y="1089796"/>
                    <a:pt x="1479475" y="1101770"/>
                  </a:cubicBezTo>
                  <a:close/>
                  <a:moveTo>
                    <a:pt x="815420" y="1326697"/>
                  </a:moveTo>
                  <a:cubicBezTo>
                    <a:pt x="750221" y="1422239"/>
                    <a:pt x="714730" y="1539872"/>
                    <a:pt x="714549" y="1661024"/>
                  </a:cubicBezTo>
                  <a:cubicBezTo>
                    <a:pt x="714549" y="1702390"/>
                    <a:pt x="732890" y="1738449"/>
                    <a:pt x="764806" y="1768929"/>
                  </a:cubicBezTo>
                  <a:lnTo>
                    <a:pt x="96702" y="1768929"/>
                  </a:lnTo>
                  <a:cubicBezTo>
                    <a:pt x="38824" y="1768929"/>
                    <a:pt x="0" y="1724705"/>
                    <a:pt x="0" y="1658303"/>
                  </a:cubicBezTo>
                  <a:lnTo>
                    <a:pt x="0" y="1437323"/>
                  </a:lnTo>
                  <a:cubicBezTo>
                    <a:pt x="0" y="1370920"/>
                    <a:pt x="38705" y="1326697"/>
                    <a:pt x="96821" y="1326697"/>
                  </a:cubicBezTo>
                  <a:lnTo>
                    <a:pt x="815420" y="1326697"/>
                  </a:lnTo>
                  <a:close/>
                  <a:moveTo>
                    <a:pt x="1451369" y="0"/>
                  </a:moveTo>
                  <a:cubicBezTo>
                    <a:pt x="1509486" y="0"/>
                    <a:pt x="1548190" y="44223"/>
                    <a:pt x="1548190" y="110626"/>
                  </a:cubicBezTo>
                  <a:lnTo>
                    <a:pt x="1548190" y="331742"/>
                  </a:lnTo>
                  <a:cubicBezTo>
                    <a:pt x="1548190" y="398009"/>
                    <a:pt x="1509486" y="442232"/>
                    <a:pt x="1451369" y="442232"/>
                  </a:cubicBezTo>
                  <a:lnTo>
                    <a:pt x="96821" y="442232"/>
                  </a:lnTo>
                  <a:cubicBezTo>
                    <a:pt x="38705" y="442232"/>
                    <a:pt x="0" y="398009"/>
                    <a:pt x="0" y="331742"/>
                  </a:cubicBezTo>
                  <a:lnTo>
                    <a:pt x="0" y="110626"/>
                  </a:lnTo>
                  <a:cubicBezTo>
                    <a:pt x="0" y="44223"/>
                    <a:pt x="38705" y="0"/>
                    <a:pt x="96821" y="0"/>
                  </a:cubicBezTo>
                  <a:lnTo>
                    <a:pt x="1451369" y="0"/>
                  </a:lnTo>
                  <a:close/>
                  <a:moveTo>
                    <a:pt x="1354667" y="331742"/>
                  </a:moveTo>
                  <a:lnTo>
                    <a:pt x="1354667" y="221116"/>
                  </a:lnTo>
                  <a:lnTo>
                    <a:pt x="1064441" y="221116"/>
                  </a:lnTo>
                  <a:lnTo>
                    <a:pt x="1064441" y="331742"/>
                  </a:lnTo>
                  <a:lnTo>
                    <a:pt x="1354667" y="331742"/>
                  </a:lnTo>
                  <a:close/>
                </a:path>
              </a:pathLst>
            </a:custGeom>
            <a:grpFill/>
            <a:ln w="16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47" name="任意多边形: 形状 46"/>
            <p:cNvSpPr/>
            <p:nvPr/>
          </p:nvSpPr>
          <p:spPr>
            <a:xfrm>
              <a:off x="833641" y="544269"/>
              <a:ext cx="1071824" cy="1353927"/>
            </a:xfrm>
            <a:custGeom>
              <a:avLst/>
              <a:gdLst>
                <a:gd name="connsiteX0" fmla="*/ 331432 w 1071824"/>
                <a:gd name="connsiteY0" fmla="*/ 587437 h 1353927"/>
                <a:gd name="connsiteX1" fmla="*/ 319509 w 1071824"/>
                <a:gd name="connsiteY1" fmla="*/ 106545 h 1353927"/>
                <a:gd name="connsiteX2" fmla="*/ 740392 w 1071824"/>
                <a:gd name="connsiteY2" fmla="*/ 92922 h 1353927"/>
                <a:gd name="connsiteX3" fmla="*/ 752315 w 1071824"/>
                <a:gd name="connsiteY3" fmla="*/ 573814 h 1353927"/>
                <a:gd name="connsiteX4" fmla="*/ 740392 w 1071824"/>
                <a:gd name="connsiteY4" fmla="*/ 587437 h 1353927"/>
                <a:gd name="connsiteX5" fmla="*/ 1071824 w 1071824"/>
                <a:gd name="connsiteY5" fmla="*/ 1116755 h 1353927"/>
                <a:gd name="connsiteX6" fmla="*/ 0 w 1071824"/>
                <a:gd name="connsiteY6" fmla="*/ 1116755 h 1353927"/>
                <a:gd name="connsiteX7" fmla="*/ 331432 w 1071824"/>
                <a:gd name="connsiteY7" fmla="*/ 587437 h 1353927"/>
                <a:gd name="connsiteX8" fmla="*/ 531863 w 1071824"/>
                <a:gd name="connsiteY8" fmla="*/ 680374 h 1353927"/>
                <a:gd name="connsiteX9" fmla="*/ 357275 w 1071824"/>
                <a:gd name="connsiteY9" fmla="*/ 957143 h 1353927"/>
                <a:gd name="connsiteX10" fmla="*/ 531863 w 1071824"/>
                <a:gd name="connsiteY10" fmla="*/ 1166013 h 1353927"/>
                <a:gd name="connsiteX11" fmla="*/ 714549 w 1071824"/>
                <a:gd name="connsiteY11" fmla="*/ 957143 h 1353927"/>
                <a:gd name="connsiteX12" fmla="*/ 531863 w 1071824"/>
                <a:gd name="connsiteY12" fmla="*/ 680374 h 135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1824" h="1353927">
                  <a:moveTo>
                    <a:pt x="331432" y="587437"/>
                  </a:moveTo>
                  <a:cubicBezTo>
                    <a:pt x="211916" y="458404"/>
                    <a:pt x="206578" y="243101"/>
                    <a:pt x="319509" y="106545"/>
                  </a:cubicBezTo>
                  <a:cubicBezTo>
                    <a:pt x="432440" y="-30012"/>
                    <a:pt x="620876" y="-36111"/>
                    <a:pt x="740392" y="92922"/>
                  </a:cubicBezTo>
                  <a:cubicBezTo>
                    <a:pt x="859909" y="221955"/>
                    <a:pt x="865247" y="437257"/>
                    <a:pt x="752315" y="573814"/>
                  </a:cubicBezTo>
                  <a:cubicBezTo>
                    <a:pt x="748454" y="578483"/>
                    <a:pt x="744478" y="583026"/>
                    <a:pt x="740392" y="587437"/>
                  </a:cubicBezTo>
                  <a:cubicBezTo>
                    <a:pt x="934988" y="673298"/>
                    <a:pt x="1071824" y="877950"/>
                    <a:pt x="1071824" y="1116755"/>
                  </a:cubicBezTo>
                  <a:cubicBezTo>
                    <a:pt x="1071824" y="1432985"/>
                    <a:pt x="0" y="1432985"/>
                    <a:pt x="0" y="1116755"/>
                  </a:cubicBezTo>
                  <a:cubicBezTo>
                    <a:pt x="0" y="877950"/>
                    <a:pt x="136955" y="673298"/>
                    <a:pt x="331432" y="587437"/>
                  </a:cubicBezTo>
                  <a:close/>
                  <a:moveTo>
                    <a:pt x="531863" y="680374"/>
                  </a:moveTo>
                  <a:lnTo>
                    <a:pt x="357275" y="957143"/>
                  </a:lnTo>
                  <a:lnTo>
                    <a:pt x="531863" y="1166013"/>
                  </a:lnTo>
                  <a:lnTo>
                    <a:pt x="714549" y="957143"/>
                  </a:lnTo>
                  <a:lnTo>
                    <a:pt x="531863" y="680374"/>
                  </a:lnTo>
                  <a:close/>
                </a:path>
              </a:pathLst>
            </a:custGeom>
            <a:grpFill/>
            <a:ln w="16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sp>
        <p:nvSpPr>
          <p:cNvPr id="52" name="矩形 51"/>
          <p:cNvSpPr/>
          <p:nvPr/>
        </p:nvSpPr>
        <p:spPr>
          <a:xfrm>
            <a:off x="8766629" y="873125"/>
            <a:ext cx="2982459" cy="403270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3" name="Freeform 101+"/>
          <p:cNvSpPr/>
          <p:nvPr/>
        </p:nvSpPr>
        <p:spPr>
          <a:xfrm flipV="1">
            <a:off x="8977085" y="3833813"/>
            <a:ext cx="631371" cy="970416"/>
          </a:xfrm>
          <a:custGeom>
            <a:avLst/>
            <a:gdLst>
              <a:gd name="connsiteX0" fmla="*/ 0 w 573314"/>
              <a:gd name="connsiteY0" fmla="*/ 0 h 1502229"/>
              <a:gd name="connsiteX1" fmla="*/ 0 w 573314"/>
              <a:gd name="connsiteY1" fmla="*/ 1219200 h 1502229"/>
              <a:gd name="connsiteX2" fmla="*/ 573314 w 573314"/>
              <a:gd name="connsiteY2" fmla="*/ 1502229 h 1502229"/>
            </a:gdLst>
            <a:ahLst/>
            <a:cxnLst>
              <a:cxn ang="0">
                <a:pos x="connsiteX0" y="connsiteY0"/>
              </a:cxn>
              <a:cxn ang="0">
                <a:pos x="connsiteX1" y="connsiteY1"/>
              </a:cxn>
              <a:cxn ang="0">
                <a:pos x="connsiteX2" y="connsiteY2"/>
              </a:cxn>
            </a:cxnLst>
            <a:rect l="l" t="t" r="r" b="b"/>
            <a:pathLst>
              <a:path w="573314" h="1502229">
                <a:moveTo>
                  <a:pt x="0" y="0"/>
                </a:moveTo>
                <a:lnTo>
                  <a:pt x="0" y="1219200"/>
                </a:lnTo>
                <a:lnTo>
                  <a:pt x="573314" y="1502229"/>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4" name="Freeform 101++"/>
          <p:cNvSpPr/>
          <p:nvPr/>
        </p:nvSpPr>
        <p:spPr>
          <a:xfrm flipH="1" flipV="1">
            <a:off x="10856685" y="3833813"/>
            <a:ext cx="631371" cy="970416"/>
          </a:xfrm>
          <a:custGeom>
            <a:avLst/>
            <a:gdLst>
              <a:gd name="connsiteX0" fmla="*/ 0 w 573314"/>
              <a:gd name="connsiteY0" fmla="*/ 0 h 1502229"/>
              <a:gd name="connsiteX1" fmla="*/ 0 w 573314"/>
              <a:gd name="connsiteY1" fmla="*/ 1219200 h 1502229"/>
              <a:gd name="connsiteX2" fmla="*/ 573314 w 573314"/>
              <a:gd name="connsiteY2" fmla="*/ 1502229 h 1502229"/>
            </a:gdLst>
            <a:ahLst/>
            <a:cxnLst>
              <a:cxn ang="0">
                <a:pos x="connsiteX0" y="connsiteY0"/>
              </a:cxn>
              <a:cxn ang="0">
                <a:pos x="connsiteX1" y="connsiteY1"/>
              </a:cxn>
              <a:cxn ang="0">
                <a:pos x="connsiteX2" y="connsiteY2"/>
              </a:cxn>
            </a:cxnLst>
            <a:rect l="l" t="t" r="r" b="b"/>
            <a:pathLst>
              <a:path w="573314" h="1502229">
                <a:moveTo>
                  <a:pt x="0" y="0"/>
                </a:moveTo>
                <a:lnTo>
                  <a:pt x="0" y="1219200"/>
                </a:lnTo>
                <a:lnTo>
                  <a:pt x="573314" y="1502229"/>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5" name="TextBox 104+"/>
          <p:cNvSpPr txBox="1"/>
          <p:nvPr/>
        </p:nvSpPr>
        <p:spPr>
          <a:xfrm>
            <a:off x="9165928" y="4495349"/>
            <a:ext cx="718146"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新增技能</a:t>
            </a:r>
          </a:p>
        </p:txBody>
      </p:sp>
      <p:sp>
        <p:nvSpPr>
          <p:cNvPr id="56" name="Rounded Rectangle 102+"/>
          <p:cNvSpPr/>
          <p:nvPr/>
        </p:nvSpPr>
        <p:spPr>
          <a:xfrm>
            <a:off x="9020629" y="4421642"/>
            <a:ext cx="1008742" cy="36285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7" name="TextBox 104++"/>
          <p:cNvSpPr txBox="1"/>
          <p:nvPr/>
        </p:nvSpPr>
        <p:spPr>
          <a:xfrm>
            <a:off x="10559300" y="4495349"/>
            <a:ext cx="718146"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技能移除</a:t>
            </a:r>
          </a:p>
        </p:txBody>
      </p:sp>
      <p:sp>
        <p:nvSpPr>
          <p:cNvPr id="58" name="Rounded Rectangle 102++"/>
          <p:cNvSpPr/>
          <p:nvPr/>
        </p:nvSpPr>
        <p:spPr>
          <a:xfrm>
            <a:off x="10414001" y="4421642"/>
            <a:ext cx="1008742" cy="36285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59" name="任意多边形: 形状 58"/>
          <p:cNvSpPr/>
          <p:nvPr/>
        </p:nvSpPr>
        <p:spPr>
          <a:xfrm>
            <a:off x="8969828" y="1627643"/>
            <a:ext cx="631371" cy="970416"/>
          </a:xfrm>
          <a:custGeom>
            <a:avLst/>
            <a:gdLst>
              <a:gd name="connsiteX0" fmla="*/ 0 w 573314"/>
              <a:gd name="connsiteY0" fmla="*/ 0 h 1502229"/>
              <a:gd name="connsiteX1" fmla="*/ 0 w 573314"/>
              <a:gd name="connsiteY1" fmla="*/ 1219200 h 1502229"/>
              <a:gd name="connsiteX2" fmla="*/ 573314 w 573314"/>
              <a:gd name="connsiteY2" fmla="*/ 1502229 h 1502229"/>
            </a:gdLst>
            <a:ahLst/>
            <a:cxnLst>
              <a:cxn ang="0">
                <a:pos x="connsiteX0" y="connsiteY0"/>
              </a:cxn>
              <a:cxn ang="0">
                <a:pos x="connsiteX1" y="connsiteY1"/>
              </a:cxn>
              <a:cxn ang="0">
                <a:pos x="connsiteX2" y="connsiteY2"/>
              </a:cxn>
            </a:cxnLst>
            <a:rect l="l" t="t" r="r" b="b"/>
            <a:pathLst>
              <a:path w="573314" h="1502229">
                <a:moveTo>
                  <a:pt x="0" y="0"/>
                </a:moveTo>
                <a:lnTo>
                  <a:pt x="0" y="1219200"/>
                </a:lnTo>
                <a:lnTo>
                  <a:pt x="573314" y="1502229"/>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0" name="矩形: 圆角 59"/>
          <p:cNvSpPr/>
          <p:nvPr/>
        </p:nvSpPr>
        <p:spPr>
          <a:xfrm>
            <a:off x="9020629" y="1627643"/>
            <a:ext cx="1008742" cy="36285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1" name="文本框 60"/>
          <p:cNvSpPr txBox="1"/>
          <p:nvPr/>
        </p:nvSpPr>
        <p:spPr>
          <a:xfrm>
            <a:off x="9255696" y="1701350"/>
            <a:ext cx="538609"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升级</a:t>
            </a:r>
          </a:p>
        </p:txBody>
      </p:sp>
      <p:sp>
        <p:nvSpPr>
          <p:cNvPr id="62" name="TextBox 104+"/>
          <p:cNvSpPr txBox="1"/>
          <p:nvPr/>
        </p:nvSpPr>
        <p:spPr>
          <a:xfrm>
            <a:off x="9306366" y="1994812"/>
            <a:ext cx="49532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63" name="Freeform 101+"/>
          <p:cNvSpPr/>
          <p:nvPr/>
        </p:nvSpPr>
        <p:spPr>
          <a:xfrm flipH="1">
            <a:off x="10849428" y="1627643"/>
            <a:ext cx="631371" cy="970416"/>
          </a:xfrm>
          <a:custGeom>
            <a:avLst/>
            <a:gdLst>
              <a:gd name="connsiteX0" fmla="*/ 0 w 573314"/>
              <a:gd name="connsiteY0" fmla="*/ 0 h 1502229"/>
              <a:gd name="connsiteX1" fmla="*/ 0 w 573314"/>
              <a:gd name="connsiteY1" fmla="*/ 1219200 h 1502229"/>
              <a:gd name="connsiteX2" fmla="*/ 573314 w 573314"/>
              <a:gd name="connsiteY2" fmla="*/ 1502229 h 1502229"/>
            </a:gdLst>
            <a:ahLst/>
            <a:cxnLst>
              <a:cxn ang="0">
                <a:pos x="connsiteX0" y="connsiteY0"/>
              </a:cxn>
              <a:cxn ang="0">
                <a:pos x="connsiteX1" y="connsiteY1"/>
              </a:cxn>
              <a:cxn ang="0">
                <a:pos x="connsiteX2" y="connsiteY2"/>
              </a:cxn>
            </a:cxnLst>
            <a:rect l="l" t="t" r="r" b="b"/>
            <a:pathLst>
              <a:path w="573314" h="1502229">
                <a:moveTo>
                  <a:pt x="0" y="0"/>
                </a:moveTo>
                <a:lnTo>
                  <a:pt x="0" y="1219200"/>
                </a:lnTo>
                <a:lnTo>
                  <a:pt x="573314" y="1502229"/>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4" name="TextBox 104+"/>
          <p:cNvSpPr txBox="1"/>
          <p:nvPr/>
        </p:nvSpPr>
        <p:spPr>
          <a:xfrm>
            <a:off x="10579469" y="1701350"/>
            <a:ext cx="718146"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降级</a:t>
            </a:r>
          </a:p>
        </p:txBody>
      </p:sp>
      <p:sp>
        <p:nvSpPr>
          <p:cNvPr id="65" name="Rounded Rectangle 102+"/>
          <p:cNvSpPr/>
          <p:nvPr/>
        </p:nvSpPr>
        <p:spPr>
          <a:xfrm>
            <a:off x="10434170" y="1627643"/>
            <a:ext cx="1008742" cy="36285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66" name="TextBox 104++"/>
          <p:cNvSpPr txBox="1"/>
          <p:nvPr/>
        </p:nvSpPr>
        <p:spPr>
          <a:xfrm>
            <a:off x="10719907" y="1994812"/>
            <a:ext cx="49532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36</a:t>
            </a:r>
            <a:endPar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67" name="TextBox 104+++"/>
          <p:cNvSpPr txBox="1"/>
          <p:nvPr/>
        </p:nvSpPr>
        <p:spPr>
          <a:xfrm>
            <a:off x="10719907" y="4142924"/>
            <a:ext cx="49532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28</a:t>
            </a:r>
            <a:endPar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68" name="TextBox 104++"/>
          <p:cNvSpPr txBox="1"/>
          <p:nvPr/>
        </p:nvSpPr>
        <p:spPr>
          <a:xfrm>
            <a:off x="9306366" y="4142924"/>
            <a:ext cx="49532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12</a:t>
            </a:r>
            <a:endParaRPr kumimoji="0" lang="zh-CN" altLang="en-US" sz="1800" b="0" i="0" u="none" strike="noStrike" kern="1200" cap="none" spc="0" normalizeH="0" baseline="0" noProof="0" dirty="0">
              <a:ln>
                <a:noFill/>
              </a:ln>
              <a:solidFill>
                <a:srgbClr val="30559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70" name="任意多边形: 形状 69"/>
          <p:cNvSpPr/>
          <p:nvPr/>
        </p:nvSpPr>
        <p:spPr>
          <a:xfrm>
            <a:off x="9055357" y="873125"/>
            <a:ext cx="2405005" cy="558109"/>
          </a:xfrm>
          <a:custGeom>
            <a:avLst/>
            <a:gdLst>
              <a:gd name="connsiteX0" fmla="*/ 0 w 2405005"/>
              <a:gd name="connsiteY0" fmla="*/ 0 h 646113"/>
              <a:gd name="connsiteX1" fmla="*/ 2405005 w 2405005"/>
              <a:gd name="connsiteY1" fmla="*/ 0 h 646113"/>
              <a:gd name="connsiteX2" fmla="*/ 2405005 w 2405005"/>
              <a:gd name="connsiteY2" fmla="*/ 1885 h 646113"/>
              <a:gd name="connsiteX3" fmla="*/ 2404451 w 2405005"/>
              <a:gd name="connsiteY3" fmla="*/ 1852 h 646113"/>
              <a:gd name="connsiteX4" fmla="*/ 2318385 w 2405005"/>
              <a:gd name="connsiteY4" fmla="*/ 78164 h 646113"/>
              <a:gd name="connsiteX5" fmla="*/ 2196366 w 2405005"/>
              <a:gd name="connsiteY5" fmla="*/ 536763 h 646113"/>
              <a:gd name="connsiteX6" fmla="*/ 2188970 w 2405005"/>
              <a:gd name="connsiteY6" fmla="*/ 573395 h 646113"/>
              <a:gd name="connsiteX7" fmla="*/ 2079264 w 2405005"/>
              <a:gd name="connsiteY7" fmla="*/ 646113 h 646113"/>
              <a:gd name="connsiteX8" fmla="*/ 319390 w 2405005"/>
              <a:gd name="connsiteY8" fmla="*/ 646112 h 646113"/>
              <a:gd name="connsiteX9" fmla="*/ 209684 w 2405005"/>
              <a:gd name="connsiteY9" fmla="*/ 573394 h 646113"/>
              <a:gd name="connsiteX10" fmla="*/ 204107 w 2405005"/>
              <a:gd name="connsiteY10" fmla="*/ 545772 h 646113"/>
              <a:gd name="connsiteX11" fmla="*/ 202977 w 2405005"/>
              <a:gd name="connsiteY11" fmla="*/ 545772 h 646113"/>
              <a:gd name="connsiteX12" fmla="*/ 78561 w 2405005"/>
              <a:gd name="connsiteY12" fmla="*/ 78164 h 646113"/>
              <a:gd name="connsiteX13" fmla="*/ 30191 w 2405005"/>
              <a:gd name="connsiteY13" fmla="*/ 14897 h 646113"/>
              <a:gd name="connsiteX14" fmla="*/ 0 w 2405005"/>
              <a:gd name="connsiteY14" fmla="*/ 4449 h 6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05005" h="646113">
                <a:moveTo>
                  <a:pt x="0" y="0"/>
                </a:moveTo>
                <a:lnTo>
                  <a:pt x="2405005" y="0"/>
                </a:lnTo>
                <a:lnTo>
                  <a:pt x="2405005" y="1885"/>
                </a:lnTo>
                <a:lnTo>
                  <a:pt x="2404451" y="1852"/>
                </a:lnTo>
                <a:cubicBezTo>
                  <a:pt x="2364299" y="7514"/>
                  <a:pt x="2329467" y="36513"/>
                  <a:pt x="2318385" y="78164"/>
                </a:cubicBezTo>
                <a:lnTo>
                  <a:pt x="2196366" y="536763"/>
                </a:lnTo>
                <a:lnTo>
                  <a:pt x="2188970" y="573395"/>
                </a:lnTo>
                <a:cubicBezTo>
                  <a:pt x="2170896" y="616128"/>
                  <a:pt x="2128582" y="646113"/>
                  <a:pt x="2079264" y="646113"/>
                </a:cubicBezTo>
                <a:lnTo>
                  <a:pt x="319390" y="646112"/>
                </a:lnTo>
                <a:cubicBezTo>
                  <a:pt x="270072" y="646112"/>
                  <a:pt x="227758" y="616127"/>
                  <a:pt x="209684" y="573394"/>
                </a:cubicBezTo>
                <a:lnTo>
                  <a:pt x="204107" y="545772"/>
                </a:lnTo>
                <a:lnTo>
                  <a:pt x="202977" y="545772"/>
                </a:lnTo>
                <a:lnTo>
                  <a:pt x="78561" y="78164"/>
                </a:lnTo>
                <a:cubicBezTo>
                  <a:pt x="71173" y="50396"/>
                  <a:pt x="53229" y="28252"/>
                  <a:pt x="30191" y="14897"/>
                </a:cubicBezTo>
                <a:lnTo>
                  <a:pt x="0" y="444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71" name="TextBox 50+"/>
          <p:cNvSpPr txBox="1"/>
          <p:nvPr/>
        </p:nvSpPr>
        <p:spPr>
          <a:xfrm>
            <a:off x="9449946" y="1013680"/>
            <a:ext cx="161582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能力变更类型</a:t>
            </a:r>
            <a:endParaRPr kumimoji="0" lang="en-US" altLang="zh-CN"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72" name="文本框 71"/>
          <p:cNvSpPr txBox="1"/>
          <p:nvPr/>
        </p:nvSpPr>
        <p:spPr>
          <a:xfrm>
            <a:off x="8924597" y="5637809"/>
            <a:ext cx="2577629"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1500"/>
              </a:spcBef>
              <a:spcAft>
                <a:spcPts val="0"/>
              </a:spcAft>
              <a:buClrTx/>
              <a:buSzTx/>
              <a:buFontTx/>
              <a:buNone/>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新增 / 移除：Z-score 涌现检测 + 四重门禁防幻觉</a:t>
            </a:r>
            <a:r>
              <a:rPr kumimoji="0" lang="en-US" altLang="zh-CN"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p>
        </p:txBody>
      </p:sp>
      <p:sp>
        <p:nvSpPr>
          <p:cNvPr id="73" name="文本框 72"/>
          <p:cNvSpPr txBox="1"/>
          <p:nvPr/>
        </p:nvSpPr>
        <p:spPr>
          <a:xfrm>
            <a:off x="8924597" y="5842279"/>
            <a:ext cx="2568011"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1500"/>
              </a:spcBef>
              <a:spcAft>
                <a:spcPts val="0"/>
              </a:spcAft>
              <a:buClrTx/>
              <a:buSzTx/>
              <a:buFontTx/>
              <a:buNone/>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升级 / 降级：按信任分与引用强度动态调整</a:t>
            </a:r>
            <a:r>
              <a:rPr kumimoji="0" lang="en-US" altLang="zh-CN"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
            </a:r>
            <a:endPar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74" name="文本框 73"/>
          <p:cNvSpPr txBox="1"/>
          <p:nvPr/>
        </p:nvSpPr>
        <p:spPr>
          <a:xfrm>
            <a:off x="8924597" y="6046749"/>
            <a:ext cx="2564805"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1500"/>
              </a:spcBef>
              <a:spcAft>
                <a:spcPts val="0"/>
              </a:spcAft>
              <a:buClrTx/>
              <a:buSzTx/>
              <a:buFontTx/>
              <a:buNone/>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中文更新说明 + 数据源追溯，全流程可审计</a:t>
            </a:r>
          </a:p>
        </p:txBody>
      </p:sp>
      <p:sp>
        <p:nvSpPr>
          <p:cNvPr id="75" name="文本框 74"/>
          <p:cNvSpPr txBox="1"/>
          <p:nvPr/>
        </p:nvSpPr>
        <p:spPr>
          <a:xfrm>
            <a:off x="8924597" y="6251220"/>
            <a:ext cx="2564805"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1500"/>
              </a:spcBef>
              <a:spcAft>
                <a:spcPts val="0"/>
              </a:spcAft>
              <a:buClrTx/>
              <a:buSzTx/>
              <a:buFontTx/>
              <a:buNone/>
              <a:defRPr/>
            </a:pPr>
            <a:r>
              <a:rPr kumimoji="0" lang="zh-CN" altLang="en-US" sz="1000" b="0" i="0" u="none" strike="noStrike" kern="1200" cap="none" spc="0" normalizeH="0" baseline="0" noProof="0" dirty="0">
                <a:ln>
                  <a:noFill/>
                </a:ln>
                <a:solidFill>
                  <a:prstClr val="black">
                    <a:lumMod val="100000"/>
                  </a:prstClr>
                </a:solidFill>
                <a:effectLst/>
                <a:uLnTx/>
                <a:uFillTx/>
                <a:latin typeface="思源黑体 CN Normal" panose="020B0400000000000000" charset="-122"/>
                <a:ea typeface="思源黑体 CN Normal" panose="020B0400000000000000" charset="-122"/>
                <a:cs typeface="思源黑体 CN Normal" panose="020B0400000000000000" charset="-122"/>
              </a:rPr>
              <a:t>「机器学习工程师」新增：大模型微调 · RAG（信任分 0.92）</a:t>
            </a:r>
          </a:p>
        </p:txBody>
      </p:sp>
      <p:sp>
        <p:nvSpPr>
          <p:cNvPr id="76" name="Freeform 129+"/>
          <p:cNvSpPr/>
          <p:nvPr/>
        </p:nvSpPr>
        <p:spPr>
          <a:xfrm>
            <a:off x="9055357" y="4989662"/>
            <a:ext cx="2405005" cy="558109"/>
          </a:xfrm>
          <a:custGeom>
            <a:avLst/>
            <a:gdLst>
              <a:gd name="connsiteX0" fmla="*/ 0 w 2405005"/>
              <a:gd name="connsiteY0" fmla="*/ 0 h 646113"/>
              <a:gd name="connsiteX1" fmla="*/ 2405005 w 2405005"/>
              <a:gd name="connsiteY1" fmla="*/ 0 h 646113"/>
              <a:gd name="connsiteX2" fmla="*/ 2405005 w 2405005"/>
              <a:gd name="connsiteY2" fmla="*/ 1885 h 646113"/>
              <a:gd name="connsiteX3" fmla="*/ 2404451 w 2405005"/>
              <a:gd name="connsiteY3" fmla="*/ 1852 h 646113"/>
              <a:gd name="connsiteX4" fmla="*/ 2318385 w 2405005"/>
              <a:gd name="connsiteY4" fmla="*/ 78164 h 646113"/>
              <a:gd name="connsiteX5" fmla="*/ 2196366 w 2405005"/>
              <a:gd name="connsiteY5" fmla="*/ 536763 h 646113"/>
              <a:gd name="connsiteX6" fmla="*/ 2188970 w 2405005"/>
              <a:gd name="connsiteY6" fmla="*/ 573395 h 646113"/>
              <a:gd name="connsiteX7" fmla="*/ 2079264 w 2405005"/>
              <a:gd name="connsiteY7" fmla="*/ 646113 h 646113"/>
              <a:gd name="connsiteX8" fmla="*/ 319390 w 2405005"/>
              <a:gd name="connsiteY8" fmla="*/ 646112 h 646113"/>
              <a:gd name="connsiteX9" fmla="*/ 209684 w 2405005"/>
              <a:gd name="connsiteY9" fmla="*/ 573394 h 646113"/>
              <a:gd name="connsiteX10" fmla="*/ 204107 w 2405005"/>
              <a:gd name="connsiteY10" fmla="*/ 545772 h 646113"/>
              <a:gd name="connsiteX11" fmla="*/ 202977 w 2405005"/>
              <a:gd name="connsiteY11" fmla="*/ 545772 h 646113"/>
              <a:gd name="connsiteX12" fmla="*/ 78561 w 2405005"/>
              <a:gd name="connsiteY12" fmla="*/ 78164 h 646113"/>
              <a:gd name="connsiteX13" fmla="*/ 30191 w 2405005"/>
              <a:gd name="connsiteY13" fmla="*/ 14897 h 646113"/>
              <a:gd name="connsiteX14" fmla="*/ 0 w 2405005"/>
              <a:gd name="connsiteY14" fmla="*/ 4449 h 64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05005" h="646113">
                <a:moveTo>
                  <a:pt x="0" y="0"/>
                </a:moveTo>
                <a:lnTo>
                  <a:pt x="2405005" y="0"/>
                </a:lnTo>
                <a:lnTo>
                  <a:pt x="2405005" y="1885"/>
                </a:lnTo>
                <a:lnTo>
                  <a:pt x="2404451" y="1852"/>
                </a:lnTo>
                <a:cubicBezTo>
                  <a:pt x="2364299" y="7514"/>
                  <a:pt x="2329467" y="36513"/>
                  <a:pt x="2318385" y="78164"/>
                </a:cubicBezTo>
                <a:lnTo>
                  <a:pt x="2196366" y="536763"/>
                </a:lnTo>
                <a:lnTo>
                  <a:pt x="2188970" y="573395"/>
                </a:lnTo>
                <a:cubicBezTo>
                  <a:pt x="2170896" y="616128"/>
                  <a:pt x="2128582" y="646113"/>
                  <a:pt x="2079264" y="646113"/>
                </a:cubicBezTo>
                <a:lnTo>
                  <a:pt x="319390" y="646112"/>
                </a:lnTo>
                <a:cubicBezTo>
                  <a:pt x="270072" y="646112"/>
                  <a:pt x="227758" y="616127"/>
                  <a:pt x="209684" y="573394"/>
                </a:cubicBezTo>
                <a:lnTo>
                  <a:pt x="204107" y="545772"/>
                </a:lnTo>
                <a:lnTo>
                  <a:pt x="202977" y="545772"/>
                </a:lnTo>
                <a:lnTo>
                  <a:pt x="78561" y="78164"/>
                </a:lnTo>
                <a:cubicBezTo>
                  <a:pt x="71173" y="50396"/>
                  <a:pt x="53229" y="28252"/>
                  <a:pt x="30191" y="14897"/>
                </a:cubicBezTo>
                <a:lnTo>
                  <a:pt x="0" y="444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77" name="TextBox 50++"/>
          <p:cNvSpPr txBox="1"/>
          <p:nvPr/>
        </p:nvSpPr>
        <p:spPr>
          <a:xfrm>
            <a:off x="9334530" y="5130217"/>
            <a:ext cx="1846659"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演化闭环机制</a:t>
            </a:r>
          </a:p>
        </p:txBody>
      </p:sp>
      <p:grpSp>
        <p:nvGrpSpPr>
          <p:cNvPr id="78" name="组合 77"/>
          <p:cNvGrpSpPr/>
          <p:nvPr/>
        </p:nvGrpSpPr>
        <p:grpSpPr>
          <a:xfrm>
            <a:off x="9989308" y="2915479"/>
            <a:ext cx="625682" cy="627515"/>
            <a:chOff x="3795" y="0"/>
            <a:chExt cx="1899435" cy="1905000"/>
          </a:xfrm>
          <a:solidFill>
            <a:schemeClr val="accent1"/>
          </a:solidFill>
        </p:grpSpPr>
        <p:sp>
          <p:nvSpPr>
            <p:cNvPr id="79" name="任意多边形: 形状 78"/>
            <p:cNvSpPr/>
            <p:nvPr/>
          </p:nvSpPr>
          <p:spPr>
            <a:xfrm>
              <a:off x="495257" y="899213"/>
              <a:ext cx="688806" cy="651810"/>
            </a:xfrm>
            <a:custGeom>
              <a:avLst/>
              <a:gdLst>
                <a:gd name="connsiteX0" fmla="*/ 635675 w 688806"/>
                <a:gd name="connsiteY0" fmla="*/ 155102 h 651810"/>
                <a:gd name="connsiteX1" fmla="*/ 582544 w 688806"/>
                <a:gd name="connsiteY1" fmla="*/ 208389 h 651810"/>
                <a:gd name="connsiteX2" fmla="*/ 582544 w 688806"/>
                <a:gd name="connsiteY2" fmla="*/ 597572 h 651810"/>
                <a:gd name="connsiteX3" fmla="*/ 635675 w 688806"/>
                <a:gd name="connsiteY3" fmla="*/ 650859 h 651810"/>
                <a:gd name="connsiteX4" fmla="*/ 688806 w 688806"/>
                <a:gd name="connsiteY4" fmla="*/ 597572 h 651810"/>
                <a:gd name="connsiteX5" fmla="*/ 688806 w 688806"/>
                <a:gd name="connsiteY5" fmla="*/ 208389 h 651810"/>
                <a:gd name="connsiteX6" fmla="*/ 635675 w 688806"/>
                <a:gd name="connsiteY6" fmla="*/ 155102 h 651810"/>
                <a:gd name="connsiteX7" fmla="*/ 53131 w 688806"/>
                <a:gd name="connsiteY7" fmla="*/ 233129 h 651810"/>
                <a:gd name="connsiteX8" fmla="*/ 0 w 688806"/>
                <a:gd name="connsiteY8" fmla="*/ 286416 h 651810"/>
                <a:gd name="connsiteX9" fmla="*/ 0 w 688806"/>
                <a:gd name="connsiteY9" fmla="*/ 597572 h 651810"/>
                <a:gd name="connsiteX10" fmla="*/ 53131 w 688806"/>
                <a:gd name="connsiteY10" fmla="*/ 650859 h 651810"/>
                <a:gd name="connsiteX11" fmla="*/ 106262 w 688806"/>
                <a:gd name="connsiteY11" fmla="*/ 597572 h 651810"/>
                <a:gd name="connsiteX12" fmla="*/ 106262 w 688806"/>
                <a:gd name="connsiteY12" fmla="*/ 286416 h 651810"/>
                <a:gd name="connsiteX13" fmla="*/ 53131 w 688806"/>
                <a:gd name="connsiteY13" fmla="*/ 233129 h 651810"/>
                <a:gd name="connsiteX14" fmla="*/ 344403 w 688806"/>
                <a:gd name="connsiteY14" fmla="*/ 0 h 651810"/>
                <a:gd name="connsiteX15" fmla="*/ 291272 w 688806"/>
                <a:gd name="connsiteY15" fmla="*/ 53287 h 651810"/>
                <a:gd name="connsiteX16" fmla="*/ 291272 w 688806"/>
                <a:gd name="connsiteY16" fmla="*/ 598524 h 651810"/>
                <a:gd name="connsiteX17" fmla="*/ 344403 w 688806"/>
                <a:gd name="connsiteY17" fmla="*/ 651811 h 651810"/>
                <a:gd name="connsiteX18" fmla="*/ 397534 w 688806"/>
                <a:gd name="connsiteY18" fmla="*/ 598524 h 651810"/>
                <a:gd name="connsiteX19" fmla="*/ 397534 w 688806"/>
                <a:gd name="connsiteY19" fmla="*/ 53287 h 651810"/>
                <a:gd name="connsiteX20" fmla="*/ 344403 w 688806"/>
                <a:gd name="connsiteY20" fmla="*/ 0 h 6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8806" h="651810">
                  <a:moveTo>
                    <a:pt x="635675" y="155102"/>
                  </a:moveTo>
                  <a:cubicBezTo>
                    <a:pt x="608161" y="155102"/>
                    <a:pt x="582544" y="180794"/>
                    <a:pt x="582544" y="208389"/>
                  </a:cubicBezTo>
                  <a:lnTo>
                    <a:pt x="582544" y="597572"/>
                  </a:lnTo>
                  <a:cubicBezTo>
                    <a:pt x="582544" y="625167"/>
                    <a:pt x="608161" y="650859"/>
                    <a:pt x="635675" y="650859"/>
                  </a:cubicBezTo>
                  <a:cubicBezTo>
                    <a:pt x="663189" y="650859"/>
                    <a:pt x="688806" y="625167"/>
                    <a:pt x="688806" y="597572"/>
                  </a:cubicBezTo>
                  <a:lnTo>
                    <a:pt x="688806" y="208389"/>
                  </a:lnTo>
                  <a:cubicBezTo>
                    <a:pt x="688806" y="181746"/>
                    <a:pt x="662241" y="155102"/>
                    <a:pt x="635675" y="155102"/>
                  </a:cubicBezTo>
                  <a:close/>
                  <a:moveTo>
                    <a:pt x="53131" y="233129"/>
                  </a:moveTo>
                  <a:cubicBezTo>
                    <a:pt x="25617" y="233129"/>
                    <a:pt x="0" y="258821"/>
                    <a:pt x="0" y="286416"/>
                  </a:cubicBezTo>
                  <a:lnTo>
                    <a:pt x="0" y="597572"/>
                  </a:lnTo>
                  <a:cubicBezTo>
                    <a:pt x="0" y="625167"/>
                    <a:pt x="25617" y="650859"/>
                    <a:pt x="53131" y="650859"/>
                  </a:cubicBezTo>
                  <a:cubicBezTo>
                    <a:pt x="80645" y="650859"/>
                    <a:pt x="106262" y="625167"/>
                    <a:pt x="106262" y="597572"/>
                  </a:cubicBezTo>
                  <a:lnTo>
                    <a:pt x="106262" y="286416"/>
                  </a:lnTo>
                  <a:cubicBezTo>
                    <a:pt x="106262" y="258821"/>
                    <a:pt x="80645" y="233129"/>
                    <a:pt x="53131" y="233129"/>
                  </a:cubicBezTo>
                  <a:close/>
                  <a:moveTo>
                    <a:pt x="344403" y="0"/>
                  </a:moveTo>
                  <a:cubicBezTo>
                    <a:pt x="316889" y="0"/>
                    <a:pt x="291272" y="25692"/>
                    <a:pt x="291272" y="53287"/>
                  </a:cubicBezTo>
                  <a:lnTo>
                    <a:pt x="291272" y="598524"/>
                  </a:lnTo>
                  <a:cubicBezTo>
                    <a:pt x="291272" y="626119"/>
                    <a:pt x="316889" y="651811"/>
                    <a:pt x="344403" y="651811"/>
                  </a:cubicBezTo>
                  <a:cubicBezTo>
                    <a:pt x="371917" y="651811"/>
                    <a:pt x="397534" y="626119"/>
                    <a:pt x="397534" y="598524"/>
                  </a:cubicBezTo>
                  <a:lnTo>
                    <a:pt x="397534" y="53287"/>
                  </a:lnTo>
                  <a:cubicBezTo>
                    <a:pt x="397534" y="25692"/>
                    <a:pt x="371917" y="0"/>
                    <a:pt x="344403" y="0"/>
                  </a:cubicBezTo>
                  <a:close/>
                </a:path>
              </a:pathLst>
            </a:custGeom>
            <a:grpFill/>
            <a:ln w="18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80" name="任意多边形: 形状 79"/>
            <p:cNvSpPr/>
            <p:nvPr/>
          </p:nvSpPr>
          <p:spPr>
            <a:xfrm>
              <a:off x="355885" y="355992"/>
              <a:ext cx="1189714" cy="1195031"/>
            </a:xfrm>
            <a:custGeom>
              <a:avLst/>
              <a:gdLst>
                <a:gd name="connsiteX0" fmla="*/ 1158350 w 1189714"/>
                <a:gd name="connsiteY0" fmla="*/ 7499 h 1195031"/>
                <a:gd name="connsiteX1" fmla="*/ 1121348 w 1189714"/>
                <a:gd name="connsiteY1" fmla="*/ 4644 h 1195031"/>
                <a:gd name="connsiteX2" fmla="*/ 918311 w 1189714"/>
                <a:gd name="connsiteY2" fmla="*/ 4644 h 1195031"/>
                <a:gd name="connsiteX3" fmla="*/ 865180 w 1189714"/>
                <a:gd name="connsiteY3" fmla="*/ 57931 h 1195031"/>
                <a:gd name="connsiteX4" fmla="*/ 918311 w 1189714"/>
                <a:gd name="connsiteY4" fmla="*/ 111217 h 1195031"/>
                <a:gd name="connsiteX5" fmla="*/ 1008444 w 1189714"/>
                <a:gd name="connsiteY5" fmla="*/ 111217 h 1195031"/>
                <a:gd name="connsiteX6" fmla="*/ 697248 w 1189714"/>
                <a:gd name="connsiteY6" fmla="*/ 445211 h 1195031"/>
                <a:gd name="connsiteX7" fmla="*/ 442978 w 1189714"/>
                <a:gd name="connsiteY7" fmla="*/ 176874 h 1195031"/>
                <a:gd name="connsiteX8" fmla="*/ 389847 w 1189714"/>
                <a:gd name="connsiteY8" fmla="*/ 166407 h 1195031"/>
                <a:gd name="connsiteX9" fmla="*/ 369923 w 1189714"/>
                <a:gd name="connsiteY9" fmla="*/ 176874 h 1195031"/>
                <a:gd name="connsiteX10" fmla="*/ 14135 w 1189714"/>
                <a:gd name="connsiteY10" fmla="*/ 559397 h 1195031"/>
                <a:gd name="connsiteX11" fmla="*/ 12237 w 1189714"/>
                <a:gd name="connsiteY11" fmla="*/ 635521 h 1195031"/>
                <a:gd name="connsiteX12" fmla="*/ 14135 w 1189714"/>
                <a:gd name="connsiteY12" fmla="*/ 637424 h 1195031"/>
                <a:gd name="connsiteX13" fmla="*/ 50188 w 1189714"/>
                <a:gd name="connsiteY13" fmla="*/ 651697 h 1195031"/>
                <a:gd name="connsiteX14" fmla="*/ 86241 w 1189714"/>
                <a:gd name="connsiteY14" fmla="*/ 637424 h 1195031"/>
                <a:gd name="connsiteX15" fmla="*/ 412618 w 1189714"/>
                <a:gd name="connsiteY15" fmla="*/ 286302 h 1195031"/>
                <a:gd name="connsiteX16" fmla="*/ 666888 w 1189714"/>
                <a:gd name="connsiteY16" fmla="*/ 561300 h 1195031"/>
                <a:gd name="connsiteX17" fmla="*/ 702941 w 1189714"/>
                <a:gd name="connsiteY17" fmla="*/ 575573 h 1195031"/>
                <a:gd name="connsiteX18" fmla="*/ 738994 w 1189714"/>
                <a:gd name="connsiteY18" fmla="*/ 561300 h 1195031"/>
                <a:gd name="connsiteX19" fmla="*/ 1083397 w 1189714"/>
                <a:gd name="connsiteY19" fmla="*/ 192099 h 1195031"/>
                <a:gd name="connsiteX20" fmla="*/ 1083397 w 1189714"/>
                <a:gd name="connsiteY20" fmla="*/ 298672 h 1195031"/>
                <a:gd name="connsiteX21" fmla="*/ 1136528 w 1189714"/>
                <a:gd name="connsiteY21" fmla="*/ 351959 h 1195031"/>
                <a:gd name="connsiteX22" fmla="*/ 1189659 w 1189714"/>
                <a:gd name="connsiteY22" fmla="*/ 298672 h 1195031"/>
                <a:gd name="connsiteX23" fmla="*/ 1189659 w 1189714"/>
                <a:gd name="connsiteY23" fmla="*/ 64592 h 1195031"/>
                <a:gd name="connsiteX24" fmla="*/ 1158350 w 1189714"/>
                <a:gd name="connsiteY24" fmla="*/ 7499 h 1195031"/>
                <a:gd name="connsiteX25" fmla="*/ 1066319 w 1189714"/>
                <a:gd name="connsiteY25" fmla="*/ 543220 h 1195031"/>
                <a:gd name="connsiteX26" fmla="*/ 1013188 w 1189714"/>
                <a:gd name="connsiteY26" fmla="*/ 596507 h 1195031"/>
                <a:gd name="connsiteX27" fmla="*/ 1013188 w 1189714"/>
                <a:gd name="connsiteY27" fmla="*/ 1141745 h 1195031"/>
                <a:gd name="connsiteX28" fmla="*/ 1066319 w 1189714"/>
                <a:gd name="connsiteY28" fmla="*/ 1195031 h 1195031"/>
                <a:gd name="connsiteX29" fmla="*/ 1119450 w 1189714"/>
                <a:gd name="connsiteY29" fmla="*/ 1141745 h 1195031"/>
                <a:gd name="connsiteX30" fmla="*/ 1119450 w 1189714"/>
                <a:gd name="connsiteY30" fmla="*/ 596507 h 1195031"/>
                <a:gd name="connsiteX31" fmla="*/ 1066319 w 1189714"/>
                <a:gd name="connsiteY31" fmla="*/ 543220 h 119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89714" h="1195031">
                  <a:moveTo>
                    <a:pt x="1158350" y="7499"/>
                  </a:moveTo>
                  <a:cubicBezTo>
                    <a:pt x="1146016" y="-3920"/>
                    <a:pt x="1131784" y="-114"/>
                    <a:pt x="1121348" y="4644"/>
                  </a:cubicBezTo>
                  <a:lnTo>
                    <a:pt x="918311" y="4644"/>
                  </a:lnTo>
                  <a:cubicBezTo>
                    <a:pt x="890797" y="4644"/>
                    <a:pt x="865180" y="30336"/>
                    <a:pt x="865180" y="57931"/>
                  </a:cubicBezTo>
                  <a:cubicBezTo>
                    <a:pt x="865180" y="85526"/>
                    <a:pt x="890797" y="111217"/>
                    <a:pt x="918311" y="111217"/>
                  </a:cubicBezTo>
                  <a:lnTo>
                    <a:pt x="1008444" y="111217"/>
                  </a:lnTo>
                  <a:lnTo>
                    <a:pt x="697248" y="445211"/>
                  </a:lnTo>
                  <a:lnTo>
                    <a:pt x="442978" y="176874"/>
                  </a:lnTo>
                  <a:cubicBezTo>
                    <a:pt x="426849" y="160698"/>
                    <a:pt x="409771" y="157843"/>
                    <a:pt x="389847" y="166407"/>
                  </a:cubicBezTo>
                  <a:cubicBezTo>
                    <a:pt x="379411" y="168310"/>
                    <a:pt x="371820" y="174971"/>
                    <a:pt x="369923" y="176874"/>
                  </a:cubicBezTo>
                  <a:lnTo>
                    <a:pt x="14135" y="559397"/>
                  </a:lnTo>
                  <a:cubicBezTo>
                    <a:pt x="-3892" y="577476"/>
                    <a:pt x="-4841" y="610780"/>
                    <a:pt x="12237" y="635521"/>
                  </a:cubicBezTo>
                  <a:lnTo>
                    <a:pt x="14135" y="637424"/>
                  </a:lnTo>
                  <a:cubicBezTo>
                    <a:pt x="22674" y="645988"/>
                    <a:pt x="35956" y="651697"/>
                    <a:pt x="50188" y="651697"/>
                  </a:cubicBezTo>
                  <a:cubicBezTo>
                    <a:pt x="64419" y="651697"/>
                    <a:pt x="77702" y="646939"/>
                    <a:pt x="86241" y="637424"/>
                  </a:cubicBezTo>
                  <a:lnTo>
                    <a:pt x="412618" y="286302"/>
                  </a:lnTo>
                  <a:lnTo>
                    <a:pt x="666888" y="561300"/>
                  </a:lnTo>
                  <a:cubicBezTo>
                    <a:pt x="675427" y="569864"/>
                    <a:pt x="688709" y="575573"/>
                    <a:pt x="702941" y="575573"/>
                  </a:cubicBezTo>
                  <a:cubicBezTo>
                    <a:pt x="717172" y="575573"/>
                    <a:pt x="730455" y="570815"/>
                    <a:pt x="738994" y="561300"/>
                  </a:cubicBezTo>
                  <a:lnTo>
                    <a:pt x="1083397" y="192099"/>
                  </a:lnTo>
                  <a:lnTo>
                    <a:pt x="1083397" y="298672"/>
                  </a:lnTo>
                  <a:cubicBezTo>
                    <a:pt x="1083397" y="326267"/>
                    <a:pt x="1109014" y="351959"/>
                    <a:pt x="1136528" y="351959"/>
                  </a:cubicBezTo>
                  <a:cubicBezTo>
                    <a:pt x="1164042" y="351959"/>
                    <a:pt x="1189659" y="326267"/>
                    <a:pt x="1189659" y="298672"/>
                  </a:cubicBezTo>
                  <a:lnTo>
                    <a:pt x="1189659" y="64592"/>
                  </a:lnTo>
                  <a:cubicBezTo>
                    <a:pt x="1190608" y="38900"/>
                    <a:pt x="1179223" y="18917"/>
                    <a:pt x="1158350" y="7499"/>
                  </a:cubicBezTo>
                  <a:close/>
                  <a:moveTo>
                    <a:pt x="1066319" y="543220"/>
                  </a:moveTo>
                  <a:cubicBezTo>
                    <a:pt x="1038805" y="543220"/>
                    <a:pt x="1013188" y="568912"/>
                    <a:pt x="1013188" y="596507"/>
                  </a:cubicBezTo>
                  <a:lnTo>
                    <a:pt x="1013188" y="1141745"/>
                  </a:lnTo>
                  <a:cubicBezTo>
                    <a:pt x="1013188" y="1169339"/>
                    <a:pt x="1038805" y="1195031"/>
                    <a:pt x="1066319" y="1195031"/>
                  </a:cubicBezTo>
                  <a:cubicBezTo>
                    <a:pt x="1093834" y="1195031"/>
                    <a:pt x="1119450" y="1169339"/>
                    <a:pt x="1119450" y="1141745"/>
                  </a:cubicBezTo>
                  <a:lnTo>
                    <a:pt x="1119450" y="596507"/>
                  </a:lnTo>
                  <a:cubicBezTo>
                    <a:pt x="1119450" y="568912"/>
                    <a:pt x="1093834" y="543220"/>
                    <a:pt x="1066319" y="543220"/>
                  </a:cubicBezTo>
                  <a:close/>
                </a:path>
              </a:pathLst>
            </a:custGeom>
            <a:grpFill/>
            <a:ln w="18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81" name="任意多边形: 形状 80"/>
            <p:cNvSpPr/>
            <p:nvPr/>
          </p:nvSpPr>
          <p:spPr>
            <a:xfrm>
              <a:off x="3795" y="0"/>
              <a:ext cx="1899435" cy="1905000"/>
            </a:xfrm>
            <a:custGeom>
              <a:avLst/>
              <a:gdLst>
                <a:gd name="connsiteX0" fmla="*/ 949718 w 1899435"/>
                <a:gd name="connsiteY0" fmla="*/ 1905000 h 1905000"/>
                <a:gd name="connsiteX1" fmla="*/ 0 w 1899435"/>
                <a:gd name="connsiteY1" fmla="*/ 952500 h 1905000"/>
                <a:gd name="connsiteX2" fmla="*/ 949718 w 1899435"/>
                <a:gd name="connsiteY2" fmla="*/ 0 h 1905000"/>
                <a:gd name="connsiteX3" fmla="*/ 1899435 w 1899435"/>
                <a:gd name="connsiteY3" fmla="*/ 952500 h 1905000"/>
                <a:gd name="connsiteX4" fmla="*/ 949718 w 1899435"/>
                <a:gd name="connsiteY4" fmla="*/ 1905000 h 1905000"/>
                <a:gd name="connsiteX5" fmla="*/ 949718 w 1899435"/>
                <a:gd name="connsiteY5" fmla="*/ 105622 h 1905000"/>
                <a:gd name="connsiteX6" fmla="*/ 105313 w 1899435"/>
                <a:gd name="connsiteY6" fmla="*/ 952500 h 1905000"/>
                <a:gd name="connsiteX7" fmla="*/ 949718 w 1899435"/>
                <a:gd name="connsiteY7" fmla="*/ 1799378 h 1905000"/>
                <a:gd name="connsiteX8" fmla="*/ 1794122 w 1899435"/>
                <a:gd name="connsiteY8" fmla="*/ 952500 h 1905000"/>
                <a:gd name="connsiteX9" fmla="*/ 949718 w 1899435"/>
                <a:gd name="connsiteY9" fmla="*/ 10562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9435" h="1905000">
                  <a:moveTo>
                    <a:pt x="949718" y="1905000"/>
                  </a:moveTo>
                  <a:cubicBezTo>
                    <a:pt x="425997" y="1905000"/>
                    <a:pt x="0" y="1477755"/>
                    <a:pt x="0" y="952500"/>
                  </a:cubicBezTo>
                  <a:cubicBezTo>
                    <a:pt x="0" y="427245"/>
                    <a:pt x="425997" y="0"/>
                    <a:pt x="949718" y="0"/>
                  </a:cubicBezTo>
                  <a:cubicBezTo>
                    <a:pt x="1473438" y="0"/>
                    <a:pt x="1899435" y="427245"/>
                    <a:pt x="1899435" y="952500"/>
                  </a:cubicBezTo>
                  <a:cubicBezTo>
                    <a:pt x="1899435" y="1477755"/>
                    <a:pt x="1473438" y="1905000"/>
                    <a:pt x="949718" y="1905000"/>
                  </a:cubicBezTo>
                  <a:close/>
                  <a:moveTo>
                    <a:pt x="949718" y="105622"/>
                  </a:moveTo>
                  <a:cubicBezTo>
                    <a:pt x="483872" y="105622"/>
                    <a:pt x="105313" y="485290"/>
                    <a:pt x="105313" y="952500"/>
                  </a:cubicBezTo>
                  <a:cubicBezTo>
                    <a:pt x="105313" y="1419710"/>
                    <a:pt x="483872" y="1799378"/>
                    <a:pt x="949718" y="1799378"/>
                  </a:cubicBezTo>
                  <a:cubicBezTo>
                    <a:pt x="1415563" y="1799378"/>
                    <a:pt x="1794122" y="1419710"/>
                    <a:pt x="1794122" y="952500"/>
                  </a:cubicBezTo>
                  <a:cubicBezTo>
                    <a:pt x="1794122" y="485290"/>
                    <a:pt x="1415563" y="105622"/>
                    <a:pt x="949718" y="105622"/>
                  </a:cubicBezTo>
                  <a:close/>
                </a:path>
              </a:pathLst>
            </a:custGeom>
            <a:grpFill/>
            <a:ln w="18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graphicFrame>
        <p:nvGraphicFramePr>
          <p:cNvPr id="82" name="Chart 81"/>
          <p:cNvGraphicFramePr>
            <a:graphicFrameLocks noGrp="1"/>
          </p:cNvGraphicFramePr>
          <p:nvPr/>
        </p:nvGraphicFramePr>
        <p:xfrm>
          <a:off x="442913" y="975581"/>
          <a:ext cx="2500000" cy="1300000"/>
        </p:xfrm>
        <a:graphic>
          <a:graphicData uri="http://schemas.openxmlformats.org/drawingml/2006/chart">
            <c:chart xmlns:c="http://schemas.openxmlformats.org/drawingml/2006/chart" r:id="rId3"/>
          </a:graphicData>
        </a:graphic>
      </p:graphicFrame>
      <p:graphicFrame>
        <p:nvGraphicFramePr>
          <p:cNvPr id="83" name="Chart 82"/>
          <p:cNvGraphicFramePr>
            <a:graphicFrameLocks noGrp="1"/>
          </p:cNvGraphicFramePr>
          <p:nvPr/>
        </p:nvGraphicFramePr>
        <p:xfrm>
          <a:off x="129074" y="836204"/>
          <a:ext cx="2500000" cy="1300000"/>
        </p:xfrm>
        <a:graphic>
          <a:graphicData uri="http://schemas.openxmlformats.org/drawingml/2006/chart">
            <c:chart xmlns:c="http://schemas.openxmlformats.org/drawingml/2006/chart" r:id="rId4"/>
          </a:graphicData>
        </a:graphic>
      </p:graphicFrame>
      <p:graphicFrame>
        <p:nvGraphicFramePr>
          <p:cNvPr id="84" name="Chart 83"/>
          <p:cNvGraphicFramePr>
            <a:graphicFrameLocks noGrp="1"/>
          </p:cNvGraphicFramePr>
          <p:nvPr/>
        </p:nvGraphicFramePr>
        <p:xfrm>
          <a:off x="129074" y="2264896"/>
          <a:ext cx="2500000" cy="1300000"/>
        </p:xfrm>
        <a:graphic>
          <a:graphicData uri="http://schemas.openxmlformats.org/drawingml/2006/chart">
            <c:chart xmlns:c="http://schemas.openxmlformats.org/drawingml/2006/chart" r:id="rId5"/>
          </a:graphicData>
        </a:graphic>
      </p:graphicFrame>
      <p:graphicFrame>
        <p:nvGraphicFramePr>
          <p:cNvPr id="85" name="Chart 84"/>
          <p:cNvGraphicFramePr>
            <a:graphicFrameLocks noGrp="1"/>
          </p:cNvGraphicFramePr>
          <p:nvPr/>
        </p:nvGraphicFramePr>
        <p:xfrm>
          <a:off x="129074" y="3690668"/>
          <a:ext cx="2500000" cy="1300000"/>
        </p:xfrm>
        <a:graphic>
          <a:graphicData uri="http://schemas.openxmlformats.org/drawingml/2006/chart">
            <c:chart xmlns:c="http://schemas.openxmlformats.org/drawingml/2006/chart" r:id="rId6"/>
          </a:graphicData>
        </a:graphic>
      </p:graphicFrame>
      <p:graphicFrame>
        <p:nvGraphicFramePr>
          <p:cNvPr id="86" name="Chart 85"/>
          <p:cNvGraphicFramePr>
            <a:graphicFrameLocks noGrp="1"/>
          </p:cNvGraphicFramePr>
          <p:nvPr/>
        </p:nvGraphicFramePr>
        <p:xfrm>
          <a:off x="129074" y="5116441"/>
          <a:ext cx="2500000" cy="1300000"/>
        </p:xfrm>
        <a:graphic>
          <a:graphicData uri="http://schemas.openxmlformats.org/drawingml/2006/chart">
            <c:chart xmlns:c="http://schemas.openxmlformats.org/drawingml/2006/chart" r:id="rId7"/>
          </a:graphicData>
        </a:graphic>
      </p:graphicFrame>
      <p:graphicFrame>
        <p:nvGraphicFramePr>
          <p:cNvPr id="87" name="Chart 86"/>
          <p:cNvGraphicFramePr>
            <a:graphicFrameLocks noGrp="1"/>
          </p:cNvGraphicFramePr>
          <p:nvPr/>
        </p:nvGraphicFramePr>
        <p:xfrm>
          <a:off x="3359147" y="943429"/>
          <a:ext cx="2500000" cy="1300000"/>
        </p:xfrm>
        <a:graphic>
          <a:graphicData uri="http://schemas.openxmlformats.org/drawingml/2006/chart">
            <c:chart xmlns:c="http://schemas.openxmlformats.org/drawingml/2006/chart" r:id="rId8"/>
          </a:graphicData>
        </a:graphic>
      </p:graphicFrame>
      <p:graphicFrame>
        <p:nvGraphicFramePr>
          <p:cNvPr id="88" name="Chart 87"/>
          <p:cNvGraphicFramePr>
            <a:graphicFrameLocks noGrp="1"/>
          </p:cNvGraphicFramePr>
          <p:nvPr/>
        </p:nvGraphicFramePr>
        <p:xfrm>
          <a:off x="3359147" y="2402114"/>
          <a:ext cx="2500000" cy="1300000"/>
        </p:xfrm>
        <a:graphic>
          <a:graphicData uri="http://schemas.openxmlformats.org/drawingml/2006/chart">
            <c:chart xmlns:c="http://schemas.openxmlformats.org/drawingml/2006/chart" r:id="rId9"/>
          </a:graphicData>
        </a:graphic>
      </p:graphicFrame>
      <p:graphicFrame>
        <p:nvGraphicFramePr>
          <p:cNvPr id="89" name="Chart 88"/>
          <p:cNvGraphicFramePr>
            <a:graphicFrameLocks noGrp="1"/>
          </p:cNvGraphicFramePr>
          <p:nvPr/>
        </p:nvGraphicFramePr>
        <p:xfrm>
          <a:off x="3359147" y="3817257"/>
          <a:ext cx="2500000" cy="1300000"/>
        </p:xfrm>
        <a:graphic>
          <a:graphicData uri="http://schemas.openxmlformats.org/drawingml/2006/chart">
            <c:chart xmlns:c="http://schemas.openxmlformats.org/drawingml/2006/chart" r:id="rId10"/>
          </a:graphicData>
        </a:graphic>
      </p:graphicFrame>
      <p:graphicFrame>
        <p:nvGraphicFramePr>
          <p:cNvPr id="90" name="Chart 89"/>
          <p:cNvGraphicFramePr>
            <a:graphicFrameLocks noGrp="1"/>
          </p:cNvGraphicFramePr>
          <p:nvPr/>
        </p:nvGraphicFramePr>
        <p:xfrm>
          <a:off x="3359147" y="5341257"/>
          <a:ext cx="2500000" cy="1300000"/>
        </p:xfrm>
        <a:graphic>
          <a:graphicData uri="http://schemas.openxmlformats.org/drawingml/2006/chart">
            <c:chart xmlns:c="http://schemas.openxmlformats.org/drawingml/2006/chart" r:id="rId11"/>
          </a:graphicData>
        </a:graphic>
      </p:graphicFrame>
      <p:graphicFrame>
        <p:nvGraphicFramePr>
          <p:cNvPr id="91" name="Chart 90"/>
          <p:cNvGraphicFramePr>
            <a:graphicFrameLocks noGrp="1"/>
          </p:cNvGraphicFramePr>
          <p:nvPr/>
        </p:nvGraphicFramePr>
        <p:xfrm>
          <a:off x="8715829" y="2018697"/>
          <a:ext cx="2500000" cy="1300000"/>
        </p:xfrm>
        <a:graphic>
          <a:graphicData uri="http://schemas.openxmlformats.org/drawingml/2006/chart">
            <c:chart xmlns:c="http://schemas.openxmlformats.org/drawingml/2006/chart" r:id="rId12"/>
          </a:graphicData>
        </a:graphic>
      </p:graphicFrame>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红书平北职场PPT1"/>
          <p:cNvSpPr/>
          <p:nvPr/>
        </p:nvSpPr>
        <p:spPr>
          <a:xfrm>
            <a:off x="5054871" y="4222907"/>
            <a:ext cx="3108643" cy="2348785"/>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6" name="小红书平北职场PPT3"/>
          <p:cNvSpPr txBox="1"/>
          <p:nvPr/>
        </p:nvSpPr>
        <p:spPr>
          <a:xfrm>
            <a:off x="5019997" y="4410615"/>
            <a:ext cx="2730160" cy="3182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核心指标验证</a:t>
            </a:r>
          </a:p>
        </p:txBody>
      </p:sp>
      <p:sp>
        <p:nvSpPr>
          <p:cNvPr id="7" name="小红书平北职场PPT4"/>
          <p:cNvSpPr/>
          <p:nvPr/>
        </p:nvSpPr>
        <p:spPr>
          <a:xfrm>
            <a:off x="5054871" y="925554"/>
            <a:ext cx="6772182" cy="3008769"/>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16" name="小红书平北职场PPT8"/>
          <p:cNvSpPr/>
          <p:nvPr/>
        </p:nvSpPr>
        <p:spPr>
          <a:xfrm>
            <a:off x="473512" y="925553"/>
            <a:ext cx="4283292" cy="5626875"/>
          </a:xfrm>
          <a:prstGeom prst="roundRect">
            <a:avLst>
              <a:gd name="adj" fmla="val 0"/>
            </a:avLst>
          </a:prstGeom>
          <a:solidFill>
            <a:schemeClr val="bg1">
              <a:lumMod val="95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38" name="小红书平北职场PPT14"/>
          <p:cNvSpPr txBox="1"/>
          <p:nvPr/>
        </p:nvSpPr>
        <p:spPr>
          <a:xfrm>
            <a:off x="600722" y="6257764"/>
            <a:ext cx="991485"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Normal" panose="020B0400000000000000" charset="-122"/>
                <a:cs typeface="思源黑体 CN Normal" panose="020B0400000000000000" charset="-122"/>
              </a:rPr>
              <a:t>（单位：%）</a:t>
            </a:r>
          </a:p>
        </p:txBody>
      </p:sp>
      <p:sp>
        <p:nvSpPr>
          <p:cNvPr id="40" name="小红书平北职场PPT16"/>
          <p:cNvSpPr/>
          <p:nvPr/>
        </p:nvSpPr>
        <p:spPr>
          <a:xfrm>
            <a:off x="5983160" y="2069621"/>
            <a:ext cx="872752" cy="872752"/>
          </a:xfrm>
          <a:prstGeom prst="ellipse">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思源黑体 CN Normal" panose="020B0400000000000000" charset="-122"/>
            </a:endParaRPr>
          </a:p>
        </p:txBody>
      </p:sp>
      <p:sp>
        <p:nvSpPr>
          <p:cNvPr id="73" name="小红书平北职场PPT19"/>
          <p:cNvSpPr/>
          <p:nvPr/>
        </p:nvSpPr>
        <p:spPr>
          <a:xfrm>
            <a:off x="8533771" y="4222204"/>
            <a:ext cx="3293282" cy="2330224"/>
          </a:xfrm>
          <a:prstGeom prst="roundRect">
            <a:avLst>
              <a:gd name="adj" fmla="val 0"/>
            </a:avLst>
          </a:prstGeom>
          <a:gradFill flip="none" rotWithShape="1">
            <a:gsLst>
              <a:gs pos="0">
                <a:schemeClr val="accent1">
                  <a:lumMod val="60000"/>
                  <a:lumOff val="40000"/>
                </a:schemeClr>
              </a:gs>
              <a:gs pos="100000">
                <a:schemeClr val="accent1"/>
              </a:gs>
            </a:gsLst>
            <a:lin ang="2700000" scaled="1"/>
            <a:tileRect/>
          </a:gradFill>
          <a:ln w="9525">
            <a:noFill/>
            <a:round/>
          </a:ln>
          <a:effectLst>
            <a:outerShdw blurRad="165100" dist="76200" dir="5400000" algn="ctr" rotWithShape="0">
              <a:schemeClr val="accent1">
                <a:alpha val="40000"/>
              </a:schemeClr>
            </a:outerShdw>
          </a:effectLst>
        </p:spPr>
        <p:txBody>
          <a:bodyPr vert="horz" wrap="square" lIns="121920" tIns="60960" rIns="121920" bIns="60960" numCol="1" rtlCol="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85" name="小红书平北职场PPT22"/>
          <p:cNvSpPr/>
          <p:nvPr/>
        </p:nvSpPr>
        <p:spPr>
          <a:xfrm>
            <a:off x="5090576" y="5510580"/>
            <a:ext cx="2968157" cy="282399"/>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小红书平北职场PPT23"/>
          <p:cNvSpPr/>
          <p:nvPr/>
        </p:nvSpPr>
        <p:spPr>
          <a:xfrm>
            <a:off x="5090576" y="6161350"/>
            <a:ext cx="2968157" cy="282399"/>
          </a:xfrm>
          <a:prstGeom prst="roundRect">
            <a:avLst>
              <a:gd name="adj" fmla="val 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cxnSp>
        <p:nvCxnSpPr>
          <p:cNvPr id="88" name="小红书平北职场PPT25"/>
          <p:cNvCxnSpPr/>
          <p:nvPr/>
        </p:nvCxnSpPr>
        <p:spPr>
          <a:xfrm>
            <a:off x="5136246" y="5120570"/>
            <a:ext cx="292248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89" name="Chart 88"/>
          <p:cNvGraphicFramePr>
            <a:graphicFrameLocks noGrp="1"/>
          </p:cNvGraphicFramePr>
          <p:nvPr/>
        </p:nvGraphicFramePr>
        <p:xfrm>
          <a:off x="495868" y="1536902"/>
          <a:ext cx="3000000" cy="1400000"/>
        </p:xfrm>
        <a:graphic>
          <a:graphicData uri="http://schemas.openxmlformats.org/drawingml/2006/chart">
            <c:chart xmlns:c="http://schemas.openxmlformats.org/drawingml/2006/chart" r:id="rId3"/>
          </a:graphicData>
        </a:graphic>
      </p:graphicFrame>
      <p:graphicFrame>
        <p:nvGraphicFramePr>
          <p:cNvPr id="90" name="Chart 89"/>
          <p:cNvGraphicFramePr>
            <a:graphicFrameLocks noGrp="1"/>
          </p:cNvGraphicFramePr>
          <p:nvPr/>
        </p:nvGraphicFramePr>
        <p:xfrm>
          <a:off x="4714976" y="1531303"/>
          <a:ext cx="2800000" cy="1400000"/>
        </p:xfrm>
        <a:graphic>
          <a:graphicData uri="http://schemas.openxmlformats.org/drawingml/2006/chart">
            <c:chart xmlns:c="http://schemas.openxmlformats.org/drawingml/2006/chart" r:id="rId4"/>
          </a:graphicData>
        </a:graphic>
      </p:graphicFrame>
      <p:graphicFrame>
        <p:nvGraphicFramePr>
          <p:cNvPr id="91" name="Chart 90"/>
          <p:cNvGraphicFramePr>
            <a:graphicFrameLocks noGrp="1"/>
          </p:cNvGraphicFramePr>
          <p:nvPr/>
        </p:nvGraphicFramePr>
        <p:xfrm>
          <a:off x="7750157" y="1525969"/>
          <a:ext cx="2800000" cy="1400000"/>
        </p:xfrm>
        <a:graphic>
          <a:graphicData uri="http://schemas.openxmlformats.org/drawingml/2006/chart">
            <c:chart xmlns:c="http://schemas.openxmlformats.org/drawingml/2006/chart" r:id="rId5"/>
          </a:graphicData>
        </a:graphic>
      </p:graphicFrame>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箭头: 右 65"/>
          <p:cNvSpPr/>
          <p:nvPr/>
        </p:nvSpPr>
        <p:spPr>
          <a:xfrm>
            <a:off x="5664745" y="983362"/>
            <a:ext cx="5480776" cy="1108589"/>
          </a:xfrm>
          <a:prstGeom prst="rightArrow">
            <a:avLst>
              <a:gd name="adj1" fmla="val 78903"/>
              <a:gd name="adj2" fmla="val 53491"/>
            </a:avLst>
          </a:prstGeom>
          <a:gradFill>
            <a:gsLst>
              <a:gs pos="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部署运维：公网可访问</a:t>
            </a:r>
          </a:p>
        </p:txBody>
      </p:sp>
      <p:sp>
        <p:nvSpPr>
          <p:cNvPr id="4" name="任意多边形: 形状 3"/>
          <p:cNvSpPr/>
          <p:nvPr/>
        </p:nvSpPr>
        <p:spPr>
          <a:xfrm>
            <a:off x="4444061" y="1979303"/>
            <a:ext cx="4277073" cy="4350463"/>
          </a:xfrm>
          <a:custGeom>
            <a:avLst/>
            <a:gdLst>
              <a:gd name="connsiteX0" fmla="*/ 4458091 w 4458091"/>
              <a:gd name="connsiteY0" fmla="*/ 4457700 h 4534588"/>
              <a:gd name="connsiteX1" fmla="*/ 4165991 w 4458091"/>
              <a:gd name="connsiteY1" fmla="*/ 4495800 h 4534588"/>
              <a:gd name="connsiteX2" fmla="*/ 3772291 w 4458091"/>
              <a:gd name="connsiteY2" fmla="*/ 4394200 h 4534588"/>
              <a:gd name="connsiteX3" fmla="*/ 3492891 w 4458091"/>
              <a:gd name="connsiteY3" fmla="*/ 4533900 h 4534588"/>
              <a:gd name="connsiteX4" fmla="*/ 3226191 w 4458091"/>
              <a:gd name="connsiteY4" fmla="*/ 4445000 h 4534588"/>
              <a:gd name="connsiteX5" fmla="*/ 2984891 w 4458091"/>
              <a:gd name="connsiteY5" fmla="*/ 4381500 h 4534588"/>
              <a:gd name="connsiteX6" fmla="*/ 2654691 w 4458091"/>
              <a:gd name="connsiteY6" fmla="*/ 4343400 h 4534588"/>
              <a:gd name="connsiteX7" fmla="*/ 2337191 w 4458091"/>
              <a:gd name="connsiteY7" fmla="*/ 4152900 h 4534588"/>
              <a:gd name="connsiteX8" fmla="*/ 2172091 w 4458091"/>
              <a:gd name="connsiteY8" fmla="*/ 3962400 h 4534588"/>
              <a:gd name="connsiteX9" fmla="*/ 1968891 w 4458091"/>
              <a:gd name="connsiteY9" fmla="*/ 3886200 h 4534588"/>
              <a:gd name="connsiteX10" fmla="*/ 1841891 w 4458091"/>
              <a:gd name="connsiteY10" fmla="*/ 3708400 h 4534588"/>
              <a:gd name="connsiteX11" fmla="*/ 1740291 w 4458091"/>
              <a:gd name="connsiteY11" fmla="*/ 3619500 h 4534588"/>
              <a:gd name="connsiteX12" fmla="*/ 1689491 w 4458091"/>
              <a:gd name="connsiteY12" fmla="*/ 3365500 h 4534588"/>
              <a:gd name="connsiteX13" fmla="*/ 1613291 w 4458091"/>
              <a:gd name="connsiteY13" fmla="*/ 3340100 h 4534588"/>
              <a:gd name="connsiteX14" fmla="*/ 1410091 w 4458091"/>
              <a:gd name="connsiteY14" fmla="*/ 3441700 h 4534588"/>
              <a:gd name="connsiteX15" fmla="*/ 990991 w 4458091"/>
              <a:gd name="connsiteY15" fmla="*/ 3492500 h 4534588"/>
              <a:gd name="connsiteX16" fmla="*/ 1156091 w 4458091"/>
              <a:gd name="connsiteY16" fmla="*/ 3644900 h 4534588"/>
              <a:gd name="connsiteX17" fmla="*/ 1422791 w 4458091"/>
              <a:gd name="connsiteY17" fmla="*/ 3594100 h 4534588"/>
              <a:gd name="connsiteX18" fmla="*/ 1625991 w 4458091"/>
              <a:gd name="connsiteY18" fmla="*/ 3581400 h 4534588"/>
              <a:gd name="connsiteX19" fmla="*/ 1575191 w 4458091"/>
              <a:gd name="connsiteY19" fmla="*/ 3721100 h 4534588"/>
              <a:gd name="connsiteX20" fmla="*/ 1651391 w 4458091"/>
              <a:gd name="connsiteY20" fmla="*/ 3911600 h 4534588"/>
              <a:gd name="connsiteX21" fmla="*/ 1613291 w 4458091"/>
              <a:gd name="connsiteY21" fmla="*/ 4229100 h 4534588"/>
              <a:gd name="connsiteX22" fmla="*/ 1181491 w 4458091"/>
              <a:gd name="connsiteY22" fmla="*/ 4419600 h 4534588"/>
              <a:gd name="connsiteX23" fmla="*/ 736991 w 4458091"/>
              <a:gd name="connsiteY23" fmla="*/ 4292600 h 4534588"/>
              <a:gd name="connsiteX24" fmla="*/ 457591 w 4458091"/>
              <a:gd name="connsiteY24" fmla="*/ 4343400 h 4534588"/>
              <a:gd name="connsiteX25" fmla="*/ 254391 w 4458091"/>
              <a:gd name="connsiteY25" fmla="*/ 4178300 h 4534588"/>
              <a:gd name="connsiteX26" fmla="*/ 165491 w 4458091"/>
              <a:gd name="connsiteY26" fmla="*/ 4114800 h 4534588"/>
              <a:gd name="connsiteX27" fmla="*/ 391 w 4458091"/>
              <a:gd name="connsiteY27" fmla="*/ 4254500 h 4534588"/>
              <a:gd name="connsiteX28" fmla="*/ 216291 w 4458091"/>
              <a:gd name="connsiteY28" fmla="*/ 4318000 h 4534588"/>
              <a:gd name="connsiteX29" fmla="*/ 406791 w 4458091"/>
              <a:gd name="connsiteY29" fmla="*/ 4356100 h 4534588"/>
              <a:gd name="connsiteX30" fmla="*/ 381391 w 4458091"/>
              <a:gd name="connsiteY30" fmla="*/ 4483100 h 4534588"/>
              <a:gd name="connsiteX31" fmla="*/ 228991 w 4458091"/>
              <a:gd name="connsiteY31" fmla="*/ 4432300 h 4534588"/>
              <a:gd name="connsiteX32" fmla="*/ 152791 w 4458091"/>
              <a:gd name="connsiteY32" fmla="*/ 4191000 h 4534588"/>
              <a:gd name="connsiteX33" fmla="*/ 190891 w 4458091"/>
              <a:gd name="connsiteY33" fmla="*/ 3340100 h 4534588"/>
              <a:gd name="connsiteX34" fmla="*/ 267091 w 4458091"/>
              <a:gd name="connsiteY34" fmla="*/ 2997200 h 4534588"/>
              <a:gd name="connsiteX35" fmla="*/ 482991 w 4458091"/>
              <a:gd name="connsiteY35" fmla="*/ 2641600 h 4534588"/>
              <a:gd name="connsiteX36" fmla="*/ 317891 w 4458091"/>
              <a:gd name="connsiteY36" fmla="*/ 2298700 h 4534588"/>
              <a:gd name="connsiteX37" fmla="*/ 584591 w 4458091"/>
              <a:gd name="connsiteY37" fmla="*/ 2032000 h 4534588"/>
              <a:gd name="connsiteX38" fmla="*/ 711591 w 4458091"/>
              <a:gd name="connsiteY38" fmla="*/ 1346200 h 4534588"/>
              <a:gd name="connsiteX39" fmla="*/ 1130691 w 4458091"/>
              <a:gd name="connsiteY39" fmla="*/ 1346200 h 4534588"/>
              <a:gd name="connsiteX40" fmla="*/ 1156091 w 4458091"/>
              <a:gd name="connsiteY40" fmla="*/ 1168400 h 4534588"/>
              <a:gd name="connsiteX41" fmla="*/ 1422791 w 4458091"/>
              <a:gd name="connsiteY41" fmla="*/ 977900 h 4534588"/>
              <a:gd name="connsiteX42" fmla="*/ 1930791 w 4458091"/>
              <a:gd name="connsiteY42" fmla="*/ 749300 h 4534588"/>
              <a:gd name="connsiteX43" fmla="*/ 1829191 w 4458091"/>
              <a:gd name="connsiteY43" fmla="*/ 469900 h 4534588"/>
              <a:gd name="connsiteX44" fmla="*/ 1918091 w 4458091"/>
              <a:gd name="connsiteY44" fmla="*/ 228600 h 4534588"/>
              <a:gd name="connsiteX45" fmla="*/ 2210191 w 4458091"/>
              <a:gd name="connsiteY45" fmla="*/ 0 h 45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458091" h="4534588">
                <a:moveTo>
                  <a:pt x="4458091" y="4457700"/>
                </a:moveTo>
                <a:cubicBezTo>
                  <a:pt x="4369191" y="4482041"/>
                  <a:pt x="4280291" y="4506383"/>
                  <a:pt x="4165991" y="4495800"/>
                </a:cubicBezTo>
                <a:cubicBezTo>
                  <a:pt x="4051691" y="4485217"/>
                  <a:pt x="3884474" y="4387850"/>
                  <a:pt x="3772291" y="4394200"/>
                </a:cubicBezTo>
                <a:cubicBezTo>
                  <a:pt x="3660108" y="4400550"/>
                  <a:pt x="3583908" y="4525433"/>
                  <a:pt x="3492891" y="4533900"/>
                </a:cubicBezTo>
                <a:cubicBezTo>
                  <a:pt x="3401874" y="4542367"/>
                  <a:pt x="3310858" y="4470400"/>
                  <a:pt x="3226191" y="4445000"/>
                </a:cubicBezTo>
                <a:cubicBezTo>
                  <a:pt x="3141524" y="4419600"/>
                  <a:pt x="3080141" y="4398433"/>
                  <a:pt x="2984891" y="4381500"/>
                </a:cubicBezTo>
                <a:cubicBezTo>
                  <a:pt x="2889641" y="4364567"/>
                  <a:pt x="2762641" y="4381500"/>
                  <a:pt x="2654691" y="4343400"/>
                </a:cubicBezTo>
                <a:cubicBezTo>
                  <a:pt x="2546741" y="4305300"/>
                  <a:pt x="2417624" y="4216400"/>
                  <a:pt x="2337191" y="4152900"/>
                </a:cubicBezTo>
                <a:cubicBezTo>
                  <a:pt x="2256758" y="4089400"/>
                  <a:pt x="2233474" y="4006850"/>
                  <a:pt x="2172091" y="3962400"/>
                </a:cubicBezTo>
                <a:cubicBezTo>
                  <a:pt x="2110708" y="3917950"/>
                  <a:pt x="2023924" y="3928533"/>
                  <a:pt x="1968891" y="3886200"/>
                </a:cubicBezTo>
                <a:cubicBezTo>
                  <a:pt x="1913858" y="3843867"/>
                  <a:pt x="1879991" y="3752850"/>
                  <a:pt x="1841891" y="3708400"/>
                </a:cubicBezTo>
                <a:cubicBezTo>
                  <a:pt x="1803791" y="3663950"/>
                  <a:pt x="1765691" y="3676650"/>
                  <a:pt x="1740291" y="3619500"/>
                </a:cubicBezTo>
                <a:cubicBezTo>
                  <a:pt x="1714891" y="3562350"/>
                  <a:pt x="1710658" y="3412067"/>
                  <a:pt x="1689491" y="3365500"/>
                </a:cubicBezTo>
                <a:cubicBezTo>
                  <a:pt x="1668324" y="3318933"/>
                  <a:pt x="1659858" y="3327400"/>
                  <a:pt x="1613291" y="3340100"/>
                </a:cubicBezTo>
                <a:cubicBezTo>
                  <a:pt x="1566724" y="3352800"/>
                  <a:pt x="1513808" y="3416300"/>
                  <a:pt x="1410091" y="3441700"/>
                </a:cubicBezTo>
                <a:cubicBezTo>
                  <a:pt x="1306374" y="3467100"/>
                  <a:pt x="1033324" y="3458633"/>
                  <a:pt x="990991" y="3492500"/>
                </a:cubicBezTo>
                <a:cubicBezTo>
                  <a:pt x="948658" y="3526367"/>
                  <a:pt x="1084124" y="3627967"/>
                  <a:pt x="1156091" y="3644900"/>
                </a:cubicBezTo>
                <a:cubicBezTo>
                  <a:pt x="1228058" y="3661833"/>
                  <a:pt x="1344474" y="3604683"/>
                  <a:pt x="1422791" y="3594100"/>
                </a:cubicBezTo>
                <a:cubicBezTo>
                  <a:pt x="1501108" y="3583517"/>
                  <a:pt x="1600591" y="3560233"/>
                  <a:pt x="1625991" y="3581400"/>
                </a:cubicBezTo>
                <a:cubicBezTo>
                  <a:pt x="1651391" y="3602567"/>
                  <a:pt x="1570958" y="3666067"/>
                  <a:pt x="1575191" y="3721100"/>
                </a:cubicBezTo>
                <a:cubicBezTo>
                  <a:pt x="1579424" y="3776133"/>
                  <a:pt x="1645041" y="3826933"/>
                  <a:pt x="1651391" y="3911600"/>
                </a:cubicBezTo>
                <a:cubicBezTo>
                  <a:pt x="1657741" y="3996267"/>
                  <a:pt x="1691608" y="4144433"/>
                  <a:pt x="1613291" y="4229100"/>
                </a:cubicBezTo>
                <a:cubicBezTo>
                  <a:pt x="1534974" y="4313767"/>
                  <a:pt x="1327541" y="4409017"/>
                  <a:pt x="1181491" y="4419600"/>
                </a:cubicBezTo>
                <a:cubicBezTo>
                  <a:pt x="1035441" y="4430183"/>
                  <a:pt x="857641" y="4305300"/>
                  <a:pt x="736991" y="4292600"/>
                </a:cubicBezTo>
                <a:cubicBezTo>
                  <a:pt x="616341" y="4279900"/>
                  <a:pt x="538024" y="4362450"/>
                  <a:pt x="457591" y="4343400"/>
                </a:cubicBezTo>
                <a:cubicBezTo>
                  <a:pt x="377158" y="4324350"/>
                  <a:pt x="303074" y="4216400"/>
                  <a:pt x="254391" y="4178300"/>
                </a:cubicBezTo>
                <a:cubicBezTo>
                  <a:pt x="205708" y="4140200"/>
                  <a:pt x="207824" y="4102100"/>
                  <a:pt x="165491" y="4114800"/>
                </a:cubicBezTo>
                <a:cubicBezTo>
                  <a:pt x="123158" y="4127500"/>
                  <a:pt x="-8076" y="4220633"/>
                  <a:pt x="391" y="4254500"/>
                </a:cubicBezTo>
                <a:cubicBezTo>
                  <a:pt x="8858" y="4288367"/>
                  <a:pt x="148558" y="4301067"/>
                  <a:pt x="216291" y="4318000"/>
                </a:cubicBezTo>
                <a:cubicBezTo>
                  <a:pt x="284024" y="4334933"/>
                  <a:pt x="379274" y="4328583"/>
                  <a:pt x="406791" y="4356100"/>
                </a:cubicBezTo>
                <a:cubicBezTo>
                  <a:pt x="434308" y="4383617"/>
                  <a:pt x="411024" y="4470400"/>
                  <a:pt x="381391" y="4483100"/>
                </a:cubicBezTo>
                <a:cubicBezTo>
                  <a:pt x="351758" y="4495800"/>
                  <a:pt x="267091" y="4480983"/>
                  <a:pt x="228991" y="4432300"/>
                </a:cubicBezTo>
                <a:cubicBezTo>
                  <a:pt x="190891" y="4383617"/>
                  <a:pt x="159141" y="4373033"/>
                  <a:pt x="152791" y="4191000"/>
                </a:cubicBezTo>
                <a:cubicBezTo>
                  <a:pt x="146441" y="4008967"/>
                  <a:pt x="171841" y="3539067"/>
                  <a:pt x="190891" y="3340100"/>
                </a:cubicBezTo>
                <a:cubicBezTo>
                  <a:pt x="209941" y="3141133"/>
                  <a:pt x="218408" y="3113617"/>
                  <a:pt x="267091" y="2997200"/>
                </a:cubicBezTo>
                <a:cubicBezTo>
                  <a:pt x="315774" y="2880783"/>
                  <a:pt x="474524" y="2758017"/>
                  <a:pt x="482991" y="2641600"/>
                </a:cubicBezTo>
                <a:cubicBezTo>
                  <a:pt x="491458" y="2525183"/>
                  <a:pt x="300958" y="2400300"/>
                  <a:pt x="317891" y="2298700"/>
                </a:cubicBezTo>
                <a:cubicBezTo>
                  <a:pt x="334824" y="2197100"/>
                  <a:pt x="518974" y="2190750"/>
                  <a:pt x="584591" y="2032000"/>
                </a:cubicBezTo>
                <a:cubicBezTo>
                  <a:pt x="650208" y="1873250"/>
                  <a:pt x="620574" y="1460500"/>
                  <a:pt x="711591" y="1346200"/>
                </a:cubicBezTo>
                <a:cubicBezTo>
                  <a:pt x="802608" y="1231900"/>
                  <a:pt x="1056608" y="1375833"/>
                  <a:pt x="1130691" y="1346200"/>
                </a:cubicBezTo>
                <a:cubicBezTo>
                  <a:pt x="1204774" y="1316567"/>
                  <a:pt x="1107408" y="1229783"/>
                  <a:pt x="1156091" y="1168400"/>
                </a:cubicBezTo>
                <a:cubicBezTo>
                  <a:pt x="1204774" y="1107017"/>
                  <a:pt x="1293674" y="1047750"/>
                  <a:pt x="1422791" y="977900"/>
                </a:cubicBezTo>
                <a:cubicBezTo>
                  <a:pt x="1551908" y="908050"/>
                  <a:pt x="1863058" y="833967"/>
                  <a:pt x="1930791" y="749300"/>
                </a:cubicBezTo>
                <a:cubicBezTo>
                  <a:pt x="1998524" y="664633"/>
                  <a:pt x="1831308" y="556683"/>
                  <a:pt x="1829191" y="469900"/>
                </a:cubicBezTo>
                <a:cubicBezTo>
                  <a:pt x="1827074" y="383117"/>
                  <a:pt x="1854591" y="306917"/>
                  <a:pt x="1918091" y="228600"/>
                </a:cubicBezTo>
                <a:cubicBezTo>
                  <a:pt x="1981591" y="150283"/>
                  <a:pt x="2095891" y="75141"/>
                  <a:pt x="2210191" y="0"/>
                </a:cubicBezTo>
              </a:path>
            </a:pathLst>
          </a:custGeom>
          <a:noFill/>
          <a:ln w="19050" cap="rnd">
            <a:solidFill>
              <a:schemeClr val="accent1"/>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任意多边形: 形状 11"/>
          <p:cNvSpPr/>
          <p:nvPr/>
        </p:nvSpPr>
        <p:spPr>
          <a:xfrm rot="10800000">
            <a:off x="3330027" y="2249358"/>
            <a:ext cx="291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椭圆 12"/>
          <p:cNvSpPr/>
          <p:nvPr/>
        </p:nvSpPr>
        <p:spPr>
          <a:xfrm rot="10800000">
            <a:off x="3268621" y="2189605"/>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 name="任意多边形: 形状 13"/>
          <p:cNvSpPr/>
          <p:nvPr/>
        </p:nvSpPr>
        <p:spPr>
          <a:xfrm>
            <a:off x="5784648" y="2935619"/>
            <a:ext cx="2988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椭圆 14"/>
          <p:cNvSpPr/>
          <p:nvPr/>
        </p:nvSpPr>
        <p:spPr>
          <a:xfrm>
            <a:off x="8708381" y="2867333"/>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a:xfrm rot="10800000">
            <a:off x="3330027" y="3294801"/>
            <a:ext cx="1800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椭圆 16"/>
          <p:cNvSpPr/>
          <p:nvPr/>
        </p:nvSpPr>
        <p:spPr>
          <a:xfrm rot="10800000">
            <a:off x="3268621" y="3235048"/>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10800000">
            <a:off x="3330027" y="4146497"/>
            <a:ext cx="1440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椭圆 18"/>
          <p:cNvSpPr/>
          <p:nvPr/>
        </p:nvSpPr>
        <p:spPr>
          <a:xfrm rot="10800000">
            <a:off x="3268621" y="4086744"/>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4776648" y="4724616"/>
            <a:ext cx="39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椭圆 20"/>
          <p:cNvSpPr/>
          <p:nvPr/>
        </p:nvSpPr>
        <p:spPr>
          <a:xfrm>
            <a:off x="8708381" y="4656330"/>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任意多边形: 形状 21"/>
          <p:cNvSpPr/>
          <p:nvPr/>
        </p:nvSpPr>
        <p:spPr>
          <a:xfrm>
            <a:off x="6576648" y="5817052"/>
            <a:ext cx="21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椭圆 22"/>
          <p:cNvSpPr/>
          <p:nvPr/>
        </p:nvSpPr>
        <p:spPr>
          <a:xfrm>
            <a:off x="8708381" y="5748766"/>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任意多边形: 形状 23"/>
          <p:cNvSpPr/>
          <p:nvPr/>
        </p:nvSpPr>
        <p:spPr>
          <a:xfrm rot="10800000">
            <a:off x="3330028" y="5269893"/>
            <a:ext cx="12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椭圆 24"/>
          <p:cNvSpPr/>
          <p:nvPr/>
        </p:nvSpPr>
        <p:spPr>
          <a:xfrm rot="10800000">
            <a:off x="3268621" y="5210140"/>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箭头: 右 25"/>
          <p:cNvSpPr/>
          <p:nvPr/>
        </p:nvSpPr>
        <p:spPr>
          <a:xfrm>
            <a:off x="6280137" y="2543073"/>
            <a:ext cx="2438831"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一键部署</a:t>
            </a:r>
          </a:p>
        </p:txBody>
      </p:sp>
      <p:sp>
        <p:nvSpPr>
          <p:cNvPr id="27" name="箭头: 右 26"/>
          <p:cNvSpPr/>
          <p:nvPr/>
        </p:nvSpPr>
        <p:spPr>
          <a:xfrm>
            <a:off x="5370125" y="4340054"/>
            <a:ext cx="3348843"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一键回滚</a:t>
            </a:r>
          </a:p>
        </p:txBody>
      </p:sp>
      <p:sp>
        <p:nvSpPr>
          <p:cNvPr id="28" name="箭头: 右 27"/>
          <p:cNvSpPr/>
          <p:nvPr/>
        </p:nvSpPr>
        <p:spPr>
          <a:xfrm>
            <a:off x="6824829" y="5440225"/>
            <a:ext cx="1894139"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自动巡检</a:t>
            </a:r>
          </a:p>
        </p:txBody>
      </p:sp>
      <p:sp>
        <p:nvSpPr>
          <p:cNvPr id="29" name="箭头: 右 28"/>
          <p:cNvSpPr/>
          <p:nvPr/>
        </p:nvSpPr>
        <p:spPr>
          <a:xfrm flipH="1">
            <a:off x="3354855" y="1860642"/>
            <a:ext cx="2742728"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容器化</a:t>
            </a:r>
          </a:p>
        </p:txBody>
      </p:sp>
      <p:sp>
        <p:nvSpPr>
          <p:cNvPr id="30" name="箭头: 右 29"/>
          <p:cNvSpPr/>
          <p:nvPr/>
        </p:nvSpPr>
        <p:spPr>
          <a:xfrm flipH="1">
            <a:off x="3354855" y="2905332"/>
            <a:ext cx="2085051"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公网访问</a:t>
            </a:r>
          </a:p>
        </p:txBody>
      </p:sp>
      <p:sp>
        <p:nvSpPr>
          <p:cNvPr id="31" name="箭头: 右 30"/>
          <p:cNvSpPr/>
          <p:nvPr/>
        </p:nvSpPr>
        <p:spPr>
          <a:xfrm flipH="1">
            <a:off x="3354855" y="3757250"/>
            <a:ext cx="1456019"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数据留痕</a:t>
            </a:r>
          </a:p>
        </p:txBody>
      </p:sp>
      <p:sp>
        <p:nvSpPr>
          <p:cNvPr id="32" name="箭头: 右 31"/>
          <p:cNvSpPr/>
          <p:nvPr/>
        </p:nvSpPr>
        <p:spPr>
          <a:xfrm flipH="1">
            <a:off x="3354855" y="4875901"/>
            <a:ext cx="1409305"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安全合规</a:t>
            </a:r>
          </a:p>
        </p:txBody>
      </p:sp>
      <p:sp>
        <p:nvSpPr>
          <p:cNvPr id="33" name="星形: 五角 32"/>
          <p:cNvSpPr/>
          <p:nvPr/>
        </p:nvSpPr>
        <p:spPr>
          <a:xfrm>
            <a:off x="8614717" y="6108609"/>
            <a:ext cx="264487" cy="264487"/>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34" name="星形: 五角 33"/>
          <p:cNvSpPr/>
          <p:nvPr/>
        </p:nvSpPr>
        <p:spPr>
          <a:xfrm>
            <a:off x="6450353" y="1827465"/>
            <a:ext cx="264487" cy="264487"/>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38" name="文本框 37"/>
          <p:cNvSpPr txBox="1"/>
          <p:nvPr/>
        </p:nvSpPr>
        <p:spPr>
          <a:xfrm>
            <a:off x="9087517" y="5441625"/>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脚本化发布，应用与依赖容器打包，降低交付门槛。</a:t>
            </a:r>
          </a:p>
        </p:txBody>
      </p:sp>
      <p:sp>
        <p:nvSpPr>
          <p:cNvPr id="39" name="文本框 38"/>
          <p:cNvSpPr txBox="1"/>
          <p:nvPr/>
        </p:nvSpPr>
        <p:spPr>
          <a:xfrm>
            <a:off x="9087517" y="4285170"/>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异常时快速回退至上一稳定版本。</a:t>
            </a:r>
          </a:p>
        </p:txBody>
      </p:sp>
      <p:sp>
        <p:nvSpPr>
          <p:cNvPr id="40" name="文本框 39"/>
          <p:cNvSpPr txBox="1"/>
          <p:nvPr/>
        </p:nvSpPr>
        <p:spPr>
          <a:xfrm>
            <a:off x="457299" y="4904930"/>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每日定时巡检服务健康状态与数据一致性。</a:t>
            </a:r>
          </a:p>
        </p:txBody>
      </p:sp>
      <p:sp>
        <p:nvSpPr>
          <p:cNvPr id="42" name="文本框 41"/>
          <p:cNvSpPr txBox="1"/>
          <p:nvPr/>
        </p:nvSpPr>
        <p:spPr>
          <a:xfrm>
            <a:off x="457299" y="3775337"/>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2c4G 阿里云容器化部署，运行稳定。</a:t>
            </a:r>
          </a:p>
        </p:txBody>
      </p:sp>
      <p:sp>
        <p:nvSpPr>
          <p:cNvPr id="43" name="文本框 42"/>
          <p:cNvSpPr txBox="1"/>
          <p:nvPr/>
        </p:nvSpPr>
        <p:spPr>
          <a:xfrm>
            <a:off x="457299" y="2921414"/>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公网地址可访问，随时演示。</a:t>
            </a:r>
          </a:p>
        </p:txBody>
      </p:sp>
      <p:sp>
        <p:nvSpPr>
          <p:cNvPr id="44" name="文本框 43"/>
          <p:cNvSpPr txBox="1"/>
          <p:nvPr/>
        </p:nvSpPr>
        <p:spPr>
          <a:xfrm>
            <a:off x="9087517" y="2560192"/>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数据源：jobicy 207 · apify-lagou 205 · seed-demo 154</a:t>
            </a:r>
          </a:p>
        </p:txBody>
      </p:sp>
      <p:sp>
        <p:nvSpPr>
          <p:cNvPr id="46" name="文本框 45"/>
          <p:cNvSpPr txBox="1"/>
          <p:nvPr/>
        </p:nvSpPr>
        <p:spPr>
          <a:xfrm>
            <a:off x="457299" y="1934578"/>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remoteok 52 · themuse 21 · v2ex 10 · juejin 4 等 9 类</a:t>
            </a:r>
          </a:p>
        </p:txBody>
      </p:sp>
      <p:sp>
        <p:nvSpPr>
          <p:cNvPr id="56" name="任意多边形: 形状 55"/>
          <p:cNvSpPr/>
          <p:nvPr/>
        </p:nvSpPr>
        <p:spPr>
          <a:xfrm>
            <a:off x="8628040" y="642778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rot="2140370">
            <a:off x="6380914" y="5899850"/>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rot="20207384">
            <a:off x="5673759" y="608817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rot="5659748">
            <a:off x="4618219" y="5269893"/>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任意多边形: 形状 59"/>
          <p:cNvSpPr/>
          <p:nvPr/>
        </p:nvSpPr>
        <p:spPr>
          <a:xfrm rot="5980039">
            <a:off x="5013511" y="378554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任意多边形: 形状 60"/>
          <p:cNvSpPr/>
          <p:nvPr/>
        </p:nvSpPr>
        <p:spPr>
          <a:xfrm rot="8982001">
            <a:off x="5615898" y="2836530"/>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rot="7757152">
            <a:off x="6283003" y="2294204"/>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2" name="文本框 71"/>
          <p:cNvSpPr txBox="1"/>
          <p:nvPr/>
        </p:nvSpPr>
        <p:spPr>
          <a:xfrm>
            <a:off x="7526015" y="1200737"/>
            <a:ext cx="2990623" cy="6813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一键部署 · 一键回滚 · 自动巡检</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数据可追溯 · 运行可监控</a:t>
            </a:r>
          </a:p>
        </p:txBody>
      </p:sp>
      <p:sp>
        <p:nvSpPr>
          <p:cNvPr id="74" name="文本框 73"/>
          <p:cNvSpPr txBox="1"/>
          <p:nvPr/>
        </p:nvSpPr>
        <p:spPr>
          <a:xfrm>
            <a:off x="6774648" y="1178519"/>
            <a:ext cx="896578"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部署运维</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矩形 234"/>
          <p:cNvSpPr/>
          <p:nvPr/>
        </p:nvSpPr>
        <p:spPr>
          <a:xfrm>
            <a:off x="0" y="4204489"/>
            <a:ext cx="12192000" cy="101661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6" name="矩形 235"/>
          <p:cNvSpPr/>
          <p:nvPr/>
        </p:nvSpPr>
        <p:spPr>
          <a:xfrm>
            <a:off x="0" y="5267447"/>
            <a:ext cx="12192000" cy="680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结语与展望</a:t>
            </a:r>
          </a:p>
        </p:txBody>
      </p:sp>
      <p:sp>
        <p:nvSpPr>
          <p:cNvPr id="37" name="矩形 36"/>
          <p:cNvSpPr/>
          <p:nvPr/>
        </p:nvSpPr>
        <p:spPr>
          <a:xfrm>
            <a:off x="0" y="4090084"/>
            <a:ext cx="12192000" cy="680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72" name="组合 71"/>
          <p:cNvGrpSpPr/>
          <p:nvPr/>
        </p:nvGrpSpPr>
        <p:grpSpPr>
          <a:xfrm>
            <a:off x="658372" y="3794024"/>
            <a:ext cx="2682979" cy="1829907"/>
            <a:chOff x="313431" y="2721461"/>
            <a:chExt cx="2682979" cy="1829907"/>
          </a:xfrm>
        </p:grpSpPr>
        <p:grpSp>
          <p:nvGrpSpPr>
            <p:cNvPr id="43" name="组合 42"/>
            <p:cNvGrpSpPr/>
            <p:nvPr/>
          </p:nvGrpSpPr>
          <p:grpSpPr>
            <a:xfrm>
              <a:off x="313431" y="2862457"/>
              <a:ext cx="2682979" cy="1560210"/>
              <a:chOff x="614603" y="2862458"/>
              <a:chExt cx="2708129" cy="1560210"/>
            </a:xfrm>
          </p:grpSpPr>
          <p:sp>
            <p:nvSpPr>
              <p:cNvPr id="23" name="直角三角形 22"/>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0" name="直角三角形 39"/>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平行四边形 40"/>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65" name="文本框 64"/>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动态感知</a:t>
              </a:r>
            </a:p>
          </p:txBody>
        </p:sp>
      </p:grpSp>
      <p:grpSp>
        <p:nvGrpSpPr>
          <p:cNvPr id="73" name="组合 72"/>
          <p:cNvGrpSpPr/>
          <p:nvPr/>
        </p:nvGrpSpPr>
        <p:grpSpPr>
          <a:xfrm>
            <a:off x="3389131" y="3794024"/>
            <a:ext cx="2682979" cy="1829907"/>
            <a:chOff x="313431" y="2721461"/>
            <a:chExt cx="2682979" cy="1829907"/>
          </a:xfrm>
        </p:grpSpPr>
        <p:grpSp>
          <p:nvGrpSpPr>
            <p:cNvPr id="74" name="组合 73"/>
            <p:cNvGrpSpPr/>
            <p:nvPr/>
          </p:nvGrpSpPr>
          <p:grpSpPr>
            <a:xfrm>
              <a:off x="313431" y="2862457"/>
              <a:ext cx="2682979" cy="1560210"/>
              <a:chOff x="614603" y="2862458"/>
              <a:chExt cx="2708129" cy="1560210"/>
            </a:xfrm>
          </p:grpSpPr>
          <p:sp>
            <p:nvSpPr>
              <p:cNvPr id="76" name="直角三角形 75"/>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直角三角形 76"/>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8" name="平行四边形 77"/>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75" name="文本框 74"/>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持续演化</a:t>
              </a:r>
            </a:p>
          </p:txBody>
        </p:sp>
      </p:grpSp>
      <p:grpSp>
        <p:nvGrpSpPr>
          <p:cNvPr id="79" name="组合 78"/>
          <p:cNvGrpSpPr/>
          <p:nvPr/>
        </p:nvGrpSpPr>
        <p:grpSpPr>
          <a:xfrm>
            <a:off x="6119890" y="3794024"/>
            <a:ext cx="2682979" cy="1829907"/>
            <a:chOff x="313431" y="2721461"/>
            <a:chExt cx="2682979" cy="1829907"/>
          </a:xfrm>
        </p:grpSpPr>
        <p:grpSp>
          <p:nvGrpSpPr>
            <p:cNvPr id="80" name="组合 79"/>
            <p:cNvGrpSpPr/>
            <p:nvPr/>
          </p:nvGrpSpPr>
          <p:grpSpPr>
            <a:xfrm>
              <a:off x="313431" y="2862457"/>
              <a:ext cx="2682979" cy="1560210"/>
              <a:chOff x="614603" y="2862458"/>
              <a:chExt cx="2708129" cy="1560210"/>
            </a:xfrm>
          </p:grpSpPr>
          <p:sp>
            <p:nvSpPr>
              <p:cNvPr id="82" name="直角三角形 81"/>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3" name="直角三角形 82"/>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4" name="平行四边形 83"/>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81" name="文本框 80"/>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数据可追溯</a:t>
              </a:r>
            </a:p>
          </p:txBody>
        </p:sp>
      </p:grpSp>
      <p:grpSp>
        <p:nvGrpSpPr>
          <p:cNvPr id="85" name="组合 84"/>
          <p:cNvGrpSpPr/>
          <p:nvPr/>
        </p:nvGrpSpPr>
        <p:grpSpPr>
          <a:xfrm>
            <a:off x="8850650" y="3794024"/>
            <a:ext cx="2682979" cy="1829907"/>
            <a:chOff x="313431" y="2721461"/>
            <a:chExt cx="2682979" cy="1829907"/>
          </a:xfrm>
        </p:grpSpPr>
        <p:grpSp>
          <p:nvGrpSpPr>
            <p:cNvPr id="86" name="组合 85"/>
            <p:cNvGrpSpPr/>
            <p:nvPr/>
          </p:nvGrpSpPr>
          <p:grpSpPr>
            <a:xfrm>
              <a:off x="313431" y="2862457"/>
              <a:ext cx="2682979" cy="1560210"/>
              <a:chOff x="614603" y="2862458"/>
              <a:chExt cx="2708129" cy="1560210"/>
            </a:xfrm>
          </p:grpSpPr>
          <p:sp>
            <p:nvSpPr>
              <p:cNvPr id="88" name="直角三角形 87"/>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9" name="直角三角形 88"/>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0" name="平行四边形 89"/>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87" name="文本框 86"/>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公网可访问</a:t>
              </a:r>
            </a:p>
          </p:txBody>
        </p:sp>
      </p:grpSp>
      <p:sp>
        <p:nvSpPr>
          <p:cNvPr id="93" name="矩形 92"/>
          <p:cNvSpPr/>
          <p:nvPr/>
        </p:nvSpPr>
        <p:spPr>
          <a:xfrm>
            <a:off x="769145"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4" name="矩形 93"/>
          <p:cNvSpPr/>
          <p:nvPr/>
        </p:nvSpPr>
        <p:spPr>
          <a:xfrm>
            <a:off x="6230663"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7" name="矩形 96"/>
          <p:cNvSpPr/>
          <p:nvPr/>
        </p:nvSpPr>
        <p:spPr>
          <a:xfrm>
            <a:off x="3499904"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8" name="矩形 97"/>
          <p:cNvSpPr/>
          <p:nvPr/>
        </p:nvSpPr>
        <p:spPr>
          <a:xfrm>
            <a:off x="8961422"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9" name="文本框 98"/>
          <p:cNvSpPr txBox="1"/>
          <p:nvPr/>
        </p:nvSpPr>
        <p:spPr>
          <a:xfrm>
            <a:off x="728408"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岗位与能力摆脱静态描述，随技术演进持续更新。</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p>
        </p:txBody>
      </p:sp>
      <p:sp>
        <p:nvSpPr>
          <p:cNvPr id="105" name="文本框 104"/>
          <p:cNvSpPr txBox="1"/>
          <p:nvPr/>
        </p:nvSpPr>
        <p:spPr>
          <a:xfrm>
            <a:off x="3469424"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月级快照 + Z-score 检测，图谱自演化闭环。</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p>
        </p:txBody>
      </p:sp>
      <p:sp>
        <p:nvSpPr>
          <p:cNvPr id="106" name="文本框 105"/>
          <p:cNvSpPr txBox="1"/>
          <p:nvPr/>
        </p:nvSpPr>
        <p:spPr>
          <a:xfrm>
            <a:off x="6210440"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每条技能变更保留数据源与信任分，可对账。</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p>
        </p:txBody>
      </p:sp>
      <p:sp>
        <p:nvSpPr>
          <p:cNvPr id="107" name="文本框 106"/>
          <p:cNvSpPr txBox="1"/>
          <p:nvPr/>
        </p:nvSpPr>
        <p:spPr>
          <a:xfrm>
            <a:off x="8951456"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已部署上线，公网随时可访问与验证。</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
            </a:r>
          </a:p>
        </p:txBody>
      </p:sp>
      <p:sp>
        <p:nvSpPr>
          <p:cNvPr id="101" name="矩形 100"/>
          <p:cNvSpPr/>
          <p:nvPr/>
        </p:nvSpPr>
        <p:spPr>
          <a:xfrm>
            <a:off x="2308344"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8" name="矩形 107"/>
          <p:cNvSpPr/>
          <p:nvPr/>
        </p:nvSpPr>
        <p:spPr>
          <a:xfrm>
            <a:off x="2389624"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9" name="梯形 108"/>
          <p:cNvSpPr/>
          <p:nvPr/>
        </p:nvSpPr>
        <p:spPr>
          <a:xfrm flipV="1">
            <a:off x="2308344"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2" name="矩形 111"/>
          <p:cNvSpPr/>
          <p:nvPr/>
        </p:nvSpPr>
        <p:spPr>
          <a:xfrm>
            <a:off x="5039696"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3" name="矩形 112"/>
          <p:cNvSpPr/>
          <p:nvPr/>
        </p:nvSpPr>
        <p:spPr>
          <a:xfrm>
            <a:off x="5120976"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4" name="梯形 113"/>
          <p:cNvSpPr/>
          <p:nvPr/>
        </p:nvSpPr>
        <p:spPr>
          <a:xfrm flipV="1">
            <a:off x="5039696"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6" name="矩形 115"/>
          <p:cNvSpPr/>
          <p:nvPr/>
        </p:nvSpPr>
        <p:spPr>
          <a:xfrm>
            <a:off x="7771048"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7" name="矩形 116"/>
          <p:cNvSpPr/>
          <p:nvPr/>
        </p:nvSpPr>
        <p:spPr>
          <a:xfrm>
            <a:off x="7852328"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8" name="梯形 117"/>
          <p:cNvSpPr/>
          <p:nvPr/>
        </p:nvSpPr>
        <p:spPr>
          <a:xfrm flipV="1">
            <a:off x="7771048"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矩形 119"/>
          <p:cNvSpPr/>
          <p:nvPr/>
        </p:nvSpPr>
        <p:spPr>
          <a:xfrm>
            <a:off x="10502399"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1" name="矩形 120"/>
          <p:cNvSpPr/>
          <p:nvPr/>
        </p:nvSpPr>
        <p:spPr>
          <a:xfrm>
            <a:off x="10583679"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2" name="梯形 121"/>
          <p:cNvSpPr/>
          <p:nvPr/>
        </p:nvSpPr>
        <p:spPr>
          <a:xfrm flipV="1">
            <a:off x="10502399"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3" name="文本框 122"/>
          <p:cNvSpPr txBox="1"/>
          <p:nvPr/>
        </p:nvSpPr>
        <p:spPr>
          <a:xfrm>
            <a:off x="227013" y="1194581"/>
            <a:ext cx="11737975"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从静态画像到动态感知的跨越</a:t>
            </a:r>
          </a:p>
        </p:txBody>
      </p:sp>
      <p:sp>
        <p:nvSpPr>
          <p:cNvPr id="220" name="图形 218"/>
          <p:cNvSpPr/>
          <p:nvPr/>
        </p:nvSpPr>
        <p:spPr>
          <a:xfrm>
            <a:off x="1319801" y="1010079"/>
            <a:ext cx="788431" cy="891201"/>
          </a:xfrm>
          <a:custGeom>
            <a:avLst/>
            <a:gdLst>
              <a:gd name="connsiteX0" fmla="*/ 1578999 w 1683439"/>
              <a:gd name="connsiteY0" fmla="*/ 879985 h 1902870"/>
              <a:gd name="connsiteX1" fmla="*/ 1224602 w 1683439"/>
              <a:gd name="connsiteY1" fmla="*/ 959794 h 1902870"/>
              <a:gd name="connsiteX2" fmla="*/ 1028893 w 1683439"/>
              <a:gd name="connsiteY2" fmla="*/ 825477 h 1902870"/>
              <a:gd name="connsiteX3" fmla="*/ 929178 w 1683439"/>
              <a:gd name="connsiteY3" fmla="*/ 1103413 h 1902870"/>
              <a:gd name="connsiteX4" fmla="*/ 1237624 w 1683439"/>
              <a:gd name="connsiteY4" fmla="*/ 1222290 h 1902870"/>
              <a:gd name="connsiteX5" fmla="*/ 1365245 w 1683439"/>
              <a:gd name="connsiteY5" fmla="*/ 1752676 h 1902870"/>
              <a:gd name="connsiteX6" fmla="*/ 1273901 w 1683439"/>
              <a:gd name="connsiteY6" fmla="*/ 1895179 h 1902870"/>
              <a:gd name="connsiteX7" fmla="*/ 1126375 w 1683439"/>
              <a:gd name="connsiteY7" fmla="*/ 1817230 h 1902870"/>
              <a:gd name="connsiteX8" fmla="*/ 1019033 w 1683439"/>
              <a:gd name="connsiteY8" fmla="*/ 1422277 h 1902870"/>
              <a:gd name="connsiteX9" fmla="*/ 785001 w 1683439"/>
              <a:gd name="connsiteY9" fmla="*/ 1373350 h 1902870"/>
              <a:gd name="connsiteX10" fmla="*/ 562131 w 1683439"/>
              <a:gd name="connsiteY10" fmla="*/ 1724399 h 1902870"/>
              <a:gd name="connsiteX11" fmla="*/ 109693 w 1683439"/>
              <a:gd name="connsiteY11" fmla="*/ 1547479 h 1902870"/>
              <a:gd name="connsiteX12" fmla="*/ 3653 w 1683439"/>
              <a:gd name="connsiteY12" fmla="*/ 1389535 h 1902870"/>
              <a:gd name="connsiteX13" fmla="*/ 160667 w 1683439"/>
              <a:gd name="connsiteY13" fmla="*/ 1299308 h 1902870"/>
              <a:gd name="connsiteX14" fmla="*/ 427069 w 1683439"/>
              <a:gd name="connsiteY14" fmla="*/ 1415208 h 1902870"/>
              <a:gd name="connsiteX15" fmla="*/ 511529 w 1683439"/>
              <a:gd name="connsiteY15" fmla="*/ 1221174 h 1902870"/>
              <a:gd name="connsiteX16" fmla="*/ 606965 w 1683439"/>
              <a:gd name="connsiteY16" fmla="*/ 924819 h 1902870"/>
              <a:gd name="connsiteX17" fmla="*/ 638219 w 1683439"/>
              <a:gd name="connsiteY17" fmla="*/ 738598 h 1902870"/>
              <a:gd name="connsiteX18" fmla="*/ 564363 w 1683439"/>
              <a:gd name="connsiteY18" fmla="*/ 782503 h 1902870"/>
              <a:gd name="connsiteX19" fmla="*/ 383165 w 1683439"/>
              <a:gd name="connsiteY19" fmla="*/ 1061369 h 1902870"/>
              <a:gd name="connsiteX20" fmla="*/ 195083 w 1683439"/>
              <a:gd name="connsiteY20" fmla="*/ 951795 h 1902870"/>
              <a:gd name="connsiteX21" fmla="*/ 511529 w 1683439"/>
              <a:gd name="connsiteY21" fmla="*/ 517402 h 1902870"/>
              <a:gd name="connsiteX22" fmla="*/ 970106 w 1683439"/>
              <a:gd name="connsiteY22" fmla="*/ 471638 h 1902870"/>
              <a:gd name="connsiteX23" fmla="*/ 1276134 w 1683439"/>
              <a:gd name="connsiteY23" fmla="*/ 715344 h 1902870"/>
              <a:gd name="connsiteX24" fmla="*/ 1524305 w 1683439"/>
              <a:gd name="connsiteY24" fmla="*/ 668277 h 1902870"/>
              <a:gd name="connsiteX25" fmla="*/ 1678714 w 1683439"/>
              <a:gd name="connsiteY25" fmla="*/ 738226 h 1902870"/>
              <a:gd name="connsiteX26" fmla="*/ 1578999 w 1683439"/>
              <a:gd name="connsiteY26" fmla="*/ 879985 h 1902870"/>
              <a:gd name="connsiteX27" fmla="*/ 1070751 w 1683439"/>
              <a:gd name="connsiteY27" fmla="*/ 414525 h 1902870"/>
              <a:gd name="connsiteX28" fmla="*/ 810488 w 1683439"/>
              <a:gd name="connsiteY28" fmla="*/ 266627 h 1902870"/>
              <a:gd name="connsiteX29" fmla="*/ 960432 w 1683439"/>
              <a:gd name="connsiteY29" fmla="*/ 7480 h 1902870"/>
              <a:gd name="connsiteX30" fmla="*/ 1220695 w 1683439"/>
              <a:gd name="connsiteY30" fmla="*/ 155564 h 1902870"/>
              <a:gd name="connsiteX31" fmla="*/ 1070751 w 1683439"/>
              <a:gd name="connsiteY31" fmla="*/ 414525 h 19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83439" h="1902870">
                <a:moveTo>
                  <a:pt x="1578999" y="879985"/>
                </a:moveTo>
                <a:cubicBezTo>
                  <a:pt x="1578999" y="879985"/>
                  <a:pt x="1301435" y="939144"/>
                  <a:pt x="1224602" y="959794"/>
                </a:cubicBezTo>
                <a:cubicBezTo>
                  <a:pt x="1148514" y="980444"/>
                  <a:pt x="1054194" y="830872"/>
                  <a:pt x="1028893" y="825477"/>
                </a:cubicBezTo>
                <a:cubicBezTo>
                  <a:pt x="1012708" y="872358"/>
                  <a:pt x="960432" y="1010024"/>
                  <a:pt x="929178" y="1103413"/>
                </a:cubicBezTo>
                <a:cubicBezTo>
                  <a:pt x="977547" y="1101925"/>
                  <a:pt x="1228509" y="1178013"/>
                  <a:pt x="1237624" y="1222290"/>
                </a:cubicBezTo>
                <a:cubicBezTo>
                  <a:pt x="1248043" y="1267124"/>
                  <a:pt x="1365245" y="1752676"/>
                  <a:pt x="1365245" y="1752676"/>
                </a:cubicBezTo>
                <a:cubicBezTo>
                  <a:pt x="1365245" y="1752676"/>
                  <a:pt x="1414916" y="1857042"/>
                  <a:pt x="1273901" y="1895179"/>
                </a:cubicBezTo>
                <a:cubicBezTo>
                  <a:pt x="1132701" y="1933316"/>
                  <a:pt x="1126375" y="1817230"/>
                  <a:pt x="1126375" y="1817230"/>
                </a:cubicBezTo>
                <a:cubicBezTo>
                  <a:pt x="1126375" y="1817230"/>
                  <a:pt x="1027777" y="1444788"/>
                  <a:pt x="1019033" y="1422277"/>
                </a:cubicBezTo>
                <a:cubicBezTo>
                  <a:pt x="1010848" y="1399767"/>
                  <a:pt x="827045" y="1362002"/>
                  <a:pt x="785001" y="1373350"/>
                </a:cubicBezTo>
                <a:cubicBezTo>
                  <a:pt x="742585" y="1384884"/>
                  <a:pt x="651800" y="1702818"/>
                  <a:pt x="562131" y="1724399"/>
                </a:cubicBezTo>
                <a:cubicBezTo>
                  <a:pt x="446975" y="1752304"/>
                  <a:pt x="109693" y="1547479"/>
                  <a:pt x="109693" y="1547479"/>
                </a:cubicBezTo>
                <a:cubicBezTo>
                  <a:pt x="109693" y="1547479"/>
                  <a:pt x="-23508" y="1514551"/>
                  <a:pt x="3653" y="1389535"/>
                </a:cubicBezTo>
                <a:cubicBezTo>
                  <a:pt x="31372" y="1265450"/>
                  <a:pt x="160667" y="1299308"/>
                  <a:pt x="160667" y="1299308"/>
                </a:cubicBezTo>
                <a:cubicBezTo>
                  <a:pt x="160667" y="1299308"/>
                  <a:pt x="399536" y="1430649"/>
                  <a:pt x="427069" y="1415208"/>
                </a:cubicBezTo>
                <a:cubicBezTo>
                  <a:pt x="454975" y="1399581"/>
                  <a:pt x="470788" y="1308982"/>
                  <a:pt x="511529" y="1221174"/>
                </a:cubicBezTo>
                <a:cubicBezTo>
                  <a:pt x="513204" y="1188059"/>
                  <a:pt x="606965" y="924819"/>
                  <a:pt x="606965" y="924819"/>
                </a:cubicBezTo>
                <a:cubicBezTo>
                  <a:pt x="606965" y="924819"/>
                  <a:pt x="658869" y="749574"/>
                  <a:pt x="638219" y="738598"/>
                </a:cubicBezTo>
                <a:cubicBezTo>
                  <a:pt x="609756" y="723529"/>
                  <a:pt x="579990" y="755714"/>
                  <a:pt x="564363" y="782503"/>
                </a:cubicBezTo>
                <a:cubicBezTo>
                  <a:pt x="548736" y="809106"/>
                  <a:pt x="486787" y="918680"/>
                  <a:pt x="383165" y="1061369"/>
                </a:cubicBezTo>
                <a:cubicBezTo>
                  <a:pt x="291078" y="1188431"/>
                  <a:pt x="126809" y="1070485"/>
                  <a:pt x="195083" y="951795"/>
                </a:cubicBezTo>
                <a:cubicBezTo>
                  <a:pt x="251824" y="853010"/>
                  <a:pt x="402885" y="570609"/>
                  <a:pt x="511529" y="517402"/>
                </a:cubicBezTo>
                <a:cubicBezTo>
                  <a:pt x="620918" y="463824"/>
                  <a:pt x="809558" y="434059"/>
                  <a:pt x="970106" y="471638"/>
                </a:cubicBezTo>
                <a:cubicBezTo>
                  <a:pt x="1131398" y="508473"/>
                  <a:pt x="1244508" y="691159"/>
                  <a:pt x="1276134" y="715344"/>
                </a:cubicBezTo>
                <a:cubicBezTo>
                  <a:pt x="1307016" y="738598"/>
                  <a:pt x="1524305" y="668277"/>
                  <a:pt x="1524305" y="668277"/>
                </a:cubicBezTo>
                <a:cubicBezTo>
                  <a:pt x="1524305" y="668277"/>
                  <a:pt x="1648018" y="625303"/>
                  <a:pt x="1678714" y="738226"/>
                </a:cubicBezTo>
                <a:cubicBezTo>
                  <a:pt x="1709596" y="851894"/>
                  <a:pt x="1578999" y="879985"/>
                  <a:pt x="1578999" y="879985"/>
                </a:cubicBezTo>
                <a:close/>
                <a:moveTo>
                  <a:pt x="1070751" y="414525"/>
                </a:moveTo>
                <a:cubicBezTo>
                  <a:pt x="956897" y="445407"/>
                  <a:pt x="840998" y="379364"/>
                  <a:pt x="810488" y="266627"/>
                </a:cubicBezTo>
                <a:cubicBezTo>
                  <a:pt x="780164" y="154448"/>
                  <a:pt x="846579" y="38362"/>
                  <a:pt x="960432" y="7480"/>
                </a:cubicBezTo>
                <a:cubicBezTo>
                  <a:pt x="1074100" y="-23216"/>
                  <a:pt x="1190372" y="43385"/>
                  <a:pt x="1220695" y="155564"/>
                </a:cubicBezTo>
                <a:cubicBezTo>
                  <a:pt x="1251391" y="268301"/>
                  <a:pt x="1184232" y="383643"/>
                  <a:pt x="1070751" y="414525"/>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cxnSp>
        <p:nvCxnSpPr>
          <p:cNvPr id="222" name="直接连接符 221"/>
          <p:cNvCxnSpPr/>
          <p:nvPr/>
        </p:nvCxnSpPr>
        <p:spPr>
          <a:xfrm>
            <a:off x="921244"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a:off x="2108536"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3660369"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a:off x="4847661"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372534"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7559826"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a:off x="9111659"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a:off x="10298951"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任意多边形: 形状 84"/>
          <p:cNvSpPr/>
          <p:nvPr/>
        </p:nvSpPr>
        <p:spPr>
          <a:xfrm rot="5400000" flipV="1">
            <a:off x="-121980" y="5643102"/>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3" name="矩形: 圆角 82"/>
          <p:cNvSpPr/>
          <p:nvPr/>
        </p:nvSpPr>
        <p:spPr>
          <a:xfrm flipH="1">
            <a:off x="890661" y="4954870"/>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资金收付精准度</a:t>
            </a:r>
          </a:p>
        </p:txBody>
      </p:sp>
      <p:sp>
        <p:nvSpPr>
          <p:cNvPr id="86" name="矩形: 圆角 85"/>
          <p:cNvSpPr/>
          <p:nvPr/>
        </p:nvSpPr>
        <p:spPr>
          <a:xfrm flipH="1">
            <a:off x="890661" y="5286485"/>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0" name="任意多边形: 形状 89"/>
          <p:cNvSpPr/>
          <p:nvPr/>
        </p:nvSpPr>
        <p:spPr>
          <a:xfrm rot="5400000" flipV="1">
            <a:off x="2559764" y="5643102"/>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矩形: 圆角 91"/>
          <p:cNvSpPr/>
          <p:nvPr/>
        </p:nvSpPr>
        <p:spPr>
          <a:xfrm flipH="1">
            <a:off x="3572405" y="4954870"/>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流动性管理优化</a:t>
            </a:r>
          </a:p>
        </p:txBody>
      </p:sp>
      <p:sp>
        <p:nvSpPr>
          <p:cNvPr id="93" name="矩形: 圆角 92"/>
          <p:cNvSpPr/>
          <p:nvPr/>
        </p:nvSpPr>
        <p:spPr>
          <a:xfrm flipH="1">
            <a:off x="3572405" y="5286485"/>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文本框 103"/>
          <p:cNvSpPr txBox="1"/>
          <p:nvPr/>
        </p:nvSpPr>
        <p:spPr>
          <a:xfrm>
            <a:off x="1014325" y="5358345"/>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完成收付款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笔，总额￥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亿元，系统与银行流水核对零差异；异常支付拦截</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笔（金额￥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万元），规避冒名账户风险。</a:t>
            </a:r>
          </a:p>
        </p:txBody>
      </p:sp>
      <p:sp>
        <p:nvSpPr>
          <p:cNvPr id="105" name="文本框 104"/>
          <p:cNvSpPr txBox="1"/>
          <p:nvPr/>
        </p:nvSpPr>
        <p:spPr>
          <a:xfrm>
            <a:off x="3666928" y="5358345"/>
            <a:ext cx="2179849"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活期存款占比从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天通知存款￥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万元，季度利息收益增加￥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万元；紧急付款响应时效≤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a:t>
            </a:r>
          </a:p>
        </p:txBody>
      </p:sp>
      <p:sp>
        <p:nvSpPr>
          <p:cNvPr id="2" name="标题 1"/>
          <p:cNvSpPr>
            <a:spLocks noGrp="1"/>
          </p:cNvSpPr>
          <p:nvPr>
            <p:ph type="title"/>
          </p:nvPr>
        </p:nvSpPr>
        <p:spPr>
          <a:xfrm>
            <a:off x="0" y="181867"/>
            <a:ext cx="9377266" cy="549275"/>
          </a:xfrm>
        </p:spPr>
        <p:txBody>
          <a:bodyPr/>
          <a:lstStyle/>
          <a:p>
            <a:r>
              <a:rPr lang="zh-CN" altLang="en-US"/>
              <a:t>上半年工作回顾</a:t>
            </a:r>
          </a:p>
        </p:txBody>
      </p:sp>
      <p:sp>
        <p:nvSpPr>
          <p:cNvPr id="108" name="任意多边形: 形状 107"/>
          <p:cNvSpPr/>
          <p:nvPr/>
        </p:nvSpPr>
        <p:spPr>
          <a:xfrm rot="5400000" flipV="1">
            <a:off x="5420404" y="1965491"/>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矩形: 圆角 115"/>
          <p:cNvSpPr/>
          <p:nvPr/>
        </p:nvSpPr>
        <p:spPr>
          <a:xfrm flipH="1">
            <a:off x="6433045" y="1045724"/>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申报零差错</a:t>
            </a:r>
          </a:p>
        </p:txBody>
      </p:sp>
      <p:sp>
        <p:nvSpPr>
          <p:cNvPr id="117" name="矩形: 圆角 116"/>
          <p:cNvSpPr/>
          <p:nvPr/>
        </p:nvSpPr>
        <p:spPr>
          <a:xfrm flipH="1">
            <a:off x="6433045" y="1377339"/>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任意多边形: 形状 109"/>
          <p:cNvSpPr/>
          <p:nvPr/>
        </p:nvSpPr>
        <p:spPr>
          <a:xfrm rot="5400000" flipV="1">
            <a:off x="8102148" y="1965491"/>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矩形: 圆角 113"/>
          <p:cNvSpPr/>
          <p:nvPr/>
        </p:nvSpPr>
        <p:spPr>
          <a:xfrm flipH="1">
            <a:off x="9114789" y="1045724"/>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稽查风险防控</a:t>
            </a:r>
          </a:p>
        </p:txBody>
      </p:sp>
      <p:sp>
        <p:nvSpPr>
          <p:cNvPr id="115" name="矩形: 圆角 114"/>
          <p:cNvSpPr/>
          <p:nvPr/>
        </p:nvSpPr>
        <p:spPr>
          <a:xfrm flipH="1">
            <a:off x="9114789" y="1377339"/>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文本框 111"/>
          <p:cNvSpPr txBox="1"/>
          <p:nvPr/>
        </p:nvSpPr>
        <p:spPr>
          <a:xfrm>
            <a:off x="6556709" y="1449199"/>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完成增值税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税种申报，税款缴纳￥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万元，申报表与账务数据一致；研发费用加计扣除￥</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万元，企业退税￥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万元，政策利用率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文本框 112"/>
          <p:cNvSpPr txBox="1"/>
          <p:nvPr/>
        </p:nvSpPr>
        <p:spPr>
          <a:xfrm>
            <a:off x="9209312" y="1449199"/>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开展进项税票合规扫描，识别异常发票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张（涉及税额￥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万元），及时进项转出；配合完成税务局例行检查，无重大违规事项。</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任意多边形: 形状 75"/>
          <p:cNvSpPr/>
          <p:nvPr/>
        </p:nvSpPr>
        <p:spPr>
          <a:xfrm rot="5400000">
            <a:off x="7541238" y="89792"/>
            <a:ext cx="1829030" cy="6972718"/>
          </a:xfrm>
          <a:custGeom>
            <a:avLst/>
            <a:gdLst>
              <a:gd name="connsiteX0" fmla="*/ 0 w 1829030"/>
              <a:gd name="connsiteY0" fmla="*/ 373017 h 6972718"/>
              <a:gd name="connsiteX1" fmla="*/ 267104 w 1829030"/>
              <a:gd name="connsiteY1" fmla="*/ 0 h 6972718"/>
              <a:gd name="connsiteX2" fmla="*/ 534207 w 1829030"/>
              <a:gd name="connsiteY2" fmla="*/ 373017 h 6972718"/>
              <a:gd name="connsiteX3" fmla="*/ 455275 w 1829030"/>
              <a:gd name="connsiteY3" fmla="*/ 373017 h 6972718"/>
              <a:gd name="connsiteX4" fmla="*/ 455275 w 1829030"/>
              <a:gd name="connsiteY4" fmla="*/ 4973218 h 6972718"/>
              <a:gd name="connsiteX5" fmla="*/ 455275 w 1829030"/>
              <a:gd name="connsiteY5" fmla="*/ 4973219 h 6972718"/>
              <a:gd name="connsiteX6" fmla="*/ 455275 w 1829030"/>
              <a:gd name="connsiteY6" fmla="*/ 4973219 h 6972718"/>
              <a:gd name="connsiteX7" fmla="*/ 455274 w 1829030"/>
              <a:gd name="connsiteY7" fmla="*/ 5910543 h 6972718"/>
              <a:gd name="connsiteX8" fmla="*/ 455274 w 1829030"/>
              <a:gd name="connsiteY8" fmla="*/ 5910544 h 6972718"/>
              <a:gd name="connsiteX9" fmla="*/ 457368 w 1829030"/>
              <a:gd name="connsiteY9" fmla="*/ 5931306 h 6972718"/>
              <a:gd name="connsiteX10" fmla="*/ 457368 w 1829030"/>
              <a:gd name="connsiteY10" fmla="*/ 5931305 h 6972718"/>
              <a:gd name="connsiteX11" fmla="*/ 469209 w 1829030"/>
              <a:gd name="connsiteY11" fmla="*/ 6048763 h 6972718"/>
              <a:gd name="connsiteX12" fmla="*/ 704854 w 1829030"/>
              <a:gd name="connsiteY12" fmla="*/ 6439764 h 6972718"/>
              <a:gd name="connsiteX13" fmla="*/ 773702 w 1829030"/>
              <a:gd name="connsiteY13" fmla="*/ 6487475 h 6972718"/>
              <a:gd name="connsiteX14" fmla="*/ 799728 w 1829030"/>
              <a:gd name="connsiteY14" fmla="*/ 6505510 h 6972718"/>
              <a:gd name="connsiteX15" fmla="*/ 1141105 w 1829030"/>
              <a:gd name="connsiteY15" fmla="*/ 6596374 h 6972718"/>
              <a:gd name="connsiteX16" fmla="*/ 1141105 w 1829030"/>
              <a:gd name="connsiteY16" fmla="*/ 6596375 h 6972718"/>
              <a:gd name="connsiteX17" fmla="*/ 1141105 w 1829030"/>
              <a:gd name="connsiteY17" fmla="*/ 6596375 h 6972718"/>
              <a:gd name="connsiteX18" fmla="*/ 1279324 w 1829030"/>
              <a:gd name="connsiteY18" fmla="*/ 6582442 h 6972718"/>
              <a:gd name="connsiteX19" fmla="*/ 1826936 w 1829030"/>
              <a:gd name="connsiteY19" fmla="*/ 5910544 h 6972718"/>
              <a:gd name="connsiteX20" fmla="*/ 1826936 w 1829030"/>
              <a:gd name="connsiteY20" fmla="*/ 5760920 h 6972718"/>
              <a:gd name="connsiteX21" fmla="*/ 1826937 w 1829030"/>
              <a:gd name="connsiteY21" fmla="*/ 5760930 h 6972718"/>
              <a:gd name="connsiteX22" fmla="*/ 1826937 w 1829030"/>
              <a:gd name="connsiteY22" fmla="*/ 5760920 h 6972718"/>
              <a:gd name="connsiteX23" fmla="*/ 1829030 w 1829030"/>
              <a:gd name="connsiteY23" fmla="*/ 5781682 h 6972718"/>
              <a:gd name="connsiteX24" fmla="*/ 1829030 w 1829030"/>
              <a:gd name="connsiteY24" fmla="*/ 6719006 h 6972718"/>
              <a:gd name="connsiteX25" fmla="*/ 1816748 w 1829030"/>
              <a:gd name="connsiteY25" fmla="*/ 6730169 h 6972718"/>
              <a:gd name="connsiteX26" fmla="*/ 1141106 w 1829030"/>
              <a:gd name="connsiteY26" fmla="*/ 6972718 h 6972718"/>
              <a:gd name="connsiteX27" fmla="*/ 465464 w 1829030"/>
              <a:gd name="connsiteY27" fmla="*/ 6730169 h 6972718"/>
              <a:gd name="connsiteX28" fmla="*/ 465302 w 1829030"/>
              <a:gd name="connsiteY28" fmla="*/ 6730022 h 6972718"/>
              <a:gd name="connsiteX29" fmla="*/ 457367 w 1829030"/>
              <a:gd name="connsiteY29" fmla="*/ 6722811 h 6972718"/>
              <a:gd name="connsiteX30" fmla="*/ 390034 w 1829030"/>
              <a:gd name="connsiteY30" fmla="*/ 6661615 h 6972718"/>
              <a:gd name="connsiteX31" fmla="*/ 84415 w 1829030"/>
              <a:gd name="connsiteY31" fmla="*/ 6019145 h 6972718"/>
              <a:gd name="connsiteX32" fmla="*/ 81024 w 1829030"/>
              <a:gd name="connsiteY32" fmla="*/ 5951992 h 6972718"/>
              <a:gd name="connsiteX33" fmla="*/ 81024 w 1829030"/>
              <a:gd name="connsiteY33" fmla="*/ 5951991 h 6972718"/>
              <a:gd name="connsiteX34" fmla="*/ 78931 w 1829030"/>
              <a:gd name="connsiteY34" fmla="*/ 5910543 h 6972718"/>
              <a:gd name="connsiteX35" fmla="*/ 78933 w 1829030"/>
              <a:gd name="connsiteY35" fmla="*/ 373017 h 69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29030" h="6972718">
                <a:moveTo>
                  <a:pt x="0" y="373017"/>
                </a:moveTo>
                <a:lnTo>
                  <a:pt x="267104" y="0"/>
                </a:lnTo>
                <a:lnTo>
                  <a:pt x="534207" y="373017"/>
                </a:lnTo>
                <a:lnTo>
                  <a:pt x="455275" y="373017"/>
                </a:lnTo>
                <a:lnTo>
                  <a:pt x="455275" y="4973218"/>
                </a:lnTo>
                <a:lnTo>
                  <a:pt x="455275" y="4973219"/>
                </a:lnTo>
                <a:lnTo>
                  <a:pt x="455275" y="4973219"/>
                </a:lnTo>
                <a:lnTo>
                  <a:pt x="455274" y="5910543"/>
                </a:lnTo>
                <a:lnTo>
                  <a:pt x="455274" y="5910544"/>
                </a:lnTo>
                <a:lnTo>
                  <a:pt x="457368" y="5931306"/>
                </a:lnTo>
                <a:lnTo>
                  <a:pt x="457368" y="5931305"/>
                </a:lnTo>
                <a:lnTo>
                  <a:pt x="469209" y="6048763"/>
                </a:lnTo>
                <a:cubicBezTo>
                  <a:pt x="501184" y="6205024"/>
                  <a:pt x="586302" y="6341927"/>
                  <a:pt x="704854" y="6439764"/>
                </a:cubicBezTo>
                <a:lnTo>
                  <a:pt x="773702" y="6487475"/>
                </a:lnTo>
                <a:lnTo>
                  <a:pt x="799728" y="6505510"/>
                </a:lnTo>
                <a:cubicBezTo>
                  <a:pt x="900256" y="6563315"/>
                  <a:pt x="1016820" y="6596374"/>
                  <a:pt x="1141105" y="6596374"/>
                </a:cubicBezTo>
                <a:lnTo>
                  <a:pt x="1141105" y="6596375"/>
                </a:lnTo>
                <a:lnTo>
                  <a:pt x="1141105" y="6596375"/>
                </a:lnTo>
                <a:lnTo>
                  <a:pt x="1279324" y="6582442"/>
                </a:lnTo>
                <a:cubicBezTo>
                  <a:pt x="1591845" y="6518490"/>
                  <a:pt x="1826936" y="6241971"/>
                  <a:pt x="1826936" y="5910544"/>
                </a:cubicBezTo>
                <a:lnTo>
                  <a:pt x="1826936" y="5760920"/>
                </a:lnTo>
                <a:lnTo>
                  <a:pt x="1826937" y="5760930"/>
                </a:lnTo>
                <a:lnTo>
                  <a:pt x="1826937" y="5760920"/>
                </a:lnTo>
                <a:lnTo>
                  <a:pt x="1829030" y="5781682"/>
                </a:lnTo>
                <a:lnTo>
                  <a:pt x="1829030" y="6719006"/>
                </a:lnTo>
                <a:lnTo>
                  <a:pt x="1816748" y="6730169"/>
                </a:lnTo>
                <a:cubicBezTo>
                  <a:pt x="1633141" y="6881694"/>
                  <a:pt x="1397753" y="6972718"/>
                  <a:pt x="1141106" y="6972718"/>
                </a:cubicBezTo>
                <a:cubicBezTo>
                  <a:pt x="884458" y="6972718"/>
                  <a:pt x="649071" y="6881694"/>
                  <a:pt x="465464" y="6730169"/>
                </a:cubicBezTo>
                <a:lnTo>
                  <a:pt x="465302" y="6730022"/>
                </a:lnTo>
                <a:lnTo>
                  <a:pt x="457367" y="6722811"/>
                </a:lnTo>
                <a:lnTo>
                  <a:pt x="390034" y="6661615"/>
                </a:lnTo>
                <a:cubicBezTo>
                  <a:pt x="221846" y="6493426"/>
                  <a:pt x="109799" y="6269096"/>
                  <a:pt x="84415" y="6019145"/>
                </a:cubicBezTo>
                <a:lnTo>
                  <a:pt x="81024" y="5951992"/>
                </a:lnTo>
                <a:lnTo>
                  <a:pt x="81024" y="5951991"/>
                </a:lnTo>
                <a:lnTo>
                  <a:pt x="78931" y="5910543"/>
                </a:lnTo>
                <a:cubicBezTo>
                  <a:pt x="78932" y="4064701"/>
                  <a:pt x="78933" y="2218859"/>
                  <a:pt x="78933" y="37301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9" name="任意多边形: 形状 78"/>
          <p:cNvSpPr/>
          <p:nvPr/>
        </p:nvSpPr>
        <p:spPr>
          <a:xfrm rot="16200000">
            <a:off x="2821733" y="545067"/>
            <a:ext cx="1829030" cy="6972718"/>
          </a:xfrm>
          <a:custGeom>
            <a:avLst/>
            <a:gdLst>
              <a:gd name="connsiteX0" fmla="*/ 1829030 w 1829030"/>
              <a:gd name="connsiteY0" fmla="*/ 5781682 h 6972718"/>
              <a:gd name="connsiteX1" fmla="*/ 1829030 w 1829030"/>
              <a:gd name="connsiteY1" fmla="*/ 6719006 h 6972718"/>
              <a:gd name="connsiteX2" fmla="*/ 1816748 w 1829030"/>
              <a:gd name="connsiteY2" fmla="*/ 6730169 h 6972718"/>
              <a:gd name="connsiteX3" fmla="*/ 1141106 w 1829030"/>
              <a:gd name="connsiteY3" fmla="*/ 6972718 h 6972718"/>
              <a:gd name="connsiteX4" fmla="*/ 465464 w 1829030"/>
              <a:gd name="connsiteY4" fmla="*/ 6730169 h 6972718"/>
              <a:gd name="connsiteX5" fmla="*/ 465302 w 1829030"/>
              <a:gd name="connsiteY5" fmla="*/ 6730022 h 6972718"/>
              <a:gd name="connsiteX6" fmla="*/ 457367 w 1829030"/>
              <a:gd name="connsiteY6" fmla="*/ 6722811 h 6972718"/>
              <a:gd name="connsiteX7" fmla="*/ 390034 w 1829030"/>
              <a:gd name="connsiteY7" fmla="*/ 6661615 h 6972718"/>
              <a:gd name="connsiteX8" fmla="*/ 84415 w 1829030"/>
              <a:gd name="connsiteY8" fmla="*/ 6019145 h 6972718"/>
              <a:gd name="connsiteX9" fmla="*/ 81024 w 1829030"/>
              <a:gd name="connsiteY9" fmla="*/ 5951992 h 6972718"/>
              <a:gd name="connsiteX10" fmla="*/ 81024 w 1829030"/>
              <a:gd name="connsiteY10" fmla="*/ 5951991 h 6972718"/>
              <a:gd name="connsiteX11" fmla="*/ 78931 w 1829030"/>
              <a:gd name="connsiteY11" fmla="*/ 5910543 h 6972718"/>
              <a:gd name="connsiteX12" fmla="*/ 78933 w 1829030"/>
              <a:gd name="connsiteY12" fmla="*/ 373017 h 6972718"/>
              <a:gd name="connsiteX13" fmla="*/ 0 w 1829030"/>
              <a:gd name="connsiteY13" fmla="*/ 373017 h 6972718"/>
              <a:gd name="connsiteX14" fmla="*/ 1 w 1829030"/>
              <a:gd name="connsiteY14" fmla="*/ 373016 h 6972718"/>
              <a:gd name="connsiteX15" fmla="*/ 1 w 1829030"/>
              <a:gd name="connsiteY15" fmla="*/ 373016 h 6972718"/>
              <a:gd name="connsiteX16" fmla="*/ 107709 w 1829030"/>
              <a:gd name="connsiteY16" fmla="*/ 222599 h 6972718"/>
              <a:gd name="connsiteX17" fmla="*/ 267104 w 1829030"/>
              <a:gd name="connsiteY17" fmla="*/ 0 h 6972718"/>
              <a:gd name="connsiteX18" fmla="*/ 267105 w 1829030"/>
              <a:gd name="connsiteY18" fmla="*/ 1 h 6972718"/>
              <a:gd name="connsiteX19" fmla="*/ 267105 w 1829030"/>
              <a:gd name="connsiteY19" fmla="*/ 1 h 6972718"/>
              <a:gd name="connsiteX20" fmla="*/ 534208 w 1829030"/>
              <a:gd name="connsiteY20" fmla="*/ 373016 h 6972718"/>
              <a:gd name="connsiteX21" fmla="*/ 534206 w 1829030"/>
              <a:gd name="connsiteY21" fmla="*/ 373016 h 6972718"/>
              <a:gd name="connsiteX22" fmla="*/ 534207 w 1829030"/>
              <a:gd name="connsiteY22" fmla="*/ 373017 h 6972718"/>
              <a:gd name="connsiteX23" fmla="*/ 455276 w 1829030"/>
              <a:gd name="connsiteY23" fmla="*/ 373017 h 6972718"/>
              <a:gd name="connsiteX24" fmla="*/ 455276 w 1829030"/>
              <a:gd name="connsiteY24" fmla="*/ 4973219 h 6972718"/>
              <a:gd name="connsiteX25" fmla="*/ 455275 w 1829030"/>
              <a:gd name="connsiteY25" fmla="*/ 4973219 h 6972718"/>
              <a:gd name="connsiteX26" fmla="*/ 455275 w 1829030"/>
              <a:gd name="connsiteY26" fmla="*/ 4973219 h 6972718"/>
              <a:gd name="connsiteX27" fmla="*/ 455275 w 1829030"/>
              <a:gd name="connsiteY27" fmla="*/ 5429215 h 6972718"/>
              <a:gd name="connsiteX28" fmla="*/ 455275 w 1829030"/>
              <a:gd name="connsiteY28" fmla="*/ 5910544 h 6972718"/>
              <a:gd name="connsiteX29" fmla="*/ 457369 w 1829030"/>
              <a:gd name="connsiteY29" fmla="*/ 5931306 h 6972718"/>
              <a:gd name="connsiteX30" fmla="*/ 457369 w 1829030"/>
              <a:gd name="connsiteY30" fmla="*/ 5931310 h 6972718"/>
              <a:gd name="connsiteX31" fmla="*/ 458555 w 1829030"/>
              <a:gd name="connsiteY31" fmla="*/ 5943083 h 6972718"/>
              <a:gd name="connsiteX32" fmla="*/ 469209 w 1829030"/>
              <a:gd name="connsiteY32" fmla="*/ 6048763 h 6972718"/>
              <a:gd name="connsiteX33" fmla="*/ 477687 w 1829030"/>
              <a:gd name="connsiteY33" fmla="*/ 6077309 h 6972718"/>
              <a:gd name="connsiteX34" fmla="*/ 502846 w 1829030"/>
              <a:gd name="connsiteY34" fmla="*/ 6162020 h 6972718"/>
              <a:gd name="connsiteX35" fmla="*/ 799728 w 1829030"/>
              <a:gd name="connsiteY35" fmla="*/ 6505509 h 6972718"/>
              <a:gd name="connsiteX36" fmla="*/ 799755 w 1829030"/>
              <a:gd name="connsiteY36" fmla="*/ 6505521 h 6972718"/>
              <a:gd name="connsiteX37" fmla="*/ 943007 w 1829030"/>
              <a:gd name="connsiteY37" fmla="*/ 6564945 h 6972718"/>
              <a:gd name="connsiteX38" fmla="*/ 980926 w 1829030"/>
              <a:gd name="connsiteY38" fmla="*/ 6575188 h 6972718"/>
              <a:gd name="connsiteX39" fmla="*/ 1141092 w 1829030"/>
              <a:gd name="connsiteY39" fmla="*/ 6596373 h 6972718"/>
              <a:gd name="connsiteX40" fmla="*/ 1141105 w 1829030"/>
              <a:gd name="connsiteY40" fmla="*/ 6596374 h 6972718"/>
              <a:gd name="connsiteX41" fmla="*/ 1141105 w 1829030"/>
              <a:gd name="connsiteY41" fmla="*/ 6596375 h 6972718"/>
              <a:gd name="connsiteX42" fmla="*/ 1279324 w 1829030"/>
              <a:gd name="connsiteY42" fmla="*/ 6582441 h 6972718"/>
              <a:gd name="connsiteX43" fmla="*/ 1400748 w 1829030"/>
              <a:gd name="connsiteY43" fmla="*/ 6544749 h 6972718"/>
              <a:gd name="connsiteX44" fmla="*/ 1437526 w 1829030"/>
              <a:gd name="connsiteY44" fmla="*/ 6526486 h 6972718"/>
              <a:gd name="connsiteX45" fmla="*/ 1511415 w 1829030"/>
              <a:gd name="connsiteY45" fmla="*/ 6486380 h 6972718"/>
              <a:gd name="connsiteX46" fmla="*/ 1550086 w 1829030"/>
              <a:gd name="connsiteY46" fmla="*/ 6458185 h 6972718"/>
              <a:gd name="connsiteX47" fmla="*/ 1609135 w 1829030"/>
              <a:gd name="connsiteY47" fmla="*/ 6409465 h 6972718"/>
              <a:gd name="connsiteX48" fmla="*/ 1643999 w 1829030"/>
              <a:gd name="connsiteY48" fmla="*/ 6373758 h 6972718"/>
              <a:gd name="connsiteX49" fmla="*/ 1691729 w 1829030"/>
              <a:gd name="connsiteY49" fmla="*/ 6315909 h 6972718"/>
              <a:gd name="connsiteX50" fmla="*/ 1720268 w 1829030"/>
              <a:gd name="connsiteY50" fmla="*/ 6274726 h 6972718"/>
              <a:gd name="connsiteX51" fmla="*/ 1757025 w 1829030"/>
              <a:gd name="connsiteY51" fmla="*/ 6207007 h 6972718"/>
              <a:gd name="connsiteX52" fmla="*/ 1777515 w 1829030"/>
              <a:gd name="connsiteY52" fmla="*/ 6163086 h 6972718"/>
              <a:gd name="connsiteX53" fmla="*/ 1802827 w 1829030"/>
              <a:gd name="connsiteY53" fmla="*/ 6081542 h 6972718"/>
              <a:gd name="connsiteX54" fmla="*/ 1813789 w 1829030"/>
              <a:gd name="connsiteY54" fmla="*/ 6040961 h 6972718"/>
              <a:gd name="connsiteX55" fmla="*/ 1826933 w 1829030"/>
              <a:gd name="connsiteY55" fmla="*/ 5910579 h 6972718"/>
              <a:gd name="connsiteX56" fmla="*/ 1826936 w 1829030"/>
              <a:gd name="connsiteY56" fmla="*/ 5910544 h 6972718"/>
              <a:gd name="connsiteX57" fmla="*/ 1826936 w 1829030"/>
              <a:gd name="connsiteY57" fmla="*/ 5760920 h 6972718"/>
              <a:gd name="connsiteX58" fmla="*/ 1826937 w 1829030"/>
              <a:gd name="connsiteY58" fmla="*/ 5760925 h 6972718"/>
              <a:gd name="connsiteX59" fmla="*/ 1826937 w 1829030"/>
              <a:gd name="connsiteY59" fmla="*/ 5760920 h 6972718"/>
              <a:gd name="connsiteX60" fmla="*/ 1826937 w 1829030"/>
              <a:gd name="connsiteY60" fmla="*/ 5760925 h 6972718"/>
              <a:gd name="connsiteX61" fmla="*/ 1826937 w 1829030"/>
              <a:gd name="connsiteY61" fmla="*/ 5760920 h 69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829030" h="6972718">
                <a:moveTo>
                  <a:pt x="1829030" y="5781682"/>
                </a:moveTo>
                <a:lnTo>
                  <a:pt x="1829030" y="6719006"/>
                </a:lnTo>
                <a:lnTo>
                  <a:pt x="1816748" y="6730169"/>
                </a:lnTo>
                <a:cubicBezTo>
                  <a:pt x="1633141" y="6881694"/>
                  <a:pt x="1397753" y="6972718"/>
                  <a:pt x="1141106" y="6972718"/>
                </a:cubicBezTo>
                <a:cubicBezTo>
                  <a:pt x="884458" y="6972718"/>
                  <a:pt x="649071" y="6881694"/>
                  <a:pt x="465464" y="6730169"/>
                </a:cubicBezTo>
                <a:lnTo>
                  <a:pt x="465302" y="6730022"/>
                </a:lnTo>
                <a:lnTo>
                  <a:pt x="457367" y="6722811"/>
                </a:lnTo>
                <a:lnTo>
                  <a:pt x="390034" y="6661615"/>
                </a:lnTo>
                <a:cubicBezTo>
                  <a:pt x="221846" y="6493426"/>
                  <a:pt x="109799" y="6269096"/>
                  <a:pt x="84415" y="6019145"/>
                </a:cubicBezTo>
                <a:lnTo>
                  <a:pt x="81024" y="5951992"/>
                </a:lnTo>
                <a:lnTo>
                  <a:pt x="81024" y="5951991"/>
                </a:lnTo>
                <a:lnTo>
                  <a:pt x="78931" y="5910543"/>
                </a:lnTo>
                <a:cubicBezTo>
                  <a:pt x="78932" y="4064701"/>
                  <a:pt x="78933" y="2218859"/>
                  <a:pt x="78933" y="373017"/>
                </a:cubicBezTo>
                <a:lnTo>
                  <a:pt x="0" y="373017"/>
                </a:lnTo>
                <a:lnTo>
                  <a:pt x="1" y="373016"/>
                </a:lnTo>
                <a:lnTo>
                  <a:pt x="1" y="373016"/>
                </a:lnTo>
                <a:lnTo>
                  <a:pt x="107709" y="222599"/>
                </a:lnTo>
                <a:lnTo>
                  <a:pt x="267104" y="0"/>
                </a:lnTo>
                <a:lnTo>
                  <a:pt x="267105" y="1"/>
                </a:lnTo>
                <a:lnTo>
                  <a:pt x="267105" y="1"/>
                </a:lnTo>
                <a:lnTo>
                  <a:pt x="534208" y="373016"/>
                </a:lnTo>
                <a:lnTo>
                  <a:pt x="534206" y="373016"/>
                </a:lnTo>
                <a:lnTo>
                  <a:pt x="534207" y="373017"/>
                </a:lnTo>
                <a:lnTo>
                  <a:pt x="455276" y="373017"/>
                </a:lnTo>
                <a:lnTo>
                  <a:pt x="455276" y="4973219"/>
                </a:lnTo>
                <a:lnTo>
                  <a:pt x="455275" y="4973219"/>
                </a:lnTo>
                <a:lnTo>
                  <a:pt x="455275" y="4973219"/>
                </a:lnTo>
                <a:lnTo>
                  <a:pt x="455275" y="5429215"/>
                </a:lnTo>
                <a:lnTo>
                  <a:pt x="455275" y="5910544"/>
                </a:lnTo>
                <a:lnTo>
                  <a:pt x="457369" y="5931306"/>
                </a:lnTo>
                <a:lnTo>
                  <a:pt x="457369" y="5931310"/>
                </a:lnTo>
                <a:lnTo>
                  <a:pt x="458555" y="5943083"/>
                </a:lnTo>
                <a:lnTo>
                  <a:pt x="469209" y="6048763"/>
                </a:lnTo>
                <a:lnTo>
                  <a:pt x="477687" y="6077309"/>
                </a:lnTo>
                <a:lnTo>
                  <a:pt x="502846" y="6162020"/>
                </a:lnTo>
                <a:cubicBezTo>
                  <a:pt x="560161" y="6307370"/>
                  <a:pt x="665691" y="6428436"/>
                  <a:pt x="799728" y="6505509"/>
                </a:cubicBezTo>
                <a:lnTo>
                  <a:pt x="799755" y="6505521"/>
                </a:lnTo>
                <a:lnTo>
                  <a:pt x="943007" y="6564945"/>
                </a:lnTo>
                <a:lnTo>
                  <a:pt x="980926" y="6575188"/>
                </a:lnTo>
                <a:lnTo>
                  <a:pt x="1141092" y="6596373"/>
                </a:lnTo>
                <a:lnTo>
                  <a:pt x="1141105" y="6596374"/>
                </a:lnTo>
                <a:lnTo>
                  <a:pt x="1141105" y="6596375"/>
                </a:lnTo>
                <a:cubicBezTo>
                  <a:pt x="1188452" y="6596375"/>
                  <a:pt x="1234678" y="6591577"/>
                  <a:pt x="1279324" y="6582441"/>
                </a:cubicBezTo>
                <a:lnTo>
                  <a:pt x="1400748" y="6544749"/>
                </a:lnTo>
                <a:lnTo>
                  <a:pt x="1437526" y="6526486"/>
                </a:lnTo>
                <a:lnTo>
                  <a:pt x="1511415" y="6486380"/>
                </a:lnTo>
                <a:lnTo>
                  <a:pt x="1550086" y="6458185"/>
                </a:lnTo>
                <a:lnTo>
                  <a:pt x="1609135" y="6409465"/>
                </a:lnTo>
                <a:lnTo>
                  <a:pt x="1643999" y="6373758"/>
                </a:lnTo>
                <a:lnTo>
                  <a:pt x="1691729" y="6315909"/>
                </a:lnTo>
                <a:lnTo>
                  <a:pt x="1720268" y="6274726"/>
                </a:lnTo>
                <a:lnTo>
                  <a:pt x="1757025" y="6207007"/>
                </a:lnTo>
                <a:lnTo>
                  <a:pt x="1777515" y="6163086"/>
                </a:lnTo>
                <a:lnTo>
                  <a:pt x="1802827" y="6081542"/>
                </a:lnTo>
                <a:lnTo>
                  <a:pt x="1813789" y="6040961"/>
                </a:lnTo>
                <a:lnTo>
                  <a:pt x="1826933" y="5910579"/>
                </a:lnTo>
                <a:lnTo>
                  <a:pt x="1826936" y="5910544"/>
                </a:lnTo>
                <a:lnTo>
                  <a:pt x="1826936" y="5760920"/>
                </a:lnTo>
                <a:lnTo>
                  <a:pt x="1826937" y="5760925"/>
                </a:lnTo>
                <a:lnTo>
                  <a:pt x="1826937" y="5760920"/>
                </a:lnTo>
                <a:lnTo>
                  <a:pt x="1826937" y="5760925"/>
                </a:lnTo>
                <a:lnTo>
                  <a:pt x="1826937" y="576092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文本框 117"/>
          <p:cNvSpPr txBox="1"/>
          <p:nvPr/>
        </p:nvSpPr>
        <p:spPr>
          <a:xfrm>
            <a:off x="787283" y="4499997"/>
            <a:ext cx="5212299"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资金管理：安全与效率双提升</a:t>
            </a:r>
          </a:p>
        </p:txBody>
      </p:sp>
      <p:sp>
        <p:nvSpPr>
          <p:cNvPr id="119" name="文本框 118"/>
          <p:cNvSpPr txBox="1"/>
          <p:nvPr/>
        </p:nvSpPr>
        <p:spPr>
          <a:xfrm>
            <a:off x="6329667" y="2733061"/>
            <a:ext cx="52123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税务管理：合规与节税并重</a:t>
            </a:r>
          </a:p>
        </p:txBody>
      </p:sp>
      <p:sp>
        <p:nvSpPr>
          <p:cNvPr id="136" name="矩形 135"/>
          <p:cNvSpPr/>
          <p:nvPr/>
        </p:nvSpPr>
        <p:spPr>
          <a:xfrm>
            <a:off x="7559694" y="3263354"/>
            <a:ext cx="4118345" cy="3412779"/>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箭头: 右 122"/>
          <p:cNvSpPr/>
          <p:nvPr/>
        </p:nvSpPr>
        <p:spPr>
          <a:xfrm>
            <a:off x="6233829" y="5141644"/>
            <a:ext cx="1305546" cy="877155"/>
          </a:xfrm>
          <a:prstGeom prst="rightArrow">
            <a:avLst/>
          </a:prstGeom>
          <a:gradFill flip="none" rotWithShape="1">
            <a:gsLst>
              <a:gs pos="0">
                <a:schemeClr val="accent6">
                  <a:alpha val="0"/>
                </a:schemeClr>
              </a:gs>
              <a:gs pos="100000">
                <a:schemeClr val="accent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图形31"/>
          <p:cNvSpPr/>
          <p:nvPr/>
        </p:nvSpPr>
        <p:spPr bwMode="gray">
          <a:xfrm>
            <a:off x="8224385" y="3831030"/>
            <a:ext cx="1013057" cy="273983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1" name="图形 33"/>
          <p:cNvSpPr>
            <a:spLocks noChangeArrowheads="1"/>
          </p:cNvSpPr>
          <p:nvPr/>
        </p:nvSpPr>
        <p:spPr bwMode="gray">
          <a:xfrm>
            <a:off x="8231960" y="5129668"/>
            <a:ext cx="1004471" cy="1432197"/>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5" name="图形31"/>
          <p:cNvSpPr/>
          <p:nvPr/>
        </p:nvSpPr>
        <p:spPr bwMode="gray">
          <a:xfrm>
            <a:off x="9946500" y="3831030"/>
            <a:ext cx="1013057" cy="273983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6" name="图形33"/>
          <p:cNvSpPr>
            <a:spLocks noChangeArrowheads="1"/>
          </p:cNvSpPr>
          <p:nvPr/>
        </p:nvSpPr>
        <p:spPr bwMode="gray">
          <a:xfrm>
            <a:off x="9954075" y="5544416"/>
            <a:ext cx="1004472" cy="1017448"/>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7" name="图形 3"/>
          <p:cNvSpPr/>
          <p:nvPr/>
        </p:nvSpPr>
        <p:spPr>
          <a:xfrm rot="5803791">
            <a:off x="9040322" y="3949033"/>
            <a:ext cx="931033" cy="1323304"/>
          </a:xfrm>
          <a:prstGeom prst="swooshArrow">
            <a:avLst>
              <a:gd name="adj1" fmla="val 24477"/>
              <a:gd name="adj2" fmla="val 22117"/>
            </a:avLst>
          </a:prstGeom>
          <a:solidFill>
            <a:schemeClr val="accent2"/>
          </a:solidFill>
        </p:spPr>
        <p:style>
          <a:lnRef idx="0">
            <a:schemeClr val="dk1">
              <a:hueOff val="0"/>
              <a:satOff val="0"/>
              <a:lumOff val="0"/>
              <a:alphaOff val="0"/>
            </a:schemeClr>
          </a:lnRef>
          <a:fillRef idx="1">
            <a:schemeClr val="accent5">
              <a:tint val="40000"/>
              <a:hueOff val="0"/>
              <a:satOff val="0"/>
              <a:lumOff val="0"/>
              <a:alphaOff val="0"/>
            </a:schemeClr>
          </a:fillRef>
          <a:effectRef idx="0">
            <a:schemeClr val="accent5">
              <a:tint val="4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65000"/>
                  <a:lumOff val="35000"/>
                </a:prstClr>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8" name="文本框 127"/>
          <p:cNvSpPr txBox="1"/>
          <p:nvPr/>
        </p:nvSpPr>
        <p:spPr>
          <a:xfrm>
            <a:off x="8046911" y="4712186"/>
            <a:ext cx="1421692"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45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文本框 128"/>
          <p:cNvSpPr txBox="1"/>
          <p:nvPr/>
        </p:nvSpPr>
        <p:spPr>
          <a:xfrm>
            <a:off x="9769131" y="5183638"/>
            <a:ext cx="1421692"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8345237" y="3429000"/>
            <a:ext cx="255494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活期存款占比</a:t>
            </a:r>
          </a:p>
        </p:txBody>
      </p:sp>
      <p:sp>
        <p:nvSpPr>
          <p:cNvPr id="139" name="矩形 138"/>
          <p:cNvSpPr/>
          <p:nvPr/>
        </p:nvSpPr>
        <p:spPr>
          <a:xfrm flipH="1" flipV="1">
            <a:off x="563337" y="945915"/>
            <a:ext cx="4118345" cy="3412779"/>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箭头: 右 139"/>
          <p:cNvSpPr/>
          <p:nvPr/>
        </p:nvSpPr>
        <p:spPr>
          <a:xfrm flipH="1" flipV="1">
            <a:off x="4702001" y="1603249"/>
            <a:ext cx="1305546" cy="877155"/>
          </a:xfrm>
          <a:prstGeom prst="rightArrow">
            <a:avLst/>
          </a:prstGeom>
          <a:gradFill flip="none" rotWithShape="1">
            <a:gsLst>
              <a:gs pos="0">
                <a:schemeClr val="accent3">
                  <a:alpha val="0"/>
                </a:schemeClr>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图形 31"/>
          <p:cNvSpPr/>
          <p:nvPr/>
        </p:nvSpPr>
        <p:spPr bwMode="gray">
          <a:xfrm>
            <a:off x="2374021" y="1259414"/>
            <a:ext cx="735272" cy="2973037"/>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2" name="图形 33"/>
          <p:cNvSpPr>
            <a:spLocks noChangeArrowheads="1"/>
          </p:cNvSpPr>
          <p:nvPr/>
        </p:nvSpPr>
        <p:spPr bwMode="gray">
          <a:xfrm>
            <a:off x="2379519" y="3131129"/>
            <a:ext cx="729040" cy="1091560"/>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3" name="文本框 142"/>
          <p:cNvSpPr txBox="1"/>
          <p:nvPr/>
        </p:nvSpPr>
        <p:spPr>
          <a:xfrm flipH="1">
            <a:off x="469802" y="1571900"/>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1050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右大括号 144"/>
          <p:cNvSpPr/>
          <p:nvPr/>
        </p:nvSpPr>
        <p:spPr>
          <a:xfrm flipH="1">
            <a:off x="1953819" y="1376943"/>
            <a:ext cx="344608" cy="2737978"/>
          </a:xfrm>
          <a:prstGeom prst="rightBrace">
            <a:avLst>
              <a:gd name="adj1" fmla="val 37622"/>
              <a:gd name="adj2" fmla="val 16325"/>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flipH="1">
            <a:off x="469802" y="1915488"/>
            <a:ext cx="158130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税款缴纳</a:t>
            </a:r>
          </a:p>
        </p:txBody>
      </p:sp>
      <p:sp>
        <p:nvSpPr>
          <p:cNvPr id="149" name="文本框 148"/>
          <p:cNvSpPr txBox="1"/>
          <p:nvPr/>
        </p:nvSpPr>
        <p:spPr>
          <a:xfrm>
            <a:off x="3588841" y="3508493"/>
            <a:ext cx="811927"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320 </a:t>
            </a:r>
            <a:r>
              <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0" name="右大括号 149"/>
          <p:cNvSpPr/>
          <p:nvPr/>
        </p:nvSpPr>
        <p:spPr>
          <a:xfrm>
            <a:off x="3159163" y="3234987"/>
            <a:ext cx="344608" cy="898221"/>
          </a:xfrm>
          <a:prstGeom prst="rightBrace">
            <a:avLst>
              <a:gd name="adj1" fmla="val 16806"/>
              <a:gd name="adj2" fmla="val 50259"/>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1" name="文本框 150"/>
          <p:cNvSpPr txBox="1"/>
          <p:nvPr/>
        </p:nvSpPr>
        <p:spPr>
          <a:xfrm>
            <a:off x="3454552" y="3745401"/>
            <a:ext cx="971944" cy="4140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研发费用加计扣除</a:t>
            </a:r>
          </a:p>
        </p:txBody>
      </p:sp>
      <p:sp>
        <p:nvSpPr>
          <p:cNvPr id="153" name="文本框 152"/>
          <p:cNvSpPr txBox="1"/>
          <p:nvPr/>
        </p:nvSpPr>
        <p:spPr>
          <a:xfrm>
            <a:off x="3588841" y="2717668"/>
            <a:ext cx="811927"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78 </a:t>
            </a:r>
            <a:r>
              <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4" name="右大括号 153"/>
          <p:cNvSpPr/>
          <p:nvPr/>
        </p:nvSpPr>
        <p:spPr>
          <a:xfrm>
            <a:off x="3159163" y="2707607"/>
            <a:ext cx="344608" cy="512856"/>
          </a:xfrm>
          <a:prstGeom prst="rightBrace">
            <a:avLst>
              <a:gd name="adj1" fmla="val 10172"/>
              <a:gd name="adj2" fmla="val 50259"/>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文本框 154"/>
          <p:cNvSpPr txBox="1"/>
          <p:nvPr/>
        </p:nvSpPr>
        <p:spPr>
          <a:xfrm>
            <a:off x="3454552" y="2954576"/>
            <a:ext cx="971944" cy="2527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企业退税</a:t>
            </a:r>
          </a:p>
        </p:txBody>
      </p:sp>
      <p:sp>
        <p:nvSpPr>
          <p:cNvPr id="152" name="图形 33"/>
          <p:cNvSpPr>
            <a:spLocks noChangeArrowheads="1"/>
          </p:cNvSpPr>
          <p:nvPr/>
        </p:nvSpPr>
        <p:spPr bwMode="gray">
          <a:xfrm>
            <a:off x="2374021" y="2624768"/>
            <a:ext cx="729040" cy="690524"/>
          </a:xfrm>
          <a:prstGeom prst="can">
            <a:avLst>
              <a:gd name="adj" fmla="val 26994"/>
            </a:avLst>
          </a:prstGeom>
          <a:gradFill>
            <a:gsLst>
              <a:gs pos="100000">
                <a:schemeClr val="accent5"/>
              </a:gs>
              <a:gs pos="2000">
                <a:schemeClr val="accent6"/>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58" name="文本框 157"/>
          <p:cNvSpPr txBox="1"/>
          <p:nvPr/>
        </p:nvSpPr>
        <p:spPr>
          <a:xfrm flipH="1">
            <a:off x="5587173" y="3326719"/>
            <a:ext cx="1017655" cy="95313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工作回顾</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椭圆 47"/>
          <p:cNvSpPr/>
          <p:nvPr/>
        </p:nvSpPr>
        <p:spPr>
          <a:xfrm>
            <a:off x="1946777"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椭圆 48"/>
          <p:cNvSpPr/>
          <p:nvPr/>
        </p:nvSpPr>
        <p:spPr>
          <a:xfrm>
            <a:off x="3911671"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椭圆 49"/>
          <p:cNvSpPr/>
          <p:nvPr/>
        </p:nvSpPr>
        <p:spPr>
          <a:xfrm>
            <a:off x="6019816"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椭圆 50"/>
          <p:cNvSpPr/>
          <p:nvPr/>
        </p:nvSpPr>
        <p:spPr>
          <a:xfrm>
            <a:off x="8143395"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2" name="椭圆 51"/>
          <p:cNvSpPr/>
          <p:nvPr/>
        </p:nvSpPr>
        <p:spPr>
          <a:xfrm>
            <a:off x="10050129"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等腰三角形 41"/>
          <p:cNvSpPr/>
          <p:nvPr/>
        </p:nvSpPr>
        <p:spPr>
          <a:xfrm flipV="1">
            <a:off x="1531037" y="2538833"/>
            <a:ext cx="983848" cy="1139617"/>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等腰三角形 42"/>
          <p:cNvSpPr/>
          <p:nvPr/>
        </p:nvSpPr>
        <p:spPr>
          <a:xfrm flipV="1">
            <a:off x="9634389" y="2538833"/>
            <a:ext cx="983848" cy="1139617"/>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等腰三角形 43"/>
          <p:cNvSpPr/>
          <p:nvPr/>
        </p:nvSpPr>
        <p:spPr>
          <a:xfrm flipV="1">
            <a:off x="3324432" y="2141528"/>
            <a:ext cx="1326847" cy="153692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等腰三角形 44"/>
          <p:cNvSpPr/>
          <p:nvPr/>
        </p:nvSpPr>
        <p:spPr>
          <a:xfrm flipV="1">
            <a:off x="7558084" y="2141528"/>
            <a:ext cx="1326847" cy="153692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等腰三角形 45"/>
          <p:cNvSpPr/>
          <p:nvPr/>
        </p:nvSpPr>
        <p:spPr>
          <a:xfrm flipV="1">
            <a:off x="5342572" y="1933018"/>
            <a:ext cx="1506857" cy="174543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弧形 7"/>
          <p:cNvSpPr/>
          <p:nvPr/>
        </p:nvSpPr>
        <p:spPr>
          <a:xfrm>
            <a:off x="-1187466" y="1643797"/>
            <a:ext cx="14566932" cy="8096823"/>
          </a:xfrm>
          <a:prstGeom prst="arc">
            <a:avLst>
              <a:gd name="adj1" fmla="val 12457192"/>
              <a:gd name="adj2" fmla="val 19970774"/>
            </a:avLst>
          </a:prstGeom>
          <a:ln w="25400" cap="rnd">
            <a:solidFill>
              <a:schemeClr val="accent4"/>
            </a:solidFill>
            <a:prstDash val="lgDash"/>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上半年工作回顾</a:t>
            </a:r>
          </a:p>
        </p:txBody>
      </p:sp>
      <p:sp>
        <p:nvSpPr>
          <p:cNvPr id="6" name="椭圆 5"/>
          <p:cNvSpPr/>
          <p:nvPr/>
        </p:nvSpPr>
        <p:spPr>
          <a:xfrm>
            <a:off x="5342571" y="897729"/>
            <a:ext cx="1506858" cy="1506858"/>
          </a:xfrm>
          <a:prstGeom prst="ellipse">
            <a:avLst/>
          </a:prstGeom>
          <a:solidFill>
            <a:schemeClr val="accent1"/>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椭圆 6"/>
          <p:cNvSpPr/>
          <p:nvPr/>
        </p:nvSpPr>
        <p:spPr>
          <a:xfrm>
            <a:off x="7530186" y="1184588"/>
            <a:ext cx="1347596" cy="1347596"/>
          </a:xfrm>
          <a:prstGeom prst="ellipse">
            <a:avLst/>
          </a:prstGeom>
          <a:solidFill>
            <a:schemeClr val="accent2"/>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椭圆 8"/>
          <p:cNvSpPr/>
          <p:nvPr/>
        </p:nvSpPr>
        <p:spPr>
          <a:xfrm>
            <a:off x="3314218" y="1184588"/>
            <a:ext cx="1347596" cy="1347596"/>
          </a:xfrm>
          <a:prstGeom prst="ellipse">
            <a:avLst/>
          </a:prstGeom>
          <a:solidFill>
            <a:schemeClr val="accent2"/>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椭圆 9"/>
          <p:cNvSpPr/>
          <p:nvPr/>
        </p:nvSpPr>
        <p:spPr>
          <a:xfrm>
            <a:off x="1428842" y="1728598"/>
            <a:ext cx="1204619" cy="1204619"/>
          </a:xfrm>
          <a:prstGeom prst="ellipse">
            <a:avLst/>
          </a:prstGeom>
          <a:solidFill>
            <a:schemeClr val="accent3"/>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椭圆 10"/>
          <p:cNvSpPr/>
          <p:nvPr/>
        </p:nvSpPr>
        <p:spPr>
          <a:xfrm>
            <a:off x="9558539" y="1728598"/>
            <a:ext cx="1204619" cy="1204619"/>
          </a:xfrm>
          <a:prstGeom prst="ellipse">
            <a:avLst/>
          </a:prstGeom>
          <a:solidFill>
            <a:schemeClr val="accent3"/>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文本框 11"/>
          <p:cNvSpPr txBox="1"/>
          <p:nvPr/>
        </p:nvSpPr>
        <p:spPr>
          <a:xfrm flipH="1">
            <a:off x="1531037" y="1979079"/>
            <a:ext cx="997568"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68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个</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13" name="文本框 12"/>
          <p:cNvSpPr txBox="1"/>
          <p:nvPr/>
        </p:nvSpPr>
        <p:spPr>
          <a:xfrm flipH="1">
            <a:off x="1531038" y="2322667"/>
            <a:ext cx="997567"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招聘需求</a:t>
            </a:r>
          </a:p>
        </p:txBody>
      </p:sp>
      <p:sp>
        <p:nvSpPr>
          <p:cNvPr id="16" name="文本框 15"/>
          <p:cNvSpPr txBox="1"/>
          <p:nvPr/>
        </p:nvSpPr>
        <p:spPr>
          <a:xfrm flipH="1">
            <a:off x="9632272" y="1979079"/>
            <a:ext cx="997568"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lt"/>
                <a:ea typeface="思源黑体 CN Normal" panose="020B0400000000000000" charset="-122"/>
                <a:cs typeface="+mj-lt"/>
              </a:rPr>
              <a:t>12</a:t>
            </a: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文本框 16"/>
          <p:cNvSpPr txBox="1"/>
          <p:nvPr/>
        </p:nvSpPr>
        <p:spPr>
          <a:xfrm flipH="1">
            <a:off x="9632273" y="2322667"/>
            <a:ext cx="997567"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开展培训</a:t>
            </a:r>
          </a:p>
        </p:txBody>
      </p:sp>
      <p:sp>
        <p:nvSpPr>
          <p:cNvPr id="18" name="文本框 17"/>
          <p:cNvSpPr txBox="1"/>
          <p:nvPr/>
        </p:nvSpPr>
        <p:spPr>
          <a:xfrm flipH="1">
            <a:off x="3239818" y="1519810"/>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1110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人</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19" name="文本框 18"/>
          <p:cNvSpPr txBox="1"/>
          <p:nvPr/>
        </p:nvSpPr>
        <p:spPr>
          <a:xfrm flipH="1">
            <a:off x="3394343" y="1932365"/>
            <a:ext cx="1197806"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考核人数</a:t>
            </a:r>
          </a:p>
        </p:txBody>
      </p:sp>
      <p:sp>
        <p:nvSpPr>
          <p:cNvPr id="21" name="文本框 20"/>
          <p:cNvSpPr txBox="1"/>
          <p:nvPr/>
        </p:nvSpPr>
        <p:spPr>
          <a:xfrm flipH="1">
            <a:off x="7455291" y="1519810"/>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23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起</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22" name="文本框 21"/>
          <p:cNvSpPr txBox="1"/>
          <p:nvPr/>
        </p:nvSpPr>
        <p:spPr>
          <a:xfrm flipH="1">
            <a:off x="7585924" y="1932365"/>
            <a:ext cx="1197806"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劳资纠纷</a:t>
            </a:r>
          </a:p>
        </p:txBody>
      </p:sp>
      <p:sp>
        <p:nvSpPr>
          <p:cNvPr id="23" name="文本框 22"/>
          <p:cNvSpPr txBox="1"/>
          <p:nvPr/>
        </p:nvSpPr>
        <p:spPr>
          <a:xfrm flipH="1">
            <a:off x="5342570" y="1202564"/>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10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部门</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文本框 23"/>
          <p:cNvSpPr txBox="1"/>
          <p:nvPr/>
        </p:nvSpPr>
        <p:spPr>
          <a:xfrm flipH="1">
            <a:off x="5369679" y="1680436"/>
            <a:ext cx="1437191"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薪酬结构调整</a:t>
            </a:r>
          </a:p>
        </p:txBody>
      </p:sp>
      <p:grpSp>
        <p:nvGrpSpPr>
          <p:cNvPr id="27" name="组合 26"/>
          <p:cNvGrpSpPr/>
          <p:nvPr/>
        </p:nvGrpSpPr>
        <p:grpSpPr>
          <a:xfrm>
            <a:off x="2276576" y="2577318"/>
            <a:ext cx="354225" cy="354225"/>
            <a:chOff x="2276576" y="3073101"/>
            <a:chExt cx="354225" cy="354225"/>
          </a:xfrm>
        </p:grpSpPr>
        <p:sp>
          <p:nvSpPr>
            <p:cNvPr id="25" name="椭圆 24"/>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28" name="组合 27"/>
          <p:cNvGrpSpPr/>
          <p:nvPr/>
        </p:nvGrpSpPr>
        <p:grpSpPr>
          <a:xfrm>
            <a:off x="10408933" y="2577318"/>
            <a:ext cx="354225" cy="354225"/>
            <a:chOff x="2276576" y="3073101"/>
            <a:chExt cx="354225" cy="354225"/>
          </a:xfrm>
        </p:grpSpPr>
        <p:sp>
          <p:nvSpPr>
            <p:cNvPr id="29" name="椭圆 28"/>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1" name="组合 30"/>
          <p:cNvGrpSpPr/>
          <p:nvPr/>
        </p:nvGrpSpPr>
        <p:grpSpPr>
          <a:xfrm>
            <a:off x="4127471" y="2227474"/>
            <a:ext cx="354225" cy="354225"/>
            <a:chOff x="2276576" y="3073101"/>
            <a:chExt cx="354225" cy="354225"/>
          </a:xfrm>
        </p:grpSpPr>
        <p:sp>
          <p:nvSpPr>
            <p:cNvPr id="32" name="椭圆 31"/>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4" name="组合 33"/>
          <p:cNvGrpSpPr/>
          <p:nvPr/>
        </p:nvGrpSpPr>
        <p:grpSpPr>
          <a:xfrm>
            <a:off x="8346445" y="2227474"/>
            <a:ext cx="354225" cy="354225"/>
            <a:chOff x="2276576" y="3073101"/>
            <a:chExt cx="354225" cy="354225"/>
          </a:xfrm>
        </p:grpSpPr>
        <p:sp>
          <p:nvSpPr>
            <p:cNvPr id="35" name="椭圆 34"/>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7" name="组合 36"/>
          <p:cNvGrpSpPr/>
          <p:nvPr/>
        </p:nvGrpSpPr>
        <p:grpSpPr>
          <a:xfrm>
            <a:off x="6318092" y="2086519"/>
            <a:ext cx="354225" cy="354225"/>
            <a:chOff x="2276576" y="3073101"/>
            <a:chExt cx="354225" cy="354225"/>
          </a:xfrm>
        </p:grpSpPr>
        <p:sp>
          <p:nvSpPr>
            <p:cNvPr id="38" name="椭圆 37"/>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任意多边形: 形状 38"/>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47" name="文本框 46"/>
          <p:cNvSpPr txBox="1"/>
          <p:nvPr/>
        </p:nvSpPr>
        <p:spPr>
          <a:xfrm>
            <a:off x="1262782"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高效完成核心岗位补充</a:t>
            </a:r>
          </a:p>
        </p:txBody>
      </p:sp>
      <p:sp>
        <p:nvSpPr>
          <p:cNvPr id="55" name="文本框 54"/>
          <p:cNvSpPr txBox="1"/>
          <p:nvPr/>
        </p:nvSpPr>
        <p:spPr>
          <a:xfrm>
            <a:off x="1042123"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含</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个技术岗、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个职能岗、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个销售岗，实际到岗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人，达成率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58" name="文本框 57"/>
          <p:cNvSpPr txBox="1"/>
          <p:nvPr/>
        </p:nvSpPr>
        <p:spPr>
          <a:xfrm>
            <a:off x="322549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优化体系</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强化结果应用</a:t>
            </a:r>
          </a:p>
        </p:txBody>
      </p:sp>
      <p:sp>
        <p:nvSpPr>
          <p:cNvPr id="59" name="文本框 58"/>
          <p:cNvSpPr txBox="1"/>
          <p:nvPr/>
        </p:nvSpPr>
        <p:spPr>
          <a:xfrm>
            <a:off x="300483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考核通过率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（去年同期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），优秀率（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（较去年增加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61" name="文本框 60"/>
          <p:cNvSpPr txBox="1"/>
          <p:nvPr/>
        </p:nvSpPr>
        <p:spPr>
          <a:xfrm>
            <a:off x="535508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满意度显著</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提升</a:t>
            </a:r>
          </a:p>
        </p:txBody>
      </p:sp>
      <p:sp>
        <p:nvSpPr>
          <p:cNvPr id="62" name="文本框 61"/>
          <p:cNvSpPr txBox="1"/>
          <p:nvPr/>
        </p:nvSpPr>
        <p:spPr>
          <a:xfrm>
            <a:off x="513442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部门的薪酬结构调整，平均调薪幅度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（技术岗最高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64" name="文本框 63"/>
          <p:cNvSpPr txBox="1"/>
          <p:nvPr/>
        </p:nvSpPr>
        <p:spPr>
          <a:xfrm>
            <a:off x="744162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关键人才</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保留率提升</a:t>
            </a:r>
          </a:p>
        </p:txBody>
      </p:sp>
      <p:sp>
        <p:nvSpPr>
          <p:cNvPr id="65" name="文本框 64"/>
          <p:cNvSpPr txBox="1"/>
          <p:nvPr/>
        </p:nvSpPr>
        <p:spPr>
          <a:xfrm>
            <a:off x="722096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调解成功率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（去年同期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），无仲裁或诉讼事件。</a:t>
            </a:r>
          </a:p>
        </p:txBody>
      </p:sp>
      <p:sp>
        <p:nvSpPr>
          <p:cNvPr id="67" name="文本框 66"/>
          <p:cNvSpPr txBox="1"/>
          <p:nvPr/>
        </p:nvSpPr>
        <p:spPr>
          <a:xfrm>
            <a:off x="9367273"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多维度</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提升能力</a:t>
            </a:r>
          </a:p>
        </p:txBody>
      </p:sp>
      <p:sp>
        <p:nvSpPr>
          <p:cNvPr id="68" name="文本框 67"/>
          <p:cNvSpPr txBox="1"/>
          <p:nvPr/>
        </p:nvSpPr>
        <p:spPr>
          <a:xfrm>
            <a:off x="9146614"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含</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场管理层领导力培训、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场业务技能培训、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场企业文化培训。</a:t>
            </a:r>
          </a:p>
        </p:txBody>
      </p:sp>
      <p:grpSp>
        <p:nvGrpSpPr>
          <p:cNvPr id="72" name="组合 71"/>
          <p:cNvGrpSpPr/>
          <p:nvPr/>
        </p:nvGrpSpPr>
        <p:grpSpPr>
          <a:xfrm>
            <a:off x="218093" y="5297487"/>
            <a:ext cx="11755815" cy="1378645"/>
            <a:chOff x="218093" y="5297487"/>
            <a:chExt cx="11755815" cy="1378645"/>
          </a:xfrm>
        </p:grpSpPr>
        <p:sp>
          <p:nvSpPr>
            <p:cNvPr id="69" name="矩形: 圆角 68"/>
            <p:cNvSpPr/>
            <p:nvPr/>
          </p:nvSpPr>
          <p:spPr>
            <a:xfrm>
              <a:off x="218093" y="5297487"/>
              <a:ext cx="11755815" cy="1378645"/>
            </a:xfrm>
            <a:prstGeom prst="roundRect">
              <a:avLst>
                <a:gd name="adj" fmla="val 0"/>
              </a:avLst>
            </a:prstGeom>
            <a:solidFill>
              <a:schemeClr val="accent1"/>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矩形: 圆角 70"/>
            <p:cNvSpPr/>
            <p:nvPr/>
          </p:nvSpPr>
          <p:spPr>
            <a:xfrm>
              <a:off x="314732" y="5415558"/>
              <a:ext cx="11562537" cy="11218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4" name="矩形: 圆角 73"/>
          <p:cNvSpPr/>
          <p:nvPr/>
        </p:nvSpPr>
        <p:spPr>
          <a:xfrm>
            <a:off x="418353" y="5506306"/>
            <a:ext cx="958830" cy="958830"/>
          </a:xfrm>
          <a:prstGeom prst="roundRect">
            <a:avLst>
              <a:gd name="adj" fmla="val 6498"/>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总结</a:t>
            </a:r>
          </a:p>
        </p:txBody>
      </p:sp>
      <p:sp>
        <p:nvSpPr>
          <p:cNvPr id="75" name="图形 13"/>
          <p:cNvSpPr/>
          <p:nvPr/>
        </p:nvSpPr>
        <p:spPr>
          <a:xfrm rot="14821865" flipH="1">
            <a:off x="140470" y="4307671"/>
            <a:ext cx="1090970" cy="553912"/>
          </a:xfrm>
          <a:custGeom>
            <a:avLst/>
            <a:gdLst>
              <a:gd name="connsiteX0" fmla="*/ 908271 w 1218885"/>
              <a:gd name="connsiteY0" fmla="*/ 38403 h 618857"/>
              <a:gd name="connsiteX1" fmla="*/ 894383 w 1218885"/>
              <a:gd name="connsiteY1" fmla="*/ 23699 h 618857"/>
              <a:gd name="connsiteX2" fmla="*/ 914129 w 1218885"/>
              <a:gd name="connsiteY2" fmla="*/ 6769 h 618857"/>
              <a:gd name="connsiteX3" fmla="*/ 951619 w 1218885"/>
              <a:gd name="connsiteY3" fmla="*/ 8057 h 618857"/>
              <a:gd name="connsiteX4" fmla="*/ 1061638 w 1218885"/>
              <a:gd name="connsiteY4" fmla="*/ 8057 h 618857"/>
              <a:gd name="connsiteX5" fmla="*/ 1167084 w 1218885"/>
              <a:gd name="connsiteY5" fmla="*/ 1847 h 618857"/>
              <a:gd name="connsiteX6" fmla="*/ 1184310 w 1218885"/>
              <a:gd name="connsiteY6" fmla="*/ 383 h 618857"/>
              <a:gd name="connsiteX7" fmla="*/ 1215595 w 1218885"/>
              <a:gd name="connsiteY7" fmla="*/ 14091 h 618857"/>
              <a:gd name="connsiteX8" fmla="*/ 1206746 w 1218885"/>
              <a:gd name="connsiteY8" fmla="*/ 55744 h 618857"/>
              <a:gd name="connsiteX9" fmla="*/ 1087765 w 1218885"/>
              <a:gd name="connsiteY9" fmla="*/ 183393 h 618857"/>
              <a:gd name="connsiteX10" fmla="*/ 1064333 w 1218885"/>
              <a:gd name="connsiteY10" fmla="*/ 216202 h 618857"/>
              <a:gd name="connsiteX11" fmla="*/ 1027367 w 1218885"/>
              <a:gd name="connsiteY11" fmla="*/ 222879 h 618857"/>
              <a:gd name="connsiteX12" fmla="*/ 1021509 w 1218885"/>
              <a:gd name="connsiteY12" fmla="*/ 196224 h 618857"/>
              <a:gd name="connsiteX13" fmla="*/ 1091808 w 1218885"/>
              <a:gd name="connsiteY13" fmla="*/ 97278 h 618857"/>
              <a:gd name="connsiteX14" fmla="*/ 970016 w 1218885"/>
              <a:gd name="connsiteY14" fmla="*/ 133834 h 618857"/>
              <a:gd name="connsiteX15" fmla="*/ 887997 w 1218885"/>
              <a:gd name="connsiteY15" fmla="*/ 163125 h 618857"/>
              <a:gd name="connsiteX16" fmla="*/ 753961 w 1218885"/>
              <a:gd name="connsiteY16" fmla="*/ 216379 h 618857"/>
              <a:gd name="connsiteX17" fmla="*/ 616291 w 1218885"/>
              <a:gd name="connsiteY17" fmla="*/ 277186 h 618857"/>
              <a:gd name="connsiteX18" fmla="*/ 602466 w 1218885"/>
              <a:gd name="connsiteY18" fmla="*/ 298684 h 618857"/>
              <a:gd name="connsiteX19" fmla="*/ 583430 w 1218885"/>
              <a:gd name="connsiteY19" fmla="*/ 502905 h 618857"/>
              <a:gd name="connsiteX20" fmla="*/ 541601 w 1218885"/>
              <a:gd name="connsiteY20" fmla="*/ 599098 h 618857"/>
              <a:gd name="connsiteX21" fmla="*/ 418929 w 1218885"/>
              <a:gd name="connsiteY21" fmla="*/ 579062 h 618857"/>
              <a:gd name="connsiteX22" fmla="*/ 456539 w 1218885"/>
              <a:gd name="connsiteY22" fmla="*/ 345961 h 618857"/>
              <a:gd name="connsiteX23" fmla="*/ 542068 w 1218885"/>
              <a:gd name="connsiteY23" fmla="*/ 272090 h 618857"/>
              <a:gd name="connsiteX24" fmla="*/ 554312 w 1218885"/>
              <a:gd name="connsiteY24" fmla="*/ 242210 h 618857"/>
              <a:gd name="connsiteX25" fmla="*/ 503696 w 1218885"/>
              <a:gd name="connsiteY25" fmla="*/ 167636 h 618857"/>
              <a:gd name="connsiteX26" fmla="*/ 364681 w 1218885"/>
              <a:gd name="connsiteY26" fmla="*/ 178064 h 618857"/>
              <a:gd name="connsiteX27" fmla="*/ 241657 w 1218885"/>
              <a:gd name="connsiteY27" fmla="*/ 269981 h 618857"/>
              <a:gd name="connsiteX28" fmla="*/ 162571 w 1218885"/>
              <a:gd name="connsiteY28" fmla="*/ 383514 h 618857"/>
              <a:gd name="connsiteX29" fmla="*/ 117697 w 1218885"/>
              <a:gd name="connsiteY29" fmla="*/ 480469 h 618857"/>
              <a:gd name="connsiteX30" fmla="*/ 75928 w 1218885"/>
              <a:gd name="connsiteY30" fmla="*/ 566699 h 618857"/>
              <a:gd name="connsiteX31" fmla="*/ 38669 w 1218885"/>
              <a:gd name="connsiteY31" fmla="*/ 574552 h 618857"/>
              <a:gd name="connsiteX32" fmla="*/ 6097 w 1218885"/>
              <a:gd name="connsiteY32" fmla="*/ 546667 h 618857"/>
              <a:gd name="connsiteX33" fmla="*/ 3988 w 1218885"/>
              <a:gd name="connsiteY33" fmla="*/ 514502 h 618857"/>
              <a:gd name="connsiteX34" fmla="*/ 55541 w 1218885"/>
              <a:gd name="connsiteY34" fmla="*/ 379766 h 618857"/>
              <a:gd name="connsiteX35" fmla="*/ 93092 w 1218885"/>
              <a:gd name="connsiteY35" fmla="*/ 304837 h 618857"/>
              <a:gd name="connsiteX36" fmla="*/ 200826 w 1218885"/>
              <a:gd name="connsiteY36" fmla="*/ 159669 h 618857"/>
              <a:gd name="connsiteX37" fmla="*/ 314651 w 1218885"/>
              <a:gd name="connsiteY37" fmla="*/ 86324 h 618857"/>
              <a:gd name="connsiteX38" fmla="*/ 392742 w 1218885"/>
              <a:gd name="connsiteY38" fmla="*/ 65058 h 618857"/>
              <a:gd name="connsiteX39" fmla="*/ 558532 w 1218885"/>
              <a:gd name="connsiteY39" fmla="*/ 154279 h 618857"/>
              <a:gd name="connsiteX40" fmla="*/ 586007 w 1218885"/>
              <a:gd name="connsiteY40" fmla="*/ 221708 h 618857"/>
              <a:gd name="connsiteX41" fmla="*/ 608795 w 1218885"/>
              <a:gd name="connsiteY41" fmla="*/ 229966 h 618857"/>
              <a:gd name="connsiteX42" fmla="*/ 693796 w 1218885"/>
              <a:gd name="connsiteY42" fmla="*/ 188023 h 618857"/>
              <a:gd name="connsiteX43" fmla="*/ 838143 w 1218885"/>
              <a:gd name="connsiteY43" fmla="*/ 126745 h 618857"/>
              <a:gd name="connsiteX44" fmla="*/ 1006216 w 1218885"/>
              <a:gd name="connsiteY44" fmla="*/ 60957 h 618857"/>
              <a:gd name="connsiteX45" fmla="*/ 976927 w 1218885"/>
              <a:gd name="connsiteY45" fmla="*/ 53283 h 618857"/>
              <a:gd name="connsiteX46" fmla="*/ 908033 w 1218885"/>
              <a:gd name="connsiteY46" fmla="*/ 38403 h 618857"/>
              <a:gd name="connsiteX47" fmla="*/ 557713 w 1218885"/>
              <a:gd name="connsiteY47" fmla="*/ 320363 h 618857"/>
              <a:gd name="connsiteX48" fmla="*/ 428829 w 1218885"/>
              <a:gd name="connsiteY48" fmla="*/ 465295 h 618857"/>
              <a:gd name="connsiteX49" fmla="*/ 427423 w 1218885"/>
              <a:gd name="connsiteY49" fmla="*/ 522469 h 618857"/>
              <a:gd name="connsiteX50" fmla="*/ 476517 w 1218885"/>
              <a:gd name="connsiteY50" fmla="*/ 560841 h 618857"/>
              <a:gd name="connsiteX51" fmla="*/ 516236 w 1218885"/>
              <a:gd name="connsiteY51" fmla="*/ 553459 h 618857"/>
              <a:gd name="connsiteX52" fmla="*/ 541425 w 1218885"/>
              <a:gd name="connsiteY52" fmla="*/ 480407 h 618857"/>
              <a:gd name="connsiteX53" fmla="*/ 557713 w 1218885"/>
              <a:gd name="connsiteY53" fmla="*/ 320363 h 61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18885" h="618857">
                <a:moveTo>
                  <a:pt x="908271" y="38403"/>
                </a:moveTo>
                <a:cubicBezTo>
                  <a:pt x="901236" y="36646"/>
                  <a:pt x="890692" y="33072"/>
                  <a:pt x="894383" y="23699"/>
                </a:cubicBezTo>
                <a:cubicBezTo>
                  <a:pt x="898250" y="15500"/>
                  <a:pt x="905432" y="9341"/>
                  <a:pt x="914129" y="6769"/>
                </a:cubicBezTo>
                <a:cubicBezTo>
                  <a:pt x="925844" y="4425"/>
                  <a:pt x="939084" y="6769"/>
                  <a:pt x="951619" y="8057"/>
                </a:cubicBezTo>
                <a:cubicBezTo>
                  <a:pt x="988257" y="10254"/>
                  <a:pt x="1025000" y="10254"/>
                  <a:pt x="1061638" y="8057"/>
                </a:cubicBezTo>
                <a:cubicBezTo>
                  <a:pt x="1096790" y="6710"/>
                  <a:pt x="1131937" y="5245"/>
                  <a:pt x="1167084" y="1847"/>
                </a:cubicBezTo>
                <a:cubicBezTo>
                  <a:pt x="1172947" y="1262"/>
                  <a:pt x="1178805" y="1145"/>
                  <a:pt x="1184310" y="383"/>
                </a:cubicBezTo>
                <a:cubicBezTo>
                  <a:pt x="1196964" y="-1257"/>
                  <a:pt x="1209561" y="2199"/>
                  <a:pt x="1215595" y="14091"/>
                </a:cubicBezTo>
                <a:cubicBezTo>
                  <a:pt x="1222224" y="28399"/>
                  <a:pt x="1218619" y="45365"/>
                  <a:pt x="1206746" y="55744"/>
                </a:cubicBezTo>
                <a:cubicBezTo>
                  <a:pt x="1161012" y="92198"/>
                  <a:pt x="1120916" y="135213"/>
                  <a:pt x="1087765" y="183393"/>
                </a:cubicBezTo>
                <a:cubicBezTo>
                  <a:pt x="1080268" y="194523"/>
                  <a:pt x="1072477" y="205363"/>
                  <a:pt x="1064333" y="216202"/>
                </a:cubicBezTo>
                <a:cubicBezTo>
                  <a:pt x="1053141" y="231666"/>
                  <a:pt x="1043592" y="233309"/>
                  <a:pt x="1027367" y="222879"/>
                </a:cubicBezTo>
                <a:cubicBezTo>
                  <a:pt x="1014655" y="214736"/>
                  <a:pt x="1012603" y="208997"/>
                  <a:pt x="1021509" y="196224"/>
                </a:cubicBezTo>
                <a:cubicBezTo>
                  <a:pt x="1042364" y="165938"/>
                  <a:pt x="1088408" y="102492"/>
                  <a:pt x="1091808" y="97278"/>
                </a:cubicBezTo>
                <a:cubicBezTo>
                  <a:pt x="1084017" y="98685"/>
                  <a:pt x="1004459" y="122118"/>
                  <a:pt x="970016" y="133834"/>
                </a:cubicBezTo>
                <a:cubicBezTo>
                  <a:pt x="942480" y="143149"/>
                  <a:pt x="915062" y="152756"/>
                  <a:pt x="887997" y="163125"/>
                </a:cubicBezTo>
                <a:cubicBezTo>
                  <a:pt x="843182" y="180698"/>
                  <a:pt x="799129" y="199972"/>
                  <a:pt x="753961" y="216379"/>
                </a:cubicBezTo>
                <a:cubicBezTo>
                  <a:pt x="706798" y="233628"/>
                  <a:pt x="660811" y="253940"/>
                  <a:pt x="616291" y="277186"/>
                </a:cubicBezTo>
                <a:cubicBezTo>
                  <a:pt x="607038" y="281930"/>
                  <a:pt x="602056" y="287440"/>
                  <a:pt x="602466" y="298684"/>
                </a:cubicBezTo>
                <a:cubicBezTo>
                  <a:pt x="604342" y="367274"/>
                  <a:pt x="597951" y="435844"/>
                  <a:pt x="583430" y="502905"/>
                </a:cubicBezTo>
                <a:cubicBezTo>
                  <a:pt x="576224" y="537409"/>
                  <a:pt x="564213" y="571094"/>
                  <a:pt x="541601" y="599098"/>
                </a:cubicBezTo>
                <a:cubicBezTo>
                  <a:pt x="508149" y="640574"/>
                  <a:pt x="451325" y="608351"/>
                  <a:pt x="418929" y="579062"/>
                </a:cubicBezTo>
                <a:cubicBezTo>
                  <a:pt x="346110" y="512863"/>
                  <a:pt x="398425" y="402316"/>
                  <a:pt x="456539" y="345961"/>
                </a:cubicBezTo>
                <a:cubicBezTo>
                  <a:pt x="483546" y="319715"/>
                  <a:pt x="512836" y="295817"/>
                  <a:pt x="542068" y="272090"/>
                </a:cubicBezTo>
                <a:cubicBezTo>
                  <a:pt x="552498" y="263651"/>
                  <a:pt x="558236" y="255336"/>
                  <a:pt x="554312" y="242210"/>
                </a:cubicBezTo>
                <a:cubicBezTo>
                  <a:pt x="544297" y="208701"/>
                  <a:pt x="539082" y="182046"/>
                  <a:pt x="503696" y="167636"/>
                </a:cubicBezTo>
                <a:cubicBezTo>
                  <a:pt x="455660" y="148011"/>
                  <a:pt x="409965" y="159318"/>
                  <a:pt x="364681" y="178064"/>
                </a:cubicBezTo>
                <a:cubicBezTo>
                  <a:pt x="316723" y="198095"/>
                  <a:pt x="274461" y="229671"/>
                  <a:pt x="241657" y="269981"/>
                </a:cubicBezTo>
                <a:cubicBezTo>
                  <a:pt x="211843" y="305299"/>
                  <a:pt x="185367" y="343309"/>
                  <a:pt x="162571" y="383514"/>
                </a:cubicBezTo>
                <a:cubicBezTo>
                  <a:pt x="144996" y="414446"/>
                  <a:pt x="132753" y="447955"/>
                  <a:pt x="117697" y="480469"/>
                </a:cubicBezTo>
                <a:cubicBezTo>
                  <a:pt x="104223" y="509406"/>
                  <a:pt x="90925" y="538524"/>
                  <a:pt x="75928" y="566699"/>
                </a:cubicBezTo>
                <a:cubicBezTo>
                  <a:pt x="66320" y="584744"/>
                  <a:pt x="55189" y="586558"/>
                  <a:pt x="38669" y="574552"/>
                </a:cubicBezTo>
                <a:cubicBezTo>
                  <a:pt x="27165" y="566037"/>
                  <a:pt x="16280" y="556716"/>
                  <a:pt x="6097" y="546667"/>
                </a:cubicBezTo>
                <a:cubicBezTo>
                  <a:pt x="-3803" y="537057"/>
                  <a:pt x="532" y="524227"/>
                  <a:pt x="3988" y="514502"/>
                </a:cubicBezTo>
                <a:cubicBezTo>
                  <a:pt x="20157" y="469101"/>
                  <a:pt x="37087" y="423933"/>
                  <a:pt x="55541" y="379766"/>
                </a:cubicBezTo>
                <a:cubicBezTo>
                  <a:pt x="66214" y="353905"/>
                  <a:pt x="78765" y="328859"/>
                  <a:pt x="93092" y="304837"/>
                </a:cubicBezTo>
                <a:cubicBezTo>
                  <a:pt x="123349" y="252497"/>
                  <a:pt x="159495" y="203791"/>
                  <a:pt x="200826" y="159669"/>
                </a:cubicBezTo>
                <a:cubicBezTo>
                  <a:pt x="232635" y="126808"/>
                  <a:pt x="271583" y="101712"/>
                  <a:pt x="314651" y="86324"/>
                </a:cubicBezTo>
                <a:cubicBezTo>
                  <a:pt x="339925" y="76703"/>
                  <a:pt x="366080" y="69581"/>
                  <a:pt x="392742" y="65058"/>
                </a:cubicBezTo>
                <a:cubicBezTo>
                  <a:pt x="461729" y="54445"/>
                  <a:pt x="529385" y="90857"/>
                  <a:pt x="558532" y="154279"/>
                </a:cubicBezTo>
                <a:cubicBezTo>
                  <a:pt x="568843" y="176189"/>
                  <a:pt x="577334" y="199038"/>
                  <a:pt x="586007" y="221708"/>
                </a:cubicBezTo>
                <a:cubicBezTo>
                  <a:pt x="591864" y="236824"/>
                  <a:pt x="593269" y="237700"/>
                  <a:pt x="608795" y="229966"/>
                </a:cubicBezTo>
                <a:cubicBezTo>
                  <a:pt x="637089" y="215850"/>
                  <a:pt x="664974" y="200677"/>
                  <a:pt x="693796" y="188023"/>
                </a:cubicBezTo>
                <a:cubicBezTo>
                  <a:pt x="741540" y="166758"/>
                  <a:pt x="789637" y="146195"/>
                  <a:pt x="838143" y="126745"/>
                </a:cubicBezTo>
                <a:cubicBezTo>
                  <a:pt x="890869" y="105597"/>
                  <a:pt x="1003173" y="62305"/>
                  <a:pt x="1006216" y="60957"/>
                </a:cubicBezTo>
                <a:cubicBezTo>
                  <a:pt x="1006216" y="59669"/>
                  <a:pt x="986595" y="55099"/>
                  <a:pt x="976927" y="53283"/>
                </a:cubicBezTo>
                <a:cubicBezTo>
                  <a:pt x="976927" y="53283"/>
                  <a:pt x="930821" y="43968"/>
                  <a:pt x="908033" y="38403"/>
                </a:cubicBezTo>
                <a:moveTo>
                  <a:pt x="557713" y="320363"/>
                </a:moveTo>
                <a:cubicBezTo>
                  <a:pt x="556070" y="319482"/>
                  <a:pt x="475695" y="372560"/>
                  <a:pt x="428829" y="465295"/>
                </a:cubicBezTo>
                <a:cubicBezTo>
                  <a:pt x="421261" y="483512"/>
                  <a:pt x="420759" y="503900"/>
                  <a:pt x="427423" y="522469"/>
                </a:cubicBezTo>
                <a:cubicBezTo>
                  <a:pt x="436327" y="542624"/>
                  <a:pt x="458296" y="551763"/>
                  <a:pt x="476517" y="560841"/>
                </a:cubicBezTo>
                <a:cubicBezTo>
                  <a:pt x="493681" y="569570"/>
                  <a:pt x="506744" y="574842"/>
                  <a:pt x="516236" y="553459"/>
                </a:cubicBezTo>
                <a:cubicBezTo>
                  <a:pt x="527314" y="530118"/>
                  <a:pt x="535757" y="505615"/>
                  <a:pt x="541425" y="480407"/>
                </a:cubicBezTo>
                <a:cubicBezTo>
                  <a:pt x="548335" y="445550"/>
                  <a:pt x="556655" y="338403"/>
                  <a:pt x="557713" y="320363"/>
                </a:cubicBezTo>
                <a:close/>
              </a:path>
            </a:pathLst>
          </a:custGeom>
          <a:pattFill prst="dkHorz">
            <a:fgClr>
              <a:schemeClr val="accent4"/>
            </a:fgClr>
            <a:bgClr>
              <a:schemeClr val="bg1"/>
            </a:bgClr>
          </a:pattFill>
          <a:ln w="4763"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文本框 75"/>
          <p:cNvSpPr txBox="1"/>
          <p:nvPr/>
        </p:nvSpPr>
        <p:spPr>
          <a:xfrm>
            <a:off x="1450324" y="5576689"/>
            <a:ext cx="5302364"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上半年人力资源部围绕“高效配置、能力提升、团队稳定”三大核心目标，在招聘效率、培训覆盖、绩效落地、员工保留及薪酬优化等方面取得阶段性成果。</a:t>
            </a:r>
          </a:p>
        </p:txBody>
      </p:sp>
      <p:grpSp>
        <p:nvGrpSpPr>
          <p:cNvPr id="82" name="组合 81"/>
          <p:cNvGrpSpPr/>
          <p:nvPr/>
        </p:nvGrpSpPr>
        <p:grpSpPr>
          <a:xfrm>
            <a:off x="7683283" y="5617959"/>
            <a:ext cx="3750511" cy="674391"/>
            <a:chOff x="7538325" y="5662495"/>
            <a:chExt cx="3750511" cy="674391"/>
          </a:xfrm>
        </p:grpSpPr>
        <p:sp>
          <p:nvSpPr>
            <p:cNvPr id="78" name="文本框 77"/>
            <p:cNvSpPr txBox="1"/>
            <p:nvPr/>
          </p:nvSpPr>
          <p:spPr>
            <a:xfrm>
              <a:off x="7538325" y="5814916"/>
              <a:ext cx="3040307"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关键指标均超预期</a:t>
              </a:r>
            </a:p>
          </p:txBody>
        </p:sp>
        <p:grpSp>
          <p:nvGrpSpPr>
            <p:cNvPr id="79" name="图形 803"/>
            <p:cNvGrpSpPr/>
            <p:nvPr/>
          </p:nvGrpSpPr>
          <p:grpSpPr>
            <a:xfrm>
              <a:off x="10626952" y="5662495"/>
              <a:ext cx="661884" cy="605956"/>
              <a:chOff x="5486400" y="2870911"/>
              <a:chExt cx="1219199" cy="1116177"/>
            </a:xfrm>
          </p:grpSpPr>
          <p:sp>
            <p:nvSpPr>
              <p:cNvPr id="80" name="任意多边形: 形状 79"/>
              <p:cNvSpPr/>
              <p:nvPr/>
            </p:nvSpPr>
            <p:spPr>
              <a:xfrm>
                <a:off x="5486400" y="3293096"/>
                <a:ext cx="315463" cy="680930"/>
              </a:xfrm>
              <a:custGeom>
                <a:avLst/>
                <a:gdLst>
                  <a:gd name="connsiteX0" fmla="*/ -136 w 315463"/>
                  <a:gd name="connsiteY0" fmla="*/ 96878 h 680930"/>
                  <a:gd name="connsiteX1" fmla="*/ 97234 w 315463"/>
                  <a:gd name="connsiteY1" fmla="*/ -492 h 680930"/>
                  <a:gd name="connsiteX2" fmla="*/ 217957 w 315463"/>
                  <a:gd name="connsiteY2" fmla="*/ -492 h 680930"/>
                  <a:gd name="connsiteX3" fmla="*/ 315327 w 315463"/>
                  <a:gd name="connsiteY3" fmla="*/ 96878 h 680930"/>
                  <a:gd name="connsiteX4" fmla="*/ 315327 w 315463"/>
                  <a:gd name="connsiteY4" fmla="*/ 583068 h 680930"/>
                  <a:gd name="connsiteX5" fmla="*/ 217957 w 315463"/>
                  <a:gd name="connsiteY5" fmla="*/ 680438 h 680930"/>
                  <a:gd name="connsiteX6" fmla="*/ 97234 w 315463"/>
                  <a:gd name="connsiteY6" fmla="*/ 680438 h 680930"/>
                  <a:gd name="connsiteX7" fmla="*/ -136 w 315463"/>
                  <a:gd name="connsiteY7" fmla="*/ 582936 h 680930"/>
                  <a:gd name="connsiteX8" fmla="*/ -136 w 315463"/>
                  <a:gd name="connsiteY8" fmla="*/ 96878 h 680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463" h="680930">
                    <a:moveTo>
                      <a:pt x="-136" y="96878"/>
                    </a:moveTo>
                    <a:cubicBezTo>
                      <a:pt x="-136" y="43047"/>
                      <a:pt x="43403" y="-492"/>
                      <a:pt x="97234" y="-492"/>
                    </a:cubicBezTo>
                    <a:lnTo>
                      <a:pt x="217957" y="-492"/>
                    </a:lnTo>
                    <a:cubicBezTo>
                      <a:pt x="271655" y="-492"/>
                      <a:pt x="315327" y="43047"/>
                      <a:pt x="315327" y="96878"/>
                    </a:cubicBezTo>
                    <a:lnTo>
                      <a:pt x="315327" y="583068"/>
                    </a:lnTo>
                    <a:cubicBezTo>
                      <a:pt x="315327" y="636767"/>
                      <a:pt x="271787" y="680438"/>
                      <a:pt x="217957" y="680438"/>
                    </a:cubicBezTo>
                    <a:lnTo>
                      <a:pt x="97234" y="680438"/>
                    </a:lnTo>
                    <a:cubicBezTo>
                      <a:pt x="43403" y="680307"/>
                      <a:pt x="-136" y="636767"/>
                      <a:pt x="-136" y="582936"/>
                    </a:cubicBezTo>
                    <a:lnTo>
                      <a:pt x="-136" y="96878"/>
                    </a:lnTo>
                    <a:close/>
                  </a:path>
                </a:pathLst>
              </a:custGeom>
              <a:gradFill>
                <a:gsLst>
                  <a:gs pos="100000">
                    <a:schemeClr val="accent1"/>
                  </a:gs>
                  <a:gs pos="0">
                    <a:schemeClr val="accent2"/>
                  </a:gs>
                </a:gsLst>
                <a:lin ang="5400000" scaled="1"/>
              </a:gradFill>
              <a:ln w="1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任意多边形: 形状 80"/>
              <p:cNvSpPr/>
              <p:nvPr/>
            </p:nvSpPr>
            <p:spPr>
              <a:xfrm>
                <a:off x="5836034" y="2870911"/>
                <a:ext cx="869565" cy="1116177"/>
              </a:xfrm>
              <a:custGeom>
                <a:avLst/>
                <a:gdLst>
                  <a:gd name="connsiteX0" fmla="*/ 588490 w 869565"/>
                  <a:gd name="connsiteY0" fmla="*/ 174949 h 1116177"/>
                  <a:gd name="connsiteX1" fmla="*/ 597594 w 869565"/>
                  <a:gd name="connsiteY1" fmla="*/ 182470 h 1116177"/>
                  <a:gd name="connsiteX2" fmla="*/ 590337 w 869565"/>
                  <a:gd name="connsiteY2" fmla="*/ 177720 h 1116177"/>
                  <a:gd name="connsiteX3" fmla="*/ 588490 w 869565"/>
                  <a:gd name="connsiteY3" fmla="*/ 174949 h 1116177"/>
                  <a:gd name="connsiteX4" fmla="*/ 274874 w 869565"/>
                  <a:gd name="connsiteY4" fmla="*/ -264 h 1116177"/>
                  <a:gd name="connsiteX5" fmla="*/ 390584 w 869565"/>
                  <a:gd name="connsiteY5" fmla="*/ 31005 h 1116177"/>
                  <a:gd name="connsiteX6" fmla="*/ 461038 w 869565"/>
                  <a:gd name="connsiteY6" fmla="*/ 200281 h 1116177"/>
                  <a:gd name="connsiteX7" fmla="*/ 461038 w 869565"/>
                  <a:gd name="connsiteY7" fmla="*/ 363488 h 1116177"/>
                  <a:gd name="connsiteX8" fmla="*/ 524896 w 869565"/>
                  <a:gd name="connsiteY8" fmla="*/ 363488 h 1116177"/>
                  <a:gd name="connsiteX9" fmla="*/ 659473 w 869565"/>
                  <a:gd name="connsiteY9" fmla="*/ 363488 h 1116177"/>
                  <a:gd name="connsiteX10" fmla="*/ 696811 w 869565"/>
                  <a:gd name="connsiteY10" fmla="*/ 363488 h 1116177"/>
                  <a:gd name="connsiteX11" fmla="*/ 807771 w 869565"/>
                  <a:gd name="connsiteY11" fmla="*/ 404389 h 1116177"/>
                  <a:gd name="connsiteX12" fmla="*/ 866747 w 869565"/>
                  <a:gd name="connsiteY12" fmla="*/ 564298 h 1116177"/>
                  <a:gd name="connsiteX13" fmla="*/ 803417 w 869565"/>
                  <a:gd name="connsiteY13" fmla="*/ 951535 h 1116177"/>
                  <a:gd name="connsiteX14" fmla="*/ 726761 w 869565"/>
                  <a:gd name="connsiteY14" fmla="*/ 1081889 h 1116177"/>
                  <a:gd name="connsiteX15" fmla="*/ 600628 w 869565"/>
                  <a:gd name="connsiteY15" fmla="*/ 1115797 h 1116177"/>
                  <a:gd name="connsiteX16" fmla="*/ 280943 w 869565"/>
                  <a:gd name="connsiteY16" fmla="*/ 1115797 h 1116177"/>
                  <a:gd name="connsiteX17" fmla="*/ 264979 w 869565"/>
                  <a:gd name="connsiteY17" fmla="*/ 1115797 h 1116177"/>
                  <a:gd name="connsiteX18" fmla="*/ 108897 w 869565"/>
                  <a:gd name="connsiteY18" fmla="*/ 1115797 h 1116177"/>
                  <a:gd name="connsiteX19" fmla="*/ 13769 w 869565"/>
                  <a:gd name="connsiteY19" fmla="*/ 1087299 h 1116177"/>
                  <a:gd name="connsiteX20" fmla="*/ -480 w 869565"/>
                  <a:gd name="connsiteY20" fmla="*/ 1075952 h 1116177"/>
                  <a:gd name="connsiteX21" fmla="*/ -480 w 869565"/>
                  <a:gd name="connsiteY21" fmla="*/ 443311 h 1116177"/>
                  <a:gd name="connsiteX22" fmla="*/ 708 w 869565"/>
                  <a:gd name="connsiteY22" fmla="*/ 443047 h 1116177"/>
                  <a:gd name="connsiteX23" fmla="*/ 95439 w 869565"/>
                  <a:gd name="connsiteY23" fmla="*/ 396341 h 1116177"/>
                  <a:gd name="connsiteX24" fmla="*/ 182650 w 869565"/>
                  <a:gd name="connsiteY24" fmla="*/ 244744 h 1116177"/>
                  <a:gd name="connsiteX25" fmla="*/ 182650 w 869565"/>
                  <a:gd name="connsiteY25" fmla="*/ 47761 h 1116177"/>
                  <a:gd name="connsiteX26" fmla="*/ 211412 w 869565"/>
                  <a:gd name="connsiteY26" fmla="*/ 9368 h 1116177"/>
                  <a:gd name="connsiteX27" fmla="*/ 274874 w 869565"/>
                  <a:gd name="connsiteY27" fmla="*/ -264 h 1116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69565" h="1116177">
                    <a:moveTo>
                      <a:pt x="588490" y="174949"/>
                    </a:moveTo>
                    <a:lnTo>
                      <a:pt x="597594" y="182470"/>
                    </a:lnTo>
                    <a:lnTo>
                      <a:pt x="590337" y="177720"/>
                    </a:lnTo>
                    <a:lnTo>
                      <a:pt x="588490" y="174949"/>
                    </a:lnTo>
                    <a:close/>
                    <a:moveTo>
                      <a:pt x="274874" y="-264"/>
                    </a:moveTo>
                    <a:cubicBezTo>
                      <a:pt x="309838" y="-1319"/>
                      <a:pt x="353509" y="4486"/>
                      <a:pt x="390584" y="31005"/>
                    </a:cubicBezTo>
                    <a:cubicBezTo>
                      <a:pt x="437421" y="65045"/>
                      <a:pt x="461038" y="121910"/>
                      <a:pt x="461038" y="200281"/>
                    </a:cubicBezTo>
                    <a:lnTo>
                      <a:pt x="461038" y="363488"/>
                    </a:lnTo>
                    <a:lnTo>
                      <a:pt x="524896" y="363488"/>
                    </a:lnTo>
                    <a:lnTo>
                      <a:pt x="659473" y="363488"/>
                    </a:lnTo>
                    <a:lnTo>
                      <a:pt x="696811" y="363488"/>
                    </a:lnTo>
                    <a:cubicBezTo>
                      <a:pt x="736920" y="363488"/>
                      <a:pt x="776633" y="378133"/>
                      <a:pt x="807771" y="404389"/>
                    </a:cubicBezTo>
                    <a:cubicBezTo>
                      <a:pt x="854081" y="443047"/>
                      <a:pt x="876774" y="504398"/>
                      <a:pt x="866747" y="564298"/>
                    </a:cubicBezTo>
                    <a:lnTo>
                      <a:pt x="803417" y="951535"/>
                    </a:lnTo>
                    <a:cubicBezTo>
                      <a:pt x="795632" y="1008928"/>
                      <a:pt x="769509" y="1053655"/>
                      <a:pt x="726761" y="1081889"/>
                    </a:cubicBezTo>
                    <a:cubicBezTo>
                      <a:pt x="693513" y="1103923"/>
                      <a:pt x="649973" y="1115797"/>
                      <a:pt x="600628" y="1115797"/>
                    </a:cubicBezTo>
                    <a:lnTo>
                      <a:pt x="280943" y="1115797"/>
                    </a:lnTo>
                    <a:lnTo>
                      <a:pt x="264979" y="1115797"/>
                    </a:lnTo>
                    <a:lnTo>
                      <a:pt x="108897" y="1115797"/>
                    </a:lnTo>
                    <a:cubicBezTo>
                      <a:pt x="74197" y="1115797"/>
                      <a:pt x="41344" y="1105242"/>
                      <a:pt x="13769" y="1087299"/>
                    </a:cubicBezTo>
                    <a:lnTo>
                      <a:pt x="-480" y="1075952"/>
                    </a:lnTo>
                    <a:lnTo>
                      <a:pt x="-480" y="443311"/>
                    </a:lnTo>
                    <a:lnTo>
                      <a:pt x="708" y="443047"/>
                    </a:lnTo>
                    <a:cubicBezTo>
                      <a:pt x="6645" y="441332"/>
                      <a:pt x="51372" y="427082"/>
                      <a:pt x="95439" y="396341"/>
                    </a:cubicBezTo>
                    <a:cubicBezTo>
                      <a:pt x="153360" y="355440"/>
                      <a:pt x="182650" y="304644"/>
                      <a:pt x="182650" y="244744"/>
                    </a:cubicBezTo>
                    <a:lnTo>
                      <a:pt x="182650" y="47761"/>
                    </a:lnTo>
                    <a:cubicBezTo>
                      <a:pt x="182650" y="30082"/>
                      <a:pt x="194260" y="14645"/>
                      <a:pt x="211412" y="9368"/>
                    </a:cubicBezTo>
                    <a:cubicBezTo>
                      <a:pt x="213655" y="8576"/>
                      <a:pt x="239911" y="660"/>
                      <a:pt x="274874" y="-264"/>
                    </a:cubicBezTo>
                    <a:close/>
                  </a:path>
                </a:pathLst>
              </a:custGeom>
              <a:gradFill>
                <a:gsLst>
                  <a:gs pos="100000">
                    <a:schemeClr val="accent6">
                      <a:lumMod val="75000"/>
                    </a:schemeClr>
                  </a:gs>
                  <a:gs pos="0">
                    <a:schemeClr val="accent6">
                      <a:lumMod val="50000"/>
                    </a:schemeClr>
                  </a:gs>
                </a:gsLst>
                <a:lin ang="5400000" scaled="1"/>
              </a:gradFill>
              <a:ln w="1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83" name="组合 82"/>
          <p:cNvGrpSpPr/>
          <p:nvPr/>
        </p:nvGrpSpPr>
        <p:grpSpPr>
          <a:xfrm rot="16200000">
            <a:off x="7001975" y="5600716"/>
            <a:ext cx="416600" cy="660937"/>
            <a:chOff x="4129605" y="3112218"/>
            <a:chExt cx="365223" cy="579427"/>
          </a:xfrm>
        </p:grpSpPr>
        <p:sp>
          <p:nvSpPr>
            <p:cNvPr id="84" name="图形43"/>
            <p:cNvSpPr/>
            <p:nvPr/>
          </p:nvSpPr>
          <p:spPr>
            <a:xfrm rot="8100000">
              <a:off x="4174366" y="3479246"/>
              <a:ext cx="320462"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5" name="图形43"/>
            <p:cNvSpPr/>
            <p:nvPr/>
          </p:nvSpPr>
          <p:spPr>
            <a:xfrm rot="13500000">
              <a:off x="4021542" y="3479245"/>
              <a:ext cx="320463"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6" name="图形43"/>
            <p:cNvSpPr/>
            <p:nvPr/>
          </p:nvSpPr>
          <p:spPr>
            <a:xfrm rot="5400000">
              <a:off x="3983276" y="3334959"/>
              <a:ext cx="549819"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3490590" y="964565"/>
            <a:ext cx="9596961" cy="3785911"/>
          </a:xfrm>
          <a:prstGeom prst="roundRect">
            <a:avLst>
              <a:gd name="adj" fmla="val 50000"/>
            </a:avLst>
          </a:prstGeom>
          <a:gradFill flip="none" rotWithShape="1">
            <a:gsLst>
              <a:gs pos="0">
                <a:schemeClr val="bg1">
                  <a:alpha val="0"/>
                </a:schemeClr>
              </a:gs>
              <a:gs pos="59000">
                <a:schemeClr val="accent3">
                  <a:alpha val="0"/>
                </a:schemeClr>
              </a:gs>
              <a:gs pos="100000">
                <a:schemeClr val="accent3">
                  <a:lumMod val="9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矩形: 圆角 14"/>
          <p:cNvSpPr/>
          <p:nvPr/>
        </p:nvSpPr>
        <p:spPr>
          <a:xfrm>
            <a:off x="6085630" y="964565"/>
            <a:ext cx="9596961" cy="3785911"/>
          </a:xfrm>
          <a:prstGeom prst="roundRect">
            <a:avLst>
              <a:gd name="adj" fmla="val 50000"/>
            </a:avLst>
          </a:prstGeom>
          <a:gradFill flip="none" rotWithShape="1">
            <a:gsLst>
              <a:gs pos="0">
                <a:schemeClr val="bg1">
                  <a:alpha val="0"/>
                </a:schemeClr>
              </a:gs>
              <a:gs pos="59000">
                <a:schemeClr val="accent6">
                  <a:alpha val="0"/>
                </a:schemeClr>
              </a:gs>
              <a:gs pos="100000">
                <a:schemeClr val="accent6">
                  <a:lumMod val="9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年度业绩对比</a:t>
            </a:r>
          </a:p>
        </p:txBody>
      </p:sp>
      <p:sp>
        <p:nvSpPr>
          <p:cNvPr id="5" name="椭圆 4"/>
          <p:cNvSpPr/>
          <p:nvPr/>
        </p:nvSpPr>
        <p:spPr>
          <a:xfrm>
            <a:off x="3275363" y="1467445"/>
            <a:ext cx="2871551" cy="2871551"/>
          </a:xfrm>
          <a:prstGeom prst="ellipse">
            <a:avLst/>
          </a:prstGeom>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椭圆 22"/>
          <p:cNvSpPr/>
          <p:nvPr/>
        </p:nvSpPr>
        <p:spPr>
          <a:xfrm>
            <a:off x="6045086" y="1467445"/>
            <a:ext cx="2871551" cy="2871551"/>
          </a:xfrm>
          <a:prstGeom prst="ellipse">
            <a:avLst/>
          </a:prstGeom>
          <a:solidFill>
            <a:schemeClr val="accent4"/>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椭圆 24"/>
          <p:cNvSpPr/>
          <p:nvPr/>
        </p:nvSpPr>
        <p:spPr>
          <a:xfrm>
            <a:off x="5515337" y="2296868"/>
            <a:ext cx="1161327" cy="1161327"/>
          </a:xfrm>
          <a:prstGeom prst="ellipse">
            <a:avLst/>
          </a:prstGeom>
          <a:solidFill>
            <a:schemeClr val="tx2">
              <a:lumMod val="75000"/>
            </a:schemeClr>
          </a:solidFill>
          <a:ln w="571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矩形: 圆角 16"/>
          <p:cNvSpPr/>
          <p:nvPr/>
        </p:nvSpPr>
        <p:spPr>
          <a:xfrm>
            <a:off x="540289" y="1849895"/>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0" name="矩形: 圆角 19"/>
          <p:cNvSpPr/>
          <p:nvPr/>
        </p:nvSpPr>
        <p:spPr>
          <a:xfrm>
            <a:off x="540289" y="2376558"/>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二季度：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1" name="矩形: 圆角 20"/>
          <p:cNvSpPr/>
          <p:nvPr/>
        </p:nvSpPr>
        <p:spPr>
          <a:xfrm>
            <a:off x="540289" y="2903221"/>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三季度：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600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2" name="矩形: 圆角 21"/>
          <p:cNvSpPr/>
          <p:nvPr/>
        </p:nvSpPr>
        <p:spPr>
          <a:xfrm>
            <a:off x="540289" y="3429883"/>
            <a:ext cx="2552194" cy="426653"/>
          </a:xfrm>
          <a:prstGeom prst="roundRect">
            <a:avLst>
              <a:gd name="adj" fmla="val 50000"/>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四季度：</a:t>
            </a:r>
            <a:r>
              <a:rPr kumimoji="0" lang="en-US" altLang="zh-CN"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6" name="文本框 25"/>
          <p:cNvSpPr txBox="1"/>
          <p:nvPr/>
        </p:nvSpPr>
        <p:spPr>
          <a:xfrm>
            <a:off x="540289" y="1260489"/>
            <a:ext cx="3218911" cy="46037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ea"/>
                <a:ea typeface="+mj-ea"/>
                <a:cs typeface="+mj-ea"/>
              </a:rPr>
              <a:t>2025</a:t>
            </a:r>
            <a:r>
              <a:rPr kumimoji="0" lang="zh-CN" altLang="en-US" sz="2400" b="0" i="0" u="none" strike="noStrike" kern="1200" cap="none" spc="0" normalizeH="0" baseline="0" noProof="0">
                <a:ln>
                  <a:noFill/>
                </a:ln>
                <a:solidFill>
                  <a:srgbClr val="1C4273"/>
                </a:solidFill>
                <a:effectLst/>
                <a:uLnTx/>
                <a:uFillTx/>
                <a:latin typeface="+mj-ea"/>
                <a:ea typeface="+mj-ea"/>
                <a:cs typeface="+mj-ea"/>
              </a:rPr>
              <a:t>年各季度销量</a:t>
            </a:r>
            <a:endParaRPr kumimoji="0" lang="en-US" altLang="zh-CN" sz="2400" b="0" i="0" u="none" strike="noStrike" kern="1200" cap="none" spc="0" normalizeH="0" baseline="0" noProof="0">
              <a:ln>
                <a:noFill/>
              </a:ln>
              <a:solidFill>
                <a:srgbClr val="1C4273"/>
              </a:solidFill>
              <a:effectLst/>
              <a:uLnTx/>
              <a:uFillTx/>
              <a:latin typeface="+mj-ea"/>
              <a:ea typeface="+mj-ea"/>
              <a:cs typeface="+mj-ea"/>
            </a:endParaRPr>
          </a:p>
        </p:txBody>
      </p:sp>
      <p:grpSp>
        <p:nvGrpSpPr>
          <p:cNvPr id="28" name="图形 233"/>
          <p:cNvGrpSpPr>
            <a:grpSpLocks noChangeAspect="1"/>
          </p:cNvGrpSpPr>
          <p:nvPr/>
        </p:nvGrpSpPr>
        <p:grpSpPr>
          <a:xfrm>
            <a:off x="2395283" y="3429883"/>
            <a:ext cx="269051" cy="351579"/>
            <a:chOff x="5629495" y="2819400"/>
            <a:chExt cx="933008" cy="1219199"/>
          </a:xfrm>
        </p:grpSpPr>
        <p:sp>
          <p:nvSpPr>
            <p:cNvPr id="29" name="任意多边形: 形状 28"/>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任意多边形: 形状 30"/>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任意多边形: 形状 31"/>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7" name="文本框 26"/>
          <p:cNvSpPr txBox="1"/>
          <p:nvPr/>
        </p:nvSpPr>
        <p:spPr>
          <a:xfrm>
            <a:off x="3476717" y="2728694"/>
            <a:ext cx="2101618" cy="70675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mj-lt"/>
                <a:ea typeface="思源黑体 CN Normal" panose="020B0400000000000000" charset="-122"/>
                <a:cs typeface="+mj-lt"/>
              </a:rPr>
              <a:t>2100</a:t>
            </a: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文本框 42"/>
          <p:cNvSpPr txBox="1"/>
          <p:nvPr/>
        </p:nvSpPr>
        <p:spPr>
          <a:xfrm>
            <a:off x="3487512" y="2481695"/>
            <a:ext cx="1434207" cy="30670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rPr>
              <a:t>2025</a:t>
            </a:r>
            <a:r>
              <a:rPr kumimoji="0" lang="zh-CN" altLang="en-US"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rPr>
              <a:t>年总销量</a:t>
            </a:r>
            <a:endParaRPr kumimoji="0" lang="en-US" altLang="zh-CN"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矩形: 圆角 46"/>
          <p:cNvSpPr/>
          <p:nvPr/>
        </p:nvSpPr>
        <p:spPr>
          <a:xfrm>
            <a:off x="9082406" y="1849895"/>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8" name="矩形: 圆角 47"/>
          <p:cNvSpPr/>
          <p:nvPr/>
        </p:nvSpPr>
        <p:spPr>
          <a:xfrm>
            <a:off x="9082406" y="2376558"/>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二季度：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9" name="矩形: 圆角 48"/>
          <p:cNvSpPr/>
          <p:nvPr/>
        </p:nvSpPr>
        <p:spPr>
          <a:xfrm>
            <a:off x="9082406" y="2903221"/>
            <a:ext cx="2552194" cy="426653"/>
          </a:xfrm>
          <a:prstGeom prst="roundRect">
            <a:avLst>
              <a:gd name="adj" fmla="val 50000"/>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三季度：</a:t>
            </a:r>
            <a:r>
              <a:rPr kumimoji="0" lang="en-US" altLang="zh-CN"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900</a:t>
            </a: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50" name="矩形: 圆角 49"/>
          <p:cNvSpPr/>
          <p:nvPr/>
        </p:nvSpPr>
        <p:spPr>
          <a:xfrm>
            <a:off x="9082406" y="3429883"/>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四季度：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51" name="文本框 50"/>
          <p:cNvSpPr txBox="1"/>
          <p:nvPr/>
        </p:nvSpPr>
        <p:spPr>
          <a:xfrm>
            <a:off x="8467449" y="1260489"/>
            <a:ext cx="3218911" cy="46037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ea"/>
                <a:ea typeface="+mj-ea"/>
                <a:cs typeface="+mj-ea"/>
              </a:rPr>
              <a:t>2026</a:t>
            </a:r>
            <a:r>
              <a:rPr kumimoji="0" lang="zh-CN" altLang="en-US" sz="2400" b="0" i="0" u="none" strike="noStrike" kern="1200" cap="none" spc="0" normalizeH="0" baseline="0" noProof="0">
                <a:ln>
                  <a:noFill/>
                </a:ln>
                <a:solidFill>
                  <a:srgbClr val="1C4273"/>
                </a:solidFill>
                <a:effectLst/>
                <a:uLnTx/>
                <a:uFillTx/>
                <a:latin typeface="+mj-ea"/>
                <a:ea typeface="+mj-ea"/>
                <a:cs typeface="+mj-ea"/>
              </a:rPr>
              <a:t>年各季度销量</a:t>
            </a:r>
            <a:endParaRPr kumimoji="0" lang="en-US" altLang="zh-CN" sz="2400" b="0" i="0" u="none" strike="noStrike" kern="1200" cap="none" spc="0" normalizeH="0" baseline="0" noProof="0">
              <a:ln>
                <a:noFill/>
              </a:ln>
              <a:solidFill>
                <a:srgbClr val="1C4273"/>
              </a:solidFill>
              <a:effectLst/>
              <a:uLnTx/>
              <a:uFillTx/>
              <a:latin typeface="+mj-ea"/>
              <a:ea typeface="+mj-ea"/>
              <a:cs typeface="+mj-ea"/>
            </a:endParaRPr>
          </a:p>
        </p:txBody>
      </p:sp>
      <p:grpSp>
        <p:nvGrpSpPr>
          <p:cNvPr id="52" name="图形 233"/>
          <p:cNvGrpSpPr>
            <a:grpSpLocks noChangeAspect="1"/>
          </p:cNvGrpSpPr>
          <p:nvPr/>
        </p:nvGrpSpPr>
        <p:grpSpPr>
          <a:xfrm>
            <a:off x="10937400" y="2906847"/>
            <a:ext cx="269051" cy="351579"/>
            <a:chOff x="5629495" y="2819400"/>
            <a:chExt cx="933008" cy="1219199"/>
          </a:xfrm>
        </p:grpSpPr>
        <p:sp>
          <p:nvSpPr>
            <p:cNvPr id="56" name="任意多边形: 形状 55"/>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任意多边形: 形状 59"/>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任意多边形: 形状 60"/>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3" name="任意多边形: 形状 62"/>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4" name="文本框 53"/>
          <p:cNvSpPr txBox="1"/>
          <p:nvPr/>
        </p:nvSpPr>
        <p:spPr>
          <a:xfrm>
            <a:off x="6651218" y="2728694"/>
            <a:ext cx="2101618" cy="70675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mj-lt"/>
                <a:ea typeface="思源黑体 CN Normal" panose="020B0400000000000000" charset="-122"/>
                <a:cs typeface="+mj-lt"/>
              </a:rPr>
              <a:t>2800</a:t>
            </a: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5" name="文本框 54"/>
          <p:cNvSpPr txBox="1"/>
          <p:nvPr/>
        </p:nvSpPr>
        <p:spPr>
          <a:xfrm>
            <a:off x="7318629" y="2481695"/>
            <a:ext cx="1434207" cy="30670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rPr>
              <a:t>年总销量</a:t>
            </a:r>
            <a:endParaRPr kumimoji="0" lang="en-US" altLang="zh-CN"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矩形 88"/>
          <p:cNvSpPr/>
          <p:nvPr/>
        </p:nvSpPr>
        <p:spPr>
          <a:xfrm>
            <a:off x="364732"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矩形 76"/>
          <p:cNvSpPr/>
          <p:nvPr/>
        </p:nvSpPr>
        <p:spPr>
          <a:xfrm>
            <a:off x="364732" y="5173739"/>
            <a:ext cx="2750901" cy="433123"/>
          </a:xfrm>
          <a:prstGeom prst="rect">
            <a:avLst/>
          </a:prstGeom>
          <a:solidFill>
            <a:schemeClr val="accent3">
              <a:lumMod val="2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季节性波动</a:t>
            </a:r>
          </a:p>
        </p:txBody>
      </p:sp>
      <p:sp>
        <p:nvSpPr>
          <p:cNvPr id="78" name="文本框 77"/>
          <p:cNvSpPr txBox="1"/>
          <p:nvPr/>
        </p:nvSpPr>
        <p:spPr>
          <a:xfrm>
            <a:off x="364732"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（春节）、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圣诞）为销量高峰；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因新品发布前用户持币观望，销量略低。</a:t>
            </a:r>
          </a:p>
        </p:txBody>
      </p:sp>
      <p:sp>
        <p:nvSpPr>
          <p:cNvPr id="90" name="矩形 89"/>
          <p:cNvSpPr/>
          <p:nvPr/>
        </p:nvSpPr>
        <p:spPr>
          <a:xfrm>
            <a:off x="3287661"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矩形 80"/>
          <p:cNvSpPr/>
          <p:nvPr/>
        </p:nvSpPr>
        <p:spPr>
          <a:xfrm>
            <a:off x="3287661" y="5173739"/>
            <a:ext cx="2750901" cy="433123"/>
          </a:xfrm>
          <a:prstGeom prst="rect">
            <a:avLst/>
          </a:prstGeom>
          <a:solidFill>
            <a:schemeClr val="accent3">
              <a:lumMod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品牌增长</a:t>
            </a:r>
          </a:p>
        </p:txBody>
      </p:sp>
      <p:sp>
        <p:nvSpPr>
          <p:cNvPr id="82" name="文本框 81"/>
          <p:cNvSpPr txBox="1"/>
          <p:nvPr/>
        </p:nvSpPr>
        <p:spPr>
          <a:xfrm>
            <a:off x="3287661"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产品竞争力提升，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单季销量突破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万台；依赖新品周期，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销量占全年比重超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1" name="矩形 90"/>
          <p:cNvSpPr/>
          <p:nvPr/>
        </p:nvSpPr>
        <p:spPr>
          <a:xfrm>
            <a:off x="6188886"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4" name="矩形 83"/>
          <p:cNvSpPr/>
          <p:nvPr/>
        </p:nvSpPr>
        <p:spPr>
          <a:xfrm>
            <a:off x="6188886" y="5173739"/>
            <a:ext cx="2750901" cy="433123"/>
          </a:xfrm>
          <a:prstGeom prst="rect">
            <a:avLst/>
          </a:prstGeom>
          <a:solidFill>
            <a:schemeClr val="accent3">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行业趋势</a:t>
            </a:r>
          </a:p>
        </p:txBody>
      </p:sp>
      <p:sp>
        <p:nvSpPr>
          <p:cNvPr id="85" name="文本框 84"/>
          <p:cNvSpPr txBox="1"/>
          <p:nvPr/>
        </p:nvSpPr>
        <p:spPr>
          <a:xfrm>
            <a:off x="6188886"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普及推动整体销量增长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，折叠屏机型等产品成为新增长点。</a:t>
            </a:r>
          </a:p>
        </p:txBody>
      </p:sp>
      <p:sp>
        <p:nvSpPr>
          <p:cNvPr id="92" name="矩形 91"/>
          <p:cNvSpPr/>
          <p:nvPr/>
        </p:nvSpPr>
        <p:spPr>
          <a:xfrm>
            <a:off x="9111815"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矩形 86"/>
          <p:cNvSpPr/>
          <p:nvPr/>
        </p:nvSpPr>
        <p:spPr>
          <a:xfrm>
            <a:off x="9111815" y="5173739"/>
            <a:ext cx="2750901" cy="433123"/>
          </a:xfrm>
          <a:prstGeom prst="rect">
            <a:avLst/>
          </a:prstGeom>
          <a:solidFill>
            <a:schemeClr val="accent3">
              <a:lumMod val="9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技术趋势</a:t>
            </a:r>
          </a:p>
        </p:txBody>
      </p:sp>
      <p:sp>
        <p:nvSpPr>
          <p:cNvPr id="88" name="文本框 87"/>
          <p:cNvSpPr txBox="1"/>
          <p:nvPr/>
        </p:nvSpPr>
        <p:spPr>
          <a:xfrm>
            <a:off x="9111815"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2025-2026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年手机行业的两大技术趋势（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功能、折叠屏）直接影响数据增长。</a:t>
            </a:r>
          </a:p>
        </p:txBody>
      </p:sp>
      <p:sp>
        <p:nvSpPr>
          <p:cNvPr id="104" name="任意多边形: 形状 103"/>
          <p:cNvSpPr/>
          <p:nvPr/>
        </p:nvSpPr>
        <p:spPr>
          <a:xfrm>
            <a:off x="364733" y="4927982"/>
            <a:ext cx="11506007" cy="196817"/>
          </a:xfrm>
          <a:custGeom>
            <a:avLst/>
            <a:gdLst>
              <a:gd name="connsiteX0" fmla="*/ 10806592 w 11506007"/>
              <a:gd name="connsiteY0" fmla="*/ 0 h 286091"/>
              <a:gd name="connsiteX1" fmla="*/ 11506007 w 11506007"/>
              <a:gd name="connsiteY1" fmla="*/ 286091 h 286091"/>
              <a:gd name="connsiteX2" fmla="*/ 0 w 11506007"/>
              <a:gd name="connsiteY2" fmla="*/ 286091 h 286091"/>
              <a:gd name="connsiteX3" fmla="*/ 0 w 11506007"/>
              <a:gd name="connsiteY3" fmla="*/ 154190 h 286091"/>
              <a:gd name="connsiteX4" fmla="*/ 10806592 w 11506007"/>
              <a:gd name="connsiteY4" fmla="*/ 154190 h 28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07" h="286091">
                <a:moveTo>
                  <a:pt x="10806592" y="0"/>
                </a:moveTo>
                <a:lnTo>
                  <a:pt x="11506007" y="286091"/>
                </a:lnTo>
                <a:lnTo>
                  <a:pt x="0" y="286091"/>
                </a:lnTo>
                <a:lnTo>
                  <a:pt x="0" y="154190"/>
                </a:lnTo>
                <a:lnTo>
                  <a:pt x="10806592" y="15419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文本框 104"/>
          <p:cNvSpPr txBox="1"/>
          <p:nvPr/>
        </p:nvSpPr>
        <p:spPr>
          <a:xfrm>
            <a:off x="364733" y="4620301"/>
            <a:ext cx="1405937" cy="46037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原因分析</a:t>
            </a:r>
          </a:p>
        </p:txBody>
      </p:sp>
      <p:grpSp>
        <p:nvGrpSpPr>
          <p:cNvPr id="106" name="组合 105"/>
          <p:cNvGrpSpPr>
            <a:grpSpLocks noChangeAspect="1"/>
          </p:cNvGrpSpPr>
          <p:nvPr/>
        </p:nvGrpSpPr>
        <p:grpSpPr>
          <a:xfrm>
            <a:off x="5113486" y="3452962"/>
            <a:ext cx="2009876" cy="546809"/>
            <a:chOff x="3384664" y="2513856"/>
            <a:chExt cx="3697782" cy="1006027"/>
          </a:xfrm>
        </p:grpSpPr>
        <p:sp>
          <p:nvSpPr>
            <p:cNvPr id="107" name="任意多边形: 形状 106"/>
            <p:cNvSpPr/>
            <p:nvPr/>
          </p:nvSpPr>
          <p:spPr>
            <a:xfrm rot="2755986" flipH="1" flipV="1">
              <a:off x="6407793" y="3072593"/>
              <a:ext cx="508179" cy="117289"/>
            </a:xfrm>
            <a:custGeom>
              <a:avLst/>
              <a:gdLst>
                <a:gd name="connsiteX0" fmla="*/ 508179 w 508179"/>
                <a:gd name="connsiteY0" fmla="*/ 0 h 117289"/>
                <a:gd name="connsiteX1" fmla="*/ 293801 w 508179"/>
                <a:gd name="connsiteY1" fmla="*/ 117289 h 117289"/>
                <a:gd name="connsiteX2" fmla="*/ 0 w 508179"/>
                <a:gd name="connsiteY2" fmla="*/ 117289 h 117289"/>
                <a:gd name="connsiteX3" fmla="*/ 214378 w 508179"/>
                <a:gd name="connsiteY3" fmla="*/ 0 h 117289"/>
                <a:gd name="connsiteX4" fmla="*/ 508179 w 508179"/>
                <a:gd name="connsiteY4" fmla="*/ 0 h 117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179" h="117289">
                  <a:moveTo>
                    <a:pt x="508179" y="0"/>
                  </a:moveTo>
                  <a:lnTo>
                    <a:pt x="293801" y="117289"/>
                  </a:lnTo>
                  <a:lnTo>
                    <a:pt x="0" y="117289"/>
                  </a:lnTo>
                  <a:lnTo>
                    <a:pt x="214378" y="0"/>
                  </a:lnTo>
                  <a:lnTo>
                    <a:pt x="508179"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8" name="组合 107"/>
            <p:cNvGrpSpPr/>
            <p:nvPr/>
          </p:nvGrpSpPr>
          <p:grpSpPr>
            <a:xfrm>
              <a:off x="3384664" y="2513856"/>
              <a:ext cx="3697782" cy="1006027"/>
              <a:chOff x="528320" y="3273571"/>
              <a:chExt cx="11015517" cy="2996908"/>
            </a:xfrm>
          </p:grpSpPr>
          <p:sp>
            <p:nvSpPr>
              <p:cNvPr id="111" name="任意多边形: 形状 110"/>
              <p:cNvSpPr/>
              <p:nvPr/>
            </p:nvSpPr>
            <p:spPr>
              <a:xfrm>
                <a:off x="528320" y="3273571"/>
                <a:ext cx="11015517" cy="2996908"/>
              </a:xfrm>
              <a:custGeom>
                <a:avLst/>
                <a:gdLst>
                  <a:gd name="connsiteX0" fmla="*/ 251730 w 11015517"/>
                  <a:gd name="connsiteY0" fmla="*/ 0 h 2996908"/>
                  <a:gd name="connsiteX1" fmla="*/ 220275 w 11015517"/>
                  <a:gd name="connsiteY1" fmla="*/ 141148 h 2996908"/>
                  <a:gd name="connsiteX2" fmla="*/ 221809 w 11015517"/>
                  <a:gd name="connsiteY2" fmla="*/ 385931 h 2996908"/>
                  <a:gd name="connsiteX3" fmla="*/ 6040526 w 11015517"/>
                  <a:gd name="connsiteY3" fmla="*/ 2056872 h 2996908"/>
                  <a:gd name="connsiteX4" fmla="*/ 9184490 w 11015517"/>
                  <a:gd name="connsiteY4" fmla="*/ 1223084 h 2996908"/>
                  <a:gd name="connsiteX5" fmla="*/ 9347529 w 11015517"/>
                  <a:gd name="connsiteY5" fmla="*/ 1143280 h 2996908"/>
                  <a:gd name="connsiteX6" fmla="*/ 8910312 w 11015517"/>
                  <a:gd name="connsiteY6" fmla="*/ 685908 h 2996908"/>
                  <a:gd name="connsiteX7" fmla="*/ 11015517 w 11015517"/>
                  <a:gd name="connsiteY7" fmla="*/ 176774 h 2996908"/>
                  <a:gd name="connsiteX8" fmla="*/ 10412090 w 11015517"/>
                  <a:gd name="connsiteY8" fmla="*/ 2256914 h 2996908"/>
                  <a:gd name="connsiteX9" fmla="*/ 9964174 w 11015517"/>
                  <a:gd name="connsiteY9" fmla="*/ 1788350 h 2996908"/>
                  <a:gd name="connsiteX10" fmla="*/ 9957387 w 11015517"/>
                  <a:gd name="connsiteY10" fmla="*/ 1794460 h 2996908"/>
                  <a:gd name="connsiteX11" fmla="*/ 5298440 w 11015517"/>
                  <a:gd name="connsiteY11" fmla="*/ 2996908 h 2996908"/>
                  <a:gd name="connsiteX12" fmla="*/ 0 w 11015517"/>
                  <a:gd name="connsiteY12" fmla="*/ 699269 h 2996908"/>
                  <a:gd name="connsiteX13" fmla="*/ 238208 w 11015517"/>
                  <a:gd name="connsiteY13" fmla="*/ 16022 h 29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15517" h="2996908">
                    <a:moveTo>
                      <a:pt x="251730" y="0"/>
                    </a:moveTo>
                    <a:lnTo>
                      <a:pt x="220275" y="141148"/>
                    </a:lnTo>
                    <a:cubicBezTo>
                      <a:pt x="211296" y="222812"/>
                      <a:pt x="211661" y="304492"/>
                      <a:pt x="221809" y="385931"/>
                    </a:cubicBezTo>
                    <a:cubicBezTo>
                      <a:pt x="384169" y="1688956"/>
                      <a:pt x="2989298" y="2437063"/>
                      <a:pt x="6040526" y="2056872"/>
                    </a:cubicBezTo>
                    <a:cubicBezTo>
                      <a:pt x="7232413" y="1908360"/>
                      <a:pt x="8316062" y="1609652"/>
                      <a:pt x="9184490" y="1223084"/>
                    </a:cubicBezTo>
                    <a:lnTo>
                      <a:pt x="9347529" y="1143280"/>
                    </a:lnTo>
                    <a:lnTo>
                      <a:pt x="8910312" y="685908"/>
                    </a:lnTo>
                    <a:lnTo>
                      <a:pt x="11015517" y="176774"/>
                    </a:lnTo>
                    <a:lnTo>
                      <a:pt x="10412090" y="2256914"/>
                    </a:lnTo>
                    <a:lnTo>
                      <a:pt x="9964174" y="1788350"/>
                    </a:lnTo>
                    <a:lnTo>
                      <a:pt x="9957387" y="1794460"/>
                    </a:lnTo>
                    <a:cubicBezTo>
                      <a:pt x="9060153" y="2510692"/>
                      <a:pt x="7310236" y="2996908"/>
                      <a:pt x="5298440" y="2996908"/>
                    </a:cubicBezTo>
                    <a:cubicBezTo>
                      <a:pt x="2372192" y="2996908"/>
                      <a:pt x="0" y="1968220"/>
                      <a:pt x="0" y="699269"/>
                    </a:cubicBezTo>
                    <a:cubicBezTo>
                      <a:pt x="0" y="461341"/>
                      <a:pt x="83398" y="231859"/>
                      <a:pt x="238208" y="16022"/>
                    </a:cubicBez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任意多边形: 形状 111"/>
              <p:cNvSpPr/>
              <p:nvPr/>
            </p:nvSpPr>
            <p:spPr>
              <a:xfrm>
                <a:off x="561095" y="3273571"/>
                <a:ext cx="9664991" cy="2571646"/>
              </a:xfrm>
              <a:custGeom>
                <a:avLst/>
                <a:gdLst>
                  <a:gd name="connsiteX0" fmla="*/ 218954 w 9664994"/>
                  <a:gd name="connsiteY0" fmla="*/ 0 h 2571645"/>
                  <a:gd name="connsiteX1" fmla="*/ 187499 w 9664994"/>
                  <a:gd name="connsiteY1" fmla="*/ 141148 h 2571645"/>
                  <a:gd name="connsiteX2" fmla="*/ 189033 w 9664994"/>
                  <a:gd name="connsiteY2" fmla="*/ 385931 h 2571645"/>
                  <a:gd name="connsiteX3" fmla="*/ 6007750 w 9664994"/>
                  <a:gd name="connsiteY3" fmla="*/ 2056872 h 2571645"/>
                  <a:gd name="connsiteX4" fmla="*/ 9151714 w 9664994"/>
                  <a:gd name="connsiteY4" fmla="*/ 1223084 h 2571645"/>
                  <a:gd name="connsiteX5" fmla="*/ 9314754 w 9664994"/>
                  <a:gd name="connsiteY5" fmla="*/ 1143280 h 2571645"/>
                  <a:gd name="connsiteX6" fmla="*/ 9664994 w 9664994"/>
                  <a:gd name="connsiteY6" fmla="*/ 1509665 h 2571645"/>
                  <a:gd name="connsiteX7" fmla="*/ 9652872 w 9664994"/>
                  <a:gd name="connsiteY7" fmla="*/ 1519514 h 2571645"/>
                  <a:gd name="connsiteX8" fmla="*/ 5136404 w 9664994"/>
                  <a:gd name="connsiteY8" fmla="*/ 2571645 h 2571645"/>
                  <a:gd name="connsiteX9" fmla="*/ 0 w 9664994"/>
                  <a:gd name="connsiteY9" fmla="*/ 561231 h 2571645"/>
                  <a:gd name="connsiteX10" fmla="*/ 26431 w 9664994"/>
                  <a:gd name="connsiteY10" fmla="*/ 356361 h 2571645"/>
                  <a:gd name="connsiteX11" fmla="*/ 26802 w 9664994"/>
                  <a:gd name="connsiteY11" fmla="*/ 354953 h 2571645"/>
                  <a:gd name="connsiteX12" fmla="*/ 34318 w 9664994"/>
                  <a:gd name="connsiteY12" fmla="*/ 335678 h 2571645"/>
                  <a:gd name="connsiteX13" fmla="*/ 102902 w 9664994"/>
                  <a:gd name="connsiteY13" fmla="*/ 180377 h 2571645"/>
                  <a:gd name="connsiteX14" fmla="*/ 205432 w 9664994"/>
                  <a:gd name="connsiteY14" fmla="*/ 16022 h 2571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64994" h="2571645">
                    <a:moveTo>
                      <a:pt x="218954" y="0"/>
                    </a:moveTo>
                    <a:lnTo>
                      <a:pt x="187499" y="141148"/>
                    </a:lnTo>
                    <a:cubicBezTo>
                      <a:pt x="178520" y="222812"/>
                      <a:pt x="178885" y="304492"/>
                      <a:pt x="189033" y="385931"/>
                    </a:cubicBezTo>
                    <a:cubicBezTo>
                      <a:pt x="351393" y="1688956"/>
                      <a:pt x="2956522" y="2437063"/>
                      <a:pt x="6007750" y="2056872"/>
                    </a:cubicBezTo>
                    <a:cubicBezTo>
                      <a:pt x="7199637" y="1908360"/>
                      <a:pt x="8283286" y="1609652"/>
                      <a:pt x="9151714" y="1223084"/>
                    </a:cubicBezTo>
                    <a:lnTo>
                      <a:pt x="9314754" y="1143280"/>
                    </a:lnTo>
                    <a:lnTo>
                      <a:pt x="9664994" y="1509665"/>
                    </a:lnTo>
                    <a:lnTo>
                      <a:pt x="9652872" y="1519514"/>
                    </a:lnTo>
                    <a:cubicBezTo>
                      <a:pt x="8783077" y="2146211"/>
                      <a:pt x="7086675" y="2571645"/>
                      <a:pt x="5136404" y="2571645"/>
                    </a:cubicBezTo>
                    <a:cubicBezTo>
                      <a:pt x="2299646" y="2571645"/>
                      <a:pt x="0" y="1671552"/>
                      <a:pt x="0" y="561231"/>
                    </a:cubicBezTo>
                    <a:lnTo>
                      <a:pt x="26431" y="356361"/>
                    </a:lnTo>
                    <a:lnTo>
                      <a:pt x="26802" y="354953"/>
                    </a:lnTo>
                    <a:lnTo>
                      <a:pt x="34318" y="335678"/>
                    </a:lnTo>
                    <a:lnTo>
                      <a:pt x="102902" y="180377"/>
                    </a:lnTo>
                    <a:cubicBezTo>
                      <a:pt x="132490" y="124794"/>
                      <a:pt x="166730" y="69981"/>
                      <a:pt x="205432" y="16022"/>
                    </a:cubicBezTo>
                    <a:close/>
                  </a:path>
                </a:pathLst>
              </a:custGeom>
              <a:solidFill>
                <a:schemeClr val="bg1">
                  <a:lumMod val="9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09" name="任意多边形: 形状 108"/>
            <p:cNvSpPr/>
            <p:nvPr/>
          </p:nvSpPr>
          <p:spPr>
            <a:xfrm rot="20778520" flipH="1">
              <a:off x="6158185" y="2556719"/>
              <a:ext cx="923019" cy="116471"/>
            </a:xfrm>
            <a:custGeom>
              <a:avLst/>
              <a:gdLst>
                <a:gd name="connsiteX0" fmla="*/ 196248 w 923019"/>
                <a:gd name="connsiteY0" fmla="*/ 0 h 116471"/>
                <a:gd name="connsiteX1" fmla="*/ 0 w 923019"/>
                <a:gd name="connsiteY1" fmla="*/ 116471 h 116471"/>
                <a:gd name="connsiteX2" fmla="*/ 726770 w 923019"/>
                <a:gd name="connsiteY2" fmla="*/ 116471 h 116471"/>
                <a:gd name="connsiteX3" fmla="*/ 923019 w 923019"/>
                <a:gd name="connsiteY3" fmla="*/ 0 h 116471"/>
                <a:gd name="connsiteX4" fmla="*/ 196248 w 923019"/>
                <a:gd name="connsiteY4" fmla="*/ 0 h 116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019" h="116471">
                  <a:moveTo>
                    <a:pt x="196248" y="0"/>
                  </a:moveTo>
                  <a:lnTo>
                    <a:pt x="0" y="116471"/>
                  </a:lnTo>
                  <a:lnTo>
                    <a:pt x="726770" y="116471"/>
                  </a:lnTo>
                  <a:lnTo>
                    <a:pt x="923019" y="0"/>
                  </a:lnTo>
                  <a:lnTo>
                    <a:pt x="196248"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任意多边形: 形状 109"/>
            <p:cNvSpPr/>
            <p:nvPr/>
          </p:nvSpPr>
          <p:spPr>
            <a:xfrm rot="2755986" flipH="1" flipV="1">
              <a:off x="6094829" y="2787498"/>
              <a:ext cx="597860" cy="117289"/>
            </a:xfrm>
            <a:custGeom>
              <a:avLst/>
              <a:gdLst>
                <a:gd name="connsiteX0" fmla="*/ 597860 w 597860"/>
                <a:gd name="connsiteY0" fmla="*/ 0 h 117289"/>
                <a:gd name="connsiteX1" fmla="*/ 383482 w 597860"/>
                <a:gd name="connsiteY1" fmla="*/ 117289 h 117289"/>
                <a:gd name="connsiteX2" fmla="*/ 0 w 597860"/>
                <a:gd name="connsiteY2" fmla="*/ 117289 h 117289"/>
                <a:gd name="connsiteX3" fmla="*/ 214378 w 597860"/>
                <a:gd name="connsiteY3" fmla="*/ 0 h 117289"/>
              </a:gdLst>
              <a:ahLst/>
              <a:cxnLst>
                <a:cxn ang="0">
                  <a:pos x="connsiteX0" y="connsiteY0"/>
                </a:cxn>
                <a:cxn ang="0">
                  <a:pos x="connsiteX1" y="connsiteY1"/>
                </a:cxn>
                <a:cxn ang="0">
                  <a:pos x="connsiteX2" y="connsiteY2"/>
                </a:cxn>
                <a:cxn ang="0">
                  <a:pos x="connsiteX3" y="connsiteY3"/>
                </a:cxn>
              </a:cxnLst>
              <a:rect l="l" t="t" r="r" b="b"/>
              <a:pathLst>
                <a:path w="597860" h="117289">
                  <a:moveTo>
                    <a:pt x="597860" y="0"/>
                  </a:moveTo>
                  <a:lnTo>
                    <a:pt x="383482" y="117289"/>
                  </a:lnTo>
                  <a:lnTo>
                    <a:pt x="0" y="117289"/>
                  </a:lnTo>
                  <a:lnTo>
                    <a:pt x="214378"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8" name="文本框 37"/>
          <p:cNvSpPr txBox="1"/>
          <p:nvPr/>
        </p:nvSpPr>
        <p:spPr>
          <a:xfrm>
            <a:off x="5680229" y="2510510"/>
            <a:ext cx="497275"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1"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rPr>
              <a:t>V</a:t>
            </a:r>
          </a:p>
        </p:txBody>
      </p:sp>
      <p:sp>
        <p:nvSpPr>
          <p:cNvPr id="39" name="文本框 38"/>
          <p:cNvSpPr txBox="1"/>
          <p:nvPr/>
        </p:nvSpPr>
        <p:spPr>
          <a:xfrm>
            <a:off x="5927512" y="2688016"/>
            <a:ext cx="497275"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1"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rPr>
              <a:t>S</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矩形: 圆角 268"/>
          <p:cNvSpPr/>
          <p:nvPr/>
        </p:nvSpPr>
        <p:spPr>
          <a:xfrm>
            <a:off x="3477469" y="1896945"/>
            <a:ext cx="8212961" cy="934142"/>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2" name="矩形: 圆角 271"/>
          <p:cNvSpPr/>
          <p:nvPr/>
        </p:nvSpPr>
        <p:spPr>
          <a:xfrm>
            <a:off x="3477469" y="2866859"/>
            <a:ext cx="8212961" cy="914599"/>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3" name="矩形: 圆角 272"/>
          <p:cNvSpPr/>
          <p:nvPr/>
        </p:nvSpPr>
        <p:spPr>
          <a:xfrm>
            <a:off x="3477469" y="3817230"/>
            <a:ext cx="8212961" cy="91459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4" name="矩形: 圆角 273"/>
          <p:cNvSpPr/>
          <p:nvPr/>
        </p:nvSpPr>
        <p:spPr>
          <a:xfrm>
            <a:off x="3477469" y="4767599"/>
            <a:ext cx="8212961" cy="91459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5" name="矩形: 圆角 274"/>
          <p:cNvSpPr/>
          <p:nvPr/>
        </p:nvSpPr>
        <p:spPr>
          <a:xfrm>
            <a:off x="3477469" y="5717964"/>
            <a:ext cx="8212961" cy="914609"/>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季度业绩对比</a:t>
            </a:r>
          </a:p>
        </p:txBody>
      </p:sp>
      <p:sp>
        <p:nvSpPr>
          <p:cNvPr id="82" name="任意多边形: 形状 81"/>
          <p:cNvSpPr/>
          <p:nvPr/>
        </p:nvSpPr>
        <p:spPr>
          <a:xfrm>
            <a:off x="421083" y="1896945"/>
            <a:ext cx="2130162" cy="934142"/>
          </a:xfrm>
          <a:custGeom>
            <a:avLst/>
            <a:gdLst>
              <a:gd name="connsiteX0" fmla="*/ 0 w 2574984"/>
              <a:gd name="connsiteY0" fmla="*/ 0 h 940044"/>
              <a:gd name="connsiteX1" fmla="*/ 2574984 w 2574984"/>
              <a:gd name="connsiteY1" fmla="*/ 0 h 940044"/>
              <a:gd name="connsiteX2" fmla="*/ 2574984 w 2574984"/>
              <a:gd name="connsiteY2" fmla="*/ 940044 h 940044"/>
              <a:gd name="connsiteX3" fmla="*/ 478162 w 2574984"/>
              <a:gd name="connsiteY3" fmla="*/ 940044 h 940044"/>
              <a:gd name="connsiteX4" fmla="*/ 475423 w 2574984"/>
              <a:gd name="connsiteY4" fmla="*/ 930697 h 940044"/>
              <a:gd name="connsiteX5" fmla="*/ 73752 w 2574984"/>
              <a:gd name="connsiteY5" fmla="*/ 95431 h 940044"/>
              <a:gd name="connsiteX6" fmla="*/ 0 w 2574984"/>
              <a:gd name="connsiteY6" fmla="*/ 0 h 94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984" h="940044">
                <a:moveTo>
                  <a:pt x="0" y="0"/>
                </a:moveTo>
                <a:lnTo>
                  <a:pt x="2574984" y="0"/>
                </a:lnTo>
                <a:lnTo>
                  <a:pt x="2574984" y="940044"/>
                </a:lnTo>
                <a:lnTo>
                  <a:pt x="478162" y="940044"/>
                </a:lnTo>
                <a:lnTo>
                  <a:pt x="475423" y="930697"/>
                </a:lnTo>
                <a:cubicBezTo>
                  <a:pt x="366219" y="603627"/>
                  <a:pt x="230022" y="320291"/>
                  <a:pt x="73752" y="95431"/>
                </a:cubicBezTo>
                <a:lnTo>
                  <a:pt x="0" y="0"/>
                </a:ln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1" name="任意多边形: 形状 80"/>
          <p:cNvSpPr/>
          <p:nvPr/>
        </p:nvSpPr>
        <p:spPr>
          <a:xfrm>
            <a:off x="2591005" y="1896945"/>
            <a:ext cx="2130162" cy="934142"/>
          </a:xfrm>
          <a:custGeom>
            <a:avLst/>
            <a:gdLst>
              <a:gd name="connsiteX0" fmla="*/ 0 w 2574984"/>
              <a:gd name="connsiteY0" fmla="*/ 0 h 940044"/>
              <a:gd name="connsiteX1" fmla="*/ 2574984 w 2574984"/>
              <a:gd name="connsiteY1" fmla="*/ 0 h 940044"/>
              <a:gd name="connsiteX2" fmla="*/ 2501232 w 2574984"/>
              <a:gd name="connsiteY2" fmla="*/ 95431 h 940044"/>
              <a:gd name="connsiteX3" fmla="*/ 2099561 w 2574984"/>
              <a:gd name="connsiteY3" fmla="*/ 930697 h 940044"/>
              <a:gd name="connsiteX4" fmla="*/ 2096822 w 2574984"/>
              <a:gd name="connsiteY4" fmla="*/ 940044 h 940044"/>
              <a:gd name="connsiteX5" fmla="*/ 0 w 2574984"/>
              <a:gd name="connsiteY5" fmla="*/ 940044 h 940044"/>
              <a:gd name="connsiteX6" fmla="*/ 0 w 2574984"/>
              <a:gd name="connsiteY6" fmla="*/ 0 h 94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984" h="940044">
                <a:moveTo>
                  <a:pt x="0" y="0"/>
                </a:moveTo>
                <a:lnTo>
                  <a:pt x="2574984" y="0"/>
                </a:lnTo>
                <a:lnTo>
                  <a:pt x="2501232" y="95431"/>
                </a:lnTo>
                <a:cubicBezTo>
                  <a:pt x="2344962" y="320291"/>
                  <a:pt x="2208765" y="603627"/>
                  <a:pt x="2099561" y="930697"/>
                </a:cubicBezTo>
                <a:lnTo>
                  <a:pt x="2096822" y="940044"/>
                </a:lnTo>
                <a:lnTo>
                  <a:pt x="0" y="940044"/>
                </a:lnTo>
                <a:lnTo>
                  <a:pt x="0"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任意多边形: 形状 76"/>
          <p:cNvSpPr/>
          <p:nvPr/>
        </p:nvSpPr>
        <p:spPr>
          <a:xfrm>
            <a:off x="825370" y="2866861"/>
            <a:ext cx="1725875" cy="914598"/>
          </a:xfrm>
          <a:custGeom>
            <a:avLst/>
            <a:gdLst>
              <a:gd name="connsiteX0" fmla="*/ 0 w 2086274"/>
              <a:gd name="connsiteY0" fmla="*/ 0 h 920376"/>
              <a:gd name="connsiteX1" fmla="*/ 2086274 w 2086274"/>
              <a:gd name="connsiteY1" fmla="*/ 0 h 920376"/>
              <a:gd name="connsiteX2" fmla="*/ 2086274 w 2086274"/>
              <a:gd name="connsiteY2" fmla="*/ 920376 h 920376"/>
              <a:gd name="connsiteX3" fmla="*/ 206323 w 2086274"/>
              <a:gd name="connsiteY3" fmla="*/ 920376 h 920376"/>
              <a:gd name="connsiteX4" fmla="*/ 167079 w 2086274"/>
              <a:gd name="connsiteY4" fmla="*/ 662740 h 920376"/>
              <a:gd name="connsiteX5" fmla="*/ 86663 w 2086274"/>
              <a:gd name="connsiteY5" fmla="*/ 295756 h 920376"/>
              <a:gd name="connsiteX6" fmla="*/ 0 w 2086274"/>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74" h="920376">
                <a:moveTo>
                  <a:pt x="0" y="0"/>
                </a:moveTo>
                <a:lnTo>
                  <a:pt x="2086274" y="0"/>
                </a:lnTo>
                <a:lnTo>
                  <a:pt x="2086274" y="920376"/>
                </a:lnTo>
                <a:lnTo>
                  <a:pt x="206323" y="920376"/>
                </a:lnTo>
                <a:lnTo>
                  <a:pt x="167079" y="662740"/>
                </a:lnTo>
                <a:cubicBezTo>
                  <a:pt x="143700" y="536462"/>
                  <a:pt x="116809" y="413953"/>
                  <a:pt x="86663" y="295756"/>
                </a:cubicBezTo>
                <a:lnTo>
                  <a:pt x="0" y="0"/>
                </a:ln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6" name="任意多边形: 形状 75"/>
          <p:cNvSpPr/>
          <p:nvPr/>
        </p:nvSpPr>
        <p:spPr>
          <a:xfrm>
            <a:off x="2591005" y="2866861"/>
            <a:ext cx="1725875" cy="914598"/>
          </a:xfrm>
          <a:custGeom>
            <a:avLst/>
            <a:gdLst>
              <a:gd name="connsiteX0" fmla="*/ 0 w 2086274"/>
              <a:gd name="connsiteY0" fmla="*/ 0 h 920376"/>
              <a:gd name="connsiteX1" fmla="*/ 2086274 w 2086274"/>
              <a:gd name="connsiteY1" fmla="*/ 0 h 920376"/>
              <a:gd name="connsiteX2" fmla="*/ 1999611 w 2086274"/>
              <a:gd name="connsiteY2" fmla="*/ 295756 h 920376"/>
              <a:gd name="connsiteX3" fmla="*/ 1919195 w 2086274"/>
              <a:gd name="connsiteY3" fmla="*/ 662740 h 920376"/>
              <a:gd name="connsiteX4" fmla="*/ 1879951 w 2086274"/>
              <a:gd name="connsiteY4" fmla="*/ 920376 h 920376"/>
              <a:gd name="connsiteX5" fmla="*/ 0 w 2086274"/>
              <a:gd name="connsiteY5" fmla="*/ 920376 h 920376"/>
              <a:gd name="connsiteX6" fmla="*/ 0 w 2086274"/>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74" h="920376">
                <a:moveTo>
                  <a:pt x="0" y="0"/>
                </a:moveTo>
                <a:lnTo>
                  <a:pt x="2086274" y="0"/>
                </a:lnTo>
                <a:lnTo>
                  <a:pt x="1999611" y="295756"/>
                </a:lnTo>
                <a:cubicBezTo>
                  <a:pt x="1969465" y="413953"/>
                  <a:pt x="1942574" y="536462"/>
                  <a:pt x="1919195" y="662740"/>
                </a:cubicBezTo>
                <a:lnTo>
                  <a:pt x="1879951" y="920376"/>
                </a:lnTo>
                <a:lnTo>
                  <a:pt x="0" y="920376"/>
                </a:lnTo>
                <a:lnTo>
                  <a:pt x="0" y="0"/>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2" name="任意多边形: 形状 71"/>
          <p:cNvSpPr/>
          <p:nvPr/>
        </p:nvSpPr>
        <p:spPr>
          <a:xfrm>
            <a:off x="1000587" y="3817233"/>
            <a:ext cx="1550657" cy="914598"/>
          </a:xfrm>
          <a:custGeom>
            <a:avLst/>
            <a:gdLst>
              <a:gd name="connsiteX0" fmla="*/ 0 w 1874467"/>
              <a:gd name="connsiteY0" fmla="*/ 0 h 920376"/>
              <a:gd name="connsiteX1" fmla="*/ 1874467 w 1874467"/>
              <a:gd name="connsiteY1" fmla="*/ 0 h 920376"/>
              <a:gd name="connsiteX2" fmla="*/ 1874467 w 1874467"/>
              <a:gd name="connsiteY2" fmla="*/ 920376 h 920376"/>
              <a:gd name="connsiteX3" fmla="*/ 63656 w 1874467"/>
              <a:gd name="connsiteY3" fmla="*/ 920376 h 920376"/>
              <a:gd name="connsiteX4" fmla="*/ 51350 w 1874467"/>
              <a:gd name="connsiteY4" fmla="*/ 504871 h 920376"/>
              <a:gd name="connsiteX5" fmla="*/ 14616 w 1874467"/>
              <a:gd name="connsiteY5" fmla="*/ 95953 h 920376"/>
              <a:gd name="connsiteX6" fmla="*/ 0 w 18744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467" h="920376">
                <a:moveTo>
                  <a:pt x="0" y="0"/>
                </a:moveTo>
                <a:lnTo>
                  <a:pt x="1874467" y="0"/>
                </a:lnTo>
                <a:lnTo>
                  <a:pt x="1874467" y="920376"/>
                </a:lnTo>
                <a:lnTo>
                  <a:pt x="63656" y="920376"/>
                </a:lnTo>
                <a:lnTo>
                  <a:pt x="51350" y="504871"/>
                </a:lnTo>
                <a:cubicBezTo>
                  <a:pt x="43045" y="365707"/>
                  <a:pt x="30714" y="229219"/>
                  <a:pt x="14616" y="95953"/>
                </a:cubicBez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1" name="任意多边形: 形状 70"/>
          <p:cNvSpPr/>
          <p:nvPr/>
        </p:nvSpPr>
        <p:spPr>
          <a:xfrm>
            <a:off x="2591005" y="3817233"/>
            <a:ext cx="1550657" cy="914598"/>
          </a:xfrm>
          <a:custGeom>
            <a:avLst/>
            <a:gdLst>
              <a:gd name="connsiteX0" fmla="*/ 0 w 1874467"/>
              <a:gd name="connsiteY0" fmla="*/ 0 h 920376"/>
              <a:gd name="connsiteX1" fmla="*/ 1874467 w 1874467"/>
              <a:gd name="connsiteY1" fmla="*/ 0 h 920376"/>
              <a:gd name="connsiteX2" fmla="*/ 1859851 w 1874467"/>
              <a:gd name="connsiteY2" fmla="*/ 95953 h 920376"/>
              <a:gd name="connsiteX3" fmla="*/ 1823117 w 1874467"/>
              <a:gd name="connsiteY3" fmla="*/ 504871 h 920376"/>
              <a:gd name="connsiteX4" fmla="*/ 1810811 w 1874467"/>
              <a:gd name="connsiteY4" fmla="*/ 920376 h 920376"/>
              <a:gd name="connsiteX5" fmla="*/ 0 w 1874467"/>
              <a:gd name="connsiteY5" fmla="*/ 920376 h 920376"/>
              <a:gd name="connsiteX6" fmla="*/ 0 w 18744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467" h="920376">
                <a:moveTo>
                  <a:pt x="0" y="0"/>
                </a:moveTo>
                <a:lnTo>
                  <a:pt x="1874467" y="0"/>
                </a:lnTo>
                <a:lnTo>
                  <a:pt x="1859851" y="95953"/>
                </a:lnTo>
                <a:cubicBezTo>
                  <a:pt x="1843753" y="229219"/>
                  <a:pt x="1831422" y="365707"/>
                  <a:pt x="1823117" y="504871"/>
                </a:cubicBezTo>
                <a:lnTo>
                  <a:pt x="1810811" y="920376"/>
                </a:lnTo>
                <a:lnTo>
                  <a:pt x="0" y="920376"/>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7" name="任意多边形: 形状 66"/>
          <p:cNvSpPr/>
          <p:nvPr/>
        </p:nvSpPr>
        <p:spPr>
          <a:xfrm>
            <a:off x="998437" y="4767605"/>
            <a:ext cx="1552808" cy="914598"/>
          </a:xfrm>
          <a:custGeom>
            <a:avLst/>
            <a:gdLst>
              <a:gd name="connsiteX0" fmla="*/ 65751 w 1877067"/>
              <a:gd name="connsiteY0" fmla="*/ 0 h 920376"/>
              <a:gd name="connsiteX1" fmla="*/ 1877067 w 1877067"/>
              <a:gd name="connsiteY1" fmla="*/ 0 h 920376"/>
              <a:gd name="connsiteX2" fmla="*/ 1877067 w 1877067"/>
              <a:gd name="connsiteY2" fmla="*/ 920376 h 920376"/>
              <a:gd name="connsiteX3" fmla="*/ 0 w 1877067"/>
              <a:gd name="connsiteY3" fmla="*/ 920376 h 920376"/>
              <a:gd name="connsiteX4" fmla="*/ 17216 w 1877067"/>
              <a:gd name="connsiteY4" fmla="*/ 807355 h 920376"/>
              <a:gd name="connsiteX5" fmla="*/ 53950 w 1877067"/>
              <a:gd name="connsiteY5" fmla="*/ 398437 h 920376"/>
              <a:gd name="connsiteX6" fmla="*/ 65751 w 18770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7067" h="920376">
                <a:moveTo>
                  <a:pt x="65751" y="0"/>
                </a:moveTo>
                <a:lnTo>
                  <a:pt x="1877067" y="0"/>
                </a:lnTo>
                <a:lnTo>
                  <a:pt x="1877067" y="920376"/>
                </a:lnTo>
                <a:lnTo>
                  <a:pt x="0" y="920376"/>
                </a:lnTo>
                <a:lnTo>
                  <a:pt x="17216" y="807355"/>
                </a:lnTo>
                <a:cubicBezTo>
                  <a:pt x="33314" y="674089"/>
                  <a:pt x="45645" y="537601"/>
                  <a:pt x="53950" y="398437"/>
                </a:cubicBezTo>
                <a:lnTo>
                  <a:pt x="65751"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6" name="任意多边形: 形状 65"/>
          <p:cNvSpPr/>
          <p:nvPr/>
        </p:nvSpPr>
        <p:spPr>
          <a:xfrm>
            <a:off x="2591005" y="4767605"/>
            <a:ext cx="1552808" cy="914598"/>
          </a:xfrm>
          <a:custGeom>
            <a:avLst/>
            <a:gdLst>
              <a:gd name="connsiteX0" fmla="*/ 0 w 1877067"/>
              <a:gd name="connsiteY0" fmla="*/ 0 h 920376"/>
              <a:gd name="connsiteX1" fmla="*/ 1811316 w 1877067"/>
              <a:gd name="connsiteY1" fmla="*/ 0 h 920376"/>
              <a:gd name="connsiteX2" fmla="*/ 1823117 w 1877067"/>
              <a:gd name="connsiteY2" fmla="*/ 398437 h 920376"/>
              <a:gd name="connsiteX3" fmla="*/ 1859851 w 1877067"/>
              <a:gd name="connsiteY3" fmla="*/ 807355 h 920376"/>
              <a:gd name="connsiteX4" fmla="*/ 1877067 w 1877067"/>
              <a:gd name="connsiteY4" fmla="*/ 920376 h 920376"/>
              <a:gd name="connsiteX5" fmla="*/ 0 w 1877067"/>
              <a:gd name="connsiteY5" fmla="*/ 920376 h 920376"/>
              <a:gd name="connsiteX6" fmla="*/ 0 w 18770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7067" h="920376">
                <a:moveTo>
                  <a:pt x="0" y="0"/>
                </a:moveTo>
                <a:lnTo>
                  <a:pt x="1811316" y="0"/>
                </a:lnTo>
                <a:lnTo>
                  <a:pt x="1823117" y="398437"/>
                </a:lnTo>
                <a:cubicBezTo>
                  <a:pt x="1831422" y="537601"/>
                  <a:pt x="1843753" y="674089"/>
                  <a:pt x="1859851" y="807355"/>
                </a:cubicBezTo>
                <a:lnTo>
                  <a:pt x="1877067" y="920376"/>
                </a:lnTo>
                <a:lnTo>
                  <a:pt x="0" y="920376"/>
                </a:lnTo>
                <a:lnTo>
                  <a:pt x="0"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2" name="任意多边形: 形状 61"/>
          <p:cNvSpPr/>
          <p:nvPr/>
        </p:nvSpPr>
        <p:spPr>
          <a:xfrm>
            <a:off x="821232" y="5717976"/>
            <a:ext cx="1730012" cy="914598"/>
          </a:xfrm>
          <a:custGeom>
            <a:avLst/>
            <a:gdLst>
              <a:gd name="connsiteX0" fmla="*/ 208724 w 2091275"/>
              <a:gd name="connsiteY0" fmla="*/ 0 h 920376"/>
              <a:gd name="connsiteX1" fmla="*/ 2091275 w 2091275"/>
              <a:gd name="connsiteY1" fmla="*/ 0 h 920376"/>
              <a:gd name="connsiteX2" fmla="*/ 2091275 w 2091275"/>
              <a:gd name="connsiteY2" fmla="*/ 920376 h 920376"/>
              <a:gd name="connsiteX3" fmla="*/ 0 w 2091275"/>
              <a:gd name="connsiteY3" fmla="*/ 920376 h 920376"/>
              <a:gd name="connsiteX4" fmla="*/ 91664 w 2091275"/>
              <a:gd name="connsiteY4" fmla="*/ 607552 h 920376"/>
              <a:gd name="connsiteX5" fmla="*/ 172080 w 2091275"/>
              <a:gd name="connsiteY5" fmla="*/ 240568 h 920376"/>
              <a:gd name="connsiteX6" fmla="*/ 208724 w 2091275"/>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275" h="920376">
                <a:moveTo>
                  <a:pt x="208724" y="0"/>
                </a:moveTo>
                <a:lnTo>
                  <a:pt x="2091275" y="0"/>
                </a:lnTo>
                <a:lnTo>
                  <a:pt x="2091275" y="920376"/>
                </a:lnTo>
                <a:lnTo>
                  <a:pt x="0" y="920376"/>
                </a:lnTo>
                <a:lnTo>
                  <a:pt x="91664" y="607552"/>
                </a:lnTo>
                <a:cubicBezTo>
                  <a:pt x="121810" y="489356"/>
                  <a:pt x="148701" y="366846"/>
                  <a:pt x="172080" y="240568"/>
                </a:cubicBezTo>
                <a:lnTo>
                  <a:pt x="208724" y="0"/>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任意多边形: 形状 60"/>
          <p:cNvSpPr/>
          <p:nvPr/>
        </p:nvSpPr>
        <p:spPr>
          <a:xfrm>
            <a:off x="2591005" y="5717976"/>
            <a:ext cx="1730012" cy="914598"/>
          </a:xfrm>
          <a:custGeom>
            <a:avLst/>
            <a:gdLst>
              <a:gd name="connsiteX0" fmla="*/ 0 w 2091275"/>
              <a:gd name="connsiteY0" fmla="*/ 0 h 920376"/>
              <a:gd name="connsiteX1" fmla="*/ 1882551 w 2091275"/>
              <a:gd name="connsiteY1" fmla="*/ 0 h 920376"/>
              <a:gd name="connsiteX2" fmla="*/ 1919195 w 2091275"/>
              <a:gd name="connsiteY2" fmla="*/ 240568 h 920376"/>
              <a:gd name="connsiteX3" fmla="*/ 1999611 w 2091275"/>
              <a:gd name="connsiteY3" fmla="*/ 607552 h 920376"/>
              <a:gd name="connsiteX4" fmla="*/ 2091275 w 2091275"/>
              <a:gd name="connsiteY4" fmla="*/ 920376 h 920376"/>
              <a:gd name="connsiteX5" fmla="*/ 0 w 2091275"/>
              <a:gd name="connsiteY5" fmla="*/ 920376 h 920376"/>
              <a:gd name="connsiteX6" fmla="*/ 0 w 2091275"/>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275" h="920376">
                <a:moveTo>
                  <a:pt x="0" y="0"/>
                </a:moveTo>
                <a:lnTo>
                  <a:pt x="1882551" y="0"/>
                </a:lnTo>
                <a:lnTo>
                  <a:pt x="1919195" y="240568"/>
                </a:lnTo>
                <a:cubicBezTo>
                  <a:pt x="1942574" y="366846"/>
                  <a:pt x="1969465" y="489356"/>
                  <a:pt x="1999611" y="607552"/>
                </a:cubicBezTo>
                <a:lnTo>
                  <a:pt x="2091275" y="920376"/>
                </a:lnTo>
                <a:lnTo>
                  <a:pt x="0" y="920376"/>
                </a:lnTo>
                <a:lnTo>
                  <a:pt x="0" y="0"/>
                </a:lnTo>
                <a:close/>
              </a:path>
            </a:pathLst>
          </a:cu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9" name="文本框 57"/>
          <p:cNvSpPr txBox="1"/>
          <p:nvPr/>
        </p:nvSpPr>
        <p:spPr>
          <a:xfrm>
            <a:off x="1081718" y="1999505"/>
            <a:ext cx="116840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3520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文本框 58"/>
          <p:cNvSpPr txBox="1"/>
          <p:nvPr/>
        </p:nvSpPr>
        <p:spPr>
          <a:xfrm>
            <a:off x="1356038" y="2459511"/>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营业收入</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文本框 57"/>
          <p:cNvSpPr txBox="1"/>
          <p:nvPr/>
        </p:nvSpPr>
        <p:spPr>
          <a:xfrm>
            <a:off x="1082353" y="2943329"/>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1800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58"/>
          <p:cNvSpPr txBox="1"/>
          <p:nvPr/>
        </p:nvSpPr>
        <p:spPr>
          <a:xfrm>
            <a:off x="1356038" y="3403335"/>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营业成本</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57"/>
          <p:cNvSpPr txBox="1"/>
          <p:nvPr/>
        </p:nvSpPr>
        <p:spPr>
          <a:xfrm>
            <a:off x="1258883" y="3887154"/>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400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文本框 58"/>
          <p:cNvSpPr txBox="1"/>
          <p:nvPr/>
        </p:nvSpPr>
        <p:spPr>
          <a:xfrm>
            <a:off x="1356038" y="4347160"/>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销售费用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文本框 57"/>
          <p:cNvSpPr txBox="1"/>
          <p:nvPr/>
        </p:nvSpPr>
        <p:spPr>
          <a:xfrm>
            <a:off x="1258883" y="4830978"/>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250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3" name="文本框 58"/>
          <p:cNvSpPr txBox="1"/>
          <p:nvPr/>
        </p:nvSpPr>
        <p:spPr>
          <a:xfrm>
            <a:off x="1356038" y="5290984"/>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57"/>
          <p:cNvSpPr txBox="1"/>
          <p:nvPr/>
        </p:nvSpPr>
        <p:spPr>
          <a:xfrm>
            <a:off x="1258883" y="5774803"/>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830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文本框58"/>
          <p:cNvSpPr txBox="1"/>
          <p:nvPr/>
        </p:nvSpPr>
        <p:spPr>
          <a:xfrm>
            <a:off x="1526843" y="6234809"/>
            <a:ext cx="723275" cy="30777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净利润</a:t>
            </a:r>
            <a:endParaRPr kumimoji="0" lang="en-US" sz="1400" b="0" i="0" u="none" strike="noStrike" kern="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2" name="文本框 151"/>
          <p:cNvSpPr txBox="1"/>
          <p:nvPr/>
        </p:nvSpPr>
        <p:spPr>
          <a:xfrm>
            <a:off x="421082" y="1260994"/>
            <a:ext cx="2104945"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mj-ea"/>
                <a:ea typeface="+mj-ea"/>
                <a:cs typeface="+mj-ea"/>
              </a:rPr>
              <a:t>第</a:t>
            </a:r>
            <a:r>
              <a:rPr kumimoji="0" lang="en-US" altLang="zh-CN" sz="2800" b="0" i="0" u="none" strike="noStrike" kern="1200" cap="none" spc="0" normalizeH="0" baseline="0" noProof="0">
                <a:ln>
                  <a:noFill/>
                </a:ln>
                <a:solidFill>
                  <a:srgbClr val="9D3728"/>
                </a:solidFill>
                <a:effectLst/>
                <a:uLnTx/>
                <a:uFillTx/>
                <a:latin typeface="+mj-ea"/>
                <a:ea typeface="+mj-ea"/>
                <a:cs typeface="+mj-ea"/>
              </a:rPr>
              <a:t>1</a:t>
            </a:r>
            <a:r>
              <a:rPr kumimoji="0" lang="zh-CN" altLang="en-US" sz="2800" b="0" i="0" u="none" strike="noStrike" kern="1200" cap="none" spc="0" normalizeH="0" baseline="0" noProof="0">
                <a:ln>
                  <a:noFill/>
                </a:ln>
                <a:solidFill>
                  <a:srgbClr val="9D3728"/>
                </a:solidFill>
                <a:effectLst/>
                <a:uLnTx/>
                <a:uFillTx/>
                <a:latin typeface="+mj-ea"/>
                <a:ea typeface="+mj-ea"/>
                <a:cs typeface="+mj-ea"/>
              </a:rPr>
              <a:t>季度</a:t>
            </a:r>
            <a:endParaRPr kumimoji="0" lang="en-US" altLang="zh-CN" sz="2800" b="0" i="0" u="none" strike="noStrike" kern="1200" cap="none" spc="0" normalizeH="0" baseline="0" noProof="0">
              <a:ln>
                <a:noFill/>
              </a:ln>
              <a:solidFill>
                <a:srgbClr val="9D3728"/>
              </a:solidFill>
              <a:effectLst/>
              <a:uLnTx/>
              <a:uFillTx/>
              <a:latin typeface="+mj-ea"/>
              <a:ea typeface="+mj-ea"/>
              <a:cs typeface="+mj-ea"/>
            </a:endParaRPr>
          </a:p>
        </p:txBody>
      </p:sp>
      <p:sp>
        <p:nvSpPr>
          <p:cNvPr id="154" name="文本框 153"/>
          <p:cNvSpPr txBox="1"/>
          <p:nvPr/>
        </p:nvSpPr>
        <p:spPr>
          <a:xfrm>
            <a:off x="2591005" y="1260994"/>
            <a:ext cx="2130162"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mj-ea"/>
              </a:rPr>
              <a:t>第</a:t>
            </a:r>
            <a:r>
              <a:rPr kumimoji="0" lang="en-US" altLang="zh-CN" sz="2800" b="0" i="0" u="none" strike="noStrike" kern="1200" cap="none" spc="0" normalizeH="0" baseline="0" noProof="0">
                <a:ln>
                  <a:noFill/>
                </a:ln>
                <a:solidFill>
                  <a:srgbClr val="1C4273"/>
                </a:solidFill>
                <a:effectLst/>
                <a:uLnTx/>
                <a:uFillTx/>
                <a:latin typeface="+mj-ea"/>
                <a:ea typeface="+mj-ea"/>
                <a:cs typeface="+mj-ea"/>
              </a:rPr>
              <a:t>2</a:t>
            </a:r>
            <a:r>
              <a:rPr kumimoji="0" lang="zh-CN" altLang="en-US" sz="2800" b="0" i="0" u="none" strike="noStrike" kern="1200" cap="none" spc="0" normalizeH="0" baseline="0" noProof="0">
                <a:ln>
                  <a:noFill/>
                </a:ln>
                <a:solidFill>
                  <a:srgbClr val="1C4273"/>
                </a:solidFill>
                <a:effectLst/>
                <a:uLnTx/>
                <a:uFillTx/>
                <a:latin typeface="+mj-ea"/>
                <a:ea typeface="+mj-ea"/>
                <a:cs typeface="+mj-ea"/>
              </a:rPr>
              <a:t>季度</a:t>
            </a:r>
          </a:p>
        </p:txBody>
      </p:sp>
      <p:grpSp>
        <p:nvGrpSpPr>
          <p:cNvPr id="163" name="组合 162"/>
          <p:cNvGrpSpPr/>
          <p:nvPr/>
        </p:nvGrpSpPr>
        <p:grpSpPr>
          <a:xfrm>
            <a:off x="2403326" y="984299"/>
            <a:ext cx="503079" cy="670862"/>
            <a:chOff x="9669621" y="1259598"/>
            <a:chExt cx="818775" cy="1091847"/>
          </a:xfrm>
        </p:grpSpPr>
        <p:grpSp>
          <p:nvGrpSpPr>
            <p:cNvPr id="159" name="图形 156"/>
            <p:cNvGrpSpPr/>
            <p:nvPr/>
          </p:nvGrpSpPr>
          <p:grpSpPr>
            <a:xfrm>
              <a:off x="9720315" y="1259598"/>
              <a:ext cx="768081" cy="1006917"/>
              <a:chOff x="5723389" y="2913702"/>
              <a:chExt cx="768081" cy="1006917"/>
            </a:xfrm>
            <a:solidFill>
              <a:schemeClr val="accent6">
                <a:lumMod val="50000"/>
              </a:schemeClr>
            </a:solidFill>
          </p:grpSpPr>
          <p:sp>
            <p:nvSpPr>
              <p:cNvPr id="160" name="任意多边形: 形状 159"/>
              <p:cNvSpPr/>
              <p:nvPr/>
            </p:nvSpPr>
            <p:spPr>
              <a:xfrm rot="20460000">
                <a:off x="5723389" y="2913702"/>
                <a:ext cx="768081" cy="528799"/>
              </a:xfrm>
              <a:custGeom>
                <a:avLst/>
                <a:gdLst>
                  <a:gd name="connsiteX0" fmla="*/ -162 w 768081"/>
                  <a:gd name="connsiteY0" fmla="*/ 47936 h 528799"/>
                  <a:gd name="connsiteX1" fmla="*/ 282052 w 768081"/>
                  <a:gd name="connsiteY1" fmla="*/ -141 h 528799"/>
                  <a:gd name="connsiteX2" fmla="*/ 766896 w 768081"/>
                  <a:gd name="connsiteY2" fmla="*/ 47936 h 528799"/>
                  <a:gd name="connsiteX3" fmla="*/ 767919 w 768081"/>
                  <a:gd name="connsiteY3" fmla="*/ 512826 h 528799"/>
                  <a:gd name="connsiteX4" fmla="*/ 287191 w 768081"/>
                  <a:gd name="connsiteY4" fmla="*/ 464749 h 528799"/>
                  <a:gd name="connsiteX5" fmla="*/ -162 w 768081"/>
                  <a:gd name="connsiteY5" fmla="*/ 512826 h 528799"/>
                  <a:gd name="connsiteX6" fmla="*/ -162 w 768081"/>
                  <a:gd name="connsiteY6" fmla="*/ 47936 h 528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8081" h="528799">
                    <a:moveTo>
                      <a:pt x="-162" y="47936"/>
                    </a:moveTo>
                    <a:cubicBezTo>
                      <a:pt x="88058" y="15885"/>
                      <a:pt x="182129" y="-141"/>
                      <a:pt x="282052" y="-141"/>
                    </a:cubicBezTo>
                    <a:cubicBezTo>
                      <a:pt x="431937" y="-141"/>
                      <a:pt x="571906" y="75088"/>
                      <a:pt x="766896" y="47936"/>
                    </a:cubicBezTo>
                    <a:cubicBezTo>
                      <a:pt x="766896" y="80479"/>
                      <a:pt x="767919" y="436759"/>
                      <a:pt x="767919" y="512826"/>
                    </a:cubicBezTo>
                    <a:cubicBezTo>
                      <a:pt x="571906" y="567007"/>
                      <a:pt x="433525" y="464749"/>
                      <a:pt x="287191" y="464749"/>
                    </a:cubicBezTo>
                    <a:cubicBezTo>
                      <a:pt x="189636" y="464749"/>
                      <a:pt x="93851" y="480774"/>
                      <a:pt x="-162" y="512826"/>
                    </a:cubicBezTo>
                    <a:lnTo>
                      <a:pt x="-162" y="47936"/>
                    </a:lnTo>
                    <a:close/>
                  </a:path>
                </a:pathLst>
              </a:custGeom>
              <a:solidFill>
                <a:srgbClr val="FBCE43"/>
              </a:solidFill>
              <a:ln w="3810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161" name="任意多边形: 形状 160"/>
              <p:cNvSpPr/>
              <p:nvPr/>
            </p:nvSpPr>
            <p:spPr>
              <a:xfrm rot="-1140000">
                <a:off x="5799460" y="3010148"/>
                <a:ext cx="37" cy="910471"/>
              </a:xfrm>
              <a:custGeom>
                <a:avLst/>
                <a:gdLst>
                  <a:gd name="connsiteX0" fmla="*/ 102 w 37"/>
                  <a:gd name="connsiteY0" fmla="*/ -210 h 910471"/>
                  <a:gd name="connsiteX1" fmla="*/ 64 w 37"/>
                  <a:gd name="connsiteY1" fmla="*/ 910261 h 910471"/>
                </a:gdLst>
                <a:ahLst/>
                <a:cxnLst>
                  <a:cxn ang="0">
                    <a:pos x="connsiteX0" y="connsiteY0"/>
                  </a:cxn>
                  <a:cxn ang="0">
                    <a:pos x="connsiteX1" y="connsiteY1"/>
                  </a:cxn>
                </a:cxnLst>
                <a:rect l="l" t="t" r="r" b="b"/>
                <a:pathLst>
                  <a:path w="37" h="910471">
                    <a:moveTo>
                      <a:pt x="102" y="-210"/>
                    </a:moveTo>
                    <a:lnTo>
                      <a:pt x="64" y="910261"/>
                    </a:lnTo>
                  </a:path>
                </a:pathLst>
              </a:custGeom>
              <a:grpFill/>
              <a:ln w="38100" cap="rnd">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62" name="任意多边形: 形状 161"/>
            <p:cNvSpPr/>
            <p:nvPr/>
          </p:nvSpPr>
          <p:spPr>
            <a:xfrm>
              <a:off x="9669621" y="2156347"/>
              <a:ext cx="539375" cy="195098"/>
            </a:xfrm>
            <a:custGeom>
              <a:avLst/>
              <a:gdLst>
                <a:gd name="connsiteX0" fmla="*/ 131612 w 539375"/>
                <a:gd name="connsiteY0" fmla="*/ 3339 h 195098"/>
                <a:gd name="connsiteX1" fmla="*/ -344 w 539375"/>
                <a:gd name="connsiteY1" fmla="*/ 91702 h 195098"/>
                <a:gd name="connsiteX2" fmla="*/ 269343 w 539375"/>
                <a:gd name="connsiteY2" fmla="*/ 194457 h 195098"/>
                <a:gd name="connsiteX3" fmla="*/ 539031 w 539375"/>
                <a:gd name="connsiteY3" fmla="*/ 91702 h 195098"/>
                <a:gd name="connsiteX4" fmla="*/ 387773 w 539375"/>
                <a:gd name="connsiteY4" fmla="*/ -642 h 195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75" h="195098">
                  <a:moveTo>
                    <a:pt x="131612" y="3339"/>
                  </a:moveTo>
                  <a:cubicBezTo>
                    <a:pt x="52597" y="21257"/>
                    <a:pt x="-344" y="54124"/>
                    <a:pt x="-344" y="91702"/>
                  </a:cubicBezTo>
                  <a:cubicBezTo>
                    <a:pt x="-344" y="148452"/>
                    <a:pt x="120399" y="194457"/>
                    <a:pt x="269343" y="194457"/>
                  </a:cubicBezTo>
                  <a:cubicBezTo>
                    <a:pt x="418288" y="194457"/>
                    <a:pt x="539031" y="148452"/>
                    <a:pt x="539031" y="91702"/>
                  </a:cubicBezTo>
                  <a:cubicBezTo>
                    <a:pt x="539031" y="51140"/>
                    <a:pt x="477348" y="16067"/>
                    <a:pt x="387773" y="-642"/>
                  </a:cubicBezTo>
                </a:path>
              </a:pathLst>
            </a:custGeom>
            <a:noFill/>
            <a:ln w="38100" cap="rnd">
              <a:solidFill>
                <a:srgbClr val="FFC00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70" name="文本框 57"/>
          <p:cNvSpPr txBox="1"/>
          <p:nvPr/>
        </p:nvSpPr>
        <p:spPr>
          <a:xfrm>
            <a:off x="2858961" y="1999505"/>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5000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1" name="文本框58"/>
          <p:cNvSpPr txBox="1"/>
          <p:nvPr/>
        </p:nvSpPr>
        <p:spPr>
          <a:xfrm>
            <a:off x="2858961" y="2459511"/>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营业收入</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2" name="文本框 57"/>
          <p:cNvSpPr txBox="1"/>
          <p:nvPr/>
        </p:nvSpPr>
        <p:spPr>
          <a:xfrm>
            <a:off x="2858961" y="2943329"/>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2000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3" name="文本框 58"/>
          <p:cNvSpPr txBox="1"/>
          <p:nvPr/>
        </p:nvSpPr>
        <p:spPr>
          <a:xfrm>
            <a:off x="2858961" y="3403335"/>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营业成本</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4" name="文本框 57"/>
          <p:cNvSpPr txBox="1"/>
          <p:nvPr/>
        </p:nvSpPr>
        <p:spPr>
          <a:xfrm>
            <a:off x="2858961" y="3887154"/>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360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文本框58"/>
          <p:cNvSpPr txBox="1"/>
          <p:nvPr/>
        </p:nvSpPr>
        <p:spPr>
          <a:xfrm>
            <a:off x="2858961" y="4347160"/>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销售费用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文本框57"/>
          <p:cNvSpPr txBox="1"/>
          <p:nvPr/>
        </p:nvSpPr>
        <p:spPr>
          <a:xfrm>
            <a:off x="2858961" y="4830978"/>
            <a:ext cx="99187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240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文本框 58"/>
          <p:cNvSpPr txBox="1"/>
          <p:nvPr/>
        </p:nvSpPr>
        <p:spPr>
          <a:xfrm>
            <a:off x="2858961" y="5290984"/>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文本框 57"/>
          <p:cNvSpPr txBox="1"/>
          <p:nvPr/>
        </p:nvSpPr>
        <p:spPr>
          <a:xfrm>
            <a:off x="2858961" y="5774803"/>
            <a:ext cx="109220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1230</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9" name="文本框 58"/>
          <p:cNvSpPr txBox="1"/>
          <p:nvPr/>
        </p:nvSpPr>
        <p:spPr>
          <a:xfrm>
            <a:off x="2858961" y="6234809"/>
            <a:ext cx="7232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净利润</a:t>
            </a:r>
            <a:endParaRPr kumimoji="0" lang="en-US" sz="1400" b="0" i="0" u="none" strike="noStrike" kern="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200" name="组合 199"/>
          <p:cNvGrpSpPr/>
          <p:nvPr/>
        </p:nvGrpSpPr>
        <p:grpSpPr>
          <a:xfrm>
            <a:off x="2369768" y="2168447"/>
            <a:ext cx="384644" cy="383580"/>
            <a:chOff x="2297619" y="2168447"/>
            <a:chExt cx="384644" cy="383580"/>
          </a:xfrm>
        </p:grpSpPr>
        <p:sp>
          <p:nvSpPr>
            <p:cNvPr id="190" name="矩形: 圆角 189"/>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9"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1" name="组合 200"/>
          <p:cNvGrpSpPr/>
          <p:nvPr/>
        </p:nvGrpSpPr>
        <p:grpSpPr>
          <a:xfrm>
            <a:off x="2369768" y="3125523"/>
            <a:ext cx="384644" cy="383580"/>
            <a:chOff x="2297619" y="2168447"/>
            <a:chExt cx="384644" cy="383580"/>
          </a:xfrm>
        </p:grpSpPr>
        <p:sp>
          <p:nvSpPr>
            <p:cNvPr id="202" name="矩形: 圆角 201"/>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3"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7" name="组合 206"/>
          <p:cNvGrpSpPr/>
          <p:nvPr/>
        </p:nvGrpSpPr>
        <p:grpSpPr>
          <a:xfrm>
            <a:off x="2369768" y="5039675"/>
            <a:ext cx="384644" cy="383580"/>
            <a:chOff x="2297619" y="2168447"/>
            <a:chExt cx="384644" cy="383580"/>
          </a:xfrm>
        </p:grpSpPr>
        <p:sp>
          <p:nvSpPr>
            <p:cNvPr id="208" name="矩形: 圆角 207"/>
            <p:cNvSpPr/>
            <p:nvPr/>
          </p:nvSpPr>
          <p:spPr>
            <a:xfrm>
              <a:off x="2297619" y="2168447"/>
              <a:ext cx="384644" cy="383580"/>
            </a:xfrm>
            <a:prstGeom prst="roundRect">
              <a:avLst>
                <a:gd name="adj" fmla="val 10862"/>
              </a:avLst>
            </a:prstGeom>
            <a:solidFill>
              <a:schemeClr val="bg1">
                <a:lumMod val="85000"/>
              </a:schemeClr>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图形 196"/>
            <p:cNvSpPr/>
            <p:nvPr/>
          </p:nvSpPr>
          <p:spPr>
            <a:xfrm flipV="1">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bg1">
                <a:lumMod val="5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0" name="组合 209"/>
          <p:cNvGrpSpPr/>
          <p:nvPr/>
        </p:nvGrpSpPr>
        <p:grpSpPr>
          <a:xfrm>
            <a:off x="2369768" y="5996752"/>
            <a:ext cx="384644" cy="383580"/>
            <a:chOff x="2297619" y="2168447"/>
            <a:chExt cx="384644" cy="383580"/>
          </a:xfrm>
        </p:grpSpPr>
        <p:sp>
          <p:nvSpPr>
            <p:cNvPr id="211" name="矩形: 圆角 210"/>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2"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3" name="组合 212"/>
          <p:cNvGrpSpPr/>
          <p:nvPr/>
        </p:nvGrpSpPr>
        <p:grpSpPr>
          <a:xfrm>
            <a:off x="2369768" y="4082599"/>
            <a:ext cx="384644" cy="383580"/>
            <a:chOff x="2297619" y="2168447"/>
            <a:chExt cx="384644" cy="383580"/>
          </a:xfrm>
        </p:grpSpPr>
        <p:sp>
          <p:nvSpPr>
            <p:cNvPr id="214" name="矩形: 圆角 213"/>
            <p:cNvSpPr/>
            <p:nvPr/>
          </p:nvSpPr>
          <p:spPr>
            <a:xfrm>
              <a:off x="2297619" y="2168447"/>
              <a:ext cx="384644" cy="383580"/>
            </a:xfrm>
            <a:prstGeom prst="roundRect">
              <a:avLst>
                <a:gd name="adj" fmla="val 10862"/>
              </a:avLst>
            </a:prstGeom>
            <a:solidFill>
              <a:schemeClr val="bg1">
                <a:lumMod val="85000"/>
              </a:schemeClr>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5" name="图形 196"/>
            <p:cNvSpPr/>
            <p:nvPr/>
          </p:nvSpPr>
          <p:spPr>
            <a:xfrm flipV="1">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bg1">
                <a:lumMod val="5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277" name="任意多边形: 形状 276"/>
          <p:cNvSpPr/>
          <p:nvPr/>
        </p:nvSpPr>
        <p:spPr>
          <a:xfrm>
            <a:off x="421083" y="1642340"/>
            <a:ext cx="11269348" cy="196817"/>
          </a:xfrm>
          <a:custGeom>
            <a:avLst/>
            <a:gdLst>
              <a:gd name="connsiteX0" fmla="*/ 10806592 w 11506007"/>
              <a:gd name="connsiteY0" fmla="*/ 0 h 286091"/>
              <a:gd name="connsiteX1" fmla="*/ 11506007 w 11506007"/>
              <a:gd name="connsiteY1" fmla="*/ 286091 h 286091"/>
              <a:gd name="connsiteX2" fmla="*/ 0 w 11506007"/>
              <a:gd name="connsiteY2" fmla="*/ 286091 h 286091"/>
              <a:gd name="connsiteX3" fmla="*/ 0 w 11506007"/>
              <a:gd name="connsiteY3" fmla="*/ 154190 h 286091"/>
              <a:gd name="connsiteX4" fmla="*/ 10806592 w 11506007"/>
              <a:gd name="connsiteY4" fmla="*/ 154190 h 28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07" h="286091">
                <a:moveTo>
                  <a:pt x="10806592" y="0"/>
                </a:moveTo>
                <a:lnTo>
                  <a:pt x="11506007" y="286091"/>
                </a:lnTo>
                <a:lnTo>
                  <a:pt x="0" y="286091"/>
                </a:lnTo>
                <a:lnTo>
                  <a:pt x="0" y="154190"/>
                </a:lnTo>
                <a:lnTo>
                  <a:pt x="10806592" y="15419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9" name="文本框 278"/>
          <p:cNvSpPr txBox="1"/>
          <p:nvPr/>
        </p:nvSpPr>
        <p:spPr>
          <a:xfrm>
            <a:off x="9334045" y="1215425"/>
            <a:ext cx="1709875"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思源黑体 CN Normal" panose="020B0400000000000000" charset="-122"/>
              </a:rPr>
              <a:t>原因分析</a:t>
            </a:r>
          </a:p>
        </p:txBody>
      </p:sp>
      <p:sp>
        <p:nvSpPr>
          <p:cNvPr id="278" name="文本框 277"/>
          <p:cNvSpPr txBox="1"/>
          <p:nvPr/>
        </p:nvSpPr>
        <p:spPr>
          <a:xfrm>
            <a:off x="4825716" y="2230337"/>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技术推动端侧智能部署需求增长，带动系统级研发复苏</a:t>
            </a:r>
          </a:p>
        </p:txBody>
      </p:sp>
      <p:sp>
        <p:nvSpPr>
          <p:cNvPr id="280" name="文本框 279"/>
          <p:cNvSpPr txBox="1"/>
          <p:nvPr/>
        </p:nvSpPr>
        <p:spPr>
          <a:xfrm>
            <a:off x="4825716" y="1958475"/>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研发需求复苏</a:t>
            </a:r>
          </a:p>
        </p:txBody>
      </p:sp>
      <p:sp>
        <p:nvSpPr>
          <p:cNvPr id="286" name="文本框 285"/>
          <p:cNvSpPr txBox="1"/>
          <p:nvPr/>
        </p:nvSpPr>
        <p:spPr>
          <a:xfrm>
            <a:off x="8063407" y="2230337"/>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智能手机高端化、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IoT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设备渗透率提升及汽车业务等新增长曲线的拉动</a:t>
            </a:r>
          </a:p>
        </p:txBody>
      </p:sp>
      <p:sp>
        <p:nvSpPr>
          <p:cNvPr id="287" name="文本框 286"/>
          <p:cNvSpPr txBox="1"/>
          <p:nvPr/>
        </p:nvSpPr>
        <p:spPr>
          <a:xfrm>
            <a:off x="8063407" y="1958475"/>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产品结构升级</a:t>
            </a:r>
          </a:p>
        </p:txBody>
      </p:sp>
      <p:sp>
        <p:nvSpPr>
          <p:cNvPr id="294" name="文本框 293"/>
          <p:cNvSpPr txBox="1"/>
          <p:nvPr/>
        </p:nvSpPr>
        <p:spPr>
          <a:xfrm>
            <a:off x="4825716" y="3187770"/>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芯片、存储（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DRAM/NAND Flash</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价格</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13%-20%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5" name="文本框 294"/>
          <p:cNvSpPr txBox="1"/>
          <p:nvPr/>
        </p:nvSpPr>
        <p:spPr>
          <a:xfrm>
            <a:off x="4825716" y="2915908"/>
            <a:ext cx="235740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核心元器件成本上涨</a:t>
            </a:r>
          </a:p>
        </p:txBody>
      </p:sp>
      <p:sp>
        <p:nvSpPr>
          <p:cNvPr id="292" name="文本框 291"/>
          <p:cNvSpPr txBox="1"/>
          <p:nvPr/>
        </p:nvSpPr>
        <p:spPr>
          <a:xfrm>
            <a:off x="8063407" y="3187770"/>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技术、操作系统及芯片底层技术研发投入增加</a:t>
            </a:r>
          </a:p>
        </p:txBody>
      </p:sp>
      <p:sp>
        <p:nvSpPr>
          <p:cNvPr id="293" name="文本框 292"/>
          <p:cNvSpPr txBox="1"/>
          <p:nvPr/>
        </p:nvSpPr>
        <p:spPr>
          <a:xfrm>
            <a:off x="8063407" y="2915908"/>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研发投入加大</a:t>
            </a:r>
          </a:p>
        </p:txBody>
      </p:sp>
      <p:sp>
        <p:nvSpPr>
          <p:cNvPr id="301" name="文本框 300"/>
          <p:cNvSpPr txBox="1"/>
          <p:nvPr/>
        </p:nvSpPr>
        <p:spPr>
          <a:xfrm>
            <a:off x="4825716" y="4145203"/>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企业通过优化费用结构，控制销售环节开支</a:t>
            </a:r>
          </a:p>
        </p:txBody>
      </p:sp>
      <p:sp>
        <p:nvSpPr>
          <p:cNvPr id="302" name="文本框 301"/>
          <p:cNvSpPr txBox="1"/>
          <p:nvPr/>
        </p:nvSpPr>
        <p:spPr>
          <a:xfrm>
            <a:off x="4825716" y="3873341"/>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成本领先战略</a:t>
            </a:r>
          </a:p>
        </p:txBody>
      </p:sp>
      <p:sp>
        <p:nvSpPr>
          <p:cNvPr id="299" name="文本框 298"/>
          <p:cNvSpPr txBox="1"/>
          <p:nvPr/>
        </p:nvSpPr>
        <p:spPr>
          <a:xfrm>
            <a:off x="8063407" y="4145203"/>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转向高效渠道合作（运营商合作），减少低效营销投入</a:t>
            </a:r>
          </a:p>
        </p:txBody>
      </p:sp>
      <p:sp>
        <p:nvSpPr>
          <p:cNvPr id="300" name="文本框 299"/>
          <p:cNvSpPr txBox="1"/>
          <p:nvPr/>
        </p:nvSpPr>
        <p:spPr>
          <a:xfrm>
            <a:off x="8063407" y="3873341"/>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渠道效率提升</a:t>
            </a:r>
          </a:p>
        </p:txBody>
      </p:sp>
      <p:sp>
        <p:nvSpPr>
          <p:cNvPr id="308" name="文本框 307"/>
          <p:cNvSpPr txBox="1"/>
          <p:nvPr/>
        </p:nvSpPr>
        <p:spPr>
          <a:xfrm>
            <a:off x="4825716" y="5102636"/>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企业成熟化后精简管理层级，减少不必要的行政开支</a:t>
            </a:r>
          </a:p>
        </p:txBody>
      </p:sp>
      <p:sp>
        <p:nvSpPr>
          <p:cNvPr id="309" name="文本框 308"/>
          <p:cNvSpPr txBox="1"/>
          <p:nvPr/>
        </p:nvSpPr>
        <p:spPr>
          <a:xfrm>
            <a:off x="4825716" y="4830774"/>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管理效率优化</a:t>
            </a:r>
          </a:p>
        </p:txBody>
      </p:sp>
      <p:sp>
        <p:nvSpPr>
          <p:cNvPr id="306" name="文本框 305"/>
          <p:cNvSpPr txBox="1"/>
          <p:nvPr/>
        </p:nvSpPr>
        <p:spPr>
          <a:xfrm>
            <a:off x="8063407" y="5102636"/>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ERP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等系统提升管理自动化水平，减少人工干预和重复工作</a:t>
            </a:r>
          </a:p>
        </p:txBody>
      </p:sp>
      <p:sp>
        <p:nvSpPr>
          <p:cNvPr id="307" name="文本框 306"/>
          <p:cNvSpPr txBox="1"/>
          <p:nvPr/>
        </p:nvSpPr>
        <p:spPr>
          <a:xfrm>
            <a:off x="8063407" y="4830774"/>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技术手段降本</a:t>
            </a:r>
          </a:p>
        </p:txBody>
      </p:sp>
      <p:sp>
        <p:nvSpPr>
          <p:cNvPr id="315" name="文本框 314"/>
          <p:cNvSpPr txBox="1"/>
          <p:nvPr/>
        </p:nvSpPr>
        <p:spPr>
          <a:xfrm>
            <a:off x="4825716" y="6060071"/>
            <a:ext cx="6345203"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营业成本因元器件涨价和研发投入增加而上升，但营业收入的增长幅度；同时，销售费用和管理费用的下降进一步压缩了期间费用，叠加高端产品毛利率提升，最终推动净利润上升。</a:t>
            </a:r>
          </a:p>
        </p:txBody>
      </p:sp>
      <p:sp>
        <p:nvSpPr>
          <p:cNvPr id="316" name="文本框 315"/>
          <p:cNvSpPr txBox="1"/>
          <p:nvPr/>
        </p:nvSpPr>
        <p:spPr>
          <a:xfrm>
            <a:off x="4825716" y="5788209"/>
            <a:ext cx="3583840"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净利润上升的综合逻辑</a:t>
            </a:r>
          </a:p>
        </p:txBody>
      </p:sp>
      <p:sp>
        <p:nvSpPr>
          <p:cNvPr id="320" name="图形 318"/>
          <p:cNvSpPr/>
          <p:nvPr/>
        </p:nvSpPr>
        <p:spPr>
          <a:xfrm>
            <a:off x="8991601" y="1265042"/>
            <a:ext cx="377190" cy="377292"/>
          </a:xfrm>
          <a:custGeom>
            <a:avLst/>
            <a:gdLst>
              <a:gd name="connsiteX0" fmla="*/ 855030 w 1218551"/>
              <a:gd name="connsiteY0" fmla="*/ 556035 h 1218880"/>
              <a:gd name="connsiteX1" fmla="*/ 885091 w 1218551"/>
              <a:gd name="connsiteY1" fmla="*/ 525598 h 1218880"/>
              <a:gd name="connsiteX2" fmla="*/ 915857 w 1218551"/>
              <a:gd name="connsiteY2" fmla="*/ 556035 h 1218880"/>
              <a:gd name="connsiteX3" fmla="*/ 888315 w 1218551"/>
              <a:gd name="connsiteY3" fmla="*/ 693928 h 1218880"/>
              <a:gd name="connsiteX4" fmla="*/ 888315 w 1218551"/>
              <a:gd name="connsiteY4" fmla="*/ 695042 h 1218880"/>
              <a:gd name="connsiteX5" fmla="*/ 810877 w 1218551"/>
              <a:gd name="connsiteY5" fmla="*/ 810886 h 1218880"/>
              <a:gd name="connsiteX6" fmla="*/ 693595 w 1218551"/>
              <a:gd name="connsiteY6" fmla="*/ 889057 h 1218880"/>
              <a:gd name="connsiteX7" fmla="*/ 556031 w 1218551"/>
              <a:gd name="connsiteY7" fmla="*/ 916565 h 1218880"/>
              <a:gd name="connsiteX8" fmla="*/ 525598 w 1218551"/>
              <a:gd name="connsiteY8" fmla="*/ 885433 h 1218880"/>
              <a:gd name="connsiteX9" fmla="*/ 556031 w 1218551"/>
              <a:gd name="connsiteY9" fmla="*/ 855029 h 1218880"/>
              <a:gd name="connsiteX10" fmla="*/ 670426 w 1218551"/>
              <a:gd name="connsiteY10" fmla="*/ 832231 h 1218880"/>
              <a:gd name="connsiteX11" fmla="*/ 767438 w 1218551"/>
              <a:gd name="connsiteY11" fmla="*/ 767433 h 1218880"/>
              <a:gd name="connsiteX12" fmla="*/ 831117 w 1218551"/>
              <a:gd name="connsiteY12" fmla="*/ 672578 h 1218880"/>
              <a:gd name="connsiteX13" fmla="*/ 831860 w 1218551"/>
              <a:gd name="connsiteY13" fmla="*/ 671135 h 1218880"/>
              <a:gd name="connsiteX14" fmla="*/ 855030 w 1218551"/>
              <a:gd name="connsiteY14" fmla="*/ 556035 h 1218880"/>
              <a:gd name="connsiteX15" fmla="*/ 729767 w 1218551"/>
              <a:gd name="connsiteY15" fmla="*/ 136450 h 1218880"/>
              <a:gd name="connsiteX16" fmla="*/ 556031 w 1218551"/>
              <a:gd name="connsiteY16" fmla="*/ 102418 h 1218880"/>
              <a:gd name="connsiteX17" fmla="*/ 235274 w 1218551"/>
              <a:gd name="connsiteY17" fmla="*/ 234572 h 1218880"/>
              <a:gd name="connsiteX18" fmla="*/ 136078 w 1218551"/>
              <a:gd name="connsiteY18" fmla="*/ 382254 h 1218880"/>
              <a:gd name="connsiteX19" fmla="*/ 102052 w 1218551"/>
              <a:gd name="connsiteY19" fmla="*/ 556035 h 1218880"/>
              <a:gd name="connsiteX20" fmla="*/ 135004 w 1218551"/>
              <a:gd name="connsiteY20" fmla="*/ 727256 h 1218880"/>
              <a:gd name="connsiteX21" fmla="*/ 136078 w 1218551"/>
              <a:gd name="connsiteY21" fmla="*/ 729404 h 1218880"/>
              <a:gd name="connsiteX22" fmla="*/ 235274 w 1218551"/>
              <a:gd name="connsiteY22" fmla="*/ 877122 h 1218880"/>
              <a:gd name="connsiteX23" fmla="*/ 382250 w 1218551"/>
              <a:gd name="connsiteY23" fmla="*/ 975949 h 1218880"/>
              <a:gd name="connsiteX24" fmla="*/ 556031 w 1218551"/>
              <a:gd name="connsiteY24" fmla="*/ 1010682 h 1218880"/>
              <a:gd name="connsiteX25" fmla="*/ 729767 w 1218551"/>
              <a:gd name="connsiteY25" fmla="*/ 975949 h 1218880"/>
              <a:gd name="connsiteX26" fmla="*/ 876009 w 1218551"/>
              <a:gd name="connsiteY26" fmla="*/ 877456 h 1218880"/>
              <a:gd name="connsiteX27" fmla="*/ 876752 w 1218551"/>
              <a:gd name="connsiteY27" fmla="*/ 877122 h 1218880"/>
              <a:gd name="connsiteX28" fmla="*/ 877457 w 1218551"/>
              <a:gd name="connsiteY28" fmla="*/ 877122 h 1218880"/>
              <a:gd name="connsiteX29" fmla="*/ 975945 w 1218551"/>
              <a:gd name="connsiteY29" fmla="*/ 729404 h 1218880"/>
              <a:gd name="connsiteX30" fmla="*/ 1009973 w 1218551"/>
              <a:gd name="connsiteY30" fmla="*/ 556035 h 1218880"/>
              <a:gd name="connsiteX31" fmla="*/ 976650 w 1218551"/>
              <a:gd name="connsiteY31" fmla="*/ 385148 h 1218880"/>
              <a:gd name="connsiteX32" fmla="*/ 975945 w 1218551"/>
              <a:gd name="connsiteY32" fmla="*/ 382254 h 1218880"/>
              <a:gd name="connsiteX33" fmla="*/ 879643 w 1218551"/>
              <a:gd name="connsiteY33" fmla="*/ 237465 h 1218880"/>
              <a:gd name="connsiteX34" fmla="*/ 876752 w 1218551"/>
              <a:gd name="connsiteY34" fmla="*/ 234572 h 1218880"/>
              <a:gd name="connsiteX35" fmla="*/ 729767 w 1218551"/>
              <a:gd name="connsiteY35" fmla="*/ 136450 h 1218880"/>
              <a:gd name="connsiteX36" fmla="*/ 983175 w 1218551"/>
              <a:gd name="connsiteY36" fmla="*/ 911860 h 1218880"/>
              <a:gd name="connsiteX37" fmla="*/ 1203621 w 1218551"/>
              <a:gd name="connsiteY37" fmla="*/ 1132307 h 1218880"/>
              <a:gd name="connsiteX38" fmla="*/ 1203621 w 1218551"/>
              <a:gd name="connsiteY38" fmla="*/ 1203625 h 1218880"/>
              <a:gd name="connsiteX39" fmla="*/ 1132303 w 1218551"/>
              <a:gd name="connsiteY39" fmla="*/ 1203997 h 1218880"/>
              <a:gd name="connsiteX40" fmla="*/ 911151 w 1218551"/>
              <a:gd name="connsiteY40" fmla="*/ 983917 h 1218880"/>
              <a:gd name="connsiteX41" fmla="*/ 768876 w 1218551"/>
              <a:gd name="connsiteY41" fmla="*/ 1069327 h 1218880"/>
              <a:gd name="connsiteX42" fmla="*/ 556031 w 1218551"/>
              <a:gd name="connsiteY42" fmla="*/ 1112061 h 1218880"/>
              <a:gd name="connsiteX43" fmla="*/ 343144 w 1218551"/>
              <a:gd name="connsiteY43" fmla="*/ 1069327 h 1218880"/>
              <a:gd name="connsiteX44" fmla="*/ 162509 w 1218551"/>
              <a:gd name="connsiteY44" fmla="*/ 949150 h 1218880"/>
              <a:gd name="connsiteX45" fmla="*/ 162509 w 1218551"/>
              <a:gd name="connsiteY45" fmla="*/ 949889 h 1218880"/>
              <a:gd name="connsiteX46" fmla="*/ 41962 w 1218551"/>
              <a:gd name="connsiteY46" fmla="*/ 768885 h 1218880"/>
              <a:gd name="connsiteX47" fmla="*/ 41259 w 1218551"/>
              <a:gd name="connsiteY47" fmla="*/ 765994 h 1218880"/>
              <a:gd name="connsiteX48" fmla="*/ 0 w 1218551"/>
              <a:gd name="connsiteY48" fmla="*/ 556035 h 1218880"/>
              <a:gd name="connsiteX49" fmla="*/ 41962 w 1218551"/>
              <a:gd name="connsiteY49" fmla="*/ 343517 h 1218880"/>
              <a:gd name="connsiteX50" fmla="*/ 162509 w 1218551"/>
              <a:gd name="connsiteY50" fmla="*/ 162879 h 1218880"/>
              <a:gd name="connsiteX51" fmla="*/ 556031 w 1218551"/>
              <a:gd name="connsiteY51" fmla="*/ 0 h 1218880"/>
              <a:gd name="connsiteX52" fmla="*/ 768876 w 1218551"/>
              <a:gd name="connsiteY52" fmla="*/ 42334 h 1218880"/>
              <a:gd name="connsiteX53" fmla="*/ 949146 w 1218551"/>
              <a:gd name="connsiteY53" fmla="*/ 162879 h 1218880"/>
              <a:gd name="connsiteX54" fmla="*/ 951332 w 1218551"/>
              <a:gd name="connsiteY54" fmla="*/ 165069 h 1218880"/>
              <a:gd name="connsiteX55" fmla="*/ 1069323 w 1218551"/>
              <a:gd name="connsiteY55" fmla="*/ 343517 h 1218880"/>
              <a:gd name="connsiteX56" fmla="*/ 1070771 w 1218551"/>
              <a:gd name="connsiteY56" fmla="*/ 346410 h 1218880"/>
              <a:gd name="connsiteX57" fmla="*/ 1112067 w 1218551"/>
              <a:gd name="connsiteY57" fmla="*/ 556035 h 1218880"/>
              <a:gd name="connsiteX58" fmla="*/ 1069323 w 1218551"/>
              <a:gd name="connsiteY58" fmla="*/ 768885 h 1218880"/>
              <a:gd name="connsiteX59" fmla="*/ 983175 w 1218551"/>
              <a:gd name="connsiteY59" fmla="*/ 911860 h 1218880"/>
              <a:gd name="connsiteX60" fmla="*/ 280906 w 1218551"/>
              <a:gd name="connsiteY60" fmla="*/ 439823 h 1218880"/>
              <a:gd name="connsiteX61" fmla="*/ 240723 w 1218551"/>
              <a:gd name="connsiteY61" fmla="*/ 456096 h 1218880"/>
              <a:gd name="connsiteX62" fmla="*/ 224414 w 1218551"/>
              <a:gd name="connsiteY62" fmla="*/ 415914 h 1218880"/>
              <a:gd name="connsiteX63" fmla="*/ 257370 w 1218551"/>
              <a:gd name="connsiteY63" fmla="*/ 355458 h 1218880"/>
              <a:gd name="connsiteX64" fmla="*/ 301516 w 1218551"/>
              <a:gd name="connsiteY64" fmla="*/ 301519 h 1218880"/>
              <a:gd name="connsiteX65" fmla="*/ 355119 w 1218551"/>
              <a:gd name="connsiteY65" fmla="*/ 257740 h 1218880"/>
              <a:gd name="connsiteX66" fmla="*/ 415578 w 1218551"/>
              <a:gd name="connsiteY66" fmla="*/ 224784 h 1218880"/>
              <a:gd name="connsiteX67" fmla="*/ 456096 w 1218551"/>
              <a:gd name="connsiteY67" fmla="*/ 241058 h 1218880"/>
              <a:gd name="connsiteX68" fmla="*/ 439450 w 1218551"/>
              <a:gd name="connsiteY68" fmla="*/ 280908 h 1218880"/>
              <a:gd name="connsiteX69" fmla="*/ 389145 w 1218551"/>
              <a:gd name="connsiteY69" fmla="*/ 308413 h 1218880"/>
              <a:gd name="connsiteX70" fmla="*/ 344590 w 1218551"/>
              <a:gd name="connsiteY70" fmla="*/ 344966 h 1218880"/>
              <a:gd name="connsiteX71" fmla="*/ 308412 w 1218551"/>
              <a:gd name="connsiteY71" fmla="*/ 389485 h 1218880"/>
              <a:gd name="connsiteX72" fmla="*/ 280906 w 1218551"/>
              <a:gd name="connsiteY72" fmla="*/ 439823 h 121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218551" h="1218880">
                <a:moveTo>
                  <a:pt x="855030" y="556035"/>
                </a:moveTo>
                <a:cubicBezTo>
                  <a:pt x="855030" y="538647"/>
                  <a:pt x="868079" y="525598"/>
                  <a:pt x="885091" y="525598"/>
                </a:cubicBezTo>
                <a:cubicBezTo>
                  <a:pt x="901736" y="525598"/>
                  <a:pt x="915857" y="538647"/>
                  <a:pt x="915857" y="556035"/>
                </a:cubicBezTo>
                <a:cubicBezTo>
                  <a:pt x="915857" y="603074"/>
                  <a:pt x="906446" y="649780"/>
                  <a:pt x="888315" y="693928"/>
                </a:cubicBezTo>
                <a:lnTo>
                  <a:pt x="888315" y="695042"/>
                </a:lnTo>
                <a:cubicBezTo>
                  <a:pt x="870232" y="737372"/>
                  <a:pt x="844171" y="776853"/>
                  <a:pt x="810877" y="810886"/>
                </a:cubicBezTo>
                <a:cubicBezTo>
                  <a:pt x="776111" y="845618"/>
                  <a:pt x="735929" y="870969"/>
                  <a:pt x="693595" y="889057"/>
                </a:cubicBezTo>
                <a:cubicBezTo>
                  <a:pt x="649776" y="907150"/>
                  <a:pt x="602365" y="916565"/>
                  <a:pt x="556031" y="916565"/>
                </a:cubicBezTo>
                <a:cubicBezTo>
                  <a:pt x="539352" y="916565"/>
                  <a:pt x="525598" y="902445"/>
                  <a:pt x="525598" y="885433"/>
                </a:cubicBezTo>
                <a:cubicBezTo>
                  <a:pt x="525598" y="868417"/>
                  <a:pt x="539352" y="855029"/>
                  <a:pt x="556031" y="855029"/>
                </a:cubicBezTo>
                <a:cubicBezTo>
                  <a:pt x="595102" y="855029"/>
                  <a:pt x="634207" y="847433"/>
                  <a:pt x="670426" y="832231"/>
                </a:cubicBezTo>
                <a:cubicBezTo>
                  <a:pt x="705902" y="817372"/>
                  <a:pt x="738449" y="796017"/>
                  <a:pt x="767438" y="767433"/>
                </a:cubicBezTo>
                <a:cubicBezTo>
                  <a:pt x="795313" y="738453"/>
                  <a:pt x="817363" y="706611"/>
                  <a:pt x="831117" y="672578"/>
                </a:cubicBezTo>
                <a:lnTo>
                  <a:pt x="831860" y="671135"/>
                </a:lnTo>
                <a:cubicBezTo>
                  <a:pt x="847058" y="634211"/>
                  <a:pt x="855030" y="595478"/>
                  <a:pt x="855030" y="556035"/>
                </a:cubicBezTo>
                <a:close/>
                <a:moveTo>
                  <a:pt x="729767" y="136450"/>
                </a:moveTo>
                <a:cubicBezTo>
                  <a:pt x="676208" y="115099"/>
                  <a:pt x="617567" y="102418"/>
                  <a:pt x="556031" y="102418"/>
                </a:cubicBezTo>
                <a:cubicBezTo>
                  <a:pt x="430775" y="102418"/>
                  <a:pt x="317085" y="153096"/>
                  <a:pt x="235274" y="234572"/>
                </a:cubicBezTo>
                <a:cubicBezTo>
                  <a:pt x="192571" y="276906"/>
                  <a:pt x="159244" y="326876"/>
                  <a:pt x="136078" y="382254"/>
                </a:cubicBezTo>
                <a:cubicBezTo>
                  <a:pt x="114394" y="435117"/>
                  <a:pt x="102052" y="494127"/>
                  <a:pt x="102052" y="556035"/>
                </a:cubicBezTo>
                <a:cubicBezTo>
                  <a:pt x="102052" y="616828"/>
                  <a:pt x="113652" y="674764"/>
                  <a:pt x="135004" y="727256"/>
                </a:cubicBezTo>
                <a:lnTo>
                  <a:pt x="136078" y="729404"/>
                </a:lnTo>
                <a:cubicBezTo>
                  <a:pt x="159244" y="785530"/>
                  <a:pt x="193274" y="834755"/>
                  <a:pt x="235274" y="877122"/>
                </a:cubicBezTo>
                <a:cubicBezTo>
                  <a:pt x="276569" y="919085"/>
                  <a:pt x="326872" y="952780"/>
                  <a:pt x="382250" y="975949"/>
                </a:cubicBezTo>
                <a:cubicBezTo>
                  <a:pt x="435816" y="997999"/>
                  <a:pt x="494128" y="1010682"/>
                  <a:pt x="556031" y="1010682"/>
                </a:cubicBezTo>
                <a:cubicBezTo>
                  <a:pt x="617567" y="1010682"/>
                  <a:pt x="676208" y="997999"/>
                  <a:pt x="729767" y="975949"/>
                </a:cubicBezTo>
                <a:cubicBezTo>
                  <a:pt x="784778" y="953118"/>
                  <a:pt x="834751" y="919085"/>
                  <a:pt x="876009" y="877456"/>
                </a:cubicBezTo>
                <a:lnTo>
                  <a:pt x="876752" y="877122"/>
                </a:lnTo>
                <a:lnTo>
                  <a:pt x="877457" y="877122"/>
                </a:lnTo>
                <a:cubicBezTo>
                  <a:pt x="918752" y="835493"/>
                  <a:pt x="952409" y="785530"/>
                  <a:pt x="975945" y="729404"/>
                </a:cubicBezTo>
                <a:cubicBezTo>
                  <a:pt x="997672" y="676583"/>
                  <a:pt x="1009973" y="617566"/>
                  <a:pt x="1009973" y="556035"/>
                </a:cubicBezTo>
                <a:cubicBezTo>
                  <a:pt x="1009973" y="495203"/>
                  <a:pt x="998005" y="438006"/>
                  <a:pt x="976650" y="385148"/>
                </a:cubicBezTo>
                <a:lnTo>
                  <a:pt x="975945" y="382254"/>
                </a:lnTo>
                <a:cubicBezTo>
                  <a:pt x="952780" y="328320"/>
                  <a:pt x="920195" y="278723"/>
                  <a:pt x="879643" y="237465"/>
                </a:cubicBezTo>
                <a:lnTo>
                  <a:pt x="876752" y="234572"/>
                </a:lnTo>
                <a:cubicBezTo>
                  <a:pt x="834751" y="193277"/>
                  <a:pt x="784778" y="159250"/>
                  <a:pt x="729767" y="136450"/>
                </a:cubicBezTo>
                <a:close/>
                <a:moveTo>
                  <a:pt x="983175" y="911860"/>
                </a:moveTo>
                <a:lnTo>
                  <a:pt x="1203621" y="1132307"/>
                </a:lnTo>
                <a:cubicBezTo>
                  <a:pt x="1223528" y="1151504"/>
                  <a:pt x="1223528" y="1183718"/>
                  <a:pt x="1203621" y="1203625"/>
                </a:cubicBezTo>
                <a:cubicBezTo>
                  <a:pt x="1184462" y="1223904"/>
                  <a:pt x="1151505" y="1223904"/>
                  <a:pt x="1132303" y="1203997"/>
                </a:cubicBezTo>
                <a:lnTo>
                  <a:pt x="911151" y="983917"/>
                </a:lnTo>
                <a:cubicBezTo>
                  <a:pt x="868779" y="1019397"/>
                  <a:pt x="820997" y="1048349"/>
                  <a:pt x="768876" y="1069327"/>
                </a:cubicBezTo>
                <a:cubicBezTo>
                  <a:pt x="702973" y="1097574"/>
                  <a:pt x="630950" y="1112061"/>
                  <a:pt x="556031" y="1112061"/>
                </a:cubicBezTo>
                <a:cubicBezTo>
                  <a:pt x="481450" y="1112061"/>
                  <a:pt x="409051" y="1097574"/>
                  <a:pt x="343144" y="1069327"/>
                </a:cubicBezTo>
                <a:cubicBezTo>
                  <a:pt x="275457" y="1041452"/>
                  <a:pt x="214294" y="1000562"/>
                  <a:pt x="162509" y="949150"/>
                </a:cubicBezTo>
                <a:lnTo>
                  <a:pt x="162509" y="949889"/>
                </a:lnTo>
                <a:cubicBezTo>
                  <a:pt x="111835" y="898477"/>
                  <a:pt x="70208" y="836941"/>
                  <a:pt x="41962" y="768885"/>
                </a:cubicBezTo>
                <a:lnTo>
                  <a:pt x="41259" y="765994"/>
                </a:lnTo>
                <a:cubicBezTo>
                  <a:pt x="14456" y="701196"/>
                  <a:pt x="0" y="630244"/>
                  <a:pt x="0" y="556035"/>
                </a:cubicBezTo>
                <a:cubicBezTo>
                  <a:pt x="0" y="481454"/>
                  <a:pt x="14826" y="409056"/>
                  <a:pt x="41962" y="343517"/>
                </a:cubicBezTo>
                <a:cubicBezTo>
                  <a:pt x="70948" y="275462"/>
                  <a:pt x="111835" y="213925"/>
                  <a:pt x="162509" y="162879"/>
                </a:cubicBezTo>
                <a:cubicBezTo>
                  <a:pt x="263521" y="62236"/>
                  <a:pt x="402529" y="0"/>
                  <a:pt x="556031" y="0"/>
                </a:cubicBezTo>
                <a:cubicBezTo>
                  <a:pt x="630950" y="0"/>
                  <a:pt x="702635" y="15202"/>
                  <a:pt x="768876" y="42334"/>
                </a:cubicBezTo>
                <a:cubicBezTo>
                  <a:pt x="836937" y="70208"/>
                  <a:pt x="897731" y="111838"/>
                  <a:pt x="949146" y="162879"/>
                </a:cubicBezTo>
                <a:lnTo>
                  <a:pt x="951332" y="165069"/>
                </a:lnTo>
                <a:cubicBezTo>
                  <a:pt x="1002005" y="216446"/>
                  <a:pt x="1041815" y="276538"/>
                  <a:pt x="1069323" y="343517"/>
                </a:cubicBezTo>
                <a:lnTo>
                  <a:pt x="1070771" y="346410"/>
                </a:lnTo>
                <a:cubicBezTo>
                  <a:pt x="1096827" y="411204"/>
                  <a:pt x="1112067" y="482159"/>
                  <a:pt x="1112067" y="556035"/>
                </a:cubicBezTo>
                <a:cubicBezTo>
                  <a:pt x="1112067" y="630954"/>
                  <a:pt x="1096827" y="703348"/>
                  <a:pt x="1069323" y="768885"/>
                </a:cubicBezTo>
                <a:cubicBezTo>
                  <a:pt x="1048345" y="821001"/>
                  <a:pt x="1018646" y="868783"/>
                  <a:pt x="983175" y="911860"/>
                </a:cubicBezTo>
                <a:close/>
                <a:moveTo>
                  <a:pt x="280906" y="439823"/>
                </a:moveTo>
                <a:cubicBezTo>
                  <a:pt x="274013" y="455392"/>
                  <a:pt x="256291" y="462623"/>
                  <a:pt x="240723" y="456096"/>
                </a:cubicBezTo>
                <a:cubicBezTo>
                  <a:pt x="225155" y="449237"/>
                  <a:pt x="217889" y="431852"/>
                  <a:pt x="224414" y="415914"/>
                </a:cubicBezTo>
                <a:cubicBezTo>
                  <a:pt x="233125" y="395304"/>
                  <a:pt x="244690" y="374283"/>
                  <a:pt x="257370" y="355458"/>
                </a:cubicBezTo>
                <a:cubicBezTo>
                  <a:pt x="270045" y="336291"/>
                  <a:pt x="284872" y="318201"/>
                  <a:pt x="301516" y="301519"/>
                </a:cubicBezTo>
                <a:cubicBezTo>
                  <a:pt x="317827" y="285618"/>
                  <a:pt x="335918" y="270048"/>
                  <a:pt x="355119" y="257740"/>
                </a:cubicBezTo>
                <a:cubicBezTo>
                  <a:pt x="374283" y="245436"/>
                  <a:pt x="394558" y="233832"/>
                  <a:pt x="415578" y="224784"/>
                </a:cubicBezTo>
                <a:cubicBezTo>
                  <a:pt x="431479" y="217894"/>
                  <a:pt x="449238" y="225530"/>
                  <a:pt x="456096" y="241058"/>
                </a:cubicBezTo>
                <a:cubicBezTo>
                  <a:pt x="462618" y="256627"/>
                  <a:pt x="455387" y="274386"/>
                  <a:pt x="439450" y="280908"/>
                </a:cubicBezTo>
                <a:cubicBezTo>
                  <a:pt x="422063" y="288134"/>
                  <a:pt x="405418" y="297554"/>
                  <a:pt x="389145" y="308413"/>
                </a:cubicBezTo>
                <a:cubicBezTo>
                  <a:pt x="373578" y="318900"/>
                  <a:pt x="358380" y="330841"/>
                  <a:pt x="344590" y="344966"/>
                </a:cubicBezTo>
                <a:cubicBezTo>
                  <a:pt x="331580" y="358383"/>
                  <a:pt x="318904" y="373212"/>
                  <a:pt x="308412" y="389485"/>
                </a:cubicBezTo>
                <a:cubicBezTo>
                  <a:pt x="297551" y="405423"/>
                  <a:pt x="288136" y="422441"/>
                  <a:pt x="280906" y="439823"/>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321" name="矩形: 圆角 320"/>
          <p:cNvSpPr/>
          <p:nvPr/>
        </p:nvSpPr>
        <p:spPr>
          <a:xfrm>
            <a:off x="11654430" y="1896945"/>
            <a:ext cx="36000" cy="934142"/>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2" name="矩形: 圆角 321"/>
          <p:cNvSpPr/>
          <p:nvPr/>
        </p:nvSpPr>
        <p:spPr>
          <a:xfrm>
            <a:off x="11654430" y="2866859"/>
            <a:ext cx="36000" cy="914599"/>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3" name="矩形: 圆角 322"/>
          <p:cNvSpPr/>
          <p:nvPr/>
        </p:nvSpPr>
        <p:spPr>
          <a:xfrm>
            <a:off x="11654430" y="3817230"/>
            <a:ext cx="36000" cy="914598"/>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4" name="矩形: 圆角 323"/>
          <p:cNvSpPr/>
          <p:nvPr/>
        </p:nvSpPr>
        <p:spPr>
          <a:xfrm>
            <a:off x="11654430" y="4767599"/>
            <a:ext cx="36000" cy="914598"/>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5" name="矩形: 圆角 324"/>
          <p:cNvSpPr/>
          <p:nvPr/>
        </p:nvSpPr>
        <p:spPr>
          <a:xfrm>
            <a:off x="11654430" y="5717964"/>
            <a:ext cx="36000" cy="914609"/>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项目复盘反思</a:t>
            </a:r>
          </a:p>
        </p:txBody>
      </p:sp>
      <p:sp>
        <p:nvSpPr>
          <p:cNvPr id="187" name="任意多边形: 形状 186"/>
          <p:cNvSpPr/>
          <p:nvPr/>
        </p:nvSpPr>
        <p:spPr>
          <a:xfrm flipV="1">
            <a:off x="7241918" y="4473603"/>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4" name="任意多边形: 形状 183"/>
          <p:cNvSpPr/>
          <p:nvPr/>
        </p:nvSpPr>
        <p:spPr>
          <a:xfrm flipH="1" flipV="1">
            <a:off x="6663893" y="4996019"/>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任意多边形: 形状 177"/>
          <p:cNvSpPr/>
          <p:nvPr/>
        </p:nvSpPr>
        <p:spPr>
          <a:xfrm>
            <a:off x="7241918" y="3117966"/>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2" name="任意多边形: 形状 151"/>
          <p:cNvSpPr/>
          <p:nvPr/>
        </p:nvSpPr>
        <p:spPr>
          <a:xfrm flipH="1">
            <a:off x="6663893" y="1772590"/>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任意多边形: 形状 208"/>
          <p:cNvSpPr/>
          <p:nvPr/>
        </p:nvSpPr>
        <p:spPr>
          <a:xfrm flipH="1" flipV="1">
            <a:off x="4106803" y="4473603"/>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6" name="任意多边形: 形状 205"/>
          <p:cNvSpPr/>
          <p:nvPr/>
        </p:nvSpPr>
        <p:spPr>
          <a:xfrm flipV="1">
            <a:off x="4298748" y="4996019"/>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0" name="任意多边形: 形状 199"/>
          <p:cNvSpPr/>
          <p:nvPr/>
        </p:nvSpPr>
        <p:spPr>
          <a:xfrm flipH="1">
            <a:off x="4106803" y="3117966"/>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任意多边形: 形状 196"/>
          <p:cNvSpPr/>
          <p:nvPr/>
        </p:nvSpPr>
        <p:spPr>
          <a:xfrm>
            <a:off x="4298748" y="1772590"/>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67" name="组合 166"/>
          <p:cNvGrpSpPr/>
          <p:nvPr/>
        </p:nvGrpSpPr>
        <p:grpSpPr>
          <a:xfrm>
            <a:off x="4642780" y="2344911"/>
            <a:ext cx="2906441" cy="2906441"/>
            <a:chOff x="4661196" y="2344911"/>
            <a:chExt cx="2906441" cy="2906441"/>
          </a:xfrm>
        </p:grpSpPr>
        <p:sp>
          <p:nvSpPr>
            <p:cNvPr id="166" name="椭圆 165"/>
            <p:cNvSpPr/>
            <p:nvPr/>
          </p:nvSpPr>
          <p:spPr>
            <a:xfrm>
              <a:off x="4661196" y="2344911"/>
              <a:ext cx="2906441" cy="290644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95" name="组合 94"/>
            <p:cNvGrpSpPr/>
            <p:nvPr/>
          </p:nvGrpSpPr>
          <p:grpSpPr>
            <a:xfrm>
              <a:off x="4758704" y="2441470"/>
              <a:ext cx="2711425" cy="2713322"/>
              <a:chOff x="4298489" y="1883245"/>
              <a:chExt cx="3595021" cy="3597536"/>
            </a:xfrm>
          </p:grpSpPr>
          <p:grpSp>
            <p:nvGrpSpPr>
              <p:cNvPr id="91" name="组合 90"/>
              <p:cNvGrpSpPr/>
              <p:nvPr/>
            </p:nvGrpSpPr>
            <p:grpSpPr>
              <a:xfrm>
                <a:off x="4298489" y="1883245"/>
                <a:ext cx="3595021" cy="3597536"/>
                <a:chOff x="3781139" y="1320799"/>
                <a:chExt cx="4629722" cy="4632961"/>
              </a:xfrm>
            </p:grpSpPr>
            <p:grpSp>
              <p:nvGrpSpPr>
                <p:cNvPr id="89" name="组合 88"/>
                <p:cNvGrpSpPr/>
                <p:nvPr/>
              </p:nvGrpSpPr>
              <p:grpSpPr>
                <a:xfrm>
                  <a:off x="3781139" y="1320799"/>
                  <a:ext cx="4629722" cy="4632961"/>
                  <a:chOff x="3825876" y="1606551"/>
                  <a:chExt cx="4538662" cy="4541838"/>
                </a:xfrm>
              </p:grpSpPr>
              <p:sp>
                <p:nvSpPr>
                  <p:cNvPr id="4" name="图形 5"/>
                  <p:cNvSpPr/>
                  <p:nvPr/>
                </p:nvSpPr>
                <p:spPr bwMode="auto">
                  <a:xfrm>
                    <a:off x="4533901" y="1606551"/>
                    <a:ext cx="1492250" cy="1077912"/>
                  </a:xfrm>
                  <a:custGeom>
                    <a:avLst/>
                    <a:gdLst>
                      <a:gd name="T0" fmla="*/ 752 w 752"/>
                      <a:gd name="T1" fmla="*/ 0 h 543"/>
                      <a:gd name="T2" fmla="*/ 0 w 752"/>
                      <a:gd name="T3" fmla="*/ 312 h 543"/>
                      <a:gd name="T4" fmla="*/ 230 w 752"/>
                      <a:gd name="T5" fmla="*/ 543 h 543"/>
                      <a:gd name="T6" fmla="*/ 438 w 752"/>
                      <a:gd name="T7" fmla="*/ 403 h 543"/>
                      <a:gd name="T8" fmla="*/ 538 w 752"/>
                      <a:gd name="T9" fmla="*/ 517 h 543"/>
                      <a:gd name="T10" fmla="*/ 529 w 752"/>
                      <a:gd name="T11" fmla="*/ 366 h 543"/>
                      <a:gd name="T12" fmla="*/ 752 w 752"/>
                      <a:gd name="T13" fmla="*/ 326 h 543"/>
                      <a:gd name="T14" fmla="*/ 752 w 752"/>
                      <a:gd name="T15" fmla="*/ 0 h 5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2" h="543">
                        <a:moveTo>
                          <a:pt x="752" y="0"/>
                        </a:moveTo>
                        <a:cubicBezTo>
                          <a:pt x="461" y="8"/>
                          <a:pt x="197" y="125"/>
                          <a:pt x="0" y="312"/>
                        </a:cubicBezTo>
                        <a:cubicBezTo>
                          <a:pt x="230" y="543"/>
                          <a:pt x="230" y="543"/>
                          <a:pt x="230" y="543"/>
                        </a:cubicBezTo>
                        <a:cubicBezTo>
                          <a:pt x="292" y="486"/>
                          <a:pt x="361" y="439"/>
                          <a:pt x="438" y="403"/>
                        </a:cubicBezTo>
                        <a:cubicBezTo>
                          <a:pt x="538" y="517"/>
                          <a:pt x="538" y="517"/>
                          <a:pt x="538" y="517"/>
                        </a:cubicBezTo>
                        <a:cubicBezTo>
                          <a:pt x="529" y="366"/>
                          <a:pt x="529" y="366"/>
                          <a:pt x="529" y="366"/>
                        </a:cubicBezTo>
                        <a:cubicBezTo>
                          <a:pt x="599" y="343"/>
                          <a:pt x="674" y="329"/>
                          <a:pt x="752" y="326"/>
                        </a:cubicBezTo>
                        <a:lnTo>
                          <a:pt x="752" y="0"/>
                        </a:lnTo>
                        <a:close/>
                      </a:path>
                    </a:pathLst>
                  </a:custGeom>
                  <a:solidFill>
                    <a:schemeClr val="accent6">
                      <a:lumMod val="9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dirty="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5" name="图形 6"/>
                  <p:cNvSpPr/>
                  <p:nvPr/>
                </p:nvSpPr>
                <p:spPr bwMode="auto">
                  <a:xfrm>
                    <a:off x="3825876" y="2324101"/>
                    <a:ext cx="1079500" cy="1493837"/>
                  </a:xfrm>
                  <a:custGeom>
                    <a:avLst/>
                    <a:gdLst>
                      <a:gd name="T0" fmla="*/ 544 w 544"/>
                      <a:gd name="T1" fmla="*/ 515 h 752"/>
                      <a:gd name="T2" fmla="*/ 418 w 544"/>
                      <a:gd name="T3" fmla="*/ 403 h 752"/>
                      <a:gd name="T4" fmla="*/ 539 w 544"/>
                      <a:gd name="T5" fmla="*/ 231 h 752"/>
                      <a:gd name="T6" fmla="*/ 308 w 544"/>
                      <a:gd name="T7" fmla="*/ 0 h 752"/>
                      <a:gd name="T8" fmla="*/ 0 w 544"/>
                      <a:gd name="T9" fmla="*/ 752 h 752"/>
                      <a:gd name="T10" fmla="*/ 326 w 544"/>
                      <a:gd name="T11" fmla="*/ 752 h 752"/>
                      <a:gd name="T12" fmla="*/ 374 w 544"/>
                      <a:gd name="T13" fmla="*/ 504 h 752"/>
                      <a:gd name="T14" fmla="*/ 544 w 544"/>
                      <a:gd name="T15" fmla="*/ 515 h 7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4" h="752">
                        <a:moveTo>
                          <a:pt x="544" y="515"/>
                        </a:moveTo>
                        <a:cubicBezTo>
                          <a:pt x="418" y="403"/>
                          <a:pt x="418" y="403"/>
                          <a:pt x="418" y="403"/>
                        </a:cubicBezTo>
                        <a:cubicBezTo>
                          <a:pt x="451" y="341"/>
                          <a:pt x="491" y="283"/>
                          <a:pt x="539" y="231"/>
                        </a:cubicBezTo>
                        <a:cubicBezTo>
                          <a:pt x="308" y="0"/>
                          <a:pt x="308" y="0"/>
                          <a:pt x="308" y="0"/>
                        </a:cubicBezTo>
                        <a:cubicBezTo>
                          <a:pt x="123" y="198"/>
                          <a:pt x="7" y="461"/>
                          <a:pt x="0" y="752"/>
                        </a:cubicBezTo>
                        <a:cubicBezTo>
                          <a:pt x="326" y="752"/>
                          <a:pt x="326" y="752"/>
                          <a:pt x="326" y="752"/>
                        </a:cubicBezTo>
                        <a:cubicBezTo>
                          <a:pt x="329" y="665"/>
                          <a:pt x="346" y="582"/>
                          <a:pt x="374" y="504"/>
                        </a:cubicBezTo>
                        <a:lnTo>
                          <a:pt x="544" y="515"/>
                        </a:lnTo>
                        <a:close/>
                      </a:path>
                    </a:pathLst>
                  </a:custGeom>
                  <a:solidFill>
                    <a:schemeClr val="accent6">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6" name="图形 7"/>
                  <p:cNvSpPr/>
                  <p:nvPr/>
                </p:nvSpPr>
                <p:spPr bwMode="auto">
                  <a:xfrm>
                    <a:off x="3825877" y="3954463"/>
                    <a:ext cx="1077913" cy="1484312"/>
                  </a:xfrm>
                  <a:custGeom>
                    <a:avLst/>
                    <a:gdLst>
                      <a:gd name="T0" fmla="*/ 402 w 543"/>
                      <a:gd name="T1" fmla="*/ 308 h 747"/>
                      <a:gd name="T2" fmla="*/ 535 w 543"/>
                      <a:gd name="T3" fmla="*/ 192 h 747"/>
                      <a:gd name="T4" fmla="*/ 361 w 543"/>
                      <a:gd name="T5" fmla="*/ 203 h 747"/>
                      <a:gd name="T6" fmla="*/ 326 w 543"/>
                      <a:gd name="T7" fmla="*/ 0 h 747"/>
                      <a:gd name="T8" fmla="*/ 0 w 543"/>
                      <a:gd name="T9" fmla="*/ 0 h 747"/>
                      <a:gd name="T10" fmla="*/ 312 w 543"/>
                      <a:gd name="T11" fmla="*/ 747 h 747"/>
                      <a:gd name="T12" fmla="*/ 543 w 543"/>
                      <a:gd name="T13" fmla="*/ 517 h 747"/>
                      <a:gd name="T14" fmla="*/ 402 w 543"/>
                      <a:gd name="T15" fmla="*/ 308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747">
                        <a:moveTo>
                          <a:pt x="402" y="308"/>
                        </a:moveTo>
                        <a:cubicBezTo>
                          <a:pt x="535" y="192"/>
                          <a:pt x="535" y="192"/>
                          <a:pt x="535" y="192"/>
                        </a:cubicBezTo>
                        <a:cubicBezTo>
                          <a:pt x="361" y="203"/>
                          <a:pt x="361" y="203"/>
                          <a:pt x="361" y="203"/>
                        </a:cubicBezTo>
                        <a:cubicBezTo>
                          <a:pt x="342" y="138"/>
                          <a:pt x="329" y="70"/>
                          <a:pt x="326" y="0"/>
                        </a:cubicBezTo>
                        <a:cubicBezTo>
                          <a:pt x="0" y="0"/>
                          <a:pt x="0" y="0"/>
                          <a:pt x="0" y="0"/>
                        </a:cubicBezTo>
                        <a:cubicBezTo>
                          <a:pt x="10" y="289"/>
                          <a:pt x="127" y="551"/>
                          <a:pt x="312" y="747"/>
                        </a:cubicBezTo>
                        <a:cubicBezTo>
                          <a:pt x="543" y="517"/>
                          <a:pt x="543" y="517"/>
                          <a:pt x="543" y="517"/>
                        </a:cubicBezTo>
                        <a:cubicBezTo>
                          <a:pt x="486" y="455"/>
                          <a:pt x="438" y="385"/>
                          <a:pt x="402" y="308"/>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7" name="图形 8"/>
                  <p:cNvSpPr/>
                  <p:nvPr/>
                </p:nvSpPr>
                <p:spPr bwMode="auto">
                  <a:xfrm>
                    <a:off x="4541839" y="5065714"/>
                    <a:ext cx="1484313" cy="1082675"/>
                  </a:xfrm>
                  <a:custGeom>
                    <a:avLst/>
                    <a:gdLst>
                      <a:gd name="T0" fmla="*/ 521 w 748"/>
                      <a:gd name="T1" fmla="*/ 177 h 545"/>
                      <a:gd name="T2" fmla="*/ 533 w 748"/>
                      <a:gd name="T3" fmla="*/ 0 h 545"/>
                      <a:gd name="T4" fmla="*/ 415 w 748"/>
                      <a:gd name="T5" fmla="*/ 133 h 545"/>
                      <a:gd name="T6" fmla="*/ 231 w 748"/>
                      <a:gd name="T7" fmla="*/ 6 h 545"/>
                      <a:gd name="T8" fmla="*/ 0 w 748"/>
                      <a:gd name="T9" fmla="*/ 237 h 545"/>
                      <a:gd name="T10" fmla="*/ 748 w 748"/>
                      <a:gd name="T11" fmla="*/ 545 h 545"/>
                      <a:gd name="T12" fmla="*/ 748 w 748"/>
                      <a:gd name="T13" fmla="*/ 219 h 545"/>
                      <a:gd name="T14" fmla="*/ 521 w 748"/>
                      <a:gd name="T15" fmla="*/ 177 h 5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8" h="545">
                        <a:moveTo>
                          <a:pt x="521" y="177"/>
                        </a:moveTo>
                        <a:cubicBezTo>
                          <a:pt x="533" y="0"/>
                          <a:pt x="533" y="0"/>
                          <a:pt x="533" y="0"/>
                        </a:cubicBezTo>
                        <a:cubicBezTo>
                          <a:pt x="415" y="133"/>
                          <a:pt x="415" y="133"/>
                          <a:pt x="415" y="133"/>
                        </a:cubicBezTo>
                        <a:cubicBezTo>
                          <a:pt x="348" y="99"/>
                          <a:pt x="286" y="57"/>
                          <a:pt x="231" y="6"/>
                        </a:cubicBezTo>
                        <a:cubicBezTo>
                          <a:pt x="0" y="237"/>
                          <a:pt x="0" y="237"/>
                          <a:pt x="0" y="237"/>
                        </a:cubicBezTo>
                        <a:cubicBezTo>
                          <a:pt x="197" y="421"/>
                          <a:pt x="459" y="537"/>
                          <a:pt x="748" y="545"/>
                        </a:cubicBezTo>
                        <a:cubicBezTo>
                          <a:pt x="748" y="219"/>
                          <a:pt x="748" y="219"/>
                          <a:pt x="748" y="219"/>
                        </a:cubicBezTo>
                        <a:cubicBezTo>
                          <a:pt x="669" y="216"/>
                          <a:pt x="593" y="201"/>
                          <a:pt x="521" y="177"/>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 name="图形 9"/>
                  <p:cNvSpPr/>
                  <p:nvPr/>
                </p:nvSpPr>
                <p:spPr bwMode="auto">
                  <a:xfrm>
                    <a:off x="6162677" y="5065714"/>
                    <a:ext cx="1482725" cy="1082675"/>
                  </a:xfrm>
                  <a:custGeom>
                    <a:avLst/>
                    <a:gdLst>
                      <a:gd name="T0" fmla="*/ 516 w 747"/>
                      <a:gd name="T1" fmla="*/ 6 h 545"/>
                      <a:gd name="T2" fmla="*/ 332 w 747"/>
                      <a:gd name="T3" fmla="*/ 133 h 545"/>
                      <a:gd name="T4" fmla="*/ 215 w 747"/>
                      <a:gd name="T5" fmla="*/ 0 h 545"/>
                      <a:gd name="T6" fmla="*/ 226 w 747"/>
                      <a:gd name="T7" fmla="*/ 177 h 545"/>
                      <a:gd name="T8" fmla="*/ 0 w 747"/>
                      <a:gd name="T9" fmla="*/ 219 h 545"/>
                      <a:gd name="T10" fmla="*/ 0 w 747"/>
                      <a:gd name="T11" fmla="*/ 545 h 545"/>
                      <a:gd name="T12" fmla="*/ 747 w 747"/>
                      <a:gd name="T13" fmla="*/ 237 h 545"/>
                      <a:gd name="T14" fmla="*/ 516 w 747"/>
                      <a:gd name="T15" fmla="*/ 6 h 5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7" h="545">
                        <a:moveTo>
                          <a:pt x="516" y="6"/>
                        </a:moveTo>
                        <a:cubicBezTo>
                          <a:pt x="461" y="57"/>
                          <a:pt x="399" y="100"/>
                          <a:pt x="332" y="133"/>
                        </a:cubicBezTo>
                        <a:cubicBezTo>
                          <a:pt x="215" y="0"/>
                          <a:pt x="215" y="0"/>
                          <a:pt x="215" y="0"/>
                        </a:cubicBezTo>
                        <a:cubicBezTo>
                          <a:pt x="226" y="177"/>
                          <a:pt x="226" y="177"/>
                          <a:pt x="226" y="177"/>
                        </a:cubicBezTo>
                        <a:cubicBezTo>
                          <a:pt x="154" y="201"/>
                          <a:pt x="79" y="216"/>
                          <a:pt x="0" y="219"/>
                        </a:cubicBezTo>
                        <a:cubicBezTo>
                          <a:pt x="0" y="545"/>
                          <a:pt x="0" y="545"/>
                          <a:pt x="0" y="545"/>
                        </a:cubicBezTo>
                        <a:cubicBezTo>
                          <a:pt x="288" y="537"/>
                          <a:pt x="550" y="421"/>
                          <a:pt x="747" y="237"/>
                        </a:cubicBezTo>
                        <a:lnTo>
                          <a:pt x="516" y="6"/>
                        </a:lnTo>
                        <a:close/>
                      </a:path>
                    </a:pathLst>
                  </a:custGeom>
                  <a:solidFill>
                    <a:schemeClr val="accent3">
                      <a:lumMod val="9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 name="图形10"/>
                  <p:cNvSpPr/>
                  <p:nvPr/>
                </p:nvSpPr>
                <p:spPr bwMode="auto">
                  <a:xfrm>
                    <a:off x="7285039" y="3954463"/>
                    <a:ext cx="1077913" cy="1484312"/>
                  </a:xfrm>
                  <a:custGeom>
                    <a:avLst/>
                    <a:gdLst>
                      <a:gd name="T0" fmla="*/ 217 w 543"/>
                      <a:gd name="T1" fmla="*/ 0 h 747"/>
                      <a:gd name="T2" fmla="*/ 180 w 543"/>
                      <a:gd name="T3" fmla="*/ 210 h 747"/>
                      <a:gd name="T4" fmla="*/ 6 w 543"/>
                      <a:gd name="T5" fmla="*/ 199 h 747"/>
                      <a:gd name="T6" fmla="*/ 138 w 543"/>
                      <a:gd name="T7" fmla="*/ 315 h 747"/>
                      <a:gd name="T8" fmla="*/ 0 w 543"/>
                      <a:gd name="T9" fmla="*/ 517 h 747"/>
                      <a:gd name="T10" fmla="*/ 231 w 543"/>
                      <a:gd name="T11" fmla="*/ 747 h 747"/>
                      <a:gd name="T12" fmla="*/ 543 w 543"/>
                      <a:gd name="T13" fmla="*/ 0 h 747"/>
                      <a:gd name="T14" fmla="*/ 217 w 543"/>
                      <a:gd name="T15" fmla="*/ 0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747">
                        <a:moveTo>
                          <a:pt x="217" y="0"/>
                        </a:moveTo>
                        <a:cubicBezTo>
                          <a:pt x="214" y="73"/>
                          <a:pt x="201" y="143"/>
                          <a:pt x="180" y="210"/>
                        </a:cubicBezTo>
                        <a:cubicBezTo>
                          <a:pt x="6" y="199"/>
                          <a:pt x="6" y="199"/>
                          <a:pt x="6" y="199"/>
                        </a:cubicBezTo>
                        <a:cubicBezTo>
                          <a:pt x="138" y="315"/>
                          <a:pt x="138" y="315"/>
                          <a:pt x="138" y="315"/>
                        </a:cubicBezTo>
                        <a:cubicBezTo>
                          <a:pt x="102" y="389"/>
                          <a:pt x="56" y="457"/>
                          <a:pt x="0" y="517"/>
                        </a:cubicBezTo>
                        <a:cubicBezTo>
                          <a:pt x="231" y="747"/>
                          <a:pt x="231" y="747"/>
                          <a:pt x="231" y="747"/>
                        </a:cubicBezTo>
                        <a:cubicBezTo>
                          <a:pt x="417" y="551"/>
                          <a:pt x="534" y="289"/>
                          <a:pt x="543" y="0"/>
                        </a:cubicBezTo>
                        <a:lnTo>
                          <a:pt x="217" y="0"/>
                        </a:ln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 name="图形 11"/>
                  <p:cNvSpPr/>
                  <p:nvPr/>
                </p:nvSpPr>
                <p:spPr bwMode="auto">
                  <a:xfrm>
                    <a:off x="7285038" y="2324101"/>
                    <a:ext cx="1079500" cy="1493837"/>
                  </a:xfrm>
                  <a:custGeom>
                    <a:avLst/>
                    <a:gdLst>
                      <a:gd name="T0" fmla="*/ 544 w 544"/>
                      <a:gd name="T1" fmla="*/ 752 h 752"/>
                      <a:gd name="T2" fmla="*/ 235 w 544"/>
                      <a:gd name="T3" fmla="*/ 0 h 752"/>
                      <a:gd name="T4" fmla="*/ 5 w 544"/>
                      <a:gd name="T5" fmla="*/ 231 h 752"/>
                      <a:gd name="T6" fmla="*/ 130 w 544"/>
                      <a:gd name="T7" fmla="*/ 413 h 752"/>
                      <a:gd name="T8" fmla="*/ 0 w 544"/>
                      <a:gd name="T9" fmla="*/ 527 h 752"/>
                      <a:gd name="T10" fmla="*/ 174 w 544"/>
                      <a:gd name="T11" fmla="*/ 517 h 752"/>
                      <a:gd name="T12" fmla="*/ 218 w 544"/>
                      <a:gd name="T13" fmla="*/ 752 h 752"/>
                      <a:gd name="T14" fmla="*/ 544 w 544"/>
                      <a:gd name="T15" fmla="*/ 752 h 7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4" h="752">
                        <a:moveTo>
                          <a:pt x="544" y="752"/>
                        </a:moveTo>
                        <a:cubicBezTo>
                          <a:pt x="536" y="461"/>
                          <a:pt x="420" y="198"/>
                          <a:pt x="235" y="0"/>
                        </a:cubicBezTo>
                        <a:cubicBezTo>
                          <a:pt x="5" y="231"/>
                          <a:pt x="5" y="231"/>
                          <a:pt x="5" y="231"/>
                        </a:cubicBezTo>
                        <a:cubicBezTo>
                          <a:pt x="54" y="285"/>
                          <a:pt x="97" y="346"/>
                          <a:pt x="130" y="413"/>
                        </a:cubicBezTo>
                        <a:cubicBezTo>
                          <a:pt x="0" y="527"/>
                          <a:pt x="0" y="527"/>
                          <a:pt x="0" y="527"/>
                        </a:cubicBezTo>
                        <a:cubicBezTo>
                          <a:pt x="174" y="517"/>
                          <a:pt x="174" y="517"/>
                          <a:pt x="174" y="517"/>
                        </a:cubicBezTo>
                        <a:cubicBezTo>
                          <a:pt x="200" y="591"/>
                          <a:pt x="215" y="670"/>
                          <a:pt x="218" y="752"/>
                        </a:cubicBezTo>
                        <a:lnTo>
                          <a:pt x="544" y="752"/>
                        </a:ln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图形12"/>
                  <p:cNvSpPr/>
                  <p:nvPr/>
                </p:nvSpPr>
                <p:spPr bwMode="auto">
                  <a:xfrm>
                    <a:off x="6162677" y="1606551"/>
                    <a:ext cx="1490663" cy="1077912"/>
                  </a:xfrm>
                  <a:custGeom>
                    <a:avLst/>
                    <a:gdLst>
                      <a:gd name="T0" fmla="*/ 751 w 751"/>
                      <a:gd name="T1" fmla="*/ 312 h 543"/>
                      <a:gd name="T2" fmla="*/ 0 w 751"/>
                      <a:gd name="T3" fmla="*/ 0 h 543"/>
                      <a:gd name="T4" fmla="*/ 0 w 751"/>
                      <a:gd name="T5" fmla="*/ 326 h 543"/>
                      <a:gd name="T6" fmla="*/ 230 w 751"/>
                      <a:gd name="T7" fmla="*/ 369 h 543"/>
                      <a:gd name="T8" fmla="*/ 220 w 751"/>
                      <a:gd name="T9" fmla="*/ 520 h 543"/>
                      <a:gd name="T10" fmla="*/ 321 w 751"/>
                      <a:gd name="T11" fmla="*/ 406 h 543"/>
                      <a:gd name="T12" fmla="*/ 521 w 751"/>
                      <a:gd name="T13" fmla="*/ 543 h 543"/>
                      <a:gd name="T14" fmla="*/ 751 w 751"/>
                      <a:gd name="T15" fmla="*/ 312 h 5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543">
                        <a:moveTo>
                          <a:pt x="751" y="312"/>
                        </a:moveTo>
                        <a:cubicBezTo>
                          <a:pt x="554" y="125"/>
                          <a:pt x="291" y="8"/>
                          <a:pt x="0" y="0"/>
                        </a:cubicBezTo>
                        <a:cubicBezTo>
                          <a:pt x="0" y="326"/>
                          <a:pt x="0" y="326"/>
                          <a:pt x="0" y="326"/>
                        </a:cubicBezTo>
                        <a:cubicBezTo>
                          <a:pt x="80" y="329"/>
                          <a:pt x="157" y="344"/>
                          <a:pt x="230" y="369"/>
                        </a:cubicBezTo>
                        <a:cubicBezTo>
                          <a:pt x="220" y="520"/>
                          <a:pt x="220" y="520"/>
                          <a:pt x="220" y="520"/>
                        </a:cubicBezTo>
                        <a:cubicBezTo>
                          <a:pt x="321" y="406"/>
                          <a:pt x="321" y="406"/>
                          <a:pt x="321" y="406"/>
                        </a:cubicBezTo>
                        <a:cubicBezTo>
                          <a:pt x="394" y="442"/>
                          <a:pt x="462" y="488"/>
                          <a:pt x="521" y="543"/>
                        </a:cubicBezTo>
                        <a:lnTo>
                          <a:pt x="751" y="312"/>
                        </a:ln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
              <p:nvSpPr>
                <p:cNvPr id="90" name="椭圆 89"/>
                <p:cNvSpPr/>
                <p:nvPr/>
              </p:nvSpPr>
              <p:spPr>
                <a:xfrm>
                  <a:off x="4951119" y="2492398"/>
                  <a:ext cx="2289762" cy="2289762"/>
                </a:xfrm>
                <a:prstGeom prst="ellipse">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92" name="文本框 91"/>
              <p:cNvSpPr txBox="1"/>
              <p:nvPr/>
            </p:nvSpPr>
            <p:spPr>
              <a:xfrm>
                <a:off x="5445269" y="3143404"/>
                <a:ext cx="1301462" cy="110040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复盘反思</a:t>
                </a:r>
              </a:p>
            </p:txBody>
          </p:sp>
        </p:grpSp>
      </p:grpSp>
      <p:sp>
        <p:nvSpPr>
          <p:cNvPr id="221" name="矩形 220"/>
          <p:cNvSpPr/>
          <p:nvPr/>
        </p:nvSpPr>
        <p:spPr>
          <a:xfrm flipH="1" flipV="1">
            <a:off x="7655584" y="3839163"/>
            <a:ext cx="4018256" cy="126888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2" name="矩形 221"/>
          <p:cNvSpPr/>
          <p:nvPr/>
        </p:nvSpPr>
        <p:spPr>
          <a:xfrm flipH="1" flipV="1">
            <a:off x="7780678" y="3990310"/>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4" name="矩形 223"/>
          <p:cNvSpPr/>
          <p:nvPr/>
        </p:nvSpPr>
        <p:spPr>
          <a:xfrm flipH="1" flipV="1">
            <a:off x="7655584" y="5169859"/>
            <a:ext cx="4018256" cy="1268880"/>
          </a:xfrm>
          <a:prstGeom prst="rect">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5" name="矩形 224"/>
          <p:cNvSpPr/>
          <p:nvPr/>
        </p:nvSpPr>
        <p:spPr>
          <a:xfrm flipH="1" flipV="1">
            <a:off x="7780678" y="532100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7" name="矩形 226"/>
          <p:cNvSpPr/>
          <p:nvPr/>
        </p:nvSpPr>
        <p:spPr>
          <a:xfrm flipH="1">
            <a:off x="7655584" y="2483526"/>
            <a:ext cx="4018256" cy="126888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8" name="矩形 227"/>
          <p:cNvSpPr/>
          <p:nvPr/>
        </p:nvSpPr>
        <p:spPr>
          <a:xfrm flipH="1">
            <a:off x="7780678" y="2634674"/>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0" name="矩形 229"/>
          <p:cNvSpPr/>
          <p:nvPr/>
        </p:nvSpPr>
        <p:spPr>
          <a:xfrm flipH="1">
            <a:off x="7655584" y="1152830"/>
            <a:ext cx="4018256" cy="126888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1" name="矩形 230"/>
          <p:cNvSpPr/>
          <p:nvPr/>
        </p:nvSpPr>
        <p:spPr>
          <a:xfrm flipH="1">
            <a:off x="7780678" y="1303978"/>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3" name="矩形 232"/>
          <p:cNvSpPr/>
          <p:nvPr/>
        </p:nvSpPr>
        <p:spPr>
          <a:xfrm flipV="1">
            <a:off x="518160" y="3839163"/>
            <a:ext cx="4018257" cy="1268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4" name="矩形 233"/>
          <p:cNvSpPr/>
          <p:nvPr/>
        </p:nvSpPr>
        <p:spPr>
          <a:xfrm flipV="1">
            <a:off x="913567" y="3990310"/>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6" name="矩形 235"/>
          <p:cNvSpPr/>
          <p:nvPr/>
        </p:nvSpPr>
        <p:spPr>
          <a:xfrm flipV="1">
            <a:off x="518160" y="5169859"/>
            <a:ext cx="4018257" cy="126888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7" name="矩形 236"/>
          <p:cNvSpPr/>
          <p:nvPr/>
        </p:nvSpPr>
        <p:spPr>
          <a:xfrm flipV="1">
            <a:off x="913567" y="532100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9" name="矩形 238"/>
          <p:cNvSpPr/>
          <p:nvPr/>
        </p:nvSpPr>
        <p:spPr>
          <a:xfrm>
            <a:off x="518160" y="2483526"/>
            <a:ext cx="4018257" cy="126888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0" name="矩形 239"/>
          <p:cNvSpPr/>
          <p:nvPr/>
        </p:nvSpPr>
        <p:spPr>
          <a:xfrm>
            <a:off x="913567" y="2634674"/>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2" name="矩形 241"/>
          <p:cNvSpPr/>
          <p:nvPr/>
        </p:nvSpPr>
        <p:spPr>
          <a:xfrm>
            <a:off x="518160" y="1152828"/>
            <a:ext cx="4018257" cy="1268880"/>
          </a:xfrm>
          <a:prstGeom prst="rect">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3" name="矩形 242"/>
          <p:cNvSpPr/>
          <p:nvPr/>
        </p:nvSpPr>
        <p:spPr>
          <a:xfrm>
            <a:off x="913567" y="130397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245"/>
          <p:cNvSpPr txBox="1"/>
          <p:nvPr/>
        </p:nvSpPr>
        <p:spPr>
          <a:xfrm>
            <a:off x="913564" y="1628663"/>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关键线路提前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天完成主体封顶，运用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技术实现多专业穿插模拟，减少工序等待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工期。</a:t>
            </a:r>
          </a:p>
        </p:txBody>
      </p:sp>
      <p:sp>
        <p:nvSpPr>
          <p:cNvPr id="247" name="文本框 246"/>
          <p:cNvSpPr txBox="1"/>
          <p:nvPr/>
        </p:nvSpPr>
        <p:spPr>
          <a:xfrm>
            <a:off x="913564" y="1348647"/>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进度管控精准</a:t>
            </a:r>
          </a:p>
        </p:txBody>
      </p:sp>
      <p:sp>
        <p:nvSpPr>
          <p:cNvPr id="253" name="文本框 252"/>
          <p:cNvSpPr txBox="1"/>
          <p:nvPr/>
        </p:nvSpPr>
        <p:spPr>
          <a:xfrm>
            <a:off x="913564" y="2974966"/>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关键部位采用样板引路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举牌验收，混凝土强度回弹合格率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，获省级优质结构工程奖。</a:t>
            </a:r>
          </a:p>
        </p:txBody>
      </p:sp>
      <p:sp>
        <p:nvSpPr>
          <p:cNvPr id="254" name="文本框 253"/>
          <p:cNvSpPr txBox="1"/>
          <p:nvPr/>
        </p:nvSpPr>
        <p:spPr>
          <a:xfrm>
            <a:off x="913564" y="2694950"/>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质量管理扎实</a:t>
            </a:r>
          </a:p>
        </p:txBody>
      </p:sp>
      <p:sp>
        <p:nvSpPr>
          <p:cNvPr id="256" name="文本框 255"/>
          <p:cNvSpPr txBox="1"/>
          <p:nvPr/>
        </p:nvSpPr>
        <p:spPr>
          <a:xfrm>
            <a:off x="913564" y="4321269"/>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实现隐患实时预警，累计培训超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人次，全年零伤亡事故，获市级“平安工地”称号。</a:t>
            </a:r>
          </a:p>
        </p:txBody>
      </p:sp>
      <p:sp>
        <p:nvSpPr>
          <p:cNvPr id="257" name="文本框 256"/>
          <p:cNvSpPr txBox="1"/>
          <p:nvPr/>
        </p:nvSpPr>
        <p:spPr>
          <a:xfrm>
            <a:off x="913564" y="4041253"/>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安全管理创新</a:t>
            </a:r>
          </a:p>
        </p:txBody>
      </p:sp>
      <p:sp>
        <p:nvSpPr>
          <p:cNvPr id="259" name="文本框 258"/>
          <p:cNvSpPr txBox="1"/>
          <p:nvPr/>
        </p:nvSpPr>
        <p:spPr>
          <a:xfrm>
            <a:off x="913564" y="5667571"/>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节省模板用量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；研发基坑降水循环系统，节水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万吨，形成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项省级工法。</a:t>
            </a:r>
          </a:p>
        </p:txBody>
      </p:sp>
      <p:sp>
        <p:nvSpPr>
          <p:cNvPr id="260" name="文本框 259"/>
          <p:cNvSpPr txBox="1"/>
          <p:nvPr/>
        </p:nvSpPr>
        <p:spPr>
          <a:xfrm>
            <a:off x="913564" y="5387555"/>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技术应用突破</a:t>
            </a:r>
          </a:p>
        </p:txBody>
      </p:sp>
      <p:sp>
        <p:nvSpPr>
          <p:cNvPr id="262" name="文本框 261"/>
          <p:cNvSpPr txBox="1"/>
          <p:nvPr/>
        </p:nvSpPr>
        <p:spPr>
          <a:xfrm>
            <a:off x="7780677" y="1628663"/>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设计变更未及时关联预算调整，导致钢筋损耗率超合同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，后期通过限额领料挽回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万损失。</a:t>
            </a:r>
          </a:p>
        </p:txBody>
      </p:sp>
      <p:sp>
        <p:nvSpPr>
          <p:cNvPr id="263" name="文本框 262"/>
          <p:cNvSpPr txBox="1"/>
          <p:nvPr/>
        </p:nvSpPr>
        <p:spPr>
          <a:xfrm>
            <a:off x="7780677" y="1348647"/>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成本动态管控不足</a:t>
            </a:r>
          </a:p>
        </p:txBody>
      </p:sp>
      <p:sp>
        <p:nvSpPr>
          <p:cNvPr id="265" name="文本框 264"/>
          <p:cNvSpPr txBox="1"/>
          <p:nvPr/>
        </p:nvSpPr>
        <p:spPr>
          <a:xfrm>
            <a:off x="7780677" y="2974966"/>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设计与施工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模型未统一标准，管线综合出图滞后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周，应前置建立协同平台数据互通规则。</a:t>
            </a:r>
          </a:p>
        </p:txBody>
      </p:sp>
      <p:sp>
        <p:nvSpPr>
          <p:cNvPr id="266" name="文本框 265"/>
          <p:cNvSpPr txBox="1"/>
          <p:nvPr/>
        </p:nvSpPr>
        <p:spPr>
          <a:xfrm>
            <a:off x="7780677" y="2694950"/>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协同效率待提升</a:t>
            </a:r>
          </a:p>
        </p:txBody>
      </p:sp>
      <p:sp>
        <p:nvSpPr>
          <p:cNvPr id="268" name="文本框 267"/>
          <p:cNvSpPr txBox="1"/>
          <p:nvPr/>
        </p:nvSpPr>
        <p:spPr>
          <a:xfrm>
            <a:off x="7780677" y="4321269"/>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极端暴雨导致基坑局部垮塌，虽启动应急预案未延误主线，但未投保工程一切险，损失自担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69" name="文本框 268"/>
          <p:cNvSpPr txBox="1"/>
          <p:nvPr/>
        </p:nvSpPr>
        <p:spPr>
          <a:xfrm>
            <a:off x="7780677" y="4041253"/>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风险预控不全面</a:t>
            </a:r>
          </a:p>
        </p:txBody>
      </p:sp>
      <p:sp>
        <p:nvSpPr>
          <p:cNvPr id="271" name="文本框 270"/>
          <p:cNvSpPr txBox="1"/>
          <p:nvPr/>
        </p:nvSpPr>
        <p:spPr>
          <a:xfrm>
            <a:off x="7780677" y="5667571"/>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建筑垃圾未严格分类堆放，夜间施工噪音投诉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起，后期增加移动隔音屏及清运频次。</a:t>
            </a:r>
          </a:p>
        </p:txBody>
      </p:sp>
      <p:sp>
        <p:nvSpPr>
          <p:cNvPr id="272" name="文本框 271"/>
          <p:cNvSpPr txBox="1"/>
          <p:nvPr/>
        </p:nvSpPr>
        <p:spPr>
          <a:xfrm>
            <a:off x="7780677" y="5387555"/>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环保管理粗放</a:t>
            </a:r>
          </a:p>
        </p:txBody>
      </p:sp>
      <p:sp>
        <p:nvSpPr>
          <p:cNvPr id="13" name="椭圆 12"/>
          <p:cNvSpPr>
            <a:spLocks noChangeAspect="1"/>
          </p:cNvSpPr>
          <p:nvPr/>
        </p:nvSpPr>
        <p:spPr>
          <a:xfrm>
            <a:off x="229299" y="1152828"/>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椭圆 23"/>
          <p:cNvSpPr>
            <a:spLocks noChangeAspect="1"/>
          </p:cNvSpPr>
          <p:nvPr/>
        </p:nvSpPr>
        <p:spPr>
          <a:xfrm>
            <a:off x="229299" y="2482566"/>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椭圆 24"/>
          <p:cNvSpPr>
            <a:spLocks noChangeAspect="1"/>
          </p:cNvSpPr>
          <p:nvPr/>
        </p:nvSpPr>
        <p:spPr>
          <a:xfrm>
            <a:off x="229299" y="3838203"/>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 name="椭圆 25"/>
          <p:cNvSpPr>
            <a:spLocks noChangeAspect="1"/>
          </p:cNvSpPr>
          <p:nvPr/>
        </p:nvSpPr>
        <p:spPr>
          <a:xfrm>
            <a:off x="229299" y="5173419"/>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文本框 26"/>
          <p:cNvSpPr txBox="1"/>
          <p:nvPr/>
        </p:nvSpPr>
        <p:spPr>
          <a:xfrm>
            <a:off x="357721" y="1298450"/>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8" name="文本框 27"/>
          <p:cNvSpPr txBox="1"/>
          <p:nvPr/>
        </p:nvSpPr>
        <p:spPr>
          <a:xfrm>
            <a:off x="357721" y="2678714"/>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文本框 28"/>
          <p:cNvSpPr txBox="1"/>
          <p:nvPr/>
        </p:nvSpPr>
        <p:spPr>
          <a:xfrm>
            <a:off x="357721" y="3981125"/>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文本框 29"/>
          <p:cNvSpPr txBox="1"/>
          <p:nvPr/>
        </p:nvSpPr>
        <p:spPr>
          <a:xfrm>
            <a:off x="357721" y="5341326"/>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椭圆 30"/>
          <p:cNvSpPr>
            <a:spLocks noChangeAspect="1"/>
          </p:cNvSpPr>
          <p:nvPr/>
        </p:nvSpPr>
        <p:spPr>
          <a:xfrm>
            <a:off x="11362514" y="1152828"/>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 name="椭圆 31"/>
          <p:cNvSpPr>
            <a:spLocks noChangeAspect="1"/>
          </p:cNvSpPr>
          <p:nvPr/>
        </p:nvSpPr>
        <p:spPr>
          <a:xfrm>
            <a:off x="11362514" y="2482566"/>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椭圆 32"/>
          <p:cNvSpPr>
            <a:spLocks noChangeAspect="1"/>
          </p:cNvSpPr>
          <p:nvPr/>
        </p:nvSpPr>
        <p:spPr>
          <a:xfrm>
            <a:off x="11362514" y="3838203"/>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椭圆 33"/>
          <p:cNvSpPr>
            <a:spLocks noChangeAspect="1"/>
          </p:cNvSpPr>
          <p:nvPr/>
        </p:nvSpPr>
        <p:spPr>
          <a:xfrm>
            <a:off x="11362514" y="5173419"/>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0" name="文本框 39"/>
          <p:cNvSpPr txBox="1"/>
          <p:nvPr/>
        </p:nvSpPr>
        <p:spPr>
          <a:xfrm>
            <a:off x="11464334" y="1292011"/>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文本框 40"/>
          <p:cNvSpPr txBox="1"/>
          <p:nvPr/>
        </p:nvSpPr>
        <p:spPr>
          <a:xfrm>
            <a:off x="11464334" y="2672275"/>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41"/>
          <p:cNvSpPr txBox="1"/>
          <p:nvPr/>
        </p:nvSpPr>
        <p:spPr>
          <a:xfrm>
            <a:off x="11464334" y="3974686"/>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文本框 42"/>
          <p:cNvSpPr txBox="1"/>
          <p:nvPr/>
        </p:nvSpPr>
        <p:spPr>
          <a:xfrm>
            <a:off x="11464334" y="5334887"/>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normAutofit/>
          </a:bodyPr>
          <a:lstStyle/>
          <a:p>
            <a:r>
              <a:rPr lang="zh-CN" altLang="en-US"/>
              <a:t>工作总结：</a:t>
            </a:r>
            <a:r>
              <a:rPr lang="en-US" altLang="zh-CN" b="1"/>
              <a:t>KISS</a:t>
            </a:r>
            <a:r>
              <a:rPr lang="zh-CN" altLang="en-US"/>
              <a:t>复盘分析法</a:t>
            </a:r>
          </a:p>
        </p:txBody>
      </p:sp>
      <p:sp>
        <p:nvSpPr>
          <p:cNvPr id="139" name="梯形 138"/>
          <p:cNvSpPr/>
          <p:nvPr/>
        </p:nvSpPr>
        <p:spPr>
          <a:xfrm rot="16200000" flipH="1">
            <a:off x="2309279" y="3609955"/>
            <a:ext cx="1148186" cy="453696"/>
          </a:xfrm>
          <a:prstGeom prst="trapezoid">
            <a:avLst>
              <a:gd name="adj" fmla="val 78653"/>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梯形 137"/>
          <p:cNvSpPr/>
          <p:nvPr/>
        </p:nvSpPr>
        <p:spPr>
          <a:xfrm rot="5400000">
            <a:off x="8732779" y="3610450"/>
            <a:ext cx="1148186" cy="453696"/>
          </a:xfrm>
          <a:prstGeom prst="trapezoid">
            <a:avLst>
              <a:gd name="adj" fmla="val 78653"/>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任意多边形: 形状 119"/>
          <p:cNvSpPr/>
          <p:nvPr/>
        </p:nvSpPr>
        <p:spPr>
          <a:xfrm>
            <a:off x="566794" y="3907474"/>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任意多边形: 形状 120"/>
          <p:cNvSpPr/>
          <p:nvPr/>
        </p:nvSpPr>
        <p:spPr>
          <a:xfrm flipH="1">
            <a:off x="6228079" y="3907474"/>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1" name="任意多边形: 形状 100"/>
          <p:cNvSpPr/>
          <p:nvPr/>
        </p:nvSpPr>
        <p:spPr>
          <a:xfrm flipV="1">
            <a:off x="566794" y="2673931"/>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矩形: 圆角 6"/>
          <p:cNvSpPr/>
          <p:nvPr/>
        </p:nvSpPr>
        <p:spPr>
          <a:xfrm>
            <a:off x="6392004" y="1022577"/>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41" name="组合 140"/>
          <p:cNvGrpSpPr/>
          <p:nvPr/>
        </p:nvGrpSpPr>
        <p:grpSpPr>
          <a:xfrm>
            <a:off x="7841868" y="1203219"/>
            <a:ext cx="3652520" cy="1291420"/>
            <a:chOff x="7841868" y="1613953"/>
            <a:chExt cx="3652520" cy="850206"/>
          </a:xfrm>
        </p:grpSpPr>
        <p:sp>
          <p:nvSpPr>
            <p:cNvPr id="11" name="矩形 10"/>
            <p:cNvSpPr/>
            <p:nvPr/>
          </p:nvSpPr>
          <p:spPr>
            <a:xfrm>
              <a:off x="7841868" y="1613953"/>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优化做事流程：</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报销流程、备用金申请</a:t>
              </a:r>
            </a:p>
          </p:txBody>
        </p:sp>
        <p:sp>
          <p:nvSpPr>
            <p:cNvPr id="12" name="矩形 11"/>
            <p:cNvSpPr/>
            <p:nvPr/>
          </p:nvSpPr>
          <p:spPr>
            <a:xfrm>
              <a:off x="7841868" y="1913662"/>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改进做事方法：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做好</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 do</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清单</a:t>
              </a:r>
            </a:p>
          </p:txBody>
        </p:sp>
        <p:sp>
          <p:nvSpPr>
            <p:cNvPr id="13" name="矩形 12"/>
            <p:cNvSpPr/>
            <p:nvPr/>
          </p:nvSpPr>
          <p:spPr>
            <a:xfrm>
              <a:off x="7841868" y="2213371"/>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改进工具使用：</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使用好公司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流程</a:t>
              </a:r>
            </a:p>
          </p:txBody>
        </p:sp>
      </p:grpSp>
      <p:sp>
        <p:nvSpPr>
          <p:cNvPr id="15" name="文本框 14"/>
          <p:cNvSpPr txBox="1"/>
          <p:nvPr/>
        </p:nvSpPr>
        <p:spPr>
          <a:xfrm>
            <a:off x="6390032" y="1918400"/>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IMPROVE</a:t>
            </a:r>
          </a:p>
        </p:txBody>
      </p:sp>
      <p:sp>
        <p:nvSpPr>
          <p:cNvPr id="16" name="文本框 15"/>
          <p:cNvSpPr txBox="1"/>
          <p:nvPr/>
        </p:nvSpPr>
        <p:spPr>
          <a:xfrm>
            <a:off x="6507122" y="1480163"/>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改进</a:t>
            </a:r>
          </a:p>
        </p:txBody>
      </p:sp>
      <p:sp>
        <p:nvSpPr>
          <p:cNvPr id="18" name="矩形: 圆角 17"/>
          <p:cNvSpPr/>
          <p:nvPr/>
        </p:nvSpPr>
        <p:spPr>
          <a:xfrm flipH="1">
            <a:off x="486793" y="1022577"/>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矩形 21"/>
          <p:cNvSpPr/>
          <p:nvPr/>
        </p:nvSpPr>
        <p:spPr>
          <a:xfrm flipH="1">
            <a:off x="697613" y="1203219"/>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好的习惯：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写周记、做复盘</a:t>
            </a:r>
          </a:p>
        </p:txBody>
      </p:sp>
      <p:sp>
        <p:nvSpPr>
          <p:cNvPr id="23" name="矩形 22"/>
          <p:cNvSpPr/>
          <p:nvPr/>
        </p:nvSpPr>
        <p:spPr>
          <a:xfrm flipH="1">
            <a:off x="697613" y="1658462"/>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自我疏导调整情绪</a:t>
            </a:r>
          </a:p>
        </p:txBody>
      </p:sp>
      <p:sp>
        <p:nvSpPr>
          <p:cNvPr id="24" name="矩形 23"/>
          <p:cNvSpPr/>
          <p:nvPr/>
        </p:nvSpPr>
        <p:spPr>
          <a:xfrm flipH="1">
            <a:off x="697613" y="211370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好的想法：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快速响应策略</a:t>
            </a:r>
          </a:p>
        </p:txBody>
      </p:sp>
      <p:sp>
        <p:nvSpPr>
          <p:cNvPr id="26" name="文本框 25"/>
          <p:cNvSpPr txBox="1"/>
          <p:nvPr/>
        </p:nvSpPr>
        <p:spPr>
          <a:xfrm flipH="1">
            <a:off x="4411661" y="1918400"/>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KEEP</a:t>
            </a:r>
          </a:p>
        </p:txBody>
      </p:sp>
      <p:sp>
        <p:nvSpPr>
          <p:cNvPr id="27" name="文本框 26"/>
          <p:cNvSpPr txBox="1"/>
          <p:nvPr/>
        </p:nvSpPr>
        <p:spPr>
          <a:xfrm flipH="1">
            <a:off x="4528751" y="1480163"/>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保留</a:t>
            </a:r>
          </a:p>
        </p:txBody>
      </p:sp>
      <p:sp>
        <p:nvSpPr>
          <p:cNvPr id="29" name="矩形: 圆角 28"/>
          <p:cNvSpPr/>
          <p:nvPr/>
        </p:nvSpPr>
        <p:spPr>
          <a:xfrm>
            <a:off x="6392004" y="4993600"/>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矩形 32"/>
          <p:cNvSpPr/>
          <p:nvPr/>
        </p:nvSpPr>
        <p:spPr>
          <a:xfrm>
            <a:off x="7841868" y="6099941"/>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错误的行为：</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与项目经理核对账务不规范</a:t>
            </a:r>
          </a:p>
        </p:txBody>
      </p:sp>
      <p:sp>
        <p:nvSpPr>
          <p:cNvPr id="34" name="矩形 33"/>
          <p:cNvSpPr/>
          <p:nvPr/>
        </p:nvSpPr>
        <p:spPr>
          <a:xfrm>
            <a:off x="7841868" y="5644698"/>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错误的习惯：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申请资金流程不规范</a:t>
            </a:r>
          </a:p>
        </p:txBody>
      </p:sp>
      <p:sp>
        <p:nvSpPr>
          <p:cNvPr id="35" name="矩形 34"/>
          <p:cNvSpPr/>
          <p:nvPr/>
        </p:nvSpPr>
        <p:spPr>
          <a:xfrm>
            <a:off x="7841868" y="518945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错误的方法：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常见账务错误流程</a:t>
            </a:r>
          </a:p>
        </p:txBody>
      </p:sp>
      <p:sp>
        <p:nvSpPr>
          <p:cNvPr id="37" name="文本框 36"/>
          <p:cNvSpPr txBox="1"/>
          <p:nvPr/>
        </p:nvSpPr>
        <p:spPr>
          <a:xfrm>
            <a:off x="6390032" y="5776494"/>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STOP</a:t>
            </a:r>
          </a:p>
        </p:txBody>
      </p:sp>
      <p:sp>
        <p:nvSpPr>
          <p:cNvPr id="38" name="文本框 37"/>
          <p:cNvSpPr txBox="1"/>
          <p:nvPr/>
        </p:nvSpPr>
        <p:spPr>
          <a:xfrm>
            <a:off x="6507122" y="5367254"/>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停止</a:t>
            </a:r>
          </a:p>
        </p:txBody>
      </p:sp>
      <p:sp>
        <p:nvSpPr>
          <p:cNvPr id="40" name="矩形: 圆角 39"/>
          <p:cNvSpPr/>
          <p:nvPr/>
        </p:nvSpPr>
        <p:spPr>
          <a:xfrm flipH="1">
            <a:off x="486793" y="4993600"/>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矩形 43"/>
          <p:cNvSpPr/>
          <p:nvPr/>
        </p:nvSpPr>
        <p:spPr>
          <a:xfrm flipH="1">
            <a:off x="697613" y="6099941"/>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计划中的事项：</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制作凭证打印流程</a:t>
            </a:r>
          </a:p>
        </p:txBody>
      </p:sp>
      <p:sp>
        <p:nvSpPr>
          <p:cNvPr id="45" name="矩形 44"/>
          <p:cNvSpPr/>
          <p:nvPr/>
        </p:nvSpPr>
        <p:spPr>
          <a:xfrm flipH="1">
            <a:off x="697613" y="5644698"/>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未完成的事项：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负现金流盘点</a:t>
            </a:r>
          </a:p>
        </p:txBody>
      </p:sp>
      <p:sp>
        <p:nvSpPr>
          <p:cNvPr id="46" name="矩形 45"/>
          <p:cNvSpPr/>
          <p:nvPr/>
        </p:nvSpPr>
        <p:spPr>
          <a:xfrm flipH="1">
            <a:off x="697613" y="518945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未开始的事项：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催收清欠、税务申报</a:t>
            </a:r>
          </a:p>
        </p:txBody>
      </p:sp>
      <p:sp>
        <p:nvSpPr>
          <p:cNvPr id="48" name="文本框 47"/>
          <p:cNvSpPr txBox="1"/>
          <p:nvPr/>
        </p:nvSpPr>
        <p:spPr>
          <a:xfrm flipH="1">
            <a:off x="4411661" y="5776494"/>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START</a:t>
            </a:r>
          </a:p>
        </p:txBody>
      </p:sp>
      <p:sp>
        <p:nvSpPr>
          <p:cNvPr id="49" name="文本框 48"/>
          <p:cNvSpPr txBox="1"/>
          <p:nvPr/>
        </p:nvSpPr>
        <p:spPr>
          <a:xfrm flipH="1">
            <a:off x="4528751" y="5367254"/>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开始</a:t>
            </a:r>
          </a:p>
        </p:txBody>
      </p:sp>
      <p:sp>
        <p:nvSpPr>
          <p:cNvPr id="103" name="任意多边形: 形状 102"/>
          <p:cNvSpPr/>
          <p:nvPr/>
        </p:nvSpPr>
        <p:spPr>
          <a:xfrm flipH="1" flipV="1">
            <a:off x="6228079" y="2673931"/>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4" name="矩形 123"/>
          <p:cNvSpPr/>
          <p:nvPr/>
        </p:nvSpPr>
        <p:spPr>
          <a:xfrm>
            <a:off x="2656524" y="3605187"/>
            <a:ext cx="6867999" cy="467729"/>
          </a:xfrm>
          <a:prstGeom prst="rect">
            <a:avLst/>
          </a:prstGeom>
          <a:solidFill>
            <a:schemeClr val="accent4"/>
          </a:solidFill>
          <a:ln w="127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125" name="组合 124"/>
          <p:cNvGrpSpPr/>
          <p:nvPr/>
        </p:nvGrpSpPr>
        <p:grpSpPr>
          <a:xfrm>
            <a:off x="4171214" y="3076970"/>
            <a:ext cx="3849572" cy="1493671"/>
            <a:chOff x="4477463" y="4297583"/>
            <a:chExt cx="3234865" cy="1255159"/>
          </a:xfrm>
        </p:grpSpPr>
        <p:sp>
          <p:nvSpPr>
            <p:cNvPr id="126" name="矩形: 对角圆角 125"/>
            <p:cNvSpPr/>
            <p:nvPr/>
          </p:nvSpPr>
          <p:spPr>
            <a:xfrm>
              <a:off x="6178168" y="4297583"/>
              <a:ext cx="1534160" cy="549275"/>
            </a:xfrm>
            <a:prstGeom prst="round2DiagRect">
              <a:avLst>
                <a:gd name="adj1" fmla="val 50000"/>
                <a:gd name="adj2" fmla="val 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文本框 127"/>
            <p:cNvSpPr txBox="1"/>
            <p:nvPr/>
          </p:nvSpPr>
          <p:spPr>
            <a:xfrm>
              <a:off x="6544166" y="4408053"/>
              <a:ext cx="1127284"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需要改进的</a:t>
              </a:r>
            </a:p>
          </p:txBody>
        </p:sp>
        <p:sp>
          <p:nvSpPr>
            <p:cNvPr id="129" name="矩形: 对角圆角 128"/>
            <p:cNvSpPr/>
            <p:nvPr/>
          </p:nvSpPr>
          <p:spPr>
            <a:xfrm flipH="1">
              <a:off x="4479673" y="4297583"/>
              <a:ext cx="1534160" cy="549275"/>
            </a:xfrm>
            <a:prstGeom prst="round2DiagRect">
              <a:avLst>
                <a:gd name="adj1" fmla="val 50000"/>
                <a:gd name="adj2" fmla="val 0"/>
              </a:avLst>
            </a:prstGeom>
            <a:solidFill>
              <a:schemeClr val="accent1">
                <a:lumMod val="75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flipH="1">
              <a:off x="4477463" y="4408053"/>
              <a:ext cx="1170372"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需要保持的</a:t>
              </a:r>
            </a:p>
          </p:txBody>
        </p:sp>
        <p:sp>
          <p:nvSpPr>
            <p:cNvPr id="132" name="矩形: 对角圆角 131"/>
            <p:cNvSpPr/>
            <p:nvPr/>
          </p:nvSpPr>
          <p:spPr>
            <a:xfrm flipV="1">
              <a:off x="6178168" y="5003467"/>
              <a:ext cx="1534160" cy="549275"/>
            </a:xfrm>
            <a:prstGeom prst="round2DiagRect">
              <a:avLst>
                <a:gd name="adj1" fmla="val 50000"/>
                <a:gd name="adj2" fmla="val 0"/>
              </a:avLst>
            </a:prstGeom>
            <a:solidFill>
              <a:schemeClr val="accent1">
                <a:lumMod val="60000"/>
                <a:lumOff val="40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文本框 133"/>
            <p:cNvSpPr txBox="1"/>
            <p:nvPr/>
          </p:nvSpPr>
          <p:spPr>
            <a:xfrm>
              <a:off x="6544166" y="5134495"/>
              <a:ext cx="1127284"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需要停止的</a:t>
              </a:r>
            </a:p>
          </p:txBody>
        </p:sp>
        <p:sp>
          <p:nvSpPr>
            <p:cNvPr id="135" name="矩形: 对角圆角 134"/>
            <p:cNvSpPr/>
            <p:nvPr/>
          </p:nvSpPr>
          <p:spPr>
            <a:xfrm flipH="1" flipV="1">
              <a:off x="4479673" y="5003467"/>
              <a:ext cx="1534160" cy="549275"/>
            </a:xfrm>
            <a:prstGeom prst="round2DiagRect">
              <a:avLst>
                <a:gd name="adj1" fmla="val 50000"/>
                <a:gd name="adj2" fmla="val 0"/>
              </a:avLst>
            </a:prstGeom>
            <a:solidFill>
              <a:schemeClr val="accent1">
                <a:lumMod val="40000"/>
                <a:lumOff val="60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文本框 136"/>
            <p:cNvSpPr txBox="1"/>
            <p:nvPr/>
          </p:nvSpPr>
          <p:spPr>
            <a:xfrm flipH="1">
              <a:off x="4477463" y="5134495"/>
              <a:ext cx="1170372"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需要开始的</a:t>
              </a:r>
            </a:p>
          </p:txBody>
        </p:sp>
      </p:grpSp>
      <p:sp>
        <p:nvSpPr>
          <p:cNvPr id="4" name="文本框 3"/>
          <p:cNvSpPr txBox="1"/>
          <p:nvPr/>
        </p:nvSpPr>
        <p:spPr>
          <a:xfrm>
            <a:off x="6389653" y="3144637"/>
            <a:ext cx="29337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I</a:t>
            </a:r>
          </a:p>
        </p:txBody>
      </p:sp>
      <p:sp>
        <p:nvSpPr>
          <p:cNvPr id="5" name="文本框 4"/>
          <p:cNvSpPr txBox="1"/>
          <p:nvPr/>
        </p:nvSpPr>
        <p:spPr>
          <a:xfrm flipH="1">
            <a:off x="5484898" y="3144637"/>
            <a:ext cx="437515"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K</a:t>
            </a:r>
          </a:p>
        </p:txBody>
      </p:sp>
      <p:sp>
        <p:nvSpPr>
          <p:cNvPr id="8" name="文本框 7"/>
          <p:cNvSpPr txBox="1"/>
          <p:nvPr/>
        </p:nvSpPr>
        <p:spPr>
          <a:xfrm>
            <a:off x="6324247" y="3953581"/>
            <a:ext cx="42418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a:t>
            </a:r>
          </a:p>
        </p:txBody>
      </p:sp>
      <p:sp>
        <p:nvSpPr>
          <p:cNvPr id="9" name="文本框 8"/>
          <p:cNvSpPr txBox="1"/>
          <p:nvPr/>
        </p:nvSpPr>
        <p:spPr>
          <a:xfrm flipH="1">
            <a:off x="5491564" y="3953581"/>
            <a:ext cx="42418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a:xfrm>
            <a:off x="227013" y="902087"/>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0" name="矩形 189"/>
          <p:cNvSpPr/>
          <p:nvPr/>
        </p:nvSpPr>
        <p:spPr>
          <a:xfrm>
            <a:off x="227013" y="1678759"/>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1" name="矩形 190"/>
          <p:cNvSpPr/>
          <p:nvPr/>
        </p:nvSpPr>
        <p:spPr>
          <a:xfrm>
            <a:off x="227013" y="2455431"/>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2" name="矩形 191"/>
          <p:cNvSpPr/>
          <p:nvPr/>
        </p:nvSpPr>
        <p:spPr>
          <a:xfrm>
            <a:off x="227013" y="3232103"/>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5" name="矩形 164"/>
          <p:cNvSpPr/>
          <p:nvPr/>
        </p:nvSpPr>
        <p:spPr>
          <a:xfrm>
            <a:off x="1611291" y="902087"/>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6" name="矩形 165"/>
          <p:cNvSpPr/>
          <p:nvPr/>
        </p:nvSpPr>
        <p:spPr>
          <a:xfrm>
            <a:off x="4979643" y="902088"/>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7" name="矩形 166"/>
          <p:cNvSpPr/>
          <p:nvPr/>
        </p:nvSpPr>
        <p:spPr>
          <a:xfrm>
            <a:off x="8347995" y="902088"/>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6" name="矩形 175"/>
          <p:cNvSpPr/>
          <p:nvPr/>
        </p:nvSpPr>
        <p:spPr>
          <a:xfrm>
            <a:off x="1611291" y="1678759"/>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7" name="矩形 176"/>
          <p:cNvSpPr/>
          <p:nvPr/>
        </p:nvSpPr>
        <p:spPr>
          <a:xfrm>
            <a:off x="4979643" y="1678760"/>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8" name="矩形 177"/>
          <p:cNvSpPr/>
          <p:nvPr/>
        </p:nvSpPr>
        <p:spPr>
          <a:xfrm>
            <a:off x="8347995" y="1678760"/>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0" name="矩形 179"/>
          <p:cNvSpPr/>
          <p:nvPr/>
        </p:nvSpPr>
        <p:spPr>
          <a:xfrm>
            <a:off x="1611291" y="2455431"/>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1" name="矩形 180"/>
          <p:cNvSpPr/>
          <p:nvPr/>
        </p:nvSpPr>
        <p:spPr>
          <a:xfrm>
            <a:off x="4979643" y="2455432"/>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2" name="矩形 181"/>
          <p:cNvSpPr/>
          <p:nvPr/>
        </p:nvSpPr>
        <p:spPr>
          <a:xfrm>
            <a:off x="8347995" y="2455432"/>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4" name="矩形 183"/>
          <p:cNvSpPr/>
          <p:nvPr/>
        </p:nvSpPr>
        <p:spPr>
          <a:xfrm>
            <a:off x="1611291" y="3232103"/>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5" name="矩形 184"/>
          <p:cNvSpPr/>
          <p:nvPr/>
        </p:nvSpPr>
        <p:spPr>
          <a:xfrm>
            <a:off x="4979643" y="3232104"/>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6" name="矩形 185"/>
          <p:cNvSpPr/>
          <p:nvPr/>
        </p:nvSpPr>
        <p:spPr>
          <a:xfrm>
            <a:off x="8347995" y="3232104"/>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normAutofit/>
          </a:bodyPr>
          <a:lstStyle/>
          <a:p>
            <a:r>
              <a:rPr lang="en-US" altLang="zh-CN" b="1"/>
              <a:t>PDCA</a:t>
            </a:r>
            <a:r>
              <a:rPr lang="zh-CN" altLang="en-US"/>
              <a:t>循环工作法</a:t>
            </a:r>
          </a:p>
        </p:txBody>
      </p:sp>
      <p:sp>
        <p:nvSpPr>
          <p:cNvPr id="116" name="矩形 115"/>
          <p:cNvSpPr/>
          <p:nvPr/>
        </p:nvSpPr>
        <p:spPr>
          <a:xfrm>
            <a:off x="1611291" y="5926492"/>
            <a:ext cx="3312000" cy="461665"/>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7" name="文本框 116"/>
          <p:cNvSpPr txBox="1"/>
          <p:nvPr/>
        </p:nvSpPr>
        <p:spPr>
          <a:xfrm>
            <a:off x="2322411" y="5977292"/>
            <a:ext cx="1889761"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Arial" panose="020B0604020202020204" pitchFamily="34" charset="0"/>
              </a:rPr>
              <a:t>原有水平</a:t>
            </a:r>
            <a:endParaRPr kumimoji="0" lang="zh-CN" altLang="en-US" sz="1600" b="0" i="0" u="none" strike="noStrike" kern="1200" cap="none" spc="0" normalizeH="0" baseline="0" noProof="0" dirty="0">
              <a:ln>
                <a:noFill/>
              </a:ln>
              <a:solidFill>
                <a:sysClr val="windowText" lastClr="000000"/>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18" name="矩形 117"/>
          <p:cNvSpPr/>
          <p:nvPr/>
        </p:nvSpPr>
        <p:spPr>
          <a:xfrm>
            <a:off x="4979643" y="5627869"/>
            <a:ext cx="3312000" cy="76028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9" name="矩形 118"/>
          <p:cNvSpPr/>
          <p:nvPr/>
        </p:nvSpPr>
        <p:spPr>
          <a:xfrm>
            <a:off x="8347995" y="5257153"/>
            <a:ext cx="3312000" cy="1131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文本框 119"/>
          <p:cNvSpPr txBox="1"/>
          <p:nvPr/>
        </p:nvSpPr>
        <p:spPr>
          <a:xfrm>
            <a:off x="5688848" y="5706153"/>
            <a:ext cx="1893591"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现有水平</a:t>
            </a:r>
            <a:endParaRPr kumimoji="0" lang="zh-CN" altLang="en-US" sz="16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21" name="文本框 120"/>
          <p:cNvSpPr txBox="1"/>
          <p:nvPr/>
        </p:nvSpPr>
        <p:spPr>
          <a:xfrm>
            <a:off x="9059115" y="5332047"/>
            <a:ext cx="188976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目标水平</a:t>
            </a:r>
            <a:endParaRPr kumimoji="0" lang="zh-CN" altLang="en-US" sz="16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grpSp>
        <p:nvGrpSpPr>
          <p:cNvPr id="122" name="组合 121"/>
          <p:cNvGrpSpPr/>
          <p:nvPr/>
        </p:nvGrpSpPr>
        <p:grpSpPr>
          <a:xfrm>
            <a:off x="5796737" y="4018131"/>
            <a:ext cx="1582644" cy="1582645"/>
            <a:chOff x="4079793" y="1687073"/>
            <a:chExt cx="4032405" cy="4032411"/>
          </a:xfrm>
        </p:grpSpPr>
        <p:grpSp>
          <p:nvGrpSpPr>
            <p:cNvPr id="123" name="组合 122"/>
            <p:cNvGrpSpPr/>
            <p:nvPr/>
          </p:nvGrpSpPr>
          <p:grpSpPr>
            <a:xfrm>
              <a:off x="4079793" y="1687073"/>
              <a:ext cx="4032405" cy="4032411"/>
              <a:chOff x="877163" y="2373367"/>
              <a:chExt cx="4501335" cy="4501336"/>
            </a:xfrm>
          </p:grpSpPr>
          <p:sp>
            <p:nvSpPr>
              <p:cNvPr id="128" name="任意多边形: 形状 12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9" name="任意多边形: 形状 12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0" name="任意多边形: 形状 12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1" name="任意多边形: 形状 13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24" name="文本框 123"/>
            <p:cNvSpPr txBox="1"/>
            <p:nvPr/>
          </p:nvSpPr>
          <p:spPr>
            <a:xfrm>
              <a:off x="4829273" y="2352817"/>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25" name="文本框 124"/>
            <p:cNvSpPr txBox="1"/>
            <p:nvPr/>
          </p:nvSpPr>
          <p:spPr>
            <a:xfrm>
              <a:off x="6829684" y="2352817"/>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26" name="文本框 125"/>
            <p:cNvSpPr txBox="1"/>
            <p:nvPr/>
          </p:nvSpPr>
          <p:spPr>
            <a:xfrm>
              <a:off x="4829273" y="4378092"/>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27" name="文本框 126"/>
            <p:cNvSpPr txBox="1"/>
            <p:nvPr/>
          </p:nvSpPr>
          <p:spPr>
            <a:xfrm>
              <a:off x="6829689" y="4378092"/>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grpSp>
        <p:nvGrpSpPr>
          <p:cNvPr id="132" name="组合 131"/>
          <p:cNvGrpSpPr/>
          <p:nvPr/>
        </p:nvGrpSpPr>
        <p:grpSpPr>
          <a:xfrm>
            <a:off x="2416008" y="4021828"/>
            <a:ext cx="1833752" cy="1833754"/>
            <a:chOff x="4079793" y="1687073"/>
            <a:chExt cx="4032406" cy="4032411"/>
          </a:xfrm>
        </p:grpSpPr>
        <p:grpSp>
          <p:nvGrpSpPr>
            <p:cNvPr id="133" name="组合 132"/>
            <p:cNvGrpSpPr/>
            <p:nvPr/>
          </p:nvGrpSpPr>
          <p:grpSpPr>
            <a:xfrm>
              <a:off x="4079793" y="1687073"/>
              <a:ext cx="4032406" cy="4032411"/>
              <a:chOff x="877163" y="2373367"/>
              <a:chExt cx="4501335" cy="4501336"/>
            </a:xfrm>
          </p:grpSpPr>
          <p:sp>
            <p:nvSpPr>
              <p:cNvPr id="138" name="任意多边形: 形状 13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9" name="任意多边形: 形状 13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0" name="任意多边形: 形状 13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1" name="任意多边形: 形状 14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34" name="文本框 133"/>
            <p:cNvSpPr txBox="1"/>
            <p:nvPr/>
          </p:nvSpPr>
          <p:spPr>
            <a:xfrm>
              <a:off x="4829278" y="2352816"/>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35" name="文本框 134"/>
            <p:cNvSpPr txBox="1"/>
            <p:nvPr/>
          </p:nvSpPr>
          <p:spPr>
            <a:xfrm>
              <a:off x="6829685" y="2352816"/>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36" name="文本框 135"/>
            <p:cNvSpPr txBox="1"/>
            <p:nvPr/>
          </p:nvSpPr>
          <p:spPr>
            <a:xfrm>
              <a:off x="4829278" y="4378094"/>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37" name="文本框 136"/>
            <p:cNvSpPr txBox="1"/>
            <p:nvPr/>
          </p:nvSpPr>
          <p:spPr>
            <a:xfrm>
              <a:off x="6829690" y="4378090"/>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grpSp>
        <p:nvGrpSpPr>
          <p:cNvPr id="142" name="组合 141"/>
          <p:cNvGrpSpPr/>
          <p:nvPr/>
        </p:nvGrpSpPr>
        <p:grpSpPr>
          <a:xfrm>
            <a:off x="9415304" y="4018131"/>
            <a:ext cx="1169869" cy="1169870"/>
            <a:chOff x="4079794" y="1687075"/>
            <a:chExt cx="4032407" cy="4032412"/>
          </a:xfrm>
        </p:grpSpPr>
        <p:grpSp>
          <p:nvGrpSpPr>
            <p:cNvPr id="143" name="组合 142"/>
            <p:cNvGrpSpPr/>
            <p:nvPr/>
          </p:nvGrpSpPr>
          <p:grpSpPr>
            <a:xfrm>
              <a:off x="4079794" y="1687075"/>
              <a:ext cx="4032407" cy="4032412"/>
              <a:chOff x="877163" y="2373367"/>
              <a:chExt cx="4501335" cy="4501336"/>
            </a:xfrm>
          </p:grpSpPr>
          <p:sp>
            <p:nvSpPr>
              <p:cNvPr id="148" name="任意多边形: 形状 14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0" name="任意多边形: 形状 14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1" name="任意多边形: 形状 15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44" name="文本框 143"/>
            <p:cNvSpPr txBox="1"/>
            <p:nvPr/>
          </p:nvSpPr>
          <p:spPr>
            <a:xfrm>
              <a:off x="4829275" y="2352817"/>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45" name="文本框 144"/>
            <p:cNvSpPr txBox="1"/>
            <p:nvPr/>
          </p:nvSpPr>
          <p:spPr>
            <a:xfrm>
              <a:off x="6829686" y="2352817"/>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46" name="文本框 145"/>
            <p:cNvSpPr txBox="1"/>
            <p:nvPr/>
          </p:nvSpPr>
          <p:spPr>
            <a:xfrm>
              <a:off x="4829275" y="4378099"/>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47" name="文本框 146"/>
            <p:cNvSpPr txBox="1"/>
            <p:nvPr/>
          </p:nvSpPr>
          <p:spPr>
            <a:xfrm>
              <a:off x="6829690" y="4378092"/>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sp>
        <p:nvSpPr>
          <p:cNvPr id="21" name="文本框 20"/>
          <p:cNvSpPr txBox="1"/>
          <p:nvPr/>
        </p:nvSpPr>
        <p:spPr>
          <a:xfrm>
            <a:off x="493464" y="946203"/>
            <a:ext cx="78295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Plan</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22" name="文本框 21"/>
          <p:cNvSpPr txBox="1"/>
          <p:nvPr/>
        </p:nvSpPr>
        <p:spPr>
          <a:xfrm>
            <a:off x="567424" y="1325906"/>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计划层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6" name="文本框 25"/>
          <p:cNvSpPr txBox="1"/>
          <p:nvPr/>
        </p:nvSpPr>
        <p:spPr>
          <a:xfrm>
            <a:off x="558933" y="3276220"/>
            <a:ext cx="64071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Act</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27" name="文本框 26"/>
          <p:cNvSpPr txBox="1"/>
          <p:nvPr/>
        </p:nvSpPr>
        <p:spPr>
          <a:xfrm>
            <a:off x="561775" y="3655923"/>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改进层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5" name="文本框 24"/>
          <p:cNvSpPr txBox="1"/>
          <p:nvPr/>
        </p:nvSpPr>
        <p:spPr>
          <a:xfrm>
            <a:off x="561775" y="2102578"/>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执行层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8" name="文本框 27"/>
          <p:cNvSpPr txBox="1"/>
          <p:nvPr/>
        </p:nvSpPr>
        <p:spPr>
          <a:xfrm>
            <a:off x="600845" y="1722875"/>
            <a:ext cx="55689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Do</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53" name="文本框 152"/>
          <p:cNvSpPr txBox="1"/>
          <p:nvPr/>
        </p:nvSpPr>
        <p:spPr>
          <a:xfrm>
            <a:off x="373131" y="2499548"/>
            <a:ext cx="1023620"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Check</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54" name="文本框 153"/>
          <p:cNvSpPr txBox="1"/>
          <p:nvPr/>
        </p:nvSpPr>
        <p:spPr>
          <a:xfrm>
            <a:off x="567425" y="2879251"/>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监控层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5" name="任意多边形: 形状 154"/>
          <p:cNvSpPr/>
          <p:nvPr/>
        </p:nvSpPr>
        <p:spPr>
          <a:xfrm>
            <a:off x="227013" y="6654800"/>
            <a:ext cx="11700000" cy="0"/>
          </a:xfrm>
          <a:custGeom>
            <a:avLst/>
            <a:gdLst>
              <a:gd name="connsiteX0" fmla="*/ 0 w 10068560"/>
              <a:gd name="connsiteY0" fmla="*/ 0 h 0"/>
              <a:gd name="connsiteX1" fmla="*/ 10068560 w 10068560"/>
              <a:gd name="connsiteY1" fmla="*/ 0 h 0"/>
            </a:gdLst>
            <a:ahLst/>
            <a:cxnLst>
              <a:cxn ang="0">
                <a:pos x="connsiteX0" y="connsiteY0"/>
              </a:cxn>
              <a:cxn ang="0">
                <a:pos x="connsiteX1" y="connsiteY1"/>
              </a:cxn>
            </a:cxnLst>
            <a:rect l="l" t="t" r="r" b="b"/>
            <a:pathLst>
              <a:path w="10068560">
                <a:moveTo>
                  <a:pt x="0" y="0"/>
                </a:moveTo>
                <a:lnTo>
                  <a:pt x="10068560" y="0"/>
                </a:lnTo>
              </a:path>
            </a:pathLst>
          </a:custGeom>
          <a:noFill/>
          <a:ln cap="rnd">
            <a:solidFill>
              <a:schemeClr val="accent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6" name="文本框 155"/>
          <p:cNvSpPr txBox="1"/>
          <p:nvPr/>
        </p:nvSpPr>
        <p:spPr>
          <a:xfrm>
            <a:off x="6389422" y="6383898"/>
            <a:ext cx="49244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rPr>
              <a:t>维持</a:t>
            </a:r>
            <a:endParaRPr kumimoji="0" lang="zh-CN" altLang="en-US" sz="1200" b="0" i="0" u="none" strike="noStrike" kern="1200" cap="none" spc="0" normalizeH="0" baseline="0" noProof="0" dirty="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7" name="文本框 156"/>
          <p:cNvSpPr txBox="1"/>
          <p:nvPr/>
        </p:nvSpPr>
        <p:spPr>
          <a:xfrm>
            <a:off x="11661407" y="4989976"/>
            <a:ext cx="369332" cy="628248"/>
          </a:xfrm>
          <a:prstGeom prst="rect">
            <a:avLst/>
          </a:prstGeom>
          <a:no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rPr>
              <a:t>改进</a:t>
            </a:r>
            <a:endParaRPr kumimoji="0" lang="zh-CN" altLang="en-US" sz="1200" b="0" i="0" u="none" strike="noStrike" kern="1200" cap="none" spc="0" normalizeH="0" baseline="0" noProof="0" dirty="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8" name="任意多边形: 形状 157"/>
          <p:cNvSpPr/>
          <p:nvPr/>
        </p:nvSpPr>
        <p:spPr>
          <a:xfrm rot="16200000">
            <a:off x="10606905" y="5208076"/>
            <a:ext cx="2736000" cy="0"/>
          </a:xfrm>
          <a:custGeom>
            <a:avLst/>
            <a:gdLst>
              <a:gd name="connsiteX0" fmla="*/ 0 w 10068560"/>
              <a:gd name="connsiteY0" fmla="*/ 0 h 0"/>
              <a:gd name="connsiteX1" fmla="*/ 10068560 w 10068560"/>
              <a:gd name="connsiteY1" fmla="*/ 0 h 0"/>
            </a:gdLst>
            <a:ahLst/>
            <a:cxnLst>
              <a:cxn ang="0">
                <a:pos x="connsiteX0" y="connsiteY0"/>
              </a:cxn>
              <a:cxn ang="0">
                <a:pos x="connsiteX1" y="connsiteY1"/>
              </a:cxn>
            </a:cxnLst>
            <a:rect l="l" t="t" r="r" b="b"/>
            <a:pathLst>
              <a:path w="10068560">
                <a:moveTo>
                  <a:pt x="0" y="0"/>
                </a:moveTo>
                <a:lnTo>
                  <a:pt x="10068560" y="0"/>
                </a:lnTo>
              </a:path>
            </a:pathLst>
          </a:custGeom>
          <a:noFill/>
          <a:ln cap="rnd">
            <a:solidFill>
              <a:schemeClr val="accent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3" name="文本框 192"/>
          <p:cNvSpPr txBox="1"/>
          <p:nvPr/>
        </p:nvSpPr>
        <p:spPr>
          <a:xfrm>
            <a:off x="1611291"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存在目标模糊、计划颗粒度粗、资源评估不足、未预留测试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联调时间等问题。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4" name="文本框 193"/>
          <p:cNvSpPr txBox="1"/>
          <p:nvPr/>
        </p:nvSpPr>
        <p:spPr>
          <a:xfrm>
            <a:off x="1611291" y="1809490"/>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执行依赖个人经验，缺乏标准化，协作效率低，需求变更仅口头同步。</a:t>
            </a:r>
          </a:p>
        </p:txBody>
      </p:sp>
      <p:sp>
        <p:nvSpPr>
          <p:cNvPr id="195" name="文本框 194"/>
          <p:cNvSpPr txBox="1"/>
          <p:nvPr/>
        </p:nvSpPr>
        <p:spPr>
          <a:xfrm>
            <a:off x="1611291"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上线后用户反馈问题，缺乏过程监控，问题定位慢，线上故障需回溯多版本代码。</a:t>
            </a:r>
          </a:p>
        </p:txBody>
      </p:sp>
      <p:sp>
        <p:nvSpPr>
          <p:cNvPr id="196" name="文本框 195"/>
          <p:cNvSpPr txBox="1"/>
          <p:nvPr/>
        </p:nvSpPr>
        <p:spPr>
          <a:xfrm>
            <a:off x="1611291"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问题解决“头痛医头” ，经验未沉淀，改进措施未落地。</a:t>
            </a:r>
          </a:p>
        </p:txBody>
      </p:sp>
      <p:sp>
        <p:nvSpPr>
          <p:cNvPr id="197" name="文本框 196"/>
          <p:cNvSpPr txBox="1"/>
          <p:nvPr/>
        </p:nvSpPr>
        <p:spPr>
          <a:xfrm>
            <a:off x="4974144"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已初步建立计划意识，但可能存在需求理解偏差、风险预案缺失。</a:t>
            </a:r>
          </a:p>
        </p:txBody>
      </p:sp>
      <p:sp>
        <p:nvSpPr>
          <p:cNvPr id="198" name="文本框 197"/>
          <p:cNvSpPr txBox="1"/>
          <p:nvPr/>
        </p:nvSpPr>
        <p:spPr>
          <a:xfrm>
            <a:off x="4974144" y="1809490"/>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已引入基础工具，但可能存在执行偏差、信息同步延迟问题。</a:t>
            </a:r>
          </a:p>
        </p:txBody>
      </p:sp>
      <p:sp>
        <p:nvSpPr>
          <p:cNvPr id="199" name="文本框 198"/>
          <p:cNvSpPr txBox="1"/>
          <p:nvPr/>
        </p:nvSpPr>
        <p:spPr>
          <a:xfrm>
            <a:off x="4974144"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已建立基础检查点，但可能存在检查标准模糊、数据支撑不足等问题。</a:t>
            </a:r>
          </a:p>
        </p:txBody>
      </p:sp>
      <p:sp>
        <p:nvSpPr>
          <p:cNvPr id="200" name="文本框 199"/>
          <p:cNvSpPr txBox="1"/>
          <p:nvPr/>
        </p:nvSpPr>
        <p:spPr>
          <a:xfrm>
            <a:off x="4974144"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已初步总结问题，但可能存在改进措施空泛、责任未明确等问题。</a:t>
            </a:r>
          </a:p>
        </p:txBody>
      </p:sp>
      <p:sp>
        <p:nvSpPr>
          <p:cNvPr id="201" name="文本框 200"/>
          <p:cNvSpPr txBox="1"/>
          <p:nvPr/>
        </p:nvSpPr>
        <p:spPr>
          <a:xfrm>
            <a:off x="8336997"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识别技术难点，预留缓冲时间，并制定备选方案，调用第三方服务替代自研。</a:t>
            </a:r>
          </a:p>
        </p:txBody>
      </p:sp>
      <p:sp>
        <p:nvSpPr>
          <p:cNvPr id="202" name="文本框 201"/>
          <p:cNvSpPr txBox="1"/>
          <p:nvPr/>
        </p:nvSpPr>
        <p:spPr>
          <a:xfrm>
            <a:off x="8336997" y="1809490"/>
            <a:ext cx="3312000" cy="645160"/>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若遇需求变更，按“评估影响→同步团队→调整计划→更新排期”流程处理，避免无序返工。</a:t>
            </a:r>
          </a:p>
        </p:txBody>
      </p:sp>
      <p:sp>
        <p:nvSpPr>
          <p:cNvPr id="203" name="文本框 202"/>
          <p:cNvSpPr txBox="1"/>
          <p:nvPr/>
        </p:nvSpPr>
        <p:spPr>
          <a:xfrm>
            <a:off x="8336997"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对比计划与实际：原计划</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周开发，实际用了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周半，主因是接口联调耗时超预期。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4" name="文本框 203"/>
          <p:cNvSpPr txBox="1"/>
          <p:nvPr/>
        </p:nvSpPr>
        <p:spPr>
          <a:xfrm>
            <a:off x="8336997"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对执行优秀的动作给予正向反馈（如团队内表扬、绩效加分），推动习惯养成。</a:t>
            </a:r>
          </a:p>
        </p:txBody>
      </p:sp>
      <p:sp>
        <p:nvSpPr>
          <p:cNvPr id="211" name="直角三角形 210"/>
          <p:cNvSpPr/>
          <p:nvPr/>
        </p:nvSpPr>
        <p:spPr>
          <a:xfrm flipH="1">
            <a:off x="227012" y="5920396"/>
            <a:ext cx="1315853" cy="728306"/>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0" name="图形 238"/>
          <p:cNvSpPr/>
          <p:nvPr/>
        </p:nvSpPr>
        <p:spPr>
          <a:xfrm rot="2086407" flipV="1">
            <a:off x="4773679" y="4684839"/>
            <a:ext cx="474380" cy="731856"/>
          </a:xfrm>
          <a:custGeom>
            <a:avLst/>
            <a:gdLst>
              <a:gd name="connsiteX0" fmla="*/ 1214438 w 1234797"/>
              <a:gd name="connsiteY0" fmla="*/ 1739741 h 1905000"/>
              <a:gd name="connsiteX1" fmla="*/ 1067395 w 1234797"/>
              <a:gd name="connsiteY1" fmla="*/ 1622584 h 1905000"/>
              <a:gd name="connsiteX2" fmla="*/ 1185744 w 1234797"/>
              <a:gd name="connsiteY2" fmla="*/ 1405652 h 1905000"/>
              <a:gd name="connsiteX3" fmla="*/ 1234797 w 1234797"/>
              <a:gd name="connsiteY3" fmla="*/ 1035963 h 1905000"/>
              <a:gd name="connsiteX4" fmla="*/ 1134070 w 1234797"/>
              <a:gd name="connsiteY4" fmla="*/ 713423 h 1905000"/>
              <a:gd name="connsiteX5" fmla="*/ 892493 w 1234797"/>
              <a:gd name="connsiteY5" fmla="*/ 517327 h 1905000"/>
              <a:gd name="connsiteX6" fmla="*/ 811054 w 1234797"/>
              <a:gd name="connsiteY6" fmla="*/ 488275 h 1905000"/>
              <a:gd name="connsiteX7" fmla="*/ 752118 w 1234797"/>
              <a:gd name="connsiteY7" fmla="*/ 412075 h 1905000"/>
              <a:gd name="connsiteX8" fmla="*/ 26194 w 1234797"/>
              <a:gd name="connsiteY8" fmla="*/ 0 h 1905000"/>
              <a:gd name="connsiteX9" fmla="*/ 0 w 1234797"/>
              <a:gd name="connsiteY9" fmla="*/ 73343 h 1905000"/>
              <a:gd name="connsiteX10" fmla="*/ 694134 w 1234797"/>
              <a:gd name="connsiteY10" fmla="*/ 464225 h 1905000"/>
              <a:gd name="connsiteX11" fmla="*/ 699373 w 1234797"/>
              <a:gd name="connsiteY11" fmla="*/ 470178 h 1905000"/>
              <a:gd name="connsiteX12" fmla="*/ 596741 w 1234797"/>
              <a:gd name="connsiteY12" fmla="*/ 475298 h 1905000"/>
              <a:gd name="connsiteX13" fmla="*/ 333256 w 1234797"/>
              <a:gd name="connsiteY13" fmla="*/ 618768 h 1905000"/>
              <a:gd name="connsiteX14" fmla="*/ 246578 w 1234797"/>
              <a:gd name="connsiteY14" fmla="*/ 885706 h 1905000"/>
              <a:gd name="connsiteX15" fmla="*/ 362783 w 1234797"/>
              <a:gd name="connsiteY15" fmla="*/ 1103828 h 1905000"/>
              <a:gd name="connsiteX16" fmla="*/ 596860 w 1234797"/>
              <a:gd name="connsiteY16" fmla="*/ 1153835 h 1905000"/>
              <a:gd name="connsiteX17" fmla="*/ 829032 w 1234797"/>
              <a:gd name="connsiteY17" fmla="*/ 922139 h 1905000"/>
              <a:gd name="connsiteX18" fmla="*/ 860584 w 1234797"/>
              <a:gd name="connsiteY18" fmla="*/ 588407 h 1905000"/>
              <a:gd name="connsiteX19" fmla="*/ 861179 w 1234797"/>
              <a:gd name="connsiteY19" fmla="*/ 588645 h 1905000"/>
              <a:gd name="connsiteX20" fmla="*/ 1070372 w 1234797"/>
              <a:gd name="connsiteY20" fmla="*/ 758309 h 1905000"/>
              <a:gd name="connsiteX21" fmla="*/ 1156811 w 1234797"/>
              <a:gd name="connsiteY21" fmla="*/ 1035963 h 1905000"/>
              <a:gd name="connsiteX22" fmla="*/ 1111925 w 1234797"/>
              <a:gd name="connsiteY22" fmla="*/ 1380411 h 1905000"/>
              <a:gd name="connsiteX23" fmla="*/ 1006316 w 1234797"/>
              <a:gd name="connsiteY23" fmla="*/ 1574125 h 1905000"/>
              <a:gd name="connsiteX24" fmla="*/ 861060 w 1234797"/>
              <a:gd name="connsiteY24" fmla="*/ 1458516 h 1905000"/>
              <a:gd name="connsiteX25" fmla="*/ 794385 w 1234797"/>
              <a:gd name="connsiteY25" fmla="*/ 1905000 h 1905000"/>
              <a:gd name="connsiteX26" fmla="*/ 1214676 w 1234797"/>
              <a:gd name="connsiteY26" fmla="*/ 1739741 h 1905000"/>
              <a:gd name="connsiteX27" fmla="*/ 608648 w 1234797"/>
              <a:gd name="connsiteY27" fmla="*/ 552212 h 1905000"/>
              <a:gd name="connsiteX28" fmla="*/ 760452 w 1234797"/>
              <a:gd name="connsiteY28" fmla="*/ 556260 h 1905000"/>
              <a:gd name="connsiteX29" fmla="*/ 759500 w 1234797"/>
              <a:gd name="connsiteY29" fmla="*/ 887373 h 1905000"/>
              <a:gd name="connsiteX30" fmla="*/ 574000 w 1234797"/>
              <a:gd name="connsiteY30" fmla="*/ 1079421 h 1905000"/>
              <a:gd name="connsiteX31" fmla="*/ 412432 w 1234797"/>
              <a:gd name="connsiteY31" fmla="*/ 1043702 h 1905000"/>
              <a:gd name="connsiteX32" fmla="*/ 324088 w 1234797"/>
              <a:gd name="connsiteY32" fmla="*/ 877014 h 1905000"/>
              <a:gd name="connsiteX33" fmla="*/ 392073 w 1234797"/>
              <a:gd name="connsiteY33" fmla="*/ 669846 h 1905000"/>
              <a:gd name="connsiteX34" fmla="*/ 608648 w 1234797"/>
              <a:gd name="connsiteY34" fmla="*/ 55221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34797" h="1905000">
                <a:moveTo>
                  <a:pt x="1214438" y="1739741"/>
                </a:moveTo>
                <a:lnTo>
                  <a:pt x="1067395" y="1622584"/>
                </a:lnTo>
                <a:cubicBezTo>
                  <a:pt x="1122879" y="1546384"/>
                  <a:pt x="1162328" y="1474073"/>
                  <a:pt x="1185744" y="1405652"/>
                </a:cubicBezTo>
                <a:cubicBezTo>
                  <a:pt x="1218446" y="1310084"/>
                  <a:pt x="1234797" y="1186855"/>
                  <a:pt x="1234797" y="1035963"/>
                </a:cubicBezTo>
                <a:cubicBezTo>
                  <a:pt x="1234797" y="916107"/>
                  <a:pt x="1201222" y="808593"/>
                  <a:pt x="1134070" y="713423"/>
                </a:cubicBezTo>
                <a:cubicBezTo>
                  <a:pt x="1072714" y="626348"/>
                  <a:pt x="992188" y="560983"/>
                  <a:pt x="892493" y="517327"/>
                </a:cubicBezTo>
                <a:cubicBezTo>
                  <a:pt x="865346" y="505420"/>
                  <a:pt x="838200" y="495737"/>
                  <a:pt x="811054" y="488275"/>
                </a:cubicBezTo>
                <a:cubicBezTo>
                  <a:pt x="794385" y="462637"/>
                  <a:pt x="774740" y="437237"/>
                  <a:pt x="752118" y="412075"/>
                </a:cubicBezTo>
                <a:cubicBezTo>
                  <a:pt x="617577" y="262533"/>
                  <a:pt x="375602" y="125174"/>
                  <a:pt x="26194" y="0"/>
                </a:cubicBezTo>
                <a:lnTo>
                  <a:pt x="0" y="73343"/>
                </a:lnTo>
                <a:cubicBezTo>
                  <a:pt x="336947" y="194072"/>
                  <a:pt x="568325" y="324366"/>
                  <a:pt x="694134" y="464225"/>
                </a:cubicBezTo>
                <a:lnTo>
                  <a:pt x="699373" y="470178"/>
                </a:lnTo>
                <a:cubicBezTo>
                  <a:pt x="665242" y="468352"/>
                  <a:pt x="631031" y="470059"/>
                  <a:pt x="596741" y="475298"/>
                </a:cubicBezTo>
                <a:cubicBezTo>
                  <a:pt x="490299" y="491490"/>
                  <a:pt x="402471" y="539313"/>
                  <a:pt x="333256" y="618768"/>
                </a:cubicBezTo>
                <a:cubicBezTo>
                  <a:pt x="264200" y="698063"/>
                  <a:pt x="235307" y="787043"/>
                  <a:pt x="246578" y="885706"/>
                </a:cubicBezTo>
                <a:cubicBezTo>
                  <a:pt x="256897" y="975717"/>
                  <a:pt x="295632" y="1048425"/>
                  <a:pt x="362783" y="1103828"/>
                </a:cubicBezTo>
                <a:cubicBezTo>
                  <a:pt x="434777" y="1163122"/>
                  <a:pt x="512802" y="1179790"/>
                  <a:pt x="596860" y="1153835"/>
                </a:cubicBezTo>
                <a:cubicBezTo>
                  <a:pt x="688935" y="1125498"/>
                  <a:pt x="766326" y="1048266"/>
                  <a:pt x="829032" y="922139"/>
                </a:cubicBezTo>
                <a:cubicBezTo>
                  <a:pt x="886897" y="805934"/>
                  <a:pt x="897414" y="694690"/>
                  <a:pt x="860584" y="588407"/>
                </a:cubicBezTo>
                <a:lnTo>
                  <a:pt x="861179" y="588645"/>
                </a:lnTo>
                <a:cubicBezTo>
                  <a:pt x="947618" y="626507"/>
                  <a:pt x="1017349" y="683062"/>
                  <a:pt x="1070372" y="758309"/>
                </a:cubicBezTo>
                <a:cubicBezTo>
                  <a:pt x="1127998" y="840065"/>
                  <a:pt x="1156811" y="932617"/>
                  <a:pt x="1156811" y="1035963"/>
                </a:cubicBezTo>
                <a:cubicBezTo>
                  <a:pt x="1156811" y="1178203"/>
                  <a:pt x="1141849" y="1293019"/>
                  <a:pt x="1111925" y="1380411"/>
                </a:cubicBezTo>
                <a:cubicBezTo>
                  <a:pt x="1091287" y="1440656"/>
                  <a:pt x="1056084" y="1505228"/>
                  <a:pt x="1006316" y="1574125"/>
                </a:cubicBezTo>
                <a:lnTo>
                  <a:pt x="861060" y="1458516"/>
                </a:lnTo>
                <a:lnTo>
                  <a:pt x="794385" y="1905000"/>
                </a:lnTo>
                <a:lnTo>
                  <a:pt x="1214676" y="1739741"/>
                </a:lnTo>
                <a:close/>
                <a:moveTo>
                  <a:pt x="608648" y="552212"/>
                </a:moveTo>
                <a:cubicBezTo>
                  <a:pt x="659130" y="544513"/>
                  <a:pt x="709732" y="545862"/>
                  <a:pt x="760452" y="556260"/>
                </a:cubicBezTo>
                <a:cubicBezTo>
                  <a:pt x="817602" y="661035"/>
                  <a:pt x="817285" y="771406"/>
                  <a:pt x="759500" y="887373"/>
                </a:cubicBezTo>
                <a:cubicBezTo>
                  <a:pt x="706636" y="993577"/>
                  <a:pt x="644803" y="1057593"/>
                  <a:pt x="574000" y="1079421"/>
                </a:cubicBezTo>
                <a:cubicBezTo>
                  <a:pt x="516612" y="1097121"/>
                  <a:pt x="462756" y="1085215"/>
                  <a:pt x="412432" y="1043702"/>
                </a:cubicBezTo>
                <a:cubicBezTo>
                  <a:pt x="361394" y="1001633"/>
                  <a:pt x="331946" y="946071"/>
                  <a:pt x="324088" y="877014"/>
                </a:cubicBezTo>
                <a:cubicBezTo>
                  <a:pt x="315357" y="800973"/>
                  <a:pt x="338018" y="731917"/>
                  <a:pt x="392073" y="669846"/>
                </a:cubicBezTo>
                <a:cubicBezTo>
                  <a:pt x="448747" y="604758"/>
                  <a:pt x="520938" y="565547"/>
                  <a:pt x="608648" y="552212"/>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241" name="图形 238"/>
          <p:cNvSpPr/>
          <p:nvPr/>
        </p:nvSpPr>
        <p:spPr>
          <a:xfrm rot="2086407" flipV="1">
            <a:off x="8125220" y="4364722"/>
            <a:ext cx="408323" cy="629946"/>
          </a:xfrm>
          <a:custGeom>
            <a:avLst/>
            <a:gdLst>
              <a:gd name="connsiteX0" fmla="*/ 1214438 w 1234797"/>
              <a:gd name="connsiteY0" fmla="*/ 1739741 h 1905000"/>
              <a:gd name="connsiteX1" fmla="*/ 1067395 w 1234797"/>
              <a:gd name="connsiteY1" fmla="*/ 1622584 h 1905000"/>
              <a:gd name="connsiteX2" fmla="*/ 1185744 w 1234797"/>
              <a:gd name="connsiteY2" fmla="*/ 1405652 h 1905000"/>
              <a:gd name="connsiteX3" fmla="*/ 1234797 w 1234797"/>
              <a:gd name="connsiteY3" fmla="*/ 1035963 h 1905000"/>
              <a:gd name="connsiteX4" fmla="*/ 1134070 w 1234797"/>
              <a:gd name="connsiteY4" fmla="*/ 713423 h 1905000"/>
              <a:gd name="connsiteX5" fmla="*/ 892493 w 1234797"/>
              <a:gd name="connsiteY5" fmla="*/ 517327 h 1905000"/>
              <a:gd name="connsiteX6" fmla="*/ 811054 w 1234797"/>
              <a:gd name="connsiteY6" fmla="*/ 488275 h 1905000"/>
              <a:gd name="connsiteX7" fmla="*/ 752118 w 1234797"/>
              <a:gd name="connsiteY7" fmla="*/ 412075 h 1905000"/>
              <a:gd name="connsiteX8" fmla="*/ 26194 w 1234797"/>
              <a:gd name="connsiteY8" fmla="*/ 0 h 1905000"/>
              <a:gd name="connsiteX9" fmla="*/ 0 w 1234797"/>
              <a:gd name="connsiteY9" fmla="*/ 73343 h 1905000"/>
              <a:gd name="connsiteX10" fmla="*/ 694134 w 1234797"/>
              <a:gd name="connsiteY10" fmla="*/ 464225 h 1905000"/>
              <a:gd name="connsiteX11" fmla="*/ 699373 w 1234797"/>
              <a:gd name="connsiteY11" fmla="*/ 470178 h 1905000"/>
              <a:gd name="connsiteX12" fmla="*/ 596741 w 1234797"/>
              <a:gd name="connsiteY12" fmla="*/ 475298 h 1905000"/>
              <a:gd name="connsiteX13" fmla="*/ 333256 w 1234797"/>
              <a:gd name="connsiteY13" fmla="*/ 618768 h 1905000"/>
              <a:gd name="connsiteX14" fmla="*/ 246578 w 1234797"/>
              <a:gd name="connsiteY14" fmla="*/ 885706 h 1905000"/>
              <a:gd name="connsiteX15" fmla="*/ 362783 w 1234797"/>
              <a:gd name="connsiteY15" fmla="*/ 1103828 h 1905000"/>
              <a:gd name="connsiteX16" fmla="*/ 596860 w 1234797"/>
              <a:gd name="connsiteY16" fmla="*/ 1153835 h 1905000"/>
              <a:gd name="connsiteX17" fmla="*/ 829032 w 1234797"/>
              <a:gd name="connsiteY17" fmla="*/ 922139 h 1905000"/>
              <a:gd name="connsiteX18" fmla="*/ 860584 w 1234797"/>
              <a:gd name="connsiteY18" fmla="*/ 588407 h 1905000"/>
              <a:gd name="connsiteX19" fmla="*/ 861179 w 1234797"/>
              <a:gd name="connsiteY19" fmla="*/ 588645 h 1905000"/>
              <a:gd name="connsiteX20" fmla="*/ 1070372 w 1234797"/>
              <a:gd name="connsiteY20" fmla="*/ 758309 h 1905000"/>
              <a:gd name="connsiteX21" fmla="*/ 1156811 w 1234797"/>
              <a:gd name="connsiteY21" fmla="*/ 1035963 h 1905000"/>
              <a:gd name="connsiteX22" fmla="*/ 1111925 w 1234797"/>
              <a:gd name="connsiteY22" fmla="*/ 1380411 h 1905000"/>
              <a:gd name="connsiteX23" fmla="*/ 1006316 w 1234797"/>
              <a:gd name="connsiteY23" fmla="*/ 1574125 h 1905000"/>
              <a:gd name="connsiteX24" fmla="*/ 861060 w 1234797"/>
              <a:gd name="connsiteY24" fmla="*/ 1458516 h 1905000"/>
              <a:gd name="connsiteX25" fmla="*/ 794385 w 1234797"/>
              <a:gd name="connsiteY25" fmla="*/ 1905000 h 1905000"/>
              <a:gd name="connsiteX26" fmla="*/ 1214676 w 1234797"/>
              <a:gd name="connsiteY26" fmla="*/ 1739741 h 1905000"/>
              <a:gd name="connsiteX27" fmla="*/ 608648 w 1234797"/>
              <a:gd name="connsiteY27" fmla="*/ 552212 h 1905000"/>
              <a:gd name="connsiteX28" fmla="*/ 760452 w 1234797"/>
              <a:gd name="connsiteY28" fmla="*/ 556260 h 1905000"/>
              <a:gd name="connsiteX29" fmla="*/ 759500 w 1234797"/>
              <a:gd name="connsiteY29" fmla="*/ 887373 h 1905000"/>
              <a:gd name="connsiteX30" fmla="*/ 574000 w 1234797"/>
              <a:gd name="connsiteY30" fmla="*/ 1079421 h 1905000"/>
              <a:gd name="connsiteX31" fmla="*/ 412432 w 1234797"/>
              <a:gd name="connsiteY31" fmla="*/ 1043702 h 1905000"/>
              <a:gd name="connsiteX32" fmla="*/ 324088 w 1234797"/>
              <a:gd name="connsiteY32" fmla="*/ 877014 h 1905000"/>
              <a:gd name="connsiteX33" fmla="*/ 392073 w 1234797"/>
              <a:gd name="connsiteY33" fmla="*/ 669846 h 1905000"/>
              <a:gd name="connsiteX34" fmla="*/ 608648 w 1234797"/>
              <a:gd name="connsiteY34" fmla="*/ 55221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34797" h="1905000">
                <a:moveTo>
                  <a:pt x="1214438" y="1739741"/>
                </a:moveTo>
                <a:lnTo>
                  <a:pt x="1067395" y="1622584"/>
                </a:lnTo>
                <a:cubicBezTo>
                  <a:pt x="1122879" y="1546384"/>
                  <a:pt x="1162328" y="1474073"/>
                  <a:pt x="1185744" y="1405652"/>
                </a:cubicBezTo>
                <a:cubicBezTo>
                  <a:pt x="1218446" y="1310084"/>
                  <a:pt x="1234797" y="1186855"/>
                  <a:pt x="1234797" y="1035963"/>
                </a:cubicBezTo>
                <a:cubicBezTo>
                  <a:pt x="1234797" y="916107"/>
                  <a:pt x="1201222" y="808593"/>
                  <a:pt x="1134070" y="713423"/>
                </a:cubicBezTo>
                <a:cubicBezTo>
                  <a:pt x="1072714" y="626348"/>
                  <a:pt x="992188" y="560983"/>
                  <a:pt x="892493" y="517327"/>
                </a:cubicBezTo>
                <a:cubicBezTo>
                  <a:pt x="865346" y="505420"/>
                  <a:pt x="838200" y="495737"/>
                  <a:pt x="811054" y="488275"/>
                </a:cubicBezTo>
                <a:cubicBezTo>
                  <a:pt x="794385" y="462637"/>
                  <a:pt x="774740" y="437237"/>
                  <a:pt x="752118" y="412075"/>
                </a:cubicBezTo>
                <a:cubicBezTo>
                  <a:pt x="617577" y="262533"/>
                  <a:pt x="375602" y="125174"/>
                  <a:pt x="26194" y="0"/>
                </a:cubicBezTo>
                <a:lnTo>
                  <a:pt x="0" y="73343"/>
                </a:lnTo>
                <a:cubicBezTo>
                  <a:pt x="336947" y="194072"/>
                  <a:pt x="568325" y="324366"/>
                  <a:pt x="694134" y="464225"/>
                </a:cubicBezTo>
                <a:lnTo>
                  <a:pt x="699373" y="470178"/>
                </a:lnTo>
                <a:cubicBezTo>
                  <a:pt x="665242" y="468352"/>
                  <a:pt x="631031" y="470059"/>
                  <a:pt x="596741" y="475298"/>
                </a:cubicBezTo>
                <a:cubicBezTo>
                  <a:pt x="490299" y="491490"/>
                  <a:pt x="402471" y="539313"/>
                  <a:pt x="333256" y="618768"/>
                </a:cubicBezTo>
                <a:cubicBezTo>
                  <a:pt x="264200" y="698063"/>
                  <a:pt x="235307" y="787043"/>
                  <a:pt x="246578" y="885706"/>
                </a:cubicBezTo>
                <a:cubicBezTo>
                  <a:pt x="256897" y="975717"/>
                  <a:pt x="295632" y="1048425"/>
                  <a:pt x="362783" y="1103828"/>
                </a:cubicBezTo>
                <a:cubicBezTo>
                  <a:pt x="434777" y="1163122"/>
                  <a:pt x="512802" y="1179790"/>
                  <a:pt x="596860" y="1153835"/>
                </a:cubicBezTo>
                <a:cubicBezTo>
                  <a:pt x="688935" y="1125498"/>
                  <a:pt x="766326" y="1048266"/>
                  <a:pt x="829032" y="922139"/>
                </a:cubicBezTo>
                <a:cubicBezTo>
                  <a:pt x="886897" y="805934"/>
                  <a:pt x="897414" y="694690"/>
                  <a:pt x="860584" y="588407"/>
                </a:cubicBezTo>
                <a:lnTo>
                  <a:pt x="861179" y="588645"/>
                </a:lnTo>
                <a:cubicBezTo>
                  <a:pt x="947618" y="626507"/>
                  <a:pt x="1017349" y="683062"/>
                  <a:pt x="1070372" y="758309"/>
                </a:cubicBezTo>
                <a:cubicBezTo>
                  <a:pt x="1127998" y="840065"/>
                  <a:pt x="1156811" y="932617"/>
                  <a:pt x="1156811" y="1035963"/>
                </a:cubicBezTo>
                <a:cubicBezTo>
                  <a:pt x="1156811" y="1178203"/>
                  <a:pt x="1141849" y="1293019"/>
                  <a:pt x="1111925" y="1380411"/>
                </a:cubicBezTo>
                <a:cubicBezTo>
                  <a:pt x="1091287" y="1440656"/>
                  <a:pt x="1056084" y="1505228"/>
                  <a:pt x="1006316" y="1574125"/>
                </a:cubicBezTo>
                <a:lnTo>
                  <a:pt x="861060" y="1458516"/>
                </a:lnTo>
                <a:lnTo>
                  <a:pt x="794385" y="1905000"/>
                </a:lnTo>
                <a:lnTo>
                  <a:pt x="1214676" y="1739741"/>
                </a:lnTo>
                <a:close/>
                <a:moveTo>
                  <a:pt x="608648" y="552212"/>
                </a:moveTo>
                <a:cubicBezTo>
                  <a:pt x="659130" y="544513"/>
                  <a:pt x="709732" y="545862"/>
                  <a:pt x="760452" y="556260"/>
                </a:cubicBezTo>
                <a:cubicBezTo>
                  <a:pt x="817602" y="661035"/>
                  <a:pt x="817285" y="771406"/>
                  <a:pt x="759500" y="887373"/>
                </a:cubicBezTo>
                <a:cubicBezTo>
                  <a:pt x="706636" y="993577"/>
                  <a:pt x="644803" y="1057593"/>
                  <a:pt x="574000" y="1079421"/>
                </a:cubicBezTo>
                <a:cubicBezTo>
                  <a:pt x="516612" y="1097121"/>
                  <a:pt x="462756" y="1085215"/>
                  <a:pt x="412432" y="1043702"/>
                </a:cubicBezTo>
                <a:cubicBezTo>
                  <a:pt x="361394" y="1001633"/>
                  <a:pt x="331946" y="946071"/>
                  <a:pt x="324088" y="877014"/>
                </a:cubicBezTo>
                <a:cubicBezTo>
                  <a:pt x="315357" y="800973"/>
                  <a:pt x="338018" y="731917"/>
                  <a:pt x="392073" y="669846"/>
                </a:cubicBezTo>
                <a:cubicBezTo>
                  <a:pt x="448747" y="604758"/>
                  <a:pt x="520938" y="565547"/>
                  <a:pt x="608648" y="552212"/>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个人成长规划</a:t>
            </a:r>
          </a:p>
        </p:txBody>
      </p:sp>
      <p:sp>
        <p:nvSpPr>
          <p:cNvPr id="7" name="矩形 6"/>
          <p:cNvSpPr/>
          <p:nvPr/>
        </p:nvSpPr>
        <p:spPr>
          <a:xfrm>
            <a:off x="155575" y="3698336"/>
            <a:ext cx="2261610" cy="2983719"/>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矩形: 圆角 7"/>
          <p:cNvSpPr/>
          <p:nvPr/>
        </p:nvSpPr>
        <p:spPr>
          <a:xfrm>
            <a:off x="155575"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矩形 8"/>
          <p:cNvSpPr/>
          <p:nvPr/>
        </p:nvSpPr>
        <p:spPr>
          <a:xfrm>
            <a:off x="2551258" y="3147370"/>
            <a:ext cx="2261610" cy="3534685"/>
          </a:xfrm>
          <a:prstGeom prst="rect">
            <a:avLst/>
          </a:prstGeom>
          <a:gradFill flip="none" rotWithShape="1">
            <a:gsLst>
              <a:gs pos="21000">
                <a:schemeClr val="accent6">
                  <a:alpha val="0"/>
                </a:schemeClr>
              </a:gs>
              <a:gs pos="100000">
                <a:schemeClr val="accent6"/>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矩形: 圆角 9"/>
          <p:cNvSpPr/>
          <p:nvPr/>
        </p:nvSpPr>
        <p:spPr>
          <a:xfrm>
            <a:off x="2551258"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矩形 10"/>
          <p:cNvSpPr/>
          <p:nvPr/>
        </p:nvSpPr>
        <p:spPr>
          <a:xfrm>
            <a:off x="4946940" y="2416394"/>
            <a:ext cx="2261610" cy="4265661"/>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矩形: 圆角 11"/>
          <p:cNvSpPr/>
          <p:nvPr/>
        </p:nvSpPr>
        <p:spPr>
          <a:xfrm>
            <a:off x="4946940"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矩形 12"/>
          <p:cNvSpPr/>
          <p:nvPr/>
        </p:nvSpPr>
        <p:spPr>
          <a:xfrm>
            <a:off x="7342623" y="1864227"/>
            <a:ext cx="2261610" cy="4817828"/>
          </a:xfrm>
          <a:prstGeom prst="rect">
            <a:avLst/>
          </a:prstGeom>
          <a:gradFill flip="none" rotWithShape="1">
            <a:gsLst>
              <a:gs pos="21000">
                <a:schemeClr val="accent6">
                  <a:alpha val="0"/>
                </a:schemeClr>
              </a:gs>
              <a:gs pos="100000">
                <a:schemeClr val="accent6"/>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矩形: 圆角 15"/>
          <p:cNvSpPr/>
          <p:nvPr/>
        </p:nvSpPr>
        <p:spPr>
          <a:xfrm>
            <a:off x="7342623"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矩形 16"/>
          <p:cNvSpPr/>
          <p:nvPr/>
        </p:nvSpPr>
        <p:spPr>
          <a:xfrm>
            <a:off x="9738303" y="1080553"/>
            <a:ext cx="2261610" cy="5601502"/>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矩形: 圆角 20"/>
          <p:cNvSpPr/>
          <p:nvPr/>
        </p:nvSpPr>
        <p:spPr>
          <a:xfrm>
            <a:off x="9738303"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任意多边形: 形状 23"/>
          <p:cNvSpPr/>
          <p:nvPr/>
        </p:nvSpPr>
        <p:spPr>
          <a:xfrm>
            <a:off x="0" y="1308506"/>
            <a:ext cx="11999913" cy="3327124"/>
          </a:xfrm>
          <a:custGeom>
            <a:avLst/>
            <a:gdLst>
              <a:gd name="connsiteX0" fmla="*/ 11186676 w 11999913"/>
              <a:gd name="connsiteY0" fmla="*/ 0 h 3327124"/>
              <a:gd name="connsiteX1" fmla="*/ 11999913 w 11999913"/>
              <a:gd name="connsiteY1" fmla="*/ 14899 h 3327124"/>
              <a:gd name="connsiteX2" fmla="*/ 11324303 w 11999913"/>
              <a:gd name="connsiteY2" fmla="*/ 470951 h 3327124"/>
              <a:gd name="connsiteX3" fmla="*/ 11273483 w 11999913"/>
              <a:gd name="connsiteY3" fmla="*/ 297048 h 3327124"/>
              <a:gd name="connsiteX4" fmla="*/ 0 w 11999913"/>
              <a:gd name="connsiteY4" fmla="*/ 3327124 h 3327124"/>
              <a:gd name="connsiteX5" fmla="*/ 0 w 11999913"/>
              <a:gd name="connsiteY5" fmla="*/ 1988913 h 3327124"/>
              <a:gd name="connsiteX6" fmla="*/ 1 w 11999913"/>
              <a:gd name="connsiteY6" fmla="*/ 1988905 h 3327124"/>
              <a:gd name="connsiteX7" fmla="*/ 11229755 w 11999913"/>
              <a:gd name="connsiteY7" fmla="*/ 147414 h 3327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99913" h="3327124">
                <a:moveTo>
                  <a:pt x="11186676" y="0"/>
                </a:moveTo>
                <a:lnTo>
                  <a:pt x="11999913" y="14899"/>
                </a:lnTo>
                <a:lnTo>
                  <a:pt x="11324303" y="470951"/>
                </a:lnTo>
                <a:lnTo>
                  <a:pt x="11273483" y="297048"/>
                </a:lnTo>
                <a:lnTo>
                  <a:pt x="0" y="3327124"/>
                </a:lnTo>
                <a:lnTo>
                  <a:pt x="0" y="1988913"/>
                </a:lnTo>
                <a:lnTo>
                  <a:pt x="1" y="1988905"/>
                </a:lnTo>
                <a:lnTo>
                  <a:pt x="11229755" y="147414"/>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任意多边形: 形状 26"/>
          <p:cNvSpPr/>
          <p:nvPr/>
        </p:nvSpPr>
        <p:spPr>
          <a:xfrm>
            <a:off x="0" y="1357806"/>
            <a:ext cx="11907316" cy="2580633"/>
          </a:xfrm>
          <a:custGeom>
            <a:avLst/>
            <a:gdLst>
              <a:gd name="connsiteX0" fmla="*/ 0 w 12871048"/>
              <a:gd name="connsiteY0" fmla="*/ 2789499 h 2789499"/>
              <a:gd name="connsiteX1" fmla="*/ 12871048 w 12871048"/>
              <a:gd name="connsiteY1" fmla="*/ 0 h 2789499"/>
            </a:gdLst>
            <a:ahLst/>
            <a:cxnLst>
              <a:cxn ang="0">
                <a:pos x="connsiteX0" y="connsiteY0"/>
              </a:cxn>
              <a:cxn ang="0">
                <a:pos x="connsiteX1" y="connsiteY1"/>
              </a:cxn>
            </a:cxnLst>
            <a:rect l="l" t="t" r="r" b="b"/>
            <a:pathLst>
              <a:path w="12871048" h="2789499">
                <a:moveTo>
                  <a:pt x="0" y="2789499"/>
                </a:moveTo>
                <a:lnTo>
                  <a:pt x="12871048" y="0"/>
                </a:lnTo>
              </a:path>
            </a:pathLst>
          </a:custGeom>
          <a:noFill/>
          <a:ln cap="rnd">
            <a:solidFill>
              <a:schemeClr val="bg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0" name="图形 5"/>
          <p:cNvGrpSpPr/>
          <p:nvPr/>
        </p:nvGrpSpPr>
        <p:grpSpPr>
          <a:xfrm>
            <a:off x="777819" y="1327168"/>
            <a:ext cx="1061718" cy="1820753"/>
            <a:chOff x="5740607" y="2819828"/>
            <a:chExt cx="710896" cy="1219124"/>
          </a:xfrm>
          <a:solidFill>
            <a:schemeClr val="accent4"/>
          </a:solidFill>
        </p:grpSpPr>
        <p:sp>
          <p:nvSpPr>
            <p:cNvPr id="57" name="任意多边形: 形状 56"/>
            <p:cNvSpPr/>
            <p:nvPr/>
          </p:nvSpPr>
          <p:spPr>
            <a:xfrm>
              <a:off x="6155721" y="2819828"/>
              <a:ext cx="247650" cy="247650"/>
            </a:xfrm>
            <a:custGeom>
              <a:avLst/>
              <a:gdLst>
                <a:gd name="connsiteX0" fmla="*/ 123825 w 247650"/>
                <a:gd name="connsiteY0" fmla="*/ 247650 h 247650"/>
                <a:gd name="connsiteX1" fmla="*/ 247650 w 247650"/>
                <a:gd name="connsiteY1" fmla="*/ 123825 h 247650"/>
                <a:gd name="connsiteX2" fmla="*/ 123825 w 247650"/>
                <a:gd name="connsiteY2" fmla="*/ 0 h 247650"/>
                <a:gd name="connsiteX3" fmla="*/ 0 w 247650"/>
                <a:gd name="connsiteY3" fmla="*/ 123587 h 247650"/>
                <a:gd name="connsiteX4" fmla="*/ 123587 w 247650"/>
                <a:gd name="connsiteY4" fmla="*/ 247650 h 247650"/>
                <a:gd name="connsiteX5" fmla="*/ 123825 w 247650"/>
                <a:gd name="connsiteY5" fmla="*/ 2476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650" h="247650">
                  <a:moveTo>
                    <a:pt x="123825" y="247650"/>
                  </a:moveTo>
                  <a:cubicBezTo>
                    <a:pt x="192212" y="247650"/>
                    <a:pt x="247650" y="192211"/>
                    <a:pt x="247650" y="123825"/>
                  </a:cubicBezTo>
                  <a:cubicBezTo>
                    <a:pt x="247650" y="55438"/>
                    <a:pt x="192211" y="0"/>
                    <a:pt x="123825" y="0"/>
                  </a:cubicBezTo>
                  <a:cubicBezTo>
                    <a:pt x="55531" y="0"/>
                    <a:pt x="132" y="55293"/>
                    <a:pt x="0" y="123587"/>
                  </a:cubicBezTo>
                  <a:cubicBezTo>
                    <a:pt x="-131" y="191973"/>
                    <a:pt x="55200" y="247518"/>
                    <a:pt x="123587" y="247650"/>
                  </a:cubicBezTo>
                  <a:cubicBezTo>
                    <a:pt x="123666" y="247650"/>
                    <a:pt x="123746" y="247650"/>
                    <a:pt x="123825" y="247650"/>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6112746" y="3116344"/>
              <a:ext cx="148666" cy="479249"/>
            </a:xfrm>
            <a:custGeom>
              <a:avLst/>
              <a:gdLst>
                <a:gd name="connsiteX0" fmla="*/ 111365 w 148666"/>
                <a:gd name="connsiteY0" fmla="*/ 1950 h 479249"/>
                <a:gd name="connsiteX1" fmla="*/ 48119 w 148666"/>
                <a:gd name="connsiteY1" fmla="*/ 37240 h 479249"/>
                <a:gd name="connsiteX2" fmla="*/ 1780 w 148666"/>
                <a:gd name="connsiteY2" fmla="*/ 200737 h 479249"/>
                <a:gd name="connsiteX3" fmla="*/ 875 w 148666"/>
                <a:gd name="connsiteY3" fmla="*/ 222835 h 479249"/>
                <a:gd name="connsiteX4" fmla="*/ 44119 w 148666"/>
                <a:gd name="connsiteY4" fmla="*/ 442958 h 479249"/>
                <a:gd name="connsiteX5" fmla="*/ 96906 w 148666"/>
                <a:gd name="connsiteY5" fmla="*/ 478396 h 479249"/>
                <a:gd name="connsiteX6" fmla="*/ 96935 w 148666"/>
                <a:gd name="connsiteY6" fmla="*/ 478391 h 479249"/>
                <a:gd name="connsiteX7" fmla="*/ 109222 w 148666"/>
                <a:gd name="connsiteY7" fmla="*/ 475962 h 479249"/>
                <a:gd name="connsiteX8" fmla="*/ 144703 w 148666"/>
                <a:gd name="connsiteY8" fmla="*/ 423146 h 479249"/>
                <a:gd name="connsiteX9" fmla="*/ 104936 w 148666"/>
                <a:gd name="connsiteY9" fmla="*/ 220692 h 479249"/>
                <a:gd name="connsiteX10" fmla="*/ 105222 w 148666"/>
                <a:gd name="connsiteY10" fmla="*/ 211786 h 479249"/>
                <a:gd name="connsiteX11" fmla="*/ 146846 w 148666"/>
                <a:gd name="connsiteY11" fmla="*/ 65006 h 479249"/>
                <a:gd name="connsiteX12" fmla="*/ 111365 w 148666"/>
                <a:gd name="connsiteY12" fmla="*/ 1950 h 47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8666" h="479249">
                  <a:moveTo>
                    <a:pt x="111365" y="1950"/>
                  </a:moveTo>
                  <a:cubicBezTo>
                    <a:pt x="84157" y="-5751"/>
                    <a:pt x="55854" y="10042"/>
                    <a:pt x="48119" y="37240"/>
                  </a:cubicBezTo>
                  <a:lnTo>
                    <a:pt x="1780" y="200737"/>
                  </a:lnTo>
                  <a:cubicBezTo>
                    <a:pt x="-234" y="207933"/>
                    <a:pt x="-544" y="215499"/>
                    <a:pt x="875" y="222835"/>
                  </a:cubicBezTo>
                  <a:lnTo>
                    <a:pt x="44119" y="442958"/>
                  </a:lnTo>
                  <a:cubicBezTo>
                    <a:pt x="48909" y="467321"/>
                    <a:pt x="72543" y="483187"/>
                    <a:pt x="96906" y="478396"/>
                  </a:cubicBezTo>
                  <a:cubicBezTo>
                    <a:pt x="96916" y="478394"/>
                    <a:pt x="96925" y="478392"/>
                    <a:pt x="96935" y="478391"/>
                  </a:cubicBezTo>
                  <a:lnTo>
                    <a:pt x="109222" y="475962"/>
                  </a:lnTo>
                  <a:cubicBezTo>
                    <a:pt x="133600" y="471167"/>
                    <a:pt x="149481" y="447526"/>
                    <a:pt x="144703" y="423146"/>
                  </a:cubicBezTo>
                  <a:lnTo>
                    <a:pt x="104936" y="220692"/>
                  </a:lnTo>
                  <a:cubicBezTo>
                    <a:pt x="104340" y="217741"/>
                    <a:pt x="104438" y="214692"/>
                    <a:pt x="105222" y="211786"/>
                  </a:cubicBezTo>
                  <a:lnTo>
                    <a:pt x="146846" y="65006"/>
                  </a:lnTo>
                  <a:cubicBezTo>
                    <a:pt x="154244" y="37822"/>
                    <a:pt x="138440" y="9736"/>
                    <a:pt x="111365" y="1950"/>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6021549" y="3087329"/>
              <a:ext cx="429954" cy="886522"/>
            </a:xfrm>
            <a:custGeom>
              <a:avLst/>
              <a:gdLst>
                <a:gd name="connsiteX0" fmla="*/ 391681 w 429954"/>
                <a:gd name="connsiteY0" fmla="*/ 524026 h 886522"/>
                <a:gd name="connsiteX1" fmla="*/ 241138 w 429954"/>
                <a:gd name="connsiteY1" fmla="*/ 412250 h 886522"/>
                <a:gd name="connsiteX2" fmla="*/ 243614 w 429954"/>
                <a:gd name="connsiteY2" fmla="*/ 404250 h 886522"/>
                <a:gd name="connsiteX3" fmla="*/ 311480 w 429954"/>
                <a:gd name="connsiteY3" fmla="*/ 143169 h 886522"/>
                <a:gd name="connsiteX4" fmla="*/ 234472 w 429954"/>
                <a:gd name="connsiteY4" fmla="*/ 11871 h 886522"/>
                <a:gd name="connsiteX5" fmla="*/ 234089 w 429954"/>
                <a:gd name="connsiteY5" fmla="*/ 11772 h 886522"/>
                <a:gd name="connsiteX6" fmla="*/ 203038 w 429954"/>
                <a:gd name="connsiteY6" fmla="*/ 3533 h 886522"/>
                <a:gd name="connsiteX7" fmla="*/ 71502 w 429954"/>
                <a:gd name="connsiteY7" fmla="*/ 80535 h 886522"/>
                <a:gd name="connsiteX8" fmla="*/ 71450 w 429954"/>
                <a:gd name="connsiteY8" fmla="*/ 80733 h 886522"/>
                <a:gd name="connsiteX9" fmla="*/ 3489 w 429954"/>
                <a:gd name="connsiteY9" fmla="*/ 342099 h 886522"/>
                <a:gd name="connsiteX10" fmla="*/ 78546 w 429954"/>
                <a:gd name="connsiteY10" fmla="*/ 473020 h 886522"/>
                <a:gd name="connsiteX11" fmla="*/ 258140 w 429954"/>
                <a:gd name="connsiteY11" fmla="*/ 607037 h 886522"/>
                <a:gd name="connsiteX12" fmla="*/ 258564 w 429954"/>
                <a:gd name="connsiteY12" fmla="*/ 609629 h 886522"/>
                <a:gd name="connsiteX13" fmla="*/ 258426 w 429954"/>
                <a:gd name="connsiteY13" fmla="*/ 609799 h 886522"/>
                <a:gd name="connsiteX14" fmla="*/ 118932 w 429954"/>
                <a:gd name="connsiteY14" fmla="*/ 766390 h 886522"/>
                <a:gd name="connsiteX15" fmla="*/ 127274 w 429954"/>
                <a:gd name="connsiteY15" fmla="*/ 869168 h 886522"/>
                <a:gd name="connsiteX16" fmla="*/ 227755 w 429954"/>
                <a:gd name="connsiteY16" fmla="*/ 863402 h 886522"/>
                <a:gd name="connsiteX17" fmla="*/ 405968 w 429954"/>
                <a:gd name="connsiteY17" fmla="*/ 663091 h 886522"/>
                <a:gd name="connsiteX18" fmla="*/ 398226 w 429954"/>
                <a:gd name="connsiteY18" fmla="*/ 529352 h 886522"/>
                <a:gd name="connsiteX19" fmla="*/ 391681 w 429954"/>
                <a:gd name="connsiteY19" fmla="*/ 524026 h 886522"/>
                <a:gd name="connsiteX20" fmla="*/ 202562 w 429954"/>
                <a:gd name="connsiteY20" fmla="*/ 517073 h 886522"/>
                <a:gd name="connsiteX21" fmla="*/ 190274 w 429954"/>
                <a:gd name="connsiteY21" fmla="*/ 519550 h 886522"/>
                <a:gd name="connsiteX22" fmla="*/ 179225 w 429954"/>
                <a:gd name="connsiteY22" fmla="*/ 520597 h 886522"/>
                <a:gd name="connsiteX23" fmla="*/ 123076 w 429954"/>
                <a:gd name="connsiteY23" fmla="*/ 474401 h 886522"/>
                <a:gd name="connsiteX24" fmla="*/ 79784 w 429954"/>
                <a:gd name="connsiteY24" fmla="*/ 254278 h 886522"/>
                <a:gd name="connsiteX25" fmla="*/ 80832 w 429954"/>
                <a:gd name="connsiteY25" fmla="*/ 226513 h 886522"/>
                <a:gd name="connsiteX26" fmla="*/ 127362 w 429954"/>
                <a:gd name="connsiteY26" fmla="*/ 63016 h 886522"/>
                <a:gd name="connsiteX27" fmla="*/ 188465 w 429954"/>
                <a:gd name="connsiteY27" fmla="*/ 16820 h 886522"/>
                <a:gd name="connsiteX28" fmla="*/ 205800 w 429954"/>
                <a:gd name="connsiteY28" fmla="*/ 19297 h 886522"/>
                <a:gd name="connsiteX29" fmla="*/ 249710 w 429954"/>
                <a:gd name="connsiteY29" fmla="*/ 97735 h 886522"/>
                <a:gd name="connsiteX30" fmla="*/ 208086 w 429954"/>
                <a:gd name="connsiteY30" fmla="*/ 244325 h 886522"/>
                <a:gd name="connsiteX31" fmla="*/ 208086 w 429954"/>
                <a:gd name="connsiteY31" fmla="*/ 247373 h 886522"/>
                <a:gd name="connsiteX32" fmla="*/ 247996 w 429954"/>
                <a:gd name="connsiteY32" fmla="*/ 449684 h 886522"/>
                <a:gd name="connsiteX33" fmla="*/ 202562 w 429954"/>
                <a:gd name="connsiteY33" fmla="*/ 517073 h 88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9954" h="886522">
                  <a:moveTo>
                    <a:pt x="391681" y="524026"/>
                  </a:moveTo>
                  <a:lnTo>
                    <a:pt x="241138" y="412250"/>
                  </a:lnTo>
                  <a:cubicBezTo>
                    <a:pt x="242135" y="409640"/>
                    <a:pt x="242962" y="406967"/>
                    <a:pt x="243614" y="404250"/>
                  </a:cubicBezTo>
                  <a:lnTo>
                    <a:pt x="311480" y="143169"/>
                  </a:lnTo>
                  <a:cubicBezTo>
                    <a:pt x="326472" y="85647"/>
                    <a:pt x="291994" y="26863"/>
                    <a:pt x="234472" y="11871"/>
                  </a:cubicBezTo>
                  <a:cubicBezTo>
                    <a:pt x="234345" y="11838"/>
                    <a:pt x="234217" y="11805"/>
                    <a:pt x="234089" y="11772"/>
                  </a:cubicBezTo>
                  <a:lnTo>
                    <a:pt x="203038" y="3533"/>
                  </a:lnTo>
                  <a:cubicBezTo>
                    <a:pt x="145452" y="-11527"/>
                    <a:pt x="86561" y="22948"/>
                    <a:pt x="71502" y="80535"/>
                  </a:cubicBezTo>
                  <a:cubicBezTo>
                    <a:pt x="71484" y="80601"/>
                    <a:pt x="71467" y="80667"/>
                    <a:pt x="71450" y="80733"/>
                  </a:cubicBezTo>
                  <a:lnTo>
                    <a:pt x="3489" y="342099"/>
                  </a:lnTo>
                  <a:cubicBezTo>
                    <a:pt x="-11262" y="398890"/>
                    <a:pt x="22084" y="457056"/>
                    <a:pt x="78546" y="473020"/>
                  </a:cubicBezTo>
                  <a:lnTo>
                    <a:pt x="258140" y="607037"/>
                  </a:lnTo>
                  <a:cubicBezTo>
                    <a:pt x="258973" y="607636"/>
                    <a:pt x="259163" y="608796"/>
                    <a:pt x="258564" y="609629"/>
                  </a:cubicBezTo>
                  <a:cubicBezTo>
                    <a:pt x="258521" y="609688"/>
                    <a:pt x="258475" y="609745"/>
                    <a:pt x="258426" y="609799"/>
                  </a:cubicBezTo>
                  <a:lnTo>
                    <a:pt x="118932" y="766390"/>
                  </a:lnTo>
                  <a:cubicBezTo>
                    <a:pt x="92854" y="797075"/>
                    <a:pt x="96589" y="843090"/>
                    <a:pt x="127274" y="869168"/>
                  </a:cubicBezTo>
                  <a:cubicBezTo>
                    <a:pt x="156936" y="894377"/>
                    <a:pt x="201171" y="891839"/>
                    <a:pt x="227755" y="863402"/>
                  </a:cubicBezTo>
                  <a:lnTo>
                    <a:pt x="405968" y="663091"/>
                  </a:lnTo>
                  <a:cubicBezTo>
                    <a:pt x="440761" y="624022"/>
                    <a:pt x="437295" y="564145"/>
                    <a:pt x="398226" y="529352"/>
                  </a:cubicBezTo>
                  <a:cubicBezTo>
                    <a:pt x="396124" y="527481"/>
                    <a:pt x="393940" y="525704"/>
                    <a:pt x="391681" y="524026"/>
                  </a:cubicBezTo>
                  <a:close/>
                  <a:moveTo>
                    <a:pt x="202562" y="517073"/>
                  </a:moveTo>
                  <a:lnTo>
                    <a:pt x="190274" y="519550"/>
                  </a:lnTo>
                  <a:cubicBezTo>
                    <a:pt x="186637" y="520278"/>
                    <a:pt x="182935" y="520629"/>
                    <a:pt x="179225" y="520597"/>
                  </a:cubicBezTo>
                  <a:cubicBezTo>
                    <a:pt x="151863" y="520626"/>
                    <a:pt x="128320" y="501256"/>
                    <a:pt x="123076" y="474401"/>
                  </a:cubicBezTo>
                  <a:lnTo>
                    <a:pt x="79784" y="254278"/>
                  </a:lnTo>
                  <a:cubicBezTo>
                    <a:pt x="77986" y="245066"/>
                    <a:pt x="78345" y="235563"/>
                    <a:pt x="80832" y="226513"/>
                  </a:cubicBezTo>
                  <a:lnTo>
                    <a:pt x="127362" y="63016"/>
                  </a:lnTo>
                  <a:cubicBezTo>
                    <a:pt x="135196" y="35747"/>
                    <a:pt x="160092" y="16924"/>
                    <a:pt x="188465" y="16820"/>
                  </a:cubicBezTo>
                  <a:cubicBezTo>
                    <a:pt x="194333" y="16791"/>
                    <a:pt x="200174" y="17625"/>
                    <a:pt x="205800" y="19297"/>
                  </a:cubicBezTo>
                  <a:cubicBezTo>
                    <a:pt x="239527" y="28905"/>
                    <a:pt x="259151" y="63960"/>
                    <a:pt x="249710" y="97735"/>
                  </a:cubicBezTo>
                  <a:lnTo>
                    <a:pt x="208086" y="244325"/>
                  </a:lnTo>
                  <a:cubicBezTo>
                    <a:pt x="207875" y="245330"/>
                    <a:pt x="207875" y="246368"/>
                    <a:pt x="208086" y="247373"/>
                  </a:cubicBezTo>
                  <a:lnTo>
                    <a:pt x="247996" y="449684"/>
                  </a:lnTo>
                  <a:cubicBezTo>
                    <a:pt x="253995" y="480826"/>
                    <a:pt x="233681" y="510956"/>
                    <a:pt x="202562" y="517073"/>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任意多边形: 形状 65"/>
            <p:cNvSpPr/>
            <p:nvPr/>
          </p:nvSpPr>
          <p:spPr>
            <a:xfrm>
              <a:off x="5740607" y="3538585"/>
              <a:ext cx="423019" cy="500367"/>
            </a:xfrm>
            <a:custGeom>
              <a:avLst/>
              <a:gdLst>
                <a:gd name="connsiteX0" fmla="*/ 353964 w 423019"/>
                <a:gd name="connsiteY0" fmla="*/ 32671 h 500367"/>
                <a:gd name="connsiteX1" fmla="*/ 301576 w 423019"/>
                <a:gd name="connsiteY1" fmla="*/ 0 h 500367"/>
                <a:gd name="connsiteX2" fmla="*/ 189991 w 423019"/>
                <a:gd name="connsiteY2" fmla="*/ 213836 h 500367"/>
                <a:gd name="connsiteX3" fmla="*/ 186324 w 423019"/>
                <a:gd name="connsiteY3" fmla="*/ 219027 h 500367"/>
                <a:gd name="connsiteX4" fmla="*/ 24399 w 423019"/>
                <a:gd name="connsiteY4" fmla="*/ 372237 h 500367"/>
                <a:gd name="connsiteX5" fmla="*/ 17826 w 423019"/>
                <a:gd name="connsiteY5" fmla="*/ 475679 h 500367"/>
                <a:gd name="connsiteX6" fmla="*/ 120739 w 423019"/>
                <a:gd name="connsiteY6" fmla="*/ 482141 h 500367"/>
                <a:gd name="connsiteX7" fmla="*/ 122601 w 423019"/>
                <a:gd name="connsiteY7" fmla="*/ 480441 h 500367"/>
                <a:gd name="connsiteX8" fmla="*/ 300528 w 423019"/>
                <a:gd name="connsiteY8" fmla="*/ 312325 h 500367"/>
                <a:gd name="connsiteX9" fmla="*/ 310053 w 423019"/>
                <a:gd name="connsiteY9" fmla="*/ 299895 h 500367"/>
                <a:gd name="connsiteX10" fmla="*/ 423020 w 423019"/>
                <a:gd name="connsiteY10" fmla="*/ 84058 h 500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019" h="500367">
                  <a:moveTo>
                    <a:pt x="353964" y="32671"/>
                  </a:moveTo>
                  <a:cubicBezTo>
                    <a:pt x="333932" y="26576"/>
                    <a:pt x="315862" y="15307"/>
                    <a:pt x="301576" y="0"/>
                  </a:cubicBezTo>
                  <a:lnTo>
                    <a:pt x="189991" y="213836"/>
                  </a:lnTo>
                  <a:cubicBezTo>
                    <a:pt x="189031" y="215738"/>
                    <a:pt x="187796" y="217488"/>
                    <a:pt x="186324" y="219027"/>
                  </a:cubicBezTo>
                  <a:lnTo>
                    <a:pt x="24399" y="372237"/>
                  </a:lnTo>
                  <a:cubicBezTo>
                    <a:pt x="-4605" y="399526"/>
                    <a:pt x="-8939" y="445913"/>
                    <a:pt x="17826" y="475679"/>
                  </a:cubicBezTo>
                  <a:cubicBezTo>
                    <a:pt x="44460" y="505882"/>
                    <a:pt x="90536" y="508775"/>
                    <a:pt x="120739" y="482141"/>
                  </a:cubicBezTo>
                  <a:cubicBezTo>
                    <a:pt x="121370" y="481585"/>
                    <a:pt x="121991" y="481018"/>
                    <a:pt x="122601" y="480441"/>
                  </a:cubicBezTo>
                  <a:lnTo>
                    <a:pt x="300528" y="312325"/>
                  </a:lnTo>
                  <a:cubicBezTo>
                    <a:pt x="304433" y="308795"/>
                    <a:pt x="307660" y="304583"/>
                    <a:pt x="310053" y="299895"/>
                  </a:cubicBezTo>
                  <a:lnTo>
                    <a:pt x="423020" y="8405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任意多边形: 形状 66"/>
            <p:cNvSpPr/>
            <p:nvPr/>
          </p:nvSpPr>
          <p:spPr>
            <a:xfrm>
              <a:off x="5875021" y="3197018"/>
              <a:ext cx="197737" cy="349614"/>
            </a:xfrm>
            <a:custGeom>
              <a:avLst/>
              <a:gdLst>
                <a:gd name="connsiteX0" fmla="*/ 138159 w 197737"/>
                <a:gd name="connsiteY0" fmla="*/ 229172 h 349614"/>
                <a:gd name="connsiteX1" fmla="*/ 197738 w 197737"/>
                <a:gd name="connsiteY1" fmla="*/ 0 h 349614"/>
                <a:gd name="connsiteX2" fmla="*/ 137111 w 197737"/>
                <a:gd name="connsiteY2" fmla="*/ 51006 h 349614"/>
                <a:gd name="connsiteX3" fmla="*/ 126348 w 197737"/>
                <a:gd name="connsiteY3" fmla="*/ 63913 h 349614"/>
                <a:gd name="connsiteX4" fmla="*/ 5857 w 197737"/>
                <a:gd name="connsiteY4" fmla="*/ 276225 h 349614"/>
                <a:gd name="connsiteX5" fmla="*/ 22764 w 197737"/>
                <a:gd name="connsiteY5" fmla="*/ 337614 h 349614"/>
                <a:gd name="connsiteX6" fmla="*/ 33670 w 197737"/>
                <a:gd name="connsiteY6" fmla="*/ 343757 h 349614"/>
                <a:gd name="connsiteX7" fmla="*/ 95058 w 197737"/>
                <a:gd name="connsiteY7" fmla="*/ 326850 h 349614"/>
                <a:gd name="connsiteX8" fmla="*/ 134635 w 197737"/>
                <a:gd name="connsiteY8" fmla="*/ 257032 h 349614"/>
                <a:gd name="connsiteX9" fmla="*/ 138159 w 197737"/>
                <a:gd name="connsiteY9" fmla="*/ 229171 h 34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737" h="349614">
                  <a:moveTo>
                    <a:pt x="138159" y="229172"/>
                  </a:moveTo>
                  <a:lnTo>
                    <a:pt x="197738" y="0"/>
                  </a:lnTo>
                  <a:lnTo>
                    <a:pt x="137111" y="51006"/>
                  </a:lnTo>
                  <a:cubicBezTo>
                    <a:pt x="132808" y="54657"/>
                    <a:pt x="129167" y="59024"/>
                    <a:pt x="126348" y="63913"/>
                  </a:cubicBezTo>
                  <a:lnTo>
                    <a:pt x="5857" y="276225"/>
                  </a:lnTo>
                  <a:cubicBezTo>
                    <a:pt x="-6381" y="297851"/>
                    <a:pt x="1179" y="325302"/>
                    <a:pt x="22764" y="337614"/>
                  </a:cubicBezTo>
                  <a:lnTo>
                    <a:pt x="33670" y="343757"/>
                  </a:lnTo>
                  <a:cubicBezTo>
                    <a:pt x="55296" y="355995"/>
                    <a:pt x="82747" y="348435"/>
                    <a:pt x="95058" y="326850"/>
                  </a:cubicBezTo>
                  <a:lnTo>
                    <a:pt x="134635" y="257032"/>
                  </a:lnTo>
                  <a:cubicBezTo>
                    <a:pt x="134605" y="247632"/>
                    <a:pt x="135790" y="238268"/>
                    <a:pt x="138159" y="22917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69" name="文本框 68"/>
          <p:cNvSpPr txBox="1"/>
          <p:nvPr/>
        </p:nvSpPr>
        <p:spPr>
          <a:xfrm>
            <a:off x="223933" y="5145757"/>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年均投入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小时学习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与大数据技术，参与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个开源项目，代码贡献量提升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，技术方案落地率超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0" name="文本框 69"/>
          <p:cNvSpPr txBox="1"/>
          <p:nvPr/>
        </p:nvSpPr>
        <p:spPr>
          <a:xfrm>
            <a:off x="155575" y="4642717"/>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技术精进提升</a:t>
            </a:r>
          </a:p>
        </p:txBody>
      </p:sp>
      <p:sp>
        <p:nvSpPr>
          <p:cNvPr id="71" name="文本框 70"/>
          <p:cNvSpPr txBox="1"/>
          <p:nvPr/>
        </p:nvSpPr>
        <p:spPr>
          <a:xfrm rot="21146269">
            <a:off x="2168832" y="1599938"/>
            <a:ext cx="7260859" cy="855431"/>
          </a:xfrm>
          <a:prstGeom prst="rect">
            <a:avLst/>
          </a:prstGeom>
          <a:noFill/>
        </p:spPr>
        <p:txBody>
          <a:bodyPr wrap="square">
            <a:prstTxWarp prst="textFadeRight">
              <a:avLst>
                <a:gd name="adj" fmla="val 24507"/>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永不言弃，勇攀高峰</a:t>
            </a:r>
          </a:p>
        </p:txBody>
      </p:sp>
      <p:sp>
        <p:nvSpPr>
          <p:cNvPr id="73" name="文本框 72"/>
          <p:cNvSpPr txBox="1"/>
          <p:nvPr/>
        </p:nvSpPr>
        <p:spPr>
          <a:xfrm>
            <a:off x="2619615" y="4549915"/>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每月深度分析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用户需求报告，优化产品逻辑，推动核心模块迭代周期缩短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，用户留存率提升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4" name="文本框 73"/>
          <p:cNvSpPr txBox="1"/>
          <p:nvPr/>
        </p:nvSpPr>
        <p:spPr>
          <a:xfrm>
            <a:off x="2551257" y="4046875"/>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产品思维升级</a:t>
            </a:r>
          </a:p>
        </p:txBody>
      </p:sp>
      <p:sp>
        <p:nvSpPr>
          <p:cNvPr id="76" name="文本框 75"/>
          <p:cNvSpPr txBox="1"/>
          <p:nvPr/>
        </p:nvSpPr>
        <p:spPr>
          <a:xfrm>
            <a:off x="5015297" y="3954074"/>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每年完成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次团队管理培训，主导跨部门协作项目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个，资源协调效率提高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，项目交付准时率达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7" name="文本框 76"/>
          <p:cNvSpPr txBox="1"/>
          <p:nvPr/>
        </p:nvSpPr>
        <p:spPr>
          <a:xfrm>
            <a:off x="4946939" y="3451034"/>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管理能力拓展</a:t>
            </a:r>
          </a:p>
        </p:txBody>
      </p:sp>
      <p:sp>
        <p:nvSpPr>
          <p:cNvPr id="79" name="文本框 78"/>
          <p:cNvSpPr txBox="1"/>
          <p:nvPr/>
        </p:nvSpPr>
        <p:spPr>
          <a:xfrm>
            <a:off x="7410979" y="3358233"/>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建立个人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OKR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系统，季度目标达成率≥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，碎片时间利用率提升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，会议时间压缩至日均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小时以内。</a:t>
            </a:r>
          </a:p>
        </p:txBody>
      </p:sp>
      <p:sp>
        <p:nvSpPr>
          <p:cNvPr id="80" name="文本框 79"/>
          <p:cNvSpPr txBox="1"/>
          <p:nvPr/>
        </p:nvSpPr>
        <p:spPr>
          <a:xfrm>
            <a:off x="7342621" y="2855193"/>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效率体系优化</a:t>
            </a:r>
          </a:p>
        </p:txBody>
      </p:sp>
      <p:sp>
        <p:nvSpPr>
          <p:cNvPr id="82" name="文本框 81"/>
          <p:cNvSpPr txBox="1"/>
          <p:nvPr/>
        </p:nvSpPr>
        <p:spPr>
          <a:xfrm>
            <a:off x="9806661" y="2762392"/>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每周坚持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次运动（心率监测达标率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），年体检指标合格率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，压力指数从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分制）。</a:t>
            </a:r>
          </a:p>
        </p:txBody>
      </p:sp>
      <p:sp>
        <p:nvSpPr>
          <p:cNvPr id="83" name="文本框 82"/>
          <p:cNvSpPr txBox="1"/>
          <p:nvPr/>
        </p:nvSpPr>
        <p:spPr>
          <a:xfrm>
            <a:off x="9738303" y="2259352"/>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健康可持续性</a:t>
            </a:r>
          </a:p>
        </p:txBody>
      </p:sp>
      <p:sp>
        <p:nvSpPr>
          <p:cNvPr id="85" name="文本框57"/>
          <p:cNvSpPr txBox="1"/>
          <p:nvPr/>
        </p:nvSpPr>
        <p:spPr>
          <a:xfrm>
            <a:off x="7873615" y="5367775"/>
            <a:ext cx="1435129"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目标达成率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文本框57"/>
          <p:cNvSpPr txBox="1"/>
          <p:nvPr/>
        </p:nvSpPr>
        <p:spPr>
          <a:xfrm>
            <a:off x="7873615" y="4719658"/>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90</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8" name="文本框57"/>
          <p:cNvSpPr txBox="1"/>
          <p:nvPr/>
        </p:nvSpPr>
        <p:spPr>
          <a:xfrm>
            <a:off x="10151543" y="4870065"/>
            <a:ext cx="1435129"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心率达标率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文本框57"/>
          <p:cNvSpPr txBox="1"/>
          <p:nvPr/>
        </p:nvSpPr>
        <p:spPr>
          <a:xfrm>
            <a:off x="10151543" y="4221948"/>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80</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1" name="文本框57"/>
          <p:cNvSpPr txBox="1"/>
          <p:nvPr/>
        </p:nvSpPr>
        <p:spPr>
          <a:xfrm>
            <a:off x="5314030" y="5900210"/>
            <a:ext cx="1786904"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项目交付准时率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文本框57"/>
          <p:cNvSpPr txBox="1"/>
          <p:nvPr/>
        </p:nvSpPr>
        <p:spPr>
          <a:xfrm>
            <a:off x="5314030" y="5252093"/>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95</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任意多边形: 形状 132"/>
          <p:cNvSpPr/>
          <p:nvPr/>
        </p:nvSpPr>
        <p:spPr>
          <a:xfrm>
            <a:off x="3921760" y="1859280"/>
            <a:ext cx="2651760" cy="0"/>
          </a:xfrm>
          <a:custGeom>
            <a:avLst/>
            <a:gdLst>
              <a:gd name="connsiteX0" fmla="*/ 2651760 w 2651760"/>
              <a:gd name="connsiteY0" fmla="*/ 0 h 0"/>
              <a:gd name="connsiteX1" fmla="*/ 0 w 2651760"/>
              <a:gd name="connsiteY1" fmla="*/ 0 h 0"/>
            </a:gdLst>
            <a:ahLst/>
            <a:cxnLst>
              <a:cxn ang="0">
                <a:pos x="connsiteX0" y="connsiteY0"/>
              </a:cxn>
              <a:cxn ang="0">
                <a:pos x="connsiteX1" y="connsiteY1"/>
              </a:cxn>
            </a:cxnLst>
            <a:rect l="l" t="t" r="r" b="b"/>
            <a:pathLst>
              <a:path w="2651760">
                <a:moveTo>
                  <a:pt x="265176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4" name="任意多边形: 形状 133"/>
          <p:cNvSpPr/>
          <p:nvPr/>
        </p:nvSpPr>
        <p:spPr>
          <a:xfrm>
            <a:off x="5262880" y="3180080"/>
            <a:ext cx="1300480" cy="0"/>
          </a:xfrm>
          <a:custGeom>
            <a:avLst/>
            <a:gdLst>
              <a:gd name="connsiteX0" fmla="*/ 1300480 w 1300480"/>
              <a:gd name="connsiteY0" fmla="*/ 0 h 0"/>
              <a:gd name="connsiteX1" fmla="*/ 0 w 1300480"/>
              <a:gd name="connsiteY1" fmla="*/ 0 h 0"/>
            </a:gdLst>
            <a:ahLst/>
            <a:cxnLst>
              <a:cxn ang="0">
                <a:pos x="connsiteX0" y="connsiteY0"/>
              </a:cxn>
              <a:cxn ang="0">
                <a:pos x="connsiteX1" y="connsiteY1"/>
              </a:cxn>
            </a:cxnLst>
            <a:rect l="l" t="t" r="r" b="b"/>
            <a:pathLst>
              <a:path w="1300480">
                <a:moveTo>
                  <a:pt x="130048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7" name="任意多边形: 形状 136"/>
          <p:cNvSpPr/>
          <p:nvPr/>
        </p:nvSpPr>
        <p:spPr>
          <a:xfrm flipV="1">
            <a:off x="3962809" y="5823885"/>
            <a:ext cx="2651760" cy="0"/>
          </a:xfrm>
          <a:custGeom>
            <a:avLst/>
            <a:gdLst>
              <a:gd name="connsiteX0" fmla="*/ 2651760 w 2651760"/>
              <a:gd name="connsiteY0" fmla="*/ 0 h 0"/>
              <a:gd name="connsiteX1" fmla="*/ 0 w 2651760"/>
              <a:gd name="connsiteY1" fmla="*/ 0 h 0"/>
            </a:gdLst>
            <a:ahLst/>
            <a:cxnLst>
              <a:cxn ang="0">
                <a:pos x="connsiteX0" y="connsiteY0"/>
              </a:cxn>
              <a:cxn ang="0">
                <a:pos x="connsiteX1" y="connsiteY1"/>
              </a:cxn>
            </a:cxnLst>
            <a:rect l="l" t="t" r="r" b="b"/>
            <a:pathLst>
              <a:path w="2651760">
                <a:moveTo>
                  <a:pt x="265176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任意多边形: 形状 137"/>
          <p:cNvSpPr/>
          <p:nvPr/>
        </p:nvSpPr>
        <p:spPr>
          <a:xfrm flipV="1">
            <a:off x="5303929" y="4503085"/>
            <a:ext cx="1300480" cy="0"/>
          </a:xfrm>
          <a:custGeom>
            <a:avLst/>
            <a:gdLst>
              <a:gd name="connsiteX0" fmla="*/ 1300480 w 1300480"/>
              <a:gd name="connsiteY0" fmla="*/ 0 h 0"/>
              <a:gd name="connsiteX1" fmla="*/ 0 w 1300480"/>
              <a:gd name="connsiteY1" fmla="*/ 0 h 0"/>
            </a:gdLst>
            <a:ahLst/>
            <a:cxnLst>
              <a:cxn ang="0">
                <a:pos x="connsiteX0" y="connsiteY0"/>
              </a:cxn>
              <a:cxn ang="0">
                <a:pos x="connsiteX1" y="connsiteY1"/>
              </a:cxn>
            </a:cxnLst>
            <a:rect l="l" t="t" r="r" b="b"/>
            <a:pathLst>
              <a:path w="1300480">
                <a:moveTo>
                  <a:pt x="130048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1" name="矩形 80"/>
          <p:cNvSpPr/>
          <p:nvPr/>
        </p:nvSpPr>
        <p:spPr>
          <a:xfrm rot="2700000">
            <a:off x="1152453" y="1892931"/>
            <a:ext cx="3962534" cy="3962534"/>
          </a:xfrm>
          <a:prstGeom prst="rect">
            <a:avLst/>
          </a:prstGeom>
          <a:noFill/>
          <a:ln>
            <a:gradFill flip="none" rotWithShape="1">
              <a:gsLst>
                <a:gs pos="42000">
                  <a:schemeClr val="accent1">
                    <a:lumMod val="5000"/>
                    <a:lumOff val="95000"/>
                    <a:alpha val="0"/>
                  </a:schemeClr>
                </a:gs>
                <a:gs pos="67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对未来工作的展望</a:t>
            </a:r>
          </a:p>
        </p:txBody>
      </p:sp>
      <p:grpSp>
        <p:nvGrpSpPr>
          <p:cNvPr id="62" name="组合 61"/>
          <p:cNvGrpSpPr/>
          <p:nvPr/>
        </p:nvGrpSpPr>
        <p:grpSpPr>
          <a:xfrm>
            <a:off x="1465811" y="1200955"/>
            <a:ext cx="4262551" cy="4771130"/>
            <a:chOff x="4471913" y="1234753"/>
            <a:chExt cx="4013835" cy="4492740"/>
          </a:xfrm>
        </p:grpSpPr>
        <p:sp>
          <p:nvSpPr>
            <p:cNvPr id="31" name="任意多边形: 形状 30"/>
            <p:cNvSpPr/>
            <p:nvPr/>
          </p:nvSpPr>
          <p:spPr>
            <a:xfrm rot="2700000">
              <a:off x="4471913" y="2149727"/>
              <a:ext cx="3248175" cy="3248175"/>
            </a:xfrm>
            <a:custGeom>
              <a:avLst/>
              <a:gdLst>
                <a:gd name="connsiteX0" fmla="*/ 0 w 3606170"/>
                <a:gd name="connsiteY0" fmla="*/ 3606170 h 3606170"/>
                <a:gd name="connsiteX1" fmla="*/ 3606170 w 3606170"/>
                <a:gd name="connsiteY1" fmla="*/ 0 h 3606170"/>
                <a:gd name="connsiteX2" fmla="*/ 3606170 w 3606170"/>
                <a:gd name="connsiteY2" fmla="*/ 1648039 h 3606170"/>
                <a:gd name="connsiteX3" fmla="*/ 1648039 w 3606170"/>
                <a:gd name="connsiteY3" fmla="*/ 3606170 h 3606170"/>
                <a:gd name="connsiteX4" fmla="*/ 0 w 3606170"/>
                <a:gd name="connsiteY4" fmla="*/ 3606170 h 360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170" h="3606170">
                  <a:moveTo>
                    <a:pt x="0" y="3606170"/>
                  </a:moveTo>
                  <a:lnTo>
                    <a:pt x="3606170" y="0"/>
                  </a:lnTo>
                  <a:lnTo>
                    <a:pt x="3606170" y="1648039"/>
                  </a:lnTo>
                  <a:lnTo>
                    <a:pt x="1648039" y="3606170"/>
                  </a:lnTo>
                  <a:lnTo>
                    <a:pt x="0" y="3606170"/>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nvSpPr>
          <p:spPr>
            <a:xfrm rot="2700000">
              <a:off x="5267614" y="4070721"/>
              <a:ext cx="1656772" cy="1656772"/>
            </a:xfrm>
            <a:custGeom>
              <a:avLst/>
              <a:gdLst>
                <a:gd name="connsiteX0" fmla="*/ 0 w 1839372"/>
                <a:gd name="connsiteY0" fmla="*/ 1839371 h 1839372"/>
                <a:gd name="connsiteX1" fmla="*/ 1839371 w 1839372"/>
                <a:gd name="connsiteY1" fmla="*/ 0 h 1839372"/>
                <a:gd name="connsiteX2" fmla="*/ 1839372 w 1839372"/>
                <a:gd name="connsiteY2" fmla="*/ 1839372 h 1839372"/>
                <a:gd name="connsiteX3" fmla="*/ 0 w 1839372"/>
                <a:gd name="connsiteY3" fmla="*/ 1839371 h 1839372"/>
              </a:gdLst>
              <a:ahLst/>
              <a:cxnLst>
                <a:cxn ang="0">
                  <a:pos x="connsiteX0" y="connsiteY0"/>
                </a:cxn>
                <a:cxn ang="0">
                  <a:pos x="connsiteX1" y="connsiteY1"/>
                </a:cxn>
                <a:cxn ang="0">
                  <a:pos x="connsiteX2" y="connsiteY2"/>
                </a:cxn>
                <a:cxn ang="0">
                  <a:pos x="connsiteX3" y="connsiteY3"/>
                </a:cxn>
              </a:cxnLst>
              <a:rect l="l" t="t" r="r" b="b"/>
              <a:pathLst>
                <a:path w="1839372" h="1839372">
                  <a:moveTo>
                    <a:pt x="0" y="1839371"/>
                  </a:moveTo>
                  <a:lnTo>
                    <a:pt x="1839371" y="0"/>
                  </a:lnTo>
                  <a:lnTo>
                    <a:pt x="1839372" y="1839372"/>
                  </a:lnTo>
                  <a:lnTo>
                    <a:pt x="0" y="1839371"/>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6" name="任意多边形: 形状 45"/>
            <p:cNvSpPr/>
            <p:nvPr/>
          </p:nvSpPr>
          <p:spPr>
            <a:xfrm rot="2700000">
              <a:off x="5267615" y="1744497"/>
              <a:ext cx="1656770" cy="1656770"/>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7" name="任意多边形: 形状 46"/>
            <p:cNvSpPr/>
            <p:nvPr/>
          </p:nvSpPr>
          <p:spPr>
            <a:xfrm rot="2700000">
              <a:off x="4471913" y="2074087"/>
              <a:ext cx="3248175" cy="3248175"/>
            </a:xfrm>
            <a:custGeom>
              <a:avLst/>
              <a:gdLst>
                <a:gd name="connsiteX0" fmla="*/ 0 w 3606170"/>
                <a:gd name="connsiteY0" fmla="*/ 1958130 h 3606170"/>
                <a:gd name="connsiteX1" fmla="*/ 1958130 w 3606170"/>
                <a:gd name="connsiteY1" fmla="*/ 0 h 3606170"/>
                <a:gd name="connsiteX2" fmla="*/ 3606170 w 3606170"/>
                <a:gd name="connsiteY2" fmla="*/ 0 h 3606170"/>
                <a:gd name="connsiteX3" fmla="*/ 0 w 3606170"/>
                <a:gd name="connsiteY3" fmla="*/ 3606170 h 3606170"/>
                <a:gd name="connsiteX4" fmla="*/ 0 w 3606170"/>
                <a:gd name="connsiteY4" fmla="*/ 1958130 h 360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170" h="3606170">
                  <a:moveTo>
                    <a:pt x="0" y="1958130"/>
                  </a:moveTo>
                  <a:lnTo>
                    <a:pt x="1958130" y="0"/>
                  </a:lnTo>
                  <a:lnTo>
                    <a:pt x="3606170" y="0"/>
                  </a:lnTo>
                  <a:lnTo>
                    <a:pt x="0" y="3606170"/>
                  </a:lnTo>
                  <a:lnTo>
                    <a:pt x="0" y="195813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7" name="任意多边形: 形状 56"/>
            <p:cNvSpPr/>
            <p:nvPr/>
          </p:nvSpPr>
          <p:spPr>
            <a:xfrm rot="2700000">
              <a:off x="5777359" y="1955640"/>
              <a:ext cx="1656770" cy="214996"/>
            </a:xfrm>
            <a:custGeom>
              <a:avLst/>
              <a:gdLst>
                <a:gd name="connsiteX0" fmla="*/ 0 w 1656770"/>
                <a:gd name="connsiteY0" fmla="*/ 0 h 214996"/>
                <a:gd name="connsiteX1" fmla="*/ 1656770 w 1656770"/>
                <a:gd name="connsiteY1" fmla="*/ 0 h 214996"/>
                <a:gd name="connsiteX2" fmla="*/ 1441774 w 1656770"/>
                <a:gd name="connsiteY2" fmla="*/ 214996 h 214996"/>
                <a:gd name="connsiteX3" fmla="*/ 0 w 1656770"/>
                <a:gd name="connsiteY3" fmla="*/ 5284 h 214996"/>
                <a:gd name="connsiteX4" fmla="*/ 0 w 1656770"/>
                <a:gd name="connsiteY4" fmla="*/ 0 h 214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6770" h="214996">
                  <a:moveTo>
                    <a:pt x="0" y="0"/>
                  </a:moveTo>
                  <a:lnTo>
                    <a:pt x="1656770" y="0"/>
                  </a:lnTo>
                  <a:lnTo>
                    <a:pt x="1441774" y="214996"/>
                  </a:lnTo>
                  <a:lnTo>
                    <a:pt x="0" y="5284"/>
                  </a:lnTo>
                  <a:lnTo>
                    <a:pt x="0" y="0"/>
                  </a:lnTo>
                  <a:close/>
                </a:path>
              </a:pathLst>
            </a:custGeom>
            <a:solidFill>
              <a:schemeClr val="tx1">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任意多边形: 形状 55"/>
            <p:cNvSpPr/>
            <p:nvPr/>
          </p:nvSpPr>
          <p:spPr>
            <a:xfrm rot="2700000">
              <a:off x="6783197" y="3031452"/>
              <a:ext cx="1713015" cy="417081"/>
            </a:xfrm>
            <a:custGeom>
              <a:avLst/>
              <a:gdLst>
                <a:gd name="connsiteX0" fmla="*/ 0 w 1713015"/>
                <a:gd name="connsiteY0" fmla="*/ 228581 h 417081"/>
                <a:gd name="connsiteX1" fmla="*/ 228581 w 1713015"/>
                <a:gd name="connsiteY1" fmla="*/ 0 h 417081"/>
                <a:gd name="connsiteX2" fmla="*/ 1713015 w 1713015"/>
                <a:gd name="connsiteY2" fmla="*/ 1 h 417081"/>
                <a:gd name="connsiteX3" fmla="*/ 1295935 w 1713015"/>
                <a:gd name="connsiteY3" fmla="*/ 417081 h 417081"/>
                <a:gd name="connsiteX4" fmla="*/ 0 w 1713015"/>
                <a:gd name="connsiteY4" fmla="*/ 228581 h 417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015" h="417081">
                  <a:moveTo>
                    <a:pt x="0" y="228581"/>
                  </a:moveTo>
                  <a:lnTo>
                    <a:pt x="228581" y="0"/>
                  </a:lnTo>
                  <a:lnTo>
                    <a:pt x="1713015" y="1"/>
                  </a:lnTo>
                  <a:lnTo>
                    <a:pt x="1295935" y="417081"/>
                  </a:lnTo>
                  <a:lnTo>
                    <a:pt x="0" y="228581"/>
                  </a:lnTo>
                  <a:close/>
                </a:path>
              </a:pathLst>
            </a:custGeom>
            <a:solidFill>
              <a:schemeClr val="tx1">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0" name="任意多边形: 形状 59"/>
            <p:cNvSpPr/>
            <p:nvPr/>
          </p:nvSpPr>
          <p:spPr>
            <a:xfrm rot="18900000" flipV="1">
              <a:off x="5766895" y="5305064"/>
              <a:ext cx="1656770" cy="214996"/>
            </a:xfrm>
            <a:custGeom>
              <a:avLst/>
              <a:gdLst>
                <a:gd name="connsiteX0" fmla="*/ 0 w 1656770"/>
                <a:gd name="connsiteY0" fmla="*/ 0 h 214996"/>
                <a:gd name="connsiteX1" fmla="*/ 1656770 w 1656770"/>
                <a:gd name="connsiteY1" fmla="*/ 0 h 214996"/>
                <a:gd name="connsiteX2" fmla="*/ 1441774 w 1656770"/>
                <a:gd name="connsiteY2" fmla="*/ 214996 h 214996"/>
                <a:gd name="connsiteX3" fmla="*/ 0 w 1656770"/>
                <a:gd name="connsiteY3" fmla="*/ 5284 h 214996"/>
                <a:gd name="connsiteX4" fmla="*/ 0 w 1656770"/>
                <a:gd name="connsiteY4" fmla="*/ 0 h 214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6770" h="214996">
                  <a:moveTo>
                    <a:pt x="0" y="0"/>
                  </a:moveTo>
                  <a:lnTo>
                    <a:pt x="1656770" y="0"/>
                  </a:lnTo>
                  <a:lnTo>
                    <a:pt x="1441774" y="214996"/>
                  </a:lnTo>
                  <a:lnTo>
                    <a:pt x="0" y="5284"/>
                  </a:lnTo>
                  <a:lnTo>
                    <a:pt x="0" y="0"/>
                  </a:lnTo>
                  <a:close/>
                </a:path>
              </a:pathLst>
            </a:custGeom>
            <a:solidFill>
              <a:schemeClr val="bg1">
                <a:lumMod val="75000"/>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任意多边形: 形状 60"/>
            <p:cNvSpPr/>
            <p:nvPr/>
          </p:nvSpPr>
          <p:spPr>
            <a:xfrm rot="18900000" flipV="1">
              <a:off x="6772733" y="4027167"/>
              <a:ext cx="1713015" cy="417081"/>
            </a:xfrm>
            <a:custGeom>
              <a:avLst/>
              <a:gdLst>
                <a:gd name="connsiteX0" fmla="*/ 0 w 1713015"/>
                <a:gd name="connsiteY0" fmla="*/ 228581 h 417081"/>
                <a:gd name="connsiteX1" fmla="*/ 228581 w 1713015"/>
                <a:gd name="connsiteY1" fmla="*/ 0 h 417081"/>
                <a:gd name="connsiteX2" fmla="*/ 1713015 w 1713015"/>
                <a:gd name="connsiteY2" fmla="*/ 1 h 417081"/>
                <a:gd name="connsiteX3" fmla="*/ 1295935 w 1713015"/>
                <a:gd name="connsiteY3" fmla="*/ 417081 h 417081"/>
                <a:gd name="connsiteX4" fmla="*/ 0 w 1713015"/>
                <a:gd name="connsiteY4" fmla="*/ 228581 h 417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015" h="417081">
                  <a:moveTo>
                    <a:pt x="0" y="228581"/>
                  </a:moveTo>
                  <a:lnTo>
                    <a:pt x="228581" y="0"/>
                  </a:lnTo>
                  <a:lnTo>
                    <a:pt x="1713015" y="1"/>
                  </a:lnTo>
                  <a:lnTo>
                    <a:pt x="1295935" y="417081"/>
                  </a:lnTo>
                  <a:lnTo>
                    <a:pt x="0" y="228581"/>
                  </a:lnTo>
                  <a:close/>
                </a:path>
              </a:pathLst>
            </a:custGeom>
            <a:solidFill>
              <a:schemeClr val="bg1">
                <a:lumMod val="75000"/>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73" name="图形 71"/>
          <p:cNvGrpSpPr/>
          <p:nvPr/>
        </p:nvGrpSpPr>
        <p:grpSpPr>
          <a:xfrm>
            <a:off x="574493" y="2322607"/>
            <a:ext cx="541761" cy="1250808"/>
            <a:chOff x="5595646" y="2819400"/>
            <a:chExt cx="516573" cy="1192655"/>
          </a:xfrm>
          <a:solidFill>
            <a:schemeClr val="accent4"/>
          </a:solidFill>
        </p:grpSpPr>
        <p:sp>
          <p:nvSpPr>
            <p:cNvPr id="74" name="任意多边形: 形状 73"/>
            <p:cNvSpPr/>
            <p:nvPr/>
          </p:nvSpPr>
          <p:spPr>
            <a:xfrm flipV="1">
              <a:off x="5814784" y="2819400"/>
              <a:ext cx="163750" cy="175350"/>
            </a:xfrm>
            <a:custGeom>
              <a:avLst/>
              <a:gdLst>
                <a:gd name="connsiteX0" fmla="*/ -985 w 163750"/>
                <a:gd name="connsiteY0" fmla="*/ 85961 h 175350"/>
                <a:gd name="connsiteX1" fmla="*/ 80355 w 163750"/>
                <a:gd name="connsiteY1" fmla="*/ -2618 h 175350"/>
                <a:gd name="connsiteX2" fmla="*/ 162759 w 163750"/>
                <a:gd name="connsiteY2" fmla="*/ 84594 h 175350"/>
                <a:gd name="connsiteX3" fmla="*/ 81533 w 163750"/>
                <a:gd name="connsiteY3" fmla="*/ 172722 h 175350"/>
                <a:gd name="connsiteX4" fmla="*/ -985 w 163750"/>
                <a:gd name="connsiteY4" fmla="*/ 85961 h 17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750" h="175350">
                  <a:moveTo>
                    <a:pt x="-985" y="85961"/>
                  </a:moveTo>
                  <a:cubicBezTo>
                    <a:pt x="-1379" y="37763"/>
                    <a:pt x="34933" y="-2388"/>
                    <a:pt x="80355" y="-2618"/>
                  </a:cubicBezTo>
                  <a:cubicBezTo>
                    <a:pt x="125539" y="-2954"/>
                    <a:pt x="162529" y="36406"/>
                    <a:pt x="162759" y="84594"/>
                  </a:cubicBezTo>
                  <a:cubicBezTo>
                    <a:pt x="163155" y="133013"/>
                    <a:pt x="126841" y="172722"/>
                    <a:pt x="81533" y="172722"/>
                  </a:cubicBezTo>
                  <a:cubicBezTo>
                    <a:pt x="36116" y="173393"/>
                    <a:pt x="-753" y="134485"/>
                    <a:pt x="-985" y="85961"/>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5" name="任意多边形: 形状 74"/>
            <p:cNvSpPr/>
            <p:nvPr/>
          </p:nvSpPr>
          <p:spPr>
            <a:xfrm flipV="1">
              <a:off x="5595646" y="3012506"/>
              <a:ext cx="511797" cy="763586"/>
            </a:xfrm>
            <a:custGeom>
              <a:avLst/>
              <a:gdLst>
                <a:gd name="connsiteX0" fmla="*/ 145 w 511797"/>
                <a:gd name="connsiteY0" fmla="*/ 441207 h 763586"/>
                <a:gd name="connsiteX1" fmla="*/ 34085 w 511797"/>
                <a:gd name="connsiteY1" fmla="*/ 624239 h 763586"/>
                <a:gd name="connsiteX2" fmla="*/ 54044 w 511797"/>
                <a:gd name="connsiteY2" fmla="*/ 652851 h 763586"/>
                <a:gd name="connsiteX3" fmla="*/ 230345 w 511797"/>
                <a:gd name="connsiteY3" fmla="*/ 755558 h 763586"/>
                <a:gd name="connsiteX4" fmla="*/ 231247 w 511797"/>
                <a:gd name="connsiteY4" fmla="*/ 756244 h 763586"/>
                <a:gd name="connsiteX5" fmla="*/ 233563 w 511797"/>
                <a:gd name="connsiteY5" fmla="*/ 757482 h 763586"/>
                <a:gd name="connsiteX6" fmla="*/ 235603 w 511797"/>
                <a:gd name="connsiteY6" fmla="*/ 758282 h 763586"/>
                <a:gd name="connsiteX7" fmla="*/ 237469 w 511797"/>
                <a:gd name="connsiteY7" fmla="*/ 759184 h 763586"/>
                <a:gd name="connsiteX8" fmla="*/ 239333 w 511797"/>
                <a:gd name="connsiteY8" fmla="*/ 760090 h 763586"/>
                <a:gd name="connsiteX9" fmla="*/ 241153 w 511797"/>
                <a:gd name="connsiteY9" fmla="*/ 760090 h 763586"/>
                <a:gd name="connsiteX10" fmla="*/ 243295 w 511797"/>
                <a:gd name="connsiteY10" fmla="*/ 761107 h 763586"/>
                <a:gd name="connsiteX11" fmla="*/ 245450 w 511797"/>
                <a:gd name="connsiteY11" fmla="*/ 761677 h 763586"/>
                <a:gd name="connsiteX12" fmla="*/ 247256 w 511797"/>
                <a:gd name="connsiteY12" fmla="*/ 762013 h 763586"/>
                <a:gd name="connsiteX13" fmla="*/ 249515 w 511797"/>
                <a:gd name="connsiteY13" fmla="*/ 762128 h 763586"/>
                <a:gd name="connsiteX14" fmla="*/ 251102 w 511797"/>
                <a:gd name="connsiteY14" fmla="*/ 762128 h 763586"/>
                <a:gd name="connsiteX15" fmla="*/ 253536 w 511797"/>
                <a:gd name="connsiteY15" fmla="*/ 762128 h 763586"/>
                <a:gd name="connsiteX16" fmla="*/ 255007 w 511797"/>
                <a:gd name="connsiteY16" fmla="*/ 762013 h 763586"/>
                <a:gd name="connsiteX17" fmla="*/ 257439 w 511797"/>
                <a:gd name="connsiteY17" fmla="*/ 761677 h 763586"/>
                <a:gd name="connsiteX18" fmla="*/ 259304 w 511797"/>
                <a:gd name="connsiteY18" fmla="*/ 761677 h 763586"/>
                <a:gd name="connsiteX19" fmla="*/ 261506 w 511797"/>
                <a:gd name="connsiteY19" fmla="*/ 760992 h 763586"/>
                <a:gd name="connsiteX20" fmla="*/ 263544 w 511797"/>
                <a:gd name="connsiteY20" fmla="*/ 760090 h 763586"/>
                <a:gd name="connsiteX21" fmla="*/ 265363 w 511797"/>
                <a:gd name="connsiteY21" fmla="*/ 759524 h 763586"/>
                <a:gd name="connsiteX22" fmla="*/ 347479 w 511797"/>
                <a:gd name="connsiteY22" fmla="*/ 729440 h 763586"/>
                <a:gd name="connsiteX23" fmla="*/ 375590 w 511797"/>
                <a:gd name="connsiteY23" fmla="*/ 681928 h 763586"/>
                <a:gd name="connsiteX24" fmla="*/ 348045 w 511797"/>
                <a:gd name="connsiteY24" fmla="*/ 422882 h 763586"/>
                <a:gd name="connsiteX25" fmla="*/ 346747 w 511797"/>
                <a:gd name="connsiteY25" fmla="*/ 417219 h 763586"/>
                <a:gd name="connsiteX26" fmla="*/ 488543 w 511797"/>
                <a:gd name="connsiteY26" fmla="*/ 331258 h 763586"/>
                <a:gd name="connsiteX27" fmla="*/ 510889 w 511797"/>
                <a:gd name="connsiteY27" fmla="*/ 290983 h 763586"/>
                <a:gd name="connsiteX28" fmla="*/ 482088 w 511797"/>
                <a:gd name="connsiteY28" fmla="*/ 42455 h 763586"/>
                <a:gd name="connsiteX29" fmla="*/ 439669 w 511797"/>
                <a:gd name="connsiteY29" fmla="*/ -1436 h 763586"/>
                <a:gd name="connsiteX30" fmla="*/ 398446 w 511797"/>
                <a:gd name="connsiteY30" fmla="*/ 43697 h 763586"/>
                <a:gd name="connsiteX31" fmla="*/ 426603 w 511797"/>
                <a:gd name="connsiteY31" fmla="*/ 265081 h 763586"/>
                <a:gd name="connsiteX32" fmla="*/ 208509 w 511797"/>
                <a:gd name="connsiteY32" fmla="*/ 395393 h 763586"/>
                <a:gd name="connsiteX33" fmla="*/ 205973 w 511797"/>
                <a:gd name="connsiteY33" fmla="*/ 396865 h 763586"/>
                <a:gd name="connsiteX34" fmla="*/ 204663 w 511797"/>
                <a:gd name="connsiteY34" fmla="*/ 397537 h 763586"/>
                <a:gd name="connsiteX35" fmla="*/ 202347 w 511797"/>
                <a:gd name="connsiteY35" fmla="*/ 399809 h 763586"/>
                <a:gd name="connsiteX36" fmla="*/ 201779 w 511797"/>
                <a:gd name="connsiteY36" fmla="*/ 400481 h 763586"/>
                <a:gd name="connsiteX37" fmla="*/ 198734 w 511797"/>
                <a:gd name="connsiteY37" fmla="*/ 402970 h 763586"/>
                <a:gd name="connsiteX38" fmla="*/ 198386 w 511797"/>
                <a:gd name="connsiteY38" fmla="*/ 403085 h 763586"/>
                <a:gd name="connsiteX39" fmla="*/ 195676 w 511797"/>
                <a:gd name="connsiteY39" fmla="*/ 406246 h 763586"/>
                <a:gd name="connsiteX40" fmla="*/ 195676 w 511797"/>
                <a:gd name="connsiteY40" fmla="*/ 406246 h 763586"/>
                <a:gd name="connsiteX41" fmla="*/ 195676 w 511797"/>
                <a:gd name="connsiteY41" fmla="*/ 406246 h 763586"/>
                <a:gd name="connsiteX42" fmla="*/ 189340 w 511797"/>
                <a:gd name="connsiteY42" fmla="*/ 418019 h 763586"/>
                <a:gd name="connsiteX43" fmla="*/ 189340 w 511797"/>
                <a:gd name="connsiteY43" fmla="*/ 418691 h 763586"/>
                <a:gd name="connsiteX44" fmla="*/ 188203 w 511797"/>
                <a:gd name="connsiteY44" fmla="*/ 422197 h 763586"/>
                <a:gd name="connsiteX45" fmla="*/ 187869 w 511797"/>
                <a:gd name="connsiteY45" fmla="*/ 422882 h 763586"/>
                <a:gd name="connsiteX46" fmla="*/ 186848 w 511797"/>
                <a:gd name="connsiteY46" fmla="*/ 426393 h 763586"/>
                <a:gd name="connsiteX47" fmla="*/ 186848 w 511797"/>
                <a:gd name="connsiteY47" fmla="*/ 427515 h 763586"/>
                <a:gd name="connsiteX48" fmla="*/ 186224 w 511797"/>
                <a:gd name="connsiteY48" fmla="*/ 430690 h 763586"/>
                <a:gd name="connsiteX49" fmla="*/ 186224 w 511797"/>
                <a:gd name="connsiteY49" fmla="*/ 431812 h 763586"/>
                <a:gd name="connsiteX50" fmla="*/ 185945 w 511797"/>
                <a:gd name="connsiteY50" fmla="*/ 435208 h 763586"/>
                <a:gd name="connsiteX51" fmla="*/ 186224 w 511797"/>
                <a:gd name="connsiteY51" fmla="*/ 436795 h 763586"/>
                <a:gd name="connsiteX52" fmla="*/ 186224 w 511797"/>
                <a:gd name="connsiteY52" fmla="*/ 439505 h 763586"/>
                <a:gd name="connsiteX53" fmla="*/ 186224 w 511797"/>
                <a:gd name="connsiteY53" fmla="*/ 439956 h 763586"/>
                <a:gd name="connsiteX54" fmla="*/ 208741 w 511797"/>
                <a:gd name="connsiteY54" fmla="*/ 637351 h 763586"/>
                <a:gd name="connsiteX55" fmla="*/ 112308 w 511797"/>
                <a:gd name="connsiteY55" fmla="*/ 586002 h 763586"/>
                <a:gd name="connsiteX56" fmla="*/ 81647 w 511797"/>
                <a:gd name="connsiteY56" fmla="*/ 421525 h 763586"/>
                <a:gd name="connsiteX57" fmla="*/ 31768 w 511797"/>
                <a:gd name="connsiteY57" fmla="*/ 387806 h 763586"/>
                <a:gd name="connsiteX58" fmla="*/ 145 w 511797"/>
                <a:gd name="connsiteY58" fmla="*/ 441207 h 76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11797" h="763586">
                  <a:moveTo>
                    <a:pt x="145" y="441207"/>
                  </a:moveTo>
                  <a:lnTo>
                    <a:pt x="34085" y="624239"/>
                  </a:lnTo>
                  <a:cubicBezTo>
                    <a:pt x="36969" y="636229"/>
                    <a:pt x="44151" y="646746"/>
                    <a:pt x="54044" y="652851"/>
                  </a:cubicBezTo>
                  <a:lnTo>
                    <a:pt x="230345" y="755558"/>
                  </a:lnTo>
                  <a:cubicBezTo>
                    <a:pt x="230517" y="755793"/>
                    <a:pt x="230796" y="755793"/>
                    <a:pt x="231247" y="756244"/>
                  </a:cubicBezTo>
                  <a:cubicBezTo>
                    <a:pt x="231989" y="756929"/>
                    <a:pt x="232602" y="757380"/>
                    <a:pt x="233563" y="757482"/>
                  </a:cubicBezTo>
                  <a:cubicBezTo>
                    <a:pt x="234133" y="758282"/>
                    <a:pt x="234874" y="758282"/>
                    <a:pt x="235603" y="758282"/>
                  </a:cubicBezTo>
                  <a:cubicBezTo>
                    <a:pt x="236286" y="758848"/>
                    <a:pt x="236624" y="759184"/>
                    <a:pt x="237469" y="759184"/>
                  </a:cubicBezTo>
                  <a:cubicBezTo>
                    <a:pt x="238094" y="759184"/>
                    <a:pt x="238603" y="759524"/>
                    <a:pt x="239333" y="760090"/>
                  </a:cubicBezTo>
                  <a:cubicBezTo>
                    <a:pt x="239902" y="760090"/>
                    <a:pt x="240411" y="760090"/>
                    <a:pt x="241153" y="760090"/>
                  </a:cubicBezTo>
                  <a:cubicBezTo>
                    <a:pt x="242055" y="760992"/>
                    <a:pt x="242682" y="760992"/>
                    <a:pt x="243295" y="761107"/>
                  </a:cubicBezTo>
                  <a:cubicBezTo>
                    <a:pt x="244095" y="761677"/>
                    <a:pt x="244767" y="761677"/>
                    <a:pt x="245450" y="761677"/>
                  </a:cubicBezTo>
                  <a:cubicBezTo>
                    <a:pt x="245960" y="761677"/>
                    <a:pt x="246633" y="761677"/>
                    <a:pt x="247256" y="762013"/>
                  </a:cubicBezTo>
                  <a:cubicBezTo>
                    <a:pt x="248158" y="762013"/>
                    <a:pt x="248334" y="762128"/>
                    <a:pt x="249515" y="762128"/>
                  </a:cubicBezTo>
                  <a:cubicBezTo>
                    <a:pt x="249689" y="762128"/>
                    <a:pt x="250592" y="762128"/>
                    <a:pt x="251102" y="762128"/>
                  </a:cubicBezTo>
                  <a:cubicBezTo>
                    <a:pt x="252121" y="762128"/>
                    <a:pt x="252632" y="762128"/>
                    <a:pt x="253536" y="762128"/>
                  </a:cubicBezTo>
                  <a:cubicBezTo>
                    <a:pt x="253986" y="762128"/>
                    <a:pt x="254891" y="762128"/>
                    <a:pt x="255007" y="762013"/>
                  </a:cubicBezTo>
                  <a:cubicBezTo>
                    <a:pt x="255969" y="762013"/>
                    <a:pt x="256699" y="761677"/>
                    <a:pt x="257439" y="761677"/>
                  </a:cubicBezTo>
                  <a:cubicBezTo>
                    <a:pt x="258064" y="761677"/>
                    <a:pt x="258677" y="761677"/>
                    <a:pt x="259304" y="761677"/>
                  </a:cubicBezTo>
                  <a:cubicBezTo>
                    <a:pt x="260324" y="761107"/>
                    <a:pt x="260832" y="760992"/>
                    <a:pt x="261506" y="760992"/>
                  </a:cubicBezTo>
                  <a:cubicBezTo>
                    <a:pt x="262478" y="760090"/>
                    <a:pt x="263033" y="760090"/>
                    <a:pt x="263544" y="760090"/>
                  </a:cubicBezTo>
                  <a:cubicBezTo>
                    <a:pt x="264112" y="760090"/>
                    <a:pt x="264446" y="759524"/>
                    <a:pt x="265363" y="759524"/>
                  </a:cubicBezTo>
                  <a:lnTo>
                    <a:pt x="347479" y="729440"/>
                  </a:lnTo>
                  <a:cubicBezTo>
                    <a:pt x="366034" y="722870"/>
                    <a:pt x="378083" y="703073"/>
                    <a:pt x="375590" y="681928"/>
                  </a:cubicBezTo>
                  <a:lnTo>
                    <a:pt x="348045" y="422882"/>
                  </a:lnTo>
                  <a:cubicBezTo>
                    <a:pt x="347824" y="420844"/>
                    <a:pt x="347479" y="419257"/>
                    <a:pt x="346747" y="417219"/>
                  </a:cubicBezTo>
                  <a:lnTo>
                    <a:pt x="488543" y="331258"/>
                  </a:lnTo>
                  <a:cubicBezTo>
                    <a:pt x="502741" y="323221"/>
                    <a:pt x="511220" y="307951"/>
                    <a:pt x="510889" y="290983"/>
                  </a:cubicBezTo>
                  <a:lnTo>
                    <a:pt x="482088" y="42455"/>
                  </a:lnTo>
                  <a:cubicBezTo>
                    <a:pt x="481927" y="17575"/>
                    <a:pt x="462700" y="-2223"/>
                    <a:pt x="439669" y="-1436"/>
                  </a:cubicBezTo>
                  <a:cubicBezTo>
                    <a:pt x="416320" y="-1100"/>
                    <a:pt x="398216" y="19382"/>
                    <a:pt x="398446" y="43697"/>
                  </a:cubicBezTo>
                  <a:lnTo>
                    <a:pt x="426603" y="265081"/>
                  </a:lnTo>
                  <a:lnTo>
                    <a:pt x="208509" y="395393"/>
                  </a:lnTo>
                  <a:cubicBezTo>
                    <a:pt x="207386" y="395963"/>
                    <a:pt x="206482" y="396750"/>
                    <a:pt x="205973" y="396865"/>
                  </a:cubicBezTo>
                  <a:cubicBezTo>
                    <a:pt x="205742" y="397201"/>
                    <a:pt x="205058" y="397537"/>
                    <a:pt x="204663" y="397537"/>
                  </a:cubicBezTo>
                  <a:cubicBezTo>
                    <a:pt x="203876" y="398103"/>
                    <a:pt x="202914" y="399009"/>
                    <a:pt x="202347" y="399809"/>
                  </a:cubicBezTo>
                  <a:cubicBezTo>
                    <a:pt x="202347" y="399809"/>
                    <a:pt x="201779" y="400260"/>
                    <a:pt x="201779" y="400481"/>
                  </a:cubicBezTo>
                  <a:cubicBezTo>
                    <a:pt x="200540" y="401162"/>
                    <a:pt x="200032" y="402285"/>
                    <a:pt x="198734" y="402970"/>
                  </a:cubicBezTo>
                  <a:cubicBezTo>
                    <a:pt x="198734" y="403085"/>
                    <a:pt x="198734" y="403085"/>
                    <a:pt x="198386" y="403085"/>
                  </a:cubicBezTo>
                  <a:cubicBezTo>
                    <a:pt x="197367" y="403987"/>
                    <a:pt x="196695" y="405344"/>
                    <a:pt x="195676" y="406246"/>
                  </a:cubicBezTo>
                  <a:lnTo>
                    <a:pt x="195676" y="406246"/>
                  </a:lnTo>
                  <a:lnTo>
                    <a:pt x="195676" y="406246"/>
                  </a:lnTo>
                  <a:cubicBezTo>
                    <a:pt x="192908" y="409876"/>
                    <a:pt x="190926" y="414173"/>
                    <a:pt x="189340" y="418019"/>
                  </a:cubicBezTo>
                  <a:cubicBezTo>
                    <a:pt x="189340" y="418019"/>
                    <a:pt x="189340" y="418019"/>
                    <a:pt x="189340" y="418691"/>
                  </a:cubicBezTo>
                  <a:cubicBezTo>
                    <a:pt x="188658" y="419823"/>
                    <a:pt x="188379" y="420844"/>
                    <a:pt x="188203" y="422197"/>
                  </a:cubicBezTo>
                  <a:cubicBezTo>
                    <a:pt x="187869" y="422431"/>
                    <a:pt x="187869" y="422882"/>
                    <a:pt x="187869" y="422882"/>
                  </a:cubicBezTo>
                  <a:cubicBezTo>
                    <a:pt x="187418" y="424571"/>
                    <a:pt x="187184" y="425256"/>
                    <a:pt x="186848" y="426393"/>
                  </a:cubicBezTo>
                  <a:cubicBezTo>
                    <a:pt x="186848" y="426844"/>
                    <a:pt x="186848" y="426945"/>
                    <a:pt x="186848" y="427515"/>
                  </a:cubicBezTo>
                  <a:cubicBezTo>
                    <a:pt x="186629" y="428537"/>
                    <a:pt x="186224" y="429668"/>
                    <a:pt x="186224" y="430690"/>
                  </a:cubicBezTo>
                  <a:cubicBezTo>
                    <a:pt x="186224" y="431246"/>
                    <a:pt x="186224" y="431697"/>
                    <a:pt x="186224" y="431812"/>
                  </a:cubicBezTo>
                  <a:cubicBezTo>
                    <a:pt x="185945" y="433170"/>
                    <a:pt x="185945" y="433965"/>
                    <a:pt x="185945" y="435208"/>
                  </a:cubicBezTo>
                  <a:cubicBezTo>
                    <a:pt x="185945" y="435553"/>
                    <a:pt x="185945" y="435889"/>
                    <a:pt x="186224" y="436795"/>
                  </a:cubicBezTo>
                  <a:cubicBezTo>
                    <a:pt x="186224" y="437812"/>
                    <a:pt x="186224" y="438833"/>
                    <a:pt x="186224" y="439505"/>
                  </a:cubicBezTo>
                  <a:cubicBezTo>
                    <a:pt x="186224" y="439956"/>
                    <a:pt x="186224" y="439956"/>
                    <a:pt x="186224" y="439956"/>
                  </a:cubicBezTo>
                  <a:lnTo>
                    <a:pt x="208741" y="637351"/>
                  </a:lnTo>
                  <a:lnTo>
                    <a:pt x="112308" y="586002"/>
                  </a:lnTo>
                  <a:lnTo>
                    <a:pt x="81647" y="421525"/>
                  </a:lnTo>
                  <a:cubicBezTo>
                    <a:pt x="76839" y="397537"/>
                    <a:pt x="54044" y="382156"/>
                    <a:pt x="31768" y="387806"/>
                  </a:cubicBezTo>
                  <a:cubicBezTo>
                    <a:pt x="9366" y="393125"/>
                    <a:pt x="-4997" y="417219"/>
                    <a:pt x="145" y="441207"/>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6" name="任意多边形: 形状 75"/>
            <p:cNvSpPr/>
            <p:nvPr/>
          </p:nvSpPr>
          <p:spPr>
            <a:xfrm flipV="1">
              <a:off x="5726628" y="3401642"/>
              <a:ext cx="148288" cy="610413"/>
            </a:xfrm>
            <a:custGeom>
              <a:avLst/>
              <a:gdLst>
                <a:gd name="connsiteX0" fmla="*/ -88 w 148288"/>
                <a:gd name="connsiteY0" fmla="*/ 52341 h 556621"/>
                <a:gd name="connsiteX1" fmla="*/ 68697 w 148288"/>
                <a:gd name="connsiteY1" fmla="*/ 551096 h 556621"/>
                <a:gd name="connsiteX2" fmla="*/ 70897 w 148288"/>
                <a:gd name="connsiteY2" fmla="*/ 555844 h 556621"/>
                <a:gd name="connsiteX3" fmla="*/ 147489 w 148288"/>
                <a:gd name="connsiteY3" fmla="*/ 510264 h 556621"/>
                <a:gd name="connsiteX4" fmla="*/ 82041 w 148288"/>
                <a:gd name="connsiteY4" fmla="*/ 35941 h 556621"/>
                <a:gd name="connsiteX5" fmla="*/ 33913 w 148288"/>
                <a:gd name="connsiteY5" fmla="*/ -145 h 556621"/>
                <a:gd name="connsiteX6" fmla="*/ -88 w 148288"/>
                <a:gd name="connsiteY6" fmla="*/ 52341 h 55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288" h="556621">
                  <a:moveTo>
                    <a:pt x="-88" y="52341"/>
                  </a:moveTo>
                  <a:lnTo>
                    <a:pt x="68697" y="551096"/>
                  </a:lnTo>
                  <a:cubicBezTo>
                    <a:pt x="69150" y="554707"/>
                    <a:pt x="69323" y="552568"/>
                    <a:pt x="70897" y="555844"/>
                  </a:cubicBezTo>
                  <a:lnTo>
                    <a:pt x="147489" y="510264"/>
                  </a:lnTo>
                  <a:lnTo>
                    <a:pt x="82041" y="35941"/>
                  </a:lnTo>
                  <a:cubicBezTo>
                    <a:pt x="78138" y="11731"/>
                    <a:pt x="56302" y="-4212"/>
                    <a:pt x="33913" y="-145"/>
                  </a:cubicBezTo>
                  <a:cubicBezTo>
                    <a:pt x="10780" y="4603"/>
                    <a:pt x="-4325" y="28026"/>
                    <a:pt x="-88" y="52341"/>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任意多边形: 形状 76"/>
            <p:cNvSpPr/>
            <p:nvPr/>
          </p:nvSpPr>
          <p:spPr>
            <a:xfrm flipV="1">
              <a:off x="5970387" y="3181175"/>
              <a:ext cx="141832" cy="157052"/>
            </a:xfrm>
            <a:custGeom>
              <a:avLst/>
              <a:gdLst>
                <a:gd name="connsiteX0" fmla="*/ 10892 w 141832"/>
                <a:gd name="connsiteY0" fmla="*/ 155273 h 157052"/>
                <a:gd name="connsiteX1" fmla="*/ 121352 w 141832"/>
                <a:gd name="connsiteY1" fmla="*/ 80616 h 157052"/>
                <a:gd name="connsiteX2" fmla="*/ 133792 w 141832"/>
                <a:gd name="connsiteY2" fmla="*/ 18971 h 157052"/>
                <a:gd name="connsiteX3" fmla="*/ 75818 w 141832"/>
                <a:gd name="connsiteY3" fmla="*/ 5058 h 157052"/>
                <a:gd name="connsiteX4" fmla="*/ -1272 w 141832"/>
                <a:gd name="connsiteY4" fmla="*/ 58445 h 157052"/>
                <a:gd name="connsiteX5" fmla="*/ 10892 w 141832"/>
                <a:gd name="connsiteY5" fmla="*/ 155273 h 157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32" h="157052">
                  <a:moveTo>
                    <a:pt x="10892" y="155273"/>
                  </a:moveTo>
                  <a:lnTo>
                    <a:pt x="121352" y="80616"/>
                  </a:lnTo>
                  <a:cubicBezTo>
                    <a:pt x="140694" y="67044"/>
                    <a:pt x="146523" y="39334"/>
                    <a:pt x="133792" y="18971"/>
                  </a:cubicBezTo>
                  <a:cubicBezTo>
                    <a:pt x="121352" y="-2299"/>
                    <a:pt x="95220" y="-7728"/>
                    <a:pt x="75818" y="5058"/>
                  </a:cubicBezTo>
                  <a:lnTo>
                    <a:pt x="-1272" y="58445"/>
                  </a:lnTo>
                  <a:lnTo>
                    <a:pt x="10892" y="155273"/>
                  </a:ln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95" name="矩形 94"/>
          <p:cNvSpPr/>
          <p:nvPr>
            <p:custDataLst>
              <p:tags r:id="rId2"/>
            </p:custDataLst>
          </p:nvPr>
        </p:nvSpPr>
        <p:spPr>
          <a:xfrm>
            <a:off x="6425863" y="1232419"/>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6" name="矩形 95"/>
          <p:cNvSpPr/>
          <p:nvPr>
            <p:custDataLst>
              <p:tags r:id="rId3"/>
            </p:custDataLst>
          </p:nvPr>
        </p:nvSpPr>
        <p:spPr>
          <a:xfrm>
            <a:off x="6283624" y="1232419"/>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1" name="矩形 100"/>
          <p:cNvSpPr/>
          <p:nvPr>
            <p:custDataLst>
              <p:tags r:id="rId4"/>
            </p:custDataLst>
          </p:nvPr>
        </p:nvSpPr>
        <p:spPr>
          <a:xfrm>
            <a:off x="10235758" y="1232419"/>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椭圆 96"/>
          <p:cNvSpPr/>
          <p:nvPr>
            <p:custDataLst>
              <p:tags r:id="rId5"/>
            </p:custDataLst>
          </p:nvPr>
        </p:nvSpPr>
        <p:spPr>
          <a:xfrm>
            <a:off x="6343984" y="1780474"/>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文本框 92"/>
          <p:cNvSpPr txBox="1"/>
          <p:nvPr>
            <p:custDataLst>
              <p:tags r:id="rId6"/>
            </p:custDataLst>
          </p:nvPr>
        </p:nvSpPr>
        <p:spPr>
          <a:xfrm>
            <a:off x="6686826" y="1391509"/>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业绩突破与市场拓展</a:t>
            </a:r>
          </a:p>
        </p:txBody>
      </p:sp>
      <p:sp>
        <p:nvSpPr>
          <p:cNvPr id="94" name="文本框 93"/>
          <p:cNvSpPr txBox="1"/>
          <p:nvPr>
            <p:custDataLst>
              <p:tags r:id="rId7"/>
            </p:custDataLst>
          </p:nvPr>
        </p:nvSpPr>
        <p:spPr>
          <a:xfrm>
            <a:off x="6686826" y="1705776"/>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力争季度销售额同比提升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，并建立动态客户分层管理体系，实现高价值客户复购率增长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9" name="文本框 126"/>
          <p:cNvSpPr txBox="1"/>
          <p:nvPr>
            <p:custDataLst>
              <p:tags r:id="rId8"/>
            </p:custDataLst>
          </p:nvPr>
        </p:nvSpPr>
        <p:spPr>
          <a:xfrm>
            <a:off x="10377903" y="1439176"/>
            <a:ext cx="13227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1000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文本框 126"/>
          <p:cNvSpPr txBox="1"/>
          <p:nvPr>
            <p:custDataLst>
              <p:tags r:id="rId9"/>
            </p:custDataLst>
          </p:nvPr>
        </p:nvSpPr>
        <p:spPr>
          <a:xfrm>
            <a:off x="10572920" y="1880814"/>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业绩争取</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109"/>
          <p:cNvSpPr/>
          <p:nvPr>
            <p:custDataLst>
              <p:tags r:id="rId10"/>
            </p:custDataLst>
          </p:nvPr>
        </p:nvSpPr>
        <p:spPr>
          <a:xfrm>
            <a:off x="6425863" y="2559874"/>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矩形 110"/>
          <p:cNvSpPr/>
          <p:nvPr>
            <p:custDataLst>
              <p:tags r:id="rId11"/>
            </p:custDataLst>
          </p:nvPr>
        </p:nvSpPr>
        <p:spPr>
          <a:xfrm>
            <a:off x="6283624" y="2559874"/>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矩形 111"/>
          <p:cNvSpPr/>
          <p:nvPr>
            <p:custDataLst>
              <p:tags r:id="rId12"/>
            </p:custDataLst>
          </p:nvPr>
        </p:nvSpPr>
        <p:spPr>
          <a:xfrm>
            <a:off x="10235758" y="2559874"/>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椭圆 104"/>
          <p:cNvSpPr/>
          <p:nvPr>
            <p:custDataLst>
              <p:tags r:id="rId13"/>
            </p:custDataLst>
          </p:nvPr>
        </p:nvSpPr>
        <p:spPr>
          <a:xfrm>
            <a:off x="6343984" y="3107929"/>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文本框 105"/>
          <p:cNvSpPr txBox="1"/>
          <p:nvPr>
            <p:custDataLst>
              <p:tags r:id="rId14"/>
            </p:custDataLst>
          </p:nvPr>
        </p:nvSpPr>
        <p:spPr>
          <a:xfrm>
            <a:off x="6686826" y="2718964"/>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客户关系深度运营</a:t>
            </a:r>
          </a:p>
        </p:txBody>
      </p:sp>
      <p:sp>
        <p:nvSpPr>
          <p:cNvPr id="107" name="文本框 106"/>
          <p:cNvSpPr txBox="1"/>
          <p:nvPr>
            <p:custDataLst>
              <p:tags r:id="rId15"/>
            </p:custDataLst>
          </p:nvPr>
        </p:nvSpPr>
        <p:spPr>
          <a:xfrm>
            <a:off x="6686826" y="3033231"/>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构建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售前精准画像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售中定制服务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售后价值延伸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全周期服务链，每月开展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次客户满意度调研。</a:t>
            </a:r>
          </a:p>
        </p:txBody>
      </p:sp>
      <p:sp>
        <p:nvSpPr>
          <p:cNvPr id="108" name="文本框 126"/>
          <p:cNvSpPr txBox="1"/>
          <p:nvPr>
            <p:custDataLst>
              <p:tags r:id="rId16"/>
            </p:custDataLst>
          </p:nvPr>
        </p:nvSpPr>
        <p:spPr>
          <a:xfrm>
            <a:off x="10454478" y="2766631"/>
            <a:ext cx="107124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3-5</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9" name="文本框 126"/>
          <p:cNvSpPr txBox="1"/>
          <p:nvPr>
            <p:custDataLst>
              <p:tags r:id="rId17"/>
            </p:custDataLst>
          </p:nvPr>
        </p:nvSpPr>
        <p:spPr>
          <a:xfrm>
            <a:off x="10526614" y="3208269"/>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标杆案例</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矩形 119"/>
          <p:cNvSpPr/>
          <p:nvPr>
            <p:custDataLst>
              <p:tags r:id="rId18"/>
            </p:custDataLst>
          </p:nvPr>
        </p:nvSpPr>
        <p:spPr>
          <a:xfrm>
            <a:off x="6425863" y="3887329"/>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矩形 120"/>
          <p:cNvSpPr/>
          <p:nvPr>
            <p:custDataLst>
              <p:tags r:id="rId19"/>
            </p:custDataLst>
          </p:nvPr>
        </p:nvSpPr>
        <p:spPr>
          <a:xfrm>
            <a:off x="6283624" y="3887329"/>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矩形 121"/>
          <p:cNvSpPr/>
          <p:nvPr>
            <p:custDataLst>
              <p:tags r:id="rId20"/>
            </p:custDataLst>
          </p:nvPr>
        </p:nvSpPr>
        <p:spPr>
          <a:xfrm>
            <a:off x="10235758" y="3887329"/>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椭圆 114"/>
          <p:cNvSpPr/>
          <p:nvPr>
            <p:custDataLst>
              <p:tags r:id="rId21"/>
            </p:custDataLst>
          </p:nvPr>
        </p:nvSpPr>
        <p:spPr>
          <a:xfrm>
            <a:off x="6343984" y="4435384"/>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文本框 115"/>
          <p:cNvSpPr txBox="1"/>
          <p:nvPr>
            <p:custDataLst>
              <p:tags r:id="rId22"/>
            </p:custDataLst>
          </p:nvPr>
        </p:nvSpPr>
        <p:spPr>
          <a:xfrm>
            <a:off x="6686826" y="4046419"/>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数字化销售能力升级</a:t>
            </a:r>
          </a:p>
        </p:txBody>
      </p:sp>
      <p:sp>
        <p:nvSpPr>
          <p:cNvPr id="117" name="文本框 116"/>
          <p:cNvSpPr txBox="1"/>
          <p:nvPr>
            <p:custDataLst>
              <p:tags r:id="rId23"/>
            </p:custDataLst>
          </p:nvPr>
        </p:nvSpPr>
        <p:spPr>
          <a:xfrm>
            <a:off x="6686826" y="4360686"/>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系统学习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数据分析工具与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获客技术，实现客户跟进效率提升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18" name="文本框 126"/>
          <p:cNvSpPr txBox="1"/>
          <p:nvPr>
            <p:custDataLst>
              <p:tags r:id="rId24"/>
            </p:custDataLst>
          </p:nvPr>
        </p:nvSpPr>
        <p:spPr>
          <a:xfrm>
            <a:off x="10562681" y="4094086"/>
            <a:ext cx="85026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18</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26"/>
          <p:cNvSpPr txBox="1"/>
          <p:nvPr>
            <p:custDataLst>
              <p:tags r:id="rId25"/>
            </p:custDataLst>
          </p:nvPr>
        </p:nvSpPr>
        <p:spPr>
          <a:xfrm>
            <a:off x="10424021" y="4535724"/>
            <a:ext cx="11988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线索转化率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矩形 129"/>
          <p:cNvSpPr/>
          <p:nvPr>
            <p:custDataLst>
              <p:tags r:id="rId26"/>
            </p:custDataLst>
          </p:nvPr>
        </p:nvSpPr>
        <p:spPr>
          <a:xfrm>
            <a:off x="6425863" y="5214784"/>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130"/>
          <p:cNvSpPr/>
          <p:nvPr>
            <p:custDataLst>
              <p:tags r:id="rId27"/>
            </p:custDataLst>
          </p:nvPr>
        </p:nvSpPr>
        <p:spPr>
          <a:xfrm>
            <a:off x="6283624" y="5214784"/>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矩形 131"/>
          <p:cNvSpPr/>
          <p:nvPr>
            <p:custDataLst>
              <p:tags r:id="rId28"/>
            </p:custDataLst>
          </p:nvPr>
        </p:nvSpPr>
        <p:spPr>
          <a:xfrm>
            <a:off x="10235758" y="5214784"/>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椭圆 124"/>
          <p:cNvSpPr/>
          <p:nvPr>
            <p:custDataLst>
              <p:tags r:id="rId29"/>
            </p:custDataLst>
          </p:nvPr>
        </p:nvSpPr>
        <p:spPr>
          <a:xfrm>
            <a:off x="6343984" y="5762839"/>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6" name="文本框 125"/>
          <p:cNvSpPr txBox="1"/>
          <p:nvPr>
            <p:custDataLst>
              <p:tags r:id="rId30"/>
            </p:custDataLst>
          </p:nvPr>
        </p:nvSpPr>
        <p:spPr>
          <a:xfrm>
            <a:off x="6686826" y="5373874"/>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团队协同与价值共创</a:t>
            </a:r>
          </a:p>
        </p:txBody>
      </p:sp>
      <p:sp>
        <p:nvSpPr>
          <p:cNvPr id="127" name="文本框 126"/>
          <p:cNvSpPr txBox="1"/>
          <p:nvPr>
            <p:custDataLst>
              <p:tags r:id="rId31"/>
            </p:custDataLst>
          </p:nvPr>
        </p:nvSpPr>
        <p:spPr>
          <a:xfrm>
            <a:off x="6686826" y="5688141"/>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主动联动产品、售后部门建立快速响应机制，缩短客户问题解决周期至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小时内。</a:t>
            </a:r>
          </a:p>
        </p:txBody>
      </p:sp>
      <p:sp>
        <p:nvSpPr>
          <p:cNvPr id="128" name="文本框 126"/>
          <p:cNvSpPr txBox="1"/>
          <p:nvPr>
            <p:custDataLst>
              <p:tags r:id="rId32"/>
            </p:custDataLst>
          </p:nvPr>
        </p:nvSpPr>
        <p:spPr>
          <a:xfrm>
            <a:off x="10471310" y="5421541"/>
            <a:ext cx="10560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110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文本框 126"/>
          <p:cNvSpPr txBox="1"/>
          <p:nvPr>
            <p:custDataLst>
              <p:tags r:id="rId33"/>
            </p:custDataLst>
          </p:nvPr>
        </p:nvSpPr>
        <p:spPr>
          <a:xfrm>
            <a:off x="10424021" y="5863179"/>
            <a:ext cx="11988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业绩达成率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文本框 4"/>
          <p:cNvSpPr txBox="1"/>
          <p:nvPr/>
        </p:nvSpPr>
        <p:spPr>
          <a:xfrm>
            <a:off x="2773105" y="1869227"/>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6" name="文本框 15"/>
          <p:cNvSpPr txBox="1"/>
          <p:nvPr/>
        </p:nvSpPr>
        <p:spPr>
          <a:xfrm>
            <a:off x="2773105" y="2933739"/>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 name="文本框 16"/>
          <p:cNvSpPr txBox="1"/>
          <p:nvPr/>
        </p:nvSpPr>
        <p:spPr>
          <a:xfrm>
            <a:off x="2773105" y="4207228"/>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8" name="文本框 17"/>
          <p:cNvSpPr txBox="1"/>
          <p:nvPr/>
        </p:nvSpPr>
        <p:spPr>
          <a:xfrm>
            <a:off x="2773105" y="5271740"/>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9" name="组合 28"/>
          <p:cNvGrpSpPr/>
          <p:nvPr/>
        </p:nvGrpSpPr>
        <p:grpSpPr>
          <a:xfrm>
            <a:off x="657657" y="1377695"/>
            <a:ext cx="2490880" cy="2460137"/>
            <a:chOff x="724532" y="1400845"/>
            <a:chExt cx="2490880" cy="2460137"/>
          </a:xfrm>
        </p:grpSpPr>
        <p:grpSp>
          <p:nvGrpSpPr>
            <p:cNvPr id="21" name="组合 20"/>
            <p:cNvGrpSpPr/>
            <p:nvPr/>
          </p:nvGrpSpPr>
          <p:grpSpPr>
            <a:xfrm>
              <a:off x="724532" y="2635492"/>
              <a:ext cx="1237976" cy="1225490"/>
              <a:chOff x="705870" y="1917056"/>
              <a:chExt cx="1954306" cy="1934595"/>
            </a:xfrm>
          </p:grpSpPr>
          <p:sp>
            <p:nvSpPr>
              <p:cNvPr id="63" name="任意多边形: 形状 62"/>
              <p:cNvSpPr/>
              <p:nvPr/>
            </p:nvSpPr>
            <p:spPr>
              <a:xfrm>
                <a:off x="705870" y="3471984"/>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4" name="任意多边形: 形状 63"/>
              <p:cNvSpPr/>
              <p:nvPr/>
            </p:nvSpPr>
            <p:spPr>
              <a:xfrm>
                <a:off x="1099530" y="3083252"/>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5" name="任意多边形: 形状 64"/>
              <p:cNvSpPr/>
              <p:nvPr/>
            </p:nvSpPr>
            <p:spPr>
              <a:xfrm>
                <a:off x="1493190" y="2694520"/>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任意多边形: 形状 18"/>
              <p:cNvSpPr/>
              <p:nvPr/>
            </p:nvSpPr>
            <p:spPr>
              <a:xfrm>
                <a:off x="1886850" y="2305788"/>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任意多边形: 形状 19"/>
              <p:cNvSpPr/>
              <p:nvPr/>
            </p:nvSpPr>
            <p:spPr>
              <a:xfrm>
                <a:off x="2280509" y="1917056"/>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 name="组合 21"/>
            <p:cNvGrpSpPr/>
            <p:nvPr/>
          </p:nvGrpSpPr>
          <p:grpSpPr>
            <a:xfrm>
              <a:off x="1977436" y="1400845"/>
              <a:ext cx="1237976" cy="1225490"/>
              <a:chOff x="705870" y="1917056"/>
              <a:chExt cx="1954306" cy="1934595"/>
            </a:xfrm>
          </p:grpSpPr>
          <p:sp>
            <p:nvSpPr>
              <p:cNvPr id="23" name="任意多边形: 形状 22"/>
              <p:cNvSpPr/>
              <p:nvPr/>
            </p:nvSpPr>
            <p:spPr>
              <a:xfrm>
                <a:off x="705870" y="3471984"/>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任意多边形: 形状 23"/>
              <p:cNvSpPr/>
              <p:nvPr/>
            </p:nvSpPr>
            <p:spPr>
              <a:xfrm>
                <a:off x="1099530" y="3083252"/>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任意多边形: 形状 24"/>
              <p:cNvSpPr/>
              <p:nvPr/>
            </p:nvSpPr>
            <p:spPr>
              <a:xfrm>
                <a:off x="1493190" y="2694520"/>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 name="任意多边形: 形状 25"/>
              <p:cNvSpPr/>
              <p:nvPr/>
            </p:nvSpPr>
            <p:spPr>
              <a:xfrm>
                <a:off x="1886850" y="2305788"/>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任意多边形: 形状 26"/>
              <p:cNvSpPr/>
              <p:nvPr/>
            </p:nvSpPr>
            <p:spPr>
              <a:xfrm>
                <a:off x="2280509" y="1917056"/>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rot="16200000" flipH="1">
            <a:off x="8467863" y="151042"/>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39"/>
          <p:cNvSpPr/>
          <p:nvPr/>
        </p:nvSpPr>
        <p:spPr>
          <a:xfrm rot="16200000" flipH="1">
            <a:off x="8467863" y="2882900"/>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矩形 36"/>
          <p:cNvSpPr/>
          <p:nvPr/>
        </p:nvSpPr>
        <p:spPr>
          <a:xfrm rot="5400000">
            <a:off x="1224704" y="151041"/>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矩形 37"/>
          <p:cNvSpPr/>
          <p:nvPr/>
        </p:nvSpPr>
        <p:spPr>
          <a:xfrm rot="5400000">
            <a:off x="1224704" y="2882899"/>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工作挑战与解决方法</a:t>
            </a:r>
          </a:p>
        </p:txBody>
      </p:sp>
      <p:sp>
        <p:nvSpPr>
          <p:cNvPr id="16" name="流程图: 顺序访问存储器 15"/>
          <p:cNvSpPr/>
          <p:nvPr/>
        </p:nvSpPr>
        <p:spPr>
          <a:xfrm>
            <a:off x="3475950" y="1148732"/>
            <a:ext cx="2508228" cy="2508227"/>
          </a:xfrm>
          <a:prstGeom prst="flowChartMagneticTa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流程图: 顺序访问存储器 17"/>
          <p:cNvSpPr/>
          <p:nvPr/>
        </p:nvSpPr>
        <p:spPr>
          <a:xfrm rot="5400000">
            <a:off x="6207822" y="1148732"/>
            <a:ext cx="2508227" cy="2508228"/>
          </a:xfrm>
          <a:prstGeom prst="flowChartMagneticTap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流程图: 顺序访问存储器 20"/>
          <p:cNvSpPr/>
          <p:nvPr/>
        </p:nvSpPr>
        <p:spPr>
          <a:xfrm rot="10800000">
            <a:off x="6207822" y="3871593"/>
            <a:ext cx="2508228" cy="2508227"/>
          </a:xfrm>
          <a:prstGeom prst="flowChartMagneticTap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流程图: 顺序访问存储器 21"/>
          <p:cNvSpPr/>
          <p:nvPr/>
        </p:nvSpPr>
        <p:spPr>
          <a:xfrm rot="16200000">
            <a:off x="3475950" y="3871592"/>
            <a:ext cx="2508227" cy="2508228"/>
          </a:xfrm>
          <a:prstGeom prst="flowChartMagneticTap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nvSpPr>
        <p:spPr>
          <a:xfrm>
            <a:off x="3679014" y="1332619"/>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任意多边形: 形状 28"/>
          <p:cNvSpPr/>
          <p:nvPr/>
        </p:nvSpPr>
        <p:spPr>
          <a:xfrm>
            <a:off x="6410884" y="1332619"/>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任意多边形: 形状 29"/>
          <p:cNvSpPr/>
          <p:nvPr/>
        </p:nvSpPr>
        <p:spPr>
          <a:xfrm>
            <a:off x="3679014" y="4018563"/>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 name="任意多边形: 形状 30"/>
          <p:cNvSpPr/>
          <p:nvPr/>
        </p:nvSpPr>
        <p:spPr>
          <a:xfrm>
            <a:off x="6410884" y="4018563"/>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 name="等腰三角形 31"/>
          <p:cNvSpPr/>
          <p:nvPr/>
        </p:nvSpPr>
        <p:spPr>
          <a:xfrm rot="5400000">
            <a:off x="5892580" y="3390250"/>
            <a:ext cx="368453" cy="164964"/>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等腰三角形 32"/>
          <p:cNvSpPr/>
          <p:nvPr/>
        </p:nvSpPr>
        <p:spPr>
          <a:xfrm rot="10800000">
            <a:off x="6207821" y="3666358"/>
            <a:ext cx="368453" cy="164964"/>
          </a:xfrm>
          <a:prstGeom prst="triangl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等腰三角形 33"/>
          <p:cNvSpPr/>
          <p:nvPr/>
        </p:nvSpPr>
        <p:spPr>
          <a:xfrm rot="16200000">
            <a:off x="5930302" y="3973336"/>
            <a:ext cx="368453" cy="164964"/>
          </a:xfrm>
          <a:prstGeom prs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5615725" y="3694457"/>
            <a:ext cx="368453" cy="164964"/>
          </a:xfrm>
          <a:prstGeom prst="triangle">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弧形 40"/>
          <p:cNvSpPr/>
          <p:nvPr/>
        </p:nvSpPr>
        <p:spPr>
          <a:xfrm>
            <a:off x="3715233" y="12928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弧形 41"/>
          <p:cNvSpPr/>
          <p:nvPr/>
        </p:nvSpPr>
        <p:spPr>
          <a:xfrm rot="5400000">
            <a:off x="3864529" y="13391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5" name="弧形 44"/>
          <p:cNvSpPr/>
          <p:nvPr/>
        </p:nvSpPr>
        <p:spPr>
          <a:xfrm rot="10800000">
            <a:off x="3715233" y="1443306"/>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6" name="弧形 45"/>
          <p:cNvSpPr/>
          <p:nvPr/>
        </p:nvSpPr>
        <p:spPr>
          <a:xfrm rot="16200000">
            <a:off x="3565937" y="13391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8" name="文本框 47"/>
          <p:cNvSpPr txBox="1"/>
          <p:nvPr/>
        </p:nvSpPr>
        <p:spPr>
          <a:xfrm>
            <a:off x="3679014" y="1632460"/>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1</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49" name="文本框 48"/>
          <p:cNvSpPr txBox="1"/>
          <p:nvPr/>
        </p:nvSpPr>
        <p:spPr>
          <a:xfrm>
            <a:off x="3713506" y="2318766"/>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市场竞争加剧导致盈利能力增长乏力</a:t>
            </a:r>
          </a:p>
        </p:txBody>
      </p:sp>
      <p:sp>
        <p:nvSpPr>
          <p:cNvPr id="58" name="文本框 57"/>
          <p:cNvSpPr txBox="1"/>
          <p:nvPr/>
        </p:nvSpPr>
        <p:spPr>
          <a:xfrm>
            <a:off x="6374665" y="1632460"/>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2</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59" name="文本框 58"/>
          <p:cNvSpPr txBox="1"/>
          <p:nvPr/>
        </p:nvSpPr>
        <p:spPr>
          <a:xfrm>
            <a:off x="6409157" y="2318766"/>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供应链波动影响运营效率稳定性</a:t>
            </a:r>
          </a:p>
        </p:txBody>
      </p:sp>
      <p:sp>
        <p:nvSpPr>
          <p:cNvPr id="61" name="文本框 60"/>
          <p:cNvSpPr txBox="1"/>
          <p:nvPr/>
        </p:nvSpPr>
        <p:spPr>
          <a:xfrm>
            <a:off x="3679014" y="4327933"/>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4</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62" name="文本框 61"/>
          <p:cNvSpPr txBox="1"/>
          <p:nvPr/>
        </p:nvSpPr>
        <p:spPr>
          <a:xfrm>
            <a:off x="3713506" y="5014239"/>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数字化转型中数据安全与合规风险</a:t>
            </a:r>
          </a:p>
        </p:txBody>
      </p:sp>
      <p:sp>
        <p:nvSpPr>
          <p:cNvPr id="64" name="文本框 63"/>
          <p:cNvSpPr txBox="1"/>
          <p:nvPr/>
        </p:nvSpPr>
        <p:spPr>
          <a:xfrm>
            <a:off x="6374665" y="4327933"/>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3</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65" name="文本框 64"/>
          <p:cNvSpPr txBox="1"/>
          <p:nvPr/>
        </p:nvSpPr>
        <p:spPr>
          <a:xfrm>
            <a:off x="6409157" y="5014239"/>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融资渠道单一制约偿债能力优化</a:t>
            </a:r>
          </a:p>
        </p:txBody>
      </p:sp>
      <p:sp>
        <p:nvSpPr>
          <p:cNvPr id="50" name="文本框 49"/>
          <p:cNvSpPr txBox="1"/>
          <p:nvPr/>
        </p:nvSpPr>
        <p:spPr>
          <a:xfrm>
            <a:off x="372420" y="2060090"/>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推行“作业成本法”，识别低效率工序并优化，目标降低单位制造成本</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矩形: 圆角 50"/>
          <p:cNvSpPr/>
          <p:nvPr/>
        </p:nvSpPr>
        <p:spPr>
          <a:xfrm>
            <a:off x="416862" y="1702539"/>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成本端</a:t>
            </a:r>
          </a:p>
        </p:txBody>
      </p:sp>
      <p:sp>
        <p:nvSpPr>
          <p:cNvPr id="66" name="矩形 65"/>
          <p:cNvSpPr/>
          <p:nvPr/>
        </p:nvSpPr>
        <p:spPr>
          <a:xfrm>
            <a:off x="347075" y="1260336"/>
            <a:ext cx="2979578" cy="37212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68" name="文本框 67"/>
          <p:cNvSpPr txBox="1"/>
          <p:nvPr/>
        </p:nvSpPr>
        <p:spPr>
          <a:xfrm>
            <a:off x="372420" y="3026093"/>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成立专项小组研发高附加值服务，将其营收占比提升至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矩形: 圆角 68"/>
          <p:cNvSpPr/>
          <p:nvPr/>
        </p:nvSpPr>
        <p:spPr>
          <a:xfrm>
            <a:off x="416862" y="2668542"/>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产品端</a:t>
            </a:r>
          </a:p>
        </p:txBody>
      </p:sp>
      <p:sp>
        <p:nvSpPr>
          <p:cNvPr id="72" name="文本框 71"/>
          <p:cNvSpPr txBox="1"/>
          <p:nvPr/>
        </p:nvSpPr>
        <p:spPr>
          <a:xfrm>
            <a:off x="8908239" y="2060090"/>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结合历史数据和市场需求动态调整安全库存，呆滞库存占比控制在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以内</a:t>
            </a:r>
          </a:p>
        </p:txBody>
      </p:sp>
      <p:sp>
        <p:nvSpPr>
          <p:cNvPr id="73" name="矩形: 圆角 72"/>
          <p:cNvSpPr/>
          <p:nvPr/>
        </p:nvSpPr>
        <p:spPr>
          <a:xfrm>
            <a:off x="8952681" y="1702539"/>
            <a:ext cx="1221354" cy="288673"/>
          </a:xfrm>
          <a:prstGeom prst="roundRect">
            <a:avLst>
              <a:gd name="adj" fmla="val 50000"/>
            </a:avLst>
          </a:prstGeom>
          <a:solidFill>
            <a:schemeClr val="accent3">
              <a:lumMod val="5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库存策略</a:t>
            </a:r>
          </a:p>
        </p:txBody>
      </p:sp>
      <p:sp>
        <p:nvSpPr>
          <p:cNvPr id="74" name="矩形 73"/>
          <p:cNvSpPr/>
          <p:nvPr/>
        </p:nvSpPr>
        <p:spPr>
          <a:xfrm>
            <a:off x="8882894" y="1260336"/>
            <a:ext cx="2979578" cy="372124"/>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75" name="文本框 74"/>
          <p:cNvSpPr txBox="1"/>
          <p:nvPr/>
        </p:nvSpPr>
        <p:spPr>
          <a:xfrm>
            <a:off x="8908239" y="3026093"/>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与核心供应商共享销售预测数据，实施</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VMI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模式，缩短采购提前期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76" name="矩形: 圆角 75"/>
          <p:cNvSpPr/>
          <p:nvPr/>
        </p:nvSpPr>
        <p:spPr>
          <a:xfrm>
            <a:off x="8952681" y="2668542"/>
            <a:ext cx="1221354" cy="288673"/>
          </a:xfrm>
          <a:prstGeom prst="roundRect">
            <a:avLst>
              <a:gd name="adj" fmla="val 50000"/>
            </a:avLst>
          </a:prstGeom>
          <a:solidFill>
            <a:schemeClr val="accent3">
              <a:lumMod val="5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协同机制</a:t>
            </a:r>
          </a:p>
        </p:txBody>
      </p:sp>
      <p:sp>
        <p:nvSpPr>
          <p:cNvPr id="78" name="文本框 77"/>
          <p:cNvSpPr txBox="1"/>
          <p:nvPr/>
        </p:nvSpPr>
        <p:spPr>
          <a:xfrm>
            <a:off x="372420" y="4791509"/>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部署数据脱敏系统，对客户信息、核心财务数据进行加密处理</a:t>
            </a:r>
          </a:p>
        </p:txBody>
      </p:sp>
      <p:sp>
        <p:nvSpPr>
          <p:cNvPr id="79" name="矩形: 圆角 78"/>
          <p:cNvSpPr/>
          <p:nvPr/>
        </p:nvSpPr>
        <p:spPr>
          <a:xfrm>
            <a:off x="416862" y="4433958"/>
            <a:ext cx="1221354" cy="288673"/>
          </a:xfrm>
          <a:prstGeom prst="roundRect">
            <a:avLst>
              <a:gd name="adj" fmla="val 50000"/>
            </a:avLst>
          </a:prstGeom>
          <a:solidFill>
            <a:schemeClr val="accent3">
              <a:lumMod val="9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技术防护</a:t>
            </a:r>
          </a:p>
        </p:txBody>
      </p:sp>
      <p:sp>
        <p:nvSpPr>
          <p:cNvPr id="80" name="矩形 79"/>
          <p:cNvSpPr/>
          <p:nvPr/>
        </p:nvSpPr>
        <p:spPr>
          <a:xfrm>
            <a:off x="347075" y="3991755"/>
            <a:ext cx="2979578" cy="372124"/>
          </a:xfrm>
          <a:prstGeom prst="rect">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81" name="文本框 80"/>
          <p:cNvSpPr txBox="1"/>
          <p:nvPr/>
        </p:nvSpPr>
        <p:spPr>
          <a:xfrm>
            <a:off x="372420" y="5757512"/>
            <a:ext cx="2753510"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建立“税务合规地图”，覆盖全球主要经营地的税法，每季度开展合规自查</a:t>
            </a:r>
          </a:p>
        </p:txBody>
      </p:sp>
      <p:sp>
        <p:nvSpPr>
          <p:cNvPr id="82" name="矩形: 圆角 81"/>
          <p:cNvSpPr/>
          <p:nvPr/>
        </p:nvSpPr>
        <p:spPr>
          <a:xfrm>
            <a:off x="416862" y="5399961"/>
            <a:ext cx="1221354" cy="288673"/>
          </a:xfrm>
          <a:prstGeom prst="roundRect">
            <a:avLst>
              <a:gd name="adj" fmla="val 50000"/>
            </a:avLst>
          </a:prstGeom>
          <a:solidFill>
            <a:schemeClr val="accent3">
              <a:lumMod val="9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合规体系</a:t>
            </a:r>
          </a:p>
        </p:txBody>
      </p:sp>
      <p:sp>
        <p:nvSpPr>
          <p:cNvPr id="84" name="文本框 83"/>
          <p:cNvSpPr txBox="1"/>
          <p:nvPr/>
        </p:nvSpPr>
        <p:spPr>
          <a:xfrm>
            <a:off x="8908239" y="4791509"/>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启动供应链金融业务，通过“应收账款保理”盘活存量资产</a:t>
            </a:r>
          </a:p>
        </p:txBody>
      </p:sp>
      <p:sp>
        <p:nvSpPr>
          <p:cNvPr id="85" name="矩形: 圆角 84"/>
          <p:cNvSpPr/>
          <p:nvPr/>
        </p:nvSpPr>
        <p:spPr>
          <a:xfrm>
            <a:off x="8952681" y="4433958"/>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融资结构</a:t>
            </a:r>
          </a:p>
        </p:txBody>
      </p:sp>
      <p:sp>
        <p:nvSpPr>
          <p:cNvPr id="86" name="矩形 85"/>
          <p:cNvSpPr/>
          <p:nvPr/>
        </p:nvSpPr>
        <p:spPr>
          <a:xfrm>
            <a:off x="8882894" y="3991755"/>
            <a:ext cx="2979578" cy="372124"/>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87" name="文本框 86"/>
          <p:cNvSpPr txBox="1"/>
          <p:nvPr/>
        </p:nvSpPr>
        <p:spPr>
          <a:xfrm>
            <a:off x="8908239" y="5757512"/>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引入战略投资者，完成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轮融资</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亿元，资产负债率从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8" name="矩形: 圆角 87"/>
          <p:cNvSpPr/>
          <p:nvPr/>
        </p:nvSpPr>
        <p:spPr>
          <a:xfrm>
            <a:off x="8952681" y="5399961"/>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资本运作</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工作中的突出贡献</a:t>
            </a:r>
          </a:p>
        </p:txBody>
      </p:sp>
      <p:sp>
        <p:nvSpPr>
          <p:cNvPr id="141" name="任意多边形: 形状 140"/>
          <p:cNvSpPr/>
          <p:nvPr/>
        </p:nvSpPr>
        <p:spPr>
          <a:xfrm flipH="1" flipV="1">
            <a:off x="11655986" y="3637580"/>
            <a:ext cx="308417" cy="147847"/>
          </a:xfrm>
          <a:custGeom>
            <a:avLst/>
            <a:gdLst>
              <a:gd name="connsiteX0" fmla="*/ 192098 w 356970"/>
              <a:gd name="connsiteY0" fmla="*/ 171122 h 171122"/>
              <a:gd name="connsiteX1" fmla="*/ 230091 w 356970"/>
              <a:gd name="connsiteY1" fmla="*/ 171122 h 171122"/>
              <a:gd name="connsiteX2" fmla="*/ 356970 w 356970"/>
              <a:gd name="connsiteY2" fmla="*/ 0 h 171122"/>
              <a:gd name="connsiteX3" fmla="*/ 42310 w 356970"/>
              <a:gd name="connsiteY3" fmla="*/ 0 h 171122"/>
              <a:gd name="connsiteX4" fmla="*/ 9006 w 356970"/>
              <a:gd name="connsiteY4" fmla="*/ 6724 h 171122"/>
              <a:gd name="connsiteX5" fmla="*/ 0 w 356970"/>
              <a:gd name="connsiteY5" fmla="*/ 12796 h 171122"/>
              <a:gd name="connsiteX6" fmla="*/ 194 w 356970"/>
              <a:gd name="connsiteY6" fmla="*/ 14716 h 171122"/>
              <a:gd name="connsiteX7" fmla="*/ 192098 w 356970"/>
              <a:gd name="connsiteY7" fmla="*/ 171122 h 17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970" h="171122">
                <a:moveTo>
                  <a:pt x="192098" y="171122"/>
                </a:moveTo>
                <a:lnTo>
                  <a:pt x="230091" y="171122"/>
                </a:lnTo>
                <a:lnTo>
                  <a:pt x="356970" y="0"/>
                </a:lnTo>
                <a:lnTo>
                  <a:pt x="42310" y="0"/>
                </a:lnTo>
                <a:cubicBezTo>
                  <a:pt x="30497" y="0"/>
                  <a:pt x="19242" y="2394"/>
                  <a:pt x="9006" y="6724"/>
                </a:cubicBezTo>
                <a:lnTo>
                  <a:pt x="0" y="12796"/>
                </a:lnTo>
                <a:lnTo>
                  <a:pt x="194" y="14716"/>
                </a:lnTo>
                <a:cubicBezTo>
                  <a:pt x="18459" y="103977"/>
                  <a:pt x="97437" y="171122"/>
                  <a:pt x="192098" y="17112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1" name="任意多边形: 形状 150"/>
          <p:cNvSpPr/>
          <p:nvPr/>
        </p:nvSpPr>
        <p:spPr>
          <a:xfrm flipH="1" flipV="1">
            <a:off x="216305" y="3637581"/>
            <a:ext cx="1263126" cy="147847"/>
          </a:xfrm>
          <a:custGeom>
            <a:avLst/>
            <a:gdLst>
              <a:gd name="connsiteX0" fmla="*/ 0 w 1263126"/>
              <a:gd name="connsiteY0" fmla="*/ 147847 h 147847"/>
              <a:gd name="connsiteX1" fmla="*/ 1189203 w 1263126"/>
              <a:gd name="connsiteY1" fmla="*/ 147847 h 147847"/>
              <a:gd name="connsiteX2" fmla="*/ 1263126 w 1263126"/>
              <a:gd name="connsiteY2" fmla="*/ 73923 h 147847"/>
              <a:gd name="connsiteX3" fmla="*/ 1189203 w 1263126"/>
              <a:gd name="connsiteY3" fmla="*/ 0 h 147847"/>
              <a:gd name="connsiteX4" fmla="*/ 118979 w 1263126"/>
              <a:gd name="connsiteY4" fmla="*/ 0 h 147847"/>
              <a:gd name="connsiteX5" fmla="*/ 59548 w 1263126"/>
              <a:gd name="connsiteY5" fmla="*/ 80156 h 147847"/>
              <a:gd name="connsiteX6" fmla="*/ 50782 w 1263126"/>
              <a:gd name="connsiteY6" fmla="*/ 90355 h 147847"/>
              <a:gd name="connsiteX7" fmla="*/ 30649 w 1263126"/>
              <a:gd name="connsiteY7" fmla="*/ 118919 h 147847"/>
              <a:gd name="connsiteX8" fmla="*/ 30314 w 1263126"/>
              <a:gd name="connsiteY8" fmla="*/ 119583 h 147847"/>
              <a:gd name="connsiteX9" fmla="*/ 18941 w 1263126"/>
              <a:gd name="connsiteY9" fmla="*/ 134924 h 147847"/>
              <a:gd name="connsiteX10" fmla="*/ 16027 w 1263126"/>
              <a:gd name="connsiteY10" fmla="*/ 137978 h 147847"/>
              <a:gd name="connsiteX11" fmla="*/ 2268 w 1263126"/>
              <a:gd name="connsiteY11" fmla="*/ 146808 h 147847"/>
              <a:gd name="connsiteX12" fmla="*/ 0 w 1263126"/>
              <a:gd name="connsiteY12" fmla="*/ 147847 h 14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126" h="147847">
                <a:moveTo>
                  <a:pt x="0" y="147847"/>
                </a:moveTo>
                <a:lnTo>
                  <a:pt x="1189203" y="147847"/>
                </a:lnTo>
                <a:cubicBezTo>
                  <a:pt x="1230029" y="147847"/>
                  <a:pt x="1263126" y="114750"/>
                  <a:pt x="1263126" y="73923"/>
                </a:cubicBezTo>
                <a:cubicBezTo>
                  <a:pt x="1263126" y="33097"/>
                  <a:pt x="1230029" y="0"/>
                  <a:pt x="1189203" y="0"/>
                </a:cubicBezTo>
                <a:lnTo>
                  <a:pt x="118979" y="0"/>
                </a:lnTo>
                <a:lnTo>
                  <a:pt x="59548" y="80156"/>
                </a:lnTo>
                <a:lnTo>
                  <a:pt x="50782" y="90355"/>
                </a:lnTo>
                <a:lnTo>
                  <a:pt x="30649" y="118919"/>
                </a:lnTo>
                <a:lnTo>
                  <a:pt x="30314" y="119583"/>
                </a:lnTo>
                <a:lnTo>
                  <a:pt x="18941" y="134924"/>
                </a:lnTo>
                <a:lnTo>
                  <a:pt x="16027" y="137978"/>
                </a:lnTo>
                <a:cubicBezTo>
                  <a:pt x="11448" y="141380"/>
                  <a:pt x="6348" y="144395"/>
                  <a:pt x="2268" y="146808"/>
                </a:cubicBezTo>
                <a:lnTo>
                  <a:pt x="0" y="147847"/>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8" name="任意多边形: 形状 147"/>
          <p:cNvSpPr/>
          <p:nvPr/>
        </p:nvSpPr>
        <p:spPr>
          <a:xfrm flipH="1" flipV="1">
            <a:off x="227598" y="3828215"/>
            <a:ext cx="1101129" cy="147847"/>
          </a:xfrm>
          <a:custGeom>
            <a:avLst/>
            <a:gdLst>
              <a:gd name="connsiteX0" fmla="*/ 0 w 1101129"/>
              <a:gd name="connsiteY0" fmla="*/ 147847 h 147847"/>
              <a:gd name="connsiteX1" fmla="*/ 1027206 w 1101129"/>
              <a:gd name="connsiteY1" fmla="*/ 147847 h 147847"/>
              <a:gd name="connsiteX2" fmla="*/ 1101129 w 1101129"/>
              <a:gd name="connsiteY2" fmla="*/ 73923 h 147847"/>
              <a:gd name="connsiteX3" fmla="*/ 1027206 w 1101129"/>
              <a:gd name="connsiteY3" fmla="*/ 0 h 147847"/>
              <a:gd name="connsiteX4" fmla="*/ 109620 w 1101129"/>
              <a:gd name="connsiteY4" fmla="*/ 0 h 147847"/>
              <a:gd name="connsiteX5" fmla="*/ 0 w 1101129"/>
              <a:gd name="connsiteY5" fmla="*/ 147847 h 14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1129" h="147847">
                <a:moveTo>
                  <a:pt x="0" y="147847"/>
                </a:moveTo>
                <a:lnTo>
                  <a:pt x="1027206" y="147847"/>
                </a:lnTo>
                <a:cubicBezTo>
                  <a:pt x="1068032" y="147847"/>
                  <a:pt x="1101129" y="114750"/>
                  <a:pt x="1101129" y="73923"/>
                </a:cubicBezTo>
                <a:cubicBezTo>
                  <a:pt x="1101129" y="33097"/>
                  <a:pt x="1068032" y="0"/>
                  <a:pt x="1027206" y="0"/>
                </a:cubicBezTo>
                <a:lnTo>
                  <a:pt x="109620" y="0"/>
                </a:lnTo>
                <a:lnTo>
                  <a:pt x="0" y="147847"/>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任意多边形: 形状 137"/>
          <p:cNvSpPr/>
          <p:nvPr/>
        </p:nvSpPr>
        <p:spPr>
          <a:xfrm flipH="1" flipV="1">
            <a:off x="11510343" y="3828214"/>
            <a:ext cx="465353" cy="147847"/>
          </a:xfrm>
          <a:custGeom>
            <a:avLst/>
            <a:gdLst>
              <a:gd name="connsiteX0" fmla="*/ 42310 w 538613"/>
              <a:gd name="connsiteY0" fmla="*/ 171122 h 171122"/>
              <a:gd name="connsiteX1" fmla="*/ 406759 w 538613"/>
              <a:gd name="connsiteY1" fmla="*/ 171122 h 171122"/>
              <a:gd name="connsiteX2" fmla="*/ 526324 w 538613"/>
              <a:gd name="connsiteY2" fmla="*/ 9864 h 171122"/>
              <a:gd name="connsiteX3" fmla="*/ 537325 w 538613"/>
              <a:gd name="connsiteY3" fmla="*/ 854 h 171122"/>
              <a:gd name="connsiteX4" fmla="*/ 538613 w 538613"/>
              <a:gd name="connsiteY4" fmla="*/ 0 h 171122"/>
              <a:gd name="connsiteX5" fmla="*/ 192098 w 538613"/>
              <a:gd name="connsiteY5" fmla="*/ 0 h 171122"/>
              <a:gd name="connsiteX6" fmla="*/ 194 w 538613"/>
              <a:gd name="connsiteY6" fmla="*/ 156406 h 171122"/>
              <a:gd name="connsiteX7" fmla="*/ 0 w 538613"/>
              <a:gd name="connsiteY7" fmla="*/ 158326 h 171122"/>
              <a:gd name="connsiteX8" fmla="*/ 9006 w 538613"/>
              <a:gd name="connsiteY8" fmla="*/ 164398 h 171122"/>
              <a:gd name="connsiteX9" fmla="*/ 42310 w 538613"/>
              <a:gd name="connsiteY9" fmla="*/ 171122 h 17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613" h="171122">
                <a:moveTo>
                  <a:pt x="42310" y="171122"/>
                </a:moveTo>
                <a:lnTo>
                  <a:pt x="406759" y="171122"/>
                </a:lnTo>
                <a:lnTo>
                  <a:pt x="526324" y="9864"/>
                </a:lnTo>
                <a:lnTo>
                  <a:pt x="537325" y="854"/>
                </a:lnTo>
                <a:lnTo>
                  <a:pt x="538613" y="0"/>
                </a:lnTo>
                <a:lnTo>
                  <a:pt x="192098" y="0"/>
                </a:lnTo>
                <a:cubicBezTo>
                  <a:pt x="97437" y="0"/>
                  <a:pt x="18459" y="67145"/>
                  <a:pt x="194" y="156406"/>
                </a:cubicBezTo>
                <a:lnTo>
                  <a:pt x="0" y="158326"/>
                </a:lnTo>
                <a:lnTo>
                  <a:pt x="9006" y="164398"/>
                </a:lnTo>
                <a:cubicBezTo>
                  <a:pt x="19242" y="168728"/>
                  <a:pt x="30497" y="171122"/>
                  <a:pt x="42310" y="17112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0" name="矩形 169"/>
          <p:cNvSpPr/>
          <p:nvPr/>
        </p:nvSpPr>
        <p:spPr>
          <a:xfrm>
            <a:off x="227597" y="944563"/>
            <a:ext cx="1224867" cy="262611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1" name="矩形 170"/>
          <p:cNvSpPr/>
          <p:nvPr/>
        </p:nvSpPr>
        <p:spPr>
          <a:xfrm>
            <a:off x="221952" y="4044371"/>
            <a:ext cx="997766" cy="262611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183" name="组合 182"/>
          <p:cNvGrpSpPr/>
          <p:nvPr/>
        </p:nvGrpSpPr>
        <p:grpSpPr>
          <a:xfrm>
            <a:off x="1307772" y="3555720"/>
            <a:ext cx="378593" cy="511171"/>
            <a:chOff x="1520030" y="4105837"/>
            <a:chExt cx="378593" cy="511171"/>
          </a:xfrm>
        </p:grpSpPr>
        <p:sp>
          <p:nvSpPr>
            <p:cNvPr id="174" name="任意多边形: 形状 17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2" name="任意多边形: 形状 18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87" name="组合 186"/>
          <p:cNvGrpSpPr/>
          <p:nvPr/>
        </p:nvGrpSpPr>
        <p:grpSpPr>
          <a:xfrm>
            <a:off x="1539657" y="3555720"/>
            <a:ext cx="378593" cy="511171"/>
            <a:chOff x="1520030" y="4105837"/>
            <a:chExt cx="378593" cy="511171"/>
          </a:xfrm>
        </p:grpSpPr>
        <p:sp>
          <p:nvSpPr>
            <p:cNvPr id="188" name="任意多边形: 形状 18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9" name="任意多边形: 形状 18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0" name="组合 189"/>
          <p:cNvGrpSpPr/>
          <p:nvPr/>
        </p:nvGrpSpPr>
        <p:grpSpPr>
          <a:xfrm>
            <a:off x="1771542" y="3555720"/>
            <a:ext cx="378593" cy="511171"/>
            <a:chOff x="1520030" y="4105837"/>
            <a:chExt cx="378593" cy="511171"/>
          </a:xfrm>
        </p:grpSpPr>
        <p:sp>
          <p:nvSpPr>
            <p:cNvPr id="191" name="任意多边形: 形状 19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2" name="任意多边形: 形状 19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3" name="组合 192"/>
          <p:cNvGrpSpPr/>
          <p:nvPr/>
        </p:nvGrpSpPr>
        <p:grpSpPr>
          <a:xfrm>
            <a:off x="2003427" y="3555720"/>
            <a:ext cx="378593" cy="511171"/>
            <a:chOff x="1520030" y="4105837"/>
            <a:chExt cx="378593" cy="511171"/>
          </a:xfrm>
        </p:grpSpPr>
        <p:sp>
          <p:nvSpPr>
            <p:cNvPr id="194" name="任意多边形: 形状 19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5" name="任意多边形: 形状 19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6" name="组合 195"/>
          <p:cNvGrpSpPr/>
          <p:nvPr/>
        </p:nvGrpSpPr>
        <p:grpSpPr>
          <a:xfrm>
            <a:off x="2235312" y="3555720"/>
            <a:ext cx="378593" cy="511171"/>
            <a:chOff x="1520030" y="4105837"/>
            <a:chExt cx="378593" cy="511171"/>
          </a:xfrm>
        </p:grpSpPr>
        <p:sp>
          <p:nvSpPr>
            <p:cNvPr id="197" name="任意多边形: 形状 19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8" name="任意多边形: 形状 19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9" name="组合 198"/>
          <p:cNvGrpSpPr/>
          <p:nvPr/>
        </p:nvGrpSpPr>
        <p:grpSpPr>
          <a:xfrm>
            <a:off x="2467197" y="3555720"/>
            <a:ext cx="378593" cy="511171"/>
            <a:chOff x="1520030" y="4105837"/>
            <a:chExt cx="378593" cy="511171"/>
          </a:xfrm>
        </p:grpSpPr>
        <p:sp>
          <p:nvSpPr>
            <p:cNvPr id="200" name="任意多边形: 形状 19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1" name="任意多边形: 形状 20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5" name="组合 204"/>
          <p:cNvGrpSpPr/>
          <p:nvPr/>
        </p:nvGrpSpPr>
        <p:grpSpPr>
          <a:xfrm>
            <a:off x="2930967" y="3555720"/>
            <a:ext cx="378593" cy="511171"/>
            <a:chOff x="1520030" y="4105837"/>
            <a:chExt cx="378593" cy="511171"/>
          </a:xfrm>
        </p:grpSpPr>
        <p:sp>
          <p:nvSpPr>
            <p:cNvPr id="206" name="任意多边形: 形状 20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7" name="任意多边形: 形状 20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8" name="组合 207"/>
          <p:cNvGrpSpPr/>
          <p:nvPr/>
        </p:nvGrpSpPr>
        <p:grpSpPr>
          <a:xfrm>
            <a:off x="3162852" y="3555720"/>
            <a:ext cx="378593" cy="511171"/>
            <a:chOff x="1520030" y="4105837"/>
            <a:chExt cx="378593" cy="511171"/>
          </a:xfrm>
        </p:grpSpPr>
        <p:sp>
          <p:nvSpPr>
            <p:cNvPr id="209" name="任意多边形: 形状 20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0" name="任意多边形: 形状 20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1" name="组合 210"/>
          <p:cNvGrpSpPr/>
          <p:nvPr/>
        </p:nvGrpSpPr>
        <p:grpSpPr>
          <a:xfrm>
            <a:off x="3394737" y="3555720"/>
            <a:ext cx="378593" cy="511171"/>
            <a:chOff x="1520030" y="4105837"/>
            <a:chExt cx="378593" cy="511171"/>
          </a:xfrm>
        </p:grpSpPr>
        <p:sp>
          <p:nvSpPr>
            <p:cNvPr id="212" name="任意多边形: 形状 21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3" name="任意多边形: 形状 21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4" name="组合 213"/>
          <p:cNvGrpSpPr/>
          <p:nvPr/>
        </p:nvGrpSpPr>
        <p:grpSpPr>
          <a:xfrm>
            <a:off x="3626622" y="3555720"/>
            <a:ext cx="378593" cy="511171"/>
            <a:chOff x="1520030" y="4105837"/>
            <a:chExt cx="378593" cy="511171"/>
          </a:xfrm>
        </p:grpSpPr>
        <p:sp>
          <p:nvSpPr>
            <p:cNvPr id="215" name="任意多边形: 形状 21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6" name="任意多边形: 形状 21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7" name="组合 216"/>
          <p:cNvGrpSpPr/>
          <p:nvPr/>
        </p:nvGrpSpPr>
        <p:grpSpPr>
          <a:xfrm>
            <a:off x="3858507" y="3555720"/>
            <a:ext cx="378593" cy="511171"/>
            <a:chOff x="1520030" y="4105837"/>
            <a:chExt cx="378593" cy="511171"/>
          </a:xfrm>
        </p:grpSpPr>
        <p:sp>
          <p:nvSpPr>
            <p:cNvPr id="218" name="任意多边形: 形状 21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9" name="任意多边形: 形状 21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0" name="组合 219"/>
          <p:cNvGrpSpPr/>
          <p:nvPr/>
        </p:nvGrpSpPr>
        <p:grpSpPr>
          <a:xfrm>
            <a:off x="4090392" y="3555720"/>
            <a:ext cx="378593" cy="511171"/>
            <a:chOff x="1520030" y="4105837"/>
            <a:chExt cx="378593" cy="511171"/>
          </a:xfrm>
        </p:grpSpPr>
        <p:sp>
          <p:nvSpPr>
            <p:cNvPr id="221" name="任意多边形: 形状 22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2" name="任意多边形: 形状 22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3" name="组合 222"/>
          <p:cNvGrpSpPr/>
          <p:nvPr/>
        </p:nvGrpSpPr>
        <p:grpSpPr>
          <a:xfrm>
            <a:off x="4322277" y="3555720"/>
            <a:ext cx="378593" cy="511171"/>
            <a:chOff x="1520030" y="4105837"/>
            <a:chExt cx="378593" cy="511171"/>
          </a:xfrm>
        </p:grpSpPr>
        <p:sp>
          <p:nvSpPr>
            <p:cNvPr id="224" name="任意多边形: 形状 22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5" name="任意多边形: 形状 22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6" name="组合 225"/>
          <p:cNvGrpSpPr/>
          <p:nvPr/>
        </p:nvGrpSpPr>
        <p:grpSpPr>
          <a:xfrm>
            <a:off x="4554162" y="3555720"/>
            <a:ext cx="378593" cy="511171"/>
            <a:chOff x="1520030" y="4105837"/>
            <a:chExt cx="378593" cy="511171"/>
          </a:xfrm>
        </p:grpSpPr>
        <p:sp>
          <p:nvSpPr>
            <p:cNvPr id="227" name="任意多边形: 形状 22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8" name="任意多边形: 形状 22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9" name="组合 228"/>
          <p:cNvGrpSpPr/>
          <p:nvPr/>
        </p:nvGrpSpPr>
        <p:grpSpPr>
          <a:xfrm>
            <a:off x="4786047" y="3555720"/>
            <a:ext cx="378593" cy="511171"/>
            <a:chOff x="1520030" y="4105837"/>
            <a:chExt cx="378593" cy="511171"/>
          </a:xfrm>
        </p:grpSpPr>
        <p:sp>
          <p:nvSpPr>
            <p:cNvPr id="230" name="任意多边形: 形状 22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1" name="任意多边形: 形状 23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2" name="组合 231"/>
          <p:cNvGrpSpPr/>
          <p:nvPr/>
        </p:nvGrpSpPr>
        <p:grpSpPr>
          <a:xfrm>
            <a:off x="5017932" y="3555720"/>
            <a:ext cx="378593" cy="511171"/>
            <a:chOff x="1520030" y="4105837"/>
            <a:chExt cx="378593" cy="511171"/>
          </a:xfrm>
        </p:grpSpPr>
        <p:sp>
          <p:nvSpPr>
            <p:cNvPr id="233" name="任意多边形: 形状 23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4" name="任意多边形: 形状 23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5" name="组合 234"/>
          <p:cNvGrpSpPr/>
          <p:nvPr/>
        </p:nvGrpSpPr>
        <p:grpSpPr>
          <a:xfrm>
            <a:off x="5249817" y="3555720"/>
            <a:ext cx="378593" cy="511171"/>
            <a:chOff x="1520030" y="4105837"/>
            <a:chExt cx="378593" cy="511171"/>
          </a:xfrm>
        </p:grpSpPr>
        <p:sp>
          <p:nvSpPr>
            <p:cNvPr id="236" name="任意多边形: 形状 23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7" name="任意多边形: 形状 23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8" name="组合 237"/>
          <p:cNvGrpSpPr/>
          <p:nvPr/>
        </p:nvGrpSpPr>
        <p:grpSpPr>
          <a:xfrm>
            <a:off x="5481702" y="3555720"/>
            <a:ext cx="378593" cy="511171"/>
            <a:chOff x="1520030" y="4105837"/>
            <a:chExt cx="378593" cy="511171"/>
          </a:xfrm>
        </p:grpSpPr>
        <p:sp>
          <p:nvSpPr>
            <p:cNvPr id="239" name="任意多边形: 形状 23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0" name="任意多边形: 形状 23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1" name="组合 240"/>
          <p:cNvGrpSpPr/>
          <p:nvPr/>
        </p:nvGrpSpPr>
        <p:grpSpPr>
          <a:xfrm>
            <a:off x="5713587" y="3555720"/>
            <a:ext cx="378593" cy="511171"/>
            <a:chOff x="1520030" y="4105837"/>
            <a:chExt cx="378593" cy="511171"/>
          </a:xfrm>
        </p:grpSpPr>
        <p:sp>
          <p:nvSpPr>
            <p:cNvPr id="242" name="任意多边形: 形状 24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3" name="任意多边形: 形状 24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4" name="组合 243"/>
          <p:cNvGrpSpPr/>
          <p:nvPr/>
        </p:nvGrpSpPr>
        <p:grpSpPr>
          <a:xfrm>
            <a:off x="5945472" y="3555720"/>
            <a:ext cx="378593" cy="511171"/>
            <a:chOff x="1520030" y="4105837"/>
            <a:chExt cx="378593" cy="511171"/>
          </a:xfrm>
        </p:grpSpPr>
        <p:sp>
          <p:nvSpPr>
            <p:cNvPr id="245" name="任意多边形: 形状 24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6" name="任意多边形: 形状 24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7" name="组合 246"/>
          <p:cNvGrpSpPr/>
          <p:nvPr/>
        </p:nvGrpSpPr>
        <p:grpSpPr>
          <a:xfrm>
            <a:off x="6177357" y="3555720"/>
            <a:ext cx="378593" cy="511171"/>
            <a:chOff x="1520030" y="4105837"/>
            <a:chExt cx="378593" cy="511171"/>
          </a:xfrm>
        </p:grpSpPr>
        <p:sp>
          <p:nvSpPr>
            <p:cNvPr id="248" name="任意多边形: 形状 24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9" name="任意多边形: 形状 24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0" name="组合 249"/>
          <p:cNvGrpSpPr/>
          <p:nvPr/>
        </p:nvGrpSpPr>
        <p:grpSpPr>
          <a:xfrm>
            <a:off x="6409242" y="3555720"/>
            <a:ext cx="378593" cy="511171"/>
            <a:chOff x="1520030" y="4105837"/>
            <a:chExt cx="378593" cy="511171"/>
          </a:xfrm>
        </p:grpSpPr>
        <p:sp>
          <p:nvSpPr>
            <p:cNvPr id="251" name="任意多边形: 形状 25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2" name="任意多边形: 形状 25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3" name="组合 252"/>
          <p:cNvGrpSpPr/>
          <p:nvPr/>
        </p:nvGrpSpPr>
        <p:grpSpPr>
          <a:xfrm>
            <a:off x="6641127" y="3555720"/>
            <a:ext cx="378593" cy="511171"/>
            <a:chOff x="1520030" y="4105837"/>
            <a:chExt cx="378593" cy="511171"/>
          </a:xfrm>
        </p:grpSpPr>
        <p:sp>
          <p:nvSpPr>
            <p:cNvPr id="254" name="任意多边形: 形状 25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5" name="任意多边形: 形状 25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6" name="组合 255"/>
          <p:cNvGrpSpPr/>
          <p:nvPr/>
        </p:nvGrpSpPr>
        <p:grpSpPr>
          <a:xfrm>
            <a:off x="6873012" y="3555720"/>
            <a:ext cx="378593" cy="511171"/>
            <a:chOff x="1520030" y="4105837"/>
            <a:chExt cx="378593" cy="511171"/>
          </a:xfrm>
        </p:grpSpPr>
        <p:sp>
          <p:nvSpPr>
            <p:cNvPr id="257" name="任意多边形: 形状 25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8" name="任意多边形: 形状 25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9" name="组合 258"/>
          <p:cNvGrpSpPr/>
          <p:nvPr/>
        </p:nvGrpSpPr>
        <p:grpSpPr>
          <a:xfrm>
            <a:off x="7104897" y="3555720"/>
            <a:ext cx="378593" cy="511171"/>
            <a:chOff x="1520030" y="4105837"/>
            <a:chExt cx="378593" cy="511171"/>
          </a:xfrm>
        </p:grpSpPr>
        <p:sp>
          <p:nvSpPr>
            <p:cNvPr id="260" name="任意多边形: 形状 25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1" name="任意多边形: 形状 26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2" name="组合 261"/>
          <p:cNvGrpSpPr/>
          <p:nvPr/>
        </p:nvGrpSpPr>
        <p:grpSpPr>
          <a:xfrm>
            <a:off x="7336782" y="3555720"/>
            <a:ext cx="378593" cy="511171"/>
            <a:chOff x="1520030" y="4105837"/>
            <a:chExt cx="378593" cy="511171"/>
          </a:xfrm>
        </p:grpSpPr>
        <p:sp>
          <p:nvSpPr>
            <p:cNvPr id="263" name="任意多边形: 形状 26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4" name="任意多边形: 形状 26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5" name="组合 264"/>
          <p:cNvGrpSpPr/>
          <p:nvPr/>
        </p:nvGrpSpPr>
        <p:grpSpPr>
          <a:xfrm>
            <a:off x="7568667" y="3555720"/>
            <a:ext cx="378593" cy="511171"/>
            <a:chOff x="1520030" y="4105837"/>
            <a:chExt cx="378593" cy="511171"/>
          </a:xfrm>
        </p:grpSpPr>
        <p:sp>
          <p:nvSpPr>
            <p:cNvPr id="266" name="任意多边形: 形状 26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7" name="任意多边形: 形状 26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8" name="组合 267"/>
          <p:cNvGrpSpPr/>
          <p:nvPr/>
        </p:nvGrpSpPr>
        <p:grpSpPr>
          <a:xfrm>
            <a:off x="7800552" y="3555720"/>
            <a:ext cx="378593" cy="511171"/>
            <a:chOff x="1520030" y="4105837"/>
            <a:chExt cx="378593" cy="511171"/>
          </a:xfrm>
        </p:grpSpPr>
        <p:sp>
          <p:nvSpPr>
            <p:cNvPr id="269" name="任意多边形: 形状 26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0" name="任意多边形: 形状 26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1" name="组合 270"/>
          <p:cNvGrpSpPr/>
          <p:nvPr/>
        </p:nvGrpSpPr>
        <p:grpSpPr>
          <a:xfrm>
            <a:off x="8032437" y="3555720"/>
            <a:ext cx="378593" cy="511171"/>
            <a:chOff x="1520030" y="4105837"/>
            <a:chExt cx="378593" cy="511171"/>
          </a:xfrm>
        </p:grpSpPr>
        <p:sp>
          <p:nvSpPr>
            <p:cNvPr id="272" name="任意多边形: 形状 27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3" name="任意多边形: 形状 27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4" name="组合 273"/>
          <p:cNvGrpSpPr/>
          <p:nvPr/>
        </p:nvGrpSpPr>
        <p:grpSpPr>
          <a:xfrm>
            <a:off x="8264322" y="3555720"/>
            <a:ext cx="378593" cy="511171"/>
            <a:chOff x="1520030" y="4105837"/>
            <a:chExt cx="378593" cy="511171"/>
          </a:xfrm>
        </p:grpSpPr>
        <p:sp>
          <p:nvSpPr>
            <p:cNvPr id="275" name="任意多边形: 形状 27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6" name="任意多边形: 形状 27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7" name="组合 276"/>
          <p:cNvGrpSpPr/>
          <p:nvPr/>
        </p:nvGrpSpPr>
        <p:grpSpPr>
          <a:xfrm>
            <a:off x="8496207" y="3555720"/>
            <a:ext cx="378593" cy="511171"/>
            <a:chOff x="1520030" y="4105837"/>
            <a:chExt cx="378593" cy="511171"/>
          </a:xfrm>
        </p:grpSpPr>
        <p:sp>
          <p:nvSpPr>
            <p:cNvPr id="278" name="任意多边形: 形状 27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9" name="任意多边形: 形状 27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0" name="组合 279"/>
          <p:cNvGrpSpPr/>
          <p:nvPr/>
        </p:nvGrpSpPr>
        <p:grpSpPr>
          <a:xfrm>
            <a:off x="8728092" y="3555720"/>
            <a:ext cx="378593" cy="511171"/>
            <a:chOff x="1520030" y="4105837"/>
            <a:chExt cx="378593" cy="511171"/>
          </a:xfrm>
        </p:grpSpPr>
        <p:sp>
          <p:nvSpPr>
            <p:cNvPr id="281" name="任意多边形: 形状 28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2" name="任意多边形: 形状 28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3" name="组合 282"/>
          <p:cNvGrpSpPr/>
          <p:nvPr/>
        </p:nvGrpSpPr>
        <p:grpSpPr>
          <a:xfrm>
            <a:off x="8959977" y="3555720"/>
            <a:ext cx="378593" cy="511171"/>
            <a:chOff x="1520030" y="4105837"/>
            <a:chExt cx="378593" cy="511171"/>
          </a:xfrm>
        </p:grpSpPr>
        <p:sp>
          <p:nvSpPr>
            <p:cNvPr id="284" name="任意多边形: 形状 28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5" name="任意多边形: 形状 28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6" name="组合 285"/>
          <p:cNvGrpSpPr/>
          <p:nvPr/>
        </p:nvGrpSpPr>
        <p:grpSpPr>
          <a:xfrm>
            <a:off x="9191862" y="3555720"/>
            <a:ext cx="378593" cy="511171"/>
            <a:chOff x="1520030" y="4105837"/>
            <a:chExt cx="378593" cy="511171"/>
          </a:xfrm>
        </p:grpSpPr>
        <p:sp>
          <p:nvSpPr>
            <p:cNvPr id="287" name="任意多边形: 形状 28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8" name="任意多边形: 形状 28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9" name="组合 288"/>
          <p:cNvGrpSpPr/>
          <p:nvPr/>
        </p:nvGrpSpPr>
        <p:grpSpPr>
          <a:xfrm>
            <a:off x="9423747" y="3555720"/>
            <a:ext cx="378593" cy="511171"/>
            <a:chOff x="1520030" y="4105837"/>
            <a:chExt cx="378593" cy="511171"/>
          </a:xfrm>
        </p:grpSpPr>
        <p:sp>
          <p:nvSpPr>
            <p:cNvPr id="290" name="任意多边形: 形状 28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1" name="任意多边形: 形状 29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2" name="组合 291"/>
          <p:cNvGrpSpPr/>
          <p:nvPr/>
        </p:nvGrpSpPr>
        <p:grpSpPr>
          <a:xfrm>
            <a:off x="9655632" y="3555720"/>
            <a:ext cx="378593" cy="511171"/>
            <a:chOff x="1520030" y="4105837"/>
            <a:chExt cx="378593" cy="511171"/>
          </a:xfrm>
        </p:grpSpPr>
        <p:sp>
          <p:nvSpPr>
            <p:cNvPr id="293" name="任意多边形: 形状 29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4" name="任意多边形: 形状 29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5" name="组合 294"/>
          <p:cNvGrpSpPr/>
          <p:nvPr/>
        </p:nvGrpSpPr>
        <p:grpSpPr>
          <a:xfrm>
            <a:off x="9887517" y="3555720"/>
            <a:ext cx="378593" cy="511171"/>
            <a:chOff x="1520030" y="4105837"/>
            <a:chExt cx="378593" cy="511171"/>
          </a:xfrm>
        </p:grpSpPr>
        <p:sp>
          <p:nvSpPr>
            <p:cNvPr id="296" name="任意多边形: 形状 29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7" name="任意多边形: 形状 29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8" name="组合 297"/>
          <p:cNvGrpSpPr/>
          <p:nvPr/>
        </p:nvGrpSpPr>
        <p:grpSpPr>
          <a:xfrm>
            <a:off x="10119402" y="3555720"/>
            <a:ext cx="378593" cy="511171"/>
            <a:chOff x="1520030" y="4105837"/>
            <a:chExt cx="378593" cy="511171"/>
          </a:xfrm>
        </p:grpSpPr>
        <p:sp>
          <p:nvSpPr>
            <p:cNvPr id="299" name="任意多边形: 形状 29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0" name="任意多边形: 形状 29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1" name="组合 300"/>
          <p:cNvGrpSpPr/>
          <p:nvPr/>
        </p:nvGrpSpPr>
        <p:grpSpPr>
          <a:xfrm>
            <a:off x="10351287" y="3555720"/>
            <a:ext cx="378593" cy="511171"/>
            <a:chOff x="1520030" y="4105837"/>
            <a:chExt cx="378593" cy="511171"/>
          </a:xfrm>
        </p:grpSpPr>
        <p:sp>
          <p:nvSpPr>
            <p:cNvPr id="302" name="任意多边形: 形状 30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3" name="任意多边形: 形状 30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4" name="组合 303"/>
          <p:cNvGrpSpPr/>
          <p:nvPr/>
        </p:nvGrpSpPr>
        <p:grpSpPr>
          <a:xfrm>
            <a:off x="10583172" y="3555720"/>
            <a:ext cx="378593" cy="511171"/>
            <a:chOff x="1520030" y="4105837"/>
            <a:chExt cx="378593" cy="511171"/>
          </a:xfrm>
        </p:grpSpPr>
        <p:sp>
          <p:nvSpPr>
            <p:cNvPr id="305" name="任意多边形: 形状 30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6" name="任意多边形: 形状 30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7" name="组合 306"/>
          <p:cNvGrpSpPr/>
          <p:nvPr/>
        </p:nvGrpSpPr>
        <p:grpSpPr>
          <a:xfrm>
            <a:off x="10815057" y="3555720"/>
            <a:ext cx="378593" cy="511171"/>
            <a:chOff x="1520030" y="4105837"/>
            <a:chExt cx="378593" cy="511171"/>
          </a:xfrm>
        </p:grpSpPr>
        <p:sp>
          <p:nvSpPr>
            <p:cNvPr id="308" name="任意多边形: 形状 30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9" name="任意多边形: 形状 30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10" name="组合 309"/>
          <p:cNvGrpSpPr/>
          <p:nvPr/>
        </p:nvGrpSpPr>
        <p:grpSpPr>
          <a:xfrm>
            <a:off x="11046942" y="3555720"/>
            <a:ext cx="378593" cy="511171"/>
            <a:chOff x="1520030" y="4105837"/>
            <a:chExt cx="378593" cy="511171"/>
          </a:xfrm>
        </p:grpSpPr>
        <p:sp>
          <p:nvSpPr>
            <p:cNvPr id="311" name="任意多边形: 形状 31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2" name="任意多边形: 形状 31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13" name="组合 312"/>
          <p:cNvGrpSpPr/>
          <p:nvPr/>
        </p:nvGrpSpPr>
        <p:grpSpPr>
          <a:xfrm>
            <a:off x="11278810" y="3555720"/>
            <a:ext cx="378593" cy="511171"/>
            <a:chOff x="1520030" y="4105837"/>
            <a:chExt cx="378593" cy="511171"/>
          </a:xfrm>
        </p:grpSpPr>
        <p:sp>
          <p:nvSpPr>
            <p:cNvPr id="314" name="任意多边形: 形状 31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5" name="任意多边形: 形状 31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4" name="组合 33"/>
          <p:cNvGrpSpPr/>
          <p:nvPr/>
        </p:nvGrpSpPr>
        <p:grpSpPr>
          <a:xfrm>
            <a:off x="2699082" y="3555720"/>
            <a:ext cx="378593" cy="511171"/>
            <a:chOff x="1520030" y="4105837"/>
            <a:chExt cx="378593" cy="511171"/>
          </a:xfrm>
        </p:grpSpPr>
        <p:sp>
          <p:nvSpPr>
            <p:cNvPr id="35" name="任意多边形: 形状 3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6" name="任意多边形: 形状 3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42" name="组合 41"/>
          <p:cNvGrpSpPr/>
          <p:nvPr/>
        </p:nvGrpSpPr>
        <p:grpSpPr>
          <a:xfrm>
            <a:off x="1539024" y="944563"/>
            <a:ext cx="2929945" cy="2732355"/>
            <a:chOff x="1539024" y="944563"/>
            <a:chExt cx="2929945" cy="2732355"/>
          </a:xfrm>
        </p:grpSpPr>
        <p:sp>
          <p:nvSpPr>
            <p:cNvPr id="30" name="矩形: 圆角 29"/>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文本框 4"/>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通过优化客户分级跟进策略，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年第三季度个人销售额达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万元，位列门店销售业绩榜首。</a:t>
              </a:r>
            </a:p>
          </p:txBody>
        </p:sp>
        <p:sp>
          <p:nvSpPr>
            <p:cNvPr id="16" name="文本框 15"/>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销售业绩超额达成</a:t>
              </a:r>
            </a:p>
          </p:txBody>
        </p:sp>
        <p:sp>
          <p:nvSpPr>
            <p:cNvPr id="31" name="矩形: 圆角 30"/>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椭圆 31"/>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任意多边形: 形状 32"/>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8" name="文本框57"/>
            <p:cNvSpPr txBox="1"/>
            <p:nvPr/>
          </p:nvSpPr>
          <p:spPr>
            <a:xfrm>
              <a:off x="171159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同比增长</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42</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文本框57"/>
            <p:cNvSpPr txBox="1"/>
            <p:nvPr/>
          </p:nvSpPr>
          <p:spPr>
            <a:xfrm>
              <a:off x="284907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超额完成季度目标</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文本框57"/>
            <p:cNvSpPr txBox="1"/>
            <p:nvPr/>
          </p:nvSpPr>
          <p:spPr>
            <a:xfrm>
              <a:off x="284907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135</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3" name="组合 42"/>
          <p:cNvGrpSpPr/>
          <p:nvPr/>
        </p:nvGrpSpPr>
        <p:grpSpPr>
          <a:xfrm>
            <a:off x="5248106" y="944563"/>
            <a:ext cx="2929945" cy="2732355"/>
            <a:chOff x="1539024" y="944563"/>
            <a:chExt cx="2929945" cy="2732355"/>
          </a:xfrm>
        </p:grpSpPr>
        <p:sp>
          <p:nvSpPr>
            <p:cNvPr id="44" name="矩形: 圆角 43"/>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文本框 44"/>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担任门店“销售导师”，制定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新人快速上手手册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名新员工，帮助其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个月内均达到业绩基准线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文本框 45"/>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团队协同与新人培养</a:t>
              </a:r>
            </a:p>
          </p:txBody>
        </p:sp>
        <p:sp>
          <p:nvSpPr>
            <p:cNvPr id="47" name="矩形: 圆角 46"/>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椭圆 47"/>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9" name="任意多边形: 形状 48"/>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57"/>
            <p:cNvSpPr txBox="1"/>
            <p:nvPr/>
          </p:nvSpPr>
          <p:spPr>
            <a:xfrm>
              <a:off x="171159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小组销售额环比</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58</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4" name="组合 53"/>
          <p:cNvGrpSpPr/>
          <p:nvPr/>
        </p:nvGrpSpPr>
        <p:grpSpPr>
          <a:xfrm>
            <a:off x="8957187" y="944563"/>
            <a:ext cx="2929945" cy="2732355"/>
            <a:chOff x="1539024" y="944563"/>
            <a:chExt cx="2929945" cy="2732355"/>
          </a:xfrm>
        </p:grpSpPr>
        <p:sp>
          <p:nvSpPr>
            <p:cNvPr id="55" name="矩形: 圆角 54"/>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文本框 55"/>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通过分析历史销售数据，精准预测机型需求，向店长建议调整库存结构，将滞销机型周转天数从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57" name="文本框 56"/>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库存周转效率优化</a:t>
              </a:r>
            </a:p>
          </p:txBody>
        </p:sp>
        <p:sp>
          <p:nvSpPr>
            <p:cNvPr id="58" name="矩形: 圆角 57"/>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椭圆 58"/>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0" name="任意多边形: 形状 59"/>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文本框57"/>
            <p:cNvSpPr txBox="1"/>
            <p:nvPr/>
          </p:nvSpPr>
          <p:spPr>
            <a:xfrm>
              <a:off x="1711595" y="2548227"/>
              <a:ext cx="2526228"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畅销机型补货响应速度提升</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30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0" name="矩形: 圆角 129"/>
          <p:cNvSpPr/>
          <p:nvPr/>
        </p:nvSpPr>
        <p:spPr>
          <a:xfrm rot="5400000">
            <a:off x="3804672" y="4148418"/>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3418032" y="4993460"/>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主导“旗舰机型体验活动”，通过场景化演示（如摄影功能户外实测、性能游戏对比）提升客户转化率</a:t>
            </a:r>
          </a:p>
        </p:txBody>
      </p:sp>
      <p:sp>
        <p:nvSpPr>
          <p:cNvPr id="132" name="文本框 131"/>
          <p:cNvSpPr txBox="1"/>
          <p:nvPr/>
        </p:nvSpPr>
        <p:spPr>
          <a:xfrm>
            <a:off x="3418032" y="4713444"/>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高端机型推广突破</a:t>
            </a:r>
          </a:p>
        </p:txBody>
      </p:sp>
      <p:sp>
        <p:nvSpPr>
          <p:cNvPr id="133" name="矩形: 圆角 132"/>
          <p:cNvSpPr/>
          <p:nvPr/>
        </p:nvSpPr>
        <p:spPr>
          <a:xfrm rot="5400000">
            <a:off x="4835678" y="5037396"/>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6" name="文本框57"/>
          <p:cNvSpPr txBox="1"/>
          <p:nvPr/>
        </p:nvSpPr>
        <p:spPr>
          <a:xfrm>
            <a:off x="3566136" y="6163189"/>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高端机型占比</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37" name="文本框57"/>
          <p:cNvSpPr txBox="1"/>
          <p:nvPr/>
        </p:nvSpPr>
        <p:spPr>
          <a:xfrm>
            <a:off x="3566136"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48</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文本框57"/>
          <p:cNvSpPr txBox="1"/>
          <p:nvPr/>
        </p:nvSpPr>
        <p:spPr>
          <a:xfrm>
            <a:off x="4703616" y="6163189"/>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门店高端机销售额</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40" name="文本框57"/>
          <p:cNvSpPr txBox="1"/>
          <p:nvPr/>
        </p:nvSpPr>
        <p:spPr>
          <a:xfrm>
            <a:off x="4703616"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89</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矩形: 圆角 142"/>
          <p:cNvSpPr/>
          <p:nvPr/>
        </p:nvSpPr>
        <p:spPr>
          <a:xfrm rot="5400000">
            <a:off x="7513754" y="4148418"/>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文本框 143"/>
          <p:cNvSpPr txBox="1"/>
          <p:nvPr/>
        </p:nvSpPr>
        <p:spPr>
          <a:xfrm>
            <a:off x="7127114" y="4993460"/>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建立客户档案管理系统，针对老客户推出专属换机优惠，复购率从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；同时发起“老带新”奖励计划。</a:t>
            </a:r>
          </a:p>
        </p:txBody>
      </p:sp>
      <p:sp>
        <p:nvSpPr>
          <p:cNvPr id="145" name="文本框 144"/>
          <p:cNvSpPr txBox="1"/>
          <p:nvPr/>
        </p:nvSpPr>
        <p:spPr>
          <a:xfrm>
            <a:off x="7127114" y="4713444"/>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客户复购与转介绍率提升</a:t>
            </a:r>
          </a:p>
        </p:txBody>
      </p:sp>
      <p:sp>
        <p:nvSpPr>
          <p:cNvPr id="146" name="矩形: 圆角 145"/>
          <p:cNvSpPr/>
          <p:nvPr/>
        </p:nvSpPr>
        <p:spPr>
          <a:xfrm rot="5400000">
            <a:off x="8544760" y="5037396"/>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55" name="组合 154"/>
          <p:cNvGrpSpPr/>
          <p:nvPr/>
        </p:nvGrpSpPr>
        <p:grpSpPr>
          <a:xfrm flipV="1">
            <a:off x="4754866" y="3943594"/>
            <a:ext cx="3916424" cy="728296"/>
            <a:chOff x="4754866" y="3962911"/>
            <a:chExt cx="3916424" cy="728296"/>
          </a:xfrm>
        </p:grpSpPr>
        <p:sp>
          <p:nvSpPr>
            <p:cNvPr id="134" name="椭圆 133"/>
            <p:cNvSpPr/>
            <p:nvPr/>
          </p:nvSpPr>
          <p:spPr>
            <a:xfrm>
              <a:off x="4754866" y="3962911"/>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5" name="任意多边形: 形状 134"/>
            <p:cNvSpPr/>
            <p:nvPr/>
          </p:nvSpPr>
          <p:spPr>
            <a:xfrm>
              <a:off x="4858537" y="4066582"/>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7" name="椭圆 146"/>
            <p:cNvSpPr/>
            <p:nvPr/>
          </p:nvSpPr>
          <p:spPr>
            <a:xfrm>
              <a:off x="8463948" y="3962911"/>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8567619" y="4066582"/>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50" name="文本框57"/>
          <p:cNvSpPr txBox="1"/>
          <p:nvPr/>
        </p:nvSpPr>
        <p:spPr>
          <a:xfrm>
            <a:off x="7275218" y="6163189"/>
            <a:ext cx="2393038"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老客户转介绍新增成交</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2" name="文本框57"/>
          <p:cNvSpPr txBox="1"/>
          <p:nvPr/>
        </p:nvSpPr>
        <p:spPr>
          <a:xfrm>
            <a:off x="7275218"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62</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单</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5" name="组合 174"/>
          <p:cNvGrpSpPr/>
          <p:nvPr/>
        </p:nvGrpSpPr>
        <p:grpSpPr>
          <a:xfrm>
            <a:off x="6767511" y="2185283"/>
            <a:ext cx="1149077" cy="584293"/>
            <a:chOff x="4491569" y="5702958"/>
            <a:chExt cx="1149077" cy="584293"/>
          </a:xfrm>
        </p:grpSpPr>
        <p:sp>
          <p:nvSpPr>
            <p:cNvPr id="176" name="图形 11"/>
            <p:cNvSpPr>
              <a:spLocks noEditPoints="1"/>
            </p:cNvSpPr>
            <p:nvPr/>
          </p:nvSpPr>
          <p:spPr bwMode="auto">
            <a:xfrm>
              <a:off x="4491569" y="5702958"/>
              <a:ext cx="274441" cy="584293"/>
            </a:xfrm>
            <a:custGeom>
              <a:avLst/>
              <a:gdLst>
                <a:gd name="T0" fmla="*/ 47 w 75"/>
                <a:gd name="T1" fmla="*/ 22 h 159"/>
                <a:gd name="T2" fmla="*/ 25 w 75"/>
                <a:gd name="T3" fmla="*/ 30 h 159"/>
                <a:gd name="T4" fmla="*/ 26 w 75"/>
                <a:gd name="T5" fmla="*/ 26 h 159"/>
                <a:gd name="T6" fmla="*/ 22 w 75"/>
                <a:gd name="T7" fmla="*/ 35 h 159"/>
                <a:gd name="T8" fmla="*/ 55 w 75"/>
                <a:gd name="T9" fmla="*/ 124 h 159"/>
                <a:gd name="T10" fmla="*/ 68 w 75"/>
                <a:gd name="T11" fmla="*/ 145 h 159"/>
                <a:gd name="T12" fmla="*/ 63 w 75"/>
                <a:gd name="T13" fmla="*/ 145 h 159"/>
                <a:gd name="T14" fmla="*/ 75 w 75"/>
                <a:gd name="T15" fmla="*/ 148 h 159"/>
                <a:gd name="T16" fmla="*/ 43 w 75"/>
                <a:gd name="T17" fmla="*/ 113 h 159"/>
                <a:gd name="T18" fmla="*/ 50 w 75"/>
                <a:gd name="T19" fmla="*/ 136 h 159"/>
                <a:gd name="T20" fmla="*/ 33 w 75"/>
                <a:gd name="T21" fmla="*/ 132 h 159"/>
                <a:gd name="T22" fmla="*/ 43 w 75"/>
                <a:gd name="T23" fmla="*/ 144 h 159"/>
                <a:gd name="T24" fmla="*/ 39 w 75"/>
                <a:gd name="T25" fmla="*/ 129 h 159"/>
                <a:gd name="T26" fmla="*/ 34 w 75"/>
                <a:gd name="T27" fmla="*/ 100 h 159"/>
                <a:gd name="T28" fmla="*/ 35 w 75"/>
                <a:gd name="T29" fmla="*/ 124 h 159"/>
                <a:gd name="T30" fmla="*/ 31 w 75"/>
                <a:gd name="T31" fmla="*/ 121 h 159"/>
                <a:gd name="T32" fmla="*/ 26 w 75"/>
                <a:gd name="T33" fmla="*/ 129 h 159"/>
                <a:gd name="T34" fmla="*/ 26 w 75"/>
                <a:gd name="T35" fmla="*/ 113 h 159"/>
                <a:gd name="T36" fmla="*/ 22 w 75"/>
                <a:gd name="T37" fmla="*/ 103 h 159"/>
                <a:gd name="T38" fmla="*/ 22 w 75"/>
                <a:gd name="T39" fmla="*/ 108 h 159"/>
                <a:gd name="T40" fmla="*/ 3 w 75"/>
                <a:gd name="T41" fmla="*/ 89 h 159"/>
                <a:gd name="T42" fmla="*/ 17 w 75"/>
                <a:gd name="T43" fmla="*/ 95 h 159"/>
                <a:gd name="T44" fmla="*/ 16 w 75"/>
                <a:gd name="T45" fmla="*/ 84 h 159"/>
                <a:gd name="T46" fmla="*/ 15 w 75"/>
                <a:gd name="T47" fmla="*/ 89 h 159"/>
                <a:gd name="T48" fmla="*/ 1 w 75"/>
                <a:gd name="T49" fmla="*/ 66 h 159"/>
                <a:gd name="T50" fmla="*/ 17 w 75"/>
                <a:gd name="T51" fmla="*/ 95 h 159"/>
                <a:gd name="T52" fmla="*/ 30 w 75"/>
                <a:gd name="T53" fmla="*/ 51 h 159"/>
                <a:gd name="T54" fmla="*/ 14 w 75"/>
                <a:gd name="T55" fmla="*/ 69 h 159"/>
                <a:gd name="T56" fmla="*/ 13 w 75"/>
                <a:gd name="T57" fmla="*/ 64 h 159"/>
                <a:gd name="T58" fmla="*/ 5 w 75"/>
                <a:gd name="T59" fmla="*/ 67 h 159"/>
                <a:gd name="T60" fmla="*/ 16 w 75"/>
                <a:gd name="T61" fmla="*/ 54 h 159"/>
                <a:gd name="T62" fmla="*/ 20 w 75"/>
                <a:gd name="T63" fmla="*/ 44 h 159"/>
                <a:gd name="T64" fmla="*/ 17 w 75"/>
                <a:gd name="T65" fmla="*/ 48 h 159"/>
                <a:gd name="T66" fmla="*/ 15 w 75"/>
                <a:gd name="T67" fmla="*/ 23 h 159"/>
                <a:gd name="T68" fmla="*/ 16 w 75"/>
                <a:gd name="T69" fmla="*/ 54 h 159"/>
                <a:gd name="T70" fmla="*/ 34 w 75"/>
                <a:gd name="T71" fmla="*/ 11 h 159"/>
                <a:gd name="T72" fmla="*/ 52 w 75"/>
                <a:gd name="T7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 h="159">
                  <a:moveTo>
                    <a:pt x="22" y="35"/>
                  </a:moveTo>
                  <a:cubicBezTo>
                    <a:pt x="33" y="37"/>
                    <a:pt x="41" y="30"/>
                    <a:pt x="47" y="22"/>
                  </a:cubicBezTo>
                  <a:cubicBezTo>
                    <a:pt x="40" y="21"/>
                    <a:pt x="33" y="23"/>
                    <a:pt x="28" y="27"/>
                  </a:cubicBezTo>
                  <a:cubicBezTo>
                    <a:pt x="27" y="28"/>
                    <a:pt x="26" y="29"/>
                    <a:pt x="25" y="30"/>
                  </a:cubicBezTo>
                  <a:cubicBezTo>
                    <a:pt x="25" y="31"/>
                    <a:pt x="25" y="30"/>
                    <a:pt x="25" y="30"/>
                  </a:cubicBezTo>
                  <a:cubicBezTo>
                    <a:pt x="25" y="29"/>
                    <a:pt x="26" y="27"/>
                    <a:pt x="26" y="26"/>
                  </a:cubicBezTo>
                  <a:cubicBezTo>
                    <a:pt x="28" y="20"/>
                    <a:pt x="29" y="12"/>
                    <a:pt x="28" y="5"/>
                  </a:cubicBezTo>
                  <a:cubicBezTo>
                    <a:pt x="20" y="12"/>
                    <a:pt x="13" y="27"/>
                    <a:pt x="22" y="35"/>
                  </a:cubicBezTo>
                  <a:close/>
                  <a:moveTo>
                    <a:pt x="75" y="148"/>
                  </a:moveTo>
                  <a:cubicBezTo>
                    <a:pt x="74" y="138"/>
                    <a:pt x="64" y="128"/>
                    <a:pt x="55" y="124"/>
                  </a:cubicBezTo>
                  <a:cubicBezTo>
                    <a:pt x="55" y="131"/>
                    <a:pt x="58" y="138"/>
                    <a:pt x="64" y="143"/>
                  </a:cubicBezTo>
                  <a:cubicBezTo>
                    <a:pt x="65" y="144"/>
                    <a:pt x="66" y="145"/>
                    <a:pt x="68" y="145"/>
                  </a:cubicBezTo>
                  <a:cubicBezTo>
                    <a:pt x="68" y="146"/>
                    <a:pt x="68" y="146"/>
                    <a:pt x="68" y="146"/>
                  </a:cubicBezTo>
                  <a:cubicBezTo>
                    <a:pt x="66" y="146"/>
                    <a:pt x="64" y="145"/>
                    <a:pt x="63" y="145"/>
                  </a:cubicBezTo>
                  <a:cubicBezTo>
                    <a:pt x="55" y="144"/>
                    <a:pt x="47" y="145"/>
                    <a:pt x="40" y="146"/>
                  </a:cubicBezTo>
                  <a:cubicBezTo>
                    <a:pt x="49" y="155"/>
                    <a:pt x="67" y="159"/>
                    <a:pt x="75" y="148"/>
                  </a:cubicBezTo>
                  <a:close/>
                  <a:moveTo>
                    <a:pt x="55" y="140"/>
                  </a:moveTo>
                  <a:cubicBezTo>
                    <a:pt x="57" y="130"/>
                    <a:pt x="51" y="120"/>
                    <a:pt x="43" y="113"/>
                  </a:cubicBezTo>
                  <a:cubicBezTo>
                    <a:pt x="42" y="120"/>
                    <a:pt x="42" y="128"/>
                    <a:pt x="47" y="133"/>
                  </a:cubicBezTo>
                  <a:cubicBezTo>
                    <a:pt x="48" y="134"/>
                    <a:pt x="49" y="135"/>
                    <a:pt x="50" y="136"/>
                  </a:cubicBezTo>
                  <a:cubicBezTo>
                    <a:pt x="50" y="137"/>
                    <a:pt x="50" y="137"/>
                    <a:pt x="49" y="137"/>
                  </a:cubicBezTo>
                  <a:cubicBezTo>
                    <a:pt x="43" y="134"/>
                    <a:pt x="40" y="133"/>
                    <a:pt x="33" y="132"/>
                  </a:cubicBezTo>
                  <a:cubicBezTo>
                    <a:pt x="29" y="132"/>
                    <a:pt x="26" y="131"/>
                    <a:pt x="23" y="131"/>
                  </a:cubicBezTo>
                  <a:cubicBezTo>
                    <a:pt x="27" y="138"/>
                    <a:pt x="35" y="143"/>
                    <a:pt x="43" y="144"/>
                  </a:cubicBezTo>
                  <a:cubicBezTo>
                    <a:pt x="48" y="144"/>
                    <a:pt x="52" y="143"/>
                    <a:pt x="55" y="140"/>
                  </a:cubicBezTo>
                  <a:close/>
                  <a:moveTo>
                    <a:pt x="39" y="129"/>
                  </a:moveTo>
                  <a:cubicBezTo>
                    <a:pt x="41" y="125"/>
                    <a:pt x="41" y="121"/>
                    <a:pt x="41" y="117"/>
                  </a:cubicBezTo>
                  <a:cubicBezTo>
                    <a:pt x="40" y="111"/>
                    <a:pt x="37" y="105"/>
                    <a:pt x="34" y="100"/>
                  </a:cubicBezTo>
                  <a:cubicBezTo>
                    <a:pt x="30" y="106"/>
                    <a:pt x="29" y="113"/>
                    <a:pt x="32" y="120"/>
                  </a:cubicBezTo>
                  <a:cubicBezTo>
                    <a:pt x="33" y="121"/>
                    <a:pt x="34" y="123"/>
                    <a:pt x="35" y="124"/>
                  </a:cubicBezTo>
                  <a:cubicBezTo>
                    <a:pt x="35" y="124"/>
                    <a:pt x="35" y="125"/>
                    <a:pt x="34" y="124"/>
                  </a:cubicBezTo>
                  <a:cubicBezTo>
                    <a:pt x="33" y="123"/>
                    <a:pt x="32" y="122"/>
                    <a:pt x="31" y="121"/>
                  </a:cubicBezTo>
                  <a:cubicBezTo>
                    <a:pt x="25" y="117"/>
                    <a:pt x="17" y="113"/>
                    <a:pt x="10" y="111"/>
                  </a:cubicBezTo>
                  <a:cubicBezTo>
                    <a:pt x="13" y="119"/>
                    <a:pt x="19" y="126"/>
                    <a:pt x="26" y="129"/>
                  </a:cubicBezTo>
                  <a:cubicBezTo>
                    <a:pt x="31" y="131"/>
                    <a:pt x="35" y="131"/>
                    <a:pt x="39" y="129"/>
                  </a:cubicBezTo>
                  <a:close/>
                  <a:moveTo>
                    <a:pt x="26" y="113"/>
                  </a:moveTo>
                  <a:cubicBezTo>
                    <a:pt x="32" y="105"/>
                    <a:pt x="32" y="93"/>
                    <a:pt x="28" y="84"/>
                  </a:cubicBezTo>
                  <a:cubicBezTo>
                    <a:pt x="23" y="89"/>
                    <a:pt x="21" y="96"/>
                    <a:pt x="22" y="103"/>
                  </a:cubicBezTo>
                  <a:cubicBezTo>
                    <a:pt x="22" y="104"/>
                    <a:pt x="23" y="106"/>
                    <a:pt x="23" y="107"/>
                  </a:cubicBezTo>
                  <a:cubicBezTo>
                    <a:pt x="23" y="108"/>
                    <a:pt x="23" y="108"/>
                    <a:pt x="22" y="108"/>
                  </a:cubicBezTo>
                  <a:cubicBezTo>
                    <a:pt x="22" y="106"/>
                    <a:pt x="21" y="105"/>
                    <a:pt x="20" y="104"/>
                  </a:cubicBezTo>
                  <a:cubicBezTo>
                    <a:pt x="15" y="98"/>
                    <a:pt x="9" y="93"/>
                    <a:pt x="3" y="89"/>
                  </a:cubicBezTo>
                  <a:cubicBezTo>
                    <a:pt x="4" y="102"/>
                    <a:pt x="13" y="116"/>
                    <a:pt x="26" y="113"/>
                  </a:cubicBezTo>
                  <a:close/>
                  <a:moveTo>
                    <a:pt x="17" y="95"/>
                  </a:moveTo>
                  <a:cubicBezTo>
                    <a:pt x="26" y="89"/>
                    <a:pt x="28" y="77"/>
                    <a:pt x="27" y="68"/>
                  </a:cubicBezTo>
                  <a:cubicBezTo>
                    <a:pt x="21" y="71"/>
                    <a:pt x="17" y="77"/>
                    <a:pt x="16" y="84"/>
                  </a:cubicBezTo>
                  <a:cubicBezTo>
                    <a:pt x="16" y="88"/>
                    <a:pt x="16" y="88"/>
                    <a:pt x="16" y="88"/>
                  </a:cubicBezTo>
                  <a:cubicBezTo>
                    <a:pt x="16" y="89"/>
                    <a:pt x="16" y="89"/>
                    <a:pt x="15" y="89"/>
                  </a:cubicBezTo>
                  <a:cubicBezTo>
                    <a:pt x="14" y="84"/>
                    <a:pt x="14" y="84"/>
                    <a:pt x="14" y="84"/>
                  </a:cubicBezTo>
                  <a:cubicBezTo>
                    <a:pt x="11" y="78"/>
                    <a:pt x="6" y="71"/>
                    <a:pt x="1" y="66"/>
                  </a:cubicBezTo>
                  <a:cubicBezTo>
                    <a:pt x="0" y="74"/>
                    <a:pt x="1" y="83"/>
                    <a:pt x="6" y="89"/>
                  </a:cubicBezTo>
                  <a:cubicBezTo>
                    <a:pt x="9" y="92"/>
                    <a:pt x="13" y="94"/>
                    <a:pt x="17" y="95"/>
                  </a:cubicBezTo>
                  <a:close/>
                  <a:moveTo>
                    <a:pt x="14" y="75"/>
                  </a:moveTo>
                  <a:cubicBezTo>
                    <a:pt x="24" y="71"/>
                    <a:pt x="28" y="61"/>
                    <a:pt x="30" y="51"/>
                  </a:cubicBezTo>
                  <a:cubicBezTo>
                    <a:pt x="23" y="53"/>
                    <a:pt x="18" y="58"/>
                    <a:pt x="15" y="64"/>
                  </a:cubicBezTo>
                  <a:cubicBezTo>
                    <a:pt x="15" y="66"/>
                    <a:pt x="15" y="67"/>
                    <a:pt x="14" y="69"/>
                  </a:cubicBezTo>
                  <a:cubicBezTo>
                    <a:pt x="14" y="69"/>
                    <a:pt x="14" y="69"/>
                    <a:pt x="14" y="69"/>
                  </a:cubicBezTo>
                  <a:cubicBezTo>
                    <a:pt x="13" y="67"/>
                    <a:pt x="13" y="65"/>
                    <a:pt x="13" y="64"/>
                  </a:cubicBezTo>
                  <a:cubicBezTo>
                    <a:pt x="12" y="57"/>
                    <a:pt x="9" y="49"/>
                    <a:pt x="5" y="43"/>
                  </a:cubicBezTo>
                  <a:cubicBezTo>
                    <a:pt x="2" y="50"/>
                    <a:pt x="1" y="59"/>
                    <a:pt x="5" y="67"/>
                  </a:cubicBezTo>
                  <a:cubicBezTo>
                    <a:pt x="7" y="71"/>
                    <a:pt x="10" y="74"/>
                    <a:pt x="14" y="75"/>
                  </a:cubicBezTo>
                  <a:close/>
                  <a:moveTo>
                    <a:pt x="16" y="54"/>
                  </a:moveTo>
                  <a:cubicBezTo>
                    <a:pt x="25" y="53"/>
                    <a:pt x="33" y="44"/>
                    <a:pt x="36" y="36"/>
                  </a:cubicBezTo>
                  <a:cubicBezTo>
                    <a:pt x="30" y="36"/>
                    <a:pt x="23" y="39"/>
                    <a:pt x="20" y="44"/>
                  </a:cubicBezTo>
                  <a:cubicBezTo>
                    <a:pt x="19" y="46"/>
                    <a:pt x="18" y="47"/>
                    <a:pt x="18" y="48"/>
                  </a:cubicBezTo>
                  <a:cubicBezTo>
                    <a:pt x="18" y="49"/>
                    <a:pt x="17" y="48"/>
                    <a:pt x="17" y="48"/>
                  </a:cubicBezTo>
                  <a:cubicBezTo>
                    <a:pt x="17" y="47"/>
                    <a:pt x="18" y="42"/>
                    <a:pt x="18" y="41"/>
                  </a:cubicBezTo>
                  <a:cubicBezTo>
                    <a:pt x="18" y="35"/>
                    <a:pt x="17" y="29"/>
                    <a:pt x="15" y="23"/>
                  </a:cubicBezTo>
                  <a:cubicBezTo>
                    <a:pt x="10" y="29"/>
                    <a:pt x="8" y="37"/>
                    <a:pt x="9" y="44"/>
                  </a:cubicBezTo>
                  <a:cubicBezTo>
                    <a:pt x="10" y="48"/>
                    <a:pt x="12" y="52"/>
                    <a:pt x="16" y="54"/>
                  </a:cubicBezTo>
                  <a:close/>
                  <a:moveTo>
                    <a:pt x="52" y="0"/>
                  </a:moveTo>
                  <a:cubicBezTo>
                    <a:pt x="45" y="1"/>
                    <a:pt x="38" y="5"/>
                    <a:pt x="34" y="11"/>
                  </a:cubicBezTo>
                  <a:cubicBezTo>
                    <a:pt x="32" y="14"/>
                    <a:pt x="31" y="17"/>
                    <a:pt x="31" y="21"/>
                  </a:cubicBezTo>
                  <a:cubicBezTo>
                    <a:pt x="41" y="19"/>
                    <a:pt x="48" y="8"/>
                    <a:pt x="52"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图形 11"/>
            <p:cNvSpPr>
              <a:spLocks noEditPoints="1"/>
            </p:cNvSpPr>
            <p:nvPr/>
          </p:nvSpPr>
          <p:spPr bwMode="auto">
            <a:xfrm>
              <a:off x="5364436" y="5702958"/>
              <a:ext cx="276210" cy="584293"/>
            </a:xfrm>
            <a:custGeom>
              <a:avLst/>
              <a:gdLst>
                <a:gd name="T0" fmla="*/ 28 w 75"/>
                <a:gd name="T1" fmla="*/ 22 h 159"/>
                <a:gd name="T2" fmla="*/ 49 w 75"/>
                <a:gd name="T3" fmla="*/ 30 h 159"/>
                <a:gd name="T4" fmla="*/ 48 w 75"/>
                <a:gd name="T5" fmla="*/ 26 h 159"/>
                <a:gd name="T6" fmla="*/ 52 w 75"/>
                <a:gd name="T7" fmla="*/ 35 h 159"/>
                <a:gd name="T8" fmla="*/ 19 w 75"/>
                <a:gd name="T9" fmla="*/ 124 h 159"/>
                <a:gd name="T10" fmla="*/ 7 w 75"/>
                <a:gd name="T11" fmla="*/ 145 h 159"/>
                <a:gd name="T12" fmla="*/ 12 w 75"/>
                <a:gd name="T13" fmla="*/ 145 h 159"/>
                <a:gd name="T14" fmla="*/ 0 w 75"/>
                <a:gd name="T15" fmla="*/ 148 h 159"/>
                <a:gd name="T16" fmla="*/ 32 w 75"/>
                <a:gd name="T17" fmla="*/ 113 h 159"/>
                <a:gd name="T18" fmla="*/ 25 w 75"/>
                <a:gd name="T19" fmla="*/ 136 h 159"/>
                <a:gd name="T20" fmla="*/ 42 w 75"/>
                <a:gd name="T21" fmla="*/ 132 h 159"/>
                <a:gd name="T22" fmla="*/ 32 w 75"/>
                <a:gd name="T23" fmla="*/ 144 h 159"/>
                <a:gd name="T24" fmla="*/ 35 w 75"/>
                <a:gd name="T25" fmla="*/ 129 h 159"/>
                <a:gd name="T26" fmla="*/ 41 w 75"/>
                <a:gd name="T27" fmla="*/ 100 h 159"/>
                <a:gd name="T28" fmla="*/ 40 w 75"/>
                <a:gd name="T29" fmla="*/ 124 h 159"/>
                <a:gd name="T30" fmla="*/ 44 w 75"/>
                <a:gd name="T31" fmla="*/ 121 h 159"/>
                <a:gd name="T32" fmla="*/ 48 w 75"/>
                <a:gd name="T33" fmla="*/ 129 h 159"/>
                <a:gd name="T34" fmla="*/ 49 w 75"/>
                <a:gd name="T35" fmla="*/ 113 h 159"/>
                <a:gd name="T36" fmla="*/ 53 w 75"/>
                <a:gd name="T37" fmla="*/ 103 h 159"/>
                <a:gd name="T38" fmla="*/ 52 w 75"/>
                <a:gd name="T39" fmla="*/ 108 h 159"/>
                <a:gd name="T40" fmla="*/ 72 w 75"/>
                <a:gd name="T41" fmla="*/ 89 h 159"/>
                <a:gd name="T42" fmla="*/ 57 w 75"/>
                <a:gd name="T43" fmla="*/ 95 h 159"/>
                <a:gd name="T44" fmla="*/ 59 w 75"/>
                <a:gd name="T45" fmla="*/ 84 h 159"/>
                <a:gd name="T46" fmla="*/ 59 w 75"/>
                <a:gd name="T47" fmla="*/ 89 h 159"/>
                <a:gd name="T48" fmla="*/ 74 w 75"/>
                <a:gd name="T49" fmla="*/ 66 h 159"/>
                <a:gd name="T50" fmla="*/ 57 w 75"/>
                <a:gd name="T51" fmla="*/ 95 h 159"/>
                <a:gd name="T52" fmla="*/ 45 w 75"/>
                <a:gd name="T53" fmla="*/ 51 h 159"/>
                <a:gd name="T54" fmla="*/ 60 w 75"/>
                <a:gd name="T55" fmla="*/ 69 h 159"/>
                <a:gd name="T56" fmla="*/ 62 w 75"/>
                <a:gd name="T57" fmla="*/ 64 h 159"/>
                <a:gd name="T58" fmla="*/ 70 w 75"/>
                <a:gd name="T59" fmla="*/ 67 h 159"/>
                <a:gd name="T60" fmla="*/ 59 w 75"/>
                <a:gd name="T61" fmla="*/ 54 h 159"/>
                <a:gd name="T62" fmla="*/ 55 w 75"/>
                <a:gd name="T63" fmla="*/ 44 h 159"/>
                <a:gd name="T64" fmla="*/ 58 w 75"/>
                <a:gd name="T65" fmla="*/ 48 h 159"/>
                <a:gd name="T66" fmla="*/ 60 w 75"/>
                <a:gd name="T67" fmla="*/ 23 h 159"/>
                <a:gd name="T68" fmla="*/ 59 w 75"/>
                <a:gd name="T69" fmla="*/ 54 h 159"/>
                <a:gd name="T70" fmla="*/ 41 w 75"/>
                <a:gd name="T71" fmla="*/ 11 h 159"/>
                <a:gd name="T72" fmla="*/ 23 w 75"/>
                <a:gd name="T7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 h="159">
                  <a:moveTo>
                    <a:pt x="52" y="35"/>
                  </a:moveTo>
                  <a:cubicBezTo>
                    <a:pt x="42" y="37"/>
                    <a:pt x="34" y="30"/>
                    <a:pt x="28" y="22"/>
                  </a:cubicBezTo>
                  <a:cubicBezTo>
                    <a:pt x="35" y="21"/>
                    <a:pt x="42" y="23"/>
                    <a:pt x="47" y="27"/>
                  </a:cubicBezTo>
                  <a:cubicBezTo>
                    <a:pt x="48" y="28"/>
                    <a:pt x="49" y="29"/>
                    <a:pt x="49" y="30"/>
                  </a:cubicBezTo>
                  <a:cubicBezTo>
                    <a:pt x="50" y="31"/>
                    <a:pt x="50" y="30"/>
                    <a:pt x="50" y="30"/>
                  </a:cubicBezTo>
                  <a:cubicBezTo>
                    <a:pt x="49" y="29"/>
                    <a:pt x="49" y="27"/>
                    <a:pt x="48" y="26"/>
                  </a:cubicBezTo>
                  <a:cubicBezTo>
                    <a:pt x="46" y="20"/>
                    <a:pt x="46" y="12"/>
                    <a:pt x="47" y="5"/>
                  </a:cubicBezTo>
                  <a:cubicBezTo>
                    <a:pt x="55" y="12"/>
                    <a:pt x="61" y="27"/>
                    <a:pt x="52" y="35"/>
                  </a:cubicBezTo>
                  <a:close/>
                  <a:moveTo>
                    <a:pt x="0" y="148"/>
                  </a:moveTo>
                  <a:cubicBezTo>
                    <a:pt x="1" y="138"/>
                    <a:pt x="10" y="128"/>
                    <a:pt x="19" y="124"/>
                  </a:cubicBezTo>
                  <a:cubicBezTo>
                    <a:pt x="20" y="131"/>
                    <a:pt x="17" y="138"/>
                    <a:pt x="11" y="143"/>
                  </a:cubicBezTo>
                  <a:cubicBezTo>
                    <a:pt x="10" y="144"/>
                    <a:pt x="8" y="145"/>
                    <a:pt x="7" y="145"/>
                  </a:cubicBezTo>
                  <a:cubicBezTo>
                    <a:pt x="6" y="146"/>
                    <a:pt x="7" y="146"/>
                    <a:pt x="7" y="146"/>
                  </a:cubicBezTo>
                  <a:cubicBezTo>
                    <a:pt x="9" y="146"/>
                    <a:pt x="10" y="145"/>
                    <a:pt x="12" y="145"/>
                  </a:cubicBezTo>
                  <a:cubicBezTo>
                    <a:pt x="19" y="144"/>
                    <a:pt x="28" y="145"/>
                    <a:pt x="35" y="146"/>
                  </a:cubicBezTo>
                  <a:cubicBezTo>
                    <a:pt x="26" y="155"/>
                    <a:pt x="8" y="159"/>
                    <a:pt x="0" y="148"/>
                  </a:cubicBezTo>
                  <a:close/>
                  <a:moveTo>
                    <a:pt x="20" y="140"/>
                  </a:moveTo>
                  <a:cubicBezTo>
                    <a:pt x="18" y="130"/>
                    <a:pt x="24" y="120"/>
                    <a:pt x="32" y="113"/>
                  </a:cubicBezTo>
                  <a:cubicBezTo>
                    <a:pt x="33" y="120"/>
                    <a:pt x="33" y="128"/>
                    <a:pt x="28" y="133"/>
                  </a:cubicBezTo>
                  <a:cubicBezTo>
                    <a:pt x="27" y="134"/>
                    <a:pt x="26" y="135"/>
                    <a:pt x="25" y="136"/>
                  </a:cubicBezTo>
                  <a:cubicBezTo>
                    <a:pt x="25" y="137"/>
                    <a:pt x="25" y="137"/>
                    <a:pt x="25" y="137"/>
                  </a:cubicBezTo>
                  <a:cubicBezTo>
                    <a:pt x="32" y="134"/>
                    <a:pt x="35" y="133"/>
                    <a:pt x="42" y="132"/>
                  </a:cubicBezTo>
                  <a:cubicBezTo>
                    <a:pt x="45" y="132"/>
                    <a:pt x="49" y="131"/>
                    <a:pt x="52" y="131"/>
                  </a:cubicBezTo>
                  <a:cubicBezTo>
                    <a:pt x="47" y="138"/>
                    <a:pt x="40" y="143"/>
                    <a:pt x="32" y="144"/>
                  </a:cubicBezTo>
                  <a:cubicBezTo>
                    <a:pt x="27" y="144"/>
                    <a:pt x="23" y="143"/>
                    <a:pt x="20" y="140"/>
                  </a:cubicBezTo>
                  <a:close/>
                  <a:moveTo>
                    <a:pt x="35" y="129"/>
                  </a:moveTo>
                  <a:cubicBezTo>
                    <a:pt x="34" y="125"/>
                    <a:pt x="33" y="121"/>
                    <a:pt x="34" y="117"/>
                  </a:cubicBezTo>
                  <a:cubicBezTo>
                    <a:pt x="35" y="111"/>
                    <a:pt x="37" y="105"/>
                    <a:pt x="41" y="100"/>
                  </a:cubicBezTo>
                  <a:cubicBezTo>
                    <a:pt x="45" y="106"/>
                    <a:pt x="45" y="113"/>
                    <a:pt x="42" y="120"/>
                  </a:cubicBezTo>
                  <a:cubicBezTo>
                    <a:pt x="42" y="121"/>
                    <a:pt x="41" y="123"/>
                    <a:pt x="40" y="124"/>
                  </a:cubicBezTo>
                  <a:cubicBezTo>
                    <a:pt x="40" y="124"/>
                    <a:pt x="40" y="125"/>
                    <a:pt x="40" y="124"/>
                  </a:cubicBezTo>
                  <a:cubicBezTo>
                    <a:pt x="42" y="123"/>
                    <a:pt x="43" y="122"/>
                    <a:pt x="44" y="121"/>
                  </a:cubicBezTo>
                  <a:cubicBezTo>
                    <a:pt x="50" y="117"/>
                    <a:pt x="58" y="113"/>
                    <a:pt x="65" y="111"/>
                  </a:cubicBezTo>
                  <a:cubicBezTo>
                    <a:pt x="62" y="119"/>
                    <a:pt x="56" y="126"/>
                    <a:pt x="48" y="129"/>
                  </a:cubicBezTo>
                  <a:cubicBezTo>
                    <a:pt x="44" y="131"/>
                    <a:pt x="40" y="131"/>
                    <a:pt x="35" y="129"/>
                  </a:cubicBezTo>
                  <a:close/>
                  <a:moveTo>
                    <a:pt x="49" y="113"/>
                  </a:moveTo>
                  <a:cubicBezTo>
                    <a:pt x="42" y="105"/>
                    <a:pt x="43" y="93"/>
                    <a:pt x="46" y="84"/>
                  </a:cubicBezTo>
                  <a:cubicBezTo>
                    <a:pt x="51" y="89"/>
                    <a:pt x="54" y="96"/>
                    <a:pt x="53" y="103"/>
                  </a:cubicBezTo>
                  <a:cubicBezTo>
                    <a:pt x="53" y="104"/>
                    <a:pt x="52" y="106"/>
                    <a:pt x="52" y="107"/>
                  </a:cubicBezTo>
                  <a:cubicBezTo>
                    <a:pt x="51" y="108"/>
                    <a:pt x="52" y="108"/>
                    <a:pt x="52" y="108"/>
                  </a:cubicBezTo>
                  <a:cubicBezTo>
                    <a:pt x="53" y="106"/>
                    <a:pt x="54" y="105"/>
                    <a:pt x="55" y="104"/>
                  </a:cubicBezTo>
                  <a:cubicBezTo>
                    <a:pt x="59" y="98"/>
                    <a:pt x="66" y="93"/>
                    <a:pt x="72" y="89"/>
                  </a:cubicBezTo>
                  <a:cubicBezTo>
                    <a:pt x="71" y="102"/>
                    <a:pt x="61" y="116"/>
                    <a:pt x="49" y="113"/>
                  </a:cubicBezTo>
                  <a:close/>
                  <a:moveTo>
                    <a:pt x="57" y="95"/>
                  </a:moveTo>
                  <a:cubicBezTo>
                    <a:pt x="49" y="89"/>
                    <a:pt x="47" y="77"/>
                    <a:pt x="48" y="68"/>
                  </a:cubicBezTo>
                  <a:cubicBezTo>
                    <a:pt x="54" y="71"/>
                    <a:pt x="58" y="77"/>
                    <a:pt x="59" y="84"/>
                  </a:cubicBezTo>
                  <a:cubicBezTo>
                    <a:pt x="59" y="88"/>
                    <a:pt x="59" y="88"/>
                    <a:pt x="59" y="88"/>
                  </a:cubicBezTo>
                  <a:cubicBezTo>
                    <a:pt x="59" y="89"/>
                    <a:pt x="59" y="89"/>
                    <a:pt x="59" y="89"/>
                  </a:cubicBezTo>
                  <a:cubicBezTo>
                    <a:pt x="61" y="84"/>
                    <a:pt x="61" y="84"/>
                    <a:pt x="61" y="84"/>
                  </a:cubicBezTo>
                  <a:cubicBezTo>
                    <a:pt x="64" y="78"/>
                    <a:pt x="69" y="71"/>
                    <a:pt x="74" y="66"/>
                  </a:cubicBezTo>
                  <a:cubicBezTo>
                    <a:pt x="75" y="74"/>
                    <a:pt x="74" y="83"/>
                    <a:pt x="68" y="89"/>
                  </a:cubicBezTo>
                  <a:cubicBezTo>
                    <a:pt x="66" y="92"/>
                    <a:pt x="62" y="94"/>
                    <a:pt x="57" y="95"/>
                  </a:cubicBezTo>
                  <a:close/>
                  <a:moveTo>
                    <a:pt x="61" y="75"/>
                  </a:moveTo>
                  <a:cubicBezTo>
                    <a:pt x="51" y="71"/>
                    <a:pt x="46" y="61"/>
                    <a:pt x="45" y="51"/>
                  </a:cubicBezTo>
                  <a:cubicBezTo>
                    <a:pt x="51" y="53"/>
                    <a:pt x="57" y="58"/>
                    <a:pt x="59" y="64"/>
                  </a:cubicBezTo>
                  <a:cubicBezTo>
                    <a:pt x="60" y="66"/>
                    <a:pt x="60" y="67"/>
                    <a:pt x="60" y="69"/>
                  </a:cubicBezTo>
                  <a:cubicBezTo>
                    <a:pt x="60" y="69"/>
                    <a:pt x="61" y="69"/>
                    <a:pt x="61" y="69"/>
                  </a:cubicBezTo>
                  <a:cubicBezTo>
                    <a:pt x="61" y="67"/>
                    <a:pt x="61" y="65"/>
                    <a:pt x="62" y="64"/>
                  </a:cubicBezTo>
                  <a:cubicBezTo>
                    <a:pt x="63" y="57"/>
                    <a:pt x="66" y="49"/>
                    <a:pt x="69" y="43"/>
                  </a:cubicBezTo>
                  <a:cubicBezTo>
                    <a:pt x="72" y="50"/>
                    <a:pt x="73" y="59"/>
                    <a:pt x="70" y="67"/>
                  </a:cubicBezTo>
                  <a:cubicBezTo>
                    <a:pt x="68" y="71"/>
                    <a:pt x="65" y="74"/>
                    <a:pt x="61" y="75"/>
                  </a:cubicBezTo>
                  <a:close/>
                  <a:moveTo>
                    <a:pt x="59" y="54"/>
                  </a:moveTo>
                  <a:cubicBezTo>
                    <a:pt x="50" y="53"/>
                    <a:pt x="42" y="44"/>
                    <a:pt x="38" y="36"/>
                  </a:cubicBezTo>
                  <a:cubicBezTo>
                    <a:pt x="45" y="36"/>
                    <a:pt x="51" y="39"/>
                    <a:pt x="55" y="44"/>
                  </a:cubicBezTo>
                  <a:cubicBezTo>
                    <a:pt x="56" y="46"/>
                    <a:pt x="57" y="47"/>
                    <a:pt x="57" y="48"/>
                  </a:cubicBezTo>
                  <a:cubicBezTo>
                    <a:pt x="57" y="49"/>
                    <a:pt x="58" y="48"/>
                    <a:pt x="58" y="48"/>
                  </a:cubicBezTo>
                  <a:cubicBezTo>
                    <a:pt x="58" y="47"/>
                    <a:pt x="57" y="42"/>
                    <a:pt x="57" y="41"/>
                  </a:cubicBezTo>
                  <a:cubicBezTo>
                    <a:pt x="57" y="35"/>
                    <a:pt x="58" y="29"/>
                    <a:pt x="60" y="23"/>
                  </a:cubicBezTo>
                  <a:cubicBezTo>
                    <a:pt x="65" y="29"/>
                    <a:pt x="67" y="37"/>
                    <a:pt x="66" y="44"/>
                  </a:cubicBezTo>
                  <a:cubicBezTo>
                    <a:pt x="65" y="48"/>
                    <a:pt x="63" y="52"/>
                    <a:pt x="59" y="54"/>
                  </a:cubicBezTo>
                  <a:close/>
                  <a:moveTo>
                    <a:pt x="23" y="0"/>
                  </a:moveTo>
                  <a:cubicBezTo>
                    <a:pt x="30" y="1"/>
                    <a:pt x="37" y="5"/>
                    <a:pt x="41" y="11"/>
                  </a:cubicBezTo>
                  <a:cubicBezTo>
                    <a:pt x="43" y="14"/>
                    <a:pt x="44" y="17"/>
                    <a:pt x="44" y="21"/>
                  </a:cubicBezTo>
                  <a:cubicBezTo>
                    <a:pt x="34" y="19"/>
                    <a:pt x="27" y="8"/>
                    <a:pt x="23"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文本框 177"/>
            <p:cNvSpPr txBox="1"/>
            <p:nvPr/>
          </p:nvSpPr>
          <p:spPr>
            <a:xfrm>
              <a:off x="4554926" y="5722627"/>
              <a:ext cx="1014067"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区域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“最佳团队”</a:t>
              </a:r>
            </a:p>
          </p:txBody>
        </p:sp>
      </p:gr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圆角 118"/>
          <p:cNvSpPr/>
          <p:nvPr/>
        </p:nvSpPr>
        <p:spPr>
          <a:xfrm rot="5400000">
            <a:off x="6763338" y="1467440"/>
            <a:ext cx="1458406" cy="8944891"/>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8" name="组合 67"/>
          <p:cNvGrpSpPr/>
          <p:nvPr/>
        </p:nvGrpSpPr>
        <p:grpSpPr>
          <a:xfrm flipH="1">
            <a:off x="-1781320" y="2618687"/>
            <a:ext cx="7968305" cy="2393184"/>
            <a:chOff x="7361680" y="2291103"/>
            <a:chExt cx="9543416" cy="2866249"/>
          </a:xfrm>
        </p:grpSpPr>
        <p:sp>
          <p:nvSpPr>
            <p:cNvPr id="69" name="任意多边形: 形状 68"/>
            <p:cNvSpPr/>
            <p:nvPr/>
          </p:nvSpPr>
          <p:spPr>
            <a:xfrm>
              <a:off x="7361680" y="2291103"/>
              <a:ext cx="1504647" cy="2866247"/>
            </a:xfrm>
            <a:custGeom>
              <a:avLst/>
              <a:gdLst>
                <a:gd name="connsiteX0" fmla="*/ 1433124 w 8038768"/>
                <a:gd name="connsiteY0" fmla="*/ 0 h 2866248"/>
                <a:gd name="connsiteX1" fmla="*/ 1504647 w 8038768"/>
                <a:gd name="connsiteY1" fmla="*/ 0 h 2866248"/>
                <a:gd name="connsiteX2" fmla="*/ 78922 w 8038768"/>
                <a:gd name="connsiteY2" fmla="*/ 1286595 h 2866248"/>
                <a:gd name="connsiteX3" fmla="*/ 71523 w 8038768"/>
                <a:gd name="connsiteY3" fmla="*/ 1433124 h 2866248"/>
                <a:gd name="connsiteX4" fmla="*/ 71523 w 8038768"/>
                <a:gd name="connsiteY4" fmla="*/ 1433123 h 2866248"/>
                <a:gd name="connsiteX5" fmla="*/ 71523 w 8038768"/>
                <a:gd name="connsiteY5" fmla="*/ 1433124 h 2866248"/>
                <a:gd name="connsiteX6" fmla="*/ 71523 w 8038768"/>
                <a:gd name="connsiteY6" fmla="*/ 1433124 h 2866248"/>
                <a:gd name="connsiteX7" fmla="*/ 78922 w 8038768"/>
                <a:gd name="connsiteY7" fmla="*/ 1579652 h 2866248"/>
                <a:gd name="connsiteX8" fmla="*/ 1504647 w 8038768"/>
                <a:gd name="connsiteY8" fmla="*/ 2866247 h 2866248"/>
                <a:gd name="connsiteX9" fmla="*/ 8038768 w 8038768"/>
                <a:gd name="connsiteY9" fmla="*/ 2866248 h 2866248"/>
                <a:gd name="connsiteX10" fmla="*/ 8038768 w 8038768"/>
                <a:gd name="connsiteY10" fmla="*/ 2866248 h 2866248"/>
                <a:gd name="connsiteX11" fmla="*/ 1433124 w 8038768"/>
                <a:gd name="connsiteY11" fmla="*/ 2866247 h 2866248"/>
                <a:gd name="connsiteX12" fmla="*/ 7399 w 8038768"/>
                <a:gd name="connsiteY12" fmla="*/ 1579652 h 2866248"/>
                <a:gd name="connsiteX13" fmla="*/ 0 w 8038768"/>
                <a:gd name="connsiteY13" fmla="*/ 1433124 h 2866248"/>
                <a:gd name="connsiteX14" fmla="*/ 7399 w 8038768"/>
                <a:gd name="connsiteY14" fmla="*/ 1286595 h 2866248"/>
                <a:gd name="connsiteX15" fmla="*/ 1433124 w 8038768"/>
                <a:gd name="connsiteY15" fmla="*/ 0 h 2866248"/>
                <a:gd name="connsiteX0-1" fmla="*/ 1433124 w 8038768"/>
                <a:gd name="connsiteY0-2" fmla="*/ 0 h 2866248"/>
                <a:gd name="connsiteX1-3" fmla="*/ 1504647 w 8038768"/>
                <a:gd name="connsiteY1-4" fmla="*/ 0 h 2866248"/>
                <a:gd name="connsiteX2-5" fmla="*/ 78922 w 8038768"/>
                <a:gd name="connsiteY2-6" fmla="*/ 1286595 h 2866248"/>
                <a:gd name="connsiteX3-7" fmla="*/ 71523 w 8038768"/>
                <a:gd name="connsiteY3-8" fmla="*/ 1433124 h 2866248"/>
                <a:gd name="connsiteX4-9" fmla="*/ 71523 w 8038768"/>
                <a:gd name="connsiteY4-10" fmla="*/ 1433123 h 2866248"/>
                <a:gd name="connsiteX5-11" fmla="*/ 71523 w 8038768"/>
                <a:gd name="connsiteY5-12" fmla="*/ 1433124 h 2866248"/>
                <a:gd name="connsiteX6-13" fmla="*/ 71523 w 8038768"/>
                <a:gd name="connsiteY6-14" fmla="*/ 1433124 h 2866248"/>
                <a:gd name="connsiteX7-15" fmla="*/ 78922 w 8038768"/>
                <a:gd name="connsiteY7-16" fmla="*/ 1579652 h 2866248"/>
                <a:gd name="connsiteX8-17" fmla="*/ 1504647 w 8038768"/>
                <a:gd name="connsiteY8-18" fmla="*/ 2866247 h 2866248"/>
                <a:gd name="connsiteX9-19" fmla="*/ 8038768 w 8038768"/>
                <a:gd name="connsiteY9-20" fmla="*/ 2866248 h 2866248"/>
                <a:gd name="connsiteX10-21" fmla="*/ 1433124 w 8038768"/>
                <a:gd name="connsiteY10-22" fmla="*/ 2866247 h 2866248"/>
                <a:gd name="connsiteX11-23" fmla="*/ 7399 w 8038768"/>
                <a:gd name="connsiteY11-24" fmla="*/ 1579652 h 2866248"/>
                <a:gd name="connsiteX12-25" fmla="*/ 0 w 8038768"/>
                <a:gd name="connsiteY12-26" fmla="*/ 1433124 h 2866248"/>
                <a:gd name="connsiteX13-27" fmla="*/ 7399 w 8038768"/>
                <a:gd name="connsiteY13-28" fmla="*/ 1286595 h 2866248"/>
                <a:gd name="connsiteX14-29" fmla="*/ 1433124 w 8038768"/>
                <a:gd name="connsiteY14-30" fmla="*/ 0 h 2866248"/>
                <a:gd name="connsiteX0-31" fmla="*/ 1433124 w 1504647"/>
                <a:gd name="connsiteY0-32" fmla="*/ 0 h 2866247"/>
                <a:gd name="connsiteX1-33" fmla="*/ 1504647 w 1504647"/>
                <a:gd name="connsiteY1-34" fmla="*/ 0 h 2866247"/>
                <a:gd name="connsiteX2-35" fmla="*/ 78922 w 1504647"/>
                <a:gd name="connsiteY2-36" fmla="*/ 1286595 h 2866247"/>
                <a:gd name="connsiteX3-37" fmla="*/ 71523 w 1504647"/>
                <a:gd name="connsiteY3-38" fmla="*/ 1433124 h 2866247"/>
                <a:gd name="connsiteX4-39" fmla="*/ 71523 w 1504647"/>
                <a:gd name="connsiteY4-40" fmla="*/ 1433123 h 2866247"/>
                <a:gd name="connsiteX5-41" fmla="*/ 71523 w 1504647"/>
                <a:gd name="connsiteY5-42" fmla="*/ 1433124 h 2866247"/>
                <a:gd name="connsiteX6-43" fmla="*/ 71523 w 1504647"/>
                <a:gd name="connsiteY6-44" fmla="*/ 1433124 h 2866247"/>
                <a:gd name="connsiteX7-45" fmla="*/ 78922 w 1504647"/>
                <a:gd name="connsiteY7-46" fmla="*/ 1579652 h 2866247"/>
                <a:gd name="connsiteX8-47" fmla="*/ 1504647 w 1504647"/>
                <a:gd name="connsiteY8-48" fmla="*/ 2866247 h 2866247"/>
                <a:gd name="connsiteX9-49" fmla="*/ 1433124 w 1504647"/>
                <a:gd name="connsiteY9-50" fmla="*/ 2866247 h 2866247"/>
                <a:gd name="connsiteX10-51" fmla="*/ 7399 w 1504647"/>
                <a:gd name="connsiteY10-52" fmla="*/ 1579652 h 2866247"/>
                <a:gd name="connsiteX11-53" fmla="*/ 0 w 1504647"/>
                <a:gd name="connsiteY11-54" fmla="*/ 1433124 h 2866247"/>
                <a:gd name="connsiteX12-55" fmla="*/ 7399 w 1504647"/>
                <a:gd name="connsiteY12-56" fmla="*/ 1286595 h 2866247"/>
                <a:gd name="connsiteX13-57" fmla="*/ 1433124 w 1504647"/>
                <a:gd name="connsiteY13-58" fmla="*/ 0 h 28662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504647" h="2866247">
                  <a:moveTo>
                    <a:pt x="1433124" y="0"/>
                  </a:moveTo>
                  <a:lnTo>
                    <a:pt x="1504647" y="0"/>
                  </a:lnTo>
                  <a:cubicBezTo>
                    <a:pt x="762623" y="0"/>
                    <a:pt x="152313" y="563934"/>
                    <a:pt x="78922" y="1286595"/>
                  </a:cubicBezTo>
                  <a:lnTo>
                    <a:pt x="71523" y="1433124"/>
                  </a:lnTo>
                  <a:lnTo>
                    <a:pt x="71523" y="1433123"/>
                  </a:lnTo>
                  <a:lnTo>
                    <a:pt x="71523" y="1433124"/>
                  </a:lnTo>
                  <a:lnTo>
                    <a:pt x="71523" y="1433124"/>
                  </a:lnTo>
                  <a:lnTo>
                    <a:pt x="78922" y="1579652"/>
                  </a:lnTo>
                  <a:cubicBezTo>
                    <a:pt x="152313" y="2302314"/>
                    <a:pt x="762623" y="2866247"/>
                    <a:pt x="1504647" y="2866247"/>
                  </a:cubicBezTo>
                  <a:lnTo>
                    <a:pt x="1433124" y="2866247"/>
                  </a:lnTo>
                  <a:cubicBezTo>
                    <a:pt x="691100" y="2866247"/>
                    <a:pt x="80790" y="2302314"/>
                    <a:pt x="7399" y="1579652"/>
                  </a:cubicBezTo>
                  <a:lnTo>
                    <a:pt x="0" y="1433124"/>
                  </a:lnTo>
                  <a:lnTo>
                    <a:pt x="7399" y="1286595"/>
                  </a:lnTo>
                  <a:cubicBezTo>
                    <a:pt x="80790" y="563934"/>
                    <a:pt x="691100" y="0"/>
                    <a:pt x="1433124" y="0"/>
                  </a:cubicBezTo>
                  <a:close/>
                </a:path>
              </a:pathLst>
            </a:custGeom>
            <a:solidFill>
              <a:srgbClr val="F9BF0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0" name="矩形: 圆角 69"/>
            <p:cNvSpPr/>
            <p:nvPr/>
          </p:nvSpPr>
          <p:spPr>
            <a:xfrm>
              <a:off x="7433204" y="2291105"/>
              <a:ext cx="9471892" cy="2866247"/>
            </a:xfrm>
            <a:prstGeom prst="roundRect">
              <a:avLst>
                <a:gd name="adj" fmla="val 50000"/>
              </a:avLst>
            </a:prstGeom>
            <a:gradFill flip="none" rotWithShape="1">
              <a:gsLst>
                <a:gs pos="0">
                  <a:schemeClr val="bg1">
                    <a:alpha val="0"/>
                  </a:schemeClr>
                </a:gs>
                <a:gs pos="59000">
                  <a:schemeClr val="bg1">
                    <a:lumMod val="95000"/>
                    <a:alpha val="23000"/>
                  </a:schemeClr>
                </a:gs>
                <a:gs pos="100000">
                  <a:schemeClr val="bg1">
                    <a:lumMod val="9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67" name="组合 66"/>
          <p:cNvGrpSpPr/>
          <p:nvPr/>
        </p:nvGrpSpPr>
        <p:grpSpPr>
          <a:xfrm>
            <a:off x="8773126" y="2618687"/>
            <a:ext cx="7968305" cy="2393184"/>
            <a:chOff x="7361680" y="2291103"/>
            <a:chExt cx="9543416" cy="2866249"/>
          </a:xfrm>
        </p:grpSpPr>
        <p:sp>
          <p:nvSpPr>
            <p:cNvPr id="64" name="任意多边形: 形状 63"/>
            <p:cNvSpPr/>
            <p:nvPr/>
          </p:nvSpPr>
          <p:spPr>
            <a:xfrm>
              <a:off x="7361680" y="2291103"/>
              <a:ext cx="1504647" cy="2866247"/>
            </a:xfrm>
            <a:custGeom>
              <a:avLst/>
              <a:gdLst>
                <a:gd name="connsiteX0" fmla="*/ 1433124 w 8038768"/>
                <a:gd name="connsiteY0" fmla="*/ 0 h 2866248"/>
                <a:gd name="connsiteX1" fmla="*/ 1504647 w 8038768"/>
                <a:gd name="connsiteY1" fmla="*/ 0 h 2866248"/>
                <a:gd name="connsiteX2" fmla="*/ 78922 w 8038768"/>
                <a:gd name="connsiteY2" fmla="*/ 1286595 h 2866248"/>
                <a:gd name="connsiteX3" fmla="*/ 71523 w 8038768"/>
                <a:gd name="connsiteY3" fmla="*/ 1433124 h 2866248"/>
                <a:gd name="connsiteX4" fmla="*/ 71523 w 8038768"/>
                <a:gd name="connsiteY4" fmla="*/ 1433123 h 2866248"/>
                <a:gd name="connsiteX5" fmla="*/ 71523 w 8038768"/>
                <a:gd name="connsiteY5" fmla="*/ 1433124 h 2866248"/>
                <a:gd name="connsiteX6" fmla="*/ 71523 w 8038768"/>
                <a:gd name="connsiteY6" fmla="*/ 1433124 h 2866248"/>
                <a:gd name="connsiteX7" fmla="*/ 78922 w 8038768"/>
                <a:gd name="connsiteY7" fmla="*/ 1579652 h 2866248"/>
                <a:gd name="connsiteX8" fmla="*/ 1504647 w 8038768"/>
                <a:gd name="connsiteY8" fmla="*/ 2866247 h 2866248"/>
                <a:gd name="connsiteX9" fmla="*/ 8038768 w 8038768"/>
                <a:gd name="connsiteY9" fmla="*/ 2866248 h 2866248"/>
                <a:gd name="connsiteX10" fmla="*/ 8038768 w 8038768"/>
                <a:gd name="connsiteY10" fmla="*/ 2866248 h 2866248"/>
                <a:gd name="connsiteX11" fmla="*/ 1433124 w 8038768"/>
                <a:gd name="connsiteY11" fmla="*/ 2866247 h 2866248"/>
                <a:gd name="connsiteX12" fmla="*/ 7399 w 8038768"/>
                <a:gd name="connsiteY12" fmla="*/ 1579652 h 2866248"/>
                <a:gd name="connsiteX13" fmla="*/ 0 w 8038768"/>
                <a:gd name="connsiteY13" fmla="*/ 1433124 h 2866248"/>
                <a:gd name="connsiteX14" fmla="*/ 7399 w 8038768"/>
                <a:gd name="connsiteY14" fmla="*/ 1286595 h 2866248"/>
                <a:gd name="connsiteX15" fmla="*/ 1433124 w 8038768"/>
                <a:gd name="connsiteY15" fmla="*/ 0 h 2866248"/>
                <a:gd name="connsiteX0-1" fmla="*/ 1433124 w 8038768"/>
                <a:gd name="connsiteY0-2" fmla="*/ 0 h 2866248"/>
                <a:gd name="connsiteX1-3" fmla="*/ 1504647 w 8038768"/>
                <a:gd name="connsiteY1-4" fmla="*/ 0 h 2866248"/>
                <a:gd name="connsiteX2-5" fmla="*/ 78922 w 8038768"/>
                <a:gd name="connsiteY2-6" fmla="*/ 1286595 h 2866248"/>
                <a:gd name="connsiteX3-7" fmla="*/ 71523 w 8038768"/>
                <a:gd name="connsiteY3-8" fmla="*/ 1433124 h 2866248"/>
                <a:gd name="connsiteX4-9" fmla="*/ 71523 w 8038768"/>
                <a:gd name="connsiteY4-10" fmla="*/ 1433123 h 2866248"/>
                <a:gd name="connsiteX5-11" fmla="*/ 71523 w 8038768"/>
                <a:gd name="connsiteY5-12" fmla="*/ 1433124 h 2866248"/>
                <a:gd name="connsiteX6-13" fmla="*/ 71523 w 8038768"/>
                <a:gd name="connsiteY6-14" fmla="*/ 1433124 h 2866248"/>
                <a:gd name="connsiteX7-15" fmla="*/ 78922 w 8038768"/>
                <a:gd name="connsiteY7-16" fmla="*/ 1579652 h 2866248"/>
                <a:gd name="connsiteX8-17" fmla="*/ 1504647 w 8038768"/>
                <a:gd name="connsiteY8-18" fmla="*/ 2866247 h 2866248"/>
                <a:gd name="connsiteX9-19" fmla="*/ 8038768 w 8038768"/>
                <a:gd name="connsiteY9-20" fmla="*/ 2866248 h 2866248"/>
                <a:gd name="connsiteX10-21" fmla="*/ 1433124 w 8038768"/>
                <a:gd name="connsiteY10-22" fmla="*/ 2866247 h 2866248"/>
                <a:gd name="connsiteX11-23" fmla="*/ 7399 w 8038768"/>
                <a:gd name="connsiteY11-24" fmla="*/ 1579652 h 2866248"/>
                <a:gd name="connsiteX12-25" fmla="*/ 0 w 8038768"/>
                <a:gd name="connsiteY12-26" fmla="*/ 1433124 h 2866248"/>
                <a:gd name="connsiteX13-27" fmla="*/ 7399 w 8038768"/>
                <a:gd name="connsiteY13-28" fmla="*/ 1286595 h 2866248"/>
                <a:gd name="connsiteX14-29" fmla="*/ 1433124 w 8038768"/>
                <a:gd name="connsiteY14-30" fmla="*/ 0 h 2866248"/>
                <a:gd name="connsiteX0-31" fmla="*/ 1433124 w 1504647"/>
                <a:gd name="connsiteY0-32" fmla="*/ 0 h 2866247"/>
                <a:gd name="connsiteX1-33" fmla="*/ 1504647 w 1504647"/>
                <a:gd name="connsiteY1-34" fmla="*/ 0 h 2866247"/>
                <a:gd name="connsiteX2-35" fmla="*/ 78922 w 1504647"/>
                <a:gd name="connsiteY2-36" fmla="*/ 1286595 h 2866247"/>
                <a:gd name="connsiteX3-37" fmla="*/ 71523 w 1504647"/>
                <a:gd name="connsiteY3-38" fmla="*/ 1433124 h 2866247"/>
                <a:gd name="connsiteX4-39" fmla="*/ 71523 w 1504647"/>
                <a:gd name="connsiteY4-40" fmla="*/ 1433123 h 2866247"/>
                <a:gd name="connsiteX5-41" fmla="*/ 71523 w 1504647"/>
                <a:gd name="connsiteY5-42" fmla="*/ 1433124 h 2866247"/>
                <a:gd name="connsiteX6-43" fmla="*/ 71523 w 1504647"/>
                <a:gd name="connsiteY6-44" fmla="*/ 1433124 h 2866247"/>
                <a:gd name="connsiteX7-45" fmla="*/ 78922 w 1504647"/>
                <a:gd name="connsiteY7-46" fmla="*/ 1579652 h 2866247"/>
                <a:gd name="connsiteX8-47" fmla="*/ 1504647 w 1504647"/>
                <a:gd name="connsiteY8-48" fmla="*/ 2866247 h 2866247"/>
                <a:gd name="connsiteX9-49" fmla="*/ 1433124 w 1504647"/>
                <a:gd name="connsiteY9-50" fmla="*/ 2866247 h 2866247"/>
                <a:gd name="connsiteX10-51" fmla="*/ 7399 w 1504647"/>
                <a:gd name="connsiteY10-52" fmla="*/ 1579652 h 2866247"/>
                <a:gd name="connsiteX11-53" fmla="*/ 0 w 1504647"/>
                <a:gd name="connsiteY11-54" fmla="*/ 1433124 h 2866247"/>
                <a:gd name="connsiteX12-55" fmla="*/ 7399 w 1504647"/>
                <a:gd name="connsiteY12-56" fmla="*/ 1286595 h 2866247"/>
                <a:gd name="connsiteX13-57" fmla="*/ 1433124 w 1504647"/>
                <a:gd name="connsiteY13-58" fmla="*/ 0 h 28662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504647" h="2866247">
                  <a:moveTo>
                    <a:pt x="1433124" y="0"/>
                  </a:moveTo>
                  <a:lnTo>
                    <a:pt x="1504647" y="0"/>
                  </a:lnTo>
                  <a:cubicBezTo>
                    <a:pt x="762623" y="0"/>
                    <a:pt x="152313" y="563934"/>
                    <a:pt x="78922" y="1286595"/>
                  </a:cubicBezTo>
                  <a:lnTo>
                    <a:pt x="71523" y="1433124"/>
                  </a:lnTo>
                  <a:lnTo>
                    <a:pt x="71523" y="1433123"/>
                  </a:lnTo>
                  <a:lnTo>
                    <a:pt x="71523" y="1433124"/>
                  </a:lnTo>
                  <a:lnTo>
                    <a:pt x="71523" y="1433124"/>
                  </a:lnTo>
                  <a:lnTo>
                    <a:pt x="78922" y="1579652"/>
                  </a:lnTo>
                  <a:cubicBezTo>
                    <a:pt x="152313" y="2302314"/>
                    <a:pt x="762623" y="2866247"/>
                    <a:pt x="1504647" y="2866247"/>
                  </a:cubicBezTo>
                  <a:lnTo>
                    <a:pt x="1433124" y="2866247"/>
                  </a:lnTo>
                  <a:cubicBezTo>
                    <a:pt x="691100" y="2866247"/>
                    <a:pt x="80790" y="2302314"/>
                    <a:pt x="7399" y="1579652"/>
                  </a:cubicBezTo>
                  <a:lnTo>
                    <a:pt x="0" y="1433124"/>
                  </a:lnTo>
                  <a:lnTo>
                    <a:pt x="7399" y="1286595"/>
                  </a:lnTo>
                  <a:cubicBezTo>
                    <a:pt x="80790" y="563934"/>
                    <a:pt x="691100" y="0"/>
                    <a:pt x="1433124" y="0"/>
                  </a:cubicBezTo>
                  <a:close/>
                </a:path>
              </a:pathLst>
            </a:custGeom>
            <a:solidFill>
              <a:srgbClr val="F9BF0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矩形: 圆角 45"/>
            <p:cNvSpPr/>
            <p:nvPr/>
          </p:nvSpPr>
          <p:spPr>
            <a:xfrm>
              <a:off x="7433204" y="2291105"/>
              <a:ext cx="9471892" cy="2866247"/>
            </a:xfrm>
            <a:prstGeom prst="roundRect">
              <a:avLst>
                <a:gd name="adj" fmla="val 50000"/>
              </a:avLst>
            </a:prstGeom>
            <a:gradFill flip="none" rotWithShape="1">
              <a:gsLst>
                <a:gs pos="0">
                  <a:schemeClr val="bg1">
                    <a:alpha val="0"/>
                  </a:schemeClr>
                </a:gs>
                <a:gs pos="59000">
                  <a:schemeClr val="bg1">
                    <a:lumMod val="95000"/>
                    <a:alpha val="23000"/>
                  </a:schemeClr>
                </a:gs>
                <a:gs pos="100000">
                  <a:schemeClr val="bg1">
                    <a:lumMod val="9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05" name="椭圆 104"/>
          <p:cNvSpPr/>
          <p:nvPr/>
        </p:nvSpPr>
        <p:spPr>
          <a:xfrm>
            <a:off x="7043123" y="5020338"/>
            <a:ext cx="898837" cy="8988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8" name="矩形: 圆角 97"/>
          <p:cNvSpPr/>
          <p:nvPr/>
        </p:nvSpPr>
        <p:spPr>
          <a:xfrm rot="5400000">
            <a:off x="6736980" y="-2772322"/>
            <a:ext cx="1511122" cy="8944891"/>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椭圆 98"/>
          <p:cNvSpPr/>
          <p:nvPr/>
        </p:nvSpPr>
        <p:spPr>
          <a:xfrm>
            <a:off x="7043123" y="1761502"/>
            <a:ext cx="898837" cy="8988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工作总结：获得的技能与知识</a:t>
            </a:r>
          </a:p>
        </p:txBody>
      </p:sp>
      <p:grpSp>
        <p:nvGrpSpPr>
          <p:cNvPr id="75" name="组合 74"/>
          <p:cNvGrpSpPr/>
          <p:nvPr/>
        </p:nvGrpSpPr>
        <p:grpSpPr>
          <a:xfrm rot="2700000">
            <a:off x="5993005" y="2329192"/>
            <a:ext cx="2999073" cy="2999077"/>
            <a:chOff x="3853710" y="1606955"/>
            <a:chExt cx="3867176" cy="3867182"/>
          </a:xfrm>
        </p:grpSpPr>
        <p:grpSp>
          <p:nvGrpSpPr>
            <p:cNvPr id="76" name="组合 75"/>
            <p:cNvGrpSpPr/>
            <p:nvPr/>
          </p:nvGrpSpPr>
          <p:grpSpPr>
            <a:xfrm>
              <a:off x="3853710" y="1606955"/>
              <a:ext cx="3867176" cy="3867182"/>
              <a:chOff x="8091641" y="1583120"/>
              <a:chExt cx="2941111" cy="2941115"/>
            </a:xfrm>
          </p:grpSpPr>
          <p:sp>
            <p:nvSpPr>
              <p:cNvPr id="81" name="任意多边形: 形状 80"/>
              <p:cNvSpPr/>
              <p:nvPr/>
            </p:nvSpPr>
            <p:spPr>
              <a:xfrm>
                <a:off x="8095729" y="1583120"/>
                <a:ext cx="1351451" cy="2048928"/>
              </a:xfrm>
              <a:custGeom>
                <a:avLst/>
                <a:gdLst>
                  <a:gd name="connsiteX0" fmla="*/ 342213 w 1351451"/>
                  <a:gd name="connsiteY0" fmla="*/ 0 h 2048928"/>
                  <a:gd name="connsiteX1" fmla="*/ 681242 w 1351451"/>
                  <a:gd name="connsiteY1" fmla="*/ 287264 h 2048928"/>
                  <a:gd name="connsiteX2" fmla="*/ 693101 w 1351451"/>
                  <a:gd name="connsiteY2" fmla="*/ 359734 h 2048928"/>
                  <a:gd name="connsiteX3" fmla="*/ 764589 w 1351451"/>
                  <a:gd name="connsiteY3" fmla="*/ 342941 h 2048928"/>
                  <a:gd name="connsiteX4" fmla="*/ 1339976 w 1351451"/>
                  <a:gd name="connsiteY4" fmla="*/ 507285 h 2048928"/>
                  <a:gd name="connsiteX5" fmla="*/ 1351451 w 1351451"/>
                  <a:gd name="connsiteY5" fmla="*/ 518618 h 2048928"/>
                  <a:gd name="connsiteX6" fmla="*/ 1143770 w 1351451"/>
                  <a:gd name="connsiteY6" fmla="*/ 726302 h 2048928"/>
                  <a:gd name="connsiteX7" fmla="*/ 1132214 w 1351451"/>
                  <a:gd name="connsiteY7" fmla="*/ 714746 h 2048928"/>
                  <a:gd name="connsiteX8" fmla="*/ 678513 w 1351451"/>
                  <a:gd name="connsiteY8" fmla="*/ 714746 h 2048928"/>
                  <a:gd name="connsiteX9" fmla="*/ 584804 w 1351451"/>
                  <a:gd name="connsiteY9" fmla="*/ 942472 h 2048928"/>
                  <a:gd name="connsiteX10" fmla="*/ 678513 w 1351451"/>
                  <a:gd name="connsiteY10" fmla="*/ 1170199 h 2048928"/>
                  <a:gd name="connsiteX11" fmla="*/ 736630 w 1351451"/>
                  <a:gd name="connsiteY11" fmla="*/ 1228315 h 2048928"/>
                  <a:gd name="connsiteX12" fmla="*/ 1041090 w 1351451"/>
                  <a:gd name="connsiteY12" fmla="*/ 1533068 h 2048928"/>
                  <a:gd name="connsiteX13" fmla="*/ 1349524 w 1351451"/>
                  <a:gd name="connsiteY13" fmla="*/ 1841501 h 2048928"/>
                  <a:gd name="connsiteX14" fmla="*/ 1143691 w 1351451"/>
                  <a:gd name="connsiteY14" fmla="*/ 2048928 h 2048928"/>
                  <a:gd name="connsiteX15" fmla="*/ 833633 w 1351451"/>
                  <a:gd name="connsiteY15" fmla="*/ 1740838 h 2048928"/>
                  <a:gd name="connsiteX16" fmla="*/ 530934 w 1351451"/>
                  <a:gd name="connsiteY16" fmla="*/ 1436100 h 2048928"/>
                  <a:gd name="connsiteX17" fmla="*/ 470750 w 1351451"/>
                  <a:gd name="connsiteY17" fmla="*/ 1375915 h 2048928"/>
                  <a:gd name="connsiteX18" fmla="*/ 470478 w 1351451"/>
                  <a:gd name="connsiteY18" fmla="*/ 1375644 h 2048928"/>
                  <a:gd name="connsiteX19" fmla="*/ 317625 w 1351451"/>
                  <a:gd name="connsiteY19" fmla="*/ 764773 h 2048928"/>
                  <a:gd name="connsiteX20" fmla="*/ 338856 w 1351451"/>
                  <a:gd name="connsiteY20" fmla="*/ 693821 h 2048928"/>
                  <a:gd name="connsiteX21" fmla="*/ 266484 w 1351451"/>
                  <a:gd name="connsiteY21" fmla="*/ 678110 h 2048928"/>
                  <a:gd name="connsiteX22" fmla="*/ 0 w 1351451"/>
                  <a:gd name="connsiteY22" fmla="*/ 344264 h 2048928"/>
                  <a:gd name="connsiteX23" fmla="*/ 342213 w 1351451"/>
                  <a:gd name="connsiteY23" fmla="*/ 0 h 204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51451" h="2048928">
                    <a:moveTo>
                      <a:pt x="342213" y="0"/>
                    </a:moveTo>
                    <a:cubicBezTo>
                      <a:pt x="511418" y="0"/>
                      <a:pt x="654000" y="120813"/>
                      <a:pt x="681242" y="287264"/>
                    </a:cubicBezTo>
                    <a:lnTo>
                      <a:pt x="693101" y="359734"/>
                    </a:lnTo>
                    <a:lnTo>
                      <a:pt x="764589" y="342941"/>
                    </a:lnTo>
                    <a:cubicBezTo>
                      <a:pt x="971769" y="294272"/>
                      <a:pt x="1186844" y="355691"/>
                      <a:pt x="1339976" y="507285"/>
                    </a:cubicBezTo>
                    <a:lnTo>
                      <a:pt x="1351451" y="518618"/>
                    </a:lnTo>
                    <a:lnTo>
                      <a:pt x="1143770" y="726302"/>
                    </a:lnTo>
                    <a:lnTo>
                      <a:pt x="1132214" y="714746"/>
                    </a:lnTo>
                    <a:cubicBezTo>
                      <a:pt x="1007133" y="589661"/>
                      <a:pt x="803600" y="589661"/>
                      <a:pt x="678513" y="714746"/>
                    </a:cubicBezTo>
                    <a:cubicBezTo>
                      <a:pt x="618088" y="775175"/>
                      <a:pt x="584804" y="856049"/>
                      <a:pt x="584804" y="942472"/>
                    </a:cubicBezTo>
                    <a:cubicBezTo>
                      <a:pt x="584804" y="1028895"/>
                      <a:pt x="618088" y="1109770"/>
                      <a:pt x="678513" y="1170199"/>
                    </a:cubicBezTo>
                    <a:lnTo>
                      <a:pt x="736630" y="1228315"/>
                    </a:lnTo>
                    <a:lnTo>
                      <a:pt x="1041090" y="1533068"/>
                    </a:lnTo>
                    <a:lnTo>
                      <a:pt x="1349524" y="1841501"/>
                    </a:lnTo>
                    <a:lnTo>
                      <a:pt x="1143691" y="2048928"/>
                    </a:lnTo>
                    <a:lnTo>
                      <a:pt x="833633" y="1740838"/>
                    </a:lnTo>
                    <a:lnTo>
                      <a:pt x="530934" y="1436100"/>
                    </a:lnTo>
                    <a:lnTo>
                      <a:pt x="470750" y="1375915"/>
                    </a:lnTo>
                    <a:lnTo>
                      <a:pt x="470478" y="1375644"/>
                    </a:lnTo>
                    <a:cubicBezTo>
                      <a:pt x="310714" y="1217650"/>
                      <a:pt x="252143" y="983578"/>
                      <a:pt x="317625" y="764773"/>
                    </a:cubicBezTo>
                    <a:lnTo>
                      <a:pt x="338856" y="693821"/>
                    </a:lnTo>
                    <a:lnTo>
                      <a:pt x="266484" y="678110"/>
                    </a:lnTo>
                    <a:cubicBezTo>
                      <a:pt x="112073" y="644583"/>
                      <a:pt x="0" y="504182"/>
                      <a:pt x="0" y="344264"/>
                    </a:cubicBezTo>
                    <a:cubicBezTo>
                      <a:pt x="0" y="154436"/>
                      <a:pt x="153515" y="0"/>
                      <a:pt x="342213" y="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2" name="任意多边形: 形状 81"/>
              <p:cNvSpPr/>
              <p:nvPr/>
            </p:nvSpPr>
            <p:spPr>
              <a:xfrm>
                <a:off x="8977853" y="1583120"/>
                <a:ext cx="2050805" cy="1387732"/>
              </a:xfrm>
              <a:custGeom>
                <a:avLst/>
                <a:gdLst>
                  <a:gd name="connsiteX0" fmla="*/ 1708593 w 2050805"/>
                  <a:gd name="connsiteY0" fmla="*/ 0 h 1387732"/>
                  <a:gd name="connsiteX1" fmla="*/ 2050805 w 2050805"/>
                  <a:gd name="connsiteY1" fmla="*/ 344264 h 1387732"/>
                  <a:gd name="connsiteX2" fmla="*/ 1753140 w 2050805"/>
                  <a:gd name="connsiteY2" fmla="*/ 685098 h 1387732"/>
                  <a:gd name="connsiteX3" fmla="*/ 1674909 w 2050805"/>
                  <a:gd name="connsiteY3" fmla="*/ 696047 h 1387732"/>
                  <a:gd name="connsiteX4" fmla="*/ 1696746 w 2050805"/>
                  <a:gd name="connsiteY4" fmla="*/ 771962 h 1387732"/>
                  <a:gd name="connsiteX5" fmla="*/ 1540029 w 2050805"/>
                  <a:gd name="connsiteY5" fmla="*/ 1375915 h 1387732"/>
                  <a:gd name="connsiteX6" fmla="*/ 1529350 w 2050805"/>
                  <a:gd name="connsiteY6" fmla="*/ 1386594 h 1387732"/>
                  <a:gd name="connsiteX7" fmla="*/ 1322690 w 2050805"/>
                  <a:gd name="connsiteY7" fmla="*/ 1179934 h 1387732"/>
                  <a:gd name="connsiteX8" fmla="*/ 1334320 w 2050805"/>
                  <a:gd name="connsiteY8" fmla="*/ 1168446 h 1387732"/>
                  <a:gd name="connsiteX9" fmla="*/ 1428028 w 2050805"/>
                  <a:gd name="connsiteY9" fmla="*/ 941593 h 1387732"/>
                  <a:gd name="connsiteX10" fmla="*/ 1334320 w 2050805"/>
                  <a:gd name="connsiteY10" fmla="*/ 714746 h 1387732"/>
                  <a:gd name="connsiteX11" fmla="*/ 1107467 w 2050805"/>
                  <a:gd name="connsiteY11" fmla="*/ 621038 h 1387732"/>
                  <a:gd name="connsiteX12" fmla="*/ 880728 w 2050805"/>
                  <a:gd name="connsiteY12" fmla="*/ 714629 h 1387732"/>
                  <a:gd name="connsiteX13" fmla="*/ 820431 w 2050805"/>
                  <a:gd name="connsiteY13" fmla="*/ 774640 h 1387732"/>
                  <a:gd name="connsiteX14" fmla="*/ 515675 w 2050805"/>
                  <a:gd name="connsiteY14" fmla="*/ 1079387 h 1387732"/>
                  <a:gd name="connsiteX15" fmla="*/ 207616 w 2050805"/>
                  <a:gd name="connsiteY15" fmla="*/ 1387732 h 1387732"/>
                  <a:gd name="connsiteX16" fmla="*/ 0 w 2050805"/>
                  <a:gd name="connsiteY16" fmla="*/ 1179922 h 1387732"/>
                  <a:gd name="connsiteX17" fmla="*/ 310277 w 2050805"/>
                  <a:gd name="connsiteY17" fmla="*/ 871607 h 1387732"/>
                  <a:gd name="connsiteX18" fmla="*/ 614715 w 2050805"/>
                  <a:gd name="connsiteY18" fmla="*/ 567172 h 1387732"/>
                  <a:gd name="connsiteX19" fmla="*/ 673263 w 2050805"/>
                  <a:gd name="connsiteY19" fmla="*/ 506575 h 1387732"/>
                  <a:gd name="connsiteX20" fmla="*/ 1280591 w 2050805"/>
                  <a:gd name="connsiteY20" fmla="*/ 351931 h 1387732"/>
                  <a:gd name="connsiteX21" fmla="*/ 1356758 w 2050805"/>
                  <a:gd name="connsiteY21" fmla="*/ 374226 h 1387732"/>
                  <a:gd name="connsiteX22" fmla="*/ 1367758 w 2050805"/>
                  <a:gd name="connsiteY22" fmla="*/ 295626 h 1387732"/>
                  <a:gd name="connsiteX23" fmla="*/ 1708593 w 2050805"/>
                  <a:gd name="connsiteY23" fmla="*/ 0 h 138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0805" h="1387732">
                    <a:moveTo>
                      <a:pt x="1708593" y="0"/>
                    </a:moveTo>
                    <a:cubicBezTo>
                      <a:pt x="1897290" y="0"/>
                      <a:pt x="2050805" y="154440"/>
                      <a:pt x="2050805" y="344264"/>
                    </a:cubicBezTo>
                    <a:cubicBezTo>
                      <a:pt x="2050805" y="514823"/>
                      <a:pt x="1922838" y="661349"/>
                      <a:pt x="1753140" y="685098"/>
                    </a:cubicBezTo>
                    <a:lnTo>
                      <a:pt x="1674909" y="696047"/>
                    </a:lnTo>
                    <a:lnTo>
                      <a:pt x="1696746" y="771962"/>
                    </a:lnTo>
                    <a:cubicBezTo>
                      <a:pt x="1758382" y="986191"/>
                      <a:pt x="1698331" y="1217612"/>
                      <a:pt x="1540029" y="1375915"/>
                    </a:cubicBezTo>
                    <a:lnTo>
                      <a:pt x="1529350" y="1386594"/>
                    </a:lnTo>
                    <a:lnTo>
                      <a:pt x="1322690" y="1179934"/>
                    </a:lnTo>
                    <a:lnTo>
                      <a:pt x="1334320" y="1168446"/>
                    </a:lnTo>
                    <a:cubicBezTo>
                      <a:pt x="1394748" y="1108017"/>
                      <a:pt x="1428028" y="1027451"/>
                      <a:pt x="1428028" y="941593"/>
                    </a:cubicBezTo>
                    <a:cubicBezTo>
                      <a:pt x="1428028" y="855738"/>
                      <a:pt x="1394748" y="775175"/>
                      <a:pt x="1334320" y="714746"/>
                    </a:cubicBezTo>
                    <a:cubicBezTo>
                      <a:pt x="1273888" y="654317"/>
                      <a:pt x="1193325" y="621038"/>
                      <a:pt x="1107467" y="621038"/>
                    </a:cubicBezTo>
                    <a:cubicBezTo>
                      <a:pt x="1021608" y="621038"/>
                      <a:pt x="941043" y="654317"/>
                      <a:pt x="880728" y="714629"/>
                    </a:cubicBezTo>
                    <a:lnTo>
                      <a:pt x="820431" y="774640"/>
                    </a:lnTo>
                    <a:lnTo>
                      <a:pt x="515675" y="1079387"/>
                    </a:lnTo>
                    <a:lnTo>
                      <a:pt x="207616" y="1387732"/>
                    </a:lnTo>
                    <a:lnTo>
                      <a:pt x="0" y="1179922"/>
                    </a:lnTo>
                    <a:lnTo>
                      <a:pt x="310277" y="871607"/>
                    </a:lnTo>
                    <a:lnTo>
                      <a:pt x="614715" y="567172"/>
                    </a:lnTo>
                    <a:lnTo>
                      <a:pt x="673263" y="506575"/>
                    </a:lnTo>
                    <a:cubicBezTo>
                      <a:pt x="832118" y="348012"/>
                      <a:pt x="1064774" y="288759"/>
                      <a:pt x="1280591" y="351931"/>
                    </a:cubicBezTo>
                    <a:lnTo>
                      <a:pt x="1356758" y="374226"/>
                    </a:lnTo>
                    <a:lnTo>
                      <a:pt x="1367758" y="295626"/>
                    </a:lnTo>
                    <a:cubicBezTo>
                      <a:pt x="1391344" y="127091"/>
                      <a:pt x="1537870" y="0"/>
                      <a:pt x="1708593" y="0"/>
                    </a:cubicBezTo>
                    <a:close/>
                  </a:path>
                </a:pathLst>
              </a:custGeom>
              <a:solidFill>
                <a:schemeClr val="accent3">
                  <a:lumMod val="5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3" name="任意多边形: 形状 82"/>
              <p:cNvSpPr/>
              <p:nvPr/>
            </p:nvSpPr>
            <p:spPr>
              <a:xfrm>
                <a:off x="9943848" y="2341118"/>
                <a:ext cx="325068" cy="324965"/>
              </a:xfrm>
              <a:custGeom>
                <a:avLst/>
                <a:gdLst>
                  <a:gd name="connsiteX0" fmla="*/ 141467 w 325068"/>
                  <a:gd name="connsiteY0" fmla="*/ 0 h 324965"/>
                  <a:gd name="connsiteX1" fmla="*/ 271353 w 325068"/>
                  <a:gd name="connsiteY1" fmla="*/ 53715 h 324965"/>
                  <a:gd name="connsiteX2" fmla="*/ 271486 w 325068"/>
                  <a:gd name="connsiteY2" fmla="*/ 313346 h 324965"/>
                  <a:gd name="connsiteX3" fmla="*/ 259728 w 325068"/>
                  <a:gd name="connsiteY3" fmla="*/ 324965 h 324965"/>
                  <a:gd name="connsiteX4" fmla="*/ 0 w 325068"/>
                  <a:gd name="connsiteY4" fmla="*/ 65246 h 324965"/>
                  <a:gd name="connsiteX5" fmla="*/ 11585 w 325068"/>
                  <a:gd name="connsiteY5" fmla="*/ 53715 h 324965"/>
                  <a:gd name="connsiteX6" fmla="*/ 141467 w 325068"/>
                  <a:gd name="connsiteY6" fmla="*/ 0 h 32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5068" h="324965">
                    <a:moveTo>
                      <a:pt x="141467" y="0"/>
                    </a:moveTo>
                    <a:cubicBezTo>
                      <a:pt x="188504" y="0"/>
                      <a:pt x="235542" y="17905"/>
                      <a:pt x="271353" y="53715"/>
                    </a:cubicBezTo>
                    <a:cubicBezTo>
                      <a:pt x="342927" y="125290"/>
                      <a:pt x="342976" y="241717"/>
                      <a:pt x="271486" y="313346"/>
                    </a:cubicBezTo>
                    <a:lnTo>
                      <a:pt x="259728" y="324965"/>
                    </a:lnTo>
                    <a:lnTo>
                      <a:pt x="0" y="65246"/>
                    </a:lnTo>
                    <a:lnTo>
                      <a:pt x="11585" y="53715"/>
                    </a:lnTo>
                    <a:cubicBezTo>
                      <a:pt x="47393" y="17906"/>
                      <a:pt x="94430" y="1"/>
                      <a:pt x="141467" y="0"/>
                    </a:cubicBez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4" name="任意多边形: 形状 83"/>
              <p:cNvSpPr/>
              <p:nvPr/>
            </p:nvSpPr>
            <p:spPr>
              <a:xfrm>
                <a:off x="8818051" y="2341121"/>
                <a:ext cx="324322" cy="324925"/>
              </a:xfrm>
              <a:custGeom>
                <a:avLst/>
                <a:gdLst>
                  <a:gd name="connsiteX0" fmla="*/ 183042 w 324322"/>
                  <a:gd name="connsiteY0" fmla="*/ 0 h 324925"/>
                  <a:gd name="connsiteX1" fmla="*/ 312919 w 324322"/>
                  <a:gd name="connsiteY1" fmla="*/ 53708 h 324925"/>
                  <a:gd name="connsiteX2" fmla="*/ 324322 w 324322"/>
                  <a:gd name="connsiteY2" fmla="*/ 65112 h 324925"/>
                  <a:gd name="connsiteX3" fmla="*/ 62855 w 324322"/>
                  <a:gd name="connsiteY3" fmla="*/ 324925 h 324925"/>
                  <a:gd name="connsiteX4" fmla="*/ 53159 w 324322"/>
                  <a:gd name="connsiteY4" fmla="*/ 315229 h 324925"/>
                  <a:gd name="connsiteX5" fmla="*/ 53159 w 324322"/>
                  <a:gd name="connsiteY5" fmla="*/ 53712 h 324925"/>
                  <a:gd name="connsiteX6" fmla="*/ 183042 w 324322"/>
                  <a:gd name="connsiteY6" fmla="*/ 0 h 32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322" h="324925">
                    <a:moveTo>
                      <a:pt x="183042" y="0"/>
                    </a:moveTo>
                    <a:cubicBezTo>
                      <a:pt x="230073" y="0"/>
                      <a:pt x="277121" y="17907"/>
                      <a:pt x="312919" y="53708"/>
                    </a:cubicBezTo>
                    <a:lnTo>
                      <a:pt x="324322" y="65112"/>
                    </a:lnTo>
                    <a:lnTo>
                      <a:pt x="62855" y="324925"/>
                    </a:lnTo>
                    <a:lnTo>
                      <a:pt x="53159" y="315229"/>
                    </a:lnTo>
                    <a:cubicBezTo>
                      <a:pt x="-17719" y="244351"/>
                      <a:pt x="-17719" y="124591"/>
                      <a:pt x="53159" y="53712"/>
                    </a:cubicBezTo>
                    <a:cubicBezTo>
                      <a:pt x="88975" y="17899"/>
                      <a:pt x="135998" y="0"/>
                      <a:pt x="183042" y="0"/>
                    </a:cubicBez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5" name="任意多边形: 形状 84"/>
              <p:cNvSpPr/>
              <p:nvPr/>
            </p:nvSpPr>
            <p:spPr>
              <a:xfrm>
                <a:off x="9639005" y="2503218"/>
                <a:ext cx="1393747" cy="2021017"/>
              </a:xfrm>
              <a:custGeom>
                <a:avLst/>
                <a:gdLst>
                  <a:gd name="connsiteX0" fmla="*/ 207759 w 1393747"/>
                  <a:gd name="connsiteY0" fmla="*/ 0 h 2021017"/>
                  <a:gd name="connsiteX1" fmla="*/ 820314 w 1393747"/>
                  <a:gd name="connsiteY1" fmla="*/ 612548 h 2021017"/>
                  <a:gd name="connsiteX2" fmla="*/ 878051 w 1393747"/>
                  <a:gd name="connsiteY2" fmla="*/ 672314 h 2021017"/>
                  <a:gd name="connsiteX3" fmla="*/ 878836 w 1393747"/>
                  <a:gd name="connsiteY3" fmla="*/ 673118 h 2021017"/>
                  <a:gd name="connsiteX4" fmla="*/ 1041102 w 1393747"/>
                  <a:gd name="connsiteY4" fmla="*/ 1253455 h 2021017"/>
                  <a:gd name="connsiteX5" fmla="*/ 1022635 w 1393747"/>
                  <a:gd name="connsiteY5" fmla="*/ 1327405 h 2021017"/>
                  <a:gd name="connsiteX6" fmla="*/ 1098121 w 1393747"/>
                  <a:gd name="connsiteY6" fmla="*/ 1337969 h 2021017"/>
                  <a:gd name="connsiteX7" fmla="*/ 1393747 w 1393747"/>
                  <a:gd name="connsiteY7" fmla="*/ 1676756 h 2021017"/>
                  <a:gd name="connsiteX8" fmla="*/ 1051530 w 1393747"/>
                  <a:gd name="connsiteY8" fmla="*/ 2021017 h 2021017"/>
                  <a:gd name="connsiteX9" fmla="*/ 713784 w 1393747"/>
                  <a:gd name="connsiteY9" fmla="*/ 1745208 h 2021017"/>
                  <a:gd name="connsiteX10" fmla="*/ 698685 w 1393747"/>
                  <a:gd name="connsiteY10" fmla="*/ 1670868 h 2021017"/>
                  <a:gd name="connsiteX11" fmla="*/ 626244 w 1393747"/>
                  <a:gd name="connsiteY11" fmla="*/ 1693373 h 2021017"/>
                  <a:gd name="connsiteX12" fmla="*/ 12753 w 1393747"/>
                  <a:gd name="connsiteY12" fmla="*/ 1543132 h 2021017"/>
                  <a:gd name="connsiteX13" fmla="*/ 1416 w 1393747"/>
                  <a:gd name="connsiteY13" fmla="*/ 1530738 h 2021017"/>
                  <a:gd name="connsiteX14" fmla="*/ 208047 w 1393747"/>
                  <a:gd name="connsiteY14" fmla="*/ 1322910 h 2021017"/>
                  <a:gd name="connsiteX15" fmla="*/ 219392 w 1393747"/>
                  <a:gd name="connsiteY15" fmla="*/ 1334256 h 2021017"/>
                  <a:gd name="connsiteX16" fmla="*/ 446315 w 1393747"/>
                  <a:gd name="connsiteY16" fmla="*/ 1428259 h 2021017"/>
                  <a:gd name="connsiteX17" fmla="*/ 673168 w 1393747"/>
                  <a:gd name="connsiteY17" fmla="*/ 1334331 h 2021017"/>
                  <a:gd name="connsiteX18" fmla="*/ 673048 w 1393747"/>
                  <a:gd name="connsiteY18" fmla="*/ 880510 h 2021017"/>
                  <a:gd name="connsiteX19" fmla="*/ 612979 w 1393747"/>
                  <a:gd name="connsiteY19" fmla="*/ 820733 h 2021017"/>
                  <a:gd name="connsiteX20" fmla="*/ 0 w 1393747"/>
                  <a:gd name="connsiteY20" fmla="*/ 207756 h 2021017"/>
                  <a:gd name="connsiteX21" fmla="*/ 207759 w 1393747"/>
                  <a:gd name="connsiteY21" fmla="*/ 0 h 202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93747" h="2021017">
                    <a:moveTo>
                      <a:pt x="207759" y="0"/>
                    </a:moveTo>
                    <a:lnTo>
                      <a:pt x="820314" y="612548"/>
                    </a:lnTo>
                    <a:lnTo>
                      <a:pt x="878051" y="672314"/>
                    </a:lnTo>
                    <a:lnTo>
                      <a:pt x="878836" y="673118"/>
                    </a:lnTo>
                    <a:cubicBezTo>
                      <a:pt x="1030397" y="824933"/>
                      <a:pt x="1092575" y="1047303"/>
                      <a:pt x="1041102" y="1253455"/>
                    </a:cubicBezTo>
                    <a:lnTo>
                      <a:pt x="1022635" y="1327405"/>
                    </a:lnTo>
                    <a:lnTo>
                      <a:pt x="1098121" y="1337969"/>
                    </a:lnTo>
                    <a:cubicBezTo>
                      <a:pt x="1266658" y="1361555"/>
                      <a:pt x="1393747" y="1507202"/>
                      <a:pt x="1393747" y="1676756"/>
                    </a:cubicBezTo>
                    <a:cubicBezTo>
                      <a:pt x="1393747" y="1866583"/>
                      <a:pt x="1240232" y="2021017"/>
                      <a:pt x="1051530" y="2021017"/>
                    </a:cubicBezTo>
                    <a:cubicBezTo>
                      <a:pt x="888285" y="2021017"/>
                      <a:pt x="746243" y="1905021"/>
                      <a:pt x="713784" y="1745208"/>
                    </a:cubicBezTo>
                    <a:lnTo>
                      <a:pt x="698685" y="1670868"/>
                    </a:lnTo>
                    <a:lnTo>
                      <a:pt x="626244" y="1693373"/>
                    </a:lnTo>
                    <a:cubicBezTo>
                      <a:pt x="408717" y="1760957"/>
                      <a:pt x="173783" y="1703381"/>
                      <a:pt x="12753" y="1543132"/>
                    </a:cubicBezTo>
                    <a:lnTo>
                      <a:pt x="1416" y="1530738"/>
                    </a:lnTo>
                    <a:lnTo>
                      <a:pt x="208047" y="1322910"/>
                    </a:lnTo>
                    <a:lnTo>
                      <a:pt x="219392" y="1334256"/>
                    </a:lnTo>
                    <a:cubicBezTo>
                      <a:pt x="279823" y="1394875"/>
                      <a:pt x="360415" y="1428259"/>
                      <a:pt x="446315" y="1428259"/>
                    </a:cubicBezTo>
                    <a:cubicBezTo>
                      <a:pt x="532213" y="1428259"/>
                      <a:pt x="612804" y="1394875"/>
                      <a:pt x="673168" y="1334331"/>
                    </a:cubicBezTo>
                    <a:cubicBezTo>
                      <a:pt x="798068" y="1209429"/>
                      <a:pt x="798102" y="1005930"/>
                      <a:pt x="673048" y="880510"/>
                    </a:cubicBezTo>
                    <a:lnTo>
                      <a:pt x="612979" y="820733"/>
                    </a:lnTo>
                    <a:lnTo>
                      <a:pt x="0" y="207756"/>
                    </a:lnTo>
                    <a:lnTo>
                      <a:pt x="207759" y="0"/>
                    </a:lnTo>
                    <a:close/>
                  </a:path>
                </a:pathLst>
              </a:custGeom>
              <a:solidFill>
                <a:schemeClr val="accent2"/>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6" name="任意多边形: 形状 85"/>
              <p:cNvSpPr/>
              <p:nvPr/>
            </p:nvSpPr>
            <p:spPr>
              <a:xfrm>
                <a:off x="8091641" y="3164833"/>
                <a:ext cx="2014887" cy="1359402"/>
              </a:xfrm>
              <a:custGeom>
                <a:avLst/>
                <a:gdLst>
                  <a:gd name="connsiteX0" fmla="*/ 486378 w 2014887"/>
                  <a:gd name="connsiteY0" fmla="*/ 0 h 1359402"/>
                  <a:gd name="connsiteX1" fmla="*/ 692359 w 2014887"/>
                  <a:gd name="connsiteY1" fmla="*/ 207362 h 1359402"/>
                  <a:gd name="connsiteX2" fmla="*/ 682675 w 2014887"/>
                  <a:gd name="connsiteY2" fmla="*/ 217173 h 1359402"/>
                  <a:gd name="connsiteX3" fmla="*/ 588132 w 2014887"/>
                  <a:gd name="connsiteY3" fmla="*/ 444478 h 1359402"/>
                  <a:gd name="connsiteX4" fmla="*/ 682110 w 2014887"/>
                  <a:gd name="connsiteY4" fmla="*/ 672201 h 1359402"/>
                  <a:gd name="connsiteX5" fmla="*/ 682535 w 2014887"/>
                  <a:gd name="connsiteY5" fmla="*/ 672630 h 1359402"/>
                  <a:gd name="connsiteX6" fmla="*/ 909456 w 2014887"/>
                  <a:gd name="connsiteY6" fmla="*/ 766633 h 1359402"/>
                  <a:gd name="connsiteX7" fmla="*/ 1136188 w 2014887"/>
                  <a:gd name="connsiteY7" fmla="*/ 672822 h 1359402"/>
                  <a:gd name="connsiteX8" fmla="*/ 1196374 w 2014887"/>
                  <a:gd name="connsiteY8" fmla="*/ 612928 h 1359402"/>
                  <a:gd name="connsiteX9" fmla="*/ 1498913 w 2014887"/>
                  <a:gd name="connsiteY9" fmla="*/ 308050 h 1359402"/>
                  <a:gd name="connsiteX10" fmla="*/ 1808112 w 2014887"/>
                  <a:gd name="connsiteY10" fmla="*/ 812 h 1359402"/>
                  <a:gd name="connsiteX11" fmla="*/ 2014887 w 2014887"/>
                  <a:gd name="connsiteY11" fmla="*/ 207587 h 1359402"/>
                  <a:gd name="connsiteX12" fmla="*/ 1706506 w 2014887"/>
                  <a:gd name="connsiteY12" fmla="*/ 515977 h 1359402"/>
                  <a:gd name="connsiteX13" fmla="*/ 1403958 w 2014887"/>
                  <a:gd name="connsiteY13" fmla="*/ 820276 h 1359402"/>
                  <a:gd name="connsiteX14" fmla="*/ 1343907 w 2014887"/>
                  <a:gd name="connsiteY14" fmla="*/ 880328 h 1359402"/>
                  <a:gd name="connsiteX15" fmla="*/ 761823 w 2014887"/>
                  <a:gd name="connsiteY15" fmla="*/ 1040669 h 1359402"/>
                  <a:gd name="connsiteX16" fmla="*/ 693832 w 2014887"/>
                  <a:gd name="connsiteY16" fmla="*/ 1023582 h 1359402"/>
                  <a:gd name="connsiteX17" fmla="*/ 678258 w 2014887"/>
                  <a:gd name="connsiteY17" fmla="*/ 1091937 h 1359402"/>
                  <a:gd name="connsiteX18" fmla="*/ 342218 w 2014887"/>
                  <a:gd name="connsiteY18" fmla="*/ 1359402 h 1359402"/>
                  <a:gd name="connsiteX19" fmla="*/ 0 w 2014887"/>
                  <a:gd name="connsiteY19" fmla="*/ 1015141 h 1359402"/>
                  <a:gd name="connsiteX20" fmla="*/ 263557 w 2014887"/>
                  <a:gd name="connsiteY20" fmla="*/ 681098 h 1359402"/>
                  <a:gd name="connsiteX21" fmla="*/ 332029 w 2014887"/>
                  <a:gd name="connsiteY21" fmla="*/ 665300 h 1359402"/>
                  <a:gd name="connsiteX22" fmla="*/ 314551 w 2014887"/>
                  <a:gd name="connsiteY22" fmla="*/ 597237 h 1359402"/>
                  <a:gd name="connsiteX23" fmla="*/ 474841 w 2014887"/>
                  <a:gd name="connsiteY23" fmla="*/ 11540 h 1359402"/>
                  <a:gd name="connsiteX24" fmla="*/ 486378 w 2014887"/>
                  <a:gd name="connsiteY24" fmla="*/ 0 h 135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14887" h="1359402">
                    <a:moveTo>
                      <a:pt x="486378" y="0"/>
                    </a:moveTo>
                    <a:lnTo>
                      <a:pt x="692359" y="207362"/>
                    </a:lnTo>
                    <a:lnTo>
                      <a:pt x="682675" y="217173"/>
                    </a:lnTo>
                    <a:cubicBezTo>
                      <a:pt x="621360" y="277458"/>
                      <a:pt x="587788" y="358156"/>
                      <a:pt x="588132" y="444478"/>
                    </a:cubicBezTo>
                    <a:cubicBezTo>
                      <a:pt x="588470" y="529806"/>
                      <a:pt x="621843" y="610683"/>
                      <a:pt x="682110" y="672201"/>
                    </a:cubicBezTo>
                    <a:lnTo>
                      <a:pt x="682535" y="672630"/>
                    </a:lnTo>
                    <a:cubicBezTo>
                      <a:pt x="742967" y="733251"/>
                      <a:pt x="823559" y="766633"/>
                      <a:pt x="909456" y="766633"/>
                    </a:cubicBezTo>
                    <a:cubicBezTo>
                      <a:pt x="995353" y="766633"/>
                      <a:pt x="1075941" y="733251"/>
                      <a:pt x="1136188" y="672822"/>
                    </a:cubicBezTo>
                    <a:lnTo>
                      <a:pt x="1196374" y="612928"/>
                    </a:lnTo>
                    <a:lnTo>
                      <a:pt x="1498913" y="308050"/>
                    </a:lnTo>
                    <a:lnTo>
                      <a:pt x="1808112" y="812"/>
                    </a:lnTo>
                    <a:lnTo>
                      <a:pt x="2014887" y="207587"/>
                    </a:lnTo>
                    <a:lnTo>
                      <a:pt x="1706506" y="515977"/>
                    </a:lnTo>
                    <a:lnTo>
                      <a:pt x="1403958" y="820276"/>
                    </a:lnTo>
                    <a:lnTo>
                      <a:pt x="1343907" y="880328"/>
                    </a:lnTo>
                    <a:cubicBezTo>
                      <a:pt x="1189181" y="1033442"/>
                      <a:pt x="971585" y="1093378"/>
                      <a:pt x="761823" y="1040669"/>
                    </a:cubicBezTo>
                    <a:lnTo>
                      <a:pt x="693832" y="1023582"/>
                    </a:lnTo>
                    <a:lnTo>
                      <a:pt x="678258" y="1091937"/>
                    </a:lnTo>
                    <a:cubicBezTo>
                      <a:pt x="642378" y="1249416"/>
                      <a:pt x="504194" y="1359402"/>
                      <a:pt x="342218" y="1359402"/>
                    </a:cubicBezTo>
                    <a:cubicBezTo>
                      <a:pt x="153517" y="1359402"/>
                      <a:pt x="0" y="1204968"/>
                      <a:pt x="0" y="1015141"/>
                    </a:cubicBezTo>
                    <a:cubicBezTo>
                      <a:pt x="0" y="856830"/>
                      <a:pt x="110843" y="716341"/>
                      <a:pt x="263557" y="681098"/>
                    </a:cubicBezTo>
                    <a:lnTo>
                      <a:pt x="332029" y="665300"/>
                    </a:lnTo>
                    <a:lnTo>
                      <a:pt x="314551" y="597237"/>
                    </a:lnTo>
                    <a:cubicBezTo>
                      <a:pt x="260125" y="385285"/>
                      <a:pt x="320049" y="166331"/>
                      <a:pt x="474841" y="11540"/>
                    </a:cubicBezTo>
                    <a:lnTo>
                      <a:pt x="486378" y="0"/>
                    </a:lnTo>
                    <a:close/>
                  </a:path>
                </a:pathLst>
              </a:custGeom>
              <a:solidFill>
                <a:schemeClr val="accent3"/>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7" name="任意多边形: 形状 86"/>
              <p:cNvSpPr/>
              <p:nvPr/>
            </p:nvSpPr>
            <p:spPr>
              <a:xfrm>
                <a:off x="8816902" y="3469184"/>
                <a:ext cx="325619" cy="325153"/>
              </a:xfrm>
              <a:custGeom>
                <a:avLst/>
                <a:gdLst>
                  <a:gd name="connsiteX0" fmla="*/ 64058 w 325619"/>
                  <a:gd name="connsiteY0" fmla="*/ 0 h 325153"/>
                  <a:gd name="connsiteX1" fmla="*/ 325619 w 325619"/>
                  <a:gd name="connsiteY1" fmla="*/ 259905 h 325153"/>
                  <a:gd name="connsiteX2" fmla="*/ 314003 w 325619"/>
                  <a:gd name="connsiteY2" fmla="*/ 271461 h 325153"/>
                  <a:gd name="connsiteX3" fmla="*/ 184191 w 325619"/>
                  <a:gd name="connsiteY3" fmla="*/ 325153 h 325153"/>
                  <a:gd name="connsiteX4" fmla="*/ 54588 w 325619"/>
                  <a:gd name="connsiteY4" fmla="*/ 271668 h 325153"/>
                  <a:gd name="connsiteX5" fmla="*/ 2 w 325619"/>
                  <a:gd name="connsiteY5" fmla="*/ 139589 h 325153"/>
                  <a:gd name="connsiteX6" fmla="*/ 53810 w 325619"/>
                  <a:gd name="connsiteY6" fmla="*/ 10368 h 325153"/>
                  <a:gd name="connsiteX7" fmla="*/ 64058 w 325619"/>
                  <a:gd name="connsiteY7" fmla="*/ 0 h 32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619" h="325153">
                    <a:moveTo>
                      <a:pt x="64058" y="0"/>
                    </a:moveTo>
                    <a:lnTo>
                      <a:pt x="325619" y="259905"/>
                    </a:lnTo>
                    <a:lnTo>
                      <a:pt x="314003" y="271461"/>
                    </a:lnTo>
                    <a:cubicBezTo>
                      <a:pt x="279484" y="306085"/>
                      <a:pt x="233383" y="325153"/>
                      <a:pt x="184191" y="325153"/>
                    </a:cubicBezTo>
                    <a:cubicBezTo>
                      <a:pt x="135101" y="325153"/>
                      <a:pt x="89088" y="306161"/>
                      <a:pt x="54588" y="271668"/>
                    </a:cubicBezTo>
                    <a:cubicBezTo>
                      <a:pt x="19581" y="235818"/>
                      <a:pt x="194" y="188924"/>
                      <a:pt x="2" y="139589"/>
                    </a:cubicBezTo>
                    <a:cubicBezTo>
                      <a:pt x="-189" y="90441"/>
                      <a:pt x="18916" y="44549"/>
                      <a:pt x="53810" y="10368"/>
                    </a:cubicBezTo>
                    <a:lnTo>
                      <a:pt x="64058" y="0"/>
                    </a:ln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8" name="任意多边形: 形状 87"/>
              <p:cNvSpPr/>
              <p:nvPr/>
            </p:nvSpPr>
            <p:spPr>
              <a:xfrm>
                <a:off x="9943877" y="3469279"/>
                <a:ext cx="324924" cy="325058"/>
              </a:xfrm>
              <a:custGeom>
                <a:avLst/>
                <a:gdLst>
                  <a:gd name="connsiteX0" fmla="*/ 259737 w 324924"/>
                  <a:gd name="connsiteY0" fmla="*/ 0 h 325058"/>
                  <a:gd name="connsiteX1" fmla="*/ 271248 w 324924"/>
                  <a:gd name="connsiteY1" fmla="*/ 11458 h 325058"/>
                  <a:gd name="connsiteX2" fmla="*/ 271248 w 324924"/>
                  <a:gd name="connsiteY2" fmla="*/ 271366 h 325058"/>
                  <a:gd name="connsiteX3" fmla="*/ 141440 w 324924"/>
                  <a:gd name="connsiteY3" fmla="*/ 325058 h 325058"/>
                  <a:gd name="connsiteX4" fmla="*/ 11549 w 324924"/>
                  <a:gd name="connsiteY4" fmla="*/ 271289 h 325058"/>
                  <a:gd name="connsiteX5" fmla="*/ 0 w 324924"/>
                  <a:gd name="connsiteY5" fmla="*/ 259741 h 325058"/>
                  <a:gd name="connsiteX6" fmla="*/ 259737 w 324924"/>
                  <a:gd name="connsiteY6" fmla="*/ 0 h 32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924" h="325058">
                    <a:moveTo>
                      <a:pt x="259737" y="0"/>
                    </a:moveTo>
                    <a:lnTo>
                      <a:pt x="271248" y="11458"/>
                    </a:lnTo>
                    <a:cubicBezTo>
                      <a:pt x="342799" y="83221"/>
                      <a:pt x="342834" y="199782"/>
                      <a:pt x="271248" y="271366"/>
                    </a:cubicBezTo>
                    <a:cubicBezTo>
                      <a:pt x="236729" y="305990"/>
                      <a:pt x="190631" y="325058"/>
                      <a:pt x="141440" y="325058"/>
                    </a:cubicBezTo>
                    <a:cubicBezTo>
                      <a:pt x="92247" y="325058"/>
                      <a:pt x="46149" y="305990"/>
                      <a:pt x="11549" y="271289"/>
                    </a:cubicBezTo>
                    <a:lnTo>
                      <a:pt x="0" y="259741"/>
                    </a:lnTo>
                    <a:lnTo>
                      <a:pt x="259737" y="0"/>
                    </a:ln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78" name="椭圆 77"/>
            <p:cNvSpPr/>
            <p:nvPr/>
          </p:nvSpPr>
          <p:spPr>
            <a:xfrm rot="18900000">
              <a:off x="6951731" y="1746074"/>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B</a:t>
              </a:r>
            </a:p>
          </p:txBody>
        </p:sp>
        <p:sp>
          <p:nvSpPr>
            <p:cNvPr id="79" name="椭圆 78"/>
            <p:cNvSpPr/>
            <p:nvPr/>
          </p:nvSpPr>
          <p:spPr>
            <a:xfrm rot="18900000">
              <a:off x="4005331" y="4715342"/>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D</a:t>
              </a:r>
            </a:p>
          </p:txBody>
        </p:sp>
        <p:sp>
          <p:nvSpPr>
            <p:cNvPr id="80" name="椭圆 79"/>
            <p:cNvSpPr/>
            <p:nvPr/>
          </p:nvSpPr>
          <p:spPr>
            <a:xfrm rot="18900000">
              <a:off x="6951730" y="4715342"/>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C</a:t>
              </a:r>
            </a:p>
          </p:txBody>
        </p:sp>
        <p:sp>
          <p:nvSpPr>
            <p:cNvPr id="103" name="椭圆 102"/>
            <p:cNvSpPr/>
            <p:nvPr/>
          </p:nvSpPr>
          <p:spPr>
            <a:xfrm rot="18900000">
              <a:off x="4003152" y="1766764"/>
              <a:ext cx="617469"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A</a:t>
              </a:r>
            </a:p>
          </p:txBody>
        </p:sp>
      </p:grpSp>
      <p:sp>
        <p:nvSpPr>
          <p:cNvPr id="101" name="文本框 100"/>
          <p:cNvSpPr txBox="1"/>
          <p:nvPr/>
        </p:nvSpPr>
        <p:spPr>
          <a:xfrm>
            <a:off x="3169542" y="1463371"/>
            <a:ext cx="3257587" cy="75501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熟练使用招聘平台发布岗位、筛选简历；</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掌握结构化面试技巧；</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协助完成候选人背调与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Offer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发放流程。</a:t>
            </a:r>
          </a:p>
        </p:txBody>
      </p:sp>
      <p:sp>
        <p:nvSpPr>
          <p:cNvPr id="109" name="文本框 108"/>
          <p:cNvSpPr txBox="1"/>
          <p:nvPr/>
        </p:nvSpPr>
        <p:spPr>
          <a:xfrm>
            <a:off x="3073592" y="3162511"/>
            <a:ext cx="247232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员工关系管理基础技能</a:t>
            </a:r>
          </a:p>
        </p:txBody>
      </p:sp>
      <p:sp>
        <p:nvSpPr>
          <p:cNvPr id="110" name="文本框 109"/>
          <p:cNvSpPr txBox="1"/>
          <p:nvPr/>
        </p:nvSpPr>
        <p:spPr>
          <a:xfrm>
            <a:off x="3073592" y="3462753"/>
            <a:ext cx="2445532"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协助办理新员工入职、社保增减员操作；</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参与员工考勤统计与异动管理；</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沟通协调解决基础人事问题。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110"/>
          <p:cNvSpPr txBox="1"/>
          <p:nvPr/>
        </p:nvSpPr>
        <p:spPr>
          <a:xfrm>
            <a:off x="9516295" y="3162511"/>
            <a:ext cx="3067316"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数据处理与分析能力</a:t>
            </a:r>
          </a:p>
        </p:txBody>
      </p:sp>
      <p:sp>
        <p:nvSpPr>
          <p:cNvPr id="112" name="文本框 111"/>
          <p:cNvSpPr txBox="1"/>
          <p:nvPr/>
        </p:nvSpPr>
        <p:spPr>
          <a:xfrm>
            <a:off x="9516295" y="3462753"/>
            <a:ext cx="2244270" cy="119697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Excel</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进行人事数据录入、报表制作；</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整理识别员工流失趋势、招聘渠道等问题；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HR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决策提供初步数据支持。</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矩形: 圆角 116"/>
          <p:cNvSpPr/>
          <p:nvPr/>
        </p:nvSpPr>
        <p:spPr>
          <a:xfrm rot="5400000">
            <a:off x="-1340826" y="2498250"/>
            <a:ext cx="5722379" cy="2615005"/>
          </a:xfrm>
          <a:prstGeom prst="roundRect">
            <a:avLst>
              <a:gd name="adj" fmla="val 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文本框 119"/>
          <p:cNvSpPr txBox="1"/>
          <p:nvPr/>
        </p:nvSpPr>
        <p:spPr>
          <a:xfrm>
            <a:off x="3169542" y="1140090"/>
            <a:ext cx="3257587"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招聘流程全周期执行能力</a:t>
            </a:r>
          </a:p>
        </p:txBody>
      </p:sp>
      <p:grpSp>
        <p:nvGrpSpPr>
          <p:cNvPr id="134" name="组合 133"/>
          <p:cNvGrpSpPr/>
          <p:nvPr/>
        </p:nvGrpSpPr>
        <p:grpSpPr>
          <a:xfrm flipV="1">
            <a:off x="406463" y="1654568"/>
            <a:ext cx="2262102" cy="2443944"/>
            <a:chOff x="9851406" y="2698611"/>
            <a:chExt cx="1465238" cy="1184529"/>
          </a:xfrm>
        </p:grpSpPr>
        <p:sp>
          <p:nvSpPr>
            <p:cNvPr id="135" name="任意多边形: 形状 134"/>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6" name="任意多边形: 形状 135"/>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40" name="矩形: 圆角 139"/>
          <p:cNvSpPr/>
          <p:nvPr/>
        </p:nvSpPr>
        <p:spPr>
          <a:xfrm>
            <a:off x="482811" y="2398247"/>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实践成长</a:t>
            </a:r>
          </a:p>
        </p:txBody>
      </p:sp>
      <p:sp>
        <p:nvSpPr>
          <p:cNvPr id="141" name="矩形: 圆角 140"/>
          <p:cNvSpPr/>
          <p:nvPr/>
        </p:nvSpPr>
        <p:spPr>
          <a:xfrm>
            <a:off x="482811" y="2917906"/>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沟通协作</a:t>
            </a:r>
          </a:p>
        </p:txBody>
      </p:sp>
      <p:sp>
        <p:nvSpPr>
          <p:cNvPr id="142" name="矩形: 圆角 141"/>
          <p:cNvSpPr/>
          <p:nvPr/>
        </p:nvSpPr>
        <p:spPr>
          <a:xfrm>
            <a:off x="482811" y="3437565"/>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问题解决</a:t>
            </a:r>
          </a:p>
        </p:txBody>
      </p:sp>
      <p:sp>
        <p:nvSpPr>
          <p:cNvPr id="143" name="矩形: 圆角 142"/>
          <p:cNvSpPr/>
          <p:nvPr/>
        </p:nvSpPr>
        <p:spPr>
          <a:xfrm>
            <a:off x="482811" y="3957224"/>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细节把控</a:t>
            </a:r>
          </a:p>
        </p:txBody>
      </p:sp>
      <p:sp>
        <p:nvSpPr>
          <p:cNvPr id="144" name="矩形: 圆角 143"/>
          <p:cNvSpPr/>
          <p:nvPr/>
        </p:nvSpPr>
        <p:spPr>
          <a:xfrm>
            <a:off x="482811" y="4476883"/>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主动学习</a:t>
            </a:r>
          </a:p>
        </p:txBody>
      </p:sp>
      <p:sp>
        <p:nvSpPr>
          <p:cNvPr id="145" name="矩形: 圆角 144"/>
          <p:cNvSpPr/>
          <p:nvPr/>
        </p:nvSpPr>
        <p:spPr>
          <a:xfrm>
            <a:off x="482811" y="4996542"/>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抗压能力</a:t>
            </a:r>
          </a:p>
        </p:txBody>
      </p:sp>
      <p:sp>
        <p:nvSpPr>
          <p:cNvPr id="146" name="矩形: 圆角 145"/>
          <p:cNvSpPr/>
          <p:nvPr/>
        </p:nvSpPr>
        <p:spPr>
          <a:xfrm>
            <a:off x="482811" y="5516201"/>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流程优化</a:t>
            </a:r>
          </a:p>
        </p:txBody>
      </p:sp>
      <p:sp>
        <p:nvSpPr>
          <p:cNvPr id="147" name="矩形: 圆角 146"/>
          <p:cNvSpPr/>
          <p:nvPr/>
        </p:nvSpPr>
        <p:spPr>
          <a:xfrm>
            <a:off x="482811" y="6035858"/>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数据思维</a:t>
            </a:r>
          </a:p>
        </p:txBody>
      </p:sp>
      <p:sp>
        <p:nvSpPr>
          <p:cNvPr id="148" name="文本框 147"/>
          <p:cNvSpPr txBox="1"/>
          <p:nvPr/>
        </p:nvSpPr>
        <p:spPr>
          <a:xfrm>
            <a:off x="227013" y="1157022"/>
            <a:ext cx="2600854"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关键能力提升</a:t>
            </a:r>
          </a:p>
        </p:txBody>
      </p:sp>
      <p:sp>
        <p:nvSpPr>
          <p:cNvPr id="149" name="文本框 148"/>
          <p:cNvSpPr txBox="1"/>
          <p:nvPr/>
        </p:nvSpPr>
        <p:spPr>
          <a:xfrm>
            <a:off x="3169542" y="5718050"/>
            <a:ext cx="3820585" cy="75501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协助组织新员工入职培训（资料准备、流程协调）；</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参与公司团建、员工生日会等文化活动策划与执行；</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通过活动反馈优化组织形式，增强团队凝聚力。</a:t>
            </a:r>
          </a:p>
        </p:txBody>
      </p:sp>
      <p:sp>
        <p:nvSpPr>
          <p:cNvPr id="150" name="文本框 149"/>
          <p:cNvSpPr txBox="1"/>
          <p:nvPr/>
        </p:nvSpPr>
        <p:spPr>
          <a:xfrm>
            <a:off x="3169542" y="5376751"/>
            <a:ext cx="3257587"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培训与企业文化活动支持能力</a:t>
            </a:r>
          </a:p>
        </p:txBody>
      </p:sp>
      <p:sp>
        <p:nvSpPr>
          <p:cNvPr id="152" name="文本框57"/>
          <p:cNvSpPr txBox="1"/>
          <p:nvPr/>
        </p:nvSpPr>
        <p:spPr>
          <a:xfrm>
            <a:off x="8457606" y="1945706"/>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简历筛选</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3" name="文本框57"/>
          <p:cNvSpPr txBox="1"/>
          <p:nvPr/>
        </p:nvSpPr>
        <p:spPr>
          <a:xfrm>
            <a:off x="8457606" y="1412655"/>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224</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份</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9" name="文本框57"/>
          <p:cNvSpPr txBox="1"/>
          <p:nvPr/>
        </p:nvSpPr>
        <p:spPr>
          <a:xfrm>
            <a:off x="10263166" y="1945706"/>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面试安排</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文本框57"/>
          <p:cNvSpPr txBox="1"/>
          <p:nvPr/>
        </p:nvSpPr>
        <p:spPr>
          <a:xfrm>
            <a:off x="10263166" y="1412655"/>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51</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2" name="文本框57"/>
          <p:cNvSpPr txBox="1"/>
          <p:nvPr/>
        </p:nvSpPr>
        <p:spPr>
          <a:xfrm>
            <a:off x="8186672"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培训组织</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3" name="文本框57"/>
          <p:cNvSpPr txBox="1"/>
          <p:nvPr/>
        </p:nvSpPr>
        <p:spPr>
          <a:xfrm>
            <a:off x="8186672"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5" name="文本框57"/>
          <p:cNvSpPr txBox="1"/>
          <p:nvPr/>
        </p:nvSpPr>
        <p:spPr>
          <a:xfrm>
            <a:off x="9086854"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参与人数</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6" name="文本框57"/>
          <p:cNvSpPr txBox="1"/>
          <p:nvPr/>
        </p:nvSpPr>
        <p:spPr>
          <a:xfrm>
            <a:off x="9086854"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145</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4" name="文本框57"/>
          <p:cNvSpPr txBox="1"/>
          <p:nvPr/>
        </p:nvSpPr>
        <p:spPr>
          <a:xfrm>
            <a:off x="10531282"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满意度</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75" name="文本框57"/>
          <p:cNvSpPr txBox="1"/>
          <p:nvPr/>
        </p:nvSpPr>
        <p:spPr>
          <a:xfrm>
            <a:off x="10531282"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95</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custDataLst>
              <p:tags r:id="rId2"/>
            </p:custDataLst>
          </p:nvPr>
        </p:nvSpPr>
        <p:spPr>
          <a:xfrm>
            <a:off x="227012" y="908050"/>
            <a:ext cx="2865665" cy="5949950"/>
          </a:xfrm>
          <a:prstGeom prst="roundRect">
            <a:avLst>
              <a:gd name="adj" fmla="val 3908"/>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任意多边形: 形状 22"/>
          <p:cNvSpPr/>
          <p:nvPr>
            <p:custDataLst>
              <p:tags r:id="rId3"/>
            </p:custDataLst>
          </p:nvPr>
        </p:nvSpPr>
        <p:spPr>
          <a:xfrm>
            <a:off x="1300843"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矩形: 圆角 24"/>
          <p:cNvSpPr/>
          <p:nvPr>
            <p:custDataLst>
              <p:tags r:id="rId4"/>
            </p:custDataLst>
          </p:nvPr>
        </p:nvSpPr>
        <p:spPr>
          <a:xfrm>
            <a:off x="3184449" y="908050"/>
            <a:ext cx="2865665" cy="5949950"/>
          </a:xfrm>
          <a:prstGeom prst="roundRect">
            <a:avLst>
              <a:gd name="adj" fmla="val 3908"/>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 name="矩形: 圆角 30"/>
          <p:cNvSpPr/>
          <p:nvPr>
            <p:custDataLst>
              <p:tags r:id="rId5"/>
            </p:custDataLst>
          </p:nvPr>
        </p:nvSpPr>
        <p:spPr>
          <a:xfrm>
            <a:off x="6141886" y="908050"/>
            <a:ext cx="2865665" cy="5949950"/>
          </a:xfrm>
          <a:prstGeom prst="roundRect">
            <a:avLst>
              <a:gd name="adj" fmla="val 3908"/>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矩形: 圆角 34"/>
          <p:cNvSpPr/>
          <p:nvPr>
            <p:custDataLst>
              <p:tags r:id="rId6"/>
            </p:custDataLst>
          </p:nvPr>
        </p:nvSpPr>
        <p:spPr>
          <a:xfrm>
            <a:off x="9099322" y="908050"/>
            <a:ext cx="2865665" cy="5949950"/>
          </a:xfrm>
          <a:prstGeom prst="roundRect">
            <a:avLst>
              <a:gd name="adj" fmla="val 390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任意多边形: 形状 23"/>
          <p:cNvSpPr/>
          <p:nvPr>
            <p:custDataLst>
              <p:tags r:id="rId7"/>
            </p:custDataLst>
          </p:nvPr>
        </p:nvSpPr>
        <p:spPr>
          <a:xfrm>
            <a:off x="4258280"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custDataLst>
              <p:tags r:id="rId8"/>
            </p:custDataLst>
          </p:nvPr>
        </p:nvSpPr>
        <p:spPr>
          <a:xfrm>
            <a:off x="7215717"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任意多边形: 形状 28"/>
          <p:cNvSpPr/>
          <p:nvPr>
            <p:custDataLst>
              <p:tags r:id="rId9"/>
            </p:custDataLst>
          </p:nvPr>
        </p:nvSpPr>
        <p:spPr>
          <a:xfrm>
            <a:off x="10173153"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 name="矩形 4"/>
          <p:cNvSpPr/>
          <p:nvPr>
            <p:custDataLst>
              <p:tags r:id="rId10"/>
            </p:custDataLst>
          </p:nvPr>
        </p:nvSpPr>
        <p:spPr>
          <a:xfrm>
            <a:off x="366381"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文本框 16"/>
          <p:cNvSpPr txBox="1"/>
          <p:nvPr>
            <p:custDataLst>
              <p:tags r:id="rId11"/>
            </p:custDataLst>
          </p:nvPr>
        </p:nvSpPr>
        <p:spPr>
          <a:xfrm>
            <a:off x="366381"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S</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ituation</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（情境）</a:t>
            </a:r>
          </a:p>
        </p:txBody>
      </p:sp>
      <p:sp>
        <p:nvSpPr>
          <p:cNvPr id="26" name="矩形 25"/>
          <p:cNvSpPr/>
          <p:nvPr>
            <p:custDataLst>
              <p:tags r:id="rId12"/>
            </p:custDataLst>
          </p:nvPr>
        </p:nvSpPr>
        <p:spPr>
          <a:xfrm>
            <a:off x="3323818"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文本框 26"/>
          <p:cNvSpPr txBox="1"/>
          <p:nvPr>
            <p:custDataLst>
              <p:tags r:id="rId13"/>
            </p:custDataLst>
          </p:nvPr>
        </p:nvSpPr>
        <p:spPr>
          <a:xfrm>
            <a:off x="3323818"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T</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ask</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（任务）</a:t>
            </a:r>
          </a:p>
        </p:txBody>
      </p:sp>
      <p:sp>
        <p:nvSpPr>
          <p:cNvPr id="32" name="矩形 31"/>
          <p:cNvSpPr/>
          <p:nvPr>
            <p:custDataLst>
              <p:tags r:id="rId14"/>
            </p:custDataLst>
          </p:nvPr>
        </p:nvSpPr>
        <p:spPr>
          <a:xfrm>
            <a:off x="6281255"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文本框 32"/>
          <p:cNvSpPr txBox="1"/>
          <p:nvPr>
            <p:custDataLst>
              <p:tags r:id="rId15"/>
            </p:custDataLst>
          </p:nvPr>
        </p:nvSpPr>
        <p:spPr>
          <a:xfrm>
            <a:off x="6281255"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A</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ction</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（行动）</a:t>
            </a:r>
          </a:p>
        </p:txBody>
      </p:sp>
      <p:sp>
        <p:nvSpPr>
          <p:cNvPr id="36" name="矩形 35"/>
          <p:cNvSpPr/>
          <p:nvPr>
            <p:custDataLst>
              <p:tags r:id="rId16"/>
            </p:custDataLst>
          </p:nvPr>
        </p:nvSpPr>
        <p:spPr>
          <a:xfrm>
            <a:off x="9238691"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7" name="文本框 36"/>
          <p:cNvSpPr txBox="1"/>
          <p:nvPr>
            <p:custDataLst>
              <p:tags r:id="rId17"/>
            </p:custDataLst>
          </p:nvPr>
        </p:nvSpPr>
        <p:spPr>
          <a:xfrm>
            <a:off x="9238691"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R</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esult</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（结果）</a:t>
            </a:r>
          </a:p>
        </p:txBody>
      </p:sp>
      <p:sp>
        <p:nvSpPr>
          <p:cNvPr id="2" name="标题 1"/>
          <p:cNvSpPr>
            <a:spLocks noGrp="1"/>
          </p:cNvSpPr>
          <p:nvPr>
            <p:ph type="title"/>
          </p:nvPr>
        </p:nvSpPr>
        <p:spPr>
          <a:xfrm>
            <a:off x="0" y="181867"/>
            <a:ext cx="9377266" cy="549275"/>
          </a:xfrm>
        </p:spPr>
        <p:txBody>
          <a:bodyPr>
            <a:normAutofit/>
          </a:bodyPr>
          <a:lstStyle/>
          <a:p>
            <a:r>
              <a:rPr lang="en-US" altLang="zh-CN" b="1"/>
              <a:t>STAR</a:t>
            </a:r>
            <a:r>
              <a:rPr lang="zh-CN" altLang="en-US"/>
              <a:t>法则结构化复盘</a:t>
            </a:r>
          </a:p>
        </p:txBody>
      </p:sp>
      <p:sp>
        <p:nvSpPr>
          <p:cNvPr id="21" name="任意多边形: 形状 20"/>
          <p:cNvSpPr/>
          <p:nvPr>
            <p:custDataLst>
              <p:tags r:id="rId18"/>
            </p:custDataLst>
          </p:nvPr>
        </p:nvSpPr>
        <p:spPr>
          <a:xfrm>
            <a:off x="0" y="5987811"/>
            <a:ext cx="12192000" cy="870190"/>
          </a:xfrm>
          <a:custGeom>
            <a:avLst/>
            <a:gdLst>
              <a:gd name="connsiteX0" fmla="*/ 6096000 w 12192000"/>
              <a:gd name="connsiteY0" fmla="*/ 0 h 1129901"/>
              <a:gd name="connsiteX1" fmla="*/ 11704011 w 12192000"/>
              <a:gd name="connsiteY1" fmla="*/ 309727 h 1129901"/>
              <a:gd name="connsiteX2" fmla="*/ 12192000 w 12192000"/>
              <a:gd name="connsiteY2" fmla="*/ 377960 h 1129901"/>
              <a:gd name="connsiteX3" fmla="*/ 12192000 w 12192000"/>
              <a:gd name="connsiteY3" fmla="*/ 1129901 h 1129901"/>
              <a:gd name="connsiteX4" fmla="*/ 0 w 12192000"/>
              <a:gd name="connsiteY4" fmla="*/ 1129901 h 1129901"/>
              <a:gd name="connsiteX5" fmla="*/ 0 w 12192000"/>
              <a:gd name="connsiteY5" fmla="*/ 377960 h 1129901"/>
              <a:gd name="connsiteX6" fmla="*/ 487989 w 12192000"/>
              <a:gd name="connsiteY6" fmla="*/ 309727 h 1129901"/>
              <a:gd name="connsiteX7" fmla="*/ 6096000 w 12192000"/>
              <a:gd name="connsiteY7" fmla="*/ 0 h 1129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29901">
                <a:moveTo>
                  <a:pt x="6096000" y="0"/>
                </a:moveTo>
                <a:cubicBezTo>
                  <a:pt x="8226245" y="0"/>
                  <a:pt x="10180028" y="116234"/>
                  <a:pt x="11704011" y="309727"/>
                </a:cubicBezTo>
                <a:lnTo>
                  <a:pt x="12192000" y="377960"/>
                </a:lnTo>
                <a:lnTo>
                  <a:pt x="12192000" y="1129901"/>
                </a:lnTo>
                <a:lnTo>
                  <a:pt x="0" y="1129901"/>
                </a:lnTo>
                <a:lnTo>
                  <a:pt x="0" y="377960"/>
                </a:lnTo>
                <a:lnTo>
                  <a:pt x="487989" y="309727"/>
                </a:lnTo>
                <a:cubicBezTo>
                  <a:pt x="2011973" y="116234"/>
                  <a:pt x="3965756" y="0"/>
                  <a:pt x="6096000" y="0"/>
                </a:cubicBezTo>
                <a:close/>
              </a:path>
            </a:pathLst>
          </a:custGeom>
          <a:gradFill flip="none" rotWithShape="1">
            <a:gsLst>
              <a:gs pos="0">
                <a:schemeClr val="accent6">
                  <a:lumMod val="75000"/>
                </a:schemeClr>
              </a:gs>
              <a:gs pos="100000">
                <a:schemeClr val="accent4"/>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3" name="任意多边形: 形状 42"/>
          <p:cNvSpPr/>
          <p:nvPr>
            <p:custDataLst>
              <p:tags r:id="rId19"/>
            </p:custDataLst>
          </p:nvPr>
        </p:nvSpPr>
        <p:spPr>
          <a:xfrm>
            <a:off x="0" y="6222521"/>
            <a:ext cx="12192000" cy="635480"/>
          </a:xfrm>
          <a:custGeom>
            <a:avLst/>
            <a:gdLst>
              <a:gd name="connsiteX0" fmla="*/ 6096000 w 12192000"/>
              <a:gd name="connsiteY0" fmla="*/ 0 h 781205"/>
              <a:gd name="connsiteX1" fmla="*/ 11704011 w 12192000"/>
              <a:gd name="connsiteY1" fmla="*/ 452265 h 781205"/>
              <a:gd name="connsiteX2" fmla="*/ 12192000 w 12192000"/>
              <a:gd name="connsiteY2" fmla="*/ 551899 h 781205"/>
              <a:gd name="connsiteX3" fmla="*/ 12192000 w 12192000"/>
              <a:gd name="connsiteY3" fmla="*/ 781205 h 781205"/>
              <a:gd name="connsiteX4" fmla="*/ 0 w 12192000"/>
              <a:gd name="connsiteY4" fmla="*/ 781205 h 781205"/>
              <a:gd name="connsiteX5" fmla="*/ 0 w 12192000"/>
              <a:gd name="connsiteY5" fmla="*/ 551899 h 781205"/>
              <a:gd name="connsiteX6" fmla="*/ 487989 w 12192000"/>
              <a:gd name="connsiteY6" fmla="*/ 452265 h 781205"/>
              <a:gd name="connsiteX7" fmla="*/ 6096000 w 12192000"/>
              <a:gd name="connsiteY7" fmla="*/ 0 h 78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81205">
                <a:moveTo>
                  <a:pt x="6096000" y="0"/>
                </a:moveTo>
                <a:cubicBezTo>
                  <a:pt x="8226245" y="0"/>
                  <a:pt x="10180028" y="169725"/>
                  <a:pt x="11704011" y="452265"/>
                </a:cubicBezTo>
                <a:lnTo>
                  <a:pt x="12192000" y="551899"/>
                </a:lnTo>
                <a:lnTo>
                  <a:pt x="12192000" y="781205"/>
                </a:lnTo>
                <a:lnTo>
                  <a:pt x="0" y="781205"/>
                </a:lnTo>
                <a:lnTo>
                  <a:pt x="0" y="551899"/>
                </a:lnTo>
                <a:lnTo>
                  <a:pt x="487989" y="452265"/>
                </a:lnTo>
                <a:cubicBezTo>
                  <a:pt x="2011973" y="169725"/>
                  <a:pt x="3965756" y="0"/>
                  <a:pt x="609600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46" name="组合 45"/>
          <p:cNvGrpSpPr/>
          <p:nvPr>
            <p:custDataLst>
              <p:tags r:id="rId20"/>
            </p:custDataLst>
          </p:nvPr>
        </p:nvGrpSpPr>
        <p:grpSpPr>
          <a:xfrm>
            <a:off x="2925661" y="1446415"/>
            <a:ext cx="375366" cy="375366"/>
            <a:chOff x="2067791" y="1611502"/>
            <a:chExt cx="282214" cy="282214"/>
          </a:xfrm>
        </p:grpSpPr>
        <p:sp>
          <p:nvSpPr>
            <p:cNvPr id="47" name="椭圆 46"/>
            <p:cNvSpPr/>
            <p:nvPr>
              <p:custDataLst>
                <p:tags r:id="rId36"/>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48" name="图形 1042"/>
            <p:cNvSpPr/>
            <p:nvPr>
              <p:custDataLst>
                <p:tags r:id="rId37"/>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grpSp>
        <p:nvGrpSpPr>
          <p:cNvPr id="49" name="组合 48"/>
          <p:cNvGrpSpPr/>
          <p:nvPr>
            <p:custDataLst>
              <p:tags r:id="rId21"/>
            </p:custDataLst>
          </p:nvPr>
        </p:nvGrpSpPr>
        <p:grpSpPr>
          <a:xfrm>
            <a:off x="5895708" y="1446415"/>
            <a:ext cx="375366" cy="375366"/>
            <a:chOff x="2067791" y="1611502"/>
            <a:chExt cx="282214" cy="282214"/>
          </a:xfrm>
        </p:grpSpPr>
        <p:sp>
          <p:nvSpPr>
            <p:cNvPr id="50" name="椭圆 49"/>
            <p:cNvSpPr/>
            <p:nvPr>
              <p:custDataLst>
                <p:tags r:id="rId34"/>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51" name="图形 1042"/>
            <p:cNvSpPr/>
            <p:nvPr>
              <p:custDataLst>
                <p:tags r:id="rId35"/>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grpSp>
        <p:nvGrpSpPr>
          <p:cNvPr id="52" name="组合 51"/>
          <p:cNvGrpSpPr/>
          <p:nvPr>
            <p:custDataLst>
              <p:tags r:id="rId22"/>
            </p:custDataLst>
          </p:nvPr>
        </p:nvGrpSpPr>
        <p:grpSpPr>
          <a:xfrm>
            <a:off x="8865754" y="1446415"/>
            <a:ext cx="375366" cy="375366"/>
            <a:chOff x="2067791" y="1611502"/>
            <a:chExt cx="282214" cy="282214"/>
          </a:xfrm>
        </p:grpSpPr>
        <p:sp>
          <p:nvSpPr>
            <p:cNvPr id="53" name="椭圆 52"/>
            <p:cNvSpPr/>
            <p:nvPr>
              <p:custDataLst>
                <p:tags r:id="rId32"/>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54" name="图形 1042"/>
            <p:cNvSpPr/>
            <p:nvPr>
              <p:custDataLst>
                <p:tags r:id="rId33"/>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sp>
        <p:nvSpPr>
          <p:cNvPr id="57" name="文本框 56"/>
          <p:cNvSpPr txBox="1"/>
          <p:nvPr>
            <p:custDataLst>
              <p:tags r:id="rId23"/>
            </p:custDataLst>
          </p:nvPr>
        </p:nvSpPr>
        <p:spPr>
          <a:xfrm>
            <a:off x="366381" y="2718371"/>
            <a:ext cx="2586925" cy="263969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在系列轻薄本量产测试阶段</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（时间）</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，发现搭载第</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代酷睿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H45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处理器的机型</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（产品）</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，在运行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3D</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建模软件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大型游戏</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峰值温度持续超过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（现象）；</a:t>
            </a:r>
            <a:endParaRPr kumimoji="0" lang="en-US" altLang="zh-CN"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触发降频导致性能下降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15%-20%</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（影响），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面键盘区局部温度达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（用户感知痛点）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，可能影响产品上市后的用户口碑与市场竞争力</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（后果）</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4" name="文本框 73"/>
          <p:cNvSpPr txBox="1"/>
          <p:nvPr>
            <p:custDataLst>
              <p:tags r:id="rId24"/>
            </p:custDataLst>
          </p:nvPr>
        </p:nvSpPr>
        <p:spPr>
          <a:xfrm>
            <a:off x="3319293" y="2718371"/>
            <a:ext cx="2586925" cy="2428240"/>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时间限制：</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周内完成散热方案优化，需同时满足：</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性能指标：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峰值温度降低至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以下；</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目标设计：</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保持机身厚度≤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19.9mm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1.45kg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的轻薄设计；</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成本要求：</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量产成本增加不超过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5" name="文本框 74"/>
          <p:cNvSpPr txBox="1"/>
          <p:nvPr>
            <p:custDataLst>
              <p:tags r:id="rId25"/>
            </p:custDataLst>
          </p:nvPr>
        </p:nvSpPr>
        <p:spPr>
          <a:xfrm>
            <a:off x="6278829" y="2718371"/>
            <a:ext cx="2586925" cy="275526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问题诊断：</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FloTHERM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仿真软件验证原散热模组（单热管双风扇）的热扩散效率不足。</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方案迭代：</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移位至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D</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面靠近出风口区域，避免与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热量重叠；在键盘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0.1mm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石墨烯导热层，分散表面温度。</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验证闭环：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版工程样机，分别在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环境下进行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小时压力测试，同步收集用户体验反馈。</a:t>
            </a:r>
          </a:p>
        </p:txBody>
      </p:sp>
      <p:sp>
        <p:nvSpPr>
          <p:cNvPr id="76" name="文本框 75"/>
          <p:cNvSpPr txBox="1"/>
          <p:nvPr>
            <p:custDataLst>
              <p:tags r:id="rId26"/>
            </p:custDataLst>
          </p:nvPr>
        </p:nvSpPr>
        <p:spPr>
          <a:xfrm>
            <a:off x="9238692" y="2718371"/>
            <a:ext cx="2586925" cy="275526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性能指标：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，持续高负载运行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分钟温度波动≤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，性能释放稳定（不降频）。</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用户体验：</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键盘区最高温度降至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（触感“温热”而非“烫”），实测用户满意度提升至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市场影响：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该机型上市首月销量超预期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，散热问题用户投诉率仅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7" name="任意多边形: 形状 76"/>
          <p:cNvSpPr/>
          <p:nvPr>
            <p:custDataLst>
              <p:tags r:id="rId27"/>
            </p:custDataLst>
          </p:nvPr>
        </p:nvSpPr>
        <p:spPr>
          <a:xfrm>
            <a:off x="228600" y="6095958"/>
            <a:ext cx="11734800" cy="346639"/>
          </a:xfrm>
          <a:custGeom>
            <a:avLst/>
            <a:gdLst>
              <a:gd name="connsiteX0" fmla="*/ 0 w 11734800"/>
              <a:gd name="connsiteY0" fmla="*/ 416602 h 416602"/>
              <a:gd name="connsiteX1" fmla="*/ 5862320 w 11734800"/>
              <a:gd name="connsiteY1" fmla="*/ 42 h 416602"/>
              <a:gd name="connsiteX2" fmla="*/ 11734800 w 11734800"/>
              <a:gd name="connsiteY2" fmla="*/ 396282 h 416602"/>
            </a:gdLst>
            <a:ahLst/>
            <a:cxnLst>
              <a:cxn ang="0">
                <a:pos x="connsiteX0" y="connsiteY0"/>
              </a:cxn>
              <a:cxn ang="0">
                <a:pos x="connsiteX1" y="connsiteY1"/>
              </a:cxn>
              <a:cxn ang="0">
                <a:pos x="connsiteX2" y="connsiteY2"/>
              </a:cxn>
            </a:cxnLst>
            <a:rect l="l" t="t" r="r" b="b"/>
            <a:pathLst>
              <a:path w="11734800" h="416602">
                <a:moveTo>
                  <a:pt x="0" y="416602"/>
                </a:moveTo>
                <a:cubicBezTo>
                  <a:pt x="1953260" y="210015"/>
                  <a:pt x="3906520" y="3429"/>
                  <a:pt x="5862320" y="42"/>
                </a:cubicBezTo>
                <a:cubicBezTo>
                  <a:pt x="7818120" y="-3345"/>
                  <a:pt x="9776460" y="196468"/>
                  <a:pt x="11734800" y="396282"/>
                </a:cubicBezTo>
              </a:path>
            </a:pathLst>
          </a:custGeom>
          <a:noFill/>
          <a:ln cap="rnd">
            <a:solidFill>
              <a:schemeClr val="bg1"/>
            </a:solidFill>
            <a:prstDash val="lgDash"/>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任意多边形: 形状 29"/>
          <p:cNvSpPr/>
          <p:nvPr>
            <p:custDataLst>
              <p:tags r:id="rId28"/>
            </p:custDataLst>
          </p:nvPr>
        </p:nvSpPr>
        <p:spPr>
          <a:xfrm>
            <a:off x="1009604"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任意多边形: 形状 33"/>
          <p:cNvSpPr/>
          <p:nvPr>
            <p:custDataLst>
              <p:tags r:id="rId29"/>
            </p:custDataLst>
          </p:nvPr>
        </p:nvSpPr>
        <p:spPr>
          <a:xfrm>
            <a:off x="3967041"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8" name="任意多边形: 形状 37"/>
          <p:cNvSpPr/>
          <p:nvPr>
            <p:custDataLst>
              <p:tags r:id="rId30"/>
            </p:custDataLst>
          </p:nvPr>
        </p:nvSpPr>
        <p:spPr>
          <a:xfrm>
            <a:off x="6924478"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任意多边形: 形状 38"/>
          <p:cNvSpPr/>
          <p:nvPr>
            <p:custDataLst>
              <p:tags r:id="rId31"/>
            </p:custDataLst>
          </p:nvPr>
        </p:nvSpPr>
        <p:spPr>
          <a:xfrm>
            <a:off x="9881914"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房型图：多维解构用户价值</a:t>
            </a:r>
          </a:p>
        </p:txBody>
      </p:sp>
      <p:sp>
        <p:nvSpPr>
          <p:cNvPr id="27" name="矩形 26"/>
          <p:cNvSpPr/>
          <p:nvPr/>
        </p:nvSpPr>
        <p:spPr>
          <a:xfrm>
            <a:off x="226656" y="2729881"/>
            <a:ext cx="1461254" cy="523479"/>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维度</a:t>
            </a:r>
          </a:p>
        </p:txBody>
      </p:sp>
      <p:grpSp>
        <p:nvGrpSpPr>
          <p:cNvPr id="35" name="组合 34"/>
          <p:cNvGrpSpPr/>
          <p:nvPr/>
        </p:nvGrpSpPr>
        <p:grpSpPr>
          <a:xfrm>
            <a:off x="1852094" y="942392"/>
            <a:ext cx="10119082" cy="712061"/>
            <a:chOff x="2387600" y="1334213"/>
            <a:chExt cx="8432800" cy="549275"/>
          </a:xfrm>
        </p:grpSpPr>
        <p:sp>
          <p:nvSpPr>
            <p:cNvPr id="34" name="等腰三角形 33"/>
            <p:cNvSpPr/>
            <p:nvPr/>
          </p:nvSpPr>
          <p:spPr>
            <a:xfrm>
              <a:off x="2387600" y="1334213"/>
              <a:ext cx="8432800" cy="549275"/>
            </a:xfrm>
            <a:prstGeom prst="triangle">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5401945" y="1488036"/>
              <a:ext cx="2404111" cy="3561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用户价值四维解构</a:t>
              </a:r>
            </a:p>
          </p:txBody>
        </p:sp>
      </p:grpSp>
      <p:sp>
        <p:nvSpPr>
          <p:cNvPr id="36" name="矩形 35"/>
          <p:cNvSpPr/>
          <p:nvPr/>
        </p:nvSpPr>
        <p:spPr>
          <a:xfrm>
            <a:off x="1852094" y="1712871"/>
            <a:ext cx="10119082" cy="523479"/>
          </a:xfrm>
          <a:prstGeom prst="rect">
            <a:avLst/>
          </a:prstGeom>
          <a:solidFill>
            <a:schemeClr val="accent3"/>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8" name="文本框 37"/>
          <p:cNvSpPr txBox="1"/>
          <p:nvPr/>
        </p:nvSpPr>
        <p:spPr>
          <a:xfrm>
            <a:off x="2079611" y="1778982"/>
            <a:ext cx="966404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cs typeface="+mn-ea"/>
                <a:sym typeface="+mn-lt"/>
              </a:rPr>
              <a:t>抽象定义：</a:t>
            </a:r>
            <a:r>
              <a:rPr kumimoji="0" lang="zh-CN" altLang="en-US" sz="1800" b="0" i="0" u="none" strike="noStrike" kern="1200" cap="none" spc="0" normalizeH="0" baseline="0" noProof="0" dirty="0">
                <a:ln>
                  <a:noFill/>
                </a:ln>
                <a:solidFill>
                  <a:prstClr val="black"/>
                </a:solidFill>
                <a:effectLst/>
                <a:uLnTx/>
                <a:uFillTx/>
                <a:cs typeface="+mn-ea"/>
                <a:sym typeface="+mn-lt"/>
              </a:rPr>
              <a:t>企业在用户全生命周期所能获取的资源</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81" name="箭头: 下 80"/>
          <p:cNvSpPr/>
          <p:nvPr/>
        </p:nvSpPr>
        <p:spPr>
          <a:xfrm>
            <a:off x="2863921"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84" name="文本框 83"/>
          <p:cNvSpPr txBox="1"/>
          <p:nvPr/>
        </p:nvSpPr>
        <p:spPr>
          <a:xfrm>
            <a:off x="2476946"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来源</a:t>
            </a:r>
          </a:p>
        </p:txBody>
      </p:sp>
      <p:sp>
        <p:nvSpPr>
          <p:cNvPr id="39" name="矩形 38"/>
          <p:cNvSpPr/>
          <p:nvPr/>
        </p:nvSpPr>
        <p:spPr>
          <a:xfrm>
            <a:off x="1852093"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文本框 87"/>
          <p:cNvSpPr txBox="1"/>
          <p:nvPr/>
        </p:nvSpPr>
        <p:spPr>
          <a:xfrm>
            <a:off x="2669973"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产品认知</a:t>
            </a:r>
          </a:p>
        </p:txBody>
      </p:sp>
      <p:sp>
        <p:nvSpPr>
          <p:cNvPr id="118" name="箭头: 下 117"/>
          <p:cNvSpPr/>
          <p:nvPr/>
        </p:nvSpPr>
        <p:spPr>
          <a:xfrm>
            <a:off x="5431200"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9" name="文本框 118"/>
          <p:cNvSpPr txBox="1"/>
          <p:nvPr/>
        </p:nvSpPr>
        <p:spPr>
          <a:xfrm>
            <a:off x="5031881"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培育</a:t>
            </a:r>
          </a:p>
        </p:txBody>
      </p:sp>
      <p:sp>
        <p:nvSpPr>
          <p:cNvPr id="115" name="矩形 114"/>
          <p:cNvSpPr/>
          <p:nvPr/>
        </p:nvSpPr>
        <p:spPr>
          <a:xfrm>
            <a:off x="4407028"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文本框 115"/>
          <p:cNvSpPr txBox="1"/>
          <p:nvPr/>
        </p:nvSpPr>
        <p:spPr>
          <a:xfrm>
            <a:off x="5224909"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品牌连接</a:t>
            </a:r>
          </a:p>
        </p:txBody>
      </p:sp>
      <p:sp>
        <p:nvSpPr>
          <p:cNvPr id="129" name="箭头: 下 128"/>
          <p:cNvSpPr/>
          <p:nvPr/>
        </p:nvSpPr>
        <p:spPr>
          <a:xfrm>
            <a:off x="7986135"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文本框 129"/>
          <p:cNvSpPr txBox="1"/>
          <p:nvPr/>
        </p:nvSpPr>
        <p:spPr>
          <a:xfrm>
            <a:off x="7586816"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显现</a:t>
            </a:r>
          </a:p>
        </p:txBody>
      </p:sp>
      <p:sp>
        <p:nvSpPr>
          <p:cNvPr id="125" name="矩形 124"/>
          <p:cNvSpPr/>
          <p:nvPr/>
        </p:nvSpPr>
        <p:spPr>
          <a:xfrm>
            <a:off x="6961964"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文本框 125"/>
          <p:cNvSpPr txBox="1"/>
          <p:nvPr/>
        </p:nvSpPr>
        <p:spPr>
          <a:xfrm>
            <a:off x="7779844"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转化效果</a:t>
            </a:r>
          </a:p>
        </p:txBody>
      </p:sp>
      <p:sp>
        <p:nvSpPr>
          <p:cNvPr id="136" name="箭头: 下 135"/>
          <p:cNvSpPr/>
          <p:nvPr/>
        </p:nvSpPr>
        <p:spPr>
          <a:xfrm>
            <a:off x="10541069"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7" name="文本框 136"/>
          <p:cNvSpPr txBox="1"/>
          <p:nvPr/>
        </p:nvSpPr>
        <p:spPr>
          <a:xfrm>
            <a:off x="10141750"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衍生</a:t>
            </a:r>
          </a:p>
        </p:txBody>
      </p:sp>
      <p:sp>
        <p:nvSpPr>
          <p:cNvPr id="134" name="矩形 133"/>
          <p:cNvSpPr/>
          <p:nvPr/>
        </p:nvSpPr>
        <p:spPr>
          <a:xfrm>
            <a:off x="9516898"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文本框 134"/>
          <p:cNvSpPr txBox="1"/>
          <p:nvPr/>
        </p:nvSpPr>
        <p:spPr>
          <a:xfrm>
            <a:off x="10334778"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忠诚程度</a:t>
            </a:r>
          </a:p>
        </p:txBody>
      </p:sp>
      <p:sp>
        <p:nvSpPr>
          <p:cNvPr id="161" name="矩形 160"/>
          <p:cNvSpPr/>
          <p:nvPr/>
        </p:nvSpPr>
        <p:spPr>
          <a:xfrm>
            <a:off x="226656" y="3354326"/>
            <a:ext cx="1461254" cy="1191004"/>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表现</a:t>
            </a:r>
          </a:p>
        </p:txBody>
      </p:sp>
      <p:sp>
        <p:nvSpPr>
          <p:cNvPr id="162" name="矩形 161"/>
          <p:cNvSpPr/>
          <p:nvPr/>
        </p:nvSpPr>
        <p:spPr>
          <a:xfrm>
            <a:off x="1852092"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1852092"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满足用户需求</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获得用户认可</a:t>
            </a:r>
          </a:p>
        </p:txBody>
      </p:sp>
      <p:sp>
        <p:nvSpPr>
          <p:cNvPr id="167" name="矩形 166"/>
          <p:cNvSpPr/>
          <p:nvPr/>
        </p:nvSpPr>
        <p:spPr>
          <a:xfrm>
            <a:off x="4407027"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8" name="文本框 167"/>
          <p:cNvSpPr txBox="1"/>
          <p:nvPr/>
        </p:nvSpPr>
        <p:spPr>
          <a:xfrm>
            <a:off x="4407027"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提升品牌认知与好感</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占据用户心智</a:t>
            </a:r>
          </a:p>
        </p:txBody>
      </p:sp>
      <p:sp>
        <p:nvSpPr>
          <p:cNvPr id="170" name="矩形 169"/>
          <p:cNvSpPr/>
          <p:nvPr/>
        </p:nvSpPr>
        <p:spPr>
          <a:xfrm>
            <a:off x="6961963"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文本框 170"/>
          <p:cNvSpPr txBox="1"/>
          <p:nvPr/>
        </p:nvSpPr>
        <p:spPr>
          <a:xfrm>
            <a:off x="6961963"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驱动用户实际消费</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促成用户交易</a:t>
            </a:r>
          </a:p>
        </p:txBody>
      </p:sp>
      <p:sp>
        <p:nvSpPr>
          <p:cNvPr id="173" name="矩形 172"/>
          <p:cNvSpPr/>
          <p:nvPr/>
        </p:nvSpPr>
        <p:spPr>
          <a:xfrm>
            <a:off x="9516898"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4" name="文本框 173"/>
          <p:cNvSpPr txBox="1"/>
          <p:nvPr/>
        </p:nvSpPr>
        <p:spPr>
          <a:xfrm>
            <a:off x="9516898"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增强用户黏性</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推动用户复购与裂变</a:t>
            </a:r>
          </a:p>
        </p:txBody>
      </p:sp>
      <p:sp>
        <p:nvSpPr>
          <p:cNvPr id="177" name="矩形 176"/>
          <p:cNvSpPr/>
          <p:nvPr/>
        </p:nvSpPr>
        <p:spPr>
          <a:xfrm>
            <a:off x="226656" y="4643954"/>
            <a:ext cx="1461254" cy="1390078"/>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举措</a:t>
            </a:r>
          </a:p>
        </p:txBody>
      </p:sp>
      <p:sp>
        <p:nvSpPr>
          <p:cNvPr id="188" name="矩形 187"/>
          <p:cNvSpPr/>
          <p:nvPr/>
        </p:nvSpPr>
        <p:spPr>
          <a:xfrm>
            <a:off x="1852092"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9" name="文本框 188"/>
          <p:cNvSpPr txBox="1"/>
          <p:nvPr/>
        </p:nvSpPr>
        <p:spPr>
          <a:xfrm>
            <a:off x="1852092" y="4963188"/>
            <a:ext cx="2454278" cy="734817"/>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让用户了解产品功能解决用户实际痛点</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6" name="矩形 185"/>
          <p:cNvSpPr/>
          <p:nvPr/>
        </p:nvSpPr>
        <p:spPr>
          <a:xfrm>
            <a:off x="4407027"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4407027"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打通用户沟通渠道</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连接用户与企业</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4" name="矩形 183"/>
          <p:cNvSpPr/>
          <p:nvPr/>
        </p:nvSpPr>
        <p:spPr>
          <a:xfrm>
            <a:off x="6961963"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5" name="文本框 184"/>
          <p:cNvSpPr txBox="1"/>
          <p:nvPr/>
        </p:nvSpPr>
        <p:spPr>
          <a:xfrm>
            <a:off x="6961963"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强化用户信任</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消除链路障碍</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2" name="矩形 181"/>
          <p:cNvSpPr/>
          <p:nvPr/>
        </p:nvSpPr>
        <p:spPr>
          <a:xfrm>
            <a:off x="9516898"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3" name="文本框 182"/>
          <p:cNvSpPr txBox="1"/>
          <p:nvPr/>
        </p:nvSpPr>
        <p:spPr>
          <a:xfrm>
            <a:off x="9516898"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持续提供个性化服务</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全链路运营留存用户</a:t>
            </a:r>
          </a:p>
        </p:txBody>
      </p:sp>
      <p:grpSp>
        <p:nvGrpSpPr>
          <p:cNvPr id="200" name="组合 199"/>
          <p:cNvGrpSpPr/>
          <p:nvPr/>
        </p:nvGrpSpPr>
        <p:grpSpPr>
          <a:xfrm>
            <a:off x="226656" y="1898370"/>
            <a:ext cx="1461254" cy="800876"/>
            <a:chOff x="563648" y="1702349"/>
            <a:chExt cx="1370330" cy="960025"/>
          </a:xfrm>
        </p:grpSpPr>
        <p:sp>
          <p:nvSpPr>
            <p:cNvPr id="192" name="箭头: 下 191"/>
            <p:cNvSpPr/>
            <p:nvPr/>
          </p:nvSpPr>
          <p:spPr>
            <a:xfrm>
              <a:off x="563648" y="1702350"/>
              <a:ext cx="1370330" cy="960023"/>
            </a:xfrm>
            <a:prstGeom prst="downArrow">
              <a:avLst>
                <a:gd name="adj1" fmla="val 100000"/>
                <a:gd name="adj2"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箭头: 下 194"/>
            <p:cNvSpPr/>
            <p:nvPr/>
          </p:nvSpPr>
          <p:spPr>
            <a:xfrm>
              <a:off x="683181" y="1702350"/>
              <a:ext cx="1131265" cy="960024"/>
            </a:xfrm>
            <a:prstGeom prst="downArrow">
              <a:avLst>
                <a:gd name="adj1" fmla="val 100000"/>
                <a:gd name="adj2" fmla="val 50000"/>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7" name="箭头: 下 196"/>
            <p:cNvSpPr/>
            <p:nvPr/>
          </p:nvSpPr>
          <p:spPr>
            <a:xfrm>
              <a:off x="910700" y="1702349"/>
              <a:ext cx="676227" cy="960024"/>
            </a:xfrm>
            <a:prstGeom prst="downArrow">
              <a:avLst>
                <a:gd name="adj1" fmla="val 100000"/>
                <a:gd name="adj2"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文本框 197"/>
            <p:cNvSpPr txBox="1"/>
            <p:nvPr/>
          </p:nvSpPr>
          <p:spPr>
            <a:xfrm>
              <a:off x="723821" y="1768424"/>
              <a:ext cx="1041869" cy="479619"/>
            </a:xfrm>
            <a:prstGeom prst="rect">
              <a:avLst/>
            </a:prstGeom>
            <a:noFill/>
          </p:spPr>
          <p:txBody>
            <a:bodyPr vert="horz"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cs typeface="+mn-ea"/>
                  <a:sym typeface="+mn-lt"/>
                </a:rPr>
                <a:t>具体化</a:t>
              </a:r>
            </a:p>
          </p:txBody>
        </p:sp>
      </p:grpSp>
      <p:sp>
        <p:nvSpPr>
          <p:cNvPr id="199" name="矩形 198"/>
          <p:cNvSpPr/>
          <p:nvPr/>
        </p:nvSpPr>
        <p:spPr>
          <a:xfrm>
            <a:off x="223935" y="1692294"/>
            <a:ext cx="1461254" cy="176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1" name="矩形 200"/>
          <p:cNvSpPr/>
          <p:nvPr/>
        </p:nvSpPr>
        <p:spPr>
          <a:xfrm>
            <a:off x="1852092" y="6133993"/>
            <a:ext cx="10119084" cy="523479"/>
          </a:xfrm>
          <a:prstGeom prst="rect">
            <a:avLst/>
          </a:prstGeom>
          <a:solidFill>
            <a:schemeClr val="accent5">
              <a:lumMod val="20000"/>
              <a:lumOff val="80000"/>
            </a:schemeClr>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2" name="矩形 201"/>
          <p:cNvSpPr/>
          <p:nvPr/>
        </p:nvSpPr>
        <p:spPr>
          <a:xfrm>
            <a:off x="223935" y="6132657"/>
            <a:ext cx="1461254" cy="523479"/>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实施</a:t>
            </a:r>
          </a:p>
        </p:txBody>
      </p:sp>
      <p:sp>
        <p:nvSpPr>
          <p:cNvPr id="204" name="文本框 203"/>
          <p:cNvSpPr txBox="1"/>
          <p:nvPr/>
        </p:nvSpPr>
        <p:spPr>
          <a:xfrm>
            <a:off x="1952531" y="6209989"/>
            <a:ext cx="9918207"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根据用户特点和自身优势，设计整体规划，分层次、有步骤地实现最终目标</a:t>
            </a:r>
          </a:p>
        </p:txBody>
      </p:sp>
      <p:sp>
        <p:nvSpPr>
          <p:cNvPr id="4" name="图形 138"/>
          <p:cNvSpPr>
            <a:spLocks noChangeAspect="1"/>
          </p:cNvSpPr>
          <p:nvPr/>
        </p:nvSpPr>
        <p:spPr>
          <a:xfrm>
            <a:off x="2079611" y="2863383"/>
            <a:ext cx="256878" cy="288000"/>
          </a:xfrm>
          <a:custGeom>
            <a:avLst/>
            <a:gdLst>
              <a:gd name="connsiteX0" fmla="*/ 22424 w 1087450"/>
              <a:gd name="connsiteY0" fmla="*/ 288684 h 1219199"/>
              <a:gd name="connsiteX1" fmla="*/ 521303 w 1087450"/>
              <a:gd name="connsiteY1" fmla="*/ 5899 h 1219199"/>
              <a:gd name="connsiteX2" fmla="*/ 566152 w 1087450"/>
              <a:gd name="connsiteY2" fmla="*/ 5899 h 1219199"/>
              <a:gd name="connsiteX3" fmla="*/ 1065028 w 1087450"/>
              <a:gd name="connsiteY3" fmla="*/ 288684 h 1219199"/>
              <a:gd name="connsiteX4" fmla="*/ 1087450 w 1087450"/>
              <a:gd name="connsiteY4" fmla="*/ 326815 h 1219199"/>
              <a:gd name="connsiteX5" fmla="*/ 1087450 w 1087450"/>
              <a:gd name="connsiteY5" fmla="*/ 892388 h 1219199"/>
              <a:gd name="connsiteX6" fmla="*/ 1065028 w 1087450"/>
              <a:gd name="connsiteY6" fmla="*/ 930516 h 1219199"/>
              <a:gd name="connsiteX7" fmla="*/ 566152 w 1087450"/>
              <a:gd name="connsiteY7" fmla="*/ 1213299 h 1219199"/>
              <a:gd name="connsiteX8" fmla="*/ 521303 w 1087450"/>
              <a:gd name="connsiteY8" fmla="*/ 1213299 h 1219199"/>
              <a:gd name="connsiteX9" fmla="*/ 22423 w 1087450"/>
              <a:gd name="connsiteY9" fmla="*/ 930516 h 1219199"/>
              <a:gd name="connsiteX10" fmla="*/ 0 w 1087450"/>
              <a:gd name="connsiteY10" fmla="*/ 892388 h 1219199"/>
              <a:gd name="connsiteX11" fmla="*/ 0 w 1087450"/>
              <a:gd name="connsiteY11" fmla="*/ 326815 h 1219199"/>
              <a:gd name="connsiteX12" fmla="*/ 22424 w 1087450"/>
              <a:gd name="connsiteY12" fmla="*/ 288684 h 1219199"/>
              <a:gd name="connsiteX13" fmla="*/ 543263 w 1087450"/>
              <a:gd name="connsiteY13" fmla="*/ 564390 h 1219199"/>
              <a:gd name="connsiteX14" fmla="*/ 199178 w 1087450"/>
              <a:gd name="connsiteY14" fmla="*/ 369348 h 1219199"/>
              <a:gd name="connsiteX15" fmla="*/ 137918 w 1087450"/>
              <a:gd name="connsiteY15" fmla="*/ 385463 h 1219199"/>
              <a:gd name="connsiteX16" fmla="*/ 154332 w 1087450"/>
              <a:gd name="connsiteY16" fmla="*/ 445610 h 1219199"/>
              <a:gd name="connsiteX17" fmla="*/ 499324 w 1087450"/>
              <a:gd name="connsiteY17" fmla="*/ 641166 h 1219199"/>
              <a:gd name="connsiteX18" fmla="*/ 499324 w 1087450"/>
              <a:gd name="connsiteY18" fmla="*/ 1027157 h 1219199"/>
              <a:gd name="connsiteX19" fmla="*/ 544173 w 1087450"/>
              <a:gd name="connsiteY19" fmla="*/ 1071186 h 1219199"/>
              <a:gd name="connsiteX20" fmla="*/ 589016 w 1087450"/>
              <a:gd name="connsiteY20" fmla="*/ 1027157 h 1219199"/>
              <a:gd name="connsiteX21" fmla="*/ 589016 w 1087450"/>
              <a:gd name="connsiteY21" fmla="*/ 640132 h 1219199"/>
              <a:gd name="connsiteX22" fmla="*/ 933407 w 1087450"/>
              <a:gd name="connsiteY22" fmla="*/ 444922 h 1219199"/>
              <a:gd name="connsiteX23" fmla="*/ 949824 w 1087450"/>
              <a:gd name="connsiteY23" fmla="*/ 384776 h 1219199"/>
              <a:gd name="connsiteX24" fmla="*/ 888559 w 1087450"/>
              <a:gd name="connsiteY24" fmla="*/ 368659 h 1219199"/>
              <a:gd name="connsiteX25" fmla="*/ 543263 w 1087450"/>
              <a:gd name="connsiteY25" fmla="*/ 564390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7450" h="1219199">
                <a:moveTo>
                  <a:pt x="22424" y="288684"/>
                </a:moveTo>
                <a:lnTo>
                  <a:pt x="521303" y="5899"/>
                </a:lnTo>
                <a:cubicBezTo>
                  <a:pt x="535176" y="-1966"/>
                  <a:pt x="552274" y="-1966"/>
                  <a:pt x="566152" y="5899"/>
                </a:cubicBezTo>
                <a:lnTo>
                  <a:pt x="1065028" y="288684"/>
                </a:lnTo>
                <a:cubicBezTo>
                  <a:pt x="1078906" y="296549"/>
                  <a:pt x="1087450" y="311085"/>
                  <a:pt x="1087450" y="326815"/>
                </a:cubicBezTo>
                <a:lnTo>
                  <a:pt x="1087450" y="892388"/>
                </a:lnTo>
                <a:cubicBezTo>
                  <a:pt x="1087450" y="908118"/>
                  <a:pt x="1078906" y="922653"/>
                  <a:pt x="1065028" y="930516"/>
                </a:cubicBezTo>
                <a:lnTo>
                  <a:pt x="566152" y="1213299"/>
                </a:lnTo>
                <a:cubicBezTo>
                  <a:pt x="552274" y="1221167"/>
                  <a:pt x="535176" y="1221167"/>
                  <a:pt x="521303" y="1213299"/>
                </a:cubicBezTo>
                <a:lnTo>
                  <a:pt x="22423" y="930516"/>
                </a:lnTo>
                <a:cubicBezTo>
                  <a:pt x="8548" y="922653"/>
                  <a:pt x="0" y="908118"/>
                  <a:pt x="0" y="892388"/>
                </a:cubicBezTo>
                <a:lnTo>
                  <a:pt x="0" y="326815"/>
                </a:lnTo>
                <a:cubicBezTo>
                  <a:pt x="0" y="311085"/>
                  <a:pt x="8549" y="296549"/>
                  <a:pt x="22424" y="288684"/>
                </a:cubicBezTo>
                <a:close/>
                <a:moveTo>
                  <a:pt x="543263" y="564390"/>
                </a:moveTo>
                <a:lnTo>
                  <a:pt x="199178" y="369348"/>
                </a:lnTo>
                <a:cubicBezTo>
                  <a:pt x="177729" y="357188"/>
                  <a:pt x="150302" y="364405"/>
                  <a:pt x="137918" y="385463"/>
                </a:cubicBezTo>
                <a:cubicBezTo>
                  <a:pt x="125533" y="406522"/>
                  <a:pt x="132884" y="433450"/>
                  <a:pt x="154332" y="445610"/>
                </a:cubicBezTo>
                <a:lnTo>
                  <a:pt x="499324" y="641166"/>
                </a:lnTo>
                <a:lnTo>
                  <a:pt x="499324" y="1027157"/>
                </a:lnTo>
                <a:cubicBezTo>
                  <a:pt x="499324" y="1051474"/>
                  <a:pt x="519408" y="1071186"/>
                  <a:pt x="544173" y="1071186"/>
                </a:cubicBezTo>
                <a:cubicBezTo>
                  <a:pt x="568938" y="1071186"/>
                  <a:pt x="589016" y="1051474"/>
                  <a:pt x="589016" y="1027157"/>
                </a:cubicBezTo>
                <a:lnTo>
                  <a:pt x="589016" y="640132"/>
                </a:lnTo>
                <a:lnTo>
                  <a:pt x="933407" y="444922"/>
                </a:lnTo>
                <a:cubicBezTo>
                  <a:pt x="954853" y="432762"/>
                  <a:pt x="962206" y="405834"/>
                  <a:pt x="949824" y="384776"/>
                </a:cubicBezTo>
                <a:cubicBezTo>
                  <a:pt x="937436" y="363717"/>
                  <a:pt x="910004" y="356502"/>
                  <a:pt x="888559" y="368659"/>
                </a:cubicBezTo>
                <a:lnTo>
                  <a:pt x="543263" y="564390"/>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5" name="图形 142"/>
          <p:cNvGrpSpPr>
            <a:grpSpLocks noChangeAspect="1"/>
          </p:cNvGrpSpPr>
          <p:nvPr/>
        </p:nvGrpSpPr>
        <p:grpSpPr>
          <a:xfrm>
            <a:off x="7164530" y="2863383"/>
            <a:ext cx="277333" cy="288000"/>
            <a:chOff x="5508977" y="2819400"/>
            <a:chExt cx="1174043" cy="1219200"/>
          </a:xfrm>
          <a:solidFill>
            <a:schemeClr val="bg1"/>
          </a:solidFill>
        </p:grpSpPr>
        <p:sp>
          <p:nvSpPr>
            <p:cNvPr id="6" name="任意多边形: 形状 5"/>
            <p:cNvSpPr/>
            <p:nvPr/>
          </p:nvSpPr>
          <p:spPr>
            <a:xfrm>
              <a:off x="5599288" y="2954865"/>
              <a:ext cx="903109" cy="903111"/>
            </a:xfrm>
            <a:custGeom>
              <a:avLst/>
              <a:gdLst>
                <a:gd name="connsiteX0" fmla="*/ 451554 w 903109"/>
                <a:gd name="connsiteY0" fmla="*/ 0 h 903111"/>
                <a:gd name="connsiteX1" fmla="*/ 903110 w 903109"/>
                <a:gd name="connsiteY1" fmla="*/ 451555 h 903111"/>
                <a:gd name="connsiteX2" fmla="*/ 812799 w 903109"/>
                <a:gd name="connsiteY2" fmla="*/ 451555 h 903111"/>
                <a:gd name="connsiteX3" fmla="*/ 451554 w 903109"/>
                <a:gd name="connsiteY3" fmla="*/ 90311 h 903111"/>
                <a:gd name="connsiteX4" fmla="*/ 451554 w 903109"/>
                <a:gd name="connsiteY4" fmla="*/ 0 h 903111"/>
                <a:gd name="connsiteX5" fmla="*/ 0 w 903109"/>
                <a:gd name="connsiteY5" fmla="*/ 451555 h 903111"/>
                <a:gd name="connsiteX6" fmla="*/ 90311 w 903109"/>
                <a:gd name="connsiteY6" fmla="*/ 451555 h 903111"/>
                <a:gd name="connsiteX7" fmla="*/ 451554 w 903109"/>
                <a:gd name="connsiteY7" fmla="*/ 812800 h 903111"/>
                <a:gd name="connsiteX8" fmla="*/ 451554 w 903109"/>
                <a:gd name="connsiteY8" fmla="*/ 903112 h 903111"/>
                <a:gd name="connsiteX9" fmla="*/ 0 w 903109"/>
                <a:gd name="connsiteY9" fmla="*/ 451555 h 90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3109" h="903111">
                  <a:moveTo>
                    <a:pt x="451554" y="0"/>
                  </a:moveTo>
                  <a:cubicBezTo>
                    <a:pt x="700942" y="0"/>
                    <a:pt x="903110" y="202169"/>
                    <a:pt x="903110" y="451555"/>
                  </a:cubicBezTo>
                  <a:lnTo>
                    <a:pt x="812799" y="451555"/>
                  </a:lnTo>
                  <a:cubicBezTo>
                    <a:pt x="812799" y="252046"/>
                    <a:pt x="651064" y="90311"/>
                    <a:pt x="451554" y="90311"/>
                  </a:cubicBezTo>
                  <a:lnTo>
                    <a:pt x="451554" y="0"/>
                  </a:lnTo>
                  <a:close/>
                  <a:moveTo>
                    <a:pt x="0" y="451555"/>
                  </a:moveTo>
                  <a:lnTo>
                    <a:pt x="90311" y="451555"/>
                  </a:lnTo>
                  <a:cubicBezTo>
                    <a:pt x="90311" y="651066"/>
                    <a:pt x="252046" y="812800"/>
                    <a:pt x="451554" y="812800"/>
                  </a:cubicBezTo>
                  <a:lnTo>
                    <a:pt x="451554" y="903112"/>
                  </a:lnTo>
                  <a:cubicBezTo>
                    <a:pt x="202168" y="903112"/>
                    <a:pt x="0" y="700943"/>
                    <a:pt x="0" y="451555"/>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 name="任意多边形: 形状 6"/>
            <p:cNvSpPr/>
            <p:nvPr/>
          </p:nvSpPr>
          <p:spPr>
            <a:xfrm>
              <a:off x="5508977" y="2819400"/>
              <a:ext cx="451555" cy="451555"/>
            </a:xfrm>
            <a:custGeom>
              <a:avLst/>
              <a:gdLst>
                <a:gd name="connsiteX0" fmla="*/ 0 w 451555"/>
                <a:gd name="connsiteY0" fmla="*/ 45156 h 451555"/>
                <a:gd name="connsiteX1" fmla="*/ 45156 w 451555"/>
                <a:gd name="connsiteY1" fmla="*/ 0 h 451555"/>
                <a:gd name="connsiteX2" fmla="*/ 406400 w 451555"/>
                <a:gd name="connsiteY2" fmla="*/ 0 h 451555"/>
                <a:gd name="connsiteX3" fmla="*/ 451555 w 451555"/>
                <a:gd name="connsiteY3" fmla="*/ 45156 h 451555"/>
                <a:gd name="connsiteX4" fmla="*/ 451555 w 451555"/>
                <a:gd name="connsiteY4" fmla="*/ 406400 h 451555"/>
                <a:gd name="connsiteX5" fmla="*/ 406400 w 451555"/>
                <a:gd name="connsiteY5" fmla="*/ 451555 h 451555"/>
                <a:gd name="connsiteX6" fmla="*/ 45156 w 451555"/>
                <a:gd name="connsiteY6" fmla="*/ 451555 h 451555"/>
                <a:gd name="connsiteX7" fmla="*/ 0 w 451555"/>
                <a:gd name="connsiteY7" fmla="*/ 406400 h 451555"/>
                <a:gd name="connsiteX8" fmla="*/ 0 w 451555"/>
                <a:gd name="connsiteY8" fmla="*/ 45156 h 45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1555" h="451555">
                  <a:moveTo>
                    <a:pt x="0" y="45156"/>
                  </a:moveTo>
                  <a:cubicBezTo>
                    <a:pt x="0" y="20217"/>
                    <a:pt x="20217" y="0"/>
                    <a:pt x="45156" y="0"/>
                  </a:cubicBezTo>
                  <a:lnTo>
                    <a:pt x="406400" y="0"/>
                  </a:lnTo>
                  <a:cubicBezTo>
                    <a:pt x="431339" y="0"/>
                    <a:pt x="451555" y="20217"/>
                    <a:pt x="451555" y="45156"/>
                  </a:cubicBezTo>
                  <a:lnTo>
                    <a:pt x="451555" y="406400"/>
                  </a:lnTo>
                  <a:cubicBezTo>
                    <a:pt x="451555" y="431339"/>
                    <a:pt x="431339" y="451555"/>
                    <a:pt x="406400" y="451555"/>
                  </a:cubicBezTo>
                  <a:lnTo>
                    <a:pt x="45156" y="451555"/>
                  </a:lnTo>
                  <a:cubicBezTo>
                    <a:pt x="20217" y="451555"/>
                    <a:pt x="0" y="431339"/>
                    <a:pt x="0" y="406400"/>
                  </a:cubicBezTo>
                  <a:lnTo>
                    <a:pt x="0" y="45156"/>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 name="任意多边形: 形状 7"/>
            <p:cNvSpPr/>
            <p:nvPr/>
          </p:nvSpPr>
          <p:spPr>
            <a:xfrm>
              <a:off x="6141153" y="3496737"/>
              <a:ext cx="541867" cy="541862"/>
            </a:xfrm>
            <a:custGeom>
              <a:avLst/>
              <a:gdLst>
                <a:gd name="connsiteX0" fmla="*/ 0 w 541867"/>
                <a:gd name="connsiteY0" fmla="*/ 43348 h 541862"/>
                <a:gd name="connsiteX1" fmla="*/ 43353 w 541867"/>
                <a:gd name="connsiteY1" fmla="*/ 0 h 541862"/>
                <a:gd name="connsiteX2" fmla="*/ 498519 w 541867"/>
                <a:gd name="connsiteY2" fmla="*/ 0 h 541862"/>
                <a:gd name="connsiteX3" fmla="*/ 541868 w 541867"/>
                <a:gd name="connsiteY3" fmla="*/ 43348 h 541862"/>
                <a:gd name="connsiteX4" fmla="*/ 541868 w 541867"/>
                <a:gd name="connsiteY4" fmla="*/ 498515 h 541862"/>
                <a:gd name="connsiteX5" fmla="*/ 498519 w 541867"/>
                <a:gd name="connsiteY5" fmla="*/ 541863 h 541862"/>
                <a:gd name="connsiteX6" fmla="*/ 43353 w 541867"/>
                <a:gd name="connsiteY6" fmla="*/ 541863 h 541862"/>
                <a:gd name="connsiteX7" fmla="*/ 0 w 541867"/>
                <a:gd name="connsiteY7" fmla="*/ 498515 h 541862"/>
                <a:gd name="connsiteX8" fmla="*/ 0 w 541867"/>
                <a:gd name="connsiteY8" fmla="*/ 43348 h 5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867" h="541862">
                  <a:moveTo>
                    <a:pt x="0" y="43348"/>
                  </a:moveTo>
                  <a:cubicBezTo>
                    <a:pt x="0" y="19402"/>
                    <a:pt x="19407" y="0"/>
                    <a:pt x="43353" y="0"/>
                  </a:cubicBezTo>
                  <a:lnTo>
                    <a:pt x="498519" y="0"/>
                  </a:lnTo>
                  <a:cubicBezTo>
                    <a:pt x="522465" y="0"/>
                    <a:pt x="541868" y="19402"/>
                    <a:pt x="541868" y="43348"/>
                  </a:cubicBezTo>
                  <a:lnTo>
                    <a:pt x="541868" y="498515"/>
                  </a:lnTo>
                  <a:cubicBezTo>
                    <a:pt x="541868" y="522460"/>
                    <a:pt x="522465" y="541863"/>
                    <a:pt x="498519" y="541863"/>
                  </a:cubicBezTo>
                  <a:lnTo>
                    <a:pt x="43353" y="541863"/>
                  </a:lnTo>
                  <a:cubicBezTo>
                    <a:pt x="19407" y="541863"/>
                    <a:pt x="0" y="522460"/>
                    <a:pt x="0" y="498515"/>
                  </a:cubicBezTo>
                  <a:lnTo>
                    <a:pt x="0" y="4334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 name="任意多边形: 形状 8"/>
            <p:cNvSpPr/>
            <p:nvPr/>
          </p:nvSpPr>
          <p:spPr>
            <a:xfrm>
              <a:off x="5543575" y="3358717"/>
              <a:ext cx="201744" cy="183172"/>
            </a:xfrm>
            <a:custGeom>
              <a:avLst/>
              <a:gdLst>
                <a:gd name="connsiteX0" fmla="*/ 139589 w 201744"/>
                <a:gd name="connsiteY0" fmla="*/ 21929 h 183172"/>
                <a:gd name="connsiteX1" fmla="*/ 195303 w 201744"/>
                <a:gd name="connsiteY1" fmla="*/ 114783 h 183172"/>
                <a:gd name="connsiteX2" fmla="*/ 179814 w 201744"/>
                <a:gd name="connsiteY2" fmla="*/ 176739 h 183172"/>
                <a:gd name="connsiteX3" fmla="*/ 156582 w 201744"/>
                <a:gd name="connsiteY3" fmla="*/ 183173 h 183172"/>
                <a:gd name="connsiteX4" fmla="*/ 45155 w 201744"/>
                <a:gd name="connsiteY4" fmla="*/ 183173 h 183172"/>
                <a:gd name="connsiteX5" fmla="*/ 0 w 201744"/>
                <a:gd name="connsiteY5" fmla="*/ 138015 h 183172"/>
                <a:gd name="connsiteX6" fmla="*/ 6435 w 201744"/>
                <a:gd name="connsiteY6" fmla="*/ 114783 h 183172"/>
                <a:gd name="connsiteX7" fmla="*/ 62148 w 201744"/>
                <a:gd name="connsiteY7" fmla="*/ 21929 h 183172"/>
                <a:gd name="connsiteX8" fmla="*/ 124101 w 201744"/>
                <a:gd name="connsiteY8" fmla="*/ 6441 h 183172"/>
                <a:gd name="connsiteX9" fmla="*/ 139589 w 201744"/>
                <a:gd name="connsiteY9" fmla="*/ 21929 h 18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4" h="183172">
                  <a:moveTo>
                    <a:pt x="139589" y="21929"/>
                  </a:moveTo>
                  <a:lnTo>
                    <a:pt x="195303" y="114783"/>
                  </a:lnTo>
                  <a:cubicBezTo>
                    <a:pt x="208134" y="136172"/>
                    <a:pt x="201199" y="163909"/>
                    <a:pt x="179814" y="176739"/>
                  </a:cubicBezTo>
                  <a:cubicBezTo>
                    <a:pt x="172796" y="180949"/>
                    <a:pt x="164766" y="183173"/>
                    <a:pt x="156582" y="183173"/>
                  </a:cubicBezTo>
                  <a:lnTo>
                    <a:pt x="45155" y="183173"/>
                  </a:lnTo>
                  <a:cubicBezTo>
                    <a:pt x="20217" y="183173"/>
                    <a:pt x="0" y="162951"/>
                    <a:pt x="0" y="138015"/>
                  </a:cubicBezTo>
                  <a:cubicBezTo>
                    <a:pt x="0" y="129833"/>
                    <a:pt x="2224" y="121799"/>
                    <a:pt x="6435" y="114783"/>
                  </a:cubicBezTo>
                  <a:lnTo>
                    <a:pt x="62148" y="21929"/>
                  </a:lnTo>
                  <a:cubicBezTo>
                    <a:pt x="74979" y="545"/>
                    <a:pt x="102716" y="-6389"/>
                    <a:pt x="124101" y="6441"/>
                  </a:cubicBezTo>
                  <a:cubicBezTo>
                    <a:pt x="130457" y="10256"/>
                    <a:pt x="135776" y="15571"/>
                    <a:pt x="139589" y="21929"/>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 name="任意多边形: 形状 9"/>
            <p:cNvSpPr/>
            <p:nvPr/>
          </p:nvSpPr>
          <p:spPr>
            <a:xfrm>
              <a:off x="6356380" y="3270950"/>
              <a:ext cx="201740" cy="183173"/>
            </a:xfrm>
            <a:custGeom>
              <a:avLst/>
              <a:gdLst>
                <a:gd name="connsiteX0" fmla="*/ 139584 w 201740"/>
                <a:gd name="connsiteY0" fmla="*/ 161245 h 183173"/>
                <a:gd name="connsiteX1" fmla="*/ 195296 w 201740"/>
                <a:gd name="connsiteY1" fmla="*/ 68386 h 183173"/>
                <a:gd name="connsiteX2" fmla="*/ 179808 w 201740"/>
                <a:gd name="connsiteY2" fmla="*/ 6435 h 183173"/>
                <a:gd name="connsiteX3" fmla="*/ 156577 w 201740"/>
                <a:gd name="connsiteY3" fmla="*/ 0 h 183173"/>
                <a:gd name="connsiteX4" fmla="*/ 45153 w 201740"/>
                <a:gd name="connsiteY4" fmla="*/ 0 h 183173"/>
                <a:gd name="connsiteX5" fmla="*/ 0 w 201740"/>
                <a:gd name="connsiteY5" fmla="*/ 45154 h 183173"/>
                <a:gd name="connsiteX6" fmla="*/ 6434 w 201740"/>
                <a:gd name="connsiteY6" fmla="*/ 68386 h 183173"/>
                <a:gd name="connsiteX7" fmla="*/ 62146 w 201740"/>
                <a:gd name="connsiteY7" fmla="*/ 161245 h 183173"/>
                <a:gd name="connsiteX8" fmla="*/ 124096 w 201740"/>
                <a:gd name="connsiteY8" fmla="*/ 176733 h 183173"/>
                <a:gd name="connsiteX9" fmla="*/ 139584 w 201740"/>
                <a:gd name="connsiteY9" fmla="*/ 161245 h 18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0" h="183173">
                  <a:moveTo>
                    <a:pt x="139584" y="161245"/>
                  </a:moveTo>
                  <a:lnTo>
                    <a:pt x="195296" y="68386"/>
                  </a:lnTo>
                  <a:cubicBezTo>
                    <a:pt x="208131" y="47002"/>
                    <a:pt x="201197" y="19264"/>
                    <a:pt x="179808" y="6435"/>
                  </a:cubicBezTo>
                  <a:cubicBezTo>
                    <a:pt x="172793" y="2224"/>
                    <a:pt x="164759" y="0"/>
                    <a:pt x="156577" y="0"/>
                  </a:cubicBezTo>
                  <a:lnTo>
                    <a:pt x="45153" y="0"/>
                  </a:lnTo>
                  <a:cubicBezTo>
                    <a:pt x="20212" y="0"/>
                    <a:pt x="0" y="20218"/>
                    <a:pt x="0" y="45154"/>
                  </a:cubicBezTo>
                  <a:cubicBezTo>
                    <a:pt x="0" y="53341"/>
                    <a:pt x="2224" y="61371"/>
                    <a:pt x="6434" y="68386"/>
                  </a:cubicBezTo>
                  <a:lnTo>
                    <a:pt x="62146" y="161245"/>
                  </a:lnTo>
                  <a:cubicBezTo>
                    <a:pt x="74976" y="182629"/>
                    <a:pt x="102713" y="189563"/>
                    <a:pt x="124096" y="176733"/>
                  </a:cubicBezTo>
                  <a:cubicBezTo>
                    <a:pt x="130454" y="172918"/>
                    <a:pt x="135769" y="167598"/>
                    <a:pt x="139584" y="161245"/>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1" name="图形 150"/>
          <p:cNvSpPr>
            <a:spLocks noChangeAspect="1"/>
          </p:cNvSpPr>
          <p:nvPr/>
        </p:nvSpPr>
        <p:spPr>
          <a:xfrm>
            <a:off x="4622808" y="2863383"/>
            <a:ext cx="215978" cy="288000"/>
          </a:xfrm>
          <a:custGeom>
            <a:avLst/>
            <a:gdLst>
              <a:gd name="connsiteX0" fmla="*/ 800292 w 910445"/>
              <a:gd name="connsiteY0" fmla="*/ 618503 h 1214054"/>
              <a:gd name="connsiteX1" fmla="*/ 603600 w 910445"/>
              <a:gd name="connsiteY1" fmla="*/ 814861 h 1214054"/>
              <a:gd name="connsiteX2" fmla="*/ 449676 w 910445"/>
              <a:gd name="connsiteY2" fmla="*/ 968833 h 1214054"/>
              <a:gd name="connsiteX3" fmla="*/ 410195 w 910445"/>
              <a:gd name="connsiteY3" fmla="*/ 1008314 h 1214054"/>
              <a:gd name="connsiteX4" fmla="*/ 205884 w 910445"/>
              <a:gd name="connsiteY4" fmla="*/ 1008314 h 1214054"/>
              <a:gd name="connsiteX5" fmla="*/ 205884 w 910445"/>
              <a:gd name="connsiteY5" fmla="*/ 1008314 h 1214054"/>
              <a:gd name="connsiteX6" fmla="*/ 205884 w 910445"/>
              <a:gd name="connsiteY6" fmla="*/ 804003 h 1214054"/>
              <a:gd name="connsiteX7" fmla="*/ 399289 w 910445"/>
              <a:gd name="connsiteY7" fmla="*/ 610550 h 1214054"/>
              <a:gd name="connsiteX8" fmla="*/ 479156 w 910445"/>
              <a:gd name="connsiteY8" fmla="*/ 570259 h 1214054"/>
              <a:gd name="connsiteX9" fmla="*/ 624651 w 910445"/>
              <a:gd name="connsiteY9" fmla="*/ 424765 h 1214054"/>
              <a:gd name="connsiteX10" fmla="*/ 501445 w 910445"/>
              <a:gd name="connsiteY10" fmla="*/ 400000 h 1214054"/>
              <a:gd name="connsiteX11" fmla="*/ 279941 w 910445"/>
              <a:gd name="connsiteY11" fmla="*/ 491440 h 1214054"/>
              <a:gd name="connsiteX12" fmla="*/ 86488 w 910445"/>
              <a:gd name="connsiteY12" fmla="*/ 684654 h 1214054"/>
              <a:gd name="connsiteX13" fmla="*/ 97155 w 910445"/>
              <a:gd name="connsiteY13" fmla="*/ 1127567 h 1214054"/>
              <a:gd name="connsiteX14" fmla="*/ 529401 w 910445"/>
              <a:gd name="connsiteY14" fmla="*/ 1127567 h 1214054"/>
              <a:gd name="connsiteX15" fmla="*/ 722853 w 910445"/>
              <a:gd name="connsiteY15" fmla="*/ 934162 h 1214054"/>
              <a:gd name="connsiteX16" fmla="*/ 814579 w 910445"/>
              <a:gd name="connsiteY16" fmla="*/ 712705 h 1214054"/>
              <a:gd name="connsiteX17" fmla="*/ 800292 w 910445"/>
              <a:gd name="connsiteY17" fmla="*/ 618503 h 1214054"/>
              <a:gd name="connsiteX18" fmla="*/ 819008 w 910445"/>
              <a:gd name="connsiteY18" fmla="*/ 91437 h 1214054"/>
              <a:gd name="connsiteX19" fmla="*/ 819008 w 910445"/>
              <a:gd name="connsiteY19" fmla="*/ 534350 h 1214054"/>
              <a:gd name="connsiteX20" fmla="*/ 625603 w 910445"/>
              <a:gd name="connsiteY20" fmla="*/ 727803 h 1214054"/>
              <a:gd name="connsiteX21" fmla="*/ 276417 w 910445"/>
              <a:gd name="connsiteY21" fmla="*/ 792573 h 1214054"/>
              <a:gd name="connsiteX22" fmla="*/ 419292 w 910445"/>
              <a:gd name="connsiteY22" fmla="*/ 649697 h 1214054"/>
              <a:gd name="connsiteX23" fmla="*/ 505969 w 910445"/>
              <a:gd name="connsiteY23" fmla="*/ 608454 h 1214054"/>
              <a:gd name="connsiteX24" fmla="*/ 699374 w 910445"/>
              <a:gd name="connsiteY24" fmla="*/ 415002 h 1214054"/>
              <a:gd name="connsiteX25" fmla="*/ 699374 w 910445"/>
              <a:gd name="connsiteY25" fmla="*/ 210690 h 1214054"/>
              <a:gd name="connsiteX26" fmla="*/ 495063 w 910445"/>
              <a:gd name="connsiteY26" fmla="*/ 210690 h 1214054"/>
              <a:gd name="connsiteX27" fmla="*/ 301658 w 910445"/>
              <a:gd name="connsiteY27" fmla="*/ 404191 h 1214054"/>
              <a:gd name="connsiteX28" fmla="*/ 285703 w 910445"/>
              <a:gd name="connsiteY28" fmla="*/ 423241 h 1214054"/>
              <a:gd name="connsiteX29" fmla="*/ 105967 w 910445"/>
              <a:gd name="connsiteY29" fmla="*/ 602977 h 1214054"/>
              <a:gd name="connsiteX30" fmla="*/ 90679 w 910445"/>
              <a:gd name="connsiteY30" fmla="*/ 506346 h 1214054"/>
              <a:gd name="connsiteX31" fmla="*/ 182167 w 910445"/>
              <a:gd name="connsiteY31" fmla="*/ 284890 h 1214054"/>
              <a:gd name="connsiteX32" fmla="*/ 375572 w 910445"/>
              <a:gd name="connsiteY32" fmla="*/ 91437 h 1214054"/>
              <a:gd name="connsiteX33" fmla="*/ 818484 w 910445"/>
              <a:gd name="connsiteY33" fmla="*/ 91437 h 121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0445" h="1214054">
                <a:moveTo>
                  <a:pt x="800292" y="618503"/>
                </a:moveTo>
                <a:lnTo>
                  <a:pt x="603600" y="814861"/>
                </a:lnTo>
                <a:lnTo>
                  <a:pt x="449676" y="968833"/>
                </a:lnTo>
                <a:lnTo>
                  <a:pt x="410195" y="1008314"/>
                </a:lnTo>
                <a:cubicBezTo>
                  <a:pt x="353630" y="1064380"/>
                  <a:pt x="262449" y="1064380"/>
                  <a:pt x="205884" y="1008314"/>
                </a:cubicBezTo>
                <a:lnTo>
                  <a:pt x="205884" y="1008314"/>
                </a:lnTo>
                <a:cubicBezTo>
                  <a:pt x="149818" y="951749"/>
                  <a:pt x="149818" y="860567"/>
                  <a:pt x="205884" y="804003"/>
                </a:cubicBezTo>
                <a:lnTo>
                  <a:pt x="399289" y="610550"/>
                </a:lnTo>
                <a:cubicBezTo>
                  <a:pt x="420912" y="588917"/>
                  <a:pt x="448907" y="574794"/>
                  <a:pt x="479156" y="570259"/>
                </a:cubicBezTo>
                <a:lnTo>
                  <a:pt x="624651" y="424765"/>
                </a:lnTo>
                <a:cubicBezTo>
                  <a:pt x="585658" y="408332"/>
                  <a:pt x="543758" y="399910"/>
                  <a:pt x="501445" y="400000"/>
                </a:cubicBezTo>
                <a:cubicBezTo>
                  <a:pt x="418389" y="399815"/>
                  <a:pt x="338680" y="432720"/>
                  <a:pt x="279941" y="491440"/>
                </a:cubicBezTo>
                <a:lnTo>
                  <a:pt x="86488" y="684654"/>
                </a:lnTo>
                <a:cubicBezTo>
                  <a:pt x="-32873" y="809907"/>
                  <a:pt x="-28097" y="1008206"/>
                  <a:pt x="97155" y="1127567"/>
                </a:cubicBezTo>
                <a:cubicBezTo>
                  <a:pt x="218163" y="1242883"/>
                  <a:pt x="408392" y="1242883"/>
                  <a:pt x="529401" y="1127567"/>
                </a:cubicBezTo>
                <a:lnTo>
                  <a:pt x="722853" y="934162"/>
                </a:lnTo>
                <a:cubicBezTo>
                  <a:pt x="781671" y="875484"/>
                  <a:pt x="814680" y="795787"/>
                  <a:pt x="814579" y="712705"/>
                </a:cubicBezTo>
                <a:cubicBezTo>
                  <a:pt x="814606" y="680763"/>
                  <a:pt x="809789" y="649001"/>
                  <a:pt x="800292" y="618503"/>
                </a:cubicBezTo>
                <a:close/>
                <a:moveTo>
                  <a:pt x="819008" y="91437"/>
                </a:moveTo>
                <a:cubicBezTo>
                  <a:pt x="940924" y="213906"/>
                  <a:pt x="940924" y="411881"/>
                  <a:pt x="819008" y="534350"/>
                </a:cubicBezTo>
                <a:lnTo>
                  <a:pt x="625603" y="727803"/>
                </a:lnTo>
                <a:cubicBezTo>
                  <a:pt x="533724" y="819379"/>
                  <a:pt x="395026" y="845106"/>
                  <a:pt x="276417" y="792573"/>
                </a:cubicBezTo>
                <a:lnTo>
                  <a:pt x="419292" y="649697"/>
                </a:lnTo>
                <a:cubicBezTo>
                  <a:pt x="452058" y="646293"/>
                  <a:pt x="482659" y="631732"/>
                  <a:pt x="505969" y="608454"/>
                </a:cubicBezTo>
                <a:lnTo>
                  <a:pt x="699374" y="415002"/>
                </a:lnTo>
                <a:cubicBezTo>
                  <a:pt x="755793" y="358583"/>
                  <a:pt x="755793" y="267109"/>
                  <a:pt x="699374" y="210690"/>
                </a:cubicBezTo>
                <a:cubicBezTo>
                  <a:pt x="642955" y="154271"/>
                  <a:pt x="551482" y="154271"/>
                  <a:pt x="495063" y="210690"/>
                </a:cubicBezTo>
                <a:lnTo>
                  <a:pt x="301658" y="404191"/>
                </a:lnTo>
                <a:cubicBezTo>
                  <a:pt x="295797" y="410065"/>
                  <a:pt x="290458" y="416439"/>
                  <a:pt x="285703" y="423241"/>
                </a:cubicBezTo>
                <a:lnTo>
                  <a:pt x="105967" y="602977"/>
                </a:lnTo>
                <a:cubicBezTo>
                  <a:pt x="95901" y="571752"/>
                  <a:pt x="90744" y="539154"/>
                  <a:pt x="90679" y="506346"/>
                </a:cubicBezTo>
                <a:cubicBezTo>
                  <a:pt x="90499" y="423296"/>
                  <a:pt x="123423" y="343598"/>
                  <a:pt x="182167" y="284890"/>
                </a:cubicBezTo>
                <a:lnTo>
                  <a:pt x="375572" y="91437"/>
                </a:lnTo>
                <a:cubicBezTo>
                  <a:pt x="498040" y="-30479"/>
                  <a:pt x="696016" y="-30479"/>
                  <a:pt x="818484" y="91437"/>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 name="图形 158"/>
          <p:cNvSpPr>
            <a:spLocks noChangeAspect="1"/>
          </p:cNvSpPr>
          <p:nvPr/>
        </p:nvSpPr>
        <p:spPr>
          <a:xfrm>
            <a:off x="9699586" y="2863383"/>
            <a:ext cx="349092" cy="288000"/>
          </a:xfrm>
          <a:custGeom>
            <a:avLst/>
            <a:gdLst>
              <a:gd name="connsiteX0" fmla="*/ 1095375 w 1219200"/>
              <a:gd name="connsiteY0" fmla="*/ 240983 h 1005840"/>
              <a:gd name="connsiteX1" fmla="*/ 1084898 w 1219200"/>
              <a:gd name="connsiteY1" fmla="*/ 240983 h 1005840"/>
              <a:gd name="connsiteX2" fmla="*/ 1070610 w 1219200"/>
              <a:gd name="connsiteY2" fmla="*/ 251460 h 1005840"/>
              <a:gd name="connsiteX3" fmla="*/ 1059942 w 1219200"/>
              <a:gd name="connsiteY3" fmla="*/ 265748 h 1005840"/>
              <a:gd name="connsiteX4" fmla="*/ 1059942 w 1219200"/>
              <a:gd name="connsiteY4" fmla="*/ 297561 h 1005840"/>
              <a:gd name="connsiteX5" fmla="*/ 1084898 w 1219200"/>
              <a:gd name="connsiteY5" fmla="*/ 322326 h 1005840"/>
              <a:gd name="connsiteX6" fmla="*/ 1116711 w 1219200"/>
              <a:gd name="connsiteY6" fmla="*/ 322326 h 1005840"/>
              <a:gd name="connsiteX7" fmla="*/ 1127379 w 1219200"/>
              <a:gd name="connsiteY7" fmla="*/ 308039 h 1005840"/>
              <a:gd name="connsiteX8" fmla="*/ 1141667 w 1219200"/>
              <a:gd name="connsiteY8" fmla="*/ 297371 h 1005840"/>
              <a:gd name="connsiteX9" fmla="*/ 1141667 w 1219200"/>
              <a:gd name="connsiteY9" fmla="*/ 265748 h 1005840"/>
              <a:gd name="connsiteX10" fmla="*/ 1116902 w 1219200"/>
              <a:gd name="connsiteY10" fmla="*/ 240983 h 1005840"/>
              <a:gd name="connsiteX11" fmla="*/ 514350 w 1219200"/>
              <a:gd name="connsiteY11" fmla="*/ 74295 h 1005840"/>
              <a:gd name="connsiteX12" fmla="*/ 581787 w 1219200"/>
              <a:gd name="connsiteY12" fmla="*/ 81344 h 1005840"/>
              <a:gd name="connsiteX13" fmla="*/ 812102 w 1219200"/>
              <a:gd name="connsiteY13" fmla="*/ 155639 h 1005840"/>
              <a:gd name="connsiteX14" fmla="*/ 826389 w 1219200"/>
              <a:gd name="connsiteY14" fmla="*/ 159258 h 1005840"/>
              <a:gd name="connsiteX15" fmla="*/ 1060323 w 1219200"/>
              <a:gd name="connsiteY15" fmla="*/ 396621 h 1005840"/>
              <a:gd name="connsiteX16" fmla="*/ 1067372 w 1219200"/>
              <a:gd name="connsiteY16" fmla="*/ 407099 h 1005840"/>
              <a:gd name="connsiteX17" fmla="*/ 1067372 w 1219200"/>
              <a:gd name="connsiteY17" fmla="*/ 421386 h 1005840"/>
              <a:gd name="connsiteX18" fmla="*/ 1060323 w 1219200"/>
              <a:gd name="connsiteY18" fmla="*/ 432054 h 1005840"/>
              <a:gd name="connsiteX19" fmla="*/ 896684 w 1219200"/>
              <a:gd name="connsiteY19" fmla="*/ 591503 h 1005840"/>
              <a:gd name="connsiteX20" fmla="*/ 935736 w 1219200"/>
              <a:gd name="connsiteY20" fmla="*/ 630555 h 1005840"/>
              <a:gd name="connsiteX21" fmla="*/ 953453 w 1219200"/>
              <a:gd name="connsiteY21" fmla="*/ 665988 h 1005840"/>
              <a:gd name="connsiteX22" fmla="*/ 953453 w 1219200"/>
              <a:gd name="connsiteY22" fmla="*/ 704850 h 1005840"/>
              <a:gd name="connsiteX23" fmla="*/ 928688 w 1219200"/>
              <a:gd name="connsiteY23" fmla="*/ 740283 h 1005840"/>
              <a:gd name="connsiteX24" fmla="*/ 918020 w 1219200"/>
              <a:gd name="connsiteY24" fmla="*/ 754571 h 1005840"/>
              <a:gd name="connsiteX25" fmla="*/ 896684 w 1219200"/>
              <a:gd name="connsiteY25" fmla="*/ 764858 h 1005840"/>
              <a:gd name="connsiteX26" fmla="*/ 871919 w 1219200"/>
              <a:gd name="connsiteY26" fmla="*/ 764858 h 1005840"/>
              <a:gd name="connsiteX27" fmla="*/ 871919 w 1219200"/>
              <a:gd name="connsiteY27" fmla="*/ 786194 h 1005840"/>
              <a:gd name="connsiteX28" fmla="*/ 850773 w 1219200"/>
              <a:gd name="connsiteY28" fmla="*/ 822008 h 1005840"/>
              <a:gd name="connsiteX29" fmla="*/ 836486 w 1219200"/>
              <a:gd name="connsiteY29" fmla="*/ 836295 h 1005840"/>
              <a:gd name="connsiteX30" fmla="*/ 818769 w 1219200"/>
              <a:gd name="connsiteY30" fmla="*/ 846963 h 1005840"/>
              <a:gd name="connsiteX31" fmla="*/ 794004 w 1219200"/>
              <a:gd name="connsiteY31" fmla="*/ 846963 h 1005840"/>
              <a:gd name="connsiteX32" fmla="*/ 794004 w 1219200"/>
              <a:gd name="connsiteY32" fmla="*/ 864680 h 1005840"/>
              <a:gd name="connsiteX33" fmla="*/ 779717 w 1219200"/>
              <a:gd name="connsiteY33" fmla="*/ 882396 h 1005840"/>
              <a:gd name="connsiteX34" fmla="*/ 769239 w 1219200"/>
              <a:gd name="connsiteY34" fmla="*/ 902970 h 1005840"/>
              <a:gd name="connsiteX35" fmla="*/ 754952 w 1219200"/>
              <a:gd name="connsiteY35" fmla="*/ 913638 h 1005840"/>
              <a:gd name="connsiteX36" fmla="*/ 737235 w 1219200"/>
              <a:gd name="connsiteY36" fmla="*/ 927926 h 1005840"/>
              <a:gd name="connsiteX37" fmla="*/ 712470 w 1219200"/>
              <a:gd name="connsiteY37" fmla="*/ 927926 h 1005840"/>
              <a:gd name="connsiteX38" fmla="*/ 712470 w 1219200"/>
              <a:gd name="connsiteY38" fmla="*/ 945833 h 1005840"/>
              <a:gd name="connsiteX39" fmla="*/ 701802 w 1219200"/>
              <a:gd name="connsiteY39" fmla="*/ 963549 h 1005840"/>
              <a:gd name="connsiteX40" fmla="*/ 687515 w 1219200"/>
              <a:gd name="connsiteY40" fmla="*/ 981266 h 1005840"/>
              <a:gd name="connsiteX41" fmla="*/ 652463 w 1219200"/>
              <a:gd name="connsiteY41" fmla="*/ 1005840 h 1005840"/>
              <a:gd name="connsiteX42" fmla="*/ 613410 w 1219200"/>
              <a:gd name="connsiteY42" fmla="*/ 1005840 h 1005840"/>
              <a:gd name="connsiteX43" fmla="*/ 577977 w 1219200"/>
              <a:gd name="connsiteY43" fmla="*/ 988314 h 1005840"/>
              <a:gd name="connsiteX44" fmla="*/ 485775 w 1219200"/>
              <a:gd name="connsiteY44" fmla="*/ 896112 h 1005840"/>
              <a:gd name="connsiteX45" fmla="*/ 436055 w 1219200"/>
              <a:gd name="connsiteY45" fmla="*/ 945833 h 1005840"/>
              <a:gd name="connsiteX46" fmla="*/ 421767 w 1219200"/>
              <a:gd name="connsiteY46" fmla="*/ 953072 h 1005840"/>
              <a:gd name="connsiteX47" fmla="*/ 411290 w 1219200"/>
              <a:gd name="connsiteY47" fmla="*/ 956501 h 1005840"/>
              <a:gd name="connsiteX48" fmla="*/ 389954 w 1219200"/>
              <a:gd name="connsiteY48" fmla="*/ 956501 h 1005840"/>
              <a:gd name="connsiteX49" fmla="*/ 372237 w 1219200"/>
              <a:gd name="connsiteY49" fmla="*/ 953072 h 1005840"/>
              <a:gd name="connsiteX50" fmla="*/ 361569 w 1219200"/>
              <a:gd name="connsiteY50" fmla="*/ 938784 h 1005840"/>
              <a:gd name="connsiteX51" fmla="*/ 347282 w 1219200"/>
              <a:gd name="connsiteY51" fmla="*/ 921068 h 1005840"/>
              <a:gd name="connsiteX52" fmla="*/ 340233 w 1219200"/>
              <a:gd name="connsiteY52" fmla="*/ 906780 h 1005840"/>
              <a:gd name="connsiteX53" fmla="*/ 340233 w 1219200"/>
              <a:gd name="connsiteY53" fmla="*/ 889064 h 1005840"/>
              <a:gd name="connsiteX54" fmla="*/ 347663 w 1219200"/>
              <a:gd name="connsiteY54" fmla="*/ 878396 h 1005840"/>
              <a:gd name="connsiteX55" fmla="*/ 354711 w 1219200"/>
              <a:gd name="connsiteY55" fmla="*/ 860679 h 1005840"/>
              <a:gd name="connsiteX56" fmla="*/ 340424 w 1219200"/>
              <a:gd name="connsiteY56" fmla="*/ 871347 h 1005840"/>
              <a:gd name="connsiteX57" fmla="*/ 329756 w 1219200"/>
              <a:gd name="connsiteY57" fmla="*/ 878396 h 1005840"/>
              <a:gd name="connsiteX58" fmla="*/ 312039 w 1219200"/>
              <a:gd name="connsiteY58" fmla="*/ 871347 h 1005840"/>
              <a:gd name="connsiteX59" fmla="*/ 290513 w 1219200"/>
              <a:gd name="connsiteY59" fmla="*/ 871347 h 1005840"/>
              <a:gd name="connsiteX60" fmla="*/ 279845 w 1219200"/>
              <a:gd name="connsiteY60" fmla="*/ 860679 h 1005840"/>
              <a:gd name="connsiteX61" fmla="*/ 265557 w 1219200"/>
              <a:gd name="connsiteY61" fmla="*/ 839533 h 1005840"/>
              <a:gd name="connsiteX62" fmla="*/ 261938 w 1219200"/>
              <a:gd name="connsiteY62" fmla="*/ 828866 h 1005840"/>
              <a:gd name="connsiteX63" fmla="*/ 261938 w 1219200"/>
              <a:gd name="connsiteY63" fmla="*/ 811149 h 1005840"/>
              <a:gd name="connsiteX64" fmla="*/ 265557 w 1219200"/>
              <a:gd name="connsiteY64" fmla="*/ 796862 h 1005840"/>
              <a:gd name="connsiteX65" fmla="*/ 272987 w 1219200"/>
              <a:gd name="connsiteY65" fmla="*/ 779145 h 1005840"/>
              <a:gd name="connsiteX66" fmla="*/ 262319 w 1219200"/>
              <a:gd name="connsiteY66" fmla="*/ 789623 h 1005840"/>
              <a:gd name="connsiteX67" fmla="*/ 248031 w 1219200"/>
              <a:gd name="connsiteY67" fmla="*/ 796862 h 1005840"/>
              <a:gd name="connsiteX68" fmla="*/ 230315 w 1219200"/>
              <a:gd name="connsiteY68" fmla="*/ 789623 h 1005840"/>
              <a:gd name="connsiteX69" fmla="*/ 212598 w 1219200"/>
              <a:gd name="connsiteY69" fmla="*/ 786194 h 1005840"/>
              <a:gd name="connsiteX70" fmla="*/ 198311 w 1219200"/>
              <a:gd name="connsiteY70" fmla="*/ 779145 h 1005840"/>
              <a:gd name="connsiteX71" fmla="*/ 187833 w 1219200"/>
              <a:gd name="connsiteY71" fmla="*/ 761429 h 1005840"/>
              <a:gd name="connsiteX72" fmla="*/ 180594 w 1219200"/>
              <a:gd name="connsiteY72" fmla="*/ 747141 h 1005840"/>
              <a:gd name="connsiteX73" fmla="*/ 180594 w 1219200"/>
              <a:gd name="connsiteY73" fmla="*/ 729615 h 1005840"/>
              <a:gd name="connsiteX74" fmla="*/ 187833 w 1219200"/>
              <a:gd name="connsiteY74" fmla="*/ 715328 h 1005840"/>
              <a:gd name="connsiteX75" fmla="*/ 191262 w 1219200"/>
              <a:gd name="connsiteY75" fmla="*/ 697611 h 1005840"/>
              <a:gd name="connsiteX76" fmla="*/ 180594 w 1219200"/>
              <a:gd name="connsiteY76" fmla="*/ 711899 h 1005840"/>
              <a:gd name="connsiteX77" fmla="*/ 170117 w 1219200"/>
              <a:gd name="connsiteY77" fmla="*/ 715518 h 1005840"/>
              <a:gd name="connsiteX78" fmla="*/ 148781 w 1219200"/>
              <a:gd name="connsiteY78" fmla="*/ 711899 h 1005840"/>
              <a:gd name="connsiteX79" fmla="*/ 131064 w 1219200"/>
              <a:gd name="connsiteY79" fmla="*/ 704850 h 1005840"/>
              <a:gd name="connsiteX80" fmla="*/ 120396 w 1219200"/>
              <a:gd name="connsiteY80" fmla="*/ 697802 h 1005840"/>
              <a:gd name="connsiteX81" fmla="*/ 106109 w 1219200"/>
              <a:gd name="connsiteY81" fmla="*/ 680085 h 1005840"/>
              <a:gd name="connsiteX82" fmla="*/ 98870 w 1219200"/>
              <a:gd name="connsiteY82" fmla="*/ 665798 h 1005840"/>
              <a:gd name="connsiteX83" fmla="*/ 98870 w 1219200"/>
              <a:gd name="connsiteY83" fmla="*/ 648081 h 1005840"/>
              <a:gd name="connsiteX84" fmla="*/ 106109 w 1219200"/>
              <a:gd name="connsiteY84" fmla="*/ 637413 h 1005840"/>
              <a:gd name="connsiteX85" fmla="*/ 113157 w 1219200"/>
              <a:gd name="connsiteY85" fmla="*/ 616077 h 1005840"/>
              <a:gd name="connsiteX86" fmla="*/ 162687 w 1219200"/>
              <a:gd name="connsiteY86" fmla="*/ 573596 h 1005840"/>
              <a:gd name="connsiteX87" fmla="*/ 7239 w 1219200"/>
              <a:gd name="connsiteY87" fmla="*/ 425196 h 1005840"/>
              <a:gd name="connsiteX88" fmla="*/ 0 w 1219200"/>
              <a:gd name="connsiteY88" fmla="*/ 414528 h 1005840"/>
              <a:gd name="connsiteX89" fmla="*/ 0 w 1219200"/>
              <a:gd name="connsiteY89" fmla="*/ 400241 h 1005840"/>
              <a:gd name="connsiteX90" fmla="*/ 7239 w 1219200"/>
              <a:gd name="connsiteY90" fmla="*/ 389573 h 1005840"/>
              <a:gd name="connsiteX91" fmla="*/ 21527 w 1219200"/>
              <a:gd name="connsiteY91" fmla="*/ 382524 h 1005840"/>
              <a:gd name="connsiteX92" fmla="*/ 32004 w 1219200"/>
              <a:gd name="connsiteY92" fmla="*/ 382524 h 1005840"/>
              <a:gd name="connsiteX93" fmla="*/ 46292 w 1219200"/>
              <a:gd name="connsiteY93" fmla="*/ 389573 h 1005840"/>
              <a:gd name="connsiteX94" fmla="*/ 191453 w 1219200"/>
              <a:gd name="connsiteY94" fmla="*/ 538353 h 1005840"/>
              <a:gd name="connsiteX95" fmla="*/ 212789 w 1219200"/>
              <a:gd name="connsiteY95" fmla="*/ 531495 h 1005840"/>
              <a:gd name="connsiteX96" fmla="*/ 230505 w 1219200"/>
              <a:gd name="connsiteY96" fmla="*/ 531495 h 1005840"/>
              <a:gd name="connsiteX97" fmla="*/ 248222 w 1219200"/>
              <a:gd name="connsiteY97" fmla="*/ 538544 h 1005840"/>
              <a:gd name="connsiteX98" fmla="*/ 265938 w 1219200"/>
              <a:gd name="connsiteY98" fmla="*/ 549212 h 1005840"/>
              <a:gd name="connsiteX99" fmla="*/ 280226 w 1219200"/>
              <a:gd name="connsiteY99" fmla="*/ 563499 h 1005840"/>
              <a:gd name="connsiteX100" fmla="*/ 287274 w 1219200"/>
              <a:gd name="connsiteY100" fmla="*/ 581025 h 1005840"/>
              <a:gd name="connsiteX101" fmla="*/ 287274 w 1219200"/>
              <a:gd name="connsiteY101" fmla="*/ 591693 h 1005840"/>
              <a:gd name="connsiteX102" fmla="*/ 280226 w 1219200"/>
              <a:gd name="connsiteY102" fmla="*/ 613029 h 1005840"/>
              <a:gd name="connsiteX103" fmla="*/ 273177 w 1219200"/>
              <a:gd name="connsiteY103" fmla="*/ 623697 h 1005840"/>
              <a:gd name="connsiteX104" fmla="*/ 287465 w 1219200"/>
              <a:gd name="connsiteY104" fmla="*/ 613029 h 1005840"/>
              <a:gd name="connsiteX105" fmla="*/ 316040 w 1219200"/>
              <a:gd name="connsiteY105" fmla="*/ 613029 h 1005840"/>
              <a:gd name="connsiteX106" fmla="*/ 337375 w 1219200"/>
              <a:gd name="connsiteY106" fmla="*/ 616458 h 1005840"/>
              <a:gd name="connsiteX107" fmla="*/ 348044 w 1219200"/>
              <a:gd name="connsiteY107" fmla="*/ 630746 h 1005840"/>
              <a:gd name="connsiteX108" fmla="*/ 362331 w 1219200"/>
              <a:gd name="connsiteY108" fmla="*/ 641223 h 1005840"/>
              <a:gd name="connsiteX109" fmla="*/ 365950 w 1219200"/>
              <a:gd name="connsiteY109" fmla="*/ 662559 h 1005840"/>
              <a:gd name="connsiteX110" fmla="*/ 365950 w 1219200"/>
              <a:gd name="connsiteY110" fmla="*/ 673227 h 1005840"/>
              <a:gd name="connsiteX111" fmla="*/ 362331 w 1219200"/>
              <a:gd name="connsiteY111" fmla="*/ 690944 h 1005840"/>
              <a:gd name="connsiteX112" fmla="*/ 355283 w 1219200"/>
              <a:gd name="connsiteY112" fmla="*/ 705231 h 1005840"/>
              <a:gd name="connsiteX113" fmla="*/ 365950 w 1219200"/>
              <a:gd name="connsiteY113" fmla="*/ 690944 h 1005840"/>
              <a:gd name="connsiteX114" fmla="*/ 397764 w 1219200"/>
              <a:gd name="connsiteY114" fmla="*/ 690944 h 1005840"/>
              <a:gd name="connsiteX115" fmla="*/ 415481 w 1219200"/>
              <a:gd name="connsiteY115" fmla="*/ 697992 h 1005840"/>
              <a:gd name="connsiteX116" fmla="*/ 440246 w 1219200"/>
              <a:gd name="connsiteY116" fmla="*/ 722757 h 1005840"/>
              <a:gd name="connsiteX117" fmla="*/ 447485 w 1219200"/>
              <a:gd name="connsiteY117" fmla="*/ 740474 h 1005840"/>
              <a:gd name="connsiteX118" fmla="*/ 447485 w 1219200"/>
              <a:gd name="connsiteY118" fmla="*/ 754761 h 1005840"/>
              <a:gd name="connsiteX119" fmla="*/ 440246 w 1219200"/>
              <a:gd name="connsiteY119" fmla="*/ 772478 h 1005840"/>
              <a:gd name="connsiteX120" fmla="*/ 436817 w 1219200"/>
              <a:gd name="connsiteY120" fmla="*/ 786765 h 1005840"/>
              <a:gd name="connsiteX121" fmla="*/ 446723 w 1219200"/>
              <a:gd name="connsiteY121" fmla="*/ 779145 h 1005840"/>
              <a:gd name="connsiteX122" fmla="*/ 464439 w 1219200"/>
              <a:gd name="connsiteY122" fmla="*/ 771906 h 1005840"/>
              <a:gd name="connsiteX123" fmla="*/ 478726 w 1219200"/>
              <a:gd name="connsiteY123" fmla="*/ 771906 h 1005840"/>
              <a:gd name="connsiteX124" fmla="*/ 496253 w 1219200"/>
              <a:gd name="connsiteY124" fmla="*/ 779145 h 1005840"/>
              <a:gd name="connsiteX125" fmla="*/ 510540 w 1219200"/>
              <a:gd name="connsiteY125" fmla="*/ 789623 h 1005840"/>
              <a:gd name="connsiteX126" fmla="*/ 521018 w 1219200"/>
              <a:gd name="connsiteY126" fmla="*/ 803910 h 1005840"/>
              <a:gd name="connsiteX127" fmla="*/ 528257 w 1219200"/>
              <a:gd name="connsiteY127" fmla="*/ 821627 h 1005840"/>
              <a:gd name="connsiteX128" fmla="*/ 528257 w 1219200"/>
              <a:gd name="connsiteY128" fmla="*/ 839343 h 1005840"/>
              <a:gd name="connsiteX129" fmla="*/ 521018 w 1219200"/>
              <a:gd name="connsiteY129" fmla="*/ 860489 h 1005840"/>
              <a:gd name="connsiteX130" fmla="*/ 613220 w 1219200"/>
              <a:gd name="connsiteY130" fmla="*/ 952691 h 1005840"/>
              <a:gd name="connsiteX131" fmla="*/ 620268 w 1219200"/>
              <a:gd name="connsiteY131" fmla="*/ 956120 h 1005840"/>
              <a:gd name="connsiteX132" fmla="*/ 645224 w 1219200"/>
              <a:gd name="connsiteY132" fmla="*/ 956120 h 1005840"/>
              <a:gd name="connsiteX133" fmla="*/ 652463 w 1219200"/>
              <a:gd name="connsiteY133" fmla="*/ 945833 h 1005840"/>
              <a:gd name="connsiteX134" fmla="*/ 663131 w 1219200"/>
              <a:gd name="connsiteY134" fmla="*/ 938784 h 1005840"/>
              <a:gd name="connsiteX135" fmla="*/ 663131 w 1219200"/>
              <a:gd name="connsiteY135" fmla="*/ 914019 h 1005840"/>
              <a:gd name="connsiteX136" fmla="*/ 655892 w 1219200"/>
              <a:gd name="connsiteY136" fmla="*/ 906971 h 1005840"/>
              <a:gd name="connsiteX137" fmla="*/ 581597 w 1219200"/>
              <a:gd name="connsiteY137" fmla="*/ 829056 h 1005840"/>
              <a:gd name="connsiteX138" fmla="*/ 577977 w 1219200"/>
              <a:gd name="connsiteY138" fmla="*/ 822008 h 1005840"/>
              <a:gd name="connsiteX139" fmla="*/ 577977 w 1219200"/>
              <a:gd name="connsiteY139" fmla="*/ 804291 h 1005840"/>
              <a:gd name="connsiteX140" fmla="*/ 581597 w 1219200"/>
              <a:gd name="connsiteY140" fmla="*/ 797243 h 1005840"/>
              <a:gd name="connsiteX141" fmla="*/ 595884 w 1219200"/>
              <a:gd name="connsiteY141" fmla="*/ 790004 h 1005840"/>
              <a:gd name="connsiteX142" fmla="*/ 606552 w 1219200"/>
              <a:gd name="connsiteY142" fmla="*/ 790004 h 1005840"/>
              <a:gd name="connsiteX143" fmla="*/ 620840 w 1219200"/>
              <a:gd name="connsiteY143" fmla="*/ 797243 h 1005840"/>
              <a:gd name="connsiteX144" fmla="*/ 702374 w 1219200"/>
              <a:gd name="connsiteY144" fmla="*/ 878586 h 1005840"/>
              <a:gd name="connsiteX145" fmla="*/ 713042 w 1219200"/>
              <a:gd name="connsiteY145" fmla="*/ 878586 h 1005840"/>
              <a:gd name="connsiteX146" fmla="*/ 727329 w 1219200"/>
              <a:gd name="connsiteY146" fmla="*/ 871538 h 1005840"/>
              <a:gd name="connsiteX147" fmla="*/ 730949 w 1219200"/>
              <a:gd name="connsiteY147" fmla="*/ 864489 h 1005840"/>
              <a:gd name="connsiteX148" fmla="*/ 745236 w 1219200"/>
              <a:gd name="connsiteY148" fmla="*/ 860870 h 1005840"/>
              <a:gd name="connsiteX149" fmla="*/ 745236 w 1219200"/>
              <a:gd name="connsiteY149" fmla="*/ 836105 h 1005840"/>
              <a:gd name="connsiteX150" fmla="*/ 738188 w 1219200"/>
              <a:gd name="connsiteY150" fmla="*/ 829056 h 1005840"/>
              <a:gd name="connsiteX151" fmla="*/ 663893 w 1219200"/>
              <a:gd name="connsiteY151" fmla="*/ 747522 h 1005840"/>
              <a:gd name="connsiteX152" fmla="*/ 656654 w 1219200"/>
              <a:gd name="connsiteY152" fmla="*/ 740474 h 1005840"/>
              <a:gd name="connsiteX153" fmla="*/ 656654 w 1219200"/>
              <a:gd name="connsiteY153" fmla="*/ 722757 h 1005840"/>
              <a:gd name="connsiteX154" fmla="*/ 663893 w 1219200"/>
              <a:gd name="connsiteY154" fmla="*/ 715708 h 1005840"/>
              <a:gd name="connsiteX155" fmla="*/ 678180 w 1219200"/>
              <a:gd name="connsiteY155" fmla="*/ 712089 h 1005840"/>
              <a:gd name="connsiteX156" fmla="*/ 688848 w 1219200"/>
              <a:gd name="connsiteY156" fmla="*/ 712089 h 1005840"/>
              <a:gd name="connsiteX157" fmla="*/ 703136 w 1219200"/>
              <a:gd name="connsiteY157" fmla="*/ 715708 h 1005840"/>
              <a:gd name="connsiteX158" fmla="*/ 776288 w 1219200"/>
              <a:gd name="connsiteY158" fmla="*/ 789813 h 1005840"/>
              <a:gd name="connsiteX159" fmla="*/ 779907 w 1219200"/>
              <a:gd name="connsiteY159" fmla="*/ 797052 h 1005840"/>
              <a:gd name="connsiteX160" fmla="*/ 794195 w 1219200"/>
              <a:gd name="connsiteY160" fmla="*/ 797052 h 1005840"/>
              <a:gd name="connsiteX161" fmla="*/ 804863 w 1219200"/>
              <a:gd name="connsiteY161" fmla="*/ 789813 h 1005840"/>
              <a:gd name="connsiteX162" fmla="*/ 819150 w 1219200"/>
              <a:gd name="connsiteY162" fmla="*/ 786384 h 1005840"/>
              <a:gd name="connsiteX163" fmla="*/ 825818 w 1219200"/>
              <a:gd name="connsiteY163" fmla="*/ 779145 h 1005840"/>
              <a:gd name="connsiteX164" fmla="*/ 825818 w 1219200"/>
              <a:gd name="connsiteY164" fmla="*/ 754380 h 1005840"/>
              <a:gd name="connsiteX165" fmla="*/ 818769 w 1219200"/>
              <a:gd name="connsiteY165" fmla="*/ 747332 h 1005840"/>
              <a:gd name="connsiteX166" fmla="*/ 744284 w 1219200"/>
              <a:gd name="connsiteY166" fmla="*/ 665988 h 1005840"/>
              <a:gd name="connsiteX167" fmla="*/ 737235 w 1219200"/>
              <a:gd name="connsiteY167" fmla="*/ 655320 h 1005840"/>
              <a:gd name="connsiteX168" fmla="*/ 737235 w 1219200"/>
              <a:gd name="connsiteY168" fmla="*/ 641033 h 1005840"/>
              <a:gd name="connsiteX169" fmla="*/ 744284 w 1219200"/>
              <a:gd name="connsiteY169" fmla="*/ 637604 h 1005840"/>
              <a:gd name="connsiteX170" fmla="*/ 754952 w 1219200"/>
              <a:gd name="connsiteY170" fmla="*/ 623316 h 1005840"/>
              <a:gd name="connsiteX171" fmla="*/ 769239 w 1219200"/>
              <a:gd name="connsiteY171" fmla="*/ 623316 h 1005840"/>
              <a:gd name="connsiteX172" fmla="*/ 779907 w 1219200"/>
              <a:gd name="connsiteY172" fmla="*/ 637604 h 1005840"/>
              <a:gd name="connsiteX173" fmla="*/ 854202 w 1219200"/>
              <a:gd name="connsiteY173" fmla="*/ 711899 h 1005840"/>
              <a:gd name="connsiteX174" fmla="*/ 861251 w 1219200"/>
              <a:gd name="connsiteY174" fmla="*/ 715518 h 1005840"/>
              <a:gd name="connsiteX175" fmla="*/ 871919 w 1219200"/>
              <a:gd name="connsiteY175" fmla="*/ 715518 h 1005840"/>
              <a:gd name="connsiteX176" fmla="*/ 886206 w 1219200"/>
              <a:gd name="connsiteY176" fmla="*/ 711899 h 1005840"/>
              <a:gd name="connsiteX177" fmla="*/ 896684 w 1219200"/>
              <a:gd name="connsiteY177" fmla="*/ 704850 h 1005840"/>
              <a:gd name="connsiteX178" fmla="*/ 903923 w 1219200"/>
              <a:gd name="connsiteY178" fmla="*/ 697802 h 1005840"/>
              <a:gd name="connsiteX179" fmla="*/ 903923 w 1219200"/>
              <a:gd name="connsiteY179" fmla="*/ 673037 h 1005840"/>
              <a:gd name="connsiteX180" fmla="*/ 896684 w 1219200"/>
              <a:gd name="connsiteY180" fmla="*/ 665988 h 1005840"/>
              <a:gd name="connsiteX181" fmla="*/ 893255 w 1219200"/>
              <a:gd name="connsiteY181" fmla="*/ 655320 h 1005840"/>
              <a:gd name="connsiteX182" fmla="*/ 829437 w 1219200"/>
              <a:gd name="connsiteY182" fmla="*/ 591503 h 1005840"/>
              <a:gd name="connsiteX183" fmla="*/ 779907 w 1219200"/>
              <a:gd name="connsiteY183" fmla="*/ 545783 h 1005840"/>
              <a:gd name="connsiteX184" fmla="*/ 680657 w 1219200"/>
              <a:gd name="connsiteY184" fmla="*/ 446532 h 1005840"/>
              <a:gd name="connsiteX185" fmla="*/ 637794 w 1219200"/>
              <a:gd name="connsiteY185" fmla="*/ 400431 h 1005840"/>
              <a:gd name="connsiteX186" fmla="*/ 577787 w 1219200"/>
              <a:gd name="connsiteY186" fmla="*/ 340043 h 1005840"/>
              <a:gd name="connsiteX187" fmla="*/ 570738 w 1219200"/>
              <a:gd name="connsiteY187" fmla="*/ 340043 h 1005840"/>
              <a:gd name="connsiteX188" fmla="*/ 563690 w 1219200"/>
              <a:gd name="connsiteY188" fmla="*/ 332994 h 1005840"/>
              <a:gd name="connsiteX189" fmla="*/ 553022 w 1219200"/>
              <a:gd name="connsiteY189" fmla="*/ 332994 h 1005840"/>
              <a:gd name="connsiteX190" fmla="*/ 538734 w 1219200"/>
              <a:gd name="connsiteY190" fmla="*/ 340043 h 1005840"/>
              <a:gd name="connsiteX191" fmla="*/ 521018 w 1219200"/>
              <a:gd name="connsiteY191" fmla="*/ 350520 h 1005840"/>
              <a:gd name="connsiteX192" fmla="*/ 510540 w 1219200"/>
              <a:gd name="connsiteY192" fmla="*/ 364808 h 1005840"/>
              <a:gd name="connsiteX193" fmla="*/ 503301 w 1219200"/>
              <a:gd name="connsiteY193" fmla="*/ 382524 h 1005840"/>
              <a:gd name="connsiteX194" fmla="*/ 464439 w 1219200"/>
              <a:gd name="connsiteY194" fmla="*/ 446342 h 1005840"/>
              <a:gd name="connsiteX195" fmla="*/ 460820 w 1219200"/>
              <a:gd name="connsiteY195" fmla="*/ 457010 h 1005840"/>
              <a:gd name="connsiteX196" fmla="*/ 453771 w 1219200"/>
              <a:gd name="connsiteY196" fmla="*/ 471297 h 1005840"/>
              <a:gd name="connsiteX197" fmla="*/ 429006 w 1219200"/>
              <a:gd name="connsiteY197" fmla="*/ 481965 h 1005840"/>
              <a:gd name="connsiteX198" fmla="*/ 404050 w 1219200"/>
              <a:gd name="connsiteY198" fmla="*/ 496253 h 1005840"/>
              <a:gd name="connsiteX199" fmla="*/ 386334 w 1219200"/>
              <a:gd name="connsiteY199" fmla="*/ 499872 h 1005840"/>
              <a:gd name="connsiteX200" fmla="*/ 361569 w 1219200"/>
              <a:gd name="connsiteY200" fmla="*/ 496253 h 1005840"/>
              <a:gd name="connsiteX201" fmla="*/ 329756 w 1219200"/>
              <a:gd name="connsiteY201" fmla="*/ 481965 h 1005840"/>
              <a:gd name="connsiteX202" fmla="*/ 312039 w 1219200"/>
              <a:gd name="connsiteY202" fmla="*/ 471297 h 1005840"/>
              <a:gd name="connsiteX203" fmla="*/ 290513 w 1219200"/>
              <a:gd name="connsiteY203" fmla="*/ 446342 h 1005840"/>
              <a:gd name="connsiteX204" fmla="*/ 286893 w 1219200"/>
              <a:gd name="connsiteY204" fmla="*/ 425196 h 1005840"/>
              <a:gd name="connsiteX205" fmla="*/ 286893 w 1219200"/>
              <a:gd name="connsiteY205" fmla="*/ 389573 h 1005840"/>
              <a:gd name="connsiteX206" fmla="*/ 389763 w 1219200"/>
              <a:gd name="connsiteY206" fmla="*/ 148781 h 1005840"/>
              <a:gd name="connsiteX207" fmla="*/ 396812 w 1219200"/>
              <a:gd name="connsiteY207" fmla="*/ 134493 h 1005840"/>
              <a:gd name="connsiteX208" fmla="*/ 411099 w 1219200"/>
              <a:gd name="connsiteY208" fmla="*/ 116776 h 1005840"/>
              <a:gd name="connsiteX209" fmla="*/ 435864 w 1219200"/>
              <a:gd name="connsiteY209" fmla="*/ 106109 h 1005840"/>
              <a:gd name="connsiteX210" fmla="*/ 464439 w 1219200"/>
              <a:gd name="connsiteY210" fmla="*/ 84963 h 1005840"/>
              <a:gd name="connsiteX211" fmla="*/ 967740 w 1219200"/>
              <a:gd name="connsiteY211" fmla="*/ 0 h 1005840"/>
              <a:gd name="connsiteX212" fmla="*/ 985457 w 1219200"/>
              <a:gd name="connsiteY212" fmla="*/ 0 h 1005840"/>
              <a:gd name="connsiteX213" fmla="*/ 1003173 w 1219200"/>
              <a:gd name="connsiteY213" fmla="*/ 10668 h 1005840"/>
              <a:gd name="connsiteX214" fmla="*/ 1208723 w 1219200"/>
              <a:gd name="connsiteY214" fmla="*/ 216027 h 1005840"/>
              <a:gd name="connsiteX215" fmla="*/ 1219200 w 1219200"/>
              <a:gd name="connsiteY215" fmla="*/ 233934 h 1005840"/>
              <a:gd name="connsiteX216" fmla="*/ 1219200 w 1219200"/>
              <a:gd name="connsiteY216" fmla="*/ 272796 h 1005840"/>
              <a:gd name="connsiteX217" fmla="*/ 1208723 w 1219200"/>
              <a:gd name="connsiteY217" fmla="*/ 290513 h 1005840"/>
              <a:gd name="connsiteX218" fmla="*/ 1134237 w 1219200"/>
              <a:gd name="connsiteY218" fmla="*/ 357759 h 1005840"/>
              <a:gd name="connsiteX219" fmla="*/ 1119950 w 1219200"/>
              <a:gd name="connsiteY219" fmla="*/ 372047 h 1005840"/>
              <a:gd name="connsiteX220" fmla="*/ 1094994 w 1219200"/>
              <a:gd name="connsiteY220" fmla="*/ 375476 h 1005840"/>
              <a:gd name="connsiteX221" fmla="*/ 1077278 w 1219200"/>
              <a:gd name="connsiteY221" fmla="*/ 372047 h 1005840"/>
              <a:gd name="connsiteX222" fmla="*/ 1066610 w 1219200"/>
              <a:gd name="connsiteY222" fmla="*/ 357759 h 1005840"/>
              <a:gd name="connsiteX223" fmla="*/ 854012 w 1219200"/>
              <a:gd name="connsiteY223" fmla="*/ 155829 h 1005840"/>
              <a:gd name="connsiteX224" fmla="*/ 850583 w 1219200"/>
              <a:gd name="connsiteY224" fmla="*/ 141542 h 1005840"/>
              <a:gd name="connsiteX225" fmla="*/ 843534 w 1219200"/>
              <a:gd name="connsiteY225" fmla="*/ 117158 h 1005840"/>
              <a:gd name="connsiteX226" fmla="*/ 850773 w 1219200"/>
              <a:gd name="connsiteY226" fmla="*/ 99441 h 1005840"/>
              <a:gd name="connsiteX227" fmla="*/ 854202 w 1219200"/>
              <a:gd name="connsiteY227" fmla="*/ 85153 h 1005840"/>
              <a:gd name="connsiteX228" fmla="*/ 928688 w 1219200"/>
              <a:gd name="connsiteY228" fmla="*/ 10668 h 1005840"/>
              <a:gd name="connsiteX229" fmla="*/ 946404 w 1219200"/>
              <a:gd name="connsiteY229" fmla="*/ 0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1219200" h="1005840">
                <a:moveTo>
                  <a:pt x="1095375" y="240983"/>
                </a:moveTo>
                <a:lnTo>
                  <a:pt x="1084898" y="240983"/>
                </a:lnTo>
                <a:lnTo>
                  <a:pt x="1070610" y="251460"/>
                </a:lnTo>
                <a:lnTo>
                  <a:pt x="1059942" y="265748"/>
                </a:lnTo>
                <a:lnTo>
                  <a:pt x="1059942" y="297561"/>
                </a:lnTo>
                <a:lnTo>
                  <a:pt x="1084898" y="322326"/>
                </a:lnTo>
                <a:lnTo>
                  <a:pt x="1116711" y="322326"/>
                </a:lnTo>
                <a:lnTo>
                  <a:pt x="1127379" y="308039"/>
                </a:lnTo>
                <a:lnTo>
                  <a:pt x="1141667" y="297371"/>
                </a:lnTo>
                <a:lnTo>
                  <a:pt x="1141667" y="265748"/>
                </a:lnTo>
                <a:lnTo>
                  <a:pt x="1116902" y="240983"/>
                </a:lnTo>
                <a:close/>
                <a:moveTo>
                  <a:pt x="514350" y="74295"/>
                </a:moveTo>
                <a:lnTo>
                  <a:pt x="581787" y="81344"/>
                </a:lnTo>
                <a:lnTo>
                  <a:pt x="812102" y="155639"/>
                </a:lnTo>
                <a:lnTo>
                  <a:pt x="826389" y="159258"/>
                </a:lnTo>
                <a:lnTo>
                  <a:pt x="1060323" y="396621"/>
                </a:lnTo>
                <a:lnTo>
                  <a:pt x="1067372" y="407099"/>
                </a:lnTo>
                <a:lnTo>
                  <a:pt x="1067372" y="421386"/>
                </a:lnTo>
                <a:lnTo>
                  <a:pt x="1060323" y="432054"/>
                </a:lnTo>
                <a:lnTo>
                  <a:pt x="896684" y="591503"/>
                </a:lnTo>
                <a:lnTo>
                  <a:pt x="935736" y="630555"/>
                </a:lnTo>
                <a:lnTo>
                  <a:pt x="953453" y="665988"/>
                </a:lnTo>
                <a:lnTo>
                  <a:pt x="953453" y="704850"/>
                </a:lnTo>
                <a:lnTo>
                  <a:pt x="928688" y="740283"/>
                </a:lnTo>
                <a:lnTo>
                  <a:pt x="918020" y="754571"/>
                </a:lnTo>
                <a:lnTo>
                  <a:pt x="896684" y="764858"/>
                </a:lnTo>
                <a:lnTo>
                  <a:pt x="871919" y="764858"/>
                </a:lnTo>
                <a:lnTo>
                  <a:pt x="871919" y="786194"/>
                </a:lnTo>
                <a:lnTo>
                  <a:pt x="850773" y="822008"/>
                </a:lnTo>
                <a:lnTo>
                  <a:pt x="836486" y="836295"/>
                </a:lnTo>
                <a:lnTo>
                  <a:pt x="818769" y="846963"/>
                </a:lnTo>
                <a:lnTo>
                  <a:pt x="794004" y="846963"/>
                </a:lnTo>
                <a:lnTo>
                  <a:pt x="794004" y="864680"/>
                </a:lnTo>
                <a:lnTo>
                  <a:pt x="779717" y="882396"/>
                </a:lnTo>
                <a:lnTo>
                  <a:pt x="769239" y="902970"/>
                </a:lnTo>
                <a:lnTo>
                  <a:pt x="754952" y="913638"/>
                </a:lnTo>
                <a:lnTo>
                  <a:pt x="737235" y="927926"/>
                </a:lnTo>
                <a:lnTo>
                  <a:pt x="712470" y="927926"/>
                </a:lnTo>
                <a:lnTo>
                  <a:pt x="712470" y="945833"/>
                </a:lnTo>
                <a:lnTo>
                  <a:pt x="701802" y="963549"/>
                </a:lnTo>
                <a:lnTo>
                  <a:pt x="687515" y="981266"/>
                </a:lnTo>
                <a:lnTo>
                  <a:pt x="652463" y="1005840"/>
                </a:lnTo>
                <a:lnTo>
                  <a:pt x="613410" y="1005840"/>
                </a:lnTo>
                <a:lnTo>
                  <a:pt x="577977" y="988314"/>
                </a:lnTo>
                <a:lnTo>
                  <a:pt x="485775" y="896112"/>
                </a:lnTo>
                <a:lnTo>
                  <a:pt x="436055" y="945833"/>
                </a:lnTo>
                <a:lnTo>
                  <a:pt x="421767" y="953072"/>
                </a:lnTo>
                <a:lnTo>
                  <a:pt x="411290" y="956501"/>
                </a:lnTo>
                <a:lnTo>
                  <a:pt x="389954" y="956501"/>
                </a:lnTo>
                <a:lnTo>
                  <a:pt x="372237" y="953072"/>
                </a:lnTo>
                <a:lnTo>
                  <a:pt x="361569" y="938784"/>
                </a:lnTo>
                <a:lnTo>
                  <a:pt x="347282" y="921068"/>
                </a:lnTo>
                <a:lnTo>
                  <a:pt x="340233" y="906780"/>
                </a:lnTo>
                <a:lnTo>
                  <a:pt x="340233" y="889064"/>
                </a:lnTo>
                <a:lnTo>
                  <a:pt x="347663" y="878396"/>
                </a:lnTo>
                <a:lnTo>
                  <a:pt x="354711" y="860679"/>
                </a:lnTo>
                <a:lnTo>
                  <a:pt x="340424" y="871347"/>
                </a:lnTo>
                <a:lnTo>
                  <a:pt x="329756" y="878396"/>
                </a:lnTo>
                <a:lnTo>
                  <a:pt x="312039" y="871347"/>
                </a:lnTo>
                <a:lnTo>
                  <a:pt x="290513" y="871347"/>
                </a:lnTo>
                <a:lnTo>
                  <a:pt x="279845" y="860679"/>
                </a:lnTo>
                <a:lnTo>
                  <a:pt x="265557" y="839533"/>
                </a:lnTo>
                <a:lnTo>
                  <a:pt x="261938" y="828866"/>
                </a:lnTo>
                <a:lnTo>
                  <a:pt x="261938" y="811149"/>
                </a:lnTo>
                <a:lnTo>
                  <a:pt x="265557" y="796862"/>
                </a:lnTo>
                <a:lnTo>
                  <a:pt x="272987" y="779145"/>
                </a:lnTo>
                <a:lnTo>
                  <a:pt x="262319" y="789623"/>
                </a:lnTo>
                <a:lnTo>
                  <a:pt x="248031" y="796862"/>
                </a:lnTo>
                <a:lnTo>
                  <a:pt x="230315" y="789623"/>
                </a:lnTo>
                <a:lnTo>
                  <a:pt x="212598" y="786194"/>
                </a:lnTo>
                <a:lnTo>
                  <a:pt x="198311" y="779145"/>
                </a:lnTo>
                <a:lnTo>
                  <a:pt x="187833" y="761429"/>
                </a:lnTo>
                <a:lnTo>
                  <a:pt x="180594" y="747141"/>
                </a:lnTo>
                <a:lnTo>
                  <a:pt x="180594" y="729615"/>
                </a:lnTo>
                <a:lnTo>
                  <a:pt x="187833" y="715328"/>
                </a:lnTo>
                <a:lnTo>
                  <a:pt x="191262" y="697611"/>
                </a:lnTo>
                <a:lnTo>
                  <a:pt x="180594" y="711899"/>
                </a:lnTo>
                <a:lnTo>
                  <a:pt x="170117" y="715518"/>
                </a:lnTo>
                <a:lnTo>
                  <a:pt x="148781" y="711899"/>
                </a:lnTo>
                <a:lnTo>
                  <a:pt x="131064" y="704850"/>
                </a:lnTo>
                <a:lnTo>
                  <a:pt x="120396" y="697802"/>
                </a:lnTo>
                <a:lnTo>
                  <a:pt x="106109" y="680085"/>
                </a:lnTo>
                <a:lnTo>
                  <a:pt x="98870" y="665798"/>
                </a:lnTo>
                <a:lnTo>
                  <a:pt x="98870" y="648081"/>
                </a:lnTo>
                <a:lnTo>
                  <a:pt x="106109" y="637413"/>
                </a:lnTo>
                <a:lnTo>
                  <a:pt x="113157" y="616077"/>
                </a:lnTo>
                <a:lnTo>
                  <a:pt x="162687" y="573596"/>
                </a:lnTo>
                <a:lnTo>
                  <a:pt x="7239" y="425196"/>
                </a:lnTo>
                <a:lnTo>
                  <a:pt x="0" y="414528"/>
                </a:lnTo>
                <a:lnTo>
                  <a:pt x="0" y="400241"/>
                </a:lnTo>
                <a:lnTo>
                  <a:pt x="7239" y="389573"/>
                </a:lnTo>
                <a:lnTo>
                  <a:pt x="21527" y="382524"/>
                </a:lnTo>
                <a:lnTo>
                  <a:pt x="32004" y="382524"/>
                </a:lnTo>
                <a:lnTo>
                  <a:pt x="46292" y="389573"/>
                </a:lnTo>
                <a:lnTo>
                  <a:pt x="191453" y="538353"/>
                </a:lnTo>
                <a:lnTo>
                  <a:pt x="212789" y="531495"/>
                </a:lnTo>
                <a:lnTo>
                  <a:pt x="230505" y="531495"/>
                </a:lnTo>
                <a:lnTo>
                  <a:pt x="248222" y="538544"/>
                </a:lnTo>
                <a:lnTo>
                  <a:pt x="265938" y="549212"/>
                </a:lnTo>
                <a:lnTo>
                  <a:pt x="280226" y="563499"/>
                </a:lnTo>
                <a:lnTo>
                  <a:pt x="287274" y="581025"/>
                </a:lnTo>
                <a:lnTo>
                  <a:pt x="287274" y="591693"/>
                </a:lnTo>
                <a:lnTo>
                  <a:pt x="280226" y="613029"/>
                </a:lnTo>
                <a:lnTo>
                  <a:pt x="273177" y="623697"/>
                </a:lnTo>
                <a:lnTo>
                  <a:pt x="287465" y="613029"/>
                </a:lnTo>
                <a:lnTo>
                  <a:pt x="316040" y="613029"/>
                </a:lnTo>
                <a:lnTo>
                  <a:pt x="337375" y="616458"/>
                </a:lnTo>
                <a:lnTo>
                  <a:pt x="348044" y="630746"/>
                </a:lnTo>
                <a:lnTo>
                  <a:pt x="362331" y="641223"/>
                </a:lnTo>
                <a:lnTo>
                  <a:pt x="365950" y="662559"/>
                </a:lnTo>
                <a:lnTo>
                  <a:pt x="365950" y="673227"/>
                </a:lnTo>
                <a:lnTo>
                  <a:pt x="362331" y="690944"/>
                </a:lnTo>
                <a:lnTo>
                  <a:pt x="355283" y="705231"/>
                </a:lnTo>
                <a:lnTo>
                  <a:pt x="365950" y="690944"/>
                </a:lnTo>
                <a:lnTo>
                  <a:pt x="397764" y="690944"/>
                </a:lnTo>
                <a:lnTo>
                  <a:pt x="415481" y="697992"/>
                </a:lnTo>
                <a:lnTo>
                  <a:pt x="440246" y="722757"/>
                </a:lnTo>
                <a:lnTo>
                  <a:pt x="447485" y="740474"/>
                </a:lnTo>
                <a:lnTo>
                  <a:pt x="447485" y="754761"/>
                </a:lnTo>
                <a:lnTo>
                  <a:pt x="440246" y="772478"/>
                </a:lnTo>
                <a:lnTo>
                  <a:pt x="436817" y="786765"/>
                </a:lnTo>
                <a:lnTo>
                  <a:pt x="446723" y="779145"/>
                </a:lnTo>
                <a:lnTo>
                  <a:pt x="464439" y="771906"/>
                </a:lnTo>
                <a:lnTo>
                  <a:pt x="478726" y="771906"/>
                </a:lnTo>
                <a:lnTo>
                  <a:pt x="496253" y="779145"/>
                </a:lnTo>
                <a:lnTo>
                  <a:pt x="510540" y="789623"/>
                </a:lnTo>
                <a:lnTo>
                  <a:pt x="521018" y="803910"/>
                </a:lnTo>
                <a:lnTo>
                  <a:pt x="528257" y="821627"/>
                </a:lnTo>
                <a:lnTo>
                  <a:pt x="528257" y="839343"/>
                </a:lnTo>
                <a:lnTo>
                  <a:pt x="521018" y="860489"/>
                </a:lnTo>
                <a:lnTo>
                  <a:pt x="613220" y="952691"/>
                </a:lnTo>
                <a:lnTo>
                  <a:pt x="620268" y="956120"/>
                </a:lnTo>
                <a:lnTo>
                  <a:pt x="645224" y="956120"/>
                </a:lnTo>
                <a:lnTo>
                  <a:pt x="652463" y="945833"/>
                </a:lnTo>
                <a:lnTo>
                  <a:pt x="663131" y="938784"/>
                </a:lnTo>
                <a:lnTo>
                  <a:pt x="663131" y="914019"/>
                </a:lnTo>
                <a:lnTo>
                  <a:pt x="655892" y="906971"/>
                </a:lnTo>
                <a:lnTo>
                  <a:pt x="581597" y="829056"/>
                </a:lnTo>
                <a:lnTo>
                  <a:pt x="577977" y="822008"/>
                </a:lnTo>
                <a:lnTo>
                  <a:pt x="577977" y="804291"/>
                </a:lnTo>
                <a:lnTo>
                  <a:pt x="581597" y="797243"/>
                </a:lnTo>
                <a:lnTo>
                  <a:pt x="595884" y="790004"/>
                </a:lnTo>
                <a:lnTo>
                  <a:pt x="606552" y="790004"/>
                </a:lnTo>
                <a:lnTo>
                  <a:pt x="620840" y="797243"/>
                </a:lnTo>
                <a:lnTo>
                  <a:pt x="702374" y="878586"/>
                </a:lnTo>
                <a:lnTo>
                  <a:pt x="713042" y="878586"/>
                </a:lnTo>
                <a:lnTo>
                  <a:pt x="727329" y="871538"/>
                </a:lnTo>
                <a:lnTo>
                  <a:pt x="730949" y="864489"/>
                </a:lnTo>
                <a:lnTo>
                  <a:pt x="745236" y="860870"/>
                </a:lnTo>
                <a:lnTo>
                  <a:pt x="745236" y="836105"/>
                </a:lnTo>
                <a:lnTo>
                  <a:pt x="738188" y="829056"/>
                </a:lnTo>
                <a:lnTo>
                  <a:pt x="663893" y="747522"/>
                </a:lnTo>
                <a:lnTo>
                  <a:pt x="656654" y="740474"/>
                </a:lnTo>
                <a:lnTo>
                  <a:pt x="656654" y="722757"/>
                </a:lnTo>
                <a:lnTo>
                  <a:pt x="663893" y="715708"/>
                </a:lnTo>
                <a:lnTo>
                  <a:pt x="678180" y="712089"/>
                </a:lnTo>
                <a:lnTo>
                  <a:pt x="688848" y="712089"/>
                </a:lnTo>
                <a:lnTo>
                  <a:pt x="703136" y="715708"/>
                </a:lnTo>
                <a:lnTo>
                  <a:pt x="776288" y="789813"/>
                </a:lnTo>
                <a:lnTo>
                  <a:pt x="779907" y="797052"/>
                </a:lnTo>
                <a:lnTo>
                  <a:pt x="794195" y="797052"/>
                </a:lnTo>
                <a:lnTo>
                  <a:pt x="804863" y="789813"/>
                </a:lnTo>
                <a:lnTo>
                  <a:pt x="819150" y="786384"/>
                </a:lnTo>
                <a:lnTo>
                  <a:pt x="825818" y="779145"/>
                </a:lnTo>
                <a:lnTo>
                  <a:pt x="825818" y="754380"/>
                </a:lnTo>
                <a:lnTo>
                  <a:pt x="818769" y="747332"/>
                </a:lnTo>
                <a:lnTo>
                  <a:pt x="744284" y="665988"/>
                </a:lnTo>
                <a:lnTo>
                  <a:pt x="737235" y="655320"/>
                </a:lnTo>
                <a:lnTo>
                  <a:pt x="737235" y="641033"/>
                </a:lnTo>
                <a:lnTo>
                  <a:pt x="744284" y="637604"/>
                </a:lnTo>
                <a:lnTo>
                  <a:pt x="754952" y="623316"/>
                </a:lnTo>
                <a:lnTo>
                  <a:pt x="769239" y="623316"/>
                </a:lnTo>
                <a:lnTo>
                  <a:pt x="779907" y="637604"/>
                </a:lnTo>
                <a:lnTo>
                  <a:pt x="854202" y="711899"/>
                </a:lnTo>
                <a:lnTo>
                  <a:pt x="861251" y="715518"/>
                </a:lnTo>
                <a:lnTo>
                  <a:pt x="871919" y="715518"/>
                </a:lnTo>
                <a:lnTo>
                  <a:pt x="886206" y="711899"/>
                </a:lnTo>
                <a:lnTo>
                  <a:pt x="896684" y="704850"/>
                </a:lnTo>
                <a:lnTo>
                  <a:pt x="903923" y="697802"/>
                </a:lnTo>
                <a:lnTo>
                  <a:pt x="903923" y="673037"/>
                </a:lnTo>
                <a:lnTo>
                  <a:pt x="896684" y="665988"/>
                </a:lnTo>
                <a:lnTo>
                  <a:pt x="893255" y="655320"/>
                </a:lnTo>
                <a:lnTo>
                  <a:pt x="829437" y="591503"/>
                </a:lnTo>
                <a:lnTo>
                  <a:pt x="779907" y="545783"/>
                </a:lnTo>
                <a:lnTo>
                  <a:pt x="680657" y="446532"/>
                </a:lnTo>
                <a:lnTo>
                  <a:pt x="637794" y="400431"/>
                </a:lnTo>
                <a:lnTo>
                  <a:pt x="577787" y="340043"/>
                </a:lnTo>
                <a:lnTo>
                  <a:pt x="570738" y="340043"/>
                </a:lnTo>
                <a:lnTo>
                  <a:pt x="563690" y="332994"/>
                </a:lnTo>
                <a:lnTo>
                  <a:pt x="553022" y="332994"/>
                </a:lnTo>
                <a:lnTo>
                  <a:pt x="538734" y="340043"/>
                </a:lnTo>
                <a:lnTo>
                  <a:pt x="521018" y="350520"/>
                </a:lnTo>
                <a:lnTo>
                  <a:pt x="510540" y="364808"/>
                </a:lnTo>
                <a:lnTo>
                  <a:pt x="503301" y="382524"/>
                </a:lnTo>
                <a:lnTo>
                  <a:pt x="464439" y="446342"/>
                </a:lnTo>
                <a:lnTo>
                  <a:pt x="460820" y="457010"/>
                </a:lnTo>
                <a:lnTo>
                  <a:pt x="453771" y="471297"/>
                </a:lnTo>
                <a:lnTo>
                  <a:pt x="429006" y="481965"/>
                </a:lnTo>
                <a:lnTo>
                  <a:pt x="404050" y="496253"/>
                </a:lnTo>
                <a:lnTo>
                  <a:pt x="386334" y="499872"/>
                </a:lnTo>
                <a:lnTo>
                  <a:pt x="361569" y="496253"/>
                </a:lnTo>
                <a:lnTo>
                  <a:pt x="329756" y="481965"/>
                </a:lnTo>
                <a:lnTo>
                  <a:pt x="312039" y="471297"/>
                </a:lnTo>
                <a:lnTo>
                  <a:pt x="290513" y="446342"/>
                </a:lnTo>
                <a:lnTo>
                  <a:pt x="286893" y="425196"/>
                </a:lnTo>
                <a:lnTo>
                  <a:pt x="286893" y="389573"/>
                </a:lnTo>
                <a:lnTo>
                  <a:pt x="389763" y="148781"/>
                </a:lnTo>
                <a:lnTo>
                  <a:pt x="396812" y="134493"/>
                </a:lnTo>
                <a:lnTo>
                  <a:pt x="411099" y="116776"/>
                </a:lnTo>
                <a:lnTo>
                  <a:pt x="435864" y="106109"/>
                </a:lnTo>
                <a:lnTo>
                  <a:pt x="464439" y="84963"/>
                </a:lnTo>
                <a:close/>
                <a:moveTo>
                  <a:pt x="967740" y="0"/>
                </a:moveTo>
                <a:lnTo>
                  <a:pt x="985457" y="0"/>
                </a:lnTo>
                <a:lnTo>
                  <a:pt x="1003173" y="10668"/>
                </a:lnTo>
                <a:lnTo>
                  <a:pt x="1208723" y="216027"/>
                </a:lnTo>
                <a:lnTo>
                  <a:pt x="1219200" y="233934"/>
                </a:lnTo>
                <a:lnTo>
                  <a:pt x="1219200" y="272796"/>
                </a:lnTo>
                <a:lnTo>
                  <a:pt x="1208723" y="290513"/>
                </a:lnTo>
                <a:lnTo>
                  <a:pt x="1134237" y="357759"/>
                </a:lnTo>
                <a:lnTo>
                  <a:pt x="1119950" y="372047"/>
                </a:lnTo>
                <a:lnTo>
                  <a:pt x="1094994" y="375476"/>
                </a:lnTo>
                <a:lnTo>
                  <a:pt x="1077278" y="372047"/>
                </a:lnTo>
                <a:lnTo>
                  <a:pt x="1066610" y="357759"/>
                </a:lnTo>
                <a:lnTo>
                  <a:pt x="854012" y="155829"/>
                </a:lnTo>
                <a:lnTo>
                  <a:pt x="850583" y="141542"/>
                </a:lnTo>
                <a:lnTo>
                  <a:pt x="843534" y="117158"/>
                </a:lnTo>
                <a:lnTo>
                  <a:pt x="850773" y="99441"/>
                </a:lnTo>
                <a:lnTo>
                  <a:pt x="854202" y="85153"/>
                </a:lnTo>
                <a:lnTo>
                  <a:pt x="928688" y="10668"/>
                </a:lnTo>
                <a:lnTo>
                  <a:pt x="946404" y="0"/>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 name="任意多边形: 形状 12"/>
          <p:cNvSpPr/>
          <p:nvPr/>
        </p:nvSpPr>
        <p:spPr>
          <a:xfrm>
            <a:off x="2547257"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 name="任意多边形: 形状 13"/>
          <p:cNvSpPr/>
          <p:nvPr/>
        </p:nvSpPr>
        <p:spPr>
          <a:xfrm>
            <a:off x="5084975"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 name="任意多边形: 形状 14"/>
          <p:cNvSpPr/>
          <p:nvPr/>
        </p:nvSpPr>
        <p:spPr>
          <a:xfrm>
            <a:off x="7622693"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任意多边形: 形状 15"/>
          <p:cNvSpPr/>
          <p:nvPr/>
        </p:nvSpPr>
        <p:spPr>
          <a:xfrm>
            <a:off x="10160411"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27013" y="3706408"/>
            <a:ext cx="11737975" cy="2967967"/>
            <a:chOff x="528575" y="3725070"/>
            <a:chExt cx="11134848" cy="2967967"/>
          </a:xfrm>
        </p:grpSpPr>
        <p:grpSp>
          <p:nvGrpSpPr>
            <p:cNvPr id="57" name="组合 56"/>
            <p:cNvGrpSpPr/>
            <p:nvPr/>
          </p:nvGrpSpPr>
          <p:grpSpPr>
            <a:xfrm>
              <a:off x="528575" y="4109810"/>
              <a:ext cx="11134848" cy="2583227"/>
              <a:chOff x="528575" y="4543346"/>
              <a:chExt cx="11134848" cy="2114966"/>
            </a:xfrm>
          </p:grpSpPr>
          <p:sp>
            <p:nvSpPr>
              <p:cNvPr id="40" name="任意多边形: 形状 39"/>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7" name="椭圆 36"/>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62" name="椭圆 61"/>
            <p:cNvSpPr/>
            <p:nvPr/>
          </p:nvSpPr>
          <p:spPr>
            <a:xfrm>
              <a:off x="1051342" y="3725070"/>
              <a:ext cx="10089317" cy="2442902"/>
            </a:xfrm>
            <a:prstGeom prst="ellipse">
              <a:avLst/>
            </a:prstGeom>
            <a:noFill/>
            <a:ln w="15875">
              <a:gradFill flip="none" rotWithShape="1">
                <a:gsLst>
                  <a:gs pos="63000">
                    <a:schemeClr val="accent4">
                      <a:alpha val="0"/>
                    </a:schemeClr>
                  </a:gs>
                  <a:gs pos="77000">
                    <a:schemeClr val="accent4"/>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14" name="椭圆 213"/>
          <p:cNvSpPr/>
          <p:nvPr/>
        </p:nvSpPr>
        <p:spPr>
          <a:xfrm>
            <a:off x="3370469" y="3086075"/>
            <a:ext cx="5451062" cy="2078898"/>
          </a:xfrm>
          <a:prstGeom prst="ellipse">
            <a:avLst/>
          </a:prstGeom>
          <a:noFill/>
          <a:ln w="15875">
            <a:gradFill flip="none" rotWithShape="1">
              <a:gsLst>
                <a:gs pos="60000">
                  <a:schemeClr val="accent1">
                    <a:alpha val="0"/>
                  </a:schemeClr>
                </a:gs>
                <a:gs pos="67000">
                  <a:schemeClr val="accent1"/>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架构图：终端提供实现路径</a:t>
            </a:r>
          </a:p>
        </p:txBody>
      </p:sp>
      <p:grpSp>
        <p:nvGrpSpPr>
          <p:cNvPr id="208" name="组合 207"/>
          <p:cNvGrpSpPr/>
          <p:nvPr/>
        </p:nvGrpSpPr>
        <p:grpSpPr>
          <a:xfrm>
            <a:off x="5764404" y="4776516"/>
            <a:ext cx="663193" cy="663193"/>
            <a:chOff x="3034947" y="4607540"/>
            <a:chExt cx="663193" cy="663193"/>
          </a:xfrm>
        </p:grpSpPr>
        <p:sp>
          <p:nvSpPr>
            <p:cNvPr id="209" name="椭圆 208"/>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10" name="文本框 209"/>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交互能力</a:t>
              </a:r>
            </a:p>
          </p:txBody>
        </p:sp>
      </p:grpSp>
      <p:grpSp>
        <p:nvGrpSpPr>
          <p:cNvPr id="207" name="组合 206"/>
          <p:cNvGrpSpPr/>
          <p:nvPr/>
        </p:nvGrpSpPr>
        <p:grpSpPr>
          <a:xfrm>
            <a:off x="4360660" y="4649127"/>
            <a:ext cx="663193" cy="663193"/>
            <a:chOff x="3034947" y="4607540"/>
            <a:chExt cx="663193" cy="663193"/>
          </a:xfrm>
        </p:grpSpPr>
        <p:sp>
          <p:nvSpPr>
            <p:cNvPr id="204" name="椭圆 203"/>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06" name="文本框 205"/>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洞察能力</a:t>
              </a:r>
            </a:p>
          </p:txBody>
        </p:sp>
      </p:grpSp>
      <p:grpSp>
        <p:nvGrpSpPr>
          <p:cNvPr id="211" name="组合 210"/>
          <p:cNvGrpSpPr/>
          <p:nvPr/>
        </p:nvGrpSpPr>
        <p:grpSpPr>
          <a:xfrm>
            <a:off x="7136929" y="4649127"/>
            <a:ext cx="663193" cy="663193"/>
            <a:chOff x="3034947" y="4607540"/>
            <a:chExt cx="663193" cy="663193"/>
          </a:xfrm>
        </p:grpSpPr>
        <p:sp>
          <p:nvSpPr>
            <p:cNvPr id="212" name="椭圆 211"/>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13" name="文本框 212"/>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决策能力</a:t>
              </a:r>
            </a:p>
          </p:txBody>
        </p:sp>
      </p:grpSp>
      <p:sp>
        <p:nvSpPr>
          <p:cNvPr id="218" name="箭头: 下 217"/>
          <p:cNvSpPr/>
          <p:nvPr/>
        </p:nvSpPr>
        <p:spPr>
          <a:xfrm>
            <a:off x="6579985" y="4928711"/>
            <a:ext cx="380676" cy="59857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19" name="箭头: 下 218"/>
          <p:cNvSpPr/>
          <p:nvPr/>
        </p:nvSpPr>
        <p:spPr>
          <a:xfrm>
            <a:off x="8078200" y="4442475"/>
            <a:ext cx="380676"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0" name="箭头: 下 219"/>
          <p:cNvSpPr/>
          <p:nvPr/>
        </p:nvSpPr>
        <p:spPr>
          <a:xfrm>
            <a:off x="3733124" y="4442475"/>
            <a:ext cx="380676"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59" name="箭头: 下 58"/>
          <p:cNvSpPr/>
          <p:nvPr/>
        </p:nvSpPr>
        <p:spPr>
          <a:xfrm>
            <a:off x="5247246" y="4928711"/>
            <a:ext cx="380676" cy="59857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63" name="文本框 62"/>
          <p:cNvSpPr txBox="1"/>
          <p:nvPr/>
        </p:nvSpPr>
        <p:spPr>
          <a:xfrm>
            <a:off x="4740243" y="5515589"/>
            <a:ext cx="271151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D3728"/>
                </a:solidFill>
                <a:effectLst/>
                <a:uLnTx/>
                <a:uFillTx/>
                <a:cs typeface="+mn-ea"/>
                <a:sym typeface="+mn-lt"/>
              </a:rPr>
              <a:t>深耕用户价值</a:t>
            </a:r>
          </a:p>
        </p:txBody>
      </p:sp>
      <p:grpSp>
        <p:nvGrpSpPr>
          <p:cNvPr id="64" name="组合 63"/>
          <p:cNvGrpSpPr/>
          <p:nvPr/>
        </p:nvGrpSpPr>
        <p:grpSpPr>
          <a:xfrm>
            <a:off x="4982071" y="5827338"/>
            <a:ext cx="533302" cy="533302"/>
            <a:chOff x="3034947" y="4607540"/>
            <a:chExt cx="663193" cy="663193"/>
          </a:xfrm>
        </p:grpSpPr>
        <p:sp>
          <p:nvSpPr>
            <p:cNvPr id="65" name="椭圆 64"/>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66" name="文本框 65"/>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品牌连接</a:t>
              </a:r>
            </a:p>
          </p:txBody>
        </p:sp>
      </p:grpSp>
      <p:grpSp>
        <p:nvGrpSpPr>
          <p:cNvPr id="67" name="组合 66"/>
          <p:cNvGrpSpPr/>
          <p:nvPr/>
        </p:nvGrpSpPr>
        <p:grpSpPr>
          <a:xfrm>
            <a:off x="6676628" y="5827338"/>
            <a:ext cx="533302" cy="533302"/>
            <a:chOff x="3034947" y="4607540"/>
            <a:chExt cx="663193" cy="663193"/>
          </a:xfrm>
        </p:grpSpPr>
        <p:sp>
          <p:nvSpPr>
            <p:cNvPr id="69" name="椭圆 68"/>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0" name="文本框 69"/>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转化效果</a:t>
              </a:r>
            </a:p>
          </p:txBody>
        </p:sp>
      </p:grpSp>
      <p:grpSp>
        <p:nvGrpSpPr>
          <p:cNvPr id="71" name="组合 70"/>
          <p:cNvGrpSpPr/>
          <p:nvPr/>
        </p:nvGrpSpPr>
        <p:grpSpPr>
          <a:xfrm>
            <a:off x="3671302" y="5736605"/>
            <a:ext cx="533302" cy="533302"/>
            <a:chOff x="3034947" y="4607540"/>
            <a:chExt cx="663193" cy="663193"/>
          </a:xfrm>
        </p:grpSpPr>
        <p:sp>
          <p:nvSpPr>
            <p:cNvPr id="72" name="椭圆 71"/>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3" name="文本框 72"/>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产品认知</a:t>
              </a:r>
            </a:p>
          </p:txBody>
        </p:sp>
      </p:grpSp>
      <p:grpSp>
        <p:nvGrpSpPr>
          <p:cNvPr id="74" name="组合 73"/>
          <p:cNvGrpSpPr/>
          <p:nvPr/>
        </p:nvGrpSpPr>
        <p:grpSpPr>
          <a:xfrm>
            <a:off x="7987396" y="5736605"/>
            <a:ext cx="533302" cy="533302"/>
            <a:chOff x="3034947" y="4607540"/>
            <a:chExt cx="663193" cy="663193"/>
          </a:xfrm>
        </p:grpSpPr>
        <p:sp>
          <p:nvSpPr>
            <p:cNvPr id="75" name="椭圆 74"/>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忠诚程度</a:t>
              </a:r>
            </a:p>
          </p:txBody>
        </p:sp>
      </p:grpSp>
      <p:sp>
        <p:nvSpPr>
          <p:cNvPr id="4" name="椭圆 3"/>
          <p:cNvSpPr/>
          <p:nvPr/>
        </p:nvSpPr>
        <p:spPr>
          <a:xfrm flipH="1">
            <a:off x="1493585" y="2775213"/>
            <a:ext cx="9204829" cy="1744084"/>
          </a:xfrm>
          <a:prstGeom prst="ellipse">
            <a:avLst/>
          </a:prstGeom>
          <a:gradFill>
            <a:gsLst>
              <a:gs pos="100000">
                <a:schemeClr val="accent1">
                  <a:alpha val="18000"/>
                </a:schemeClr>
              </a:gs>
              <a:gs pos="3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等腰三角形 5"/>
          <p:cNvSpPr/>
          <p:nvPr/>
        </p:nvSpPr>
        <p:spPr>
          <a:xfrm rot="16200000" flipH="1">
            <a:off x="7195525" y="-551807"/>
            <a:ext cx="1152000" cy="4824000"/>
          </a:xfrm>
          <a:prstGeom prst="triangle">
            <a:avLst/>
          </a:prstGeom>
          <a:gradFill>
            <a:gsLst>
              <a:gs pos="0">
                <a:schemeClr val="accent6">
                  <a:lumMod val="90000"/>
                  <a:alpha val="42000"/>
                </a:schemeClr>
              </a:gs>
              <a:gs pos="75000">
                <a:schemeClr val="accent6">
                  <a:lumMod val="90000"/>
                  <a:alpha val="19000"/>
                </a:schemeClr>
              </a:gs>
              <a:gs pos="100000">
                <a:schemeClr val="accent6">
                  <a:lumMod val="90000"/>
                  <a:alpha val="0"/>
                </a:schemeClr>
              </a:gs>
            </a:gsLst>
            <a:path path="circle">
              <a:fillToRect l="100000" t="10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等腰三角形 6"/>
          <p:cNvSpPr/>
          <p:nvPr/>
        </p:nvSpPr>
        <p:spPr>
          <a:xfrm rot="16200000" flipH="1">
            <a:off x="7834529" y="295136"/>
            <a:ext cx="747520" cy="3130241"/>
          </a:xfrm>
          <a:prstGeom prst="triangle">
            <a:avLst/>
          </a:prstGeom>
          <a:gradFill>
            <a:gsLst>
              <a:gs pos="0">
                <a:schemeClr val="accent6">
                  <a:lumMod val="90000"/>
                  <a:alpha val="42000"/>
                </a:schemeClr>
              </a:gs>
              <a:gs pos="75000">
                <a:schemeClr val="accent6">
                  <a:lumMod val="90000"/>
                  <a:alpha val="19000"/>
                </a:schemeClr>
              </a:gs>
              <a:gs pos="100000">
                <a:schemeClr val="accent6">
                  <a:lumMod val="90000"/>
                  <a:alpha val="0"/>
                </a:schemeClr>
              </a:gs>
            </a:gsLst>
            <a:path path="circle">
              <a:fillToRect l="100000" t="100000"/>
            </a:path>
          </a:gra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 name="椭圆 7"/>
          <p:cNvSpPr>
            <a:spLocks noChangeAspect="1"/>
          </p:cNvSpPr>
          <p:nvPr/>
        </p:nvSpPr>
        <p:spPr>
          <a:xfrm flipH="1">
            <a:off x="9625813" y="1284193"/>
            <a:ext cx="1152000" cy="1152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9" name="文本框 8"/>
          <p:cNvSpPr txBox="1"/>
          <p:nvPr/>
        </p:nvSpPr>
        <p:spPr>
          <a:xfrm>
            <a:off x="9697822" y="1846028"/>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企业</a:t>
            </a:r>
          </a:p>
        </p:txBody>
      </p:sp>
      <p:sp>
        <p:nvSpPr>
          <p:cNvPr id="14" name="图形 164"/>
          <p:cNvSpPr/>
          <p:nvPr/>
        </p:nvSpPr>
        <p:spPr>
          <a:xfrm>
            <a:off x="10055993" y="1521637"/>
            <a:ext cx="337940" cy="338555"/>
          </a:xfrm>
          <a:custGeom>
            <a:avLst/>
            <a:gdLst>
              <a:gd name="connsiteX0" fmla="*/ 0 w 1216983"/>
              <a:gd name="connsiteY0" fmla="*/ 0 h 1219200"/>
              <a:gd name="connsiteX1" fmla="*/ 603764 w 1216983"/>
              <a:gd name="connsiteY1" fmla="*/ 0 h 1219200"/>
              <a:gd name="connsiteX2" fmla="*/ 603764 w 1216983"/>
              <a:gd name="connsiteY2" fmla="*/ 1218529 h 1219200"/>
              <a:gd name="connsiteX3" fmla="*/ 0 w 1216983"/>
              <a:gd name="connsiteY3" fmla="*/ 1218529 h 1219200"/>
              <a:gd name="connsiteX4" fmla="*/ 0 w 1216983"/>
              <a:gd name="connsiteY4" fmla="*/ 0 h 1219200"/>
              <a:gd name="connsiteX5" fmla="*/ 70643 w 1216983"/>
              <a:gd name="connsiteY5" fmla="*/ 302170 h 1219200"/>
              <a:gd name="connsiteX6" fmla="*/ 225799 w 1216983"/>
              <a:gd name="connsiteY6" fmla="*/ 302170 h 1219200"/>
              <a:gd name="connsiteX7" fmla="*/ 225799 w 1216983"/>
              <a:gd name="connsiteY7" fmla="*/ 148468 h 1219200"/>
              <a:gd name="connsiteX8" fmla="*/ 87408 w 1216983"/>
              <a:gd name="connsiteY8" fmla="*/ 149392 h 1219200"/>
              <a:gd name="connsiteX9" fmla="*/ 71392 w 1216983"/>
              <a:gd name="connsiteY9" fmla="*/ 169357 h 1219200"/>
              <a:gd name="connsiteX10" fmla="*/ 70643 w 1216983"/>
              <a:gd name="connsiteY10" fmla="*/ 302170 h 1219200"/>
              <a:gd name="connsiteX11" fmla="*/ 380716 w 1216983"/>
              <a:gd name="connsiteY11" fmla="*/ 304967 h 1219200"/>
              <a:gd name="connsiteX12" fmla="*/ 514553 w 1216983"/>
              <a:gd name="connsiteY12" fmla="*/ 303975 h 1219200"/>
              <a:gd name="connsiteX13" fmla="*/ 533112 w 1216983"/>
              <a:gd name="connsiteY13" fmla="*/ 282620 h 1219200"/>
              <a:gd name="connsiteX14" fmla="*/ 533008 w 1216983"/>
              <a:gd name="connsiteY14" fmla="*/ 171941 h 1219200"/>
              <a:gd name="connsiteX15" fmla="*/ 511933 w 1216983"/>
              <a:gd name="connsiteY15" fmla="*/ 149227 h 1219200"/>
              <a:gd name="connsiteX16" fmla="*/ 380716 w 1216983"/>
              <a:gd name="connsiteY16" fmla="*/ 148157 h 1219200"/>
              <a:gd name="connsiteX17" fmla="*/ 380716 w 1216983"/>
              <a:gd name="connsiteY17" fmla="*/ 304967 h 1219200"/>
              <a:gd name="connsiteX18" fmla="*/ 227435 w 1216983"/>
              <a:gd name="connsiteY18" fmla="*/ 915138 h 1219200"/>
              <a:gd name="connsiteX19" fmla="*/ 226272 w 1216983"/>
              <a:gd name="connsiteY19" fmla="*/ 785303 h 1219200"/>
              <a:gd name="connsiteX20" fmla="*/ 201793 w 1216983"/>
              <a:gd name="connsiteY20" fmla="*/ 762524 h 1219200"/>
              <a:gd name="connsiteX21" fmla="*/ 94864 w 1216983"/>
              <a:gd name="connsiteY21" fmla="*/ 762229 h 1219200"/>
              <a:gd name="connsiteX22" fmla="*/ 71963 w 1216983"/>
              <a:gd name="connsiteY22" fmla="*/ 778888 h 1219200"/>
              <a:gd name="connsiteX23" fmla="*/ 70904 w 1216983"/>
              <a:gd name="connsiteY23" fmla="*/ 915138 h 1219200"/>
              <a:gd name="connsiteX24" fmla="*/ 227435 w 1216983"/>
              <a:gd name="connsiteY24" fmla="*/ 915138 h 1219200"/>
              <a:gd name="connsiteX25" fmla="*/ 381250 w 1216983"/>
              <a:gd name="connsiteY25" fmla="*/ 761490 h 1219200"/>
              <a:gd name="connsiteX26" fmla="*/ 381250 w 1216983"/>
              <a:gd name="connsiteY26" fmla="*/ 913414 h 1219200"/>
              <a:gd name="connsiteX27" fmla="*/ 533998 w 1216983"/>
              <a:gd name="connsiteY27" fmla="*/ 913414 h 1219200"/>
              <a:gd name="connsiteX28" fmla="*/ 532965 w 1216983"/>
              <a:gd name="connsiteY28" fmla="*/ 784503 h 1219200"/>
              <a:gd name="connsiteX29" fmla="*/ 511105 w 1216983"/>
              <a:gd name="connsiteY29" fmla="*/ 762524 h 1219200"/>
              <a:gd name="connsiteX30" fmla="*/ 381250 w 1216983"/>
              <a:gd name="connsiteY30" fmla="*/ 761490 h 1219200"/>
              <a:gd name="connsiteX31" fmla="*/ 225379 w 1216983"/>
              <a:gd name="connsiteY31" fmla="*/ 455791 h 1219200"/>
              <a:gd name="connsiteX32" fmla="*/ 87080 w 1216983"/>
              <a:gd name="connsiteY32" fmla="*/ 456552 h 1219200"/>
              <a:gd name="connsiteX33" fmla="*/ 71567 w 1216983"/>
              <a:gd name="connsiteY33" fmla="*/ 472981 h 1219200"/>
              <a:gd name="connsiteX34" fmla="*/ 70854 w 1216983"/>
              <a:gd name="connsiteY34" fmla="*/ 607438 h 1219200"/>
              <a:gd name="connsiteX35" fmla="*/ 225381 w 1216983"/>
              <a:gd name="connsiteY35" fmla="*/ 607438 h 1219200"/>
              <a:gd name="connsiteX36" fmla="*/ 225379 w 1216983"/>
              <a:gd name="connsiteY36" fmla="*/ 455791 h 1219200"/>
              <a:gd name="connsiteX37" fmla="*/ 533984 w 1216983"/>
              <a:gd name="connsiteY37" fmla="*/ 455513 h 1219200"/>
              <a:gd name="connsiteX38" fmla="*/ 398502 w 1216983"/>
              <a:gd name="connsiteY38" fmla="*/ 456126 h 1219200"/>
              <a:gd name="connsiteX39" fmla="*/ 379860 w 1216983"/>
              <a:gd name="connsiteY39" fmla="*/ 469277 h 1219200"/>
              <a:gd name="connsiteX40" fmla="*/ 379013 w 1216983"/>
              <a:gd name="connsiteY40" fmla="*/ 610667 h 1219200"/>
              <a:gd name="connsiteX41" fmla="*/ 507547 w 1216983"/>
              <a:gd name="connsiteY41" fmla="*/ 609614 h 1219200"/>
              <a:gd name="connsiteX42" fmla="*/ 532793 w 1216983"/>
              <a:gd name="connsiteY42" fmla="*/ 587450 h 1219200"/>
              <a:gd name="connsiteX43" fmla="*/ 533984 w 1216983"/>
              <a:gd name="connsiteY43" fmla="*/ 455513 h 1219200"/>
              <a:gd name="connsiteX44" fmla="*/ 835945 w 1216983"/>
              <a:gd name="connsiteY44" fmla="*/ 917300 h 1219200"/>
              <a:gd name="connsiteX45" fmla="*/ 835945 w 1216983"/>
              <a:gd name="connsiteY45" fmla="*/ 1219200 h 1219200"/>
              <a:gd name="connsiteX46" fmla="*/ 690861 w 1216983"/>
              <a:gd name="connsiteY46" fmla="*/ 1219200 h 1219200"/>
              <a:gd name="connsiteX47" fmla="*/ 690861 w 1216983"/>
              <a:gd name="connsiteY47" fmla="*/ 539315 h 1219200"/>
              <a:gd name="connsiteX48" fmla="*/ 1216764 w 1216983"/>
              <a:gd name="connsiteY48" fmla="*/ 539315 h 1219200"/>
              <a:gd name="connsiteX49" fmla="*/ 1216764 w 1216983"/>
              <a:gd name="connsiteY49" fmla="*/ 1218814 h 1219200"/>
              <a:gd name="connsiteX50" fmla="*/ 1071989 w 1216983"/>
              <a:gd name="connsiteY50" fmla="*/ 1218814 h 1219200"/>
              <a:gd name="connsiteX51" fmla="*/ 1071989 w 1216983"/>
              <a:gd name="connsiteY51" fmla="*/ 917300 h 1219200"/>
              <a:gd name="connsiteX52" fmla="*/ 835945 w 1216983"/>
              <a:gd name="connsiteY52" fmla="*/ 917300 h 1219200"/>
              <a:gd name="connsiteX53" fmla="*/ 689084 w 1216983"/>
              <a:gd name="connsiteY53" fmla="*/ 452070 h 1219200"/>
              <a:gd name="connsiteX54" fmla="*/ 689084 w 1216983"/>
              <a:gd name="connsiteY54" fmla="*/ 385334 h 1219200"/>
              <a:gd name="connsiteX55" fmla="*/ 1216983 w 1216983"/>
              <a:gd name="connsiteY55" fmla="*/ 385334 h 1219200"/>
              <a:gd name="connsiteX56" fmla="*/ 1216983 w 1216983"/>
              <a:gd name="connsiteY56" fmla="*/ 452070 h 1219200"/>
              <a:gd name="connsiteX57" fmla="*/ 689084 w 1216983"/>
              <a:gd name="connsiteY57" fmla="*/ 45207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16983" h="1219200">
                <a:moveTo>
                  <a:pt x="0" y="0"/>
                </a:moveTo>
                <a:cubicBezTo>
                  <a:pt x="201538" y="0"/>
                  <a:pt x="400814" y="0"/>
                  <a:pt x="603764" y="0"/>
                </a:cubicBezTo>
                <a:cubicBezTo>
                  <a:pt x="603764" y="406105"/>
                  <a:pt x="603764" y="810854"/>
                  <a:pt x="603764" y="1218529"/>
                </a:cubicBezTo>
                <a:cubicBezTo>
                  <a:pt x="403603" y="1218529"/>
                  <a:pt x="203422" y="1218529"/>
                  <a:pt x="0" y="1218529"/>
                </a:cubicBezTo>
                <a:cubicBezTo>
                  <a:pt x="0" y="814464"/>
                  <a:pt x="0" y="409606"/>
                  <a:pt x="0" y="0"/>
                </a:cubicBezTo>
                <a:close/>
                <a:moveTo>
                  <a:pt x="70643" y="302170"/>
                </a:moveTo>
                <a:cubicBezTo>
                  <a:pt x="126238" y="302170"/>
                  <a:pt x="175381" y="302170"/>
                  <a:pt x="225799" y="302170"/>
                </a:cubicBezTo>
                <a:cubicBezTo>
                  <a:pt x="225799" y="250649"/>
                  <a:pt x="225799" y="202403"/>
                  <a:pt x="225799" y="148468"/>
                </a:cubicBezTo>
                <a:cubicBezTo>
                  <a:pt x="178628" y="148468"/>
                  <a:pt x="132974" y="147725"/>
                  <a:pt x="87408" y="149392"/>
                </a:cubicBezTo>
                <a:cubicBezTo>
                  <a:pt x="81586" y="149604"/>
                  <a:pt x="71641" y="162218"/>
                  <a:pt x="71392" y="169357"/>
                </a:cubicBezTo>
                <a:cubicBezTo>
                  <a:pt x="69885" y="212616"/>
                  <a:pt x="70643" y="255949"/>
                  <a:pt x="70643" y="302170"/>
                </a:cubicBezTo>
                <a:close/>
                <a:moveTo>
                  <a:pt x="380716" y="304967"/>
                </a:moveTo>
                <a:cubicBezTo>
                  <a:pt x="426176" y="304967"/>
                  <a:pt x="470431" y="305913"/>
                  <a:pt x="514553" y="303975"/>
                </a:cubicBezTo>
                <a:cubicBezTo>
                  <a:pt x="521330" y="303674"/>
                  <a:pt x="532693" y="290379"/>
                  <a:pt x="533112" y="282620"/>
                </a:cubicBezTo>
                <a:cubicBezTo>
                  <a:pt x="535089" y="245796"/>
                  <a:pt x="535327" y="208726"/>
                  <a:pt x="533008" y="171941"/>
                </a:cubicBezTo>
                <a:cubicBezTo>
                  <a:pt x="532493" y="163607"/>
                  <a:pt x="519672" y="149627"/>
                  <a:pt x="511933" y="149227"/>
                </a:cubicBezTo>
                <a:cubicBezTo>
                  <a:pt x="469061" y="146994"/>
                  <a:pt x="426003" y="148157"/>
                  <a:pt x="380716" y="148157"/>
                </a:cubicBezTo>
                <a:cubicBezTo>
                  <a:pt x="380716" y="201797"/>
                  <a:pt x="380716" y="250841"/>
                  <a:pt x="380716" y="304967"/>
                </a:cubicBezTo>
                <a:close/>
                <a:moveTo>
                  <a:pt x="227435" y="915138"/>
                </a:moveTo>
                <a:cubicBezTo>
                  <a:pt x="227435" y="868861"/>
                  <a:pt x="228815" y="826961"/>
                  <a:pt x="226272" y="785303"/>
                </a:cubicBezTo>
                <a:cubicBezTo>
                  <a:pt x="225754" y="776878"/>
                  <a:pt x="210856" y="763200"/>
                  <a:pt x="201793" y="762524"/>
                </a:cubicBezTo>
                <a:cubicBezTo>
                  <a:pt x="166310" y="759862"/>
                  <a:pt x="130453" y="760376"/>
                  <a:pt x="94864" y="762229"/>
                </a:cubicBezTo>
                <a:cubicBezTo>
                  <a:pt x="86613" y="762667"/>
                  <a:pt x="72232" y="772749"/>
                  <a:pt x="71963" y="778888"/>
                </a:cubicBezTo>
                <a:cubicBezTo>
                  <a:pt x="69997" y="824017"/>
                  <a:pt x="70904" y="869266"/>
                  <a:pt x="70904" y="915138"/>
                </a:cubicBezTo>
                <a:cubicBezTo>
                  <a:pt x="125443" y="915138"/>
                  <a:pt x="173566" y="915138"/>
                  <a:pt x="227435" y="915138"/>
                </a:cubicBezTo>
                <a:close/>
                <a:moveTo>
                  <a:pt x="381250" y="761490"/>
                </a:moveTo>
                <a:cubicBezTo>
                  <a:pt x="381250" y="815802"/>
                  <a:pt x="381250" y="864703"/>
                  <a:pt x="381250" y="913414"/>
                </a:cubicBezTo>
                <a:cubicBezTo>
                  <a:pt x="433116" y="913414"/>
                  <a:pt x="481977" y="913414"/>
                  <a:pt x="533998" y="913414"/>
                </a:cubicBezTo>
                <a:cubicBezTo>
                  <a:pt x="533998" y="868237"/>
                  <a:pt x="535184" y="826279"/>
                  <a:pt x="532965" y="784503"/>
                </a:cubicBezTo>
                <a:cubicBezTo>
                  <a:pt x="532541" y="776468"/>
                  <a:pt x="519101" y="762953"/>
                  <a:pt x="511105" y="762524"/>
                </a:cubicBezTo>
                <a:cubicBezTo>
                  <a:pt x="469305" y="760309"/>
                  <a:pt x="427310" y="761490"/>
                  <a:pt x="381250" y="761490"/>
                </a:cubicBezTo>
                <a:close/>
                <a:moveTo>
                  <a:pt x="225379" y="455791"/>
                </a:moveTo>
                <a:cubicBezTo>
                  <a:pt x="177933" y="455791"/>
                  <a:pt x="132479" y="455205"/>
                  <a:pt x="87080" y="456552"/>
                </a:cubicBezTo>
                <a:cubicBezTo>
                  <a:pt x="81514" y="456718"/>
                  <a:pt x="71746" y="467107"/>
                  <a:pt x="71567" y="472981"/>
                </a:cubicBezTo>
                <a:cubicBezTo>
                  <a:pt x="70268" y="518127"/>
                  <a:pt x="70854" y="563328"/>
                  <a:pt x="70854" y="607438"/>
                </a:cubicBezTo>
                <a:cubicBezTo>
                  <a:pt x="126411" y="607438"/>
                  <a:pt x="175301" y="607438"/>
                  <a:pt x="225381" y="607438"/>
                </a:cubicBezTo>
                <a:cubicBezTo>
                  <a:pt x="225379" y="556331"/>
                  <a:pt x="225379" y="508573"/>
                  <a:pt x="225379" y="455791"/>
                </a:cubicBezTo>
                <a:close/>
                <a:moveTo>
                  <a:pt x="533984" y="455513"/>
                </a:moveTo>
                <a:cubicBezTo>
                  <a:pt x="484644" y="455513"/>
                  <a:pt x="441547" y="454931"/>
                  <a:pt x="398502" y="456126"/>
                </a:cubicBezTo>
                <a:cubicBezTo>
                  <a:pt x="391894" y="456313"/>
                  <a:pt x="380003" y="464503"/>
                  <a:pt x="379860" y="469277"/>
                </a:cubicBezTo>
                <a:cubicBezTo>
                  <a:pt x="378443" y="515717"/>
                  <a:pt x="379013" y="562213"/>
                  <a:pt x="379013" y="610667"/>
                </a:cubicBezTo>
                <a:cubicBezTo>
                  <a:pt x="426147" y="610667"/>
                  <a:pt x="466962" y="612058"/>
                  <a:pt x="507547" y="609614"/>
                </a:cubicBezTo>
                <a:cubicBezTo>
                  <a:pt x="516777" y="609057"/>
                  <a:pt x="532288" y="595679"/>
                  <a:pt x="532793" y="587450"/>
                </a:cubicBezTo>
                <a:cubicBezTo>
                  <a:pt x="535389" y="545721"/>
                  <a:pt x="533984" y="503749"/>
                  <a:pt x="533984" y="455513"/>
                </a:cubicBezTo>
                <a:close/>
                <a:moveTo>
                  <a:pt x="835945" y="917300"/>
                </a:moveTo>
                <a:cubicBezTo>
                  <a:pt x="835945" y="1018818"/>
                  <a:pt x="835945" y="1117945"/>
                  <a:pt x="835945" y="1219200"/>
                </a:cubicBezTo>
                <a:cubicBezTo>
                  <a:pt x="785591" y="1219200"/>
                  <a:pt x="739990" y="1219200"/>
                  <a:pt x="690861" y="1219200"/>
                </a:cubicBezTo>
                <a:cubicBezTo>
                  <a:pt x="690861" y="993886"/>
                  <a:pt x="690861" y="768320"/>
                  <a:pt x="690861" y="539315"/>
                </a:cubicBezTo>
                <a:cubicBezTo>
                  <a:pt x="864668" y="539315"/>
                  <a:pt x="1039061" y="539315"/>
                  <a:pt x="1216764" y="539315"/>
                </a:cubicBezTo>
                <a:cubicBezTo>
                  <a:pt x="1216764" y="765015"/>
                  <a:pt x="1216764" y="990595"/>
                  <a:pt x="1216764" y="1218814"/>
                </a:cubicBezTo>
                <a:cubicBezTo>
                  <a:pt x="1169616" y="1218814"/>
                  <a:pt x="1123072" y="1218814"/>
                  <a:pt x="1071989" y="1218814"/>
                </a:cubicBezTo>
                <a:cubicBezTo>
                  <a:pt x="1071989" y="1118592"/>
                  <a:pt x="1071989" y="1019451"/>
                  <a:pt x="1071989" y="917300"/>
                </a:cubicBezTo>
                <a:cubicBezTo>
                  <a:pt x="992784" y="917300"/>
                  <a:pt x="918013" y="917300"/>
                  <a:pt x="835945" y="917300"/>
                </a:cubicBezTo>
                <a:close/>
                <a:moveTo>
                  <a:pt x="689084" y="452070"/>
                </a:moveTo>
                <a:cubicBezTo>
                  <a:pt x="689084" y="428484"/>
                  <a:pt x="689084" y="408446"/>
                  <a:pt x="689084" y="385334"/>
                </a:cubicBezTo>
                <a:cubicBezTo>
                  <a:pt x="865163" y="385334"/>
                  <a:pt x="1039547" y="385334"/>
                  <a:pt x="1216983" y="385334"/>
                </a:cubicBezTo>
                <a:cubicBezTo>
                  <a:pt x="1216983" y="407102"/>
                  <a:pt x="1216983" y="427996"/>
                  <a:pt x="1216983" y="452070"/>
                </a:cubicBezTo>
                <a:cubicBezTo>
                  <a:pt x="1041862" y="452070"/>
                  <a:pt x="867459" y="452070"/>
                  <a:pt x="689084" y="452070"/>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 name="图形 181"/>
          <p:cNvSpPr/>
          <p:nvPr/>
        </p:nvSpPr>
        <p:spPr>
          <a:xfrm>
            <a:off x="9081703" y="1689557"/>
            <a:ext cx="290817" cy="313799"/>
          </a:xfrm>
          <a:custGeom>
            <a:avLst/>
            <a:gdLst>
              <a:gd name="connsiteX0" fmla="*/ 918053 w 1129907"/>
              <a:gd name="connsiteY0" fmla="*/ 1219200 h 1219200"/>
              <a:gd name="connsiteX1" fmla="*/ 211858 w 1129907"/>
              <a:gd name="connsiteY1" fmla="*/ 1219200 h 1219200"/>
              <a:gd name="connsiteX2" fmla="*/ 0 w 1129907"/>
              <a:gd name="connsiteY2" fmla="*/ 1015998 h 1219200"/>
              <a:gd name="connsiteX3" fmla="*/ 0 w 1129907"/>
              <a:gd name="connsiteY3" fmla="*/ 203200 h 1219200"/>
              <a:gd name="connsiteX4" fmla="*/ 211858 w 1129907"/>
              <a:gd name="connsiteY4" fmla="*/ 0 h 1219200"/>
              <a:gd name="connsiteX5" fmla="*/ 918053 w 1129907"/>
              <a:gd name="connsiteY5" fmla="*/ 0 h 1219200"/>
              <a:gd name="connsiteX6" fmla="*/ 1129908 w 1129907"/>
              <a:gd name="connsiteY6" fmla="*/ 203200 h 1219200"/>
              <a:gd name="connsiteX7" fmla="*/ 1129908 w 1129907"/>
              <a:gd name="connsiteY7" fmla="*/ 1015998 h 1219200"/>
              <a:gd name="connsiteX8" fmla="*/ 918053 w 1129907"/>
              <a:gd name="connsiteY8" fmla="*/ 1219200 h 1219200"/>
              <a:gd name="connsiteX9" fmla="*/ 564952 w 1129907"/>
              <a:gd name="connsiteY9" fmla="*/ 561218 h 1219200"/>
              <a:gd name="connsiteX10" fmla="*/ 847430 w 1129907"/>
              <a:gd name="connsiteY10" fmla="*/ 280609 h 1219200"/>
              <a:gd name="connsiteX11" fmla="*/ 776811 w 1129907"/>
              <a:gd name="connsiteY11" fmla="*/ 210457 h 1219200"/>
              <a:gd name="connsiteX12" fmla="*/ 706193 w 1129907"/>
              <a:gd name="connsiteY12" fmla="*/ 280609 h 1219200"/>
              <a:gd name="connsiteX13" fmla="*/ 564952 w 1129907"/>
              <a:gd name="connsiteY13" fmla="*/ 420915 h 1219200"/>
              <a:gd name="connsiteX14" fmla="*/ 423715 w 1129907"/>
              <a:gd name="connsiteY14" fmla="*/ 280609 h 1219200"/>
              <a:gd name="connsiteX15" fmla="*/ 353096 w 1129907"/>
              <a:gd name="connsiteY15" fmla="*/ 210457 h 1219200"/>
              <a:gd name="connsiteX16" fmla="*/ 282477 w 1129907"/>
              <a:gd name="connsiteY16" fmla="*/ 280609 h 1219200"/>
              <a:gd name="connsiteX17" fmla="*/ 564952 w 1129907"/>
              <a:gd name="connsiteY17" fmla="*/ 561218 h 1219200"/>
              <a:gd name="connsiteX18" fmla="*/ 305401 w 1129907"/>
              <a:gd name="connsiteY18" fmla="*/ 892402 h 1219200"/>
              <a:gd name="connsiteX19" fmla="*/ 313064 w 1129907"/>
              <a:gd name="connsiteY19" fmla="*/ 864184 h 1219200"/>
              <a:gd name="connsiteX20" fmla="*/ 335010 w 1129907"/>
              <a:gd name="connsiteY20" fmla="*/ 779888 h 1219200"/>
              <a:gd name="connsiteX21" fmla="*/ 336404 w 1129907"/>
              <a:gd name="connsiteY21" fmla="*/ 779888 h 1219200"/>
              <a:gd name="connsiteX22" fmla="*/ 359046 w 1129907"/>
              <a:gd name="connsiteY22" fmla="*/ 864184 h 1219200"/>
              <a:gd name="connsiteX23" fmla="*/ 366709 w 1129907"/>
              <a:gd name="connsiteY23" fmla="*/ 892402 h 1219200"/>
              <a:gd name="connsiteX24" fmla="*/ 305401 w 1129907"/>
              <a:gd name="connsiteY24" fmla="*/ 892402 h 1219200"/>
              <a:gd name="connsiteX25" fmla="*/ 395970 w 1129907"/>
              <a:gd name="connsiteY25" fmla="*/ 998649 h 1219200"/>
              <a:gd name="connsiteX26" fmla="*/ 449961 w 1129907"/>
              <a:gd name="connsiteY26" fmla="*/ 998649 h 1219200"/>
              <a:gd name="connsiteX27" fmla="*/ 367057 w 1129907"/>
              <a:gd name="connsiteY27" fmla="*/ 740874 h 1219200"/>
              <a:gd name="connsiteX28" fmla="*/ 306446 w 1129907"/>
              <a:gd name="connsiteY28" fmla="*/ 740874 h 1219200"/>
              <a:gd name="connsiteX29" fmla="*/ 223888 w 1129907"/>
              <a:gd name="connsiteY29" fmla="*/ 998649 h 1219200"/>
              <a:gd name="connsiteX30" fmla="*/ 276140 w 1129907"/>
              <a:gd name="connsiteY30" fmla="*/ 998649 h 1219200"/>
              <a:gd name="connsiteX31" fmla="*/ 294254 w 1129907"/>
              <a:gd name="connsiteY31" fmla="*/ 932459 h 1219200"/>
              <a:gd name="connsiteX32" fmla="*/ 377856 w 1129907"/>
              <a:gd name="connsiteY32" fmla="*/ 932459 h 1219200"/>
              <a:gd name="connsiteX33" fmla="*/ 395970 w 1129907"/>
              <a:gd name="connsiteY33" fmla="*/ 998649 h 1219200"/>
              <a:gd name="connsiteX34" fmla="*/ 497105 w 1129907"/>
              <a:gd name="connsiteY34" fmla="*/ 998649 h 1219200"/>
              <a:gd name="connsiteX35" fmla="*/ 548659 w 1129907"/>
              <a:gd name="connsiteY35" fmla="*/ 998649 h 1219200"/>
              <a:gd name="connsiteX36" fmla="*/ 548659 w 1129907"/>
              <a:gd name="connsiteY36" fmla="*/ 907032 h 1219200"/>
              <a:gd name="connsiteX37" fmla="*/ 583144 w 1129907"/>
              <a:gd name="connsiteY37" fmla="*/ 907032 h 1219200"/>
              <a:gd name="connsiteX38" fmla="*/ 682771 w 1129907"/>
              <a:gd name="connsiteY38" fmla="*/ 821688 h 1219200"/>
              <a:gd name="connsiteX39" fmla="*/ 581754 w 1129907"/>
              <a:gd name="connsiteY39" fmla="*/ 740874 h 1219200"/>
              <a:gd name="connsiteX40" fmla="*/ 497105 w 1129907"/>
              <a:gd name="connsiteY40" fmla="*/ 740874 h 1219200"/>
              <a:gd name="connsiteX41" fmla="*/ 497105 w 1129907"/>
              <a:gd name="connsiteY41" fmla="*/ 998649 h 1219200"/>
              <a:gd name="connsiteX42" fmla="*/ 548659 w 1129907"/>
              <a:gd name="connsiteY42" fmla="*/ 866275 h 1219200"/>
              <a:gd name="connsiteX43" fmla="*/ 548659 w 1129907"/>
              <a:gd name="connsiteY43" fmla="*/ 781631 h 1219200"/>
              <a:gd name="connsiteX44" fmla="*/ 577920 w 1129907"/>
              <a:gd name="connsiteY44" fmla="*/ 781631 h 1219200"/>
              <a:gd name="connsiteX45" fmla="*/ 632260 w 1129907"/>
              <a:gd name="connsiteY45" fmla="*/ 821688 h 1219200"/>
              <a:gd name="connsiteX46" fmla="*/ 579663 w 1129907"/>
              <a:gd name="connsiteY46" fmla="*/ 866275 h 1219200"/>
              <a:gd name="connsiteX47" fmla="*/ 548659 w 1129907"/>
              <a:gd name="connsiteY47" fmla="*/ 866275 h 1219200"/>
              <a:gd name="connsiteX48" fmla="*/ 746289 w 1129907"/>
              <a:gd name="connsiteY48" fmla="*/ 998649 h 1219200"/>
              <a:gd name="connsiteX49" fmla="*/ 797843 w 1129907"/>
              <a:gd name="connsiteY49" fmla="*/ 998649 h 1219200"/>
              <a:gd name="connsiteX50" fmla="*/ 797843 w 1129907"/>
              <a:gd name="connsiteY50" fmla="*/ 907032 h 1219200"/>
              <a:gd name="connsiteX51" fmla="*/ 832328 w 1129907"/>
              <a:gd name="connsiteY51" fmla="*/ 907032 h 1219200"/>
              <a:gd name="connsiteX52" fmla="*/ 931955 w 1129907"/>
              <a:gd name="connsiteY52" fmla="*/ 821688 h 1219200"/>
              <a:gd name="connsiteX53" fmla="*/ 830937 w 1129907"/>
              <a:gd name="connsiteY53" fmla="*/ 740874 h 1219200"/>
              <a:gd name="connsiteX54" fmla="*/ 746289 w 1129907"/>
              <a:gd name="connsiteY54" fmla="*/ 740874 h 1219200"/>
              <a:gd name="connsiteX55" fmla="*/ 746289 w 1129907"/>
              <a:gd name="connsiteY55" fmla="*/ 998649 h 1219200"/>
              <a:gd name="connsiteX56" fmla="*/ 797843 w 1129907"/>
              <a:gd name="connsiteY56" fmla="*/ 866275 h 1219200"/>
              <a:gd name="connsiteX57" fmla="*/ 797843 w 1129907"/>
              <a:gd name="connsiteY57" fmla="*/ 781631 h 1219200"/>
              <a:gd name="connsiteX58" fmla="*/ 827103 w 1129907"/>
              <a:gd name="connsiteY58" fmla="*/ 781631 h 1219200"/>
              <a:gd name="connsiteX59" fmla="*/ 881444 w 1129907"/>
              <a:gd name="connsiteY59" fmla="*/ 821688 h 1219200"/>
              <a:gd name="connsiteX60" fmla="*/ 828846 w 1129907"/>
              <a:gd name="connsiteY60" fmla="*/ 866275 h 1219200"/>
              <a:gd name="connsiteX61" fmla="*/ 797843 w 1129907"/>
              <a:gd name="connsiteY61" fmla="*/ 86627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129907" h="1219200">
                <a:moveTo>
                  <a:pt x="918053" y="1219200"/>
                </a:moveTo>
                <a:lnTo>
                  <a:pt x="211858" y="1219200"/>
                </a:lnTo>
                <a:cubicBezTo>
                  <a:pt x="91805" y="1219200"/>
                  <a:pt x="0" y="1131146"/>
                  <a:pt x="0" y="1015998"/>
                </a:cubicBezTo>
                <a:lnTo>
                  <a:pt x="0" y="203200"/>
                </a:lnTo>
                <a:cubicBezTo>
                  <a:pt x="0" y="88053"/>
                  <a:pt x="91805" y="0"/>
                  <a:pt x="211858" y="0"/>
                </a:cubicBezTo>
                <a:lnTo>
                  <a:pt x="918053" y="0"/>
                </a:lnTo>
                <a:cubicBezTo>
                  <a:pt x="1038101" y="0"/>
                  <a:pt x="1129908" y="88053"/>
                  <a:pt x="1129908" y="203200"/>
                </a:cubicBezTo>
                <a:lnTo>
                  <a:pt x="1129908" y="1015998"/>
                </a:lnTo>
                <a:cubicBezTo>
                  <a:pt x="1129908" y="1131146"/>
                  <a:pt x="1038101" y="1219200"/>
                  <a:pt x="918053" y="1219200"/>
                </a:cubicBezTo>
                <a:close/>
                <a:moveTo>
                  <a:pt x="564952" y="561218"/>
                </a:moveTo>
                <a:cubicBezTo>
                  <a:pt x="720314" y="561218"/>
                  <a:pt x="847430" y="434945"/>
                  <a:pt x="847430" y="280609"/>
                </a:cubicBezTo>
                <a:cubicBezTo>
                  <a:pt x="847430" y="238518"/>
                  <a:pt x="819183" y="210457"/>
                  <a:pt x="776811" y="210457"/>
                </a:cubicBezTo>
                <a:cubicBezTo>
                  <a:pt x="734439" y="210457"/>
                  <a:pt x="706193" y="238518"/>
                  <a:pt x="706193" y="280609"/>
                </a:cubicBezTo>
                <a:cubicBezTo>
                  <a:pt x="706193" y="357777"/>
                  <a:pt x="642633" y="420915"/>
                  <a:pt x="564952" y="420915"/>
                </a:cubicBezTo>
                <a:cubicBezTo>
                  <a:pt x="487275" y="420915"/>
                  <a:pt x="423715" y="357777"/>
                  <a:pt x="423715" y="280609"/>
                </a:cubicBezTo>
                <a:cubicBezTo>
                  <a:pt x="423715" y="238518"/>
                  <a:pt x="395468" y="210457"/>
                  <a:pt x="353096" y="210457"/>
                </a:cubicBezTo>
                <a:cubicBezTo>
                  <a:pt x="310725" y="210457"/>
                  <a:pt x="282477" y="238518"/>
                  <a:pt x="282477" y="280609"/>
                </a:cubicBezTo>
                <a:cubicBezTo>
                  <a:pt x="282477" y="434945"/>
                  <a:pt x="409592" y="561218"/>
                  <a:pt x="564952" y="561218"/>
                </a:cubicBezTo>
                <a:close/>
                <a:moveTo>
                  <a:pt x="305401" y="892402"/>
                </a:moveTo>
                <a:lnTo>
                  <a:pt x="313064" y="864184"/>
                </a:lnTo>
                <a:cubicBezTo>
                  <a:pt x="320728" y="837362"/>
                  <a:pt x="328392" y="808101"/>
                  <a:pt x="335010" y="779888"/>
                </a:cubicBezTo>
                <a:lnTo>
                  <a:pt x="336404" y="779888"/>
                </a:lnTo>
                <a:cubicBezTo>
                  <a:pt x="344067" y="807753"/>
                  <a:pt x="351034" y="837362"/>
                  <a:pt x="359046" y="864184"/>
                </a:cubicBezTo>
                <a:lnTo>
                  <a:pt x="366709" y="892402"/>
                </a:lnTo>
                <a:lnTo>
                  <a:pt x="305401" y="892402"/>
                </a:lnTo>
                <a:close/>
                <a:moveTo>
                  <a:pt x="395970" y="998649"/>
                </a:moveTo>
                <a:lnTo>
                  <a:pt x="449961" y="998649"/>
                </a:lnTo>
                <a:lnTo>
                  <a:pt x="367057" y="740874"/>
                </a:lnTo>
                <a:lnTo>
                  <a:pt x="306446" y="740874"/>
                </a:lnTo>
                <a:lnTo>
                  <a:pt x="223888" y="998649"/>
                </a:lnTo>
                <a:lnTo>
                  <a:pt x="276140" y="998649"/>
                </a:lnTo>
                <a:lnTo>
                  <a:pt x="294254" y="932459"/>
                </a:lnTo>
                <a:lnTo>
                  <a:pt x="377856" y="932459"/>
                </a:lnTo>
                <a:lnTo>
                  <a:pt x="395970" y="998649"/>
                </a:lnTo>
                <a:close/>
                <a:moveTo>
                  <a:pt x="497105" y="998649"/>
                </a:moveTo>
                <a:lnTo>
                  <a:pt x="548659" y="998649"/>
                </a:lnTo>
                <a:lnTo>
                  <a:pt x="548659" y="907032"/>
                </a:lnTo>
                <a:lnTo>
                  <a:pt x="583144" y="907032"/>
                </a:lnTo>
                <a:cubicBezTo>
                  <a:pt x="638532" y="907032"/>
                  <a:pt x="682771" y="880558"/>
                  <a:pt x="682771" y="821688"/>
                </a:cubicBezTo>
                <a:cubicBezTo>
                  <a:pt x="682771" y="760728"/>
                  <a:pt x="638880" y="740874"/>
                  <a:pt x="581754" y="740874"/>
                </a:cubicBezTo>
                <a:lnTo>
                  <a:pt x="497105" y="740874"/>
                </a:lnTo>
                <a:lnTo>
                  <a:pt x="497105" y="998649"/>
                </a:lnTo>
                <a:close/>
                <a:moveTo>
                  <a:pt x="548659" y="866275"/>
                </a:moveTo>
                <a:lnTo>
                  <a:pt x="548659" y="781631"/>
                </a:lnTo>
                <a:lnTo>
                  <a:pt x="577920" y="781631"/>
                </a:lnTo>
                <a:cubicBezTo>
                  <a:pt x="613453" y="781631"/>
                  <a:pt x="632260" y="791732"/>
                  <a:pt x="632260" y="821688"/>
                </a:cubicBezTo>
                <a:cubicBezTo>
                  <a:pt x="632260" y="851297"/>
                  <a:pt x="615191" y="866275"/>
                  <a:pt x="579663" y="866275"/>
                </a:cubicBezTo>
                <a:lnTo>
                  <a:pt x="548659" y="866275"/>
                </a:lnTo>
                <a:close/>
                <a:moveTo>
                  <a:pt x="746289" y="998649"/>
                </a:moveTo>
                <a:lnTo>
                  <a:pt x="797843" y="998649"/>
                </a:lnTo>
                <a:lnTo>
                  <a:pt x="797843" y="907032"/>
                </a:lnTo>
                <a:lnTo>
                  <a:pt x="832328" y="907032"/>
                </a:lnTo>
                <a:cubicBezTo>
                  <a:pt x="887716" y="907032"/>
                  <a:pt x="931955" y="880558"/>
                  <a:pt x="931955" y="821688"/>
                </a:cubicBezTo>
                <a:cubicBezTo>
                  <a:pt x="931955" y="760728"/>
                  <a:pt x="888063" y="740874"/>
                  <a:pt x="830937" y="740874"/>
                </a:cubicBezTo>
                <a:lnTo>
                  <a:pt x="746289" y="740874"/>
                </a:lnTo>
                <a:lnTo>
                  <a:pt x="746289" y="998649"/>
                </a:lnTo>
                <a:close/>
                <a:moveTo>
                  <a:pt x="797843" y="866275"/>
                </a:moveTo>
                <a:lnTo>
                  <a:pt x="797843" y="781631"/>
                </a:lnTo>
                <a:lnTo>
                  <a:pt x="827103" y="781631"/>
                </a:lnTo>
                <a:cubicBezTo>
                  <a:pt x="862636" y="781631"/>
                  <a:pt x="881444" y="791732"/>
                  <a:pt x="881444" y="821688"/>
                </a:cubicBezTo>
                <a:cubicBezTo>
                  <a:pt x="881444" y="851297"/>
                  <a:pt x="864375" y="866275"/>
                  <a:pt x="828846" y="866275"/>
                </a:cubicBezTo>
                <a:lnTo>
                  <a:pt x="797843" y="866275"/>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 name="文本框 15"/>
          <p:cNvSpPr txBox="1"/>
          <p:nvPr/>
        </p:nvSpPr>
        <p:spPr>
          <a:xfrm>
            <a:off x="8211935" y="1729387"/>
            <a:ext cx="101517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应用程序</a:t>
            </a:r>
          </a:p>
        </p:txBody>
      </p:sp>
      <p:sp>
        <p:nvSpPr>
          <p:cNvPr id="24" name="等腰三角形 23"/>
          <p:cNvSpPr/>
          <p:nvPr/>
        </p:nvSpPr>
        <p:spPr>
          <a:xfrm rot="5400000">
            <a:off x="3844476" y="-551807"/>
            <a:ext cx="1152000" cy="4824000"/>
          </a:xfrm>
          <a:prstGeom prst="triangle">
            <a:avLst/>
          </a:prstGeom>
          <a:gradFill>
            <a:gsLst>
              <a:gs pos="0">
                <a:schemeClr val="accent3">
                  <a:lumMod val="90000"/>
                  <a:alpha val="42000"/>
                </a:schemeClr>
              </a:gs>
              <a:gs pos="75000">
                <a:schemeClr val="accent3">
                  <a:lumMod val="90000"/>
                  <a:alpha val="19000"/>
                </a:schemeClr>
              </a:gs>
              <a:gs pos="100000">
                <a:schemeClr val="accent3">
                  <a:lumMod val="90000"/>
                  <a:alpha val="0"/>
                </a:schemeClr>
              </a:gs>
            </a:gsLst>
            <a:path path="circle">
              <a:fillToRect l="100000" t="10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等腰三角形 24"/>
          <p:cNvSpPr/>
          <p:nvPr/>
        </p:nvSpPr>
        <p:spPr>
          <a:xfrm rot="5400000">
            <a:off x="3562883" y="295136"/>
            <a:ext cx="747520" cy="3130241"/>
          </a:xfrm>
          <a:prstGeom prst="triangle">
            <a:avLst/>
          </a:prstGeom>
          <a:gradFill>
            <a:gsLst>
              <a:gs pos="0">
                <a:schemeClr val="accent3">
                  <a:lumMod val="90000"/>
                  <a:alpha val="42000"/>
                </a:schemeClr>
              </a:gs>
              <a:gs pos="79000">
                <a:schemeClr val="accent3">
                  <a:lumMod val="90000"/>
                  <a:alpha val="19000"/>
                </a:schemeClr>
              </a:gs>
              <a:gs pos="100000">
                <a:schemeClr val="accent3">
                  <a:lumMod val="90000"/>
                  <a:alpha val="0"/>
                </a:schemeClr>
              </a:gs>
            </a:gsLst>
            <a:path path="circle">
              <a:fillToRect l="100000" t="100000"/>
            </a:path>
          </a:gra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椭圆 25"/>
          <p:cNvSpPr>
            <a:spLocks noChangeAspect="1"/>
          </p:cNvSpPr>
          <p:nvPr/>
        </p:nvSpPr>
        <p:spPr>
          <a:xfrm>
            <a:off x="1414188" y="1284193"/>
            <a:ext cx="1152000" cy="1152000"/>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7" name="图形 87"/>
          <p:cNvSpPr>
            <a:spLocks noChangeAspect="1"/>
          </p:cNvSpPr>
          <p:nvPr/>
        </p:nvSpPr>
        <p:spPr>
          <a:xfrm>
            <a:off x="1838073" y="1483083"/>
            <a:ext cx="258188" cy="360000"/>
          </a:xfrm>
          <a:custGeom>
            <a:avLst/>
            <a:gdLst>
              <a:gd name="connsiteX0" fmla="*/ 165542 w 565672"/>
              <a:gd name="connsiteY0" fmla="*/ 155311 h 788734"/>
              <a:gd name="connsiteX1" fmla="*/ 173491 w 565672"/>
              <a:gd name="connsiteY1" fmla="*/ 21965 h 788734"/>
              <a:gd name="connsiteX2" fmla="*/ 329606 w 565672"/>
              <a:gd name="connsiteY2" fmla="*/ 10843 h 788734"/>
              <a:gd name="connsiteX3" fmla="*/ 422036 w 565672"/>
              <a:gd name="connsiteY3" fmla="*/ 43964 h 788734"/>
              <a:gd name="connsiteX4" fmla="*/ 388607 w 565672"/>
              <a:gd name="connsiteY4" fmla="*/ 143018 h 788734"/>
              <a:gd name="connsiteX5" fmla="*/ 311582 w 565672"/>
              <a:gd name="connsiteY5" fmla="*/ 75020 h 788734"/>
              <a:gd name="connsiteX6" fmla="*/ 165542 w 565672"/>
              <a:gd name="connsiteY6" fmla="*/ 155311 h 788734"/>
              <a:gd name="connsiteX7" fmla="*/ 282836 w 565672"/>
              <a:gd name="connsiteY7" fmla="*/ 312843 h 788734"/>
              <a:gd name="connsiteX8" fmla="*/ 283083 w 565672"/>
              <a:gd name="connsiteY8" fmla="*/ 312843 h 788734"/>
              <a:gd name="connsiteX9" fmla="*/ 339650 w 565672"/>
              <a:gd name="connsiteY9" fmla="*/ 288195 h 788734"/>
              <a:gd name="connsiteX10" fmla="*/ 368242 w 565672"/>
              <a:gd name="connsiteY10" fmla="*/ 359613 h 788734"/>
              <a:gd name="connsiteX11" fmla="*/ 283514 w 565672"/>
              <a:gd name="connsiteY11" fmla="*/ 410542 h 788734"/>
              <a:gd name="connsiteX12" fmla="*/ 198756 w 565672"/>
              <a:gd name="connsiteY12" fmla="*/ 359613 h 788734"/>
              <a:gd name="connsiteX13" fmla="*/ 227440 w 565672"/>
              <a:gd name="connsiteY13" fmla="*/ 289027 h 788734"/>
              <a:gd name="connsiteX14" fmla="*/ 282836 w 565672"/>
              <a:gd name="connsiteY14" fmla="*/ 312843 h 788734"/>
              <a:gd name="connsiteX15" fmla="*/ 282836 w 565672"/>
              <a:gd name="connsiteY15" fmla="*/ 605785 h 788734"/>
              <a:gd name="connsiteX16" fmla="*/ 173707 w 565672"/>
              <a:gd name="connsiteY16" fmla="*/ 358103 h 788734"/>
              <a:gd name="connsiteX17" fmla="*/ 92831 w 565672"/>
              <a:gd name="connsiteY17" fmla="*/ 358103 h 788734"/>
              <a:gd name="connsiteX18" fmla="*/ 0 w 565672"/>
              <a:gd name="connsiteY18" fmla="*/ 450933 h 788734"/>
              <a:gd name="connsiteX19" fmla="*/ 0 w 565672"/>
              <a:gd name="connsiteY19" fmla="*/ 715900 h 788734"/>
              <a:gd name="connsiteX20" fmla="*/ 99825 w 565672"/>
              <a:gd name="connsiteY20" fmla="*/ 759558 h 788734"/>
              <a:gd name="connsiteX21" fmla="*/ 99825 w 565672"/>
              <a:gd name="connsiteY21" fmla="*/ 520687 h 788734"/>
              <a:gd name="connsiteX22" fmla="*/ 110269 w 565672"/>
              <a:gd name="connsiteY22" fmla="*/ 510243 h 788734"/>
              <a:gd name="connsiteX23" fmla="*/ 120714 w 565672"/>
              <a:gd name="connsiteY23" fmla="*/ 520687 h 788734"/>
              <a:gd name="connsiteX24" fmla="*/ 120714 w 565672"/>
              <a:gd name="connsiteY24" fmla="*/ 765935 h 788734"/>
              <a:gd name="connsiteX25" fmla="*/ 444959 w 565672"/>
              <a:gd name="connsiteY25" fmla="*/ 765935 h 788734"/>
              <a:gd name="connsiteX26" fmla="*/ 444959 w 565672"/>
              <a:gd name="connsiteY26" fmla="*/ 520687 h 788734"/>
              <a:gd name="connsiteX27" fmla="*/ 455403 w 565672"/>
              <a:gd name="connsiteY27" fmla="*/ 510243 h 788734"/>
              <a:gd name="connsiteX28" fmla="*/ 465848 w 565672"/>
              <a:gd name="connsiteY28" fmla="*/ 520687 h 788734"/>
              <a:gd name="connsiteX29" fmla="*/ 465848 w 565672"/>
              <a:gd name="connsiteY29" fmla="*/ 759558 h 788734"/>
              <a:gd name="connsiteX30" fmla="*/ 565672 w 565672"/>
              <a:gd name="connsiteY30" fmla="*/ 715900 h 788734"/>
              <a:gd name="connsiteX31" fmla="*/ 565672 w 565672"/>
              <a:gd name="connsiteY31" fmla="*/ 450933 h 788734"/>
              <a:gd name="connsiteX32" fmla="*/ 472842 w 565672"/>
              <a:gd name="connsiteY32" fmla="*/ 358103 h 788734"/>
              <a:gd name="connsiteX33" fmla="*/ 391965 w 565672"/>
              <a:gd name="connsiteY33" fmla="*/ 358103 h 788734"/>
              <a:gd name="connsiteX34" fmla="*/ 311305 w 565672"/>
              <a:gd name="connsiteY34" fmla="*/ 411373 h 788734"/>
              <a:gd name="connsiteX35" fmla="*/ 311305 w 565672"/>
              <a:gd name="connsiteY35" fmla="*/ 411373 h 788734"/>
              <a:gd name="connsiteX36" fmla="*/ 297379 w 565672"/>
              <a:gd name="connsiteY36" fmla="*/ 424252 h 788734"/>
              <a:gd name="connsiteX37" fmla="*/ 310226 w 565672"/>
              <a:gd name="connsiteY37" fmla="*/ 534028 h 788734"/>
              <a:gd name="connsiteX38" fmla="*/ 282836 w 565672"/>
              <a:gd name="connsiteY38" fmla="*/ 596511 h 788734"/>
              <a:gd name="connsiteX39" fmla="*/ 255354 w 565672"/>
              <a:gd name="connsiteY39" fmla="*/ 534151 h 788734"/>
              <a:gd name="connsiteX40" fmla="*/ 268201 w 565672"/>
              <a:gd name="connsiteY40" fmla="*/ 424375 h 788734"/>
              <a:gd name="connsiteX41" fmla="*/ 254275 w 565672"/>
              <a:gd name="connsiteY41" fmla="*/ 411497 h 788734"/>
              <a:gd name="connsiteX42" fmla="*/ 254553 w 565672"/>
              <a:gd name="connsiteY42" fmla="*/ 411127 h 788734"/>
              <a:gd name="connsiteX43" fmla="*/ 282836 w 565672"/>
              <a:gd name="connsiteY43" fmla="*/ 414208 h 788734"/>
              <a:gd name="connsiteX44" fmla="*/ 283514 w 565672"/>
              <a:gd name="connsiteY44" fmla="*/ 414208 h 788734"/>
              <a:gd name="connsiteX45" fmla="*/ 311305 w 565672"/>
              <a:gd name="connsiteY45" fmla="*/ 411373 h 788734"/>
              <a:gd name="connsiteX46" fmla="*/ 171335 w 565672"/>
              <a:gd name="connsiteY46" fmla="*/ 139845 h 788734"/>
              <a:gd name="connsiteX47" fmla="*/ 282836 w 565672"/>
              <a:gd name="connsiteY47" fmla="*/ 307266 h 788734"/>
              <a:gd name="connsiteX48" fmla="*/ 394060 w 565672"/>
              <a:gd name="connsiteY48" fmla="*/ 148564 h 788734"/>
              <a:gd name="connsiteX49" fmla="*/ 388515 w 565672"/>
              <a:gd name="connsiteY49" fmla="*/ 150443 h 788734"/>
              <a:gd name="connsiteX50" fmla="*/ 311490 w 565672"/>
              <a:gd name="connsiteY50" fmla="*/ 82445 h 788734"/>
              <a:gd name="connsiteX51" fmla="*/ 171335 w 565672"/>
              <a:gd name="connsiteY51" fmla="*/ 139845 h 78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65672" h="788734">
                <a:moveTo>
                  <a:pt x="165542" y="155311"/>
                </a:moveTo>
                <a:cubicBezTo>
                  <a:pt x="140555" y="55456"/>
                  <a:pt x="139939" y="39157"/>
                  <a:pt x="173491" y="21965"/>
                </a:cubicBezTo>
                <a:cubicBezTo>
                  <a:pt x="210248" y="3140"/>
                  <a:pt x="284407" y="-10508"/>
                  <a:pt x="329606" y="10843"/>
                </a:cubicBezTo>
                <a:cubicBezTo>
                  <a:pt x="358567" y="24553"/>
                  <a:pt x="426164" y="-4562"/>
                  <a:pt x="422036" y="43964"/>
                </a:cubicBezTo>
                <a:cubicBezTo>
                  <a:pt x="413009" y="147331"/>
                  <a:pt x="388607" y="143018"/>
                  <a:pt x="388607" y="143018"/>
                </a:cubicBezTo>
                <a:cubicBezTo>
                  <a:pt x="360447" y="124748"/>
                  <a:pt x="319284" y="63775"/>
                  <a:pt x="311582" y="75020"/>
                </a:cubicBezTo>
                <a:cubicBezTo>
                  <a:pt x="272607" y="133005"/>
                  <a:pt x="178575" y="59738"/>
                  <a:pt x="165542" y="155311"/>
                </a:cubicBezTo>
                <a:close/>
                <a:moveTo>
                  <a:pt x="282836" y="312843"/>
                </a:moveTo>
                <a:lnTo>
                  <a:pt x="283083" y="312843"/>
                </a:lnTo>
                <a:cubicBezTo>
                  <a:pt x="303787" y="312843"/>
                  <a:pt x="323136" y="303785"/>
                  <a:pt x="339650" y="288195"/>
                </a:cubicBezTo>
                <a:cubicBezTo>
                  <a:pt x="339157" y="304647"/>
                  <a:pt x="339311" y="342513"/>
                  <a:pt x="368242" y="359613"/>
                </a:cubicBezTo>
                <a:cubicBezTo>
                  <a:pt x="368242" y="387742"/>
                  <a:pt x="330314" y="410542"/>
                  <a:pt x="283514" y="410542"/>
                </a:cubicBezTo>
                <a:cubicBezTo>
                  <a:pt x="236714" y="410542"/>
                  <a:pt x="198756" y="387742"/>
                  <a:pt x="198756" y="359613"/>
                </a:cubicBezTo>
                <a:cubicBezTo>
                  <a:pt x="225437" y="343037"/>
                  <a:pt x="227655" y="307944"/>
                  <a:pt x="227440" y="289027"/>
                </a:cubicBezTo>
                <a:cubicBezTo>
                  <a:pt x="243677" y="304062"/>
                  <a:pt x="262594" y="312750"/>
                  <a:pt x="282836" y="312843"/>
                </a:cubicBezTo>
                <a:close/>
                <a:moveTo>
                  <a:pt x="282836" y="605785"/>
                </a:moveTo>
                <a:lnTo>
                  <a:pt x="173707" y="358103"/>
                </a:lnTo>
                <a:lnTo>
                  <a:pt x="92831" y="358103"/>
                </a:lnTo>
                <a:cubicBezTo>
                  <a:pt x="41625" y="358255"/>
                  <a:pt x="152" y="399728"/>
                  <a:pt x="0" y="450933"/>
                </a:cubicBezTo>
                <a:lnTo>
                  <a:pt x="0" y="715900"/>
                </a:lnTo>
                <a:cubicBezTo>
                  <a:pt x="31839" y="733536"/>
                  <a:pt x="65260" y="748152"/>
                  <a:pt x="99825" y="759558"/>
                </a:cubicBezTo>
                <a:lnTo>
                  <a:pt x="99825" y="520687"/>
                </a:lnTo>
                <a:cubicBezTo>
                  <a:pt x="99825" y="514919"/>
                  <a:pt x="104501" y="510243"/>
                  <a:pt x="110269" y="510243"/>
                </a:cubicBezTo>
                <a:cubicBezTo>
                  <a:pt x="116038" y="510243"/>
                  <a:pt x="120714" y="514919"/>
                  <a:pt x="120714" y="520687"/>
                </a:cubicBezTo>
                <a:lnTo>
                  <a:pt x="120714" y="765935"/>
                </a:lnTo>
                <a:cubicBezTo>
                  <a:pt x="226658" y="796334"/>
                  <a:pt x="339014" y="796334"/>
                  <a:pt x="444959" y="765935"/>
                </a:cubicBezTo>
                <a:lnTo>
                  <a:pt x="444959" y="520687"/>
                </a:lnTo>
                <a:cubicBezTo>
                  <a:pt x="444959" y="514919"/>
                  <a:pt x="449635" y="510243"/>
                  <a:pt x="455403" y="510243"/>
                </a:cubicBezTo>
                <a:cubicBezTo>
                  <a:pt x="461172" y="510243"/>
                  <a:pt x="465848" y="514919"/>
                  <a:pt x="465848" y="520687"/>
                </a:cubicBezTo>
                <a:lnTo>
                  <a:pt x="465848" y="759558"/>
                </a:lnTo>
                <a:cubicBezTo>
                  <a:pt x="500410" y="748147"/>
                  <a:pt x="533830" y="733531"/>
                  <a:pt x="565672" y="715900"/>
                </a:cubicBezTo>
                <a:lnTo>
                  <a:pt x="565672" y="450933"/>
                </a:lnTo>
                <a:cubicBezTo>
                  <a:pt x="565520" y="399728"/>
                  <a:pt x="524047" y="358255"/>
                  <a:pt x="472842" y="358103"/>
                </a:cubicBezTo>
                <a:lnTo>
                  <a:pt x="391965" y="358103"/>
                </a:lnTo>
                <a:close/>
                <a:moveTo>
                  <a:pt x="311305" y="411373"/>
                </a:moveTo>
                <a:lnTo>
                  <a:pt x="311305" y="411373"/>
                </a:lnTo>
                <a:lnTo>
                  <a:pt x="297379" y="424252"/>
                </a:lnTo>
                <a:lnTo>
                  <a:pt x="310226" y="534028"/>
                </a:lnTo>
                <a:lnTo>
                  <a:pt x="282836" y="596511"/>
                </a:lnTo>
                <a:lnTo>
                  <a:pt x="255354" y="534151"/>
                </a:lnTo>
                <a:lnTo>
                  <a:pt x="268201" y="424375"/>
                </a:lnTo>
                <a:lnTo>
                  <a:pt x="254275" y="411497"/>
                </a:lnTo>
                <a:lnTo>
                  <a:pt x="254553" y="411127"/>
                </a:lnTo>
                <a:cubicBezTo>
                  <a:pt x="263847" y="413138"/>
                  <a:pt x="273327" y="414171"/>
                  <a:pt x="282836" y="414208"/>
                </a:cubicBezTo>
                <a:lnTo>
                  <a:pt x="283514" y="414208"/>
                </a:lnTo>
                <a:cubicBezTo>
                  <a:pt x="292850" y="414217"/>
                  <a:pt x="302163" y="413267"/>
                  <a:pt x="311305" y="411373"/>
                </a:cubicBezTo>
                <a:close/>
                <a:moveTo>
                  <a:pt x="171335" y="139845"/>
                </a:moveTo>
                <a:cubicBezTo>
                  <a:pt x="172968" y="232737"/>
                  <a:pt x="222264" y="307266"/>
                  <a:pt x="282836" y="307266"/>
                </a:cubicBezTo>
                <a:cubicBezTo>
                  <a:pt x="341375" y="307266"/>
                  <a:pt x="389562" y="237358"/>
                  <a:pt x="394060" y="148564"/>
                </a:cubicBezTo>
                <a:cubicBezTo>
                  <a:pt x="392503" y="149847"/>
                  <a:pt x="390531" y="150515"/>
                  <a:pt x="388515" y="150443"/>
                </a:cubicBezTo>
                <a:cubicBezTo>
                  <a:pt x="360354" y="132173"/>
                  <a:pt x="319192" y="71200"/>
                  <a:pt x="311490" y="82445"/>
                </a:cubicBezTo>
                <a:cubicBezTo>
                  <a:pt x="276304" y="134946"/>
                  <a:pt x="195921" y="79888"/>
                  <a:pt x="171335" y="139845"/>
                </a:cubicBezTo>
                <a:close/>
              </a:path>
            </a:pathLst>
          </a:custGeom>
          <a:solidFill>
            <a:schemeClr val="bg1"/>
          </a:solidFill>
          <a:ln w="30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8" name="文本框 27"/>
          <p:cNvSpPr txBox="1"/>
          <p:nvPr/>
        </p:nvSpPr>
        <p:spPr>
          <a:xfrm>
            <a:off x="1494345" y="1846028"/>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a:t>
            </a:r>
          </a:p>
        </p:txBody>
      </p:sp>
      <p:sp>
        <p:nvSpPr>
          <p:cNvPr id="29" name="任意多边形: 形状 28"/>
          <p:cNvSpPr/>
          <p:nvPr/>
        </p:nvSpPr>
        <p:spPr>
          <a:xfrm>
            <a:off x="2768740" y="1672099"/>
            <a:ext cx="297725" cy="372519"/>
          </a:xfrm>
          <a:custGeom>
            <a:avLst/>
            <a:gdLst>
              <a:gd name="connsiteX0" fmla="*/ 119738 w 297725"/>
              <a:gd name="connsiteY0" fmla="*/ 319303 h 372519"/>
              <a:gd name="connsiteX1" fmla="*/ 106434 w 297725"/>
              <a:gd name="connsiteY1" fmla="*/ 332606 h 372519"/>
              <a:gd name="connsiteX2" fmla="*/ 119738 w 297725"/>
              <a:gd name="connsiteY2" fmla="*/ 345910 h 372519"/>
              <a:gd name="connsiteX3" fmla="*/ 133043 w 297725"/>
              <a:gd name="connsiteY3" fmla="*/ 332606 h 372519"/>
              <a:gd name="connsiteX4" fmla="*/ 119738 w 297725"/>
              <a:gd name="connsiteY4" fmla="*/ 319303 h 372519"/>
              <a:gd name="connsiteX5" fmla="*/ 174671 w 297725"/>
              <a:gd name="connsiteY5" fmla="*/ 141449 h 372519"/>
              <a:gd name="connsiteX6" fmla="*/ 174917 w 297725"/>
              <a:gd name="connsiteY6" fmla="*/ 141449 h 372519"/>
              <a:gd name="connsiteX7" fmla="*/ 181794 w 297725"/>
              <a:gd name="connsiteY7" fmla="*/ 160669 h 372519"/>
              <a:gd name="connsiteX8" fmla="*/ 167733 w 297725"/>
              <a:gd name="connsiteY8" fmla="*/ 160669 h 372519"/>
              <a:gd name="connsiteX9" fmla="*/ 253249 w 297725"/>
              <a:gd name="connsiteY9" fmla="*/ 139853 h 372519"/>
              <a:gd name="connsiteX10" fmla="*/ 263687 w 297725"/>
              <a:gd name="connsiteY10" fmla="*/ 139853 h 372519"/>
              <a:gd name="connsiteX11" fmla="*/ 270625 w 297725"/>
              <a:gd name="connsiteY11" fmla="*/ 141572 h 372519"/>
              <a:gd name="connsiteX12" fmla="*/ 272898 w 297725"/>
              <a:gd name="connsiteY12" fmla="*/ 147159 h 372519"/>
              <a:gd name="connsiteX13" fmla="*/ 270687 w 297725"/>
              <a:gd name="connsiteY13" fmla="*/ 152870 h 372519"/>
              <a:gd name="connsiteX14" fmla="*/ 263687 w 297725"/>
              <a:gd name="connsiteY14" fmla="*/ 154589 h 372519"/>
              <a:gd name="connsiteX15" fmla="*/ 253249 w 297725"/>
              <a:gd name="connsiteY15" fmla="*/ 154589 h 372519"/>
              <a:gd name="connsiteX16" fmla="*/ 210060 w 297725"/>
              <a:gd name="connsiteY16" fmla="*/ 139853 h 372519"/>
              <a:gd name="connsiteX17" fmla="*/ 220501 w 297725"/>
              <a:gd name="connsiteY17" fmla="*/ 139853 h 372519"/>
              <a:gd name="connsiteX18" fmla="*/ 227439 w 297725"/>
              <a:gd name="connsiteY18" fmla="*/ 141572 h 372519"/>
              <a:gd name="connsiteX19" fmla="*/ 229710 w 297725"/>
              <a:gd name="connsiteY19" fmla="*/ 147159 h 372519"/>
              <a:gd name="connsiteX20" fmla="*/ 227500 w 297725"/>
              <a:gd name="connsiteY20" fmla="*/ 152870 h 372519"/>
              <a:gd name="connsiteX21" fmla="*/ 220501 w 297725"/>
              <a:gd name="connsiteY21" fmla="*/ 154589 h 372519"/>
              <a:gd name="connsiteX22" fmla="*/ 210060 w 297725"/>
              <a:gd name="connsiteY22" fmla="*/ 154589 h 372519"/>
              <a:gd name="connsiteX23" fmla="*/ 246065 w 297725"/>
              <a:gd name="connsiteY23" fmla="*/ 133712 h 372519"/>
              <a:gd name="connsiteX24" fmla="*/ 246065 w 297725"/>
              <a:gd name="connsiteY24" fmla="*/ 177555 h 372519"/>
              <a:gd name="connsiteX25" fmla="*/ 253249 w 297725"/>
              <a:gd name="connsiteY25" fmla="*/ 177555 h 372519"/>
              <a:gd name="connsiteX26" fmla="*/ 253249 w 297725"/>
              <a:gd name="connsiteY26" fmla="*/ 160730 h 372519"/>
              <a:gd name="connsiteX27" fmla="*/ 264117 w 297725"/>
              <a:gd name="connsiteY27" fmla="*/ 160730 h 372519"/>
              <a:gd name="connsiteX28" fmla="*/ 280143 w 297725"/>
              <a:gd name="connsiteY28" fmla="*/ 147159 h 372519"/>
              <a:gd name="connsiteX29" fmla="*/ 264239 w 297725"/>
              <a:gd name="connsiteY29" fmla="*/ 133712 h 372519"/>
              <a:gd name="connsiteX30" fmla="*/ 202876 w 297725"/>
              <a:gd name="connsiteY30" fmla="*/ 133712 h 372519"/>
              <a:gd name="connsiteX31" fmla="*/ 202876 w 297725"/>
              <a:gd name="connsiteY31" fmla="*/ 177555 h 372519"/>
              <a:gd name="connsiteX32" fmla="*/ 210060 w 297725"/>
              <a:gd name="connsiteY32" fmla="*/ 177555 h 372519"/>
              <a:gd name="connsiteX33" fmla="*/ 210060 w 297725"/>
              <a:gd name="connsiteY33" fmla="*/ 160730 h 372519"/>
              <a:gd name="connsiteX34" fmla="*/ 220930 w 297725"/>
              <a:gd name="connsiteY34" fmla="*/ 160730 h 372519"/>
              <a:gd name="connsiteX35" fmla="*/ 236955 w 297725"/>
              <a:gd name="connsiteY35" fmla="*/ 147159 h 372519"/>
              <a:gd name="connsiteX36" fmla="*/ 221052 w 297725"/>
              <a:gd name="connsiteY36" fmla="*/ 133712 h 372519"/>
              <a:gd name="connsiteX37" fmla="*/ 170679 w 297725"/>
              <a:gd name="connsiteY37" fmla="*/ 133712 h 372519"/>
              <a:gd name="connsiteX38" fmla="*/ 153916 w 297725"/>
              <a:gd name="connsiteY38" fmla="*/ 177555 h 372519"/>
              <a:gd name="connsiteX39" fmla="*/ 161593 w 297725"/>
              <a:gd name="connsiteY39" fmla="*/ 177555 h 372519"/>
              <a:gd name="connsiteX40" fmla="*/ 165585 w 297725"/>
              <a:gd name="connsiteY40" fmla="*/ 166564 h 372519"/>
              <a:gd name="connsiteX41" fmla="*/ 183944 w 297725"/>
              <a:gd name="connsiteY41" fmla="*/ 166564 h 372519"/>
              <a:gd name="connsiteX42" fmla="*/ 187936 w 297725"/>
              <a:gd name="connsiteY42" fmla="*/ 177555 h 372519"/>
              <a:gd name="connsiteX43" fmla="*/ 195610 w 297725"/>
              <a:gd name="connsiteY43" fmla="*/ 177555 h 372519"/>
              <a:gd name="connsiteX44" fmla="*/ 178847 w 297725"/>
              <a:gd name="connsiteY44" fmla="*/ 133712 h 372519"/>
              <a:gd name="connsiteX45" fmla="*/ 174917 w 297725"/>
              <a:gd name="connsiteY45" fmla="*/ 78924 h 372519"/>
              <a:gd name="connsiteX46" fmla="*/ 260882 w 297725"/>
              <a:gd name="connsiteY46" fmla="*/ 78924 h 372519"/>
              <a:gd name="connsiteX47" fmla="*/ 297725 w 297725"/>
              <a:gd name="connsiteY47" fmla="*/ 115767 h 372519"/>
              <a:gd name="connsiteX48" fmla="*/ 297725 w 297725"/>
              <a:gd name="connsiteY48" fmla="*/ 201732 h 372519"/>
              <a:gd name="connsiteX49" fmla="*/ 260882 w 297725"/>
              <a:gd name="connsiteY49" fmla="*/ 238575 h 372519"/>
              <a:gd name="connsiteX50" fmla="*/ 174917 w 297725"/>
              <a:gd name="connsiteY50" fmla="*/ 238575 h 372519"/>
              <a:gd name="connsiteX51" fmla="*/ 138075 w 297725"/>
              <a:gd name="connsiteY51" fmla="*/ 201732 h 372519"/>
              <a:gd name="connsiteX52" fmla="*/ 138075 w 297725"/>
              <a:gd name="connsiteY52" fmla="*/ 115767 h 372519"/>
              <a:gd name="connsiteX53" fmla="*/ 174917 w 297725"/>
              <a:gd name="connsiteY53" fmla="*/ 78924 h 372519"/>
              <a:gd name="connsiteX54" fmla="*/ 26608 w 297725"/>
              <a:gd name="connsiteY54" fmla="*/ 0 h 372519"/>
              <a:gd name="connsiteX55" fmla="*/ 212868 w 297725"/>
              <a:gd name="connsiteY55" fmla="*/ 0 h 372519"/>
              <a:gd name="connsiteX56" fmla="*/ 239477 w 297725"/>
              <a:gd name="connsiteY56" fmla="*/ 26609 h 372519"/>
              <a:gd name="connsiteX57" fmla="*/ 239477 w 297725"/>
              <a:gd name="connsiteY57" fmla="*/ 66521 h 372519"/>
              <a:gd name="connsiteX58" fmla="*/ 212868 w 297725"/>
              <a:gd name="connsiteY58" fmla="*/ 66521 h 372519"/>
              <a:gd name="connsiteX59" fmla="*/ 212868 w 297725"/>
              <a:gd name="connsiteY59" fmla="*/ 39913 h 372519"/>
              <a:gd name="connsiteX60" fmla="*/ 199564 w 297725"/>
              <a:gd name="connsiteY60" fmla="*/ 26609 h 372519"/>
              <a:gd name="connsiteX61" fmla="*/ 39913 w 297725"/>
              <a:gd name="connsiteY61" fmla="*/ 26609 h 372519"/>
              <a:gd name="connsiteX62" fmla="*/ 26608 w 297725"/>
              <a:gd name="connsiteY62" fmla="*/ 39913 h 372519"/>
              <a:gd name="connsiteX63" fmla="*/ 26608 w 297725"/>
              <a:gd name="connsiteY63" fmla="*/ 292694 h 372519"/>
              <a:gd name="connsiteX64" fmla="*/ 39913 w 297725"/>
              <a:gd name="connsiteY64" fmla="*/ 305998 h 372519"/>
              <a:gd name="connsiteX65" fmla="*/ 199564 w 297725"/>
              <a:gd name="connsiteY65" fmla="*/ 305998 h 372519"/>
              <a:gd name="connsiteX66" fmla="*/ 212868 w 297725"/>
              <a:gd name="connsiteY66" fmla="*/ 292694 h 372519"/>
              <a:gd name="connsiteX67" fmla="*/ 212868 w 297725"/>
              <a:gd name="connsiteY67" fmla="*/ 252780 h 372519"/>
              <a:gd name="connsiteX68" fmla="*/ 239477 w 297725"/>
              <a:gd name="connsiteY68" fmla="*/ 252780 h 372519"/>
              <a:gd name="connsiteX69" fmla="*/ 239477 w 297725"/>
              <a:gd name="connsiteY69" fmla="*/ 345910 h 372519"/>
              <a:gd name="connsiteX70" fmla="*/ 212868 w 297725"/>
              <a:gd name="connsiteY70" fmla="*/ 372519 h 372519"/>
              <a:gd name="connsiteX71" fmla="*/ 26608 w 297725"/>
              <a:gd name="connsiteY71" fmla="*/ 372519 h 372519"/>
              <a:gd name="connsiteX72" fmla="*/ 0 w 297725"/>
              <a:gd name="connsiteY72" fmla="*/ 345910 h 372519"/>
              <a:gd name="connsiteX73" fmla="*/ 0 w 297725"/>
              <a:gd name="connsiteY73" fmla="*/ 26609 h 372519"/>
              <a:gd name="connsiteX74" fmla="*/ 26608 w 297725"/>
              <a:gd name="connsiteY74" fmla="*/ 0 h 372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97725" h="372519">
                <a:moveTo>
                  <a:pt x="119738" y="319303"/>
                </a:moveTo>
                <a:cubicBezTo>
                  <a:pt x="112391" y="319303"/>
                  <a:pt x="106434" y="325259"/>
                  <a:pt x="106434" y="332606"/>
                </a:cubicBezTo>
                <a:cubicBezTo>
                  <a:pt x="106434" y="339954"/>
                  <a:pt x="112391" y="345910"/>
                  <a:pt x="119738" y="345910"/>
                </a:cubicBezTo>
                <a:cubicBezTo>
                  <a:pt x="127085" y="345910"/>
                  <a:pt x="133043" y="339954"/>
                  <a:pt x="133043" y="332606"/>
                </a:cubicBezTo>
                <a:cubicBezTo>
                  <a:pt x="133043" y="325259"/>
                  <a:pt x="127085" y="319303"/>
                  <a:pt x="119738" y="319303"/>
                </a:cubicBezTo>
                <a:close/>
                <a:moveTo>
                  <a:pt x="174671" y="141449"/>
                </a:moveTo>
                <a:lnTo>
                  <a:pt x="174917" y="141449"/>
                </a:lnTo>
                <a:lnTo>
                  <a:pt x="181794" y="160669"/>
                </a:lnTo>
                <a:lnTo>
                  <a:pt x="167733" y="160669"/>
                </a:lnTo>
                <a:close/>
                <a:moveTo>
                  <a:pt x="253249" y="139853"/>
                </a:moveTo>
                <a:lnTo>
                  <a:pt x="263687" y="139853"/>
                </a:lnTo>
                <a:cubicBezTo>
                  <a:pt x="266818" y="139853"/>
                  <a:pt x="269152" y="140405"/>
                  <a:pt x="270625" y="141572"/>
                </a:cubicBezTo>
                <a:cubicBezTo>
                  <a:pt x="272099" y="142677"/>
                  <a:pt x="272898" y="144519"/>
                  <a:pt x="272898" y="147159"/>
                </a:cubicBezTo>
                <a:cubicBezTo>
                  <a:pt x="272898" y="149801"/>
                  <a:pt x="272160" y="151703"/>
                  <a:pt x="270687" y="152870"/>
                </a:cubicBezTo>
                <a:cubicBezTo>
                  <a:pt x="269213" y="153976"/>
                  <a:pt x="266881" y="154589"/>
                  <a:pt x="263687" y="154589"/>
                </a:cubicBezTo>
                <a:lnTo>
                  <a:pt x="253249" y="154589"/>
                </a:lnTo>
                <a:close/>
                <a:moveTo>
                  <a:pt x="210060" y="139853"/>
                </a:moveTo>
                <a:lnTo>
                  <a:pt x="220501" y="139853"/>
                </a:lnTo>
                <a:cubicBezTo>
                  <a:pt x="223631" y="139853"/>
                  <a:pt x="225965" y="140405"/>
                  <a:pt x="227439" y="141572"/>
                </a:cubicBezTo>
                <a:cubicBezTo>
                  <a:pt x="228913" y="142677"/>
                  <a:pt x="229710" y="144519"/>
                  <a:pt x="229710" y="147159"/>
                </a:cubicBezTo>
                <a:cubicBezTo>
                  <a:pt x="229710" y="149801"/>
                  <a:pt x="228974" y="151703"/>
                  <a:pt x="227500" y="152870"/>
                </a:cubicBezTo>
                <a:cubicBezTo>
                  <a:pt x="226026" y="153976"/>
                  <a:pt x="223693" y="154589"/>
                  <a:pt x="220501" y="154589"/>
                </a:cubicBezTo>
                <a:lnTo>
                  <a:pt x="210060" y="154589"/>
                </a:lnTo>
                <a:close/>
                <a:moveTo>
                  <a:pt x="246065" y="133712"/>
                </a:moveTo>
                <a:lnTo>
                  <a:pt x="246065" y="177555"/>
                </a:lnTo>
                <a:lnTo>
                  <a:pt x="253249" y="177555"/>
                </a:lnTo>
                <a:lnTo>
                  <a:pt x="253249" y="160730"/>
                </a:lnTo>
                <a:lnTo>
                  <a:pt x="264117" y="160730"/>
                </a:lnTo>
                <a:cubicBezTo>
                  <a:pt x="274801" y="160730"/>
                  <a:pt x="280143" y="156187"/>
                  <a:pt x="280143" y="147159"/>
                </a:cubicBezTo>
                <a:cubicBezTo>
                  <a:pt x="280143" y="138194"/>
                  <a:pt x="274801" y="133712"/>
                  <a:pt x="264239" y="133712"/>
                </a:cubicBezTo>
                <a:close/>
                <a:moveTo>
                  <a:pt x="202876" y="133712"/>
                </a:moveTo>
                <a:lnTo>
                  <a:pt x="202876" y="177555"/>
                </a:lnTo>
                <a:lnTo>
                  <a:pt x="210060" y="177555"/>
                </a:lnTo>
                <a:lnTo>
                  <a:pt x="210060" y="160730"/>
                </a:lnTo>
                <a:lnTo>
                  <a:pt x="220930" y="160730"/>
                </a:lnTo>
                <a:cubicBezTo>
                  <a:pt x="231614" y="160730"/>
                  <a:pt x="236955" y="156187"/>
                  <a:pt x="236955" y="147159"/>
                </a:cubicBezTo>
                <a:cubicBezTo>
                  <a:pt x="236955" y="138194"/>
                  <a:pt x="231614" y="133712"/>
                  <a:pt x="221052" y="133712"/>
                </a:cubicBezTo>
                <a:close/>
                <a:moveTo>
                  <a:pt x="170679" y="133712"/>
                </a:moveTo>
                <a:lnTo>
                  <a:pt x="153916" y="177555"/>
                </a:lnTo>
                <a:lnTo>
                  <a:pt x="161593" y="177555"/>
                </a:lnTo>
                <a:lnTo>
                  <a:pt x="165585" y="166564"/>
                </a:lnTo>
                <a:lnTo>
                  <a:pt x="183944" y="166564"/>
                </a:lnTo>
                <a:lnTo>
                  <a:pt x="187936" y="177555"/>
                </a:lnTo>
                <a:lnTo>
                  <a:pt x="195610" y="177555"/>
                </a:lnTo>
                <a:lnTo>
                  <a:pt x="178847" y="133712"/>
                </a:lnTo>
                <a:close/>
                <a:moveTo>
                  <a:pt x="174917" y="78924"/>
                </a:moveTo>
                <a:lnTo>
                  <a:pt x="260882" y="78924"/>
                </a:lnTo>
                <a:cubicBezTo>
                  <a:pt x="281230" y="78924"/>
                  <a:pt x="297725" y="95419"/>
                  <a:pt x="297725" y="115767"/>
                </a:cubicBezTo>
                <a:lnTo>
                  <a:pt x="297725" y="201732"/>
                </a:lnTo>
                <a:cubicBezTo>
                  <a:pt x="297725" y="222080"/>
                  <a:pt x="281230" y="238575"/>
                  <a:pt x="260882" y="238575"/>
                </a:cubicBezTo>
                <a:lnTo>
                  <a:pt x="174917" y="238575"/>
                </a:lnTo>
                <a:cubicBezTo>
                  <a:pt x="154569" y="238575"/>
                  <a:pt x="138075" y="222080"/>
                  <a:pt x="138075" y="201732"/>
                </a:cubicBezTo>
                <a:lnTo>
                  <a:pt x="138075" y="115767"/>
                </a:lnTo>
                <a:cubicBezTo>
                  <a:pt x="138075" y="95419"/>
                  <a:pt x="154569" y="78924"/>
                  <a:pt x="174917" y="78924"/>
                </a:cubicBezTo>
                <a:close/>
                <a:moveTo>
                  <a:pt x="26608" y="0"/>
                </a:moveTo>
                <a:lnTo>
                  <a:pt x="212868" y="0"/>
                </a:lnTo>
                <a:cubicBezTo>
                  <a:pt x="227564" y="0"/>
                  <a:pt x="239477" y="11913"/>
                  <a:pt x="239477" y="26609"/>
                </a:cubicBezTo>
                <a:lnTo>
                  <a:pt x="239477" y="66521"/>
                </a:lnTo>
                <a:lnTo>
                  <a:pt x="212868" y="66521"/>
                </a:lnTo>
                <a:lnTo>
                  <a:pt x="212868" y="39913"/>
                </a:lnTo>
                <a:cubicBezTo>
                  <a:pt x="212868" y="32565"/>
                  <a:pt x="206912" y="26609"/>
                  <a:pt x="199564" y="26609"/>
                </a:cubicBezTo>
                <a:lnTo>
                  <a:pt x="39913" y="26609"/>
                </a:lnTo>
                <a:cubicBezTo>
                  <a:pt x="32565" y="26609"/>
                  <a:pt x="26608" y="32565"/>
                  <a:pt x="26608" y="39913"/>
                </a:cubicBezTo>
                <a:lnTo>
                  <a:pt x="26608" y="292694"/>
                </a:lnTo>
                <a:cubicBezTo>
                  <a:pt x="26608" y="300041"/>
                  <a:pt x="32565" y="305998"/>
                  <a:pt x="39913" y="305998"/>
                </a:cubicBezTo>
                <a:lnTo>
                  <a:pt x="199564" y="305998"/>
                </a:lnTo>
                <a:cubicBezTo>
                  <a:pt x="206912" y="305998"/>
                  <a:pt x="212868" y="300041"/>
                  <a:pt x="212868" y="292694"/>
                </a:cubicBezTo>
                <a:lnTo>
                  <a:pt x="212868" y="252780"/>
                </a:lnTo>
                <a:lnTo>
                  <a:pt x="239477" y="252780"/>
                </a:lnTo>
                <a:lnTo>
                  <a:pt x="239477" y="345910"/>
                </a:lnTo>
                <a:cubicBezTo>
                  <a:pt x="239477" y="360606"/>
                  <a:pt x="227564" y="372519"/>
                  <a:pt x="212868" y="372519"/>
                </a:cubicBezTo>
                <a:lnTo>
                  <a:pt x="26608" y="372519"/>
                </a:lnTo>
                <a:cubicBezTo>
                  <a:pt x="11913" y="372519"/>
                  <a:pt x="0" y="360606"/>
                  <a:pt x="0" y="345910"/>
                </a:cubicBezTo>
                <a:lnTo>
                  <a:pt x="0" y="26609"/>
                </a:lnTo>
                <a:cubicBezTo>
                  <a:pt x="0" y="11913"/>
                  <a:pt x="11913" y="0"/>
                  <a:pt x="26608" y="0"/>
                </a:cubicBezTo>
                <a:close/>
              </a:path>
            </a:pathLst>
          </a:custGeom>
          <a:gradFill flip="none" rotWithShape="1">
            <a:gsLst>
              <a:gs pos="0">
                <a:schemeClr val="accent1">
                  <a:alpha val="36000"/>
                </a:schemeClr>
              </a:gs>
              <a:gs pos="100000">
                <a:schemeClr val="accent1"/>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5" name="文本框 34"/>
          <p:cNvSpPr txBox="1"/>
          <p:nvPr/>
        </p:nvSpPr>
        <p:spPr>
          <a:xfrm>
            <a:off x="2917920" y="1729387"/>
            <a:ext cx="101517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使用习惯</a:t>
            </a:r>
          </a:p>
        </p:txBody>
      </p:sp>
      <p:sp>
        <p:nvSpPr>
          <p:cNvPr id="36" name="椭圆 35"/>
          <p:cNvSpPr/>
          <p:nvPr/>
        </p:nvSpPr>
        <p:spPr>
          <a:xfrm flipH="1">
            <a:off x="2925021" y="2668133"/>
            <a:ext cx="6341959" cy="1135670"/>
          </a:xfrm>
          <a:prstGeom prst="ellipse">
            <a:avLst/>
          </a:prstGeom>
          <a:solidFill>
            <a:schemeClr val="accent3"/>
          </a:solidFill>
          <a:ln w="3175">
            <a:gradFill flip="none" rotWithShape="1">
              <a:gsLst>
                <a:gs pos="100000">
                  <a:schemeClr val="accent1"/>
                </a:gs>
                <a:gs pos="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8" name="组合 37"/>
          <p:cNvGrpSpPr/>
          <p:nvPr/>
        </p:nvGrpSpPr>
        <p:grpSpPr>
          <a:xfrm>
            <a:off x="4854304" y="2459443"/>
            <a:ext cx="2483392" cy="862624"/>
            <a:chOff x="4854304" y="2802479"/>
            <a:chExt cx="2483392" cy="945907"/>
          </a:xfrm>
        </p:grpSpPr>
        <p:sp>
          <p:nvSpPr>
            <p:cNvPr id="39" name="任意多边形: 形状 38"/>
            <p:cNvSpPr/>
            <p:nvPr/>
          </p:nvSpPr>
          <p:spPr>
            <a:xfrm>
              <a:off x="4854304" y="3068002"/>
              <a:ext cx="2483392" cy="680384"/>
            </a:xfrm>
            <a:custGeom>
              <a:avLst/>
              <a:gdLst>
                <a:gd name="connsiteX0" fmla="*/ 0 w 2483392"/>
                <a:gd name="connsiteY0" fmla="*/ 0 h 680384"/>
                <a:gd name="connsiteX1" fmla="*/ 2483392 w 2483392"/>
                <a:gd name="connsiteY1" fmla="*/ 0 h 680384"/>
                <a:gd name="connsiteX2" fmla="*/ 2483392 w 2483392"/>
                <a:gd name="connsiteY2" fmla="*/ 453069 h 680384"/>
                <a:gd name="connsiteX3" fmla="*/ 2483392 w 2483392"/>
                <a:gd name="connsiteY3" fmla="*/ 454630 h 680384"/>
                <a:gd name="connsiteX4" fmla="*/ 2482533 w 2483392"/>
                <a:gd name="connsiteY4" fmla="*/ 454630 h 680384"/>
                <a:gd name="connsiteX5" fmla="*/ 2458165 w 2483392"/>
                <a:gd name="connsiteY5" fmla="*/ 498881 h 680384"/>
                <a:gd name="connsiteX6" fmla="*/ 1241696 w 2483392"/>
                <a:gd name="connsiteY6" fmla="*/ 680384 h 680384"/>
                <a:gd name="connsiteX7" fmla="*/ 25227 w 2483392"/>
                <a:gd name="connsiteY7" fmla="*/ 498881 h 680384"/>
                <a:gd name="connsiteX8" fmla="*/ 860 w 2483392"/>
                <a:gd name="connsiteY8" fmla="*/ 454630 h 680384"/>
                <a:gd name="connsiteX9" fmla="*/ 0 w 2483392"/>
                <a:gd name="connsiteY9" fmla="*/ 454630 h 680384"/>
                <a:gd name="connsiteX10" fmla="*/ 0 w 2483392"/>
                <a:gd name="connsiteY10" fmla="*/ 453069 h 68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392" h="680384">
                  <a:moveTo>
                    <a:pt x="0" y="0"/>
                  </a:moveTo>
                  <a:lnTo>
                    <a:pt x="2483392" y="0"/>
                  </a:lnTo>
                  <a:lnTo>
                    <a:pt x="2483392" y="453069"/>
                  </a:lnTo>
                  <a:lnTo>
                    <a:pt x="2483392" y="454630"/>
                  </a:lnTo>
                  <a:lnTo>
                    <a:pt x="2482533" y="454630"/>
                  </a:lnTo>
                  <a:lnTo>
                    <a:pt x="2458165" y="498881"/>
                  </a:lnTo>
                  <a:cubicBezTo>
                    <a:pt x="2342382" y="602465"/>
                    <a:pt x="1841745" y="680384"/>
                    <a:pt x="1241696" y="680384"/>
                  </a:cubicBezTo>
                  <a:cubicBezTo>
                    <a:pt x="641648" y="680384"/>
                    <a:pt x="141011" y="602465"/>
                    <a:pt x="25227" y="498881"/>
                  </a:cubicBezTo>
                  <a:lnTo>
                    <a:pt x="860" y="454630"/>
                  </a:lnTo>
                  <a:lnTo>
                    <a:pt x="0" y="454630"/>
                  </a:lnTo>
                  <a:lnTo>
                    <a:pt x="0" y="453069"/>
                  </a:lnTo>
                  <a:close/>
                </a:path>
              </a:pathLst>
            </a:custGeom>
            <a:gradFill flip="none" rotWithShape="1">
              <a:gsLst>
                <a:gs pos="100000">
                  <a:schemeClr val="accent1"/>
                </a:gs>
                <a:gs pos="0">
                  <a:schemeClr val="accent2"/>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2" name="椭圆 41"/>
            <p:cNvSpPr/>
            <p:nvPr/>
          </p:nvSpPr>
          <p:spPr>
            <a:xfrm flipH="1">
              <a:off x="4854304" y="2802479"/>
              <a:ext cx="2483392" cy="454630"/>
            </a:xfrm>
            <a:prstGeom prst="ellipse">
              <a:avLst/>
            </a:prstGeom>
            <a:solidFill>
              <a:schemeClr val="accent3"/>
            </a:solidFill>
            <a:ln w="3175">
              <a:gradFill flip="none" rotWithShape="1">
                <a:gsLst>
                  <a:gs pos="100000">
                    <a:schemeClr val="accent1"/>
                  </a:gs>
                  <a:gs pos="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4" name="椭圆 53"/>
          <p:cNvSpPr/>
          <p:nvPr/>
        </p:nvSpPr>
        <p:spPr>
          <a:xfrm>
            <a:off x="5821865" y="3491813"/>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58" name="图形 109"/>
          <p:cNvSpPr/>
          <p:nvPr/>
        </p:nvSpPr>
        <p:spPr>
          <a:xfrm>
            <a:off x="5961333" y="3566337"/>
            <a:ext cx="263746" cy="389406"/>
          </a:xfrm>
          <a:custGeom>
            <a:avLst/>
            <a:gdLst>
              <a:gd name="connsiteX0" fmla="*/ 289989 w 825769"/>
              <a:gd name="connsiteY0" fmla="*/ 80963 h 1219200"/>
              <a:gd name="connsiteX1" fmla="*/ 294132 w 825769"/>
              <a:gd name="connsiteY1" fmla="*/ 81391 h 1219200"/>
              <a:gd name="connsiteX2" fmla="*/ 297847 w 825769"/>
              <a:gd name="connsiteY2" fmla="*/ 81963 h 1219200"/>
              <a:gd name="connsiteX3" fmla="*/ 299847 w 825769"/>
              <a:gd name="connsiteY3" fmla="*/ 82391 h 1219200"/>
              <a:gd name="connsiteX4" fmla="*/ 301990 w 825769"/>
              <a:gd name="connsiteY4" fmla="*/ 82963 h 1219200"/>
              <a:gd name="connsiteX5" fmla="*/ 303848 w 825769"/>
              <a:gd name="connsiteY5" fmla="*/ 83820 h 1219200"/>
              <a:gd name="connsiteX6" fmla="*/ 305705 w 825769"/>
              <a:gd name="connsiteY6" fmla="*/ 84534 h 1219200"/>
              <a:gd name="connsiteX7" fmla="*/ 307419 w 825769"/>
              <a:gd name="connsiteY7" fmla="*/ 85534 h 1219200"/>
              <a:gd name="connsiteX8" fmla="*/ 309277 w 825769"/>
              <a:gd name="connsiteY8" fmla="*/ 86820 h 1219200"/>
              <a:gd name="connsiteX9" fmla="*/ 310991 w 825769"/>
              <a:gd name="connsiteY9" fmla="*/ 88392 h 1219200"/>
              <a:gd name="connsiteX10" fmla="*/ 312849 w 825769"/>
              <a:gd name="connsiteY10" fmla="*/ 89678 h 1219200"/>
              <a:gd name="connsiteX11" fmla="*/ 314563 w 825769"/>
              <a:gd name="connsiteY11" fmla="*/ 91392 h 1219200"/>
              <a:gd name="connsiteX12" fmla="*/ 316135 w 825769"/>
              <a:gd name="connsiteY12" fmla="*/ 93107 h 1219200"/>
              <a:gd name="connsiteX13" fmla="*/ 317849 w 825769"/>
              <a:gd name="connsiteY13" fmla="*/ 95107 h 1219200"/>
              <a:gd name="connsiteX14" fmla="*/ 319421 w 825769"/>
              <a:gd name="connsiteY14" fmla="*/ 97250 h 1219200"/>
              <a:gd name="connsiteX15" fmla="*/ 320993 w 825769"/>
              <a:gd name="connsiteY15" fmla="*/ 99679 h 1219200"/>
              <a:gd name="connsiteX16" fmla="*/ 322421 w 825769"/>
              <a:gd name="connsiteY16" fmla="*/ 102394 h 1219200"/>
              <a:gd name="connsiteX17" fmla="*/ 323707 w 825769"/>
              <a:gd name="connsiteY17" fmla="*/ 105251 h 1219200"/>
              <a:gd name="connsiteX18" fmla="*/ 325136 w 825769"/>
              <a:gd name="connsiteY18" fmla="*/ 108252 h 1219200"/>
              <a:gd name="connsiteX19" fmla="*/ 326565 w 825769"/>
              <a:gd name="connsiteY19" fmla="*/ 111395 h 1219200"/>
              <a:gd name="connsiteX20" fmla="*/ 328136 w 825769"/>
              <a:gd name="connsiteY20" fmla="*/ 114824 h 1219200"/>
              <a:gd name="connsiteX21" fmla="*/ 329279 w 825769"/>
              <a:gd name="connsiteY21" fmla="*/ 118824 h 1219200"/>
              <a:gd name="connsiteX22" fmla="*/ 330565 w 825769"/>
              <a:gd name="connsiteY22" fmla="*/ 122682 h 1219200"/>
              <a:gd name="connsiteX23" fmla="*/ 420433 w 825769"/>
              <a:gd name="connsiteY23" fmla="*/ 464344 h 1219200"/>
              <a:gd name="connsiteX24" fmla="*/ 421434 w 825769"/>
              <a:gd name="connsiteY24" fmla="*/ 464963 h 1219200"/>
              <a:gd name="connsiteX25" fmla="*/ 422291 w 825769"/>
              <a:gd name="connsiteY25" fmla="*/ 467535 h 1219200"/>
              <a:gd name="connsiteX26" fmla="*/ 450961 w 825769"/>
              <a:gd name="connsiteY26" fmla="*/ 461963 h 1219200"/>
              <a:gd name="connsiteX27" fmla="*/ 457105 w 825769"/>
              <a:gd name="connsiteY27" fmla="*/ 461963 h 1219200"/>
              <a:gd name="connsiteX28" fmla="*/ 462963 w 825769"/>
              <a:gd name="connsiteY28" fmla="*/ 462486 h 1219200"/>
              <a:gd name="connsiteX29" fmla="*/ 469106 w 825769"/>
              <a:gd name="connsiteY29" fmla="*/ 463106 h 1219200"/>
              <a:gd name="connsiteX30" fmla="*/ 474678 w 825769"/>
              <a:gd name="connsiteY30" fmla="*/ 464106 h 1219200"/>
              <a:gd name="connsiteX31" fmla="*/ 480250 w 825769"/>
              <a:gd name="connsiteY31" fmla="*/ 465534 h 1219200"/>
              <a:gd name="connsiteX32" fmla="*/ 485966 w 825769"/>
              <a:gd name="connsiteY32" fmla="*/ 467106 h 1219200"/>
              <a:gd name="connsiteX33" fmla="*/ 491395 w 825769"/>
              <a:gd name="connsiteY33" fmla="*/ 468963 h 1219200"/>
              <a:gd name="connsiteX34" fmla="*/ 496967 w 825769"/>
              <a:gd name="connsiteY34" fmla="*/ 470678 h 1219200"/>
              <a:gd name="connsiteX35" fmla="*/ 502110 w 825769"/>
              <a:gd name="connsiteY35" fmla="*/ 472964 h 1219200"/>
              <a:gd name="connsiteX36" fmla="*/ 507254 w 825769"/>
              <a:gd name="connsiteY36" fmla="*/ 475250 h 1219200"/>
              <a:gd name="connsiteX37" fmla="*/ 512397 w 825769"/>
              <a:gd name="connsiteY37" fmla="*/ 478107 h 1219200"/>
              <a:gd name="connsiteX38" fmla="*/ 517398 w 825769"/>
              <a:gd name="connsiteY38" fmla="*/ 481108 h 1219200"/>
              <a:gd name="connsiteX39" fmla="*/ 522160 w 825769"/>
              <a:gd name="connsiteY39" fmla="*/ 484251 h 1219200"/>
              <a:gd name="connsiteX40" fmla="*/ 527161 w 825769"/>
              <a:gd name="connsiteY40" fmla="*/ 487680 h 1219200"/>
              <a:gd name="connsiteX41" fmla="*/ 531924 w 825769"/>
              <a:gd name="connsiteY41" fmla="*/ 491252 h 1219200"/>
              <a:gd name="connsiteX42" fmla="*/ 536686 w 825769"/>
              <a:gd name="connsiteY42" fmla="*/ 495110 h 1219200"/>
              <a:gd name="connsiteX43" fmla="*/ 539829 w 825769"/>
              <a:gd name="connsiteY43" fmla="*/ 497967 h 1219200"/>
              <a:gd name="connsiteX44" fmla="*/ 542401 w 825769"/>
              <a:gd name="connsiteY44" fmla="*/ 500682 h 1219200"/>
              <a:gd name="connsiteX45" fmla="*/ 544973 w 825769"/>
              <a:gd name="connsiteY45" fmla="*/ 503682 h 1219200"/>
              <a:gd name="connsiteX46" fmla="*/ 546973 w 825769"/>
              <a:gd name="connsiteY46" fmla="*/ 506968 h 1219200"/>
              <a:gd name="connsiteX47" fmla="*/ 565166 w 825769"/>
              <a:gd name="connsiteY47" fmla="*/ 536972 h 1219200"/>
              <a:gd name="connsiteX48" fmla="*/ 593741 w 825769"/>
              <a:gd name="connsiteY48" fmla="*/ 538115 h 1219200"/>
              <a:gd name="connsiteX49" fmla="*/ 594598 w 825769"/>
              <a:gd name="connsiteY49" fmla="*/ 538686 h 1219200"/>
              <a:gd name="connsiteX50" fmla="*/ 601885 w 825769"/>
              <a:gd name="connsiteY50" fmla="*/ 539829 h 1219200"/>
              <a:gd name="connsiteX51" fmla="*/ 609314 w 825769"/>
              <a:gd name="connsiteY51" fmla="*/ 541544 h 1219200"/>
              <a:gd name="connsiteX52" fmla="*/ 616458 w 825769"/>
              <a:gd name="connsiteY52" fmla="*/ 543544 h 1219200"/>
              <a:gd name="connsiteX53" fmla="*/ 623602 w 825769"/>
              <a:gd name="connsiteY53" fmla="*/ 545687 h 1219200"/>
              <a:gd name="connsiteX54" fmla="*/ 630603 w 825769"/>
              <a:gd name="connsiteY54" fmla="*/ 548259 h 1219200"/>
              <a:gd name="connsiteX55" fmla="*/ 637746 w 825769"/>
              <a:gd name="connsiteY55" fmla="*/ 551402 h 1219200"/>
              <a:gd name="connsiteX56" fmla="*/ 644462 w 825769"/>
              <a:gd name="connsiteY56" fmla="*/ 554403 h 1219200"/>
              <a:gd name="connsiteX57" fmla="*/ 651320 w 825769"/>
              <a:gd name="connsiteY57" fmla="*/ 557975 h 1219200"/>
              <a:gd name="connsiteX58" fmla="*/ 657606 w 825769"/>
              <a:gd name="connsiteY58" fmla="*/ 561546 h 1219200"/>
              <a:gd name="connsiteX59" fmla="*/ 664178 w 825769"/>
              <a:gd name="connsiteY59" fmla="*/ 565690 h 1219200"/>
              <a:gd name="connsiteX60" fmla="*/ 670322 w 825769"/>
              <a:gd name="connsiteY60" fmla="*/ 569690 h 1219200"/>
              <a:gd name="connsiteX61" fmla="*/ 676323 w 825769"/>
              <a:gd name="connsiteY61" fmla="*/ 574119 h 1219200"/>
              <a:gd name="connsiteX62" fmla="*/ 682323 w 825769"/>
              <a:gd name="connsiteY62" fmla="*/ 578882 h 1219200"/>
              <a:gd name="connsiteX63" fmla="*/ 687896 w 825769"/>
              <a:gd name="connsiteY63" fmla="*/ 583644 h 1219200"/>
              <a:gd name="connsiteX64" fmla="*/ 693325 w 825769"/>
              <a:gd name="connsiteY64" fmla="*/ 588407 h 1219200"/>
              <a:gd name="connsiteX65" fmla="*/ 698468 w 825769"/>
              <a:gd name="connsiteY65" fmla="*/ 593836 h 1219200"/>
              <a:gd name="connsiteX66" fmla="*/ 706755 w 825769"/>
              <a:gd name="connsiteY66" fmla="*/ 602980 h 1219200"/>
              <a:gd name="connsiteX67" fmla="*/ 714613 w 825769"/>
              <a:gd name="connsiteY67" fmla="*/ 612505 h 1219200"/>
              <a:gd name="connsiteX68" fmla="*/ 722328 w 825769"/>
              <a:gd name="connsiteY68" fmla="*/ 622506 h 1219200"/>
              <a:gd name="connsiteX69" fmla="*/ 729472 w 825769"/>
              <a:gd name="connsiteY69" fmla="*/ 632365 h 1219200"/>
              <a:gd name="connsiteX70" fmla="*/ 736473 w 825769"/>
              <a:gd name="connsiteY70" fmla="*/ 642795 h 1219200"/>
              <a:gd name="connsiteX71" fmla="*/ 742617 w 825769"/>
              <a:gd name="connsiteY71" fmla="*/ 653510 h 1219200"/>
              <a:gd name="connsiteX72" fmla="*/ 749046 w 825769"/>
              <a:gd name="connsiteY72" fmla="*/ 664369 h 1219200"/>
              <a:gd name="connsiteX73" fmla="*/ 754618 w 825769"/>
              <a:gd name="connsiteY73" fmla="*/ 675084 h 1219200"/>
              <a:gd name="connsiteX74" fmla="*/ 755190 w 825769"/>
              <a:gd name="connsiteY74" fmla="*/ 676513 h 1219200"/>
              <a:gd name="connsiteX75" fmla="*/ 755761 w 825769"/>
              <a:gd name="connsiteY75" fmla="*/ 676942 h 1219200"/>
              <a:gd name="connsiteX76" fmla="*/ 756618 w 825769"/>
              <a:gd name="connsiteY76" fmla="*/ 676942 h 1219200"/>
              <a:gd name="connsiteX77" fmla="*/ 761905 w 825769"/>
              <a:gd name="connsiteY77" fmla="*/ 677370 h 1219200"/>
              <a:gd name="connsiteX78" fmla="*/ 766667 w 825769"/>
              <a:gd name="connsiteY78" fmla="*/ 678371 h 1219200"/>
              <a:gd name="connsiteX79" fmla="*/ 771430 w 825769"/>
              <a:gd name="connsiteY79" fmla="*/ 679513 h 1219200"/>
              <a:gd name="connsiteX80" fmla="*/ 776192 w 825769"/>
              <a:gd name="connsiteY80" fmla="*/ 681228 h 1219200"/>
              <a:gd name="connsiteX81" fmla="*/ 780621 w 825769"/>
              <a:gd name="connsiteY81" fmla="*/ 682943 h 1219200"/>
              <a:gd name="connsiteX82" fmla="*/ 784622 w 825769"/>
              <a:gd name="connsiteY82" fmla="*/ 685086 h 1219200"/>
              <a:gd name="connsiteX83" fmla="*/ 788622 w 825769"/>
              <a:gd name="connsiteY83" fmla="*/ 687657 h 1219200"/>
              <a:gd name="connsiteX84" fmla="*/ 792194 w 825769"/>
              <a:gd name="connsiteY84" fmla="*/ 690658 h 1219200"/>
              <a:gd name="connsiteX85" fmla="*/ 795480 w 825769"/>
              <a:gd name="connsiteY85" fmla="*/ 693658 h 1219200"/>
              <a:gd name="connsiteX86" fmla="*/ 798767 w 825769"/>
              <a:gd name="connsiteY86" fmla="*/ 696801 h 1219200"/>
              <a:gd name="connsiteX87" fmla="*/ 801767 w 825769"/>
              <a:gd name="connsiteY87" fmla="*/ 700230 h 1219200"/>
              <a:gd name="connsiteX88" fmla="*/ 804624 w 825769"/>
              <a:gd name="connsiteY88" fmla="*/ 704088 h 1219200"/>
              <a:gd name="connsiteX89" fmla="*/ 807339 w 825769"/>
              <a:gd name="connsiteY89" fmla="*/ 707660 h 1219200"/>
              <a:gd name="connsiteX90" fmla="*/ 809625 w 825769"/>
              <a:gd name="connsiteY90" fmla="*/ 711518 h 1219200"/>
              <a:gd name="connsiteX91" fmla="*/ 811911 w 825769"/>
              <a:gd name="connsiteY91" fmla="*/ 715518 h 1219200"/>
              <a:gd name="connsiteX92" fmla="*/ 813768 w 825769"/>
              <a:gd name="connsiteY92" fmla="*/ 719661 h 1219200"/>
              <a:gd name="connsiteX93" fmla="*/ 815769 w 825769"/>
              <a:gd name="connsiteY93" fmla="*/ 723948 h 1219200"/>
              <a:gd name="connsiteX94" fmla="*/ 817626 w 825769"/>
              <a:gd name="connsiteY94" fmla="*/ 728091 h 1219200"/>
              <a:gd name="connsiteX95" fmla="*/ 819198 w 825769"/>
              <a:gd name="connsiteY95" fmla="*/ 732520 h 1219200"/>
              <a:gd name="connsiteX96" fmla="*/ 820626 w 825769"/>
              <a:gd name="connsiteY96" fmla="*/ 736663 h 1219200"/>
              <a:gd name="connsiteX97" fmla="*/ 821769 w 825769"/>
              <a:gd name="connsiteY97" fmla="*/ 740807 h 1219200"/>
              <a:gd name="connsiteX98" fmla="*/ 822770 w 825769"/>
              <a:gd name="connsiteY98" fmla="*/ 744998 h 1219200"/>
              <a:gd name="connsiteX99" fmla="*/ 823627 w 825769"/>
              <a:gd name="connsiteY99" fmla="*/ 749379 h 1219200"/>
              <a:gd name="connsiteX100" fmla="*/ 824341 w 825769"/>
              <a:gd name="connsiteY100" fmla="*/ 753380 h 1219200"/>
              <a:gd name="connsiteX101" fmla="*/ 825056 w 825769"/>
              <a:gd name="connsiteY101" fmla="*/ 757095 h 1219200"/>
              <a:gd name="connsiteX102" fmla="*/ 825341 w 825769"/>
              <a:gd name="connsiteY102" fmla="*/ 761143 h 1219200"/>
              <a:gd name="connsiteX103" fmla="*/ 825770 w 825769"/>
              <a:gd name="connsiteY103" fmla="*/ 764858 h 1219200"/>
              <a:gd name="connsiteX104" fmla="*/ 825770 w 825769"/>
              <a:gd name="connsiteY104" fmla="*/ 768287 h 1219200"/>
              <a:gd name="connsiteX105" fmla="*/ 825770 w 825769"/>
              <a:gd name="connsiteY105" fmla="*/ 775002 h 1219200"/>
              <a:gd name="connsiteX106" fmla="*/ 825770 w 825769"/>
              <a:gd name="connsiteY106" fmla="*/ 777812 h 1219200"/>
              <a:gd name="connsiteX107" fmla="*/ 825770 w 825769"/>
              <a:gd name="connsiteY107" fmla="*/ 780431 h 1219200"/>
              <a:gd name="connsiteX108" fmla="*/ 824770 w 825769"/>
              <a:gd name="connsiteY108" fmla="*/ 786432 h 1219200"/>
              <a:gd name="connsiteX109" fmla="*/ 824198 w 825769"/>
              <a:gd name="connsiteY109" fmla="*/ 792718 h 1219200"/>
              <a:gd name="connsiteX110" fmla="*/ 823770 w 825769"/>
              <a:gd name="connsiteY110" fmla="*/ 798862 h 1219200"/>
              <a:gd name="connsiteX111" fmla="*/ 823341 w 825769"/>
              <a:gd name="connsiteY111" fmla="*/ 805291 h 1219200"/>
              <a:gd name="connsiteX112" fmla="*/ 819817 w 825769"/>
              <a:gd name="connsiteY112" fmla="*/ 876300 h 1219200"/>
              <a:gd name="connsiteX113" fmla="*/ 816673 w 825769"/>
              <a:gd name="connsiteY113" fmla="*/ 946452 h 1219200"/>
              <a:gd name="connsiteX114" fmla="*/ 816388 w 825769"/>
              <a:gd name="connsiteY114" fmla="*/ 953024 h 1219200"/>
              <a:gd name="connsiteX115" fmla="*/ 815673 w 825769"/>
              <a:gd name="connsiteY115" fmla="*/ 959882 h 1219200"/>
              <a:gd name="connsiteX116" fmla="*/ 815102 w 825769"/>
              <a:gd name="connsiteY116" fmla="*/ 966168 h 1219200"/>
              <a:gd name="connsiteX117" fmla="*/ 814102 w 825769"/>
              <a:gd name="connsiteY117" fmla="*/ 973026 h 1219200"/>
              <a:gd name="connsiteX118" fmla="*/ 813102 w 825769"/>
              <a:gd name="connsiteY118" fmla="*/ 979313 h 1219200"/>
              <a:gd name="connsiteX119" fmla="*/ 811816 w 825769"/>
              <a:gd name="connsiteY119" fmla="*/ 986028 h 1219200"/>
              <a:gd name="connsiteX120" fmla="*/ 810530 w 825769"/>
              <a:gd name="connsiteY120" fmla="*/ 992457 h 1219200"/>
              <a:gd name="connsiteX121" fmla="*/ 808815 w 825769"/>
              <a:gd name="connsiteY121" fmla="*/ 998744 h 1219200"/>
              <a:gd name="connsiteX122" fmla="*/ 804672 w 825769"/>
              <a:gd name="connsiteY122" fmla="*/ 1015317 h 1219200"/>
              <a:gd name="connsiteX123" fmla="*/ 799910 w 825769"/>
              <a:gd name="connsiteY123" fmla="*/ 1031605 h 1219200"/>
              <a:gd name="connsiteX124" fmla="*/ 795147 w 825769"/>
              <a:gd name="connsiteY124" fmla="*/ 1047893 h 1219200"/>
              <a:gd name="connsiteX125" fmla="*/ 790385 w 825769"/>
              <a:gd name="connsiteY125" fmla="*/ 1064038 h 1219200"/>
              <a:gd name="connsiteX126" fmla="*/ 791385 w 825769"/>
              <a:gd name="connsiteY126" fmla="*/ 1065038 h 1219200"/>
              <a:gd name="connsiteX127" fmla="*/ 810435 w 825769"/>
              <a:gd name="connsiteY127" fmla="*/ 1149668 h 1219200"/>
              <a:gd name="connsiteX128" fmla="*/ 787575 w 825769"/>
              <a:gd name="connsiteY128" fmla="*/ 1154097 h 1219200"/>
              <a:gd name="connsiteX129" fmla="*/ 745284 w 825769"/>
              <a:gd name="connsiteY129" fmla="*/ 1161526 h 1219200"/>
              <a:gd name="connsiteX130" fmla="*/ 627269 w 825769"/>
              <a:gd name="connsiteY130" fmla="*/ 1181957 h 1219200"/>
              <a:gd name="connsiteX131" fmla="*/ 501206 w 825769"/>
              <a:gd name="connsiteY131" fmla="*/ 1203674 h 1219200"/>
              <a:gd name="connsiteX132" fmla="*/ 449485 w 825769"/>
              <a:gd name="connsiteY132" fmla="*/ 1212818 h 1219200"/>
              <a:gd name="connsiteX133" fmla="*/ 413575 w 825769"/>
              <a:gd name="connsiteY133" fmla="*/ 1219200 h 1219200"/>
              <a:gd name="connsiteX134" fmla="*/ 393811 w 825769"/>
              <a:gd name="connsiteY134" fmla="*/ 1120473 h 1219200"/>
              <a:gd name="connsiteX135" fmla="*/ 391668 w 825769"/>
              <a:gd name="connsiteY135" fmla="*/ 1116759 h 1219200"/>
              <a:gd name="connsiteX136" fmla="*/ 389382 w 825769"/>
              <a:gd name="connsiteY136" fmla="*/ 1113044 h 1219200"/>
              <a:gd name="connsiteX137" fmla="*/ 387096 w 825769"/>
              <a:gd name="connsiteY137" fmla="*/ 1109472 h 1219200"/>
              <a:gd name="connsiteX138" fmla="*/ 384667 w 825769"/>
              <a:gd name="connsiteY138" fmla="*/ 1106186 h 1219200"/>
              <a:gd name="connsiteX139" fmla="*/ 381953 w 825769"/>
              <a:gd name="connsiteY139" fmla="*/ 1102757 h 1219200"/>
              <a:gd name="connsiteX140" fmla="*/ 379095 w 825769"/>
              <a:gd name="connsiteY140" fmla="*/ 1099614 h 1219200"/>
              <a:gd name="connsiteX141" fmla="*/ 376380 w 825769"/>
              <a:gd name="connsiteY141" fmla="*/ 1096470 h 1219200"/>
              <a:gd name="connsiteX142" fmla="*/ 373523 w 825769"/>
              <a:gd name="connsiteY142" fmla="*/ 1093470 h 1219200"/>
              <a:gd name="connsiteX143" fmla="*/ 370380 w 825769"/>
              <a:gd name="connsiteY143" fmla="*/ 1090470 h 1219200"/>
              <a:gd name="connsiteX144" fmla="*/ 367094 w 825769"/>
              <a:gd name="connsiteY144" fmla="*/ 1087612 h 1219200"/>
              <a:gd name="connsiteX145" fmla="*/ 363807 w 825769"/>
              <a:gd name="connsiteY145" fmla="*/ 1084898 h 1219200"/>
              <a:gd name="connsiteX146" fmla="*/ 360521 w 825769"/>
              <a:gd name="connsiteY146" fmla="*/ 1082040 h 1219200"/>
              <a:gd name="connsiteX147" fmla="*/ 356949 w 825769"/>
              <a:gd name="connsiteY147" fmla="*/ 1079706 h 1219200"/>
              <a:gd name="connsiteX148" fmla="*/ 353235 w 825769"/>
              <a:gd name="connsiteY148" fmla="*/ 1077182 h 1219200"/>
              <a:gd name="connsiteX149" fmla="*/ 349663 w 825769"/>
              <a:gd name="connsiteY149" fmla="*/ 1074896 h 1219200"/>
              <a:gd name="connsiteX150" fmla="*/ 345805 w 825769"/>
              <a:gd name="connsiteY150" fmla="*/ 1072706 h 1219200"/>
              <a:gd name="connsiteX151" fmla="*/ 340519 w 825769"/>
              <a:gd name="connsiteY151" fmla="*/ 1070039 h 1219200"/>
              <a:gd name="connsiteX152" fmla="*/ 335375 w 825769"/>
              <a:gd name="connsiteY152" fmla="*/ 1067133 h 1219200"/>
              <a:gd name="connsiteX153" fmla="*/ 325374 w 825769"/>
              <a:gd name="connsiteY153" fmla="*/ 1061418 h 1219200"/>
              <a:gd name="connsiteX154" fmla="*/ 315849 w 825769"/>
              <a:gd name="connsiteY154" fmla="*/ 1055322 h 1219200"/>
              <a:gd name="connsiteX155" fmla="*/ 306324 w 825769"/>
              <a:gd name="connsiteY155" fmla="*/ 1048703 h 1219200"/>
              <a:gd name="connsiteX156" fmla="*/ 297180 w 825769"/>
              <a:gd name="connsiteY156" fmla="*/ 1042130 h 1219200"/>
              <a:gd name="connsiteX157" fmla="*/ 288608 w 825769"/>
              <a:gd name="connsiteY157" fmla="*/ 1034987 h 1219200"/>
              <a:gd name="connsiteX158" fmla="*/ 279987 w 825769"/>
              <a:gd name="connsiteY158" fmla="*/ 1027843 h 1219200"/>
              <a:gd name="connsiteX159" fmla="*/ 272034 w 825769"/>
              <a:gd name="connsiteY159" fmla="*/ 1019985 h 1219200"/>
              <a:gd name="connsiteX160" fmla="*/ 263843 w 825769"/>
              <a:gd name="connsiteY160" fmla="*/ 1012269 h 1219200"/>
              <a:gd name="connsiteX161" fmla="*/ 256127 w 825769"/>
              <a:gd name="connsiteY161" fmla="*/ 1004268 h 1219200"/>
              <a:gd name="connsiteX162" fmla="*/ 248555 w 825769"/>
              <a:gd name="connsiteY162" fmla="*/ 996125 h 1219200"/>
              <a:gd name="connsiteX163" fmla="*/ 241411 w 825769"/>
              <a:gd name="connsiteY163" fmla="*/ 987838 h 1219200"/>
              <a:gd name="connsiteX164" fmla="*/ 234267 w 825769"/>
              <a:gd name="connsiteY164" fmla="*/ 979265 h 1219200"/>
              <a:gd name="connsiteX165" fmla="*/ 227124 w 825769"/>
              <a:gd name="connsiteY165" fmla="*/ 970550 h 1219200"/>
              <a:gd name="connsiteX166" fmla="*/ 212836 w 825769"/>
              <a:gd name="connsiteY166" fmla="*/ 952976 h 1219200"/>
              <a:gd name="connsiteX167" fmla="*/ 209836 w 825769"/>
              <a:gd name="connsiteY167" fmla="*/ 949119 h 1219200"/>
              <a:gd name="connsiteX168" fmla="*/ 207121 w 825769"/>
              <a:gd name="connsiteY168" fmla="*/ 945261 h 1219200"/>
              <a:gd name="connsiteX169" fmla="*/ 201549 w 825769"/>
              <a:gd name="connsiteY169" fmla="*/ 937117 h 1219200"/>
              <a:gd name="connsiteX170" fmla="*/ 196501 w 825769"/>
              <a:gd name="connsiteY170" fmla="*/ 928688 h 1219200"/>
              <a:gd name="connsiteX171" fmla="*/ 191738 w 825769"/>
              <a:gd name="connsiteY171" fmla="*/ 920544 h 1219200"/>
              <a:gd name="connsiteX172" fmla="*/ 186976 w 825769"/>
              <a:gd name="connsiteY172" fmla="*/ 911685 h 1219200"/>
              <a:gd name="connsiteX173" fmla="*/ 182547 w 825769"/>
              <a:gd name="connsiteY173" fmla="*/ 903399 h 1219200"/>
              <a:gd name="connsiteX174" fmla="*/ 178546 w 825769"/>
              <a:gd name="connsiteY174" fmla="*/ 894398 h 1219200"/>
              <a:gd name="connsiteX175" fmla="*/ 174736 w 825769"/>
              <a:gd name="connsiteY175" fmla="*/ 885825 h 1219200"/>
              <a:gd name="connsiteX176" fmla="*/ 166878 w 825769"/>
              <a:gd name="connsiteY176" fmla="*/ 868537 h 1219200"/>
              <a:gd name="connsiteX177" fmla="*/ 162878 w 825769"/>
              <a:gd name="connsiteY177" fmla="*/ 859965 h 1219200"/>
              <a:gd name="connsiteX178" fmla="*/ 158591 w 825769"/>
              <a:gd name="connsiteY178" fmla="*/ 851249 h 1219200"/>
              <a:gd name="connsiteX179" fmla="*/ 154496 w 825769"/>
              <a:gd name="connsiteY179" fmla="*/ 842963 h 1219200"/>
              <a:gd name="connsiteX180" fmla="*/ 150209 w 825769"/>
              <a:gd name="connsiteY180" fmla="*/ 834819 h 1219200"/>
              <a:gd name="connsiteX181" fmla="*/ 145447 w 825769"/>
              <a:gd name="connsiteY181" fmla="*/ 826389 h 1219200"/>
              <a:gd name="connsiteX182" fmla="*/ 140684 w 825769"/>
              <a:gd name="connsiteY182" fmla="*/ 818674 h 1219200"/>
              <a:gd name="connsiteX183" fmla="*/ 138970 w 825769"/>
              <a:gd name="connsiteY183" fmla="*/ 813911 h 1219200"/>
              <a:gd name="connsiteX184" fmla="*/ 136684 w 825769"/>
              <a:gd name="connsiteY184" fmla="*/ 809149 h 1219200"/>
              <a:gd name="connsiteX185" fmla="*/ 134398 w 825769"/>
              <a:gd name="connsiteY185" fmla="*/ 804386 h 1219200"/>
              <a:gd name="connsiteX186" fmla="*/ 131826 w 825769"/>
              <a:gd name="connsiteY186" fmla="*/ 799624 h 1219200"/>
              <a:gd name="connsiteX187" fmla="*/ 129111 w 825769"/>
              <a:gd name="connsiteY187" fmla="*/ 794861 h 1219200"/>
              <a:gd name="connsiteX188" fmla="*/ 126397 w 825769"/>
              <a:gd name="connsiteY188" fmla="*/ 790099 h 1219200"/>
              <a:gd name="connsiteX189" fmla="*/ 120682 w 825769"/>
              <a:gd name="connsiteY189" fmla="*/ 780574 h 1219200"/>
              <a:gd name="connsiteX190" fmla="*/ 114062 w 825769"/>
              <a:gd name="connsiteY190" fmla="*/ 771525 h 1219200"/>
              <a:gd name="connsiteX191" fmla="*/ 108061 w 825769"/>
              <a:gd name="connsiteY191" fmla="*/ 762333 h 1219200"/>
              <a:gd name="connsiteX192" fmla="*/ 95917 w 825769"/>
              <a:gd name="connsiteY192" fmla="*/ 744903 h 1219200"/>
              <a:gd name="connsiteX193" fmla="*/ 93488 w 825769"/>
              <a:gd name="connsiteY193" fmla="*/ 741045 h 1219200"/>
              <a:gd name="connsiteX194" fmla="*/ 91202 w 825769"/>
              <a:gd name="connsiteY194" fmla="*/ 736759 h 1219200"/>
              <a:gd name="connsiteX195" fmla="*/ 85773 w 825769"/>
              <a:gd name="connsiteY195" fmla="*/ 726758 h 1219200"/>
              <a:gd name="connsiteX196" fmla="*/ 83058 w 825769"/>
              <a:gd name="connsiteY196" fmla="*/ 721995 h 1219200"/>
              <a:gd name="connsiteX197" fmla="*/ 80201 w 825769"/>
              <a:gd name="connsiteY197" fmla="*/ 716994 h 1219200"/>
              <a:gd name="connsiteX198" fmla="*/ 78772 w 825769"/>
              <a:gd name="connsiteY198" fmla="*/ 714994 h 1219200"/>
              <a:gd name="connsiteX199" fmla="*/ 77200 w 825769"/>
              <a:gd name="connsiteY199" fmla="*/ 712994 h 1219200"/>
              <a:gd name="connsiteX200" fmla="*/ 75486 w 825769"/>
              <a:gd name="connsiteY200" fmla="*/ 711137 h 1219200"/>
              <a:gd name="connsiteX201" fmla="*/ 73771 w 825769"/>
              <a:gd name="connsiteY201" fmla="*/ 709613 h 1219200"/>
              <a:gd name="connsiteX202" fmla="*/ 72342 w 825769"/>
              <a:gd name="connsiteY202" fmla="*/ 708041 h 1219200"/>
              <a:gd name="connsiteX203" fmla="*/ 70914 w 825769"/>
              <a:gd name="connsiteY203" fmla="*/ 706041 h 1219200"/>
              <a:gd name="connsiteX204" fmla="*/ 69771 w 825769"/>
              <a:gd name="connsiteY204" fmla="*/ 703755 h 1219200"/>
              <a:gd name="connsiteX205" fmla="*/ 68770 w 825769"/>
              <a:gd name="connsiteY205" fmla="*/ 700897 h 1219200"/>
              <a:gd name="connsiteX206" fmla="*/ 67485 w 825769"/>
              <a:gd name="connsiteY206" fmla="*/ 698183 h 1219200"/>
              <a:gd name="connsiteX207" fmla="*/ 66770 w 825769"/>
              <a:gd name="connsiteY207" fmla="*/ 695182 h 1219200"/>
              <a:gd name="connsiteX208" fmla="*/ 64913 w 825769"/>
              <a:gd name="connsiteY208" fmla="*/ 688324 h 1219200"/>
              <a:gd name="connsiteX209" fmla="*/ 63341 w 825769"/>
              <a:gd name="connsiteY209" fmla="*/ 681609 h 1219200"/>
              <a:gd name="connsiteX210" fmla="*/ 61770 w 825769"/>
              <a:gd name="connsiteY210" fmla="*/ 674894 h 1219200"/>
              <a:gd name="connsiteX211" fmla="*/ 60436 w 825769"/>
              <a:gd name="connsiteY211" fmla="*/ 669036 h 1219200"/>
              <a:gd name="connsiteX212" fmla="*/ 59007 w 825769"/>
              <a:gd name="connsiteY212" fmla="*/ 664274 h 1219200"/>
              <a:gd name="connsiteX213" fmla="*/ 54864 w 825769"/>
              <a:gd name="connsiteY213" fmla="*/ 651701 h 1219200"/>
              <a:gd name="connsiteX214" fmla="*/ 50435 w 825769"/>
              <a:gd name="connsiteY214" fmla="*/ 639556 h 1219200"/>
              <a:gd name="connsiteX215" fmla="*/ 48054 w 825769"/>
              <a:gd name="connsiteY215" fmla="*/ 633413 h 1219200"/>
              <a:gd name="connsiteX216" fmla="*/ 45625 w 825769"/>
              <a:gd name="connsiteY216" fmla="*/ 627698 h 1219200"/>
              <a:gd name="connsiteX217" fmla="*/ 43196 w 825769"/>
              <a:gd name="connsiteY217" fmla="*/ 622125 h 1219200"/>
              <a:gd name="connsiteX218" fmla="*/ 40481 w 825769"/>
              <a:gd name="connsiteY218" fmla="*/ 616268 h 1219200"/>
              <a:gd name="connsiteX219" fmla="*/ 38910 w 825769"/>
              <a:gd name="connsiteY219" fmla="*/ 613124 h 1219200"/>
              <a:gd name="connsiteX220" fmla="*/ 37052 w 825769"/>
              <a:gd name="connsiteY220" fmla="*/ 609981 h 1219200"/>
              <a:gd name="connsiteX221" fmla="*/ 32909 w 825769"/>
              <a:gd name="connsiteY221" fmla="*/ 603266 h 1219200"/>
              <a:gd name="connsiteX222" fmla="*/ 28146 w 825769"/>
              <a:gd name="connsiteY222" fmla="*/ 596694 h 1219200"/>
              <a:gd name="connsiteX223" fmla="*/ 23384 w 825769"/>
              <a:gd name="connsiteY223" fmla="*/ 589836 h 1219200"/>
              <a:gd name="connsiteX224" fmla="*/ 13240 w 825769"/>
              <a:gd name="connsiteY224" fmla="*/ 576691 h 1219200"/>
              <a:gd name="connsiteX225" fmla="*/ 3286 w 825769"/>
              <a:gd name="connsiteY225" fmla="*/ 563880 h 1219200"/>
              <a:gd name="connsiteX226" fmla="*/ 1857 w 825769"/>
              <a:gd name="connsiteY226" fmla="*/ 561737 h 1219200"/>
              <a:gd name="connsiteX227" fmla="*/ 857 w 825769"/>
              <a:gd name="connsiteY227" fmla="*/ 559308 h 1219200"/>
              <a:gd name="connsiteX228" fmla="*/ 286 w 825769"/>
              <a:gd name="connsiteY228" fmla="*/ 556736 h 1219200"/>
              <a:gd name="connsiteX229" fmla="*/ 0 w 825769"/>
              <a:gd name="connsiteY229" fmla="*/ 554165 h 1219200"/>
              <a:gd name="connsiteX230" fmla="*/ 0 w 825769"/>
              <a:gd name="connsiteY230" fmla="*/ 551450 h 1219200"/>
              <a:gd name="connsiteX231" fmla="*/ 429 w 825769"/>
              <a:gd name="connsiteY231" fmla="*/ 548450 h 1219200"/>
              <a:gd name="connsiteX232" fmla="*/ 1000 w 825769"/>
              <a:gd name="connsiteY232" fmla="*/ 545449 h 1219200"/>
              <a:gd name="connsiteX233" fmla="*/ 1857 w 825769"/>
              <a:gd name="connsiteY233" fmla="*/ 542735 h 1219200"/>
              <a:gd name="connsiteX234" fmla="*/ 2857 w 825769"/>
              <a:gd name="connsiteY234" fmla="*/ 539877 h 1219200"/>
              <a:gd name="connsiteX235" fmla="*/ 4286 w 825769"/>
              <a:gd name="connsiteY235" fmla="*/ 537162 h 1219200"/>
              <a:gd name="connsiteX236" fmla="*/ 5572 w 825769"/>
              <a:gd name="connsiteY236" fmla="*/ 534305 h 1219200"/>
              <a:gd name="connsiteX237" fmla="*/ 7287 w 825769"/>
              <a:gd name="connsiteY237" fmla="*/ 531876 h 1219200"/>
              <a:gd name="connsiteX238" fmla="*/ 9001 w 825769"/>
              <a:gd name="connsiteY238" fmla="*/ 529590 h 1219200"/>
              <a:gd name="connsiteX239" fmla="*/ 10573 w 825769"/>
              <a:gd name="connsiteY239" fmla="*/ 527590 h 1219200"/>
              <a:gd name="connsiteX240" fmla="*/ 12430 w 825769"/>
              <a:gd name="connsiteY240" fmla="*/ 525590 h 1219200"/>
              <a:gd name="connsiteX241" fmla="*/ 14145 w 825769"/>
              <a:gd name="connsiteY241" fmla="*/ 524018 h 1219200"/>
              <a:gd name="connsiteX242" fmla="*/ 17002 w 825769"/>
              <a:gd name="connsiteY242" fmla="*/ 521732 h 1219200"/>
              <a:gd name="connsiteX243" fmla="*/ 19717 w 825769"/>
              <a:gd name="connsiteY243" fmla="*/ 519875 h 1219200"/>
              <a:gd name="connsiteX244" fmla="*/ 23003 w 825769"/>
              <a:gd name="connsiteY244" fmla="*/ 518160 h 1219200"/>
              <a:gd name="connsiteX245" fmla="*/ 26146 w 825769"/>
              <a:gd name="connsiteY245" fmla="*/ 516874 h 1219200"/>
              <a:gd name="connsiteX246" fmla="*/ 29289 w 825769"/>
              <a:gd name="connsiteY246" fmla="*/ 515588 h 1219200"/>
              <a:gd name="connsiteX247" fmla="*/ 32576 w 825769"/>
              <a:gd name="connsiteY247" fmla="*/ 514588 h 1219200"/>
              <a:gd name="connsiteX248" fmla="*/ 36147 w 825769"/>
              <a:gd name="connsiteY248" fmla="*/ 514017 h 1219200"/>
              <a:gd name="connsiteX249" fmla="*/ 39433 w 825769"/>
              <a:gd name="connsiteY249" fmla="*/ 513445 h 1219200"/>
              <a:gd name="connsiteX250" fmla="*/ 43005 w 825769"/>
              <a:gd name="connsiteY250" fmla="*/ 513017 h 1219200"/>
              <a:gd name="connsiteX251" fmla="*/ 46434 w 825769"/>
              <a:gd name="connsiteY251" fmla="*/ 513017 h 1219200"/>
              <a:gd name="connsiteX252" fmla="*/ 50292 w 825769"/>
              <a:gd name="connsiteY252" fmla="*/ 513017 h 1219200"/>
              <a:gd name="connsiteX253" fmla="*/ 53864 w 825769"/>
              <a:gd name="connsiteY253" fmla="*/ 513302 h 1219200"/>
              <a:gd name="connsiteX254" fmla="*/ 57436 w 825769"/>
              <a:gd name="connsiteY254" fmla="*/ 513302 h 1219200"/>
              <a:gd name="connsiteX255" fmla="*/ 61008 w 825769"/>
              <a:gd name="connsiteY255" fmla="*/ 513874 h 1219200"/>
              <a:gd name="connsiteX256" fmla="*/ 64722 w 825769"/>
              <a:gd name="connsiteY256" fmla="*/ 514731 h 1219200"/>
              <a:gd name="connsiteX257" fmla="*/ 68294 w 825769"/>
              <a:gd name="connsiteY257" fmla="*/ 515445 h 1219200"/>
              <a:gd name="connsiteX258" fmla="*/ 71866 w 825769"/>
              <a:gd name="connsiteY258" fmla="*/ 516446 h 1219200"/>
              <a:gd name="connsiteX259" fmla="*/ 75438 w 825769"/>
              <a:gd name="connsiteY259" fmla="*/ 517446 h 1219200"/>
              <a:gd name="connsiteX260" fmla="*/ 79153 w 825769"/>
              <a:gd name="connsiteY260" fmla="*/ 518874 h 1219200"/>
              <a:gd name="connsiteX261" fmla="*/ 82725 w 825769"/>
              <a:gd name="connsiteY261" fmla="*/ 520303 h 1219200"/>
              <a:gd name="connsiteX262" fmla="*/ 86011 w 825769"/>
              <a:gd name="connsiteY262" fmla="*/ 521589 h 1219200"/>
              <a:gd name="connsiteX263" fmla="*/ 89297 w 825769"/>
              <a:gd name="connsiteY263" fmla="*/ 523446 h 1219200"/>
              <a:gd name="connsiteX264" fmla="*/ 92869 w 825769"/>
              <a:gd name="connsiteY264" fmla="*/ 525304 h 1219200"/>
              <a:gd name="connsiteX265" fmla="*/ 96012 w 825769"/>
              <a:gd name="connsiteY265" fmla="*/ 527018 h 1219200"/>
              <a:gd name="connsiteX266" fmla="*/ 99155 w 825769"/>
              <a:gd name="connsiteY266" fmla="*/ 528876 h 1219200"/>
              <a:gd name="connsiteX267" fmla="*/ 102156 w 825769"/>
              <a:gd name="connsiteY267" fmla="*/ 530733 h 1219200"/>
              <a:gd name="connsiteX268" fmla="*/ 105156 w 825769"/>
              <a:gd name="connsiteY268" fmla="*/ 533019 h 1219200"/>
              <a:gd name="connsiteX269" fmla="*/ 108014 w 825769"/>
              <a:gd name="connsiteY269" fmla="*/ 535019 h 1219200"/>
              <a:gd name="connsiteX270" fmla="*/ 110728 w 825769"/>
              <a:gd name="connsiteY270" fmla="*/ 537305 h 1219200"/>
              <a:gd name="connsiteX271" fmla="*/ 113157 w 825769"/>
              <a:gd name="connsiteY271" fmla="*/ 539734 h 1219200"/>
              <a:gd name="connsiteX272" fmla="*/ 115443 w 825769"/>
              <a:gd name="connsiteY272" fmla="*/ 541877 h 1219200"/>
              <a:gd name="connsiteX273" fmla="*/ 117872 w 825769"/>
              <a:gd name="connsiteY273" fmla="*/ 544306 h 1219200"/>
              <a:gd name="connsiteX274" fmla="*/ 120301 w 825769"/>
              <a:gd name="connsiteY274" fmla="*/ 547164 h 1219200"/>
              <a:gd name="connsiteX275" fmla="*/ 122730 w 825769"/>
              <a:gd name="connsiteY275" fmla="*/ 549878 h 1219200"/>
              <a:gd name="connsiteX276" fmla="*/ 126873 w 825769"/>
              <a:gd name="connsiteY276" fmla="*/ 555879 h 1219200"/>
              <a:gd name="connsiteX277" fmla="*/ 130874 w 825769"/>
              <a:gd name="connsiteY277" fmla="*/ 562023 h 1219200"/>
              <a:gd name="connsiteX278" fmla="*/ 134874 w 825769"/>
              <a:gd name="connsiteY278" fmla="*/ 568595 h 1219200"/>
              <a:gd name="connsiteX279" fmla="*/ 142446 w 825769"/>
              <a:gd name="connsiteY279" fmla="*/ 581311 h 1219200"/>
              <a:gd name="connsiteX280" fmla="*/ 146161 w 825769"/>
              <a:gd name="connsiteY280" fmla="*/ 587597 h 1219200"/>
              <a:gd name="connsiteX281" fmla="*/ 150162 w 825769"/>
              <a:gd name="connsiteY281" fmla="*/ 593598 h 1219200"/>
              <a:gd name="connsiteX282" fmla="*/ 153591 w 825769"/>
              <a:gd name="connsiteY282" fmla="*/ 599027 h 1219200"/>
              <a:gd name="connsiteX283" fmla="*/ 156877 w 825769"/>
              <a:gd name="connsiteY283" fmla="*/ 604599 h 1219200"/>
              <a:gd name="connsiteX284" fmla="*/ 164306 w 825769"/>
              <a:gd name="connsiteY284" fmla="*/ 616458 h 1219200"/>
              <a:gd name="connsiteX285" fmla="*/ 171593 w 825769"/>
              <a:gd name="connsiteY285" fmla="*/ 629031 h 1219200"/>
              <a:gd name="connsiteX286" fmla="*/ 179499 w 825769"/>
              <a:gd name="connsiteY286" fmla="*/ 641890 h 1219200"/>
              <a:gd name="connsiteX287" fmla="*/ 183499 w 825769"/>
              <a:gd name="connsiteY287" fmla="*/ 648033 h 1219200"/>
              <a:gd name="connsiteX288" fmla="*/ 187357 w 825769"/>
              <a:gd name="connsiteY288" fmla="*/ 654177 h 1219200"/>
              <a:gd name="connsiteX289" fmla="*/ 191786 w 825769"/>
              <a:gd name="connsiteY289" fmla="*/ 659892 h 1219200"/>
              <a:gd name="connsiteX290" fmla="*/ 195929 w 825769"/>
              <a:gd name="connsiteY290" fmla="*/ 665750 h 1219200"/>
              <a:gd name="connsiteX291" fmla="*/ 200692 w 825769"/>
              <a:gd name="connsiteY291" fmla="*/ 671036 h 1219200"/>
              <a:gd name="connsiteX292" fmla="*/ 205454 w 825769"/>
              <a:gd name="connsiteY292" fmla="*/ 675799 h 1219200"/>
              <a:gd name="connsiteX293" fmla="*/ 210217 w 825769"/>
              <a:gd name="connsiteY293" fmla="*/ 680561 h 1219200"/>
              <a:gd name="connsiteX294" fmla="*/ 212646 w 825769"/>
              <a:gd name="connsiteY294" fmla="*/ 682562 h 1219200"/>
              <a:gd name="connsiteX295" fmla="*/ 215217 w 825769"/>
              <a:gd name="connsiteY295" fmla="*/ 684562 h 1219200"/>
              <a:gd name="connsiteX296" fmla="*/ 219361 w 825769"/>
              <a:gd name="connsiteY296" fmla="*/ 687705 h 1219200"/>
              <a:gd name="connsiteX297" fmla="*/ 223361 w 825769"/>
              <a:gd name="connsiteY297" fmla="*/ 690705 h 1219200"/>
              <a:gd name="connsiteX298" fmla="*/ 227505 w 825769"/>
              <a:gd name="connsiteY298" fmla="*/ 693277 h 1219200"/>
              <a:gd name="connsiteX299" fmla="*/ 231934 w 825769"/>
              <a:gd name="connsiteY299" fmla="*/ 695706 h 1219200"/>
              <a:gd name="connsiteX300" fmla="*/ 236363 w 825769"/>
              <a:gd name="connsiteY300" fmla="*/ 697706 h 1219200"/>
              <a:gd name="connsiteX301" fmla="*/ 240506 w 825769"/>
              <a:gd name="connsiteY301" fmla="*/ 699421 h 1219200"/>
              <a:gd name="connsiteX302" fmla="*/ 245269 w 825769"/>
              <a:gd name="connsiteY302" fmla="*/ 701135 h 1219200"/>
              <a:gd name="connsiteX303" fmla="*/ 249698 w 825769"/>
              <a:gd name="connsiteY303" fmla="*/ 702421 h 1219200"/>
              <a:gd name="connsiteX304" fmla="*/ 254460 w 825769"/>
              <a:gd name="connsiteY304" fmla="*/ 703421 h 1219200"/>
              <a:gd name="connsiteX305" fmla="*/ 259223 w 825769"/>
              <a:gd name="connsiteY305" fmla="*/ 704279 h 1219200"/>
              <a:gd name="connsiteX306" fmla="*/ 263985 w 825769"/>
              <a:gd name="connsiteY306" fmla="*/ 704993 h 1219200"/>
              <a:gd name="connsiteX307" fmla="*/ 268748 w 825769"/>
              <a:gd name="connsiteY307" fmla="*/ 705422 h 1219200"/>
              <a:gd name="connsiteX308" fmla="*/ 273796 w 825769"/>
              <a:gd name="connsiteY308" fmla="*/ 705422 h 1219200"/>
              <a:gd name="connsiteX309" fmla="*/ 278559 w 825769"/>
              <a:gd name="connsiteY309" fmla="*/ 705422 h 1219200"/>
              <a:gd name="connsiteX310" fmla="*/ 283702 w 825769"/>
              <a:gd name="connsiteY310" fmla="*/ 704993 h 1219200"/>
              <a:gd name="connsiteX311" fmla="*/ 288988 w 825769"/>
              <a:gd name="connsiteY311" fmla="*/ 703993 h 1219200"/>
              <a:gd name="connsiteX312" fmla="*/ 290560 w 825769"/>
              <a:gd name="connsiteY312" fmla="*/ 703993 h 1219200"/>
              <a:gd name="connsiteX313" fmla="*/ 292275 w 825769"/>
              <a:gd name="connsiteY313" fmla="*/ 703136 h 1219200"/>
              <a:gd name="connsiteX314" fmla="*/ 294275 w 825769"/>
              <a:gd name="connsiteY314" fmla="*/ 702278 h 1219200"/>
              <a:gd name="connsiteX315" fmla="*/ 296132 w 825769"/>
              <a:gd name="connsiteY315" fmla="*/ 701135 h 1219200"/>
              <a:gd name="connsiteX316" fmla="*/ 298133 w 825769"/>
              <a:gd name="connsiteY316" fmla="*/ 699564 h 1219200"/>
              <a:gd name="connsiteX317" fmla="*/ 299847 w 825769"/>
              <a:gd name="connsiteY317" fmla="*/ 697992 h 1219200"/>
              <a:gd name="connsiteX318" fmla="*/ 301847 w 825769"/>
              <a:gd name="connsiteY318" fmla="*/ 696420 h 1219200"/>
              <a:gd name="connsiteX319" fmla="*/ 303276 w 825769"/>
              <a:gd name="connsiteY319" fmla="*/ 694420 h 1219200"/>
              <a:gd name="connsiteX320" fmla="*/ 305991 w 825769"/>
              <a:gd name="connsiteY320" fmla="*/ 691277 h 1219200"/>
              <a:gd name="connsiteX321" fmla="*/ 308420 w 825769"/>
              <a:gd name="connsiteY321" fmla="*/ 687848 h 1219200"/>
              <a:gd name="connsiteX322" fmla="*/ 310848 w 825769"/>
              <a:gd name="connsiteY322" fmla="*/ 684419 h 1219200"/>
              <a:gd name="connsiteX323" fmla="*/ 312849 w 825769"/>
              <a:gd name="connsiteY323" fmla="*/ 681038 h 1219200"/>
              <a:gd name="connsiteX324" fmla="*/ 314992 w 825769"/>
              <a:gd name="connsiteY324" fmla="*/ 677609 h 1219200"/>
              <a:gd name="connsiteX325" fmla="*/ 316849 w 825769"/>
              <a:gd name="connsiteY325" fmla="*/ 673751 h 1219200"/>
              <a:gd name="connsiteX326" fmla="*/ 318421 w 825769"/>
              <a:gd name="connsiteY326" fmla="*/ 670179 h 1219200"/>
              <a:gd name="connsiteX327" fmla="*/ 319707 w 825769"/>
              <a:gd name="connsiteY327" fmla="*/ 666607 h 1219200"/>
              <a:gd name="connsiteX328" fmla="*/ 321135 w 825769"/>
              <a:gd name="connsiteY328" fmla="*/ 663035 h 1219200"/>
              <a:gd name="connsiteX329" fmla="*/ 322135 w 825769"/>
              <a:gd name="connsiteY329" fmla="*/ 659178 h 1219200"/>
              <a:gd name="connsiteX330" fmla="*/ 323136 w 825769"/>
              <a:gd name="connsiteY330" fmla="*/ 655320 h 1219200"/>
              <a:gd name="connsiteX331" fmla="*/ 323707 w 825769"/>
              <a:gd name="connsiteY331" fmla="*/ 651320 h 1219200"/>
              <a:gd name="connsiteX332" fmla="*/ 324422 w 825769"/>
              <a:gd name="connsiteY332" fmla="*/ 647319 h 1219200"/>
              <a:gd name="connsiteX333" fmla="*/ 324707 w 825769"/>
              <a:gd name="connsiteY333" fmla="*/ 643461 h 1219200"/>
              <a:gd name="connsiteX334" fmla="*/ 324993 w 825769"/>
              <a:gd name="connsiteY334" fmla="*/ 639175 h 1219200"/>
              <a:gd name="connsiteX335" fmla="*/ 324993 w 825769"/>
              <a:gd name="connsiteY335" fmla="*/ 635318 h 1219200"/>
              <a:gd name="connsiteX336" fmla="*/ 324993 w 825769"/>
              <a:gd name="connsiteY336" fmla="*/ 631317 h 1219200"/>
              <a:gd name="connsiteX337" fmla="*/ 324707 w 825769"/>
              <a:gd name="connsiteY337" fmla="*/ 627745 h 1219200"/>
              <a:gd name="connsiteX338" fmla="*/ 324422 w 825769"/>
              <a:gd name="connsiteY338" fmla="*/ 624173 h 1219200"/>
              <a:gd name="connsiteX339" fmla="*/ 323707 w 825769"/>
              <a:gd name="connsiteY339" fmla="*/ 620173 h 1219200"/>
              <a:gd name="connsiteX340" fmla="*/ 234363 w 825769"/>
              <a:gd name="connsiteY340" fmla="*/ 140875 h 1219200"/>
              <a:gd name="connsiteX341" fmla="*/ 233505 w 825769"/>
              <a:gd name="connsiteY341" fmla="*/ 136112 h 1219200"/>
              <a:gd name="connsiteX342" fmla="*/ 233077 w 825769"/>
              <a:gd name="connsiteY342" fmla="*/ 131969 h 1219200"/>
              <a:gd name="connsiteX343" fmla="*/ 233077 w 825769"/>
              <a:gd name="connsiteY343" fmla="*/ 127540 h 1219200"/>
              <a:gd name="connsiteX344" fmla="*/ 233362 w 825769"/>
              <a:gd name="connsiteY344" fmla="*/ 123825 h 1219200"/>
              <a:gd name="connsiteX345" fmla="*/ 233791 w 825769"/>
              <a:gd name="connsiteY345" fmla="*/ 119967 h 1219200"/>
              <a:gd name="connsiteX346" fmla="*/ 234506 w 825769"/>
              <a:gd name="connsiteY346" fmla="*/ 116681 h 1219200"/>
              <a:gd name="connsiteX347" fmla="*/ 235363 w 825769"/>
              <a:gd name="connsiteY347" fmla="*/ 113252 h 1219200"/>
              <a:gd name="connsiteX348" fmla="*/ 236506 w 825769"/>
              <a:gd name="connsiteY348" fmla="*/ 110252 h 1219200"/>
              <a:gd name="connsiteX349" fmla="*/ 237649 w 825769"/>
              <a:gd name="connsiteY349" fmla="*/ 107537 h 1219200"/>
              <a:gd name="connsiteX350" fmla="*/ 239078 w 825769"/>
              <a:gd name="connsiteY350" fmla="*/ 104966 h 1219200"/>
              <a:gd name="connsiteX351" fmla="*/ 240649 w 825769"/>
              <a:gd name="connsiteY351" fmla="*/ 102537 h 1219200"/>
              <a:gd name="connsiteX352" fmla="*/ 242364 w 825769"/>
              <a:gd name="connsiteY352" fmla="*/ 100013 h 1219200"/>
              <a:gd name="connsiteX353" fmla="*/ 244078 w 825769"/>
              <a:gd name="connsiteY353" fmla="*/ 97869 h 1219200"/>
              <a:gd name="connsiteX354" fmla="*/ 246221 w 825769"/>
              <a:gd name="connsiteY354" fmla="*/ 96155 h 1219200"/>
              <a:gd name="connsiteX355" fmla="*/ 248079 w 825769"/>
              <a:gd name="connsiteY355" fmla="*/ 94298 h 1219200"/>
              <a:gd name="connsiteX356" fmla="*/ 250079 w 825769"/>
              <a:gd name="connsiteY356" fmla="*/ 92726 h 1219200"/>
              <a:gd name="connsiteX357" fmla="*/ 252079 w 825769"/>
              <a:gd name="connsiteY357" fmla="*/ 91297 h 1219200"/>
              <a:gd name="connsiteX358" fmla="*/ 254222 w 825769"/>
              <a:gd name="connsiteY358" fmla="*/ 90154 h 1219200"/>
              <a:gd name="connsiteX359" fmla="*/ 258080 w 825769"/>
              <a:gd name="connsiteY359" fmla="*/ 87868 h 1219200"/>
              <a:gd name="connsiteX360" fmla="*/ 261937 w 825769"/>
              <a:gd name="connsiteY360" fmla="*/ 86011 h 1219200"/>
              <a:gd name="connsiteX361" fmla="*/ 265367 w 825769"/>
              <a:gd name="connsiteY361" fmla="*/ 84725 h 1219200"/>
              <a:gd name="connsiteX362" fmla="*/ 268415 w 825769"/>
              <a:gd name="connsiteY362" fmla="*/ 84011 h 1219200"/>
              <a:gd name="connsiteX363" fmla="*/ 270843 w 825769"/>
              <a:gd name="connsiteY363" fmla="*/ 83296 h 1219200"/>
              <a:gd name="connsiteX364" fmla="*/ 272986 w 825769"/>
              <a:gd name="connsiteY364" fmla="*/ 83010 h 1219200"/>
              <a:gd name="connsiteX365" fmla="*/ 277130 w 825769"/>
              <a:gd name="connsiteY365" fmla="*/ 82153 h 1219200"/>
              <a:gd name="connsiteX366" fmla="*/ 281559 w 825769"/>
              <a:gd name="connsiteY366" fmla="*/ 81582 h 1219200"/>
              <a:gd name="connsiteX367" fmla="*/ 285702 w 825769"/>
              <a:gd name="connsiteY367" fmla="*/ 81582 h 1219200"/>
              <a:gd name="connsiteX368" fmla="*/ 289036 w 825769"/>
              <a:gd name="connsiteY368" fmla="*/ 0 h 1219200"/>
              <a:gd name="connsiteX369" fmla="*/ 298180 w 825769"/>
              <a:gd name="connsiteY369" fmla="*/ 286 h 1219200"/>
              <a:gd name="connsiteX370" fmla="*/ 307181 w 825769"/>
              <a:gd name="connsiteY370" fmla="*/ 857 h 1219200"/>
              <a:gd name="connsiteX371" fmla="*/ 316182 w 825769"/>
              <a:gd name="connsiteY371" fmla="*/ 2000 h 1219200"/>
              <a:gd name="connsiteX372" fmla="*/ 324898 w 825769"/>
              <a:gd name="connsiteY372" fmla="*/ 3715 h 1219200"/>
              <a:gd name="connsiteX373" fmla="*/ 333470 w 825769"/>
              <a:gd name="connsiteY373" fmla="*/ 5429 h 1219200"/>
              <a:gd name="connsiteX374" fmla="*/ 341900 w 825769"/>
              <a:gd name="connsiteY374" fmla="*/ 7572 h 1219200"/>
              <a:gd name="connsiteX375" fmla="*/ 350044 w 825769"/>
              <a:gd name="connsiteY375" fmla="*/ 10287 h 1219200"/>
              <a:gd name="connsiteX376" fmla="*/ 358188 w 825769"/>
              <a:gd name="connsiteY376" fmla="*/ 13430 h 1219200"/>
              <a:gd name="connsiteX377" fmla="*/ 365903 w 825769"/>
              <a:gd name="connsiteY377" fmla="*/ 16716 h 1219200"/>
              <a:gd name="connsiteX378" fmla="*/ 373761 w 825769"/>
              <a:gd name="connsiteY378" fmla="*/ 20717 h 1219200"/>
              <a:gd name="connsiteX379" fmla="*/ 381048 w 825769"/>
              <a:gd name="connsiteY379" fmla="*/ 25146 h 1219200"/>
              <a:gd name="connsiteX380" fmla="*/ 388620 w 825769"/>
              <a:gd name="connsiteY380" fmla="*/ 29909 h 1219200"/>
              <a:gd name="connsiteX381" fmla="*/ 395621 w 825769"/>
              <a:gd name="connsiteY381" fmla="*/ 35052 h 1219200"/>
              <a:gd name="connsiteX382" fmla="*/ 402765 w 825769"/>
              <a:gd name="connsiteY382" fmla="*/ 40624 h 1219200"/>
              <a:gd name="connsiteX383" fmla="*/ 409623 w 825769"/>
              <a:gd name="connsiteY383" fmla="*/ 46625 h 1219200"/>
              <a:gd name="connsiteX384" fmla="*/ 416338 w 825769"/>
              <a:gd name="connsiteY384" fmla="*/ 53054 h 1219200"/>
              <a:gd name="connsiteX385" fmla="*/ 422386 w 825769"/>
              <a:gd name="connsiteY385" fmla="*/ 59579 h 1219200"/>
              <a:gd name="connsiteX386" fmla="*/ 428673 w 825769"/>
              <a:gd name="connsiteY386" fmla="*/ 66294 h 1219200"/>
              <a:gd name="connsiteX387" fmla="*/ 433959 w 825769"/>
              <a:gd name="connsiteY387" fmla="*/ 73438 h 1219200"/>
              <a:gd name="connsiteX388" fmla="*/ 439388 w 825769"/>
              <a:gd name="connsiteY388" fmla="*/ 80439 h 1219200"/>
              <a:gd name="connsiteX389" fmla="*/ 444151 w 825769"/>
              <a:gd name="connsiteY389" fmla="*/ 88011 h 1219200"/>
              <a:gd name="connsiteX390" fmla="*/ 448580 w 825769"/>
              <a:gd name="connsiteY390" fmla="*/ 95250 h 1219200"/>
              <a:gd name="connsiteX391" fmla="*/ 452295 w 825769"/>
              <a:gd name="connsiteY391" fmla="*/ 102965 h 1219200"/>
              <a:gd name="connsiteX392" fmla="*/ 455867 w 825769"/>
              <a:gd name="connsiteY392" fmla="*/ 110681 h 1219200"/>
              <a:gd name="connsiteX393" fmla="*/ 459010 w 825769"/>
              <a:gd name="connsiteY393" fmla="*/ 118824 h 1219200"/>
              <a:gd name="connsiteX394" fmla="*/ 461724 w 825769"/>
              <a:gd name="connsiteY394" fmla="*/ 127111 h 1219200"/>
              <a:gd name="connsiteX395" fmla="*/ 463868 w 825769"/>
              <a:gd name="connsiteY395" fmla="*/ 135398 h 1219200"/>
              <a:gd name="connsiteX396" fmla="*/ 465582 w 825769"/>
              <a:gd name="connsiteY396" fmla="*/ 143970 h 1219200"/>
              <a:gd name="connsiteX397" fmla="*/ 467296 w 825769"/>
              <a:gd name="connsiteY397" fmla="*/ 152591 h 1219200"/>
              <a:gd name="connsiteX398" fmla="*/ 468297 w 825769"/>
              <a:gd name="connsiteY398" fmla="*/ 161592 h 1219200"/>
              <a:gd name="connsiteX399" fmla="*/ 468868 w 825769"/>
              <a:gd name="connsiteY399" fmla="*/ 170450 h 1219200"/>
              <a:gd name="connsiteX400" fmla="*/ 468868 w 825769"/>
              <a:gd name="connsiteY400" fmla="*/ 179975 h 1219200"/>
              <a:gd name="connsiteX401" fmla="*/ 468868 w 825769"/>
              <a:gd name="connsiteY401" fmla="*/ 189119 h 1219200"/>
              <a:gd name="connsiteX402" fmla="*/ 468297 w 825769"/>
              <a:gd name="connsiteY402" fmla="*/ 197977 h 1219200"/>
              <a:gd name="connsiteX403" fmla="*/ 467296 w 825769"/>
              <a:gd name="connsiteY403" fmla="*/ 206978 h 1219200"/>
              <a:gd name="connsiteX404" fmla="*/ 465582 w 825769"/>
              <a:gd name="connsiteY404" fmla="*/ 215694 h 1219200"/>
              <a:gd name="connsiteX405" fmla="*/ 463868 w 825769"/>
              <a:gd name="connsiteY405" fmla="*/ 224266 h 1219200"/>
              <a:gd name="connsiteX406" fmla="*/ 461724 w 825769"/>
              <a:gd name="connsiteY406" fmla="*/ 232696 h 1219200"/>
              <a:gd name="connsiteX407" fmla="*/ 459010 w 825769"/>
              <a:gd name="connsiteY407" fmla="*/ 240840 h 1219200"/>
              <a:gd name="connsiteX408" fmla="*/ 455724 w 825769"/>
              <a:gd name="connsiteY408" fmla="*/ 248936 h 1219200"/>
              <a:gd name="connsiteX409" fmla="*/ 452152 w 825769"/>
              <a:gd name="connsiteY409" fmla="*/ 256794 h 1219200"/>
              <a:gd name="connsiteX410" fmla="*/ 448437 w 825769"/>
              <a:gd name="connsiteY410" fmla="*/ 264366 h 1219200"/>
              <a:gd name="connsiteX411" fmla="*/ 444008 w 825769"/>
              <a:gd name="connsiteY411" fmla="*/ 272225 h 1219200"/>
              <a:gd name="connsiteX412" fmla="*/ 439245 w 825769"/>
              <a:gd name="connsiteY412" fmla="*/ 279368 h 1219200"/>
              <a:gd name="connsiteX413" fmla="*/ 433816 w 825769"/>
              <a:gd name="connsiteY413" fmla="*/ 286655 h 1219200"/>
              <a:gd name="connsiteX414" fmla="*/ 428530 w 825769"/>
              <a:gd name="connsiteY414" fmla="*/ 293513 h 1219200"/>
              <a:gd name="connsiteX415" fmla="*/ 422386 w 825769"/>
              <a:gd name="connsiteY415" fmla="*/ 300371 h 1219200"/>
              <a:gd name="connsiteX416" fmla="*/ 416243 w 825769"/>
              <a:gd name="connsiteY416" fmla="*/ 306943 h 1219200"/>
              <a:gd name="connsiteX417" fmla="*/ 416243 w 825769"/>
              <a:gd name="connsiteY417" fmla="*/ 307229 h 1219200"/>
              <a:gd name="connsiteX418" fmla="*/ 412242 w 825769"/>
              <a:gd name="connsiteY418" fmla="*/ 310944 h 1219200"/>
              <a:gd name="connsiteX419" fmla="*/ 408099 w 825769"/>
              <a:gd name="connsiteY419" fmla="*/ 314801 h 1219200"/>
              <a:gd name="connsiteX420" fmla="*/ 404098 w 825769"/>
              <a:gd name="connsiteY420" fmla="*/ 318087 h 1219200"/>
              <a:gd name="connsiteX421" fmla="*/ 400098 w 825769"/>
              <a:gd name="connsiteY421" fmla="*/ 321516 h 1219200"/>
              <a:gd name="connsiteX422" fmla="*/ 396954 w 825769"/>
              <a:gd name="connsiteY422" fmla="*/ 310372 h 1219200"/>
              <a:gd name="connsiteX423" fmla="*/ 393811 w 825769"/>
              <a:gd name="connsiteY423" fmla="*/ 299657 h 1219200"/>
              <a:gd name="connsiteX424" fmla="*/ 390382 w 825769"/>
              <a:gd name="connsiteY424" fmla="*/ 288655 h 1219200"/>
              <a:gd name="connsiteX425" fmla="*/ 386810 w 825769"/>
              <a:gd name="connsiteY425" fmla="*/ 277511 h 1219200"/>
              <a:gd name="connsiteX426" fmla="*/ 391573 w 825769"/>
              <a:gd name="connsiteY426" fmla="*/ 272510 h 1219200"/>
              <a:gd name="connsiteX427" fmla="*/ 396335 w 825769"/>
              <a:gd name="connsiteY427" fmla="*/ 267224 h 1219200"/>
              <a:gd name="connsiteX428" fmla="*/ 400764 w 825769"/>
              <a:gd name="connsiteY428" fmla="*/ 261795 h 1219200"/>
              <a:gd name="connsiteX429" fmla="*/ 404765 w 825769"/>
              <a:gd name="connsiteY429" fmla="*/ 256508 h 1219200"/>
              <a:gd name="connsiteX430" fmla="*/ 408337 w 825769"/>
              <a:gd name="connsiteY430" fmla="*/ 250650 h 1219200"/>
              <a:gd name="connsiteX431" fmla="*/ 411766 w 825769"/>
              <a:gd name="connsiteY431" fmla="*/ 244935 h 1219200"/>
              <a:gd name="connsiteX432" fmla="*/ 414766 w 825769"/>
              <a:gd name="connsiteY432" fmla="*/ 238935 h 1219200"/>
              <a:gd name="connsiteX433" fmla="*/ 417338 w 825769"/>
              <a:gd name="connsiteY433" fmla="*/ 232934 h 1219200"/>
              <a:gd name="connsiteX434" fmla="*/ 419624 w 825769"/>
              <a:gd name="connsiteY434" fmla="*/ 226790 h 1219200"/>
              <a:gd name="connsiteX435" fmla="*/ 421624 w 825769"/>
              <a:gd name="connsiteY435" fmla="*/ 220361 h 1219200"/>
              <a:gd name="connsiteX436" fmla="*/ 423481 w 825769"/>
              <a:gd name="connsiteY436" fmla="*/ 214074 h 1219200"/>
              <a:gd name="connsiteX437" fmla="*/ 424910 w 825769"/>
              <a:gd name="connsiteY437" fmla="*/ 207502 h 1219200"/>
              <a:gd name="connsiteX438" fmla="*/ 426053 w 825769"/>
              <a:gd name="connsiteY438" fmla="*/ 200930 h 1219200"/>
              <a:gd name="connsiteX439" fmla="*/ 426910 w 825769"/>
              <a:gd name="connsiteY439" fmla="*/ 193929 h 1219200"/>
              <a:gd name="connsiteX440" fmla="*/ 427196 w 825769"/>
              <a:gd name="connsiteY440" fmla="*/ 187214 h 1219200"/>
              <a:gd name="connsiteX441" fmla="*/ 427482 w 825769"/>
              <a:gd name="connsiteY441" fmla="*/ 180070 h 1219200"/>
              <a:gd name="connsiteX442" fmla="*/ 427196 w 825769"/>
              <a:gd name="connsiteY442" fmla="*/ 172926 h 1219200"/>
              <a:gd name="connsiteX443" fmla="*/ 426910 w 825769"/>
              <a:gd name="connsiteY443" fmla="*/ 165926 h 1219200"/>
              <a:gd name="connsiteX444" fmla="*/ 426053 w 825769"/>
              <a:gd name="connsiteY444" fmla="*/ 159068 h 1219200"/>
              <a:gd name="connsiteX445" fmla="*/ 424863 w 825769"/>
              <a:gd name="connsiteY445" fmla="*/ 152400 h 1219200"/>
              <a:gd name="connsiteX446" fmla="*/ 423434 w 825769"/>
              <a:gd name="connsiteY446" fmla="*/ 145923 h 1219200"/>
              <a:gd name="connsiteX447" fmla="*/ 421577 w 825769"/>
              <a:gd name="connsiteY447" fmla="*/ 139494 h 1219200"/>
              <a:gd name="connsiteX448" fmla="*/ 419576 w 825769"/>
              <a:gd name="connsiteY448" fmla="*/ 133350 h 1219200"/>
              <a:gd name="connsiteX449" fmla="*/ 417290 w 825769"/>
              <a:gd name="connsiteY449" fmla="*/ 127064 h 1219200"/>
              <a:gd name="connsiteX450" fmla="*/ 414719 w 825769"/>
              <a:gd name="connsiteY450" fmla="*/ 121063 h 1219200"/>
              <a:gd name="connsiteX451" fmla="*/ 411718 w 825769"/>
              <a:gd name="connsiteY451" fmla="*/ 115062 h 1219200"/>
              <a:gd name="connsiteX452" fmla="*/ 408146 w 825769"/>
              <a:gd name="connsiteY452" fmla="*/ 109347 h 1219200"/>
              <a:gd name="connsiteX453" fmla="*/ 404432 w 825769"/>
              <a:gd name="connsiteY453" fmla="*/ 103775 h 1219200"/>
              <a:gd name="connsiteX454" fmla="*/ 400717 w 825769"/>
              <a:gd name="connsiteY454" fmla="*/ 98203 h 1219200"/>
              <a:gd name="connsiteX455" fmla="*/ 395954 w 825769"/>
              <a:gd name="connsiteY455" fmla="*/ 93059 h 1219200"/>
              <a:gd name="connsiteX456" fmla="*/ 391525 w 825769"/>
              <a:gd name="connsiteY456" fmla="*/ 87773 h 1219200"/>
              <a:gd name="connsiteX457" fmla="*/ 386763 w 825769"/>
              <a:gd name="connsiteY457" fmla="*/ 82487 h 1219200"/>
              <a:gd name="connsiteX458" fmla="*/ 381619 w 825769"/>
              <a:gd name="connsiteY458" fmla="*/ 77724 h 1219200"/>
              <a:gd name="connsiteX459" fmla="*/ 376476 w 825769"/>
              <a:gd name="connsiteY459" fmla="*/ 72962 h 1219200"/>
              <a:gd name="connsiteX460" fmla="*/ 371046 w 825769"/>
              <a:gd name="connsiteY460" fmla="*/ 68818 h 1219200"/>
              <a:gd name="connsiteX461" fmla="*/ 365236 w 825769"/>
              <a:gd name="connsiteY461" fmla="*/ 64722 h 1219200"/>
              <a:gd name="connsiteX462" fmla="*/ 359664 w 825769"/>
              <a:gd name="connsiteY462" fmla="*/ 61151 h 1219200"/>
              <a:gd name="connsiteX463" fmla="*/ 353949 w 825769"/>
              <a:gd name="connsiteY463" fmla="*/ 57579 h 1219200"/>
              <a:gd name="connsiteX464" fmla="*/ 347948 w 825769"/>
              <a:gd name="connsiteY464" fmla="*/ 54578 h 1219200"/>
              <a:gd name="connsiteX465" fmla="*/ 342233 w 825769"/>
              <a:gd name="connsiteY465" fmla="*/ 52007 h 1219200"/>
              <a:gd name="connsiteX466" fmla="*/ 335804 w 825769"/>
              <a:gd name="connsiteY466" fmla="*/ 49578 h 1219200"/>
              <a:gd name="connsiteX467" fmla="*/ 329851 w 825769"/>
              <a:gd name="connsiteY467" fmla="*/ 47625 h 1219200"/>
              <a:gd name="connsiteX468" fmla="*/ 323279 w 825769"/>
              <a:gd name="connsiteY468" fmla="*/ 45911 h 1219200"/>
              <a:gd name="connsiteX469" fmla="*/ 316849 w 825769"/>
              <a:gd name="connsiteY469" fmla="*/ 44339 h 1219200"/>
              <a:gd name="connsiteX470" fmla="*/ 309848 w 825769"/>
              <a:gd name="connsiteY470" fmla="*/ 43339 h 1219200"/>
              <a:gd name="connsiteX471" fmla="*/ 303324 w 825769"/>
              <a:gd name="connsiteY471" fmla="*/ 42434 h 1219200"/>
              <a:gd name="connsiteX472" fmla="*/ 296180 w 825769"/>
              <a:gd name="connsiteY472" fmla="*/ 41862 h 1219200"/>
              <a:gd name="connsiteX473" fmla="*/ 281892 w 825769"/>
              <a:gd name="connsiteY473" fmla="*/ 41862 h 1219200"/>
              <a:gd name="connsiteX474" fmla="*/ 275225 w 825769"/>
              <a:gd name="connsiteY474" fmla="*/ 42434 h 1219200"/>
              <a:gd name="connsiteX475" fmla="*/ 268176 w 825769"/>
              <a:gd name="connsiteY475" fmla="*/ 43291 h 1219200"/>
              <a:gd name="connsiteX476" fmla="*/ 261604 w 825769"/>
              <a:gd name="connsiteY476" fmla="*/ 44291 h 1219200"/>
              <a:gd name="connsiteX477" fmla="*/ 254889 w 825769"/>
              <a:gd name="connsiteY477" fmla="*/ 45863 h 1219200"/>
              <a:gd name="connsiteX478" fmla="*/ 248507 w 825769"/>
              <a:gd name="connsiteY478" fmla="*/ 47625 h 1219200"/>
              <a:gd name="connsiteX479" fmla="*/ 242078 w 825769"/>
              <a:gd name="connsiteY479" fmla="*/ 49625 h 1219200"/>
              <a:gd name="connsiteX480" fmla="*/ 236220 w 825769"/>
              <a:gd name="connsiteY480" fmla="*/ 52054 h 1219200"/>
              <a:gd name="connsiteX481" fmla="*/ 230219 w 825769"/>
              <a:gd name="connsiteY481" fmla="*/ 54626 h 1219200"/>
              <a:gd name="connsiteX482" fmla="*/ 224076 w 825769"/>
              <a:gd name="connsiteY482" fmla="*/ 57626 h 1219200"/>
              <a:gd name="connsiteX483" fmla="*/ 218361 w 825769"/>
              <a:gd name="connsiteY483" fmla="*/ 61198 h 1219200"/>
              <a:gd name="connsiteX484" fmla="*/ 212646 w 825769"/>
              <a:gd name="connsiteY484" fmla="*/ 64770 h 1219200"/>
              <a:gd name="connsiteX485" fmla="*/ 207216 w 825769"/>
              <a:gd name="connsiteY485" fmla="*/ 68628 h 1219200"/>
              <a:gd name="connsiteX486" fmla="*/ 201644 w 825769"/>
              <a:gd name="connsiteY486" fmla="*/ 72771 h 1219200"/>
              <a:gd name="connsiteX487" fmla="*/ 196501 w 825769"/>
              <a:gd name="connsiteY487" fmla="*/ 77534 h 1219200"/>
              <a:gd name="connsiteX488" fmla="*/ 191738 w 825769"/>
              <a:gd name="connsiteY488" fmla="*/ 82296 h 1219200"/>
              <a:gd name="connsiteX489" fmla="*/ 191738 w 825769"/>
              <a:gd name="connsiteY489" fmla="*/ 82296 h 1219200"/>
              <a:gd name="connsiteX490" fmla="*/ 186976 w 825769"/>
              <a:gd name="connsiteY490" fmla="*/ 87582 h 1219200"/>
              <a:gd name="connsiteX491" fmla="*/ 182213 w 825769"/>
              <a:gd name="connsiteY491" fmla="*/ 92869 h 1219200"/>
              <a:gd name="connsiteX492" fmla="*/ 178070 w 825769"/>
              <a:gd name="connsiteY492" fmla="*/ 98012 h 1219200"/>
              <a:gd name="connsiteX493" fmla="*/ 174069 w 825769"/>
              <a:gd name="connsiteY493" fmla="*/ 103727 h 1219200"/>
              <a:gd name="connsiteX494" fmla="*/ 169974 w 825769"/>
              <a:gd name="connsiteY494" fmla="*/ 109538 h 1219200"/>
              <a:gd name="connsiteX495" fmla="*/ 166545 w 825769"/>
              <a:gd name="connsiteY495" fmla="*/ 115110 h 1219200"/>
              <a:gd name="connsiteX496" fmla="*/ 163544 w 825769"/>
              <a:gd name="connsiteY496" fmla="*/ 121110 h 1219200"/>
              <a:gd name="connsiteX497" fmla="*/ 160973 w 825769"/>
              <a:gd name="connsiteY497" fmla="*/ 127111 h 1219200"/>
              <a:gd name="connsiteX498" fmla="*/ 158496 w 825769"/>
              <a:gd name="connsiteY498" fmla="*/ 133350 h 1219200"/>
              <a:gd name="connsiteX499" fmla="*/ 156496 w 825769"/>
              <a:gd name="connsiteY499" fmla="*/ 139637 h 1219200"/>
              <a:gd name="connsiteX500" fmla="*/ 154924 w 825769"/>
              <a:gd name="connsiteY500" fmla="*/ 146066 h 1219200"/>
              <a:gd name="connsiteX501" fmla="*/ 153495 w 825769"/>
              <a:gd name="connsiteY501" fmla="*/ 152400 h 1219200"/>
              <a:gd name="connsiteX502" fmla="*/ 152352 w 825769"/>
              <a:gd name="connsiteY502" fmla="*/ 159068 h 1219200"/>
              <a:gd name="connsiteX503" fmla="*/ 151495 w 825769"/>
              <a:gd name="connsiteY503" fmla="*/ 165926 h 1219200"/>
              <a:gd name="connsiteX504" fmla="*/ 150924 w 825769"/>
              <a:gd name="connsiteY504" fmla="*/ 173069 h 1219200"/>
              <a:gd name="connsiteX505" fmla="*/ 150924 w 825769"/>
              <a:gd name="connsiteY505" fmla="*/ 180070 h 1219200"/>
              <a:gd name="connsiteX506" fmla="*/ 150924 w 825769"/>
              <a:gd name="connsiteY506" fmla="*/ 187214 h 1219200"/>
              <a:gd name="connsiteX507" fmla="*/ 151352 w 825769"/>
              <a:gd name="connsiteY507" fmla="*/ 193929 h 1219200"/>
              <a:gd name="connsiteX508" fmla="*/ 152209 w 825769"/>
              <a:gd name="connsiteY508" fmla="*/ 200930 h 1219200"/>
              <a:gd name="connsiteX509" fmla="*/ 153353 w 825769"/>
              <a:gd name="connsiteY509" fmla="*/ 207502 h 1219200"/>
              <a:gd name="connsiteX510" fmla="*/ 154781 w 825769"/>
              <a:gd name="connsiteY510" fmla="*/ 214217 h 1219200"/>
              <a:gd name="connsiteX511" fmla="*/ 156353 w 825769"/>
              <a:gd name="connsiteY511" fmla="*/ 220647 h 1219200"/>
              <a:gd name="connsiteX512" fmla="*/ 158353 w 825769"/>
              <a:gd name="connsiteY512" fmla="*/ 226790 h 1219200"/>
              <a:gd name="connsiteX513" fmla="*/ 160925 w 825769"/>
              <a:gd name="connsiteY513" fmla="*/ 232934 h 1219200"/>
              <a:gd name="connsiteX514" fmla="*/ 163497 w 825769"/>
              <a:gd name="connsiteY514" fmla="*/ 238935 h 1219200"/>
              <a:gd name="connsiteX515" fmla="*/ 166497 w 825769"/>
              <a:gd name="connsiteY515" fmla="*/ 245078 h 1219200"/>
              <a:gd name="connsiteX516" fmla="*/ 169974 w 825769"/>
              <a:gd name="connsiteY516" fmla="*/ 250650 h 1219200"/>
              <a:gd name="connsiteX517" fmla="*/ 173546 w 825769"/>
              <a:gd name="connsiteY517" fmla="*/ 256508 h 1219200"/>
              <a:gd name="connsiteX518" fmla="*/ 177641 w 825769"/>
              <a:gd name="connsiteY518" fmla="*/ 261938 h 1219200"/>
              <a:gd name="connsiteX519" fmla="*/ 181785 w 825769"/>
              <a:gd name="connsiteY519" fmla="*/ 267081 h 1219200"/>
              <a:gd name="connsiteX520" fmla="*/ 186547 w 825769"/>
              <a:gd name="connsiteY520" fmla="*/ 272367 h 1219200"/>
              <a:gd name="connsiteX521" fmla="*/ 191310 w 825769"/>
              <a:gd name="connsiteY521" fmla="*/ 277654 h 1219200"/>
              <a:gd name="connsiteX522" fmla="*/ 194453 w 825769"/>
              <a:gd name="connsiteY522" fmla="*/ 280654 h 1219200"/>
              <a:gd name="connsiteX523" fmla="*/ 197596 w 825769"/>
              <a:gd name="connsiteY523" fmla="*/ 283797 h 1219200"/>
              <a:gd name="connsiteX524" fmla="*/ 201025 w 825769"/>
              <a:gd name="connsiteY524" fmla="*/ 286512 h 1219200"/>
              <a:gd name="connsiteX525" fmla="*/ 204454 w 825769"/>
              <a:gd name="connsiteY525" fmla="*/ 289370 h 1219200"/>
              <a:gd name="connsiteX526" fmla="*/ 207883 w 825769"/>
              <a:gd name="connsiteY526" fmla="*/ 291798 h 1219200"/>
              <a:gd name="connsiteX527" fmla="*/ 211169 w 825769"/>
              <a:gd name="connsiteY527" fmla="*/ 294370 h 1219200"/>
              <a:gd name="connsiteX528" fmla="*/ 214741 w 825769"/>
              <a:gd name="connsiteY528" fmla="*/ 296656 h 1219200"/>
              <a:gd name="connsiteX529" fmla="*/ 218599 w 825769"/>
              <a:gd name="connsiteY529" fmla="*/ 299085 h 1219200"/>
              <a:gd name="connsiteX530" fmla="*/ 222028 w 825769"/>
              <a:gd name="connsiteY530" fmla="*/ 301085 h 1219200"/>
              <a:gd name="connsiteX531" fmla="*/ 225742 w 825769"/>
              <a:gd name="connsiteY531" fmla="*/ 303086 h 1219200"/>
              <a:gd name="connsiteX532" fmla="*/ 229314 w 825769"/>
              <a:gd name="connsiteY532" fmla="*/ 304800 h 1219200"/>
              <a:gd name="connsiteX533" fmla="*/ 233315 w 825769"/>
              <a:gd name="connsiteY533" fmla="*/ 306657 h 1219200"/>
              <a:gd name="connsiteX534" fmla="*/ 237173 w 825769"/>
              <a:gd name="connsiteY534" fmla="*/ 308229 h 1219200"/>
              <a:gd name="connsiteX535" fmla="*/ 240887 w 825769"/>
              <a:gd name="connsiteY535" fmla="*/ 309658 h 1219200"/>
              <a:gd name="connsiteX536" fmla="*/ 245031 w 825769"/>
              <a:gd name="connsiteY536" fmla="*/ 311087 h 1219200"/>
              <a:gd name="connsiteX537" fmla="*/ 249031 w 825769"/>
              <a:gd name="connsiteY537" fmla="*/ 312372 h 1219200"/>
              <a:gd name="connsiteX538" fmla="*/ 250317 w 825769"/>
              <a:gd name="connsiteY538" fmla="*/ 317945 h 1219200"/>
              <a:gd name="connsiteX539" fmla="*/ 251460 w 825769"/>
              <a:gd name="connsiteY539" fmla="*/ 323374 h 1219200"/>
              <a:gd name="connsiteX540" fmla="*/ 253603 w 825769"/>
              <a:gd name="connsiteY540" fmla="*/ 334518 h 1219200"/>
              <a:gd name="connsiteX541" fmla="*/ 255175 w 825769"/>
              <a:gd name="connsiteY541" fmla="*/ 345662 h 1219200"/>
              <a:gd name="connsiteX542" fmla="*/ 256651 w 825769"/>
              <a:gd name="connsiteY542" fmla="*/ 357188 h 1219200"/>
              <a:gd name="connsiteX543" fmla="*/ 250079 w 825769"/>
              <a:gd name="connsiteY543" fmla="*/ 356045 h 1219200"/>
              <a:gd name="connsiteX544" fmla="*/ 243364 w 825769"/>
              <a:gd name="connsiteY544" fmla="*/ 354473 h 1219200"/>
              <a:gd name="connsiteX545" fmla="*/ 236934 w 825769"/>
              <a:gd name="connsiteY545" fmla="*/ 352425 h 1219200"/>
              <a:gd name="connsiteX546" fmla="*/ 230648 w 825769"/>
              <a:gd name="connsiteY546" fmla="*/ 350425 h 1219200"/>
              <a:gd name="connsiteX547" fmla="*/ 224218 w 825769"/>
              <a:gd name="connsiteY547" fmla="*/ 348282 h 1219200"/>
              <a:gd name="connsiteX548" fmla="*/ 218218 w 825769"/>
              <a:gd name="connsiteY548" fmla="*/ 345853 h 1219200"/>
              <a:gd name="connsiteX549" fmla="*/ 212074 w 825769"/>
              <a:gd name="connsiteY549" fmla="*/ 342900 h 1219200"/>
              <a:gd name="connsiteX550" fmla="*/ 206073 w 825769"/>
              <a:gd name="connsiteY550" fmla="*/ 339900 h 1219200"/>
              <a:gd name="connsiteX551" fmla="*/ 200073 w 825769"/>
              <a:gd name="connsiteY551" fmla="*/ 336471 h 1219200"/>
              <a:gd name="connsiteX552" fmla="*/ 194358 w 825769"/>
              <a:gd name="connsiteY552" fmla="*/ 333375 h 1219200"/>
              <a:gd name="connsiteX553" fmla="*/ 189024 w 825769"/>
              <a:gd name="connsiteY553" fmla="*/ 329517 h 1219200"/>
              <a:gd name="connsiteX554" fmla="*/ 183452 w 825769"/>
              <a:gd name="connsiteY554" fmla="*/ 325517 h 1219200"/>
              <a:gd name="connsiteX555" fmla="*/ 178022 w 825769"/>
              <a:gd name="connsiteY555" fmla="*/ 321374 h 1219200"/>
              <a:gd name="connsiteX556" fmla="*/ 172450 w 825769"/>
              <a:gd name="connsiteY556" fmla="*/ 316611 h 1219200"/>
              <a:gd name="connsiteX557" fmla="*/ 167307 w 825769"/>
              <a:gd name="connsiteY557" fmla="*/ 311849 h 1219200"/>
              <a:gd name="connsiteX558" fmla="*/ 162163 w 825769"/>
              <a:gd name="connsiteY558" fmla="*/ 306562 h 1219200"/>
              <a:gd name="connsiteX559" fmla="*/ 155686 w 825769"/>
              <a:gd name="connsiteY559" fmla="*/ 300371 h 1219200"/>
              <a:gd name="connsiteX560" fmla="*/ 149495 w 825769"/>
              <a:gd name="connsiteY560" fmla="*/ 293513 h 1219200"/>
              <a:gd name="connsiteX561" fmla="*/ 143923 w 825769"/>
              <a:gd name="connsiteY561" fmla="*/ 286655 h 1219200"/>
              <a:gd name="connsiteX562" fmla="*/ 138779 w 825769"/>
              <a:gd name="connsiteY562" fmla="*/ 279368 h 1219200"/>
              <a:gd name="connsiteX563" fmla="*/ 134017 w 825769"/>
              <a:gd name="connsiteY563" fmla="*/ 272225 h 1219200"/>
              <a:gd name="connsiteX564" fmla="*/ 129588 w 825769"/>
              <a:gd name="connsiteY564" fmla="*/ 264366 h 1219200"/>
              <a:gd name="connsiteX565" fmla="*/ 125587 w 825769"/>
              <a:gd name="connsiteY565" fmla="*/ 256794 h 1219200"/>
              <a:gd name="connsiteX566" fmla="*/ 122349 w 825769"/>
              <a:gd name="connsiteY566" fmla="*/ 248936 h 1219200"/>
              <a:gd name="connsiteX567" fmla="*/ 119348 w 825769"/>
              <a:gd name="connsiteY567" fmla="*/ 240935 h 1219200"/>
              <a:gd name="connsiteX568" fmla="*/ 116348 w 825769"/>
              <a:gd name="connsiteY568" fmla="*/ 232791 h 1219200"/>
              <a:gd name="connsiteX569" fmla="*/ 114062 w 825769"/>
              <a:gd name="connsiteY569" fmla="*/ 224361 h 1219200"/>
              <a:gd name="connsiteX570" fmla="*/ 112347 w 825769"/>
              <a:gd name="connsiteY570" fmla="*/ 215789 h 1219200"/>
              <a:gd name="connsiteX571" fmla="*/ 110919 w 825769"/>
              <a:gd name="connsiteY571" fmla="*/ 207074 h 1219200"/>
              <a:gd name="connsiteX572" fmla="*/ 109918 w 825769"/>
              <a:gd name="connsiteY572" fmla="*/ 198072 h 1219200"/>
              <a:gd name="connsiteX573" fmla="*/ 109347 w 825769"/>
              <a:gd name="connsiteY573" fmla="*/ 189214 h 1219200"/>
              <a:gd name="connsiteX574" fmla="*/ 109347 w 825769"/>
              <a:gd name="connsiteY574" fmla="*/ 180070 h 1219200"/>
              <a:gd name="connsiteX575" fmla="*/ 109347 w 825769"/>
              <a:gd name="connsiteY575" fmla="*/ 170545 h 1219200"/>
              <a:gd name="connsiteX576" fmla="*/ 110061 w 825769"/>
              <a:gd name="connsiteY576" fmla="*/ 161925 h 1219200"/>
              <a:gd name="connsiteX577" fmla="*/ 111061 w 825769"/>
              <a:gd name="connsiteY577" fmla="*/ 152924 h 1219200"/>
              <a:gd name="connsiteX578" fmla="*/ 112490 w 825769"/>
              <a:gd name="connsiteY578" fmla="*/ 144304 h 1219200"/>
              <a:gd name="connsiteX579" fmla="*/ 114205 w 825769"/>
              <a:gd name="connsiteY579" fmla="*/ 135731 h 1219200"/>
              <a:gd name="connsiteX580" fmla="*/ 116491 w 825769"/>
              <a:gd name="connsiteY580" fmla="*/ 127445 h 1219200"/>
              <a:gd name="connsiteX581" fmla="*/ 119491 w 825769"/>
              <a:gd name="connsiteY581" fmla="*/ 119063 h 1219200"/>
              <a:gd name="connsiteX582" fmla="*/ 122349 w 825769"/>
              <a:gd name="connsiteY582" fmla="*/ 110871 h 1219200"/>
              <a:gd name="connsiteX583" fmla="*/ 125635 w 825769"/>
              <a:gd name="connsiteY583" fmla="*/ 103156 h 1219200"/>
              <a:gd name="connsiteX584" fmla="*/ 129778 w 825769"/>
              <a:gd name="connsiteY584" fmla="*/ 95250 h 1219200"/>
              <a:gd name="connsiteX585" fmla="*/ 134207 w 825769"/>
              <a:gd name="connsiteY585" fmla="*/ 87821 h 1219200"/>
              <a:gd name="connsiteX586" fmla="*/ 138970 w 825769"/>
              <a:gd name="connsiteY586" fmla="*/ 80248 h 1219200"/>
              <a:gd name="connsiteX587" fmla="*/ 144113 w 825769"/>
              <a:gd name="connsiteY587" fmla="*/ 73247 h 1219200"/>
              <a:gd name="connsiteX588" fmla="*/ 149685 w 825769"/>
              <a:gd name="connsiteY588" fmla="*/ 66104 h 1219200"/>
              <a:gd name="connsiteX589" fmla="*/ 155686 w 825769"/>
              <a:gd name="connsiteY589" fmla="*/ 59579 h 1219200"/>
              <a:gd name="connsiteX590" fmla="*/ 162115 w 825769"/>
              <a:gd name="connsiteY590" fmla="*/ 52864 h 1219200"/>
              <a:gd name="connsiteX591" fmla="*/ 168688 w 825769"/>
              <a:gd name="connsiteY591" fmla="*/ 46434 h 1219200"/>
              <a:gd name="connsiteX592" fmla="*/ 175546 w 825769"/>
              <a:gd name="connsiteY592" fmla="*/ 40434 h 1219200"/>
              <a:gd name="connsiteX593" fmla="*/ 182356 w 825769"/>
              <a:gd name="connsiteY593" fmla="*/ 34862 h 1219200"/>
              <a:gd name="connsiteX594" fmla="*/ 189786 w 825769"/>
              <a:gd name="connsiteY594" fmla="*/ 29718 h 1219200"/>
              <a:gd name="connsiteX595" fmla="*/ 196929 w 825769"/>
              <a:gd name="connsiteY595" fmla="*/ 24955 h 1219200"/>
              <a:gd name="connsiteX596" fmla="*/ 204502 w 825769"/>
              <a:gd name="connsiteY596" fmla="*/ 20526 h 1219200"/>
              <a:gd name="connsiteX597" fmla="*/ 212217 w 825769"/>
              <a:gd name="connsiteY597" fmla="*/ 16526 h 1219200"/>
              <a:gd name="connsiteX598" fmla="*/ 220075 w 825769"/>
              <a:gd name="connsiteY598" fmla="*/ 13240 h 1219200"/>
              <a:gd name="connsiteX599" fmla="*/ 227933 w 825769"/>
              <a:gd name="connsiteY599" fmla="*/ 10096 h 1219200"/>
              <a:gd name="connsiteX600" fmla="*/ 236363 w 825769"/>
              <a:gd name="connsiteY600" fmla="*/ 7382 h 1219200"/>
              <a:gd name="connsiteX601" fmla="*/ 244650 w 825769"/>
              <a:gd name="connsiteY601" fmla="*/ 5239 h 1219200"/>
              <a:gd name="connsiteX602" fmla="*/ 253222 w 825769"/>
              <a:gd name="connsiteY602" fmla="*/ 3524 h 1219200"/>
              <a:gd name="connsiteX603" fmla="*/ 262080 w 825769"/>
              <a:gd name="connsiteY603" fmla="*/ 2000 h 1219200"/>
              <a:gd name="connsiteX604" fmla="*/ 270843 w 825769"/>
              <a:gd name="connsiteY604" fmla="*/ 857 h 1219200"/>
              <a:gd name="connsiteX605" fmla="*/ 279845 w 825769"/>
              <a:gd name="connsiteY605" fmla="*/ 286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Lst>
            <a:rect l="l" t="t" r="r" b="b"/>
            <a:pathLst>
              <a:path w="825769" h="1219200">
                <a:moveTo>
                  <a:pt x="289989" y="80963"/>
                </a:moveTo>
                <a:lnTo>
                  <a:pt x="294132" y="81391"/>
                </a:lnTo>
                <a:lnTo>
                  <a:pt x="297847" y="81963"/>
                </a:lnTo>
                <a:lnTo>
                  <a:pt x="299847" y="82391"/>
                </a:lnTo>
                <a:lnTo>
                  <a:pt x="301990" y="82963"/>
                </a:lnTo>
                <a:lnTo>
                  <a:pt x="303848" y="83820"/>
                </a:lnTo>
                <a:lnTo>
                  <a:pt x="305705" y="84534"/>
                </a:lnTo>
                <a:lnTo>
                  <a:pt x="307419" y="85534"/>
                </a:lnTo>
                <a:lnTo>
                  <a:pt x="309277" y="86820"/>
                </a:lnTo>
                <a:lnTo>
                  <a:pt x="310991" y="88392"/>
                </a:lnTo>
                <a:lnTo>
                  <a:pt x="312849" y="89678"/>
                </a:lnTo>
                <a:lnTo>
                  <a:pt x="314563" y="91392"/>
                </a:lnTo>
                <a:lnTo>
                  <a:pt x="316135" y="93107"/>
                </a:lnTo>
                <a:lnTo>
                  <a:pt x="317849" y="95107"/>
                </a:lnTo>
                <a:lnTo>
                  <a:pt x="319421" y="97250"/>
                </a:lnTo>
                <a:lnTo>
                  <a:pt x="320993" y="99679"/>
                </a:lnTo>
                <a:lnTo>
                  <a:pt x="322421" y="102394"/>
                </a:lnTo>
                <a:lnTo>
                  <a:pt x="323707" y="105251"/>
                </a:lnTo>
                <a:lnTo>
                  <a:pt x="325136" y="108252"/>
                </a:lnTo>
                <a:lnTo>
                  <a:pt x="326565" y="111395"/>
                </a:lnTo>
                <a:lnTo>
                  <a:pt x="328136" y="114824"/>
                </a:lnTo>
                <a:lnTo>
                  <a:pt x="329279" y="118824"/>
                </a:lnTo>
                <a:lnTo>
                  <a:pt x="330565" y="122682"/>
                </a:lnTo>
                <a:lnTo>
                  <a:pt x="420433" y="464344"/>
                </a:lnTo>
                <a:lnTo>
                  <a:pt x="421434" y="464963"/>
                </a:lnTo>
                <a:lnTo>
                  <a:pt x="422291" y="467535"/>
                </a:lnTo>
                <a:lnTo>
                  <a:pt x="450961" y="461963"/>
                </a:lnTo>
                <a:lnTo>
                  <a:pt x="457105" y="461963"/>
                </a:lnTo>
                <a:lnTo>
                  <a:pt x="462963" y="462486"/>
                </a:lnTo>
                <a:lnTo>
                  <a:pt x="469106" y="463106"/>
                </a:lnTo>
                <a:lnTo>
                  <a:pt x="474678" y="464106"/>
                </a:lnTo>
                <a:lnTo>
                  <a:pt x="480250" y="465534"/>
                </a:lnTo>
                <a:lnTo>
                  <a:pt x="485966" y="467106"/>
                </a:lnTo>
                <a:lnTo>
                  <a:pt x="491395" y="468963"/>
                </a:lnTo>
                <a:lnTo>
                  <a:pt x="496967" y="470678"/>
                </a:lnTo>
                <a:lnTo>
                  <a:pt x="502110" y="472964"/>
                </a:lnTo>
                <a:lnTo>
                  <a:pt x="507254" y="475250"/>
                </a:lnTo>
                <a:lnTo>
                  <a:pt x="512397" y="478107"/>
                </a:lnTo>
                <a:lnTo>
                  <a:pt x="517398" y="481108"/>
                </a:lnTo>
                <a:lnTo>
                  <a:pt x="522160" y="484251"/>
                </a:lnTo>
                <a:lnTo>
                  <a:pt x="527161" y="487680"/>
                </a:lnTo>
                <a:lnTo>
                  <a:pt x="531924" y="491252"/>
                </a:lnTo>
                <a:lnTo>
                  <a:pt x="536686" y="495110"/>
                </a:lnTo>
                <a:lnTo>
                  <a:pt x="539829" y="497967"/>
                </a:lnTo>
                <a:lnTo>
                  <a:pt x="542401" y="500682"/>
                </a:lnTo>
                <a:lnTo>
                  <a:pt x="544973" y="503682"/>
                </a:lnTo>
                <a:lnTo>
                  <a:pt x="546973" y="506968"/>
                </a:lnTo>
                <a:lnTo>
                  <a:pt x="565166" y="536972"/>
                </a:lnTo>
                <a:lnTo>
                  <a:pt x="593741" y="538115"/>
                </a:lnTo>
                <a:lnTo>
                  <a:pt x="594598" y="538686"/>
                </a:lnTo>
                <a:lnTo>
                  <a:pt x="601885" y="539829"/>
                </a:lnTo>
                <a:lnTo>
                  <a:pt x="609314" y="541544"/>
                </a:lnTo>
                <a:lnTo>
                  <a:pt x="616458" y="543544"/>
                </a:lnTo>
                <a:lnTo>
                  <a:pt x="623602" y="545687"/>
                </a:lnTo>
                <a:lnTo>
                  <a:pt x="630603" y="548259"/>
                </a:lnTo>
                <a:lnTo>
                  <a:pt x="637746" y="551402"/>
                </a:lnTo>
                <a:lnTo>
                  <a:pt x="644462" y="554403"/>
                </a:lnTo>
                <a:lnTo>
                  <a:pt x="651320" y="557975"/>
                </a:lnTo>
                <a:lnTo>
                  <a:pt x="657606" y="561546"/>
                </a:lnTo>
                <a:lnTo>
                  <a:pt x="664178" y="565690"/>
                </a:lnTo>
                <a:lnTo>
                  <a:pt x="670322" y="569690"/>
                </a:lnTo>
                <a:lnTo>
                  <a:pt x="676323" y="574119"/>
                </a:lnTo>
                <a:lnTo>
                  <a:pt x="682323" y="578882"/>
                </a:lnTo>
                <a:lnTo>
                  <a:pt x="687896" y="583644"/>
                </a:lnTo>
                <a:lnTo>
                  <a:pt x="693325" y="588407"/>
                </a:lnTo>
                <a:lnTo>
                  <a:pt x="698468" y="593836"/>
                </a:lnTo>
                <a:lnTo>
                  <a:pt x="706755" y="602980"/>
                </a:lnTo>
                <a:lnTo>
                  <a:pt x="714613" y="612505"/>
                </a:lnTo>
                <a:lnTo>
                  <a:pt x="722328" y="622506"/>
                </a:lnTo>
                <a:lnTo>
                  <a:pt x="729472" y="632365"/>
                </a:lnTo>
                <a:lnTo>
                  <a:pt x="736473" y="642795"/>
                </a:lnTo>
                <a:lnTo>
                  <a:pt x="742617" y="653510"/>
                </a:lnTo>
                <a:lnTo>
                  <a:pt x="749046" y="664369"/>
                </a:lnTo>
                <a:lnTo>
                  <a:pt x="754618" y="675084"/>
                </a:lnTo>
                <a:lnTo>
                  <a:pt x="755190" y="676513"/>
                </a:lnTo>
                <a:lnTo>
                  <a:pt x="755761" y="676942"/>
                </a:lnTo>
                <a:lnTo>
                  <a:pt x="756618" y="676942"/>
                </a:lnTo>
                <a:lnTo>
                  <a:pt x="761905" y="677370"/>
                </a:lnTo>
                <a:lnTo>
                  <a:pt x="766667" y="678371"/>
                </a:lnTo>
                <a:lnTo>
                  <a:pt x="771430" y="679513"/>
                </a:lnTo>
                <a:lnTo>
                  <a:pt x="776192" y="681228"/>
                </a:lnTo>
                <a:lnTo>
                  <a:pt x="780621" y="682943"/>
                </a:lnTo>
                <a:lnTo>
                  <a:pt x="784622" y="685086"/>
                </a:lnTo>
                <a:lnTo>
                  <a:pt x="788622" y="687657"/>
                </a:lnTo>
                <a:lnTo>
                  <a:pt x="792194" y="690658"/>
                </a:lnTo>
                <a:lnTo>
                  <a:pt x="795480" y="693658"/>
                </a:lnTo>
                <a:lnTo>
                  <a:pt x="798767" y="696801"/>
                </a:lnTo>
                <a:lnTo>
                  <a:pt x="801767" y="700230"/>
                </a:lnTo>
                <a:lnTo>
                  <a:pt x="804624" y="704088"/>
                </a:lnTo>
                <a:lnTo>
                  <a:pt x="807339" y="707660"/>
                </a:lnTo>
                <a:lnTo>
                  <a:pt x="809625" y="711518"/>
                </a:lnTo>
                <a:lnTo>
                  <a:pt x="811911" y="715518"/>
                </a:lnTo>
                <a:lnTo>
                  <a:pt x="813768" y="719661"/>
                </a:lnTo>
                <a:lnTo>
                  <a:pt x="815769" y="723948"/>
                </a:lnTo>
                <a:lnTo>
                  <a:pt x="817626" y="728091"/>
                </a:lnTo>
                <a:lnTo>
                  <a:pt x="819198" y="732520"/>
                </a:lnTo>
                <a:lnTo>
                  <a:pt x="820626" y="736663"/>
                </a:lnTo>
                <a:lnTo>
                  <a:pt x="821769" y="740807"/>
                </a:lnTo>
                <a:lnTo>
                  <a:pt x="822770" y="744998"/>
                </a:lnTo>
                <a:lnTo>
                  <a:pt x="823627" y="749379"/>
                </a:lnTo>
                <a:lnTo>
                  <a:pt x="824341" y="753380"/>
                </a:lnTo>
                <a:lnTo>
                  <a:pt x="825056" y="757095"/>
                </a:lnTo>
                <a:lnTo>
                  <a:pt x="825341" y="761143"/>
                </a:lnTo>
                <a:lnTo>
                  <a:pt x="825770" y="764858"/>
                </a:lnTo>
                <a:lnTo>
                  <a:pt x="825770" y="768287"/>
                </a:lnTo>
                <a:lnTo>
                  <a:pt x="825770" y="775002"/>
                </a:lnTo>
                <a:lnTo>
                  <a:pt x="825770" y="777812"/>
                </a:lnTo>
                <a:lnTo>
                  <a:pt x="825770" y="780431"/>
                </a:lnTo>
                <a:lnTo>
                  <a:pt x="824770" y="786432"/>
                </a:lnTo>
                <a:lnTo>
                  <a:pt x="824198" y="792718"/>
                </a:lnTo>
                <a:lnTo>
                  <a:pt x="823770" y="798862"/>
                </a:lnTo>
                <a:lnTo>
                  <a:pt x="823341" y="805291"/>
                </a:lnTo>
                <a:lnTo>
                  <a:pt x="819817" y="876300"/>
                </a:lnTo>
                <a:lnTo>
                  <a:pt x="816673" y="946452"/>
                </a:lnTo>
                <a:lnTo>
                  <a:pt x="816388" y="953024"/>
                </a:lnTo>
                <a:lnTo>
                  <a:pt x="815673" y="959882"/>
                </a:lnTo>
                <a:lnTo>
                  <a:pt x="815102" y="966168"/>
                </a:lnTo>
                <a:lnTo>
                  <a:pt x="814102" y="973026"/>
                </a:lnTo>
                <a:lnTo>
                  <a:pt x="813102" y="979313"/>
                </a:lnTo>
                <a:lnTo>
                  <a:pt x="811816" y="986028"/>
                </a:lnTo>
                <a:lnTo>
                  <a:pt x="810530" y="992457"/>
                </a:lnTo>
                <a:lnTo>
                  <a:pt x="808815" y="998744"/>
                </a:lnTo>
                <a:lnTo>
                  <a:pt x="804672" y="1015317"/>
                </a:lnTo>
                <a:lnTo>
                  <a:pt x="799910" y="1031605"/>
                </a:lnTo>
                <a:lnTo>
                  <a:pt x="795147" y="1047893"/>
                </a:lnTo>
                <a:lnTo>
                  <a:pt x="790385" y="1064038"/>
                </a:lnTo>
                <a:lnTo>
                  <a:pt x="791385" y="1065038"/>
                </a:lnTo>
                <a:lnTo>
                  <a:pt x="810435" y="1149668"/>
                </a:lnTo>
                <a:lnTo>
                  <a:pt x="787575" y="1154097"/>
                </a:lnTo>
                <a:lnTo>
                  <a:pt x="745284" y="1161526"/>
                </a:lnTo>
                <a:lnTo>
                  <a:pt x="627269" y="1181957"/>
                </a:lnTo>
                <a:lnTo>
                  <a:pt x="501206" y="1203674"/>
                </a:lnTo>
                <a:lnTo>
                  <a:pt x="449485" y="1212818"/>
                </a:lnTo>
                <a:lnTo>
                  <a:pt x="413575" y="1219200"/>
                </a:lnTo>
                <a:lnTo>
                  <a:pt x="393811" y="1120473"/>
                </a:lnTo>
                <a:lnTo>
                  <a:pt x="391668" y="1116759"/>
                </a:lnTo>
                <a:lnTo>
                  <a:pt x="389382" y="1113044"/>
                </a:lnTo>
                <a:lnTo>
                  <a:pt x="387096" y="1109472"/>
                </a:lnTo>
                <a:lnTo>
                  <a:pt x="384667" y="1106186"/>
                </a:lnTo>
                <a:lnTo>
                  <a:pt x="381953" y="1102757"/>
                </a:lnTo>
                <a:lnTo>
                  <a:pt x="379095" y="1099614"/>
                </a:lnTo>
                <a:lnTo>
                  <a:pt x="376380" y="1096470"/>
                </a:lnTo>
                <a:lnTo>
                  <a:pt x="373523" y="1093470"/>
                </a:lnTo>
                <a:lnTo>
                  <a:pt x="370380" y="1090470"/>
                </a:lnTo>
                <a:lnTo>
                  <a:pt x="367094" y="1087612"/>
                </a:lnTo>
                <a:lnTo>
                  <a:pt x="363807" y="1084898"/>
                </a:lnTo>
                <a:lnTo>
                  <a:pt x="360521" y="1082040"/>
                </a:lnTo>
                <a:lnTo>
                  <a:pt x="356949" y="1079706"/>
                </a:lnTo>
                <a:lnTo>
                  <a:pt x="353235" y="1077182"/>
                </a:lnTo>
                <a:lnTo>
                  <a:pt x="349663" y="1074896"/>
                </a:lnTo>
                <a:lnTo>
                  <a:pt x="345805" y="1072706"/>
                </a:lnTo>
                <a:lnTo>
                  <a:pt x="340519" y="1070039"/>
                </a:lnTo>
                <a:lnTo>
                  <a:pt x="335375" y="1067133"/>
                </a:lnTo>
                <a:lnTo>
                  <a:pt x="325374" y="1061418"/>
                </a:lnTo>
                <a:lnTo>
                  <a:pt x="315849" y="1055322"/>
                </a:lnTo>
                <a:lnTo>
                  <a:pt x="306324" y="1048703"/>
                </a:lnTo>
                <a:lnTo>
                  <a:pt x="297180" y="1042130"/>
                </a:lnTo>
                <a:lnTo>
                  <a:pt x="288608" y="1034987"/>
                </a:lnTo>
                <a:lnTo>
                  <a:pt x="279987" y="1027843"/>
                </a:lnTo>
                <a:lnTo>
                  <a:pt x="272034" y="1019985"/>
                </a:lnTo>
                <a:lnTo>
                  <a:pt x="263843" y="1012269"/>
                </a:lnTo>
                <a:lnTo>
                  <a:pt x="256127" y="1004268"/>
                </a:lnTo>
                <a:lnTo>
                  <a:pt x="248555" y="996125"/>
                </a:lnTo>
                <a:lnTo>
                  <a:pt x="241411" y="987838"/>
                </a:lnTo>
                <a:lnTo>
                  <a:pt x="234267" y="979265"/>
                </a:lnTo>
                <a:lnTo>
                  <a:pt x="227124" y="970550"/>
                </a:lnTo>
                <a:lnTo>
                  <a:pt x="212836" y="952976"/>
                </a:lnTo>
                <a:lnTo>
                  <a:pt x="209836" y="949119"/>
                </a:lnTo>
                <a:lnTo>
                  <a:pt x="207121" y="945261"/>
                </a:lnTo>
                <a:lnTo>
                  <a:pt x="201549" y="937117"/>
                </a:lnTo>
                <a:lnTo>
                  <a:pt x="196501" y="928688"/>
                </a:lnTo>
                <a:lnTo>
                  <a:pt x="191738" y="920544"/>
                </a:lnTo>
                <a:lnTo>
                  <a:pt x="186976" y="911685"/>
                </a:lnTo>
                <a:lnTo>
                  <a:pt x="182547" y="903399"/>
                </a:lnTo>
                <a:lnTo>
                  <a:pt x="178546" y="894398"/>
                </a:lnTo>
                <a:lnTo>
                  <a:pt x="174736" y="885825"/>
                </a:lnTo>
                <a:lnTo>
                  <a:pt x="166878" y="868537"/>
                </a:lnTo>
                <a:lnTo>
                  <a:pt x="162878" y="859965"/>
                </a:lnTo>
                <a:lnTo>
                  <a:pt x="158591" y="851249"/>
                </a:lnTo>
                <a:lnTo>
                  <a:pt x="154496" y="842963"/>
                </a:lnTo>
                <a:lnTo>
                  <a:pt x="150209" y="834819"/>
                </a:lnTo>
                <a:lnTo>
                  <a:pt x="145447" y="826389"/>
                </a:lnTo>
                <a:lnTo>
                  <a:pt x="140684" y="818674"/>
                </a:lnTo>
                <a:lnTo>
                  <a:pt x="138970" y="813911"/>
                </a:lnTo>
                <a:lnTo>
                  <a:pt x="136684" y="809149"/>
                </a:lnTo>
                <a:lnTo>
                  <a:pt x="134398" y="804386"/>
                </a:lnTo>
                <a:lnTo>
                  <a:pt x="131826" y="799624"/>
                </a:lnTo>
                <a:lnTo>
                  <a:pt x="129111" y="794861"/>
                </a:lnTo>
                <a:lnTo>
                  <a:pt x="126397" y="790099"/>
                </a:lnTo>
                <a:lnTo>
                  <a:pt x="120682" y="780574"/>
                </a:lnTo>
                <a:lnTo>
                  <a:pt x="114062" y="771525"/>
                </a:lnTo>
                <a:lnTo>
                  <a:pt x="108061" y="762333"/>
                </a:lnTo>
                <a:lnTo>
                  <a:pt x="95917" y="744903"/>
                </a:lnTo>
                <a:lnTo>
                  <a:pt x="93488" y="741045"/>
                </a:lnTo>
                <a:lnTo>
                  <a:pt x="91202" y="736759"/>
                </a:lnTo>
                <a:lnTo>
                  <a:pt x="85773" y="726758"/>
                </a:lnTo>
                <a:lnTo>
                  <a:pt x="83058" y="721995"/>
                </a:lnTo>
                <a:lnTo>
                  <a:pt x="80201" y="716994"/>
                </a:lnTo>
                <a:lnTo>
                  <a:pt x="78772" y="714994"/>
                </a:lnTo>
                <a:lnTo>
                  <a:pt x="77200" y="712994"/>
                </a:lnTo>
                <a:lnTo>
                  <a:pt x="75486" y="711137"/>
                </a:lnTo>
                <a:lnTo>
                  <a:pt x="73771" y="709613"/>
                </a:lnTo>
                <a:lnTo>
                  <a:pt x="72342" y="708041"/>
                </a:lnTo>
                <a:lnTo>
                  <a:pt x="70914" y="706041"/>
                </a:lnTo>
                <a:lnTo>
                  <a:pt x="69771" y="703755"/>
                </a:lnTo>
                <a:lnTo>
                  <a:pt x="68770" y="700897"/>
                </a:lnTo>
                <a:lnTo>
                  <a:pt x="67485" y="698183"/>
                </a:lnTo>
                <a:lnTo>
                  <a:pt x="66770" y="695182"/>
                </a:lnTo>
                <a:lnTo>
                  <a:pt x="64913" y="688324"/>
                </a:lnTo>
                <a:lnTo>
                  <a:pt x="63341" y="681609"/>
                </a:lnTo>
                <a:lnTo>
                  <a:pt x="61770" y="674894"/>
                </a:lnTo>
                <a:lnTo>
                  <a:pt x="60436" y="669036"/>
                </a:lnTo>
                <a:lnTo>
                  <a:pt x="59007" y="664274"/>
                </a:lnTo>
                <a:lnTo>
                  <a:pt x="54864" y="651701"/>
                </a:lnTo>
                <a:lnTo>
                  <a:pt x="50435" y="639556"/>
                </a:lnTo>
                <a:lnTo>
                  <a:pt x="48054" y="633413"/>
                </a:lnTo>
                <a:lnTo>
                  <a:pt x="45625" y="627698"/>
                </a:lnTo>
                <a:lnTo>
                  <a:pt x="43196" y="622125"/>
                </a:lnTo>
                <a:lnTo>
                  <a:pt x="40481" y="616268"/>
                </a:lnTo>
                <a:lnTo>
                  <a:pt x="38910" y="613124"/>
                </a:lnTo>
                <a:lnTo>
                  <a:pt x="37052" y="609981"/>
                </a:lnTo>
                <a:lnTo>
                  <a:pt x="32909" y="603266"/>
                </a:lnTo>
                <a:lnTo>
                  <a:pt x="28146" y="596694"/>
                </a:lnTo>
                <a:lnTo>
                  <a:pt x="23384" y="589836"/>
                </a:lnTo>
                <a:lnTo>
                  <a:pt x="13240" y="576691"/>
                </a:lnTo>
                <a:lnTo>
                  <a:pt x="3286" y="563880"/>
                </a:lnTo>
                <a:lnTo>
                  <a:pt x="1857" y="561737"/>
                </a:lnTo>
                <a:lnTo>
                  <a:pt x="857" y="559308"/>
                </a:lnTo>
                <a:lnTo>
                  <a:pt x="286" y="556736"/>
                </a:lnTo>
                <a:lnTo>
                  <a:pt x="0" y="554165"/>
                </a:lnTo>
                <a:lnTo>
                  <a:pt x="0" y="551450"/>
                </a:lnTo>
                <a:lnTo>
                  <a:pt x="429" y="548450"/>
                </a:lnTo>
                <a:lnTo>
                  <a:pt x="1000" y="545449"/>
                </a:lnTo>
                <a:lnTo>
                  <a:pt x="1857" y="542735"/>
                </a:lnTo>
                <a:lnTo>
                  <a:pt x="2857" y="539877"/>
                </a:lnTo>
                <a:lnTo>
                  <a:pt x="4286" y="537162"/>
                </a:lnTo>
                <a:lnTo>
                  <a:pt x="5572" y="534305"/>
                </a:lnTo>
                <a:lnTo>
                  <a:pt x="7287" y="531876"/>
                </a:lnTo>
                <a:lnTo>
                  <a:pt x="9001" y="529590"/>
                </a:lnTo>
                <a:lnTo>
                  <a:pt x="10573" y="527590"/>
                </a:lnTo>
                <a:lnTo>
                  <a:pt x="12430" y="525590"/>
                </a:lnTo>
                <a:lnTo>
                  <a:pt x="14145" y="524018"/>
                </a:lnTo>
                <a:lnTo>
                  <a:pt x="17002" y="521732"/>
                </a:lnTo>
                <a:lnTo>
                  <a:pt x="19717" y="519875"/>
                </a:lnTo>
                <a:lnTo>
                  <a:pt x="23003" y="518160"/>
                </a:lnTo>
                <a:lnTo>
                  <a:pt x="26146" y="516874"/>
                </a:lnTo>
                <a:lnTo>
                  <a:pt x="29289" y="515588"/>
                </a:lnTo>
                <a:lnTo>
                  <a:pt x="32576" y="514588"/>
                </a:lnTo>
                <a:lnTo>
                  <a:pt x="36147" y="514017"/>
                </a:lnTo>
                <a:lnTo>
                  <a:pt x="39433" y="513445"/>
                </a:lnTo>
                <a:lnTo>
                  <a:pt x="43005" y="513017"/>
                </a:lnTo>
                <a:lnTo>
                  <a:pt x="46434" y="513017"/>
                </a:lnTo>
                <a:lnTo>
                  <a:pt x="50292" y="513017"/>
                </a:lnTo>
                <a:lnTo>
                  <a:pt x="53864" y="513302"/>
                </a:lnTo>
                <a:lnTo>
                  <a:pt x="57436" y="513302"/>
                </a:lnTo>
                <a:lnTo>
                  <a:pt x="61008" y="513874"/>
                </a:lnTo>
                <a:lnTo>
                  <a:pt x="64722" y="514731"/>
                </a:lnTo>
                <a:lnTo>
                  <a:pt x="68294" y="515445"/>
                </a:lnTo>
                <a:lnTo>
                  <a:pt x="71866" y="516446"/>
                </a:lnTo>
                <a:lnTo>
                  <a:pt x="75438" y="517446"/>
                </a:lnTo>
                <a:lnTo>
                  <a:pt x="79153" y="518874"/>
                </a:lnTo>
                <a:lnTo>
                  <a:pt x="82725" y="520303"/>
                </a:lnTo>
                <a:lnTo>
                  <a:pt x="86011" y="521589"/>
                </a:lnTo>
                <a:lnTo>
                  <a:pt x="89297" y="523446"/>
                </a:lnTo>
                <a:lnTo>
                  <a:pt x="92869" y="525304"/>
                </a:lnTo>
                <a:lnTo>
                  <a:pt x="96012" y="527018"/>
                </a:lnTo>
                <a:lnTo>
                  <a:pt x="99155" y="528876"/>
                </a:lnTo>
                <a:lnTo>
                  <a:pt x="102156" y="530733"/>
                </a:lnTo>
                <a:lnTo>
                  <a:pt x="105156" y="533019"/>
                </a:lnTo>
                <a:lnTo>
                  <a:pt x="108014" y="535019"/>
                </a:lnTo>
                <a:lnTo>
                  <a:pt x="110728" y="537305"/>
                </a:lnTo>
                <a:lnTo>
                  <a:pt x="113157" y="539734"/>
                </a:lnTo>
                <a:lnTo>
                  <a:pt x="115443" y="541877"/>
                </a:lnTo>
                <a:lnTo>
                  <a:pt x="117872" y="544306"/>
                </a:lnTo>
                <a:lnTo>
                  <a:pt x="120301" y="547164"/>
                </a:lnTo>
                <a:lnTo>
                  <a:pt x="122730" y="549878"/>
                </a:lnTo>
                <a:lnTo>
                  <a:pt x="126873" y="555879"/>
                </a:lnTo>
                <a:lnTo>
                  <a:pt x="130874" y="562023"/>
                </a:lnTo>
                <a:lnTo>
                  <a:pt x="134874" y="568595"/>
                </a:lnTo>
                <a:lnTo>
                  <a:pt x="142446" y="581311"/>
                </a:lnTo>
                <a:lnTo>
                  <a:pt x="146161" y="587597"/>
                </a:lnTo>
                <a:lnTo>
                  <a:pt x="150162" y="593598"/>
                </a:lnTo>
                <a:lnTo>
                  <a:pt x="153591" y="599027"/>
                </a:lnTo>
                <a:lnTo>
                  <a:pt x="156877" y="604599"/>
                </a:lnTo>
                <a:lnTo>
                  <a:pt x="164306" y="616458"/>
                </a:lnTo>
                <a:lnTo>
                  <a:pt x="171593" y="629031"/>
                </a:lnTo>
                <a:lnTo>
                  <a:pt x="179499" y="641890"/>
                </a:lnTo>
                <a:lnTo>
                  <a:pt x="183499" y="648033"/>
                </a:lnTo>
                <a:lnTo>
                  <a:pt x="187357" y="654177"/>
                </a:lnTo>
                <a:lnTo>
                  <a:pt x="191786" y="659892"/>
                </a:lnTo>
                <a:lnTo>
                  <a:pt x="195929" y="665750"/>
                </a:lnTo>
                <a:lnTo>
                  <a:pt x="200692" y="671036"/>
                </a:lnTo>
                <a:lnTo>
                  <a:pt x="205454" y="675799"/>
                </a:lnTo>
                <a:lnTo>
                  <a:pt x="210217" y="680561"/>
                </a:lnTo>
                <a:lnTo>
                  <a:pt x="212646" y="682562"/>
                </a:lnTo>
                <a:lnTo>
                  <a:pt x="215217" y="684562"/>
                </a:lnTo>
                <a:lnTo>
                  <a:pt x="219361" y="687705"/>
                </a:lnTo>
                <a:lnTo>
                  <a:pt x="223361" y="690705"/>
                </a:lnTo>
                <a:lnTo>
                  <a:pt x="227505" y="693277"/>
                </a:lnTo>
                <a:lnTo>
                  <a:pt x="231934" y="695706"/>
                </a:lnTo>
                <a:lnTo>
                  <a:pt x="236363" y="697706"/>
                </a:lnTo>
                <a:lnTo>
                  <a:pt x="240506" y="699421"/>
                </a:lnTo>
                <a:lnTo>
                  <a:pt x="245269" y="701135"/>
                </a:lnTo>
                <a:lnTo>
                  <a:pt x="249698" y="702421"/>
                </a:lnTo>
                <a:lnTo>
                  <a:pt x="254460" y="703421"/>
                </a:lnTo>
                <a:lnTo>
                  <a:pt x="259223" y="704279"/>
                </a:lnTo>
                <a:lnTo>
                  <a:pt x="263985" y="704993"/>
                </a:lnTo>
                <a:lnTo>
                  <a:pt x="268748" y="705422"/>
                </a:lnTo>
                <a:lnTo>
                  <a:pt x="273796" y="705422"/>
                </a:lnTo>
                <a:lnTo>
                  <a:pt x="278559" y="705422"/>
                </a:lnTo>
                <a:lnTo>
                  <a:pt x="283702" y="704993"/>
                </a:lnTo>
                <a:lnTo>
                  <a:pt x="288988" y="703993"/>
                </a:lnTo>
                <a:lnTo>
                  <a:pt x="290560" y="703993"/>
                </a:lnTo>
                <a:lnTo>
                  <a:pt x="292275" y="703136"/>
                </a:lnTo>
                <a:lnTo>
                  <a:pt x="294275" y="702278"/>
                </a:lnTo>
                <a:lnTo>
                  <a:pt x="296132" y="701135"/>
                </a:lnTo>
                <a:lnTo>
                  <a:pt x="298133" y="699564"/>
                </a:lnTo>
                <a:lnTo>
                  <a:pt x="299847" y="697992"/>
                </a:lnTo>
                <a:lnTo>
                  <a:pt x="301847" y="696420"/>
                </a:lnTo>
                <a:lnTo>
                  <a:pt x="303276" y="694420"/>
                </a:lnTo>
                <a:lnTo>
                  <a:pt x="305991" y="691277"/>
                </a:lnTo>
                <a:lnTo>
                  <a:pt x="308420" y="687848"/>
                </a:lnTo>
                <a:lnTo>
                  <a:pt x="310848" y="684419"/>
                </a:lnTo>
                <a:lnTo>
                  <a:pt x="312849" y="681038"/>
                </a:lnTo>
                <a:lnTo>
                  <a:pt x="314992" y="677609"/>
                </a:lnTo>
                <a:lnTo>
                  <a:pt x="316849" y="673751"/>
                </a:lnTo>
                <a:lnTo>
                  <a:pt x="318421" y="670179"/>
                </a:lnTo>
                <a:lnTo>
                  <a:pt x="319707" y="666607"/>
                </a:lnTo>
                <a:lnTo>
                  <a:pt x="321135" y="663035"/>
                </a:lnTo>
                <a:lnTo>
                  <a:pt x="322135" y="659178"/>
                </a:lnTo>
                <a:lnTo>
                  <a:pt x="323136" y="655320"/>
                </a:lnTo>
                <a:lnTo>
                  <a:pt x="323707" y="651320"/>
                </a:lnTo>
                <a:lnTo>
                  <a:pt x="324422" y="647319"/>
                </a:lnTo>
                <a:lnTo>
                  <a:pt x="324707" y="643461"/>
                </a:lnTo>
                <a:lnTo>
                  <a:pt x="324993" y="639175"/>
                </a:lnTo>
                <a:lnTo>
                  <a:pt x="324993" y="635318"/>
                </a:lnTo>
                <a:lnTo>
                  <a:pt x="324993" y="631317"/>
                </a:lnTo>
                <a:lnTo>
                  <a:pt x="324707" y="627745"/>
                </a:lnTo>
                <a:lnTo>
                  <a:pt x="324422" y="624173"/>
                </a:lnTo>
                <a:lnTo>
                  <a:pt x="323707" y="620173"/>
                </a:lnTo>
                <a:lnTo>
                  <a:pt x="234363" y="140875"/>
                </a:lnTo>
                <a:lnTo>
                  <a:pt x="233505" y="136112"/>
                </a:lnTo>
                <a:lnTo>
                  <a:pt x="233077" y="131969"/>
                </a:lnTo>
                <a:lnTo>
                  <a:pt x="233077" y="127540"/>
                </a:lnTo>
                <a:lnTo>
                  <a:pt x="233362" y="123825"/>
                </a:lnTo>
                <a:lnTo>
                  <a:pt x="233791" y="119967"/>
                </a:lnTo>
                <a:lnTo>
                  <a:pt x="234506" y="116681"/>
                </a:lnTo>
                <a:lnTo>
                  <a:pt x="235363" y="113252"/>
                </a:lnTo>
                <a:lnTo>
                  <a:pt x="236506" y="110252"/>
                </a:lnTo>
                <a:lnTo>
                  <a:pt x="237649" y="107537"/>
                </a:lnTo>
                <a:lnTo>
                  <a:pt x="239078" y="104966"/>
                </a:lnTo>
                <a:lnTo>
                  <a:pt x="240649" y="102537"/>
                </a:lnTo>
                <a:lnTo>
                  <a:pt x="242364" y="100013"/>
                </a:lnTo>
                <a:lnTo>
                  <a:pt x="244078" y="97869"/>
                </a:lnTo>
                <a:lnTo>
                  <a:pt x="246221" y="96155"/>
                </a:lnTo>
                <a:lnTo>
                  <a:pt x="248079" y="94298"/>
                </a:lnTo>
                <a:lnTo>
                  <a:pt x="250079" y="92726"/>
                </a:lnTo>
                <a:lnTo>
                  <a:pt x="252079" y="91297"/>
                </a:lnTo>
                <a:lnTo>
                  <a:pt x="254222" y="90154"/>
                </a:lnTo>
                <a:lnTo>
                  <a:pt x="258080" y="87868"/>
                </a:lnTo>
                <a:lnTo>
                  <a:pt x="261937" y="86011"/>
                </a:lnTo>
                <a:lnTo>
                  <a:pt x="265367" y="84725"/>
                </a:lnTo>
                <a:lnTo>
                  <a:pt x="268415" y="84011"/>
                </a:lnTo>
                <a:lnTo>
                  <a:pt x="270843" y="83296"/>
                </a:lnTo>
                <a:lnTo>
                  <a:pt x="272986" y="83010"/>
                </a:lnTo>
                <a:lnTo>
                  <a:pt x="277130" y="82153"/>
                </a:lnTo>
                <a:lnTo>
                  <a:pt x="281559" y="81582"/>
                </a:lnTo>
                <a:lnTo>
                  <a:pt x="285702" y="81582"/>
                </a:lnTo>
                <a:close/>
                <a:moveTo>
                  <a:pt x="289036" y="0"/>
                </a:moveTo>
                <a:lnTo>
                  <a:pt x="298180" y="286"/>
                </a:lnTo>
                <a:lnTo>
                  <a:pt x="307181" y="857"/>
                </a:lnTo>
                <a:lnTo>
                  <a:pt x="316182" y="2000"/>
                </a:lnTo>
                <a:lnTo>
                  <a:pt x="324898" y="3715"/>
                </a:lnTo>
                <a:lnTo>
                  <a:pt x="333470" y="5429"/>
                </a:lnTo>
                <a:lnTo>
                  <a:pt x="341900" y="7572"/>
                </a:lnTo>
                <a:lnTo>
                  <a:pt x="350044" y="10287"/>
                </a:lnTo>
                <a:lnTo>
                  <a:pt x="358188" y="13430"/>
                </a:lnTo>
                <a:lnTo>
                  <a:pt x="365903" y="16716"/>
                </a:lnTo>
                <a:lnTo>
                  <a:pt x="373761" y="20717"/>
                </a:lnTo>
                <a:lnTo>
                  <a:pt x="381048" y="25146"/>
                </a:lnTo>
                <a:lnTo>
                  <a:pt x="388620" y="29909"/>
                </a:lnTo>
                <a:lnTo>
                  <a:pt x="395621" y="35052"/>
                </a:lnTo>
                <a:lnTo>
                  <a:pt x="402765" y="40624"/>
                </a:lnTo>
                <a:lnTo>
                  <a:pt x="409623" y="46625"/>
                </a:lnTo>
                <a:lnTo>
                  <a:pt x="416338" y="53054"/>
                </a:lnTo>
                <a:lnTo>
                  <a:pt x="422386" y="59579"/>
                </a:lnTo>
                <a:lnTo>
                  <a:pt x="428673" y="66294"/>
                </a:lnTo>
                <a:lnTo>
                  <a:pt x="433959" y="73438"/>
                </a:lnTo>
                <a:lnTo>
                  <a:pt x="439388" y="80439"/>
                </a:lnTo>
                <a:lnTo>
                  <a:pt x="444151" y="88011"/>
                </a:lnTo>
                <a:lnTo>
                  <a:pt x="448580" y="95250"/>
                </a:lnTo>
                <a:lnTo>
                  <a:pt x="452295" y="102965"/>
                </a:lnTo>
                <a:lnTo>
                  <a:pt x="455867" y="110681"/>
                </a:lnTo>
                <a:lnTo>
                  <a:pt x="459010" y="118824"/>
                </a:lnTo>
                <a:lnTo>
                  <a:pt x="461724" y="127111"/>
                </a:lnTo>
                <a:lnTo>
                  <a:pt x="463868" y="135398"/>
                </a:lnTo>
                <a:lnTo>
                  <a:pt x="465582" y="143970"/>
                </a:lnTo>
                <a:lnTo>
                  <a:pt x="467296" y="152591"/>
                </a:lnTo>
                <a:lnTo>
                  <a:pt x="468297" y="161592"/>
                </a:lnTo>
                <a:lnTo>
                  <a:pt x="468868" y="170450"/>
                </a:lnTo>
                <a:lnTo>
                  <a:pt x="468868" y="179975"/>
                </a:lnTo>
                <a:lnTo>
                  <a:pt x="468868" y="189119"/>
                </a:lnTo>
                <a:lnTo>
                  <a:pt x="468297" y="197977"/>
                </a:lnTo>
                <a:lnTo>
                  <a:pt x="467296" y="206978"/>
                </a:lnTo>
                <a:lnTo>
                  <a:pt x="465582" y="215694"/>
                </a:lnTo>
                <a:lnTo>
                  <a:pt x="463868" y="224266"/>
                </a:lnTo>
                <a:lnTo>
                  <a:pt x="461724" y="232696"/>
                </a:lnTo>
                <a:lnTo>
                  <a:pt x="459010" y="240840"/>
                </a:lnTo>
                <a:lnTo>
                  <a:pt x="455724" y="248936"/>
                </a:lnTo>
                <a:lnTo>
                  <a:pt x="452152" y="256794"/>
                </a:lnTo>
                <a:lnTo>
                  <a:pt x="448437" y="264366"/>
                </a:lnTo>
                <a:lnTo>
                  <a:pt x="444008" y="272225"/>
                </a:lnTo>
                <a:lnTo>
                  <a:pt x="439245" y="279368"/>
                </a:lnTo>
                <a:lnTo>
                  <a:pt x="433816" y="286655"/>
                </a:lnTo>
                <a:lnTo>
                  <a:pt x="428530" y="293513"/>
                </a:lnTo>
                <a:lnTo>
                  <a:pt x="422386" y="300371"/>
                </a:lnTo>
                <a:lnTo>
                  <a:pt x="416243" y="306943"/>
                </a:lnTo>
                <a:lnTo>
                  <a:pt x="416243" y="307229"/>
                </a:lnTo>
                <a:lnTo>
                  <a:pt x="412242" y="310944"/>
                </a:lnTo>
                <a:lnTo>
                  <a:pt x="408099" y="314801"/>
                </a:lnTo>
                <a:lnTo>
                  <a:pt x="404098" y="318087"/>
                </a:lnTo>
                <a:lnTo>
                  <a:pt x="400098" y="321516"/>
                </a:lnTo>
                <a:lnTo>
                  <a:pt x="396954" y="310372"/>
                </a:lnTo>
                <a:lnTo>
                  <a:pt x="393811" y="299657"/>
                </a:lnTo>
                <a:lnTo>
                  <a:pt x="390382" y="288655"/>
                </a:lnTo>
                <a:lnTo>
                  <a:pt x="386810" y="277511"/>
                </a:lnTo>
                <a:lnTo>
                  <a:pt x="391573" y="272510"/>
                </a:lnTo>
                <a:lnTo>
                  <a:pt x="396335" y="267224"/>
                </a:lnTo>
                <a:lnTo>
                  <a:pt x="400764" y="261795"/>
                </a:lnTo>
                <a:lnTo>
                  <a:pt x="404765" y="256508"/>
                </a:lnTo>
                <a:lnTo>
                  <a:pt x="408337" y="250650"/>
                </a:lnTo>
                <a:lnTo>
                  <a:pt x="411766" y="244935"/>
                </a:lnTo>
                <a:lnTo>
                  <a:pt x="414766" y="238935"/>
                </a:lnTo>
                <a:lnTo>
                  <a:pt x="417338" y="232934"/>
                </a:lnTo>
                <a:lnTo>
                  <a:pt x="419624" y="226790"/>
                </a:lnTo>
                <a:lnTo>
                  <a:pt x="421624" y="220361"/>
                </a:lnTo>
                <a:lnTo>
                  <a:pt x="423481" y="214074"/>
                </a:lnTo>
                <a:lnTo>
                  <a:pt x="424910" y="207502"/>
                </a:lnTo>
                <a:lnTo>
                  <a:pt x="426053" y="200930"/>
                </a:lnTo>
                <a:lnTo>
                  <a:pt x="426910" y="193929"/>
                </a:lnTo>
                <a:lnTo>
                  <a:pt x="427196" y="187214"/>
                </a:lnTo>
                <a:lnTo>
                  <a:pt x="427482" y="180070"/>
                </a:lnTo>
                <a:lnTo>
                  <a:pt x="427196" y="172926"/>
                </a:lnTo>
                <a:lnTo>
                  <a:pt x="426910" y="165926"/>
                </a:lnTo>
                <a:lnTo>
                  <a:pt x="426053" y="159068"/>
                </a:lnTo>
                <a:lnTo>
                  <a:pt x="424863" y="152400"/>
                </a:lnTo>
                <a:lnTo>
                  <a:pt x="423434" y="145923"/>
                </a:lnTo>
                <a:lnTo>
                  <a:pt x="421577" y="139494"/>
                </a:lnTo>
                <a:lnTo>
                  <a:pt x="419576" y="133350"/>
                </a:lnTo>
                <a:lnTo>
                  <a:pt x="417290" y="127064"/>
                </a:lnTo>
                <a:lnTo>
                  <a:pt x="414719" y="121063"/>
                </a:lnTo>
                <a:lnTo>
                  <a:pt x="411718" y="115062"/>
                </a:lnTo>
                <a:lnTo>
                  <a:pt x="408146" y="109347"/>
                </a:lnTo>
                <a:lnTo>
                  <a:pt x="404432" y="103775"/>
                </a:lnTo>
                <a:lnTo>
                  <a:pt x="400717" y="98203"/>
                </a:lnTo>
                <a:lnTo>
                  <a:pt x="395954" y="93059"/>
                </a:lnTo>
                <a:lnTo>
                  <a:pt x="391525" y="87773"/>
                </a:lnTo>
                <a:lnTo>
                  <a:pt x="386763" y="82487"/>
                </a:lnTo>
                <a:lnTo>
                  <a:pt x="381619" y="77724"/>
                </a:lnTo>
                <a:lnTo>
                  <a:pt x="376476" y="72962"/>
                </a:lnTo>
                <a:lnTo>
                  <a:pt x="371046" y="68818"/>
                </a:lnTo>
                <a:lnTo>
                  <a:pt x="365236" y="64722"/>
                </a:lnTo>
                <a:lnTo>
                  <a:pt x="359664" y="61151"/>
                </a:lnTo>
                <a:lnTo>
                  <a:pt x="353949" y="57579"/>
                </a:lnTo>
                <a:lnTo>
                  <a:pt x="347948" y="54578"/>
                </a:lnTo>
                <a:lnTo>
                  <a:pt x="342233" y="52007"/>
                </a:lnTo>
                <a:lnTo>
                  <a:pt x="335804" y="49578"/>
                </a:lnTo>
                <a:lnTo>
                  <a:pt x="329851" y="47625"/>
                </a:lnTo>
                <a:lnTo>
                  <a:pt x="323279" y="45911"/>
                </a:lnTo>
                <a:lnTo>
                  <a:pt x="316849" y="44339"/>
                </a:lnTo>
                <a:lnTo>
                  <a:pt x="309848" y="43339"/>
                </a:lnTo>
                <a:lnTo>
                  <a:pt x="303324" y="42434"/>
                </a:lnTo>
                <a:lnTo>
                  <a:pt x="296180" y="41862"/>
                </a:lnTo>
                <a:lnTo>
                  <a:pt x="281892" y="41862"/>
                </a:lnTo>
                <a:lnTo>
                  <a:pt x="275225" y="42434"/>
                </a:lnTo>
                <a:lnTo>
                  <a:pt x="268176" y="43291"/>
                </a:lnTo>
                <a:lnTo>
                  <a:pt x="261604" y="44291"/>
                </a:lnTo>
                <a:lnTo>
                  <a:pt x="254889" y="45863"/>
                </a:lnTo>
                <a:lnTo>
                  <a:pt x="248507" y="47625"/>
                </a:lnTo>
                <a:lnTo>
                  <a:pt x="242078" y="49625"/>
                </a:lnTo>
                <a:lnTo>
                  <a:pt x="236220" y="52054"/>
                </a:lnTo>
                <a:lnTo>
                  <a:pt x="230219" y="54626"/>
                </a:lnTo>
                <a:lnTo>
                  <a:pt x="224076" y="57626"/>
                </a:lnTo>
                <a:lnTo>
                  <a:pt x="218361" y="61198"/>
                </a:lnTo>
                <a:lnTo>
                  <a:pt x="212646" y="64770"/>
                </a:lnTo>
                <a:lnTo>
                  <a:pt x="207216" y="68628"/>
                </a:lnTo>
                <a:lnTo>
                  <a:pt x="201644" y="72771"/>
                </a:lnTo>
                <a:lnTo>
                  <a:pt x="196501" y="77534"/>
                </a:lnTo>
                <a:lnTo>
                  <a:pt x="191738" y="82296"/>
                </a:lnTo>
                <a:lnTo>
                  <a:pt x="191738" y="82296"/>
                </a:lnTo>
                <a:lnTo>
                  <a:pt x="186976" y="87582"/>
                </a:lnTo>
                <a:lnTo>
                  <a:pt x="182213" y="92869"/>
                </a:lnTo>
                <a:lnTo>
                  <a:pt x="178070" y="98012"/>
                </a:lnTo>
                <a:lnTo>
                  <a:pt x="174069" y="103727"/>
                </a:lnTo>
                <a:lnTo>
                  <a:pt x="169974" y="109538"/>
                </a:lnTo>
                <a:lnTo>
                  <a:pt x="166545" y="115110"/>
                </a:lnTo>
                <a:lnTo>
                  <a:pt x="163544" y="121110"/>
                </a:lnTo>
                <a:lnTo>
                  <a:pt x="160973" y="127111"/>
                </a:lnTo>
                <a:lnTo>
                  <a:pt x="158496" y="133350"/>
                </a:lnTo>
                <a:lnTo>
                  <a:pt x="156496" y="139637"/>
                </a:lnTo>
                <a:lnTo>
                  <a:pt x="154924" y="146066"/>
                </a:lnTo>
                <a:lnTo>
                  <a:pt x="153495" y="152400"/>
                </a:lnTo>
                <a:lnTo>
                  <a:pt x="152352" y="159068"/>
                </a:lnTo>
                <a:lnTo>
                  <a:pt x="151495" y="165926"/>
                </a:lnTo>
                <a:lnTo>
                  <a:pt x="150924" y="173069"/>
                </a:lnTo>
                <a:lnTo>
                  <a:pt x="150924" y="180070"/>
                </a:lnTo>
                <a:lnTo>
                  <a:pt x="150924" y="187214"/>
                </a:lnTo>
                <a:lnTo>
                  <a:pt x="151352" y="193929"/>
                </a:lnTo>
                <a:lnTo>
                  <a:pt x="152209" y="200930"/>
                </a:lnTo>
                <a:lnTo>
                  <a:pt x="153353" y="207502"/>
                </a:lnTo>
                <a:lnTo>
                  <a:pt x="154781" y="214217"/>
                </a:lnTo>
                <a:lnTo>
                  <a:pt x="156353" y="220647"/>
                </a:lnTo>
                <a:lnTo>
                  <a:pt x="158353" y="226790"/>
                </a:lnTo>
                <a:lnTo>
                  <a:pt x="160925" y="232934"/>
                </a:lnTo>
                <a:lnTo>
                  <a:pt x="163497" y="238935"/>
                </a:lnTo>
                <a:lnTo>
                  <a:pt x="166497" y="245078"/>
                </a:lnTo>
                <a:lnTo>
                  <a:pt x="169974" y="250650"/>
                </a:lnTo>
                <a:lnTo>
                  <a:pt x="173546" y="256508"/>
                </a:lnTo>
                <a:lnTo>
                  <a:pt x="177641" y="261938"/>
                </a:lnTo>
                <a:lnTo>
                  <a:pt x="181785" y="267081"/>
                </a:lnTo>
                <a:lnTo>
                  <a:pt x="186547" y="272367"/>
                </a:lnTo>
                <a:lnTo>
                  <a:pt x="191310" y="277654"/>
                </a:lnTo>
                <a:lnTo>
                  <a:pt x="194453" y="280654"/>
                </a:lnTo>
                <a:lnTo>
                  <a:pt x="197596" y="283797"/>
                </a:lnTo>
                <a:lnTo>
                  <a:pt x="201025" y="286512"/>
                </a:lnTo>
                <a:lnTo>
                  <a:pt x="204454" y="289370"/>
                </a:lnTo>
                <a:lnTo>
                  <a:pt x="207883" y="291798"/>
                </a:lnTo>
                <a:lnTo>
                  <a:pt x="211169" y="294370"/>
                </a:lnTo>
                <a:lnTo>
                  <a:pt x="214741" y="296656"/>
                </a:lnTo>
                <a:lnTo>
                  <a:pt x="218599" y="299085"/>
                </a:lnTo>
                <a:lnTo>
                  <a:pt x="222028" y="301085"/>
                </a:lnTo>
                <a:lnTo>
                  <a:pt x="225742" y="303086"/>
                </a:lnTo>
                <a:lnTo>
                  <a:pt x="229314" y="304800"/>
                </a:lnTo>
                <a:lnTo>
                  <a:pt x="233315" y="306657"/>
                </a:lnTo>
                <a:lnTo>
                  <a:pt x="237173" y="308229"/>
                </a:lnTo>
                <a:lnTo>
                  <a:pt x="240887" y="309658"/>
                </a:lnTo>
                <a:lnTo>
                  <a:pt x="245031" y="311087"/>
                </a:lnTo>
                <a:lnTo>
                  <a:pt x="249031" y="312372"/>
                </a:lnTo>
                <a:lnTo>
                  <a:pt x="250317" y="317945"/>
                </a:lnTo>
                <a:lnTo>
                  <a:pt x="251460" y="323374"/>
                </a:lnTo>
                <a:lnTo>
                  <a:pt x="253603" y="334518"/>
                </a:lnTo>
                <a:lnTo>
                  <a:pt x="255175" y="345662"/>
                </a:lnTo>
                <a:lnTo>
                  <a:pt x="256651" y="357188"/>
                </a:lnTo>
                <a:lnTo>
                  <a:pt x="250079" y="356045"/>
                </a:lnTo>
                <a:lnTo>
                  <a:pt x="243364" y="354473"/>
                </a:lnTo>
                <a:lnTo>
                  <a:pt x="236934" y="352425"/>
                </a:lnTo>
                <a:lnTo>
                  <a:pt x="230648" y="350425"/>
                </a:lnTo>
                <a:lnTo>
                  <a:pt x="224218" y="348282"/>
                </a:lnTo>
                <a:lnTo>
                  <a:pt x="218218" y="345853"/>
                </a:lnTo>
                <a:lnTo>
                  <a:pt x="212074" y="342900"/>
                </a:lnTo>
                <a:lnTo>
                  <a:pt x="206073" y="339900"/>
                </a:lnTo>
                <a:lnTo>
                  <a:pt x="200073" y="336471"/>
                </a:lnTo>
                <a:lnTo>
                  <a:pt x="194358" y="333375"/>
                </a:lnTo>
                <a:lnTo>
                  <a:pt x="189024" y="329517"/>
                </a:lnTo>
                <a:lnTo>
                  <a:pt x="183452" y="325517"/>
                </a:lnTo>
                <a:lnTo>
                  <a:pt x="178022" y="321374"/>
                </a:lnTo>
                <a:lnTo>
                  <a:pt x="172450" y="316611"/>
                </a:lnTo>
                <a:lnTo>
                  <a:pt x="167307" y="311849"/>
                </a:lnTo>
                <a:lnTo>
                  <a:pt x="162163" y="306562"/>
                </a:lnTo>
                <a:lnTo>
                  <a:pt x="155686" y="300371"/>
                </a:lnTo>
                <a:lnTo>
                  <a:pt x="149495" y="293513"/>
                </a:lnTo>
                <a:lnTo>
                  <a:pt x="143923" y="286655"/>
                </a:lnTo>
                <a:lnTo>
                  <a:pt x="138779" y="279368"/>
                </a:lnTo>
                <a:lnTo>
                  <a:pt x="134017" y="272225"/>
                </a:lnTo>
                <a:lnTo>
                  <a:pt x="129588" y="264366"/>
                </a:lnTo>
                <a:lnTo>
                  <a:pt x="125587" y="256794"/>
                </a:lnTo>
                <a:lnTo>
                  <a:pt x="122349" y="248936"/>
                </a:lnTo>
                <a:lnTo>
                  <a:pt x="119348" y="240935"/>
                </a:lnTo>
                <a:lnTo>
                  <a:pt x="116348" y="232791"/>
                </a:lnTo>
                <a:lnTo>
                  <a:pt x="114062" y="224361"/>
                </a:lnTo>
                <a:lnTo>
                  <a:pt x="112347" y="215789"/>
                </a:lnTo>
                <a:lnTo>
                  <a:pt x="110919" y="207074"/>
                </a:lnTo>
                <a:lnTo>
                  <a:pt x="109918" y="198072"/>
                </a:lnTo>
                <a:lnTo>
                  <a:pt x="109347" y="189214"/>
                </a:lnTo>
                <a:lnTo>
                  <a:pt x="109347" y="180070"/>
                </a:lnTo>
                <a:lnTo>
                  <a:pt x="109347" y="170545"/>
                </a:lnTo>
                <a:lnTo>
                  <a:pt x="110061" y="161925"/>
                </a:lnTo>
                <a:lnTo>
                  <a:pt x="111061" y="152924"/>
                </a:lnTo>
                <a:lnTo>
                  <a:pt x="112490" y="144304"/>
                </a:lnTo>
                <a:lnTo>
                  <a:pt x="114205" y="135731"/>
                </a:lnTo>
                <a:lnTo>
                  <a:pt x="116491" y="127445"/>
                </a:lnTo>
                <a:lnTo>
                  <a:pt x="119491" y="119063"/>
                </a:lnTo>
                <a:lnTo>
                  <a:pt x="122349" y="110871"/>
                </a:lnTo>
                <a:lnTo>
                  <a:pt x="125635" y="103156"/>
                </a:lnTo>
                <a:lnTo>
                  <a:pt x="129778" y="95250"/>
                </a:lnTo>
                <a:lnTo>
                  <a:pt x="134207" y="87821"/>
                </a:lnTo>
                <a:lnTo>
                  <a:pt x="138970" y="80248"/>
                </a:lnTo>
                <a:lnTo>
                  <a:pt x="144113" y="73247"/>
                </a:lnTo>
                <a:lnTo>
                  <a:pt x="149685" y="66104"/>
                </a:lnTo>
                <a:lnTo>
                  <a:pt x="155686" y="59579"/>
                </a:lnTo>
                <a:lnTo>
                  <a:pt x="162115" y="52864"/>
                </a:lnTo>
                <a:lnTo>
                  <a:pt x="168688" y="46434"/>
                </a:lnTo>
                <a:lnTo>
                  <a:pt x="175546" y="40434"/>
                </a:lnTo>
                <a:lnTo>
                  <a:pt x="182356" y="34862"/>
                </a:lnTo>
                <a:lnTo>
                  <a:pt x="189786" y="29718"/>
                </a:lnTo>
                <a:lnTo>
                  <a:pt x="196929" y="24955"/>
                </a:lnTo>
                <a:lnTo>
                  <a:pt x="204502" y="20526"/>
                </a:lnTo>
                <a:lnTo>
                  <a:pt x="212217" y="16526"/>
                </a:lnTo>
                <a:lnTo>
                  <a:pt x="220075" y="13240"/>
                </a:lnTo>
                <a:lnTo>
                  <a:pt x="227933" y="10096"/>
                </a:lnTo>
                <a:lnTo>
                  <a:pt x="236363" y="7382"/>
                </a:lnTo>
                <a:lnTo>
                  <a:pt x="244650" y="5239"/>
                </a:lnTo>
                <a:lnTo>
                  <a:pt x="253222" y="3524"/>
                </a:lnTo>
                <a:lnTo>
                  <a:pt x="262080" y="2000"/>
                </a:lnTo>
                <a:lnTo>
                  <a:pt x="270843" y="857"/>
                </a:lnTo>
                <a:lnTo>
                  <a:pt x="279845" y="286"/>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60" name="组合 59"/>
          <p:cNvGrpSpPr/>
          <p:nvPr/>
        </p:nvGrpSpPr>
        <p:grpSpPr>
          <a:xfrm>
            <a:off x="3669926" y="3274126"/>
            <a:ext cx="548270" cy="548270"/>
            <a:chOff x="3777213" y="3239401"/>
            <a:chExt cx="548270" cy="548270"/>
          </a:xfrm>
        </p:grpSpPr>
        <p:sp>
          <p:nvSpPr>
            <p:cNvPr id="61" name="椭圆 60"/>
            <p:cNvSpPr/>
            <p:nvPr/>
          </p:nvSpPr>
          <p:spPr>
            <a:xfrm>
              <a:off x="3777213" y="3239401"/>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grpSp>
          <p:nvGrpSpPr>
            <p:cNvPr id="77" name="图形 105"/>
            <p:cNvGrpSpPr/>
            <p:nvPr/>
          </p:nvGrpSpPr>
          <p:grpSpPr>
            <a:xfrm>
              <a:off x="3883216" y="3338136"/>
              <a:ext cx="336264" cy="350800"/>
              <a:chOff x="5511636" y="2819368"/>
              <a:chExt cx="1168727" cy="1219250"/>
            </a:xfrm>
            <a:solidFill>
              <a:srgbClr val="333333"/>
            </a:solidFill>
          </p:grpSpPr>
          <p:sp>
            <p:nvSpPr>
              <p:cNvPr id="78" name="任意多边形: 形状 77"/>
              <p:cNvSpPr/>
              <p:nvPr/>
            </p:nvSpPr>
            <p:spPr>
              <a:xfrm>
                <a:off x="6542628" y="3421225"/>
                <a:ext cx="137734" cy="137688"/>
              </a:xfrm>
              <a:custGeom>
                <a:avLst/>
                <a:gdLst>
                  <a:gd name="connsiteX0" fmla="*/ 118157 w 137734"/>
                  <a:gd name="connsiteY0" fmla="*/ 20776 h 137688"/>
                  <a:gd name="connsiteX1" fmla="*/ 117014 w 137734"/>
                  <a:gd name="connsiteY1" fmla="*/ 118121 h 137688"/>
                  <a:gd name="connsiteX2" fmla="*/ 19620 w 137734"/>
                  <a:gd name="connsiteY2" fmla="*/ 116883 h 137688"/>
                  <a:gd name="connsiteX3" fmla="*/ 20716 w 137734"/>
                  <a:gd name="connsiteY3" fmla="*/ 19633 h 137688"/>
                  <a:gd name="connsiteX4" fmla="*/ 118204 w 137734"/>
                  <a:gd name="connsiteY4" fmla="*/ 20776 h 137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4" h="137688">
                    <a:moveTo>
                      <a:pt x="118157" y="20776"/>
                    </a:moveTo>
                    <a:cubicBezTo>
                      <a:pt x="144684" y="47970"/>
                      <a:pt x="144207" y="91499"/>
                      <a:pt x="117014" y="118121"/>
                    </a:cubicBezTo>
                    <a:cubicBezTo>
                      <a:pt x="89724" y="144649"/>
                      <a:pt x="46148" y="144172"/>
                      <a:pt x="19620" y="116883"/>
                    </a:cubicBezTo>
                    <a:cubicBezTo>
                      <a:pt x="-7002" y="89689"/>
                      <a:pt x="-6431" y="46065"/>
                      <a:pt x="20716" y="19633"/>
                    </a:cubicBezTo>
                    <a:cubicBezTo>
                      <a:pt x="48053" y="-7037"/>
                      <a:pt x="91677" y="-6418"/>
                      <a:pt x="118204" y="20776"/>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9" name="任意多边形: 形状 78"/>
              <p:cNvSpPr/>
              <p:nvPr/>
            </p:nvSpPr>
            <p:spPr>
              <a:xfrm>
                <a:off x="6536151" y="3239979"/>
                <a:ext cx="116124" cy="116129"/>
              </a:xfrm>
              <a:custGeom>
                <a:avLst/>
                <a:gdLst>
                  <a:gd name="connsiteX0" fmla="*/ 99582 w 116124"/>
                  <a:gd name="connsiteY0" fmla="*/ 17475 h 116129"/>
                  <a:gd name="connsiteX1" fmla="*/ 98582 w 116124"/>
                  <a:gd name="connsiteY1" fmla="*/ 99676 h 116129"/>
                  <a:gd name="connsiteX2" fmla="*/ 16524 w 116124"/>
                  <a:gd name="connsiteY2" fmla="*/ 98676 h 116129"/>
                  <a:gd name="connsiteX3" fmla="*/ 17525 w 116124"/>
                  <a:gd name="connsiteY3" fmla="*/ 16618 h 116129"/>
                  <a:gd name="connsiteX4" fmla="*/ 99582 w 116124"/>
                  <a:gd name="connsiteY4" fmla="*/ 17428 h 116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4" h="116129">
                    <a:moveTo>
                      <a:pt x="99582" y="17475"/>
                    </a:moveTo>
                    <a:cubicBezTo>
                      <a:pt x="122014" y="40478"/>
                      <a:pt x="121585" y="77197"/>
                      <a:pt x="98582" y="99676"/>
                    </a:cubicBezTo>
                    <a:cubicBezTo>
                      <a:pt x="75675" y="122012"/>
                      <a:pt x="38956" y="121536"/>
                      <a:pt x="16524" y="98676"/>
                    </a:cubicBezTo>
                    <a:cubicBezTo>
                      <a:pt x="-5907" y="75625"/>
                      <a:pt x="-5431" y="38954"/>
                      <a:pt x="17525" y="16618"/>
                    </a:cubicBezTo>
                    <a:cubicBezTo>
                      <a:pt x="40432" y="-5861"/>
                      <a:pt x="77246" y="-5480"/>
                      <a:pt x="99582" y="1742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1" name="任意多边形: 形状 80"/>
              <p:cNvSpPr/>
              <p:nvPr/>
            </p:nvSpPr>
            <p:spPr>
              <a:xfrm>
                <a:off x="6465689" y="3616505"/>
                <a:ext cx="161495" cy="161436"/>
              </a:xfrm>
              <a:custGeom>
                <a:avLst/>
                <a:gdLst>
                  <a:gd name="connsiteX0" fmla="*/ 138517 w 161495"/>
                  <a:gd name="connsiteY0" fmla="*/ 24283 h 161436"/>
                  <a:gd name="connsiteX1" fmla="*/ 137136 w 161495"/>
                  <a:gd name="connsiteY1" fmla="*/ 138535 h 161436"/>
                  <a:gd name="connsiteX2" fmla="*/ 22979 w 161495"/>
                  <a:gd name="connsiteY2" fmla="*/ 137106 h 161436"/>
                  <a:gd name="connsiteX3" fmla="*/ 24360 w 161495"/>
                  <a:gd name="connsiteY3" fmla="*/ 22949 h 161436"/>
                  <a:gd name="connsiteX4" fmla="*/ 138517 w 161495"/>
                  <a:gd name="connsiteY4" fmla="*/ 24283 h 161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495" h="161436">
                    <a:moveTo>
                      <a:pt x="138517" y="24283"/>
                    </a:moveTo>
                    <a:cubicBezTo>
                      <a:pt x="169664" y="56334"/>
                      <a:pt x="169092" y="107293"/>
                      <a:pt x="137136" y="138535"/>
                    </a:cubicBezTo>
                    <a:cubicBezTo>
                      <a:pt x="105275" y="169587"/>
                      <a:pt x="54126" y="169015"/>
                      <a:pt x="22979" y="137106"/>
                    </a:cubicBezTo>
                    <a:cubicBezTo>
                      <a:pt x="-8168" y="105245"/>
                      <a:pt x="-7596" y="54096"/>
                      <a:pt x="24360" y="22949"/>
                    </a:cubicBezTo>
                    <a:cubicBezTo>
                      <a:pt x="56173" y="-8197"/>
                      <a:pt x="107418" y="-7531"/>
                      <a:pt x="138517" y="24283"/>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2" name="任意多边形: 形状 81"/>
              <p:cNvSpPr/>
              <p:nvPr/>
            </p:nvSpPr>
            <p:spPr>
              <a:xfrm>
                <a:off x="6461720" y="3099962"/>
                <a:ext cx="88519" cy="88404"/>
              </a:xfrm>
              <a:custGeom>
                <a:avLst/>
                <a:gdLst>
                  <a:gd name="connsiteX0" fmla="*/ 75954 w 88519"/>
                  <a:gd name="connsiteY0" fmla="*/ 13284 h 88404"/>
                  <a:gd name="connsiteX1" fmla="*/ 75145 w 88519"/>
                  <a:gd name="connsiteY1" fmla="*/ 75863 h 88404"/>
                  <a:gd name="connsiteX2" fmla="*/ 12565 w 88519"/>
                  <a:gd name="connsiteY2" fmla="*/ 75149 h 88404"/>
                  <a:gd name="connsiteX3" fmla="*/ 13375 w 88519"/>
                  <a:gd name="connsiteY3" fmla="*/ 12570 h 88404"/>
                  <a:gd name="connsiteX4" fmla="*/ 75954 w 88519"/>
                  <a:gd name="connsiteY4" fmla="*/ 13332 h 884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 h="88404">
                    <a:moveTo>
                      <a:pt x="75954" y="13284"/>
                    </a:moveTo>
                    <a:cubicBezTo>
                      <a:pt x="93052" y="30667"/>
                      <a:pt x="92623" y="58766"/>
                      <a:pt x="75145" y="75863"/>
                    </a:cubicBezTo>
                    <a:cubicBezTo>
                      <a:pt x="57571" y="92961"/>
                      <a:pt x="29663" y="92437"/>
                      <a:pt x="12565" y="75149"/>
                    </a:cubicBezTo>
                    <a:cubicBezTo>
                      <a:pt x="-4532" y="57623"/>
                      <a:pt x="-4104" y="29572"/>
                      <a:pt x="13375" y="12570"/>
                    </a:cubicBezTo>
                    <a:cubicBezTo>
                      <a:pt x="30853" y="-4432"/>
                      <a:pt x="58857" y="-4194"/>
                      <a:pt x="75954" y="1333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3" name="任意多边形: 形状 82"/>
              <p:cNvSpPr/>
              <p:nvPr/>
            </p:nvSpPr>
            <p:spPr>
              <a:xfrm>
                <a:off x="6295971" y="3778012"/>
                <a:ext cx="177224" cy="177166"/>
              </a:xfrm>
              <a:custGeom>
                <a:avLst/>
                <a:gdLst>
                  <a:gd name="connsiteX0" fmla="*/ 152025 w 177224"/>
                  <a:gd name="connsiteY0" fmla="*/ 26749 h 177166"/>
                  <a:gd name="connsiteX1" fmla="*/ 150549 w 177224"/>
                  <a:gd name="connsiteY1" fmla="*/ 152002 h 177166"/>
                  <a:gd name="connsiteX2" fmla="*/ 25200 w 177224"/>
                  <a:gd name="connsiteY2" fmla="*/ 150526 h 177166"/>
                  <a:gd name="connsiteX3" fmla="*/ 26676 w 177224"/>
                  <a:gd name="connsiteY3" fmla="*/ 25129 h 177166"/>
                  <a:gd name="connsiteX4" fmla="*/ 152025 w 177224"/>
                  <a:gd name="connsiteY4" fmla="*/ 26749 h 17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224" h="177166">
                    <a:moveTo>
                      <a:pt x="152025" y="26749"/>
                    </a:moveTo>
                    <a:cubicBezTo>
                      <a:pt x="186172" y="61753"/>
                      <a:pt x="185553" y="117760"/>
                      <a:pt x="150549" y="152002"/>
                    </a:cubicBezTo>
                    <a:cubicBezTo>
                      <a:pt x="115497" y="186149"/>
                      <a:pt x="59394" y="185435"/>
                      <a:pt x="25200" y="150526"/>
                    </a:cubicBezTo>
                    <a:cubicBezTo>
                      <a:pt x="-8948" y="115522"/>
                      <a:pt x="-8328" y="59276"/>
                      <a:pt x="26676" y="25129"/>
                    </a:cubicBezTo>
                    <a:cubicBezTo>
                      <a:pt x="61728" y="-8970"/>
                      <a:pt x="117830" y="-8303"/>
                      <a:pt x="152025" y="2674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5" name="任意多边形: 形状 84"/>
              <p:cNvSpPr/>
              <p:nvPr/>
            </p:nvSpPr>
            <p:spPr>
              <a:xfrm>
                <a:off x="6367525" y="3019589"/>
                <a:ext cx="69216" cy="69198"/>
              </a:xfrm>
              <a:custGeom>
                <a:avLst/>
                <a:gdLst>
                  <a:gd name="connsiteX0" fmla="*/ 59373 w 69216"/>
                  <a:gd name="connsiteY0" fmla="*/ 10360 h 69198"/>
                  <a:gd name="connsiteX1" fmla="*/ 58802 w 69216"/>
                  <a:gd name="connsiteY1" fmla="*/ 59319 h 69198"/>
                  <a:gd name="connsiteX2" fmla="*/ 9843 w 69216"/>
                  <a:gd name="connsiteY2" fmla="*/ 58747 h 69198"/>
                  <a:gd name="connsiteX3" fmla="*/ 10415 w 69216"/>
                  <a:gd name="connsiteY3" fmla="*/ 9884 h 69198"/>
                  <a:gd name="connsiteX4" fmla="*/ 59373 w 69216"/>
                  <a:gd name="connsiteY4" fmla="*/ 10408 h 6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16" h="69198">
                    <a:moveTo>
                      <a:pt x="59373" y="10360"/>
                    </a:moveTo>
                    <a:cubicBezTo>
                      <a:pt x="72756" y="24219"/>
                      <a:pt x="72423" y="46079"/>
                      <a:pt x="58802" y="59319"/>
                    </a:cubicBezTo>
                    <a:cubicBezTo>
                      <a:pt x="45086" y="72797"/>
                      <a:pt x="23226" y="72368"/>
                      <a:pt x="9843" y="58747"/>
                    </a:cubicBezTo>
                    <a:cubicBezTo>
                      <a:pt x="-3539" y="45127"/>
                      <a:pt x="-3206" y="23172"/>
                      <a:pt x="10415" y="9884"/>
                    </a:cubicBezTo>
                    <a:cubicBezTo>
                      <a:pt x="24131" y="-3498"/>
                      <a:pt x="45991" y="-3260"/>
                      <a:pt x="59373" y="1040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6" name="任意多边形: 形状 85"/>
              <p:cNvSpPr/>
              <p:nvPr/>
            </p:nvSpPr>
            <p:spPr>
              <a:xfrm>
                <a:off x="6373082" y="3395424"/>
                <a:ext cx="33670" cy="109013"/>
              </a:xfrm>
              <a:custGeom>
                <a:avLst/>
                <a:gdLst>
                  <a:gd name="connsiteX0" fmla="*/ 33671 w 33670"/>
                  <a:gd name="connsiteY0" fmla="*/ 13145 h 109013"/>
                  <a:gd name="connsiteX1" fmla="*/ 33671 w 33670"/>
                  <a:gd name="connsiteY1" fmla="*/ 95869 h 109013"/>
                  <a:gd name="connsiteX2" fmla="*/ 16859 w 33670"/>
                  <a:gd name="connsiteY2" fmla="*/ 109014 h 109013"/>
                  <a:gd name="connsiteX3" fmla="*/ 4953 w 33670"/>
                  <a:gd name="connsiteY3" fmla="*/ 105156 h 109013"/>
                  <a:gd name="connsiteX4" fmla="*/ 0 w 33670"/>
                  <a:gd name="connsiteY4" fmla="*/ 95869 h 109013"/>
                  <a:gd name="connsiteX5" fmla="*/ 0 w 33670"/>
                  <a:gd name="connsiteY5" fmla="*/ 13145 h 109013"/>
                  <a:gd name="connsiteX6" fmla="*/ 16859 w 33670"/>
                  <a:gd name="connsiteY6" fmla="*/ 0 h 109013"/>
                  <a:gd name="connsiteX7" fmla="*/ 28766 w 33670"/>
                  <a:gd name="connsiteY7" fmla="*/ 3858 h 109013"/>
                  <a:gd name="connsiteX8" fmla="*/ 33671 w 33670"/>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70" h="109013">
                    <a:moveTo>
                      <a:pt x="33671" y="13145"/>
                    </a:moveTo>
                    <a:lnTo>
                      <a:pt x="33671" y="95869"/>
                    </a:lnTo>
                    <a:cubicBezTo>
                      <a:pt x="33671" y="103013"/>
                      <a:pt x="26099" y="109014"/>
                      <a:pt x="16859" y="109014"/>
                    </a:cubicBezTo>
                    <a:cubicBezTo>
                      <a:pt x="12192" y="109014"/>
                      <a:pt x="8001" y="107537"/>
                      <a:pt x="4953" y="105156"/>
                    </a:cubicBezTo>
                    <a:cubicBezTo>
                      <a:pt x="1905" y="102775"/>
                      <a:pt x="0" y="99489"/>
                      <a:pt x="0" y="95869"/>
                    </a:cubicBezTo>
                    <a:lnTo>
                      <a:pt x="0" y="13145"/>
                    </a:lnTo>
                    <a:cubicBezTo>
                      <a:pt x="0" y="6001"/>
                      <a:pt x="7572" y="0"/>
                      <a:pt x="16859" y="0"/>
                    </a:cubicBezTo>
                    <a:cubicBezTo>
                      <a:pt x="21527" y="0"/>
                      <a:pt x="25718" y="1476"/>
                      <a:pt x="28766" y="3858"/>
                    </a:cubicBezTo>
                    <a:cubicBezTo>
                      <a:pt x="31814" y="6334"/>
                      <a:pt x="33671" y="9620"/>
                      <a:pt x="33671"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7" name="任意多边形: 形状 86"/>
              <p:cNvSpPr/>
              <p:nvPr/>
            </p:nvSpPr>
            <p:spPr>
              <a:xfrm>
                <a:off x="6306026" y="3530536"/>
                <a:ext cx="33766" cy="108965"/>
              </a:xfrm>
              <a:custGeom>
                <a:avLst/>
                <a:gdLst>
                  <a:gd name="connsiteX0" fmla="*/ 33766 w 33766"/>
                  <a:gd name="connsiteY0" fmla="*/ 13049 h 108965"/>
                  <a:gd name="connsiteX1" fmla="*/ 33766 w 33766"/>
                  <a:gd name="connsiteY1" fmla="*/ 95679 h 108965"/>
                  <a:gd name="connsiteX2" fmla="*/ 16859 w 33766"/>
                  <a:gd name="connsiteY2" fmla="*/ 108966 h 108965"/>
                  <a:gd name="connsiteX3" fmla="*/ 4953 w 33766"/>
                  <a:gd name="connsiteY3" fmla="*/ 105061 h 108965"/>
                  <a:gd name="connsiteX4" fmla="*/ 0 w 33766"/>
                  <a:gd name="connsiteY4" fmla="*/ 95679 h 108965"/>
                  <a:gd name="connsiteX5" fmla="*/ 0 w 33766"/>
                  <a:gd name="connsiteY5" fmla="*/ 13049 h 108965"/>
                  <a:gd name="connsiteX6" fmla="*/ 16859 w 33766"/>
                  <a:gd name="connsiteY6" fmla="*/ 0 h 108965"/>
                  <a:gd name="connsiteX7" fmla="*/ 28861 w 33766"/>
                  <a:gd name="connsiteY7" fmla="*/ 3858 h 108965"/>
                  <a:gd name="connsiteX8" fmla="*/ 33766 w 33766"/>
                  <a:gd name="connsiteY8" fmla="*/ 13049 h 1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6" h="108965">
                    <a:moveTo>
                      <a:pt x="33766" y="13049"/>
                    </a:moveTo>
                    <a:lnTo>
                      <a:pt x="33766" y="95679"/>
                    </a:lnTo>
                    <a:cubicBezTo>
                      <a:pt x="33766" y="102965"/>
                      <a:pt x="26194" y="108966"/>
                      <a:pt x="16859" y="108966"/>
                    </a:cubicBezTo>
                    <a:cubicBezTo>
                      <a:pt x="12192" y="108966"/>
                      <a:pt x="8001" y="107490"/>
                      <a:pt x="4953" y="105061"/>
                    </a:cubicBezTo>
                    <a:cubicBezTo>
                      <a:pt x="1905" y="102679"/>
                      <a:pt x="0" y="99393"/>
                      <a:pt x="0" y="95679"/>
                    </a:cubicBezTo>
                    <a:lnTo>
                      <a:pt x="0" y="13049"/>
                    </a:lnTo>
                    <a:cubicBezTo>
                      <a:pt x="0" y="5905"/>
                      <a:pt x="7572" y="0"/>
                      <a:pt x="16859" y="0"/>
                    </a:cubicBezTo>
                    <a:cubicBezTo>
                      <a:pt x="21526" y="0"/>
                      <a:pt x="25813" y="1476"/>
                      <a:pt x="28861" y="3858"/>
                    </a:cubicBezTo>
                    <a:cubicBezTo>
                      <a:pt x="31909" y="6239"/>
                      <a:pt x="33766" y="9525"/>
                      <a:pt x="33766" y="1304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8" name="任意多边形: 形状 87"/>
              <p:cNvSpPr/>
              <p:nvPr/>
            </p:nvSpPr>
            <p:spPr>
              <a:xfrm>
                <a:off x="6248923" y="3395471"/>
                <a:ext cx="67389" cy="108965"/>
              </a:xfrm>
              <a:custGeom>
                <a:avLst/>
                <a:gdLst>
                  <a:gd name="connsiteX0" fmla="*/ 46863 w 67389"/>
                  <a:gd name="connsiteY0" fmla="*/ 39148 h 108965"/>
                  <a:gd name="connsiteX1" fmla="*/ 36576 w 67389"/>
                  <a:gd name="connsiteY1" fmla="*/ 25098 h 108965"/>
                  <a:gd name="connsiteX2" fmla="*/ 30813 w 67389"/>
                  <a:gd name="connsiteY2" fmla="*/ 25098 h 108965"/>
                  <a:gd name="connsiteX3" fmla="*/ 20479 w 67389"/>
                  <a:gd name="connsiteY3" fmla="*/ 39148 h 108965"/>
                  <a:gd name="connsiteX4" fmla="*/ 20479 w 67389"/>
                  <a:gd name="connsiteY4" fmla="*/ 69056 h 108965"/>
                  <a:gd name="connsiteX5" fmla="*/ 30813 w 67389"/>
                  <a:gd name="connsiteY5" fmla="*/ 83201 h 108965"/>
                  <a:gd name="connsiteX6" fmla="*/ 36576 w 67389"/>
                  <a:gd name="connsiteY6" fmla="*/ 83201 h 108965"/>
                  <a:gd name="connsiteX7" fmla="*/ 46863 w 67389"/>
                  <a:gd name="connsiteY7" fmla="*/ 69056 h 108965"/>
                  <a:gd name="connsiteX8" fmla="*/ 46863 w 67389"/>
                  <a:gd name="connsiteY8" fmla="*/ 39148 h 108965"/>
                  <a:gd name="connsiteX9" fmla="*/ 67389 w 67389"/>
                  <a:gd name="connsiteY9" fmla="*/ 26432 h 108965"/>
                  <a:gd name="connsiteX10" fmla="*/ 67389 w 67389"/>
                  <a:gd name="connsiteY10" fmla="*/ 82677 h 108965"/>
                  <a:gd name="connsiteX11" fmla="*/ 41005 w 67389"/>
                  <a:gd name="connsiteY11" fmla="*/ 108966 h 108965"/>
                  <a:gd name="connsiteX12" fmla="*/ 26289 w 67389"/>
                  <a:gd name="connsiteY12" fmla="*/ 108966 h 108965"/>
                  <a:gd name="connsiteX13" fmla="*/ 0 w 67389"/>
                  <a:gd name="connsiteY13" fmla="*/ 82677 h 108965"/>
                  <a:gd name="connsiteX14" fmla="*/ 0 w 67389"/>
                  <a:gd name="connsiteY14" fmla="*/ 26432 h 108965"/>
                  <a:gd name="connsiteX15" fmla="*/ 26289 w 67389"/>
                  <a:gd name="connsiteY15" fmla="*/ 0 h 108965"/>
                  <a:gd name="connsiteX16" fmla="*/ 41005 w 67389"/>
                  <a:gd name="connsiteY16" fmla="*/ 0 h 108965"/>
                  <a:gd name="connsiteX17" fmla="*/ 67389 w 67389"/>
                  <a:gd name="connsiteY17" fmla="*/ 26432 h 1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89" h="108965">
                    <a:moveTo>
                      <a:pt x="46863" y="39148"/>
                    </a:moveTo>
                    <a:cubicBezTo>
                      <a:pt x="46863" y="31480"/>
                      <a:pt x="42243" y="25098"/>
                      <a:pt x="36576" y="25098"/>
                    </a:cubicBezTo>
                    <a:lnTo>
                      <a:pt x="30813" y="25098"/>
                    </a:lnTo>
                    <a:cubicBezTo>
                      <a:pt x="25146" y="25098"/>
                      <a:pt x="20479" y="31480"/>
                      <a:pt x="20479" y="39148"/>
                    </a:cubicBezTo>
                    <a:lnTo>
                      <a:pt x="20479" y="69056"/>
                    </a:lnTo>
                    <a:cubicBezTo>
                      <a:pt x="20479" y="76914"/>
                      <a:pt x="25146" y="83201"/>
                      <a:pt x="30813" y="83201"/>
                    </a:cubicBezTo>
                    <a:lnTo>
                      <a:pt x="36576" y="83201"/>
                    </a:lnTo>
                    <a:cubicBezTo>
                      <a:pt x="42243" y="83201"/>
                      <a:pt x="46863" y="76962"/>
                      <a:pt x="46863" y="69056"/>
                    </a:cubicBezTo>
                    <a:lnTo>
                      <a:pt x="46863" y="39148"/>
                    </a:lnTo>
                    <a:close/>
                    <a:moveTo>
                      <a:pt x="67389" y="26432"/>
                    </a:moveTo>
                    <a:lnTo>
                      <a:pt x="67389" y="82677"/>
                    </a:lnTo>
                    <a:cubicBezTo>
                      <a:pt x="67389" y="97155"/>
                      <a:pt x="55578" y="108966"/>
                      <a:pt x="41005" y="108966"/>
                    </a:cubicBezTo>
                    <a:lnTo>
                      <a:pt x="26289" y="108966"/>
                    </a:lnTo>
                    <a:cubicBezTo>
                      <a:pt x="11668" y="108966"/>
                      <a:pt x="0" y="97155"/>
                      <a:pt x="0" y="82677"/>
                    </a:cubicBezTo>
                    <a:lnTo>
                      <a:pt x="0" y="26432"/>
                    </a:lnTo>
                    <a:cubicBezTo>
                      <a:pt x="0" y="11906"/>
                      <a:pt x="11668" y="0"/>
                      <a:pt x="26289" y="0"/>
                    </a:cubicBezTo>
                    <a:lnTo>
                      <a:pt x="41005" y="0"/>
                    </a:lnTo>
                    <a:cubicBezTo>
                      <a:pt x="55531" y="0"/>
                      <a:pt x="67389" y="11906"/>
                      <a:pt x="67389" y="2643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9" name="任意多边形: 形状 88"/>
              <p:cNvSpPr/>
              <p:nvPr/>
            </p:nvSpPr>
            <p:spPr>
              <a:xfrm>
                <a:off x="6220110" y="3256835"/>
                <a:ext cx="33813" cy="109013"/>
              </a:xfrm>
              <a:custGeom>
                <a:avLst/>
                <a:gdLst>
                  <a:gd name="connsiteX0" fmla="*/ 33719 w 33813"/>
                  <a:gd name="connsiteY0" fmla="*/ 13192 h 109013"/>
                  <a:gd name="connsiteX1" fmla="*/ 33719 w 33813"/>
                  <a:gd name="connsiteY1" fmla="*/ 95822 h 109013"/>
                  <a:gd name="connsiteX2" fmla="*/ 16812 w 33813"/>
                  <a:gd name="connsiteY2" fmla="*/ 109014 h 109013"/>
                  <a:gd name="connsiteX3" fmla="*/ 5001 w 33813"/>
                  <a:gd name="connsiteY3" fmla="*/ 105156 h 109013"/>
                  <a:gd name="connsiteX4" fmla="*/ 0 w 33813"/>
                  <a:gd name="connsiteY4" fmla="*/ 95774 h 109013"/>
                  <a:gd name="connsiteX5" fmla="*/ 0 w 33813"/>
                  <a:gd name="connsiteY5" fmla="*/ 13145 h 109013"/>
                  <a:gd name="connsiteX6" fmla="*/ 16859 w 33813"/>
                  <a:gd name="connsiteY6" fmla="*/ 0 h 109013"/>
                  <a:gd name="connsiteX7" fmla="*/ 28861 w 33813"/>
                  <a:gd name="connsiteY7" fmla="*/ 3858 h 109013"/>
                  <a:gd name="connsiteX8" fmla="*/ 33814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719" y="13192"/>
                    </a:moveTo>
                    <a:lnTo>
                      <a:pt x="33719" y="95822"/>
                    </a:lnTo>
                    <a:cubicBezTo>
                      <a:pt x="33719" y="103108"/>
                      <a:pt x="26146" y="109014"/>
                      <a:pt x="16812" y="109014"/>
                    </a:cubicBezTo>
                    <a:cubicBezTo>
                      <a:pt x="12240" y="109014"/>
                      <a:pt x="8049" y="107537"/>
                      <a:pt x="5001" y="105156"/>
                    </a:cubicBezTo>
                    <a:cubicBezTo>
                      <a:pt x="1905" y="102775"/>
                      <a:pt x="0" y="99393"/>
                      <a:pt x="0" y="95774"/>
                    </a:cubicBezTo>
                    <a:lnTo>
                      <a:pt x="0" y="13145"/>
                    </a:lnTo>
                    <a:cubicBezTo>
                      <a:pt x="0" y="6001"/>
                      <a:pt x="7620" y="0"/>
                      <a:pt x="16859" y="0"/>
                    </a:cubicBezTo>
                    <a:cubicBezTo>
                      <a:pt x="21527" y="0"/>
                      <a:pt x="25718" y="1476"/>
                      <a:pt x="28861" y="3858"/>
                    </a:cubicBezTo>
                    <a:cubicBezTo>
                      <a:pt x="31909" y="6239"/>
                      <a:pt x="33814" y="9525"/>
                      <a:pt x="33814"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0" name="任意多边形: 形状 89"/>
              <p:cNvSpPr/>
              <p:nvPr/>
            </p:nvSpPr>
            <p:spPr>
              <a:xfrm>
                <a:off x="5925300" y="2819368"/>
                <a:ext cx="353134" cy="353106"/>
              </a:xfrm>
              <a:custGeom>
                <a:avLst/>
                <a:gdLst>
                  <a:gd name="connsiteX0" fmla="*/ 302907 w 353134"/>
                  <a:gd name="connsiteY0" fmla="*/ 53276 h 353106"/>
                  <a:gd name="connsiteX1" fmla="*/ 299859 w 353134"/>
                  <a:gd name="connsiteY1" fmla="*/ 303021 h 353106"/>
                  <a:gd name="connsiteX2" fmla="*/ 50256 w 353134"/>
                  <a:gd name="connsiteY2" fmla="*/ 299831 h 353106"/>
                  <a:gd name="connsiteX3" fmla="*/ 53209 w 353134"/>
                  <a:gd name="connsiteY3" fmla="*/ 50133 h 353106"/>
                  <a:gd name="connsiteX4" fmla="*/ 302907 w 353134"/>
                  <a:gd name="connsiteY4" fmla="*/ 53228 h 353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134" h="353106">
                    <a:moveTo>
                      <a:pt x="302907" y="53276"/>
                    </a:moveTo>
                    <a:cubicBezTo>
                      <a:pt x="371058" y="122999"/>
                      <a:pt x="369677" y="234870"/>
                      <a:pt x="299859" y="303021"/>
                    </a:cubicBezTo>
                    <a:cubicBezTo>
                      <a:pt x="230136" y="370935"/>
                      <a:pt x="118360" y="369696"/>
                      <a:pt x="50256" y="299831"/>
                    </a:cubicBezTo>
                    <a:cubicBezTo>
                      <a:pt x="-17847" y="230108"/>
                      <a:pt x="-16609" y="118236"/>
                      <a:pt x="53209" y="50133"/>
                    </a:cubicBezTo>
                    <a:cubicBezTo>
                      <a:pt x="123123" y="-17876"/>
                      <a:pt x="234803" y="-16542"/>
                      <a:pt x="302907" y="5322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1" name="任意多边形: 形状 90"/>
              <p:cNvSpPr/>
              <p:nvPr/>
            </p:nvSpPr>
            <p:spPr>
              <a:xfrm>
                <a:off x="6016715" y="3833054"/>
                <a:ext cx="205605" cy="205564"/>
              </a:xfrm>
              <a:custGeom>
                <a:avLst/>
                <a:gdLst>
                  <a:gd name="connsiteX0" fmla="*/ 176392 w 205605"/>
                  <a:gd name="connsiteY0" fmla="*/ 30953 h 205564"/>
                  <a:gd name="connsiteX1" fmla="*/ 174582 w 205605"/>
                  <a:gd name="connsiteY1" fmla="*/ 176257 h 205564"/>
                  <a:gd name="connsiteX2" fmla="*/ 29278 w 205605"/>
                  <a:gd name="connsiteY2" fmla="*/ 174637 h 205564"/>
                  <a:gd name="connsiteX3" fmla="*/ 30993 w 205605"/>
                  <a:gd name="connsiteY3" fmla="*/ 29238 h 205564"/>
                  <a:gd name="connsiteX4" fmla="*/ 176344 w 205605"/>
                  <a:gd name="connsiteY4" fmla="*/ 31000 h 205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605" h="205564">
                    <a:moveTo>
                      <a:pt x="176392" y="30953"/>
                    </a:moveTo>
                    <a:cubicBezTo>
                      <a:pt x="216016" y="71624"/>
                      <a:pt x="215254" y="136633"/>
                      <a:pt x="174582" y="176257"/>
                    </a:cubicBezTo>
                    <a:cubicBezTo>
                      <a:pt x="134006" y="216023"/>
                      <a:pt x="68855" y="215166"/>
                      <a:pt x="29278" y="174637"/>
                    </a:cubicBezTo>
                    <a:cubicBezTo>
                      <a:pt x="-10393" y="133870"/>
                      <a:pt x="-9679" y="68862"/>
                      <a:pt x="30993" y="29238"/>
                    </a:cubicBezTo>
                    <a:cubicBezTo>
                      <a:pt x="71665" y="-10481"/>
                      <a:pt x="136720" y="-9576"/>
                      <a:pt x="176344" y="31000"/>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2" name="任意多边形: 形状 91"/>
              <p:cNvSpPr/>
              <p:nvPr/>
            </p:nvSpPr>
            <p:spPr>
              <a:xfrm>
                <a:off x="6174628" y="3531441"/>
                <a:ext cx="67341" cy="109013"/>
              </a:xfrm>
              <a:custGeom>
                <a:avLst/>
                <a:gdLst>
                  <a:gd name="connsiteX0" fmla="*/ 20526 w 67341"/>
                  <a:gd name="connsiteY0" fmla="*/ 69009 h 109013"/>
                  <a:gd name="connsiteX1" fmla="*/ 30813 w 67341"/>
                  <a:gd name="connsiteY1" fmla="*/ 83058 h 109013"/>
                  <a:gd name="connsiteX2" fmla="*/ 36576 w 67341"/>
                  <a:gd name="connsiteY2" fmla="*/ 83058 h 109013"/>
                  <a:gd name="connsiteX3" fmla="*/ 46815 w 67341"/>
                  <a:gd name="connsiteY3" fmla="*/ 69009 h 109013"/>
                  <a:gd name="connsiteX4" fmla="*/ 46815 w 67341"/>
                  <a:gd name="connsiteY4" fmla="*/ 39005 h 109013"/>
                  <a:gd name="connsiteX5" fmla="*/ 36576 w 67341"/>
                  <a:gd name="connsiteY5" fmla="*/ 25146 h 109013"/>
                  <a:gd name="connsiteX6" fmla="*/ 30813 w 67341"/>
                  <a:gd name="connsiteY6" fmla="*/ 25146 h 109013"/>
                  <a:gd name="connsiteX7" fmla="*/ 20526 w 67341"/>
                  <a:gd name="connsiteY7" fmla="*/ 39005 h 109013"/>
                  <a:gd name="connsiteX8" fmla="*/ 20526 w 67341"/>
                  <a:gd name="connsiteY8" fmla="*/ 69009 h 109013"/>
                  <a:gd name="connsiteX9" fmla="*/ 0 w 67341"/>
                  <a:gd name="connsiteY9" fmla="*/ 26289 h 109013"/>
                  <a:gd name="connsiteX10" fmla="*/ 26384 w 67341"/>
                  <a:gd name="connsiteY10" fmla="*/ 0 h 109013"/>
                  <a:gd name="connsiteX11" fmla="*/ 41005 w 67341"/>
                  <a:gd name="connsiteY11" fmla="*/ 0 h 109013"/>
                  <a:gd name="connsiteX12" fmla="*/ 67342 w 67341"/>
                  <a:gd name="connsiteY12" fmla="*/ 26289 h 109013"/>
                  <a:gd name="connsiteX13" fmla="*/ 67342 w 67341"/>
                  <a:gd name="connsiteY13" fmla="*/ 82629 h 109013"/>
                  <a:gd name="connsiteX14" fmla="*/ 41005 w 67341"/>
                  <a:gd name="connsiteY14" fmla="*/ 109014 h 109013"/>
                  <a:gd name="connsiteX15" fmla="*/ 26384 w 67341"/>
                  <a:gd name="connsiteY15" fmla="*/ 109014 h 109013"/>
                  <a:gd name="connsiteX16" fmla="*/ 0 w 67341"/>
                  <a:gd name="connsiteY16" fmla="*/ 82629 h 109013"/>
                  <a:gd name="connsiteX17" fmla="*/ 0 w 67341"/>
                  <a:gd name="connsiteY17" fmla="*/ 26289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41" h="109013">
                    <a:moveTo>
                      <a:pt x="20526" y="69009"/>
                    </a:moveTo>
                    <a:cubicBezTo>
                      <a:pt x="20526" y="76819"/>
                      <a:pt x="25146" y="83058"/>
                      <a:pt x="30813" y="83058"/>
                    </a:cubicBezTo>
                    <a:lnTo>
                      <a:pt x="36576" y="83058"/>
                    </a:lnTo>
                    <a:cubicBezTo>
                      <a:pt x="42243" y="83058"/>
                      <a:pt x="46815" y="76819"/>
                      <a:pt x="46815" y="69009"/>
                    </a:cubicBezTo>
                    <a:lnTo>
                      <a:pt x="46815" y="39005"/>
                    </a:lnTo>
                    <a:cubicBezTo>
                      <a:pt x="46815" y="31385"/>
                      <a:pt x="42243" y="25146"/>
                      <a:pt x="36576" y="25146"/>
                    </a:cubicBezTo>
                    <a:lnTo>
                      <a:pt x="30813" y="25146"/>
                    </a:lnTo>
                    <a:cubicBezTo>
                      <a:pt x="25146" y="25146"/>
                      <a:pt x="20526" y="31385"/>
                      <a:pt x="20526" y="39005"/>
                    </a:cubicBezTo>
                    <a:lnTo>
                      <a:pt x="20526" y="69009"/>
                    </a:lnTo>
                    <a:close/>
                    <a:moveTo>
                      <a:pt x="0" y="26289"/>
                    </a:moveTo>
                    <a:cubicBezTo>
                      <a:pt x="0" y="11763"/>
                      <a:pt x="11859" y="0"/>
                      <a:pt x="26384" y="0"/>
                    </a:cubicBezTo>
                    <a:lnTo>
                      <a:pt x="41005" y="0"/>
                    </a:lnTo>
                    <a:cubicBezTo>
                      <a:pt x="55626" y="0"/>
                      <a:pt x="67342" y="11763"/>
                      <a:pt x="67342" y="26289"/>
                    </a:cubicBezTo>
                    <a:lnTo>
                      <a:pt x="67342" y="82629"/>
                    </a:lnTo>
                    <a:cubicBezTo>
                      <a:pt x="67342" y="97107"/>
                      <a:pt x="55626" y="109014"/>
                      <a:pt x="41005" y="109014"/>
                    </a:cubicBezTo>
                    <a:lnTo>
                      <a:pt x="26384" y="109014"/>
                    </a:lnTo>
                    <a:cubicBezTo>
                      <a:pt x="11859" y="109014"/>
                      <a:pt x="0" y="97107"/>
                      <a:pt x="0" y="82629"/>
                    </a:cubicBezTo>
                    <a:lnTo>
                      <a:pt x="0" y="26289"/>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3" name="任意多边形: 形状 92"/>
              <p:cNvSpPr/>
              <p:nvPr/>
            </p:nvSpPr>
            <p:spPr>
              <a:xfrm>
                <a:off x="6131385" y="3395424"/>
                <a:ext cx="33813" cy="109013"/>
              </a:xfrm>
              <a:custGeom>
                <a:avLst/>
                <a:gdLst>
                  <a:gd name="connsiteX0" fmla="*/ 33814 w 33813"/>
                  <a:gd name="connsiteY0" fmla="*/ 13145 h 109013"/>
                  <a:gd name="connsiteX1" fmla="*/ 33814 w 33813"/>
                  <a:gd name="connsiteY1" fmla="*/ 95869 h 109013"/>
                  <a:gd name="connsiteX2" fmla="*/ 16955 w 33813"/>
                  <a:gd name="connsiteY2" fmla="*/ 109014 h 109013"/>
                  <a:gd name="connsiteX3" fmla="*/ 4953 w 33813"/>
                  <a:gd name="connsiteY3" fmla="*/ 105156 h 109013"/>
                  <a:gd name="connsiteX4" fmla="*/ 0 w 33813"/>
                  <a:gd name="connsiteY4" fmla="*/ 95869 h 109013"/>
                  <a:gd name="connsiteX5" fmla="*/ 0 w 33813"/>
                  <a:gd name="connsiteY5" fmla="*/ 13145 h 109013"/>
                  <a:gd name="connsiteX6" fmla="*/ 16907 w 33813"/>
                  <a:gd name="connsiteY6" fmla="*/ 0 h 109013"/>
                  <a:gd name="connsiteX7" fmla="*/ 28718 w 33813"/>
                  <a:gd name="connsiteY7" fmla="*/ 3858 h 109013"/>
                  <a:gd name="connsiteX8" fmla="*/ 33719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814" y="13145"/>
                    </a:moveTo>
                    <a:lnTo>
                      <a:pt x="33814" y="95869"/>
                    </a:lnTo>
                    <a:cubicBezTo>
                      <a:pt x="33814" y="103013"/>
                      <a:pt x="26194" y="109014"/>
                      <a:pt x="16955" y="109014"/>
                    </a:cubicBezTo>
                    <a:cubicBezTo>
                      <a:pt x="12192" y="109014"/>
                      <a:pt x="8001" y="107537"/>
                      <a:pt x="4953" y="105156"/>
                    </a:cubicBezTo>
                    <a:cubicBezTo>
                      <a:pt x="1905" y="102775"/>
                      <a:pt x="0" y="99489"/>
                      <a:pt x="0" y="95869"/>
                    </a:cubicBezTo>
                    <a:lnTo>
                      <a:pt x="0" y="13145"/>
                    </a:lnTo>
                    <a:cubicBezTo>
                      <a:pt x="0" y="6001"/>
                      <a:pt x="7477" y="0"/>
                      <a:pt x="16907" y="0"/>
                    </a:cubicBezTo>
                    <a:cubicBezTo>
                      <a:pt x="21527" y="0"/>
                      <a:pt x="25718" y="1476"/>
                      <a:pt x="28718" y="3858"/>
                    </a:cubicBezTo>
                    <a:cubicBezTo>
                      <a:pt x="31861" y="6334"/>
                      <a:pt x="33719" y="9620"/>
                      <a:pt x="33719"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4" name="任意多边形: 形状 93"/>
              <p:cNvSpPr/>
              <p:nvPr/>
            </p:nvSpPr>
            <p:spPr>
              <a:xfrm>
                <a:off x="6080045" y="3256359"/>
                <a:ext cx="33718" cy="108918"/>
              </a:xfrm>
              <a:custGeom>
                <a:avLst/>
                <a:gdLst>
                  <a:gd name="connsiteX0" fmla="*/ 33718 w 33718"/>
                  <a:gd name="connsiteY0" fmla="*/ 13145 h 108918"/>
                  <a:gd name="connsiteX1" fmla="*/ 33718 w 33718"/>
                  <a:gd name="connsiteY1" fmla="*/ 95679 h 108918"/>
                  <a:gd name="connsiteX2" fmla="*/ 16859 w 33718"/>
                  <a:gd name="connsiteY2" fmla="*/ 108918 h 108918"/>
                  <a:gd name="connsiteX3" fmla="*/ 4953 w 33718"/>
                  <a:gd name="connsiteY3" fmla="*/ 105061 h 108918"/>
                  <a:gd name="connsiteX4" fmla="*/ 0 w 33718"/>
                  <a:gd name="connsiteY4" fmla="*/ 95679 h 108918"/>
                  <a:gd name="connsiteX5" fmla="*/ 0 w 33718"/>
                  <a:gd name="connsiteY5" fmla="*/ 13145 h 108918"/>
                  <a:gd name="connsiteX6" fmla="*/ 16812 w 33718"/>
                  <a:gd name="connsiteY6" fmla="*/ 0 h 108918"/>
                  <a:gd name="connsiteX7" fmla="*/ 28718 w 33718"/>
                  <a:gd name="connsiteY7" fmla="*/ 3858 h 108918"/>
                  <a:gd name="connsiteX8" fmla="*/ 33623 w 33718"/>
                  <a:gd name="connsiteY8" fmla="*/ 13145 h 108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18" h="108918">
                    <a:moveTo>
                      <a:pt x="33718" y="13145"/>
                    </a:moveTo>
                    <a:lnTo>
                      <a:pt x="33718" y="95679"/>
                    </a:lnTo>
                    <a:cubicBezTo>
                      <a:pt x="33718" y="103061"/>
                      <a:pt x="26146" y="108918"/>
                      <a:pt x="16859" y="108918"/>
                    </a:cubicBezTo>
                    <a:cubicBezTo>
                      <a:pt x="12192" y="108918"/>
                      <a:pt x="8001" y="107442"/>
                      <a:pt x="4953" y="105061"/>
                    </a:cubicBezTo>
                    <a:cubicBezTo>
                      <a:pt x="1905" y="102679"/>
                      <a:pt x="0" y="99393"/>
                      <a:pt x="0" y="95679"/>
                    </a:cubicBezTo>
                    <a:lnTo>
                      <a:pt x="0" y="13145"/>
                    </a:lnTo>
                    <a:cubicBezTo>
                      <a:pt x="0" y="5810"/>
                      <a:pt x="7477" y="0"/>
                      <a:pt x="16812" y="0"/>
                    </a:cubicBezTo>
                    <a:cubicBezTo>
                      <a:pt x="21431" y="0"/>
                      <a:pt x="25670" y="1476"/>
                      <a:pt x="28718" y="3858"/>
                    </a:cubicBezTo>
                    <a:cubicBezTo>
                      <a:pt x="31766" y="6239"/>
                      <a:pt x="33623" y="9525"/>
                      <a:pt x="33623"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5" name="任意多边形: 形状 94"/>
              <p:cNvSpPr/>
              <p:nvPr/>
            </p:nvSpPr>
            <p:spPr>
              <a:xfrm>
                <a:off x="6027801" y="3531060"/>
                <a:ext cx="33813" cy="109013"/>
              </a:xfrm>
              <a:custGeom>
                <a:avLst/>
                <a:gdLst>
                  <a:gd name="connsiteX0" fmla="*/ 33814 w 33813"/>
                  <a:gd name="connsiteY0" fmla="*/ 13192 h 109013"/>
                  <a:gd name="connsiteX1" fmla="*/ 33814 w 33813"/>
                  <a:gd name="connsiteY1" fmla="*/ 95822 h 109013"/>
                  <a:gd name="connsiteX2" fmla="*/ 16907 w 33813"/>
                  <a:gd name="connsiteY2" fmla="*/ 109014 h 109013"/>
                  <a:gd name="connsiteX3" fmla="*/ 5001 w 33813"/>
                  <a:gd name="connsiteY3" fmla="*/ 105156 h 109013"/>
                  <a:gd name="connsiteX4" fmla="*/ 0 w 33813"/>
                  <a:gd name="connsiteY4" fmla="*/ 95774 h 109013"/>
                  <a:gd name="connsiteX5" fmla="*/ 0 w 33813"/>
                  <a:gd name="connsiteY5" fmla="*/ 13145 h 109013"/>
                  <a:gd name="connsiteX6" fmla="*/ 16907 w 33813"/>
                  <a:gd name="connsiteY6" fmla="*/ 0 h 109013"/>
                  <a:gd name="connsiteX7" fmla="*/ 28813 w 33813"/>
                  <a:gd name="connsiteY7" fmla="*/ 3858 h 109013"/>
                  <a:gd name="connsiteX8" fmla="*/ 33814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814" y="13192"/>
                    </a:moveTo>
                    <a:lnTo>
                      <a:pt x="33814" y="95822"/>
                    </a:lnTo>
                    <a:cubicBezTo>
                      <a:pt x="33814" y="103108"/>
                      <a:pt x="26194" y="109014"/>
                      <a:pt x="16907" y="109014"/>
                    </a:cubicBezTo>
                    <a:cubicBezTo>
                      <a:pt x="12287" y="109014"/>
                      <a:pt x="8049" y="107537"/>
                      <a:pt x="5001" y="105156"/>
                    </a:cubicBezTo>
                    <a:cubicBezTo>
                      <a:pt x="1857" y="102775"/>
                      <a:pt x="0" y="99489"/>
                      <a:pt x="0" y="95774"/>
                    </a:cubicBezTo>
                    <a:lnTo>
                      <a:pt x="0" y="13145"/>
                    </a:lnTo>
                    <a:cubicBezTo>
                      <a:pt x="0" y="5858"/>
                      <a:pt x="7620" y="0"/>
                      <a:pt x="16907" y="0"/>
                    </a:cubicBezTo>
                    <a:cubicBezTo>
                      <a:pt x="21526" y="0"/>
                      <a:pt x="25765" y="1476"/>
                      <a:pt x="28813" y="3858"/>
                    </a:cubicBezTo>
                    <a:cubicBezTo>
                      <a:pt x="31909" y="6144"/>
                      <a:pt x="33814" y="9430"/>
                      <a:pt x="33814"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6" name="任意多边形: 形状 95"/>
              <p:cNvSpPr/>
              <p:nvPr/>
            </p:nvSpPr>
            <p:spPr>
              <a:xfrm>
                <a:off x="5976032" y="3395424"/>
                <a:ext cx="33766" cy="109013"/>
              </a:xfrm>
              <a:custGeom>
                <a:avLst/>
                <a:gdLst>
                  <a:gd name="connsiteX0" fmla="*/ 33766 w 33766"/>
                  <a:gd name="connsiteY0" fmla="*/ 13145 h 109013"/>
                  <a:gd name="connsiteX1" fmla="*/ 33766 w 33766"/>
                  <a:gd name="connsiteY1" fmla="*/ 95869 h 109013"/>
                  <a:gd name="connsiteX2" fmla="*/ 16907 w 33766"/>
                  <a:gd name="connsiteY2" fmla="*/ 109014 h 109013"/>
                  <a:gd name="connsiteX3" fmla="*/ 5001 w 33766"/>
                  <a:gd name="connsiteY3" fmla="*/ 105156 h 109013"/>
                  <a:gd name="connsiteX4" fmla="*/ 0 w 33766"/>
                  <a:gd name="connsiteY4" fmla="*/ 95869 h 109013"/>
                  <a:gd name="connsiteX5" fmla="*/ 0 w 33766"/>
                  <a:gd name="connsiteY5" fmla="*/ 13145 h 109013"/>
                  <a:gd name="connsiteX6" fmla="*/ 16907 w 33766"/>
                  <a:gd name="connsiteY6" fmla="*/ 0 h 109013"/>
                  <a:gd name="connsiteX7" fmla="*/ 28813 w 33766"/>
                  <a:gd name="connsiteY7" fmla="*/ 3858 h 109013"/>
                  <a:gd name="connsiteX8" fmla="*/ 33766 w 33766"/>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6" h="109013">
                    <a:moveTo>
                      <a:pt x="33766" y="13145"/>
                    </a:moveTo>
                    <a:lnTo>
                      <a:pt x="33766" y="95869"/>
                    </a:lnTo>
                    <a:cubicBezTo>
                      <a:pt x="33766" y="103013"/>
                      <a:pt x="26289" y="109014"/>
                      <a:pt x="16907" y="109014"/>
                    </a:cubicBezTo>
                    <a:cubicBezTo>
                      <a:pt x="12287" y="109014"/>
                      <a:pt x="8049" y="107537"/>
                      <a:pt x="5001" y="105156"/>
                    </a:cubicBezTo>
                    <a:cubicBezTo>
                      <a:pt x="1905" y="102775"/>
                      <a:pt x="0" y="99489"/>
                      <a:pt x="0" y="95869"/>
                    </a:cubicBezTo>
                    <a:lnTo>
                      <a:pt x="0" y="13145"/>
                    </a:lnTo>
                    <a:cubicBezTo>
                      <a:pt x="0" y="6001"/>
                      <a:pt x="7620" y="0"/>
                      <a:pt x="16907" y="0"/>
                    </a:cubicBezTo>
                    <a:cubicBezTo>
                      <a:pt x="21574" y="0"/>
                      <a:pt x="25765" y="1476"/>
                      <a:pt x="28813" y="3858"/>
                    </a:cubicBezTo>
                    <a:cubicBezTo>
                      <a:pt x="31861" y="6334"/>
                      <a:pt x="33766" y="9620"/>
                      <a:pt x="33766"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7" name="任意多边形: 形状 96"/>
              <p:cNvSpPr/>
              <p:nvPr/>
            </p:nvSpPr>
            <p:spPr>
              <a:xfrm>
                <a:off x="5966745" y="3255216"/>
                <a:ext cx="67389" cy="109061"/>
              </a:xfrm>
              <a:custGeom>
                <a:avLst/>
                <a:gdLst>
                  <a:gd name="connsiteX0" fmla="*/ 0 w 67389"/>
                  <a:gd name="connsiteY0" fmla="*/ 82534 h 109061"/>
                  <a:gd name="connsiteX1" fmla="*/ 0 w 67389"/>
                  <a:gd name="connsiteY1" fmla="*/ 26432 h 109061"/>
                  <a:gd name="connsiteX2" fmla="*/ 26384 w 67389"/>
                  <a:gd name="connsiteY2" fmla="*/ 0 h 109061"/>
                  <a:gd name="connsiteX3" fmla="*/ 41100 w 67389"/>
                  <a:gd name="connsiteY3" fmla="*/ 0 h 109061"/>
                  <a:gd name="connsiteX4" fmla="*/ 67389 w 67389"/>
                  <a:gd name="connsiteY4" fmla="*/ 26432 h 109061"/>
                  <a:gd name="connsiteX5" fmla="*/ 67389 w 67389"/>
                  <a:gd name="connsiteY5" fmla="*/ 82534 h 109061"/>
                  <a:gd name="connsiteX6" fmla="*/ 41100 w 67389"/>
                  <a:gd name="connsiteY6" fmla="*/ 109061 h 109061"/>
                  <a:gd name="connsiteX7" fmla="*/ 26384 w 67389"/>
                  <a:gd name="connsiteY7" fmla="*/ 109061 h 109061"/>
                  <a:gd name="connsiteX8" fmla="*/ 0 w 67389"/>
                  <a:gd name="connsiteY8" fmla="*/ 82534 h 109061"/>
                  <a:gd name="connsiteX9" fmla="*/ 46911 w 67389"/>
                  <a:gd name="connsiteY9" fmla="*/ 39243 h 109061"/>
                  <a:gd name="connsiteX10" fmla="*/ 36576 w 67389"/>
                  <a:gd name="connsiteY10" fmla="*/ 25098 h 109061"/>
                  <a:gd name="connsiteX11" fmla="*/ 30813 w 67389"/>
                  <a:gd name="connsiteY11" fmla="*/ 25098 h 109061"/>
                  <a:gd name="connsiteX12" fmla="*/ 20526 w 67389"/>
                  <a:gd name="connsiteY12" fmla="*/ 39243 h 109061"/>
                  <a:gd name="connsiteX13" fmla="*/ 20526 w 67389"/>
                  <a:gd name="connsiteY13" fmla="*/ 69151 h 109061"/>
                  <a:gd name="connsiteX14" fmla="*/ 30813 w 67389"/>
                  <a:gd name="connsiteY14" fmla="*/ 83296 h 109061"/>
                  <a:gd name="connsiteX15" fmla="*/ 36576 w 67389"/>
                  <a:gd name="connsiteY15" fmla="*/ 83296 h 109061"/>
                  <a:gd name="connsiteX16" fmla="*/ 46911 w 67389"/>
                  <a:gd name="connsiteY16" fmla="*/ 69151 h 109061"/>
                  <a:gd name="connsiteX17" fmla="*/ 46911 w 67389"/>
                  <a:gd name="connsiteY17" fmla="*/ 39243 h 109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89" h="109061">
                    <a:moveTo>
                      <a:pt x="0" y="82534"/>
                    </a:moveTo>
                    <a:lnTo>
                      <a:pt x="0" y="26432"/>
                    </a:lnTo>
                    <a:cubicBezTo>
                      <a:pt x="0" y="11906"/>
                      <a:pt x="11716" y="0"/>
                      <a:pt x="26384" y="0"/>
                    </a:cubicBezTo>
                    <a:lnTo>
                      <a:pt x="41100" y="0"/>
                    </a:lnTo>
                    <a:cubicBezTo>
                      <a:pt x="55626" y="0"/>
                      <a:pt x="67389" y="11906"/>
                      <a:pt x="67389" y="26432"/>
                    </a:cubicBezTo>
                    <a:lnTo>
                      <a:pt x="67389" y="82534"/>
                    </a:lnTo>
                    <a:cubicBezTo>
                      <a:pt x="67389" y="97060"/>
                      <a:pt x="55626" y="109061"/>
                      <a:pt x="41100" y="109061"/>
                    </a:cubicBezTo>
                    <a:lnTo>
                      <a:pt x="26384" y="109061"/>
                    </a:lnTo>
                    <a:cubicBezTo>
                      <a:pt x="11763" y="109061"/>
                      <a:pt x="0" y="97060"/>
                      <a:pt x="0" y="82534"/>
                    </a:cubicBezTo>
                    <a:close/>
                    <a:moveTo>
                      <a:pt x="46911" y="39243"/>
                    </a:moveTo>
                    <a:cubicBezTo>
                      <a:pt x="46911" y="31528"/>
                      <a:pt x="42243" y="25098"/>
                      <a:pt x="36576" y="25098"/>
                    </a:cubicBezTo>
                    <a:lnTo>
                      <a:pt x="30813" y="25098"/>
                    </a:lnTo>
                    <a:cubicBezTo>
                      <a:pt x="25241" y="25098"/>
                      <a:pt x="20526" y="31480"/>
                      <a:pt x="20526" y="39243"/>
                    </a:cubicBezTo>
                    <a:lnTo>
                      <a:pt x="20526" y="69151"/>
                    </a:lnTo>
                    <a:cubicBezTo>
                      <a:pt x="20526" y="76819"/>
                      <a:pt x="25241" y="83296"/>
                      <a:pt x="30813" y="83296"/>
                    </a:cubicBezTo>
                    <a:lnTo>
                      <a:pt x="36576" y="83296"/>
                    </a:lnTo>
                    <a:cubicBezTo>
                      <a:pt x="42243" y="83296"/>
                      <a:pt x="46911" y="76819"/>
                      <a:pt x="46911" y="69151"/>
                    </a:cubicBezTo>
                    <a:lnTo>
                      <a:pt x="46911" y="39243"/>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8" name="任意多边形: 形状 97"/>
              <p:cNvSpPr/>
              <p:nvPr/>
            </p:nvSpPr>
            <p:spPr>
              <a:xfrm>
                <a:off x="5900594" y="3528726"/>
                <a:ext cx="33670" cy="109013"/>
              </a:xfrm>
              <a:custGeom>
                <a:avLst/>
                <a:gdLst>
                  <a:gd name="connsiteX0" fmla="*/ 33623 w 33670"/>
                  <a:gd name="connsiteY0" fmla="*/ 13240 h 109013"/>
                  <a:gd name="connsiteX1" fmla="*/ 33623 w 33670"/>
                  <a:gd name="connsiteY1" fmla="*/ 95964 h 109013"/>
                  <a:gd name="connsiteX2" fmla="*/ 16716 w 33670"/>
                  <a:gd name="connsiteY2" fmla="*/ 109014 h 109013"/>
                  <a:gd name="connsiteX3" fmla="*/ 4905 w 33670"/>
                  <a:gd name="connsiteY3" fmla="*/ 105156 h 109013"/>
                  <a:gd name="connsiteX4" fmla="*/ 0 w 33670"/>
                  <a:gd name="connsiteY4" fmla="*/ 95964 h 109013"/>
                  <a:gd name="connsiteX5" fmla="*/ 0 w 33670"/>
                  <a:gd name="connsiteY5" fmla="*/ 13240 h 109013"/>
                  <a:gd name="connsiteX6" fmla="*/ 16764 w 33670"/>
                  <a:gd name="connsiteY6" fmla="*/ 0 h 109013"/>
                  <a:gd name="connsiteX7" fmla="*/ 28766 w 33670"/>
                  <a:gd name="connsiteY7" fmla="*/ 3858 h 109013"/>
                  <a:gd name="connsiteX8" fmla="*/ 33671 w 33670"/>
                  <a:gd name="connsiteY8" fmla="*/ 13192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70" h="109013">
                    <a:moveTo>
                      <a:pt x="33623" y="13240"/>
                    </a:moveTo>
                    <a:lnTo>
                      <a:pt x="33623" y="95964"/>
                    </a:lnTo>
                    <a:cubicBezTo>
                      <a:pt x="33623" y="103108"/>
                      <a:pt x="26051" y="109014"/>
                      <a:pt x="16716" y="109014"/>
                    </a:cubicBezTo>
                    <a:cubicBezTo>
                      <a:pt x="12097" y="109014"/>
                      <a:pt x="7906" y="107537"/>
                      <a:pt x="4905" y="105156"/>
                    </a:cubicBezTo>
                    <a:cubicBezTo>
                      <a:pt x="1857" y="102775"/>
                      <a:pt x="0" y="99584"/>
                      <a:pt x="0" y="95964"/>
                    </a:cubicBezTo>
                    <a:lnTo>
                      <a:pt x="0" y="13240"/>
                    </a:lnTo>
                    <a:cubicBezTo>
                      <a:pt x="0" y="5953"/>
                      <a:pt x="7572" y="0"/>
                      <a:pt x="16764" y="0"/>
                    </a:cubicBezTo>
                    <a:cubicBezTo>
                      <a:pt x="21431" y="0"/>
                      <a:pt x="25718" y="1476"/>
                      <a:pt x="28766" y="3858"/>
                    </a:cubicBezTo>
                    <a:cubicBezTo>
                      <a:pt x="31814" y="6239"/>
                      <a:pt x="33671" y="9525"/>
                      <a:pt x="33671" y="1319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1" name="任意多边形: 形状 100"/>
              <p:cNvSpPr/>
              <p:nvPr/>
            </p:nvSpPr>
            <p:spPr>
              <a:xfrm>
                <a:off x="5720170" y="3712805"/>
                <a:ext cx="239470" cy="239471"/>
              </a:xfrm>
              <a:custGeom>
                <a:avLst/>
                <a:gdLst>
                  <a:gd name="connsiteX0" fmla="*/ 205427 w 239470"/>
                  <a:gd name="connsiteY0" fmla="*/ 36139 h 239471"/>
                  <a:gd name="connsiteX1" fmla="*/ 203379 w 239470"/>
                  <a:gd name="connsiteY1" fmla="*/ 205494 h 239471"/>
                  <a:gd name="connsiteX2" fmla="*/ 34025 w 239470"/>
                  <a:gd name="connsiteY2" fmla="*/ 203350 h 239471"/>
                  <a:gd name="connsiteX3" fmla="*/ 36073 w 239470"/>
                  <a:gd name="connsiteY3" fmla="*/ 33996 h 239471"/>
                  <a:gd name="connsiteX4" fmla="*/ 205427 w 239470"/>
                  <a:gd name="connsiteY4" fmla="*/ 36139 h 239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470" h="239471">
                    <a:moveTo>
                      <a:pt x="205427" y="36139"/>
                    </a:moveTo>
                    <a:cubicBezTo>
                      <a:pt x="251671" y="83383"/>
                      <a:pt x="250623" y="159345"/>
                      <a:pt x="203379" y="205494"/>
                    </a:cubicBezTo>
                    <a:cubicBezTo>
                      <a:pt x="156088" y="251595"/>
                      <a:pt x="80269" y="250690"/>
                      <a:pt x="34025" y="203350"/>
                    </a:cubicBezTo>
                    <a:cubicBezTo>
                      <a:pt x="-12124" y="155964"/>
                      <a:pt x="-11219" y="80145"/>
                      <a:pt x="36073" y="33996"/>
                    </a:cubicBezTo>
                    <a:cubicBezTo>
                      <a:pt x="83364" y="-12153"/>
                      <a:pt x="159279" y="-11200"/>
                      <a:pt x="205427" y="3613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2" name="任意多边形: 形状 101"/>
              <p:cNvSpPr/>
              <p:nvPr/>
            </p:nvSpPr>
            <p:spPr>
              <a:xfrm>
                <a:off x="5575744" y="3017293"/>
                <a:ext cx="317772" cy="317718"/>
              </a:xfrm>
              <a:custGeom>
                <a:avLst/>
                <a:gdLst>
                  <a:gd name="connsiteX0" fmla="*/ 272606 w 317772"/>
                  <a:gd name="connsiteY0" fmla="*/ 47947 h 317718"/>
                  <a:gd name="connsiteX1" fmla="*/ 269796 w 317772"/>
                  <a:gd name="connsiteY1" fmla="*/ 272594 h 317718"/>
                  <a:gd name="connsiteX2" fmla="*/ 45149 w 317772"/>
                  <a:gd name="connsiteY2" fmla="*/ 269880 h 317718"/>
                  <a:gd name="connsiteX3" fmla="*/ 47959 w 317772"/>
                  <a:gd name="connsiteY3" fmla="*/ 45090 h 317718"/>
                  <a:gd name="connsiteX4" fmla="*/ 272606 w 317772"/>
                  <a:gd name="connsiteY4" fmla="*/ 47947 h 31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772" h="317718">
                    <a:moveTo>
                      <a:pt x="272606" y="47947"/>
                    </a:moveTo>
                    <a:cubicBezTo>
                      <a:pt x="333899" y="110669"/>
                      <a:pt x="332661" y="211253"/>
                      <a:pt x="269796" y="272594"/>
                    </a:cubicBezTo>
                    <a:cubicBezTo>
                      <a:pt x="207026" y="333793"/>
                      <a:pt x="106442" y="332602"/>
                      <a:pt x="45149" y="269880"/>
                    </a:cubicBezTo>
                    <a:cubicBezTo>
                      <a:pt x="-16097" y="206967"/>
                      <a:pt x="-14906" y="106383"/>
                      <a:pt x="47959" y="45090"/>
                    </a:cubicBezTo>
                    <a:cubicBezTo>
                      <a:pt x="110728" y="-16108"/>
                      <a:pt x="211217" y="-14870"/>
                      <a:pt x="272606" y="47947"/>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4" name="任意多边形: 形状 103"/>
              <p:cNvSpPr/>
              <p:nvPr/>
            </p:nvSpPr>
            <p:spPr>
              <a:xfrm>
                <a:off x="5511636" y="3400379"/>
                <a:ext cx="291029" cy="291052"/>
              </a:xfrm>
              <a:custGeom>
                <a:avLst/>
                <a:gdLst>
                  <a:gd name="connsiteX0" fmla="*/ 249655 w 291029"/>
                  <a:gd name="connsiteY0" fmla="*/ 43909 h 291052"/>
                  <a:gd name="connsiteX1" fmla="*/ 247084 w 291029"/>
                  <a:gd name="connsiteY1" fmla="*/ 249791 h 291052"/>
                  <a:gd name="connsiteX2" fmla="*/ 41344 w 291029"/>
                  <a:gd name="connsiteY2" fmla="*/ 247172 h 291052"/>
                  <a:gd name="connsiteX3" fmla="*/ 43868 w 291029"/>
                  <a:gd name="connsiteY3" fmla="*/ 41337 h 291052"/>
                  <a:gd name="connsiteX4" fmla="*/ 249608 w 291029"/>
                  <a:gd name="connsiteY4" fmla="*/ 43909 h 29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029" h="291052">
                    <a:moveTo>
                      <a:pt x="249655" y="43909"/>
                    </a:moveTo>
                    <a:cubicBezTo>
                      <a:pt x="305805" y="101392"/>
                      <a:pt x="304662" y="193546"/>
                      <a:pt x="247084" y="249791"/>
                    </a:cubicBezTo>
                    <a:cubicBezTo>
                      <a:pt x="189648" y="305798"/>
                      <a:pt x="97541" y="304656"/>
                      <a:pt x="41344" y="247172"/>
                    </a:cubicBezTo>
                    <a:cubicBezTo>
                      <a:pt x="-14759" y="189593"/>
                      <a:pt x="-13616" y="97534"/>
                      <a:pt x="43868" y="41337"/>
                    </a:cubicBezTo>
                    <a:cubicBezTo>
                      <a:pt x="101351" y="-14670"/>
                      <a:pt x="193506" y="-13718"/>
                      <a:pt x="249608" y="4390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05" name="组合 104"/>
          <p:cNvGrpSpPr/>
          <p:nvPr/>
        </p:nvGrpSpPr>
        <p:grpSpPr>
          <a:xfrm>
            <a:off x="7973804" y="3274126"/>
            <a:ext cx="548270" cy="548270"/>
            <a:chOff x="8081091" y="3239401"/>
            <a:chExt cx="548270" cy="548270"/>
          </a:xfrm>
        </p:grpSpPr>
        <p:sp>
          <p:nvSpPr>
            <p:cNvPr id="106" name="椭圆 105"/>
            <p:cNvSpPr/>
            <p:nvPr/>
          </p:nvSpPr>
          <p:spPr>
            <a:xfrm>
              <a:off x="8081091" y="3239401"/>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grpSp>
          <p:nvGrpSpPr>
            <p:cNvPr id="107" name="图形 107"/>
            <p:cNvGrpSpPr/>
            <p:nvPr/>
          </p:nvGrpSpPr>
          <p:grpSpPr>
            <a:xfrm>
              <a:off x="8171903" y="3325316"/>
              <a:ext cx="366647" cy="284919"/>
              <a:chOff x="12435839" y="-1086848"/>
              <a:chExt cx="1218877" cy="947183"/>
            </a:xfrm>
            <a:solidFill>
              <a:srgbClr val="333333"/>
            </a:solidFill>
          </p:grpSpPr>
          <p:sp>
            <p:nvSpPr>
              <p:cNvPr id="108" name="任意多边形: 形状 107"/>
              <p:cNvSpPr/>
              <p:nvPr/>
            </p:nvSpPr>
            <p:spPr>
              <a:xfrm>
                <a:off x="12904983" y="-617891"/>
                <a:ext cx="280564" cy="280563"/>
              </a:xfrm>
              <a:custGeom>
                <a:avLst/>
                <a:gdLst>
                  <a:gd name="connsiteX0" fmla="*/ 244760 w 280564"/>
                  <a:gd name="connsiteY0" fmla="*/ 140284 h 280563"/>
                  <a:gd name="connsiteX1" fmla="*/ 140323 w 280564"/>
                  <a:gd name="connsiteY1" fmla="*/ 244821 h 280563"/>
                  <a:gd name="connsiteX2" fmla="*/ 35801 w 280564"/>
                  <a:gd name="connsiteY2" fmla="*/ 140360 h 280563"/>
                  <a:gd name="connsiteX3" fmla="*/ 140280 w 280564"/>
                  <a:gd name="connsiteY3" fmla="*/ 35862 h 280563"/>
                  <a:gd name="connsiteX4" fmla="*/ 244760 w 280564"/>
                  <a:gd name="connsiteY4" fmla="*/ 140284 h 280563"/>
                  <a:gd name="connsiteX5" fmla="*/ 0 w 280564"/>
                  <a:gd name="connsiteY5" fmla="*/ 140284 h 280563"/>
                  <a:gd name="connsiteX6" fmla="*/ 140280 w 280564"/>
                  <a:gd name="connsiteY6" fmla="*/ 280564 h 280563"/>
                  <a:gd name="connsiteX7" fmla="*/ 280565 w 280564"/>
                  <a:gd name="connsiteY7" fmla="*/ 140284 h 280563"/>
                  <a:gd name="connsiteX8" fmla="*/ 140280 w 280564"/>
                  <a:gd name="connsiteY8" fmla="*/ 0 h 280563"/>
                  <a:gd name="connsiteX9" fmla="*/ 0 w 280564"/>
                  <a:gd name="connsiteY9" fmla="*/ 140284 h 280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64" h="280563">
                    <a:moveTo>
                      <a:pt x="244760" y="140284"/>
                    </a:moveTo>
                    <a:cubicBezTo>
                      <a:pt x="244798" y="197996"/>
                      <a:pt x="198031" y="244797"/>
                      <a:pt x="140323" y="244821"/>
                    </a:cubicBezTo>
                    <a:cubicBezTo>
                      <a:pt x="82611" y="244845"/>
                      <a:pt x="35815" y="198072"/>
                      <a:pt x="35801" y="140360"/>
                    </a:cubicBezTo>
                    <a:cubicBezTo>
                      <a:pt x="35791" y="82653"/>
                      <a:pt x="82568" y="35862"/>
                      <a:pt x="140280" y="35862"/>
                    </a:cubicBezTo>
                    <a:cubicBezTo>
                      <a:pt x="197935" y="35928"/>
                      <a:pt x="244660" y="82629"/>
                      <a:pt x="244760" y="140284"/>
                    </a:cubicBezTo>
                    <a:close/>
                    <a:moveTo>
                      <a:pt x="0" y="140284"/>
                    </a:moveTo>
                    <a:cubicBezTo>
                      <a:pt x="0" y="217761"/>
                      <a:pt x="62804" y="280564"/>
                      <a:pt x="140280" y="280564"/>
                    </a:cubicBezTo>
                    <a:cubicBezTo>
                      <a:pt x="217761" y="280564"/>
                      <a:pt x="280565" y="217761"/>
                      <a:pt x="280565" y="140284"/>
                    </a:cubicBezTo>
                    <a:cubicBezTo>
                      <a:pt x="280565" y="62808"/>
                      <a:pt x="217761" y="0"/>
                      <a:pt x="140280" y="0"/>
                    </a:cubicBezTo>
                    <a:cubicBezTo>
                      <a:pt x="62885" y="195"/>
                      <a:pt x="193" y="62889"/>
                      <a:pt x="0" y="140284"/>
                    </a:cubicBezTo>
                    <a:close/>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9" name="任意多边形: 形状 108"/>
              <p:cNvSpPr/>
              <p:nvPr/>
            </p:nvSpPr>
            <p:spPr>
              <a:xfrm>
                <a:off x="12679211" y="-843328"/>
                <a:ext cx="732032" cy="572222"/>
              </a:xfrm>
              <a:custGeom>
                <a:avLst/>
                <a:gdLst>
                  <a:gd name="connsiteX0" fmla="*/ 657013 w 732032"/>
                  <a:gd name="connsiteY0" fmla="*/ 557749 h 572222"/>
                  <a:gd name="connsiteX1" fmla="*/ 681564 w 732032"/>
                  <a:gd name="connsiteY1" fmla="*/ 551420 h 572222"/>
                  <a:gd name="connsiteX2" fmla="*/ 598191 w 732032"/>
                  <a:gd name="connsiteY2" fmla="*/ 83075 h 572222"/>
                  <a:gd name="connsiteX3" fmla="*/ 122586 w 732032"/>
                  <a:gd name="connsiteY3" fmla="*/ 92686 h 572222"/>
                  <a:gd name="connsiteX4" fmla="*/ 58207 w 732032"/>
                  <a:gd name="connsiteY4" fmla="*/ 564017 h 572222"/>
                  <a:gd name="connsiteX5" fmla="*/ 73325 w 732032"/>
                  <a:gd name="connsiteY5" fmla="*/ 572223 h 572222"/>
                  <a:gd name="connsiteX6" fmla="*/ 82994 w 732032"/>
                  <a:gd name="connsiteY6" fmla="*/ 569351 h 572222"/>
                  <a:gd name="connsiteX7" fmla="*/ 90910 w 732032"/>
                  <a:gd name="connsiteY7" fmla="*/ 558116 h 572222"/>
                  <a:gd name="connsiteX8" fmla="*/ 88326 w 732032"/>
                  <a:gd name="connsiteY8" fmla="*/ 544624 h 572222"/>
                  <a:gd name="connsiteX9" fmla="*/ 146655 w 732032"/>
                  <a:gd name="connsiteY9" fmla="*/ 119504 h 572222"/>
                  <a:gd name="connsiteX10" fmla="*/ 575670 w 732032"/>
                  <a:gd name="connsiteY10" fmla="*/ 110975 h 572222"/>
                  <a:gd name="connsiteX11" fmla="*/ 650860 w 732032"/>
                  <a:gd name="connsiteY11" fmla="*/ 533432 h 572222"/>
                  <a:gd name="connsiteX12" fmla="*/ 648917 w 732032"/>
                  <a:gd name="connsiteY12" fmla="*/ 547024 h 572222"/>
                  <a:gd name="connsiteX13" fmla="*/ 657189 w 732032"/>
                  <a:gd name="connsiteY13" fmla="*/ 557983 h 572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032" h="572222">
                    <a:moveTo>
                      <a:pt x="657013" y="557749"/>
                    </a:moveTo>
                    <a:cubicBezTo>
                      <a:pt x="665538" y="562783"/>
                      <a:pt x="676534" y="559945"/>
                      <a:pt x="681564" y="551420"/>
                    </a:cubicBezTo>
                    <a:cubicBezTo>
                      <a:pt x="772856" y="396067"/>
                      <a:pt x="737485" y="197385"/>
                      <a:pt x="598191" y="83075"/>
                    </a:cubicBezTo>
                    <a:cubicBezTo>
                      <a:pt x="458907" y="-31233"/>
                      <a:pt x="257139" y="-27154"/>
                      <a:pt x="122586" y="92686"/>
                    </a:cubicBezTo>
                    <a:cubicBezTo>
                      <a:pt x="-11970" y="212530"/>
                      <a:pt x="-39281" y="412479"/>
                      <a:pt x="58207" y="564017"/>
                    </a:cubicBezTo>
                    <a:cubicBezTo>
                      <a:pt x="61520" y="569151"/>
                      <a:pt x="67218" y="572242"/>
                      <a:pt x="73325" y="572223"/>
                    </a:cubicBezTo>
                    <a:cubicBezTo>
                      <a:pt x="76760" y="572227"/>
                      <a:pt x="80121" y="571232"/>
                      <a:pt x="82994" y="569351"/>
                    </a:cubicBezTo>
                    <a:cubicBezTo>
                      <a:pt x="87047" y="566836"/>
                      <a:pt x="89904" y="562783"/>
                      <a:pt x="90910" y="558116"/>
                    </a:cubicBezTo>
                    <a:cubicBezTo>
                      <a:pt x="91916" y="553454"/>
                      <a:pt x="90983" y="548586"/>
                      <a:pt x="88326" y="544624"/>
                    </a:cubicBezTo>
                    <a:cubicBezTo>
                      <a:pt x="497" y="407874"/>
                      <a:pt x="25239" y="227546"/>
                      <a:pt x="146655" y="119504"/>
                    </a:cubicBezTo>
                    <a:cubicBezTo>
                      <a:pt x="268074" y="11468"/>
                      <a:pt x="450054" y="7847"/>
                      <a:pt x="575670" y="110975"/>
                    </a:cubicBezTo>
                    <a:cubicBezTo>
                      <a:pt x="701285" y="214092"/>
                      <a:pt x="733184" y="393296"/>
                      <a:pt x="650860" y="533432"/>
                    </a:cubicBezTo>
                    <a:cubicBezTo>
                      <a:pt x="648431" y="537523"/>
                      <a:pt x="647731" y="542414"/>
                      <a:pt x="648917" y="547024"/>
                    </a:cubicBezTo>
                    <a:cubicBezTo>
                      <a:pt x="650103" y="551630"/>
                      <a:pt x="653079" y="555573"/>
                      <a:pt x="657189" y="557983"/>
                    </a:cubicBezTo>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0" name="任意多边形: 形状 109"/>
              <p:cNvSpPr/>
              <p:nvPr/>
            </p:nvSpPr>
            <p:spPr>
              <a:xfrm>
                <a:off x="12435839" y="-1086848"/>
                <a:ext cx="1218877" cy="947183"/>
              </a:xfrm>
              <a:custGeom>
                <a:avLst/>
                <a:gdLst>
                  <a:gd name="connsiteX0" fmla="*/ 1110148 w 1218877"/>
                  <a:gd name="connsiteY0" fmla="*/ 924737 h 947183"/>
                  <a:gd name="connsiteX1" fmla="*/ 1123741 w 1218877"/>
                  <a:gd name="connsiteY1" fmla="*/ 926685 h 947183"/>
                  <a:gd name="connsiteX2" fmla="*/ 1134699 w 1218877"/>
                  <a:gd name="connsiteY2" fmla="*/ 918413 h 947183"/>
                  <a:gd name="connsiteX3" fmla="*/ 996239 w 1218877"/>
                  <a:gd name="connsiteY3" fmla="*/ 138491 h 947183"/>
                  <a:gd name="connsiteX4" fmla="*/ 204277 w 1218877"/>
                  <a:gd name="connsiteY4" fmla="*/ 154186 h 947183"/>
                  <a:gd name="connsiteX5" fmla="*/ 96823 w 1218877"/>
                  <a:gd name="connsiteY5" fmla="*/ 938977 h 947183"/>
                  <a:gd name="connsiteX6" fmla="*/ 111941 w 1218877"/>
                  <a:gd name="connsiteY6" fmla="*/ 947183 h 947183"/>
                  <a:gd name="connsiteX7" fmla="*/ 121610 w 1218877"/>
                  <a:gd name="connsiteY7" fmla="*/ 944368 h 947183"/>
                  <a:gd name="connsiteX8" fmla="*/ 127001 w 1218877"/>
                  <a:gd name="connsiteY8" fmla="*/ 919584 h 947183"/>
                  <a:gd name="connsiteX9" fmla="*/ 228116 w 1218877"/>
                  <a:gd name="connsiteY9" fmla="*/ 180979 h 947183"/>
                  <a:gd name="connsiteX10" fmla="*/ 973460 w 1218877"/>
                  <a:gd name="connsiteY10" fmla="*/ 166179 h 947183"/>
                  <a:gd name="connsiteX11" fmla="*/ 1103819 w 1218877"/>
                  <a:gd name="connsiteY11" fmla="*/ 900187 h 947183"/>
                  <a:gd name="connsiteX12" fmla="*/ 1110148 w 1218877"/>
                  <a:gd name="connsiteY12" fmla="*/ 924737 h 947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8877" h="947183">
                    <a:moveTo>
                      <a:pt x="1110148" y="924737"/>
                    </a:moveTo>
                    <a:cubicBezTo>
                      <a:pt x="1114235" y="927171"/>
                      <a:pt x="1119131" y="927866"/>
                      <a:pt x="1123741" y="926685"/>
                    </a:cubicBezTo>
                    <a:cubicBezTo>
                      <a:pt x="1128346" y="925495"/>
                      <a:pt x="1132289" y="922518"/>
                      <a:pt x="1134699" y="918413"/>
                    </a:cubicBezTo>
                    <a:cubicBezTo>
                      <a:pt x="1286828" y="659795"/>
                      <a:pt x="1228092" y="328933"/>
                      <a:pt x="996239" y="138491"/>
                    </a:cubicBezTo>
                    <a:cubicBezTo>
                      <a:pt x="764381" y="-51948"/>
                      <a:pt x="428405" y="-45291"/>
                      <a:pt x="204277" y="154186"/>
                    </a:cubicBezTo>
                    <a:cubicBezTo>
                      <a:pt x="-19851" y="353661"/>
                      <a:pt x="-65437" y="686598"/>
                      <a:pt x="96823" y="938977"/>
                    </a:cubicBezTo>
                    <a:cubicBezTo>
                      <a:pt x="100136" y="944111"/>
                      <a:pt x="105833" y="947197"/>
                      <a:pt x="111941" y="947183"/>
                    </a:cubicBezTo>
                    <a:cubicBezTo>
                      <a:pt x="115369" y="947207"/>
                      <a:pt x="118730" y="946226"/>
                      <a:pt x="121610" y="944368"/>
                    </a:cubicBezTo>
                    <a:cubicBezTo>
                      <a:pt x="129917" y="938996"/>
                      <a:pt x="132326" y="927919"/>
                      <a:pt x="127001" y="919584"/>
                    </a:cubicBezTo>
                    <a:cubicBezTo>
                      <a:pt x="-25711" y="682059"/>
                      <a:pt x="17186" y="368720"/>
                      <a:pt x="228116" y="180979"/>
                    </a:cubicBezTo>
                    <a:cubicBezTo>
                      <a:pt x="439046" y="-6763"/>
                      <a:pt x="755247" y="-13041"/>
                      <a:pt x="973460" y="166179"/>
                    </a:cubicBezTo>
                    <a:cubicBezTo>
                      <a:pt x="1191678" y="345398"/>
                      <a:pt x="1246985" y="656785"/>
                      <a:pt x="1103819" y="900187"/>
                    </a:cubicBezTo>
                    <a:cubicBezTo>
                      <a:pt x="1098785" y="908711"/>
                      <a:pt x="1101619" y="919703"/>
                      <a:pt x="1110148" y="924737"/>
                    </a:cubicBezTo>
                    <a:close/>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sp>
        <p:nvSpPr>
          <p:cNvPr id="111" name="文本框 110"/>
          <p:cNvSpPr txBox="1"/>
          <p:nvPr/>
        </p:nvSpPr>
        <p:spPr>
          <a:xfrm>
            <a:off x="3437080" y="3874463"/>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全域数据</a:t>
            </a:r>
          </a:p>
        </p:txBody>
      </p:sp>
      <p:sp>
        <p:nvSpPr>
          <p:cNvPr id="112" name="文本框 111"/>
          <p:cNvSpPr txBox="1"/>
          <p:nvPr/>
        </p:nvSpPr>
        <p:spPr>
          <a:xfrm>
            <a:off x="5588412" y="4098942"/>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核心触电</a:t>
            </a:r>
          </a:p>
        </p:txBody>
      </p:sp>
      <p:sp>
        <p:nvSpPr>
          <p:cNvPr id="113" name="文本框 112"/>
          <p:cNvSpPr txBox="1"/>
          <p:nvPr/>
        </p:nvSpPr>
        <p:spPr>
          <a:xfrm>
            <a:off x="7575259" y="3884320"/>
            <a:ext cx="133133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全场景覆盖</a:t>
            </a:r>
          </a:p>
        </p:txBody>
      </p:sp>
      <p:sp>
        <p:nvSpPr>
          <p:cNvPr id="114" name="文本框 113"/>
          <p:cNvSpPr txBox="1"/>
          <p:nvPr/>
        </p:nvSpPr>
        <p:spPr>
          <a:xfrm>
            <a:off x="4844144" y="2897680"/>
            <a:ext cx="248339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cs typeface="+mn-ea"/>
                <a:sym typeface="+mn-lt"/>
              </a:rPr>
              <a:t>OS</a:t>
            </a:r>
            <a:r>
              <a:rPr kumimoji="0" lang="zh-CN" altLang="en-US" sz="1800" b="0" i="0" u="none" strike="noStrike" kern="1200" cap="none" spc="0" normalizeH="0" baseline="0" noProof="0" dirty="0">
                <a:ln>
                  <a:noFill/>
                </a:ln>
                <a:solidFill>
                  <a:prstClr val="white"/>
                </a:solidFill>
                <a:effectLst/>
                <a:uLnTx/>
                <a:uFillTx/>
                <a:cs typeface="+mn-ea"/>
                <a:sym typeface="+mn-lt"/>
              </a:rPr>
              <a:t>操作系统</a:t>
            </a:r>
          </a:p>
        </p:txBody>
      </p:sp>
      <p:sp>
        <p:nvSpPr>
          <p:cNvPr id="115" name="任意多边形: 形状 114"/>
          <p:cNvSpPr/>
          <p:nvPr/>
        </p:nvSpPr>
        <p:spPr>
          <a:xfrm>
            <a:off x="9004233" y="2573372"/>
            <a:ext cx="1099074" cy="1229178"/>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16" name="任意多边形: 形状 115"/>
          <p:cNvSpPr/>
          <p:nvPr/>
        </p:nvSpPr>
        <p:spPr>
          <a:xfrm rot="16200000" flipH="1" flipV="1">
            <a:off x="2086799" y="2459145"/>
            <a:ext cx="1099074" cy="1229178"/>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17" name="等腰三角形 116"/>
          <p:cNvSpPr/>
          <p:nvPr/>
        </p:nvSpPr>
        <p:spPr>
          <a:xfrm rot="15730062">
            <a:off x="7722854" y="4337124"/>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等腰三角形 140"/>
          <p:cNvSpPr/>
          <p:nvPr/>
        </p:nvSpPr>
        <p:spPr>
          <a:xfrm rot="16200000">
            <a:off x="5965401" y="4408084"/>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4" name="等腰三角形 143"/>
          <p:cNvSpPr/>
          <p:nvPr/>
        </p:nvSpPr>
        <p:spPr>
          <a:xfrm rot="16980244">
            <a:off x="4089848" y="4331040"/>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45" name="组合 144"/>
          <p:cNvGrpSpPr/>
          <p:nvPr/>
        </p:nvGrpSpPr>
        <p:grpSpPr>
          <a:xfrm>
            <a:off x="1501127" y="2761105"/>
            <a:ext cx="1213725" cy="1067344"/>
            <a:chOff x="1501127" y="2726380"/>
            <a:chExt cx="1213725" cy="1067344"/>
          </a:xfrm>
        </p:grpSpPr>
        <p:grpSp>
          <p:nvGrpSpPr>
            <p:cNvPr id="147" name="组合 146"/>
            <p:cNvGrpSpPr/>
            <p:nvPr/>
          </p:nvGrpSpPr>
          <p:grpSpPr>
            <a:xfrm>
              <a:off x="1501127" y="2726380"/>
              <a:ext cx="494552" cy="480467"/>
              <a:chOff x="2281062" y="3633591"/>
              <a:chExt cx="564342" cy="548270"/>
            </a:xfrm>
          </p:grpSpPr>
          <p:sp>
            <p:nvSpPr>
              <p:cNvPr id="163" name="椭圆 162"/>
              <p:cNvSpPr/>
              <p:nvPr/>
            </p:nvSpPr>
            <p:spPr>
              <a:xfrm>
                <a:off x="2289098" y="3633591"/>
                <a:ext cx="548270"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2281062" y="3776921"/>
                <a:ext cx="564342" cy="2809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全面</a:t>
                </a:r>
              </a:p>
            </p:txBody>
          </p:sp>
        </p:grpSp>
        <p:grpSp>
          <p:nvGrpSpPr>
            <p:cNvPr id="150" name="组合 149"/>
            <p:cNvGrpSpPr/>
            <p:nvPr/>
          </p:nvGrpSpPr>
          <p:grpSpPr>
            <a:xfrm>
              <a:off x="1810885" y="3184458"/>
              <a:ext cx="491345" cy="386656"/>
              <a:chOff x="2281062" y="3633591"/>
              <a:chExt cx="696716" cy="548270"/>
            </a:xfrm>
          </p:grpSpPr>
          <p:sp>
            <p:nvSpPr>
              <p:cNvPr id="159" name="椭圆 158"/>
              <p:cNvSpPr/>
              <p:nvPr/>
            </p:nvSpPr>
            <p:spPr>
              <a:xfrm>
                <a:off x="2355285" y="3633591"/>
                <a:ext cx="548269"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1" name="文本框 160"/>
              <p:cNvSpPr txBox="1"/>
              <p:nvPr/>
            </p:nvSpPr>
            <p:spPr>
              <a:xfrm>
                <a:off x="2281062" y="3733700"/>
                <a:ext cx="696716" cy="3491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准确</a:t>
                </a:r>
              </a:p>
            </p:txBody>
          </p:sp>
        </p:grpSp>
        <p:grpSp>
          <p:nvGrpSpPr>
            <p:cNvPr id="152" name="组合 151"/>
            <p:cNvGrpSpPr/>
            <p:nvPr/>
          </p:nvGrpSpPr>
          <p:grpSpPr>
            <a:xfrm>
              <a:off x="2223507" y="3464217"/>
              <a:ext cx="491345" cy="329507"/>
              <a:chOff x="2221892" y="3633591"/>
              <a:chExt cx="817552" cy="548270"/>
            </a:xfrm>
          </p:grpSpPr>
          <p:sp>
            <p:nvSpPr>
              <p:cNvPr id="154" name="椭圆 153"/>
              <p:cNvSpPr/>
              <p:nvPr/>
            </p:nvSpPr>
            <p:spPr>
              <a:xfrm>
                <a:off x="2355285" y="3633591"/>
                <a:ext cx="548269"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55" name="文本框 154"/>
              <p:cNvSpPr txBox="1"/>
              <p:nvPr/>
            </p:nvSpPr>
            <p:spPr>
              <a:xfrm>
                <a:off x="2221892" y="3708342"/>
                <a:ext cx="817552" cy="4096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实时</a:t>
                </a:r>
              </a:p>
            </p:txBody>
          </p:sp>
        </p:grpSp>
      </p:grpSp>
      <p:sp>
        <p:nvSpPr>
          <p:cNvPr id="166" name="椭圆 165"/>
          <p:cNvSpPr/>
          <p:nvPr/>
        </p:nvSpPr>
        <p:spPr>
          <a:xfrm>
            <a:off x="5204989" y="969182"/>
            <a:ext cx="1782023" cy="1782023"/>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7" name="椭圆 166"/>
          <p:cNvSpPr/>
          <p:nvPr/>
        </p:nvSpPr>
        <p:spPr>
          <a:xfrm>
            <a:off x="5297724" y="1061917"/>
            <a:ext cx="1596552" cy="159655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8" name="文本框 167"/>
          <p:cNvSpPr txBox="1"/>
          <p:nvPr/>
        </p:nvSpPr>
        <p:spPr>
          <a:xfrm>
            <a:off x="5204989" y="1881983"/>
            <a:ext cx="178202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1C4273"/>
                </a:solidFill>
                <a:effectLst/>
                <a:uLnTx/>
                <a:uFillTx/>
                <a:cs typeface="+mn-ea"/>
                <a:sym typeface="+mn-lt"/>
              </a:rPr>
              <a:t>智能移动终端</a:t>
            </a:r>
          </a:p>
        </p:txBody>
      </p:sp>
      <p:sp>
        <p:nvSpPr>
          <p:cNvPr id="170" name="任意多边形: 形状 169"/>
          <p:cNvSpPr/>
          <p:nvPr/>
        </p:nvSpPr>
        <p:spPr>
          <a:xfrm>
            <a:off x="5916863" y="1158648"/>
            <a:ext cx="358274" cy="630392"/>
          </a:xfrm>
          <a:custGeom>
            <a:avLst/>
            <a:gdLst>
              <a:gd name="connsiteX0" fmla="*/ 327184 w 692753"/>
              <a:gd name="connsiteY0" fmla="*/ 1097898 h 1218914"/>
              <a:gd name="connsiteX1" fmla="*/ 321231 w 692753"/>
              <a:gd name="connsiteY1" fmla="*/ 1103852 h 1218914"/>
              <a:gd name="connsiteX2" fmla="*/ 321231 w 692753"/>
              <a:gd name="connsiteY2" fmla="*/ 1142190 h 1218914"/>
              <a:gd name="connsiteX3" fmla="*/ 327184 w 692753"/>
              <a:gd name="connsiteY3" fmla="*/ 1148143 h 1218914"/>
              <a:gd name="connsiteX4" fmla="*/ 365522 w 692753"/>
              <a:gd name="connsiteY4" fmla="*/ 1148143 h 1218914"/>
              <a:gd name="connsiteX5" fmla="*/ 371475 w 692753"/>
              <a:gd name="connsiteY5" fmla="*/ 1142190 h 1218914"/>
              <a:gd name="connsiteX6" fmla="*/ 371475 w 692753"/>
              <a:gd name="connsiteY6" fmla="*/ 1103852 h 1218914"/>
              <a:gd name="connsiteX7" fmla="*/ 365522 w 692753"/>
              <a:gd name="connsiteY7" fmla="*/ 1097898 h 1218914"/>
              <a:gd name="connsiteX8" fmla="*/ 327184 w 692753"/>
              <a:gd name="connsiteY8" fmla="*/ 1074848 h 1218914"/>
              <a:gd name="connsiteX9" fmla="*/ 365522 w 692753"/>
              <a:gd name="connsiteY9" fmla="*/ 1074848 h 1218914"/>
              <a:gd name="connsiteX10" fmla="*/ 394525 w 692753"/>
              <a:gd name="connsiteY10" fmla="*/ 1103852 h 1218914"/>
              <a:gd name="connsiteX11" fmla="*/ 394525 w 692753"/>
              <a:gd name="connsiteY11" fmla="*/ 1142190 h 1218914"/>
              <a:gd name="connsiteX12" fmla="*/ 365522 w 692753"/>
              <a:gd name="connsiteY12" fmla="*/ 1171193 h 1218914"/>
              <a:gd name="connsiteX13" fmla="*/ 327184 w 692753"/>
              <a:gd name="connsiteY13" fmla="*/ 1171193 h 1218914"/>
              <a:gd name="connsiteX14" fmla="*/ 298180 w 692753"/>
              <a:gd name="connsiteY14" fmla="*/ 1142190 h 1218914"/>
              <a:gd name="connsiteX15" fmla="*/ 298180 w 692753"/>
              <a:gd name="connsiteY15" fmla="*/ 1103852 h 1218914"/>
              <a:gd name="connsiteX16" fmla="*/ 327184 w 692753"/>
              <a:gd name="connsiteY16" fmla="*/ 1074848 h 1218914"/>
              <a:gd name="connsiteX17" fmla="*/ 76295 w 692753"/>
              <a:gd name="connsiteY17" fmla="*/ 121824 h 1218914"/>
              <a:gd name="connsiteX18" fmla="*/ 616458 w 692753"/>
              <a:gd name="connsiteY18" fmla="*/ 121824 h 1218914"/>
              <a:gd name="connsiteX19" fmla="*/ 632841 w 692753"/>
              <a:gd name="connsiteY19" fmla="*/ 138207 h 1218914"/>
              <a:gd name="connsiteX20" fmla="*/ 632841 w 692753"/>
              <a:gd name="connsiteY20" fmla="*/ 1038320 h 1218914"/>
              <a:gd name="connsiteX21" fmla="*/ 632841 w 692753"/>
              <a:gd name="connsiteY21" fmla="*/ 1038367 h 1218914"/>
              <a:gd name="connsiteX22" fmla="*/ 616458 w 692753"/>
              <a:gd name="connsiteY22" fmla="*/ 1054750 h 1218914"/>
              <a:gd name="connsiteX23" fmla="*/ 76295 w 692753"/>
              <a:gd name="connsiteY23" fmla="*/ 1054750 h 1218914"/>
              <a:gd name="connsiteX24" fmla="*/ 59912 w 692753"/>
              <a:gd name="connsiteY24" fmla="*/ 1038367 h 1218914"/>
              <a:gd name="connsiteX25" fmla="*/ 59912 w 692753"/>
              <a:gd name="connsiteY25" fmla="*/ 1038320 h 1218914"/>
              <a:gd name="connsiteX26" fmla="*/ 59912 w 692753"/>
              <a:gd name="connsiteY26" fmla="*/ 138255 h 1218914"/>
              <a:gd name="connsiteX27" fmla="*/ 59912 w 692753"/>
              <a:gd name="connsiteY27" fmla="*/ 138207 h 1218914"/>
              <a:gd name="connsiteX28" fmla="*/ 76295 w 692753"/>
              <a:gd name="connsiteY28" fmla="*/ 121824 h 1218914"/>
              <a:gd name="connsiteX29" fmla="*/ 259652 w 692753"/>
              <a:gd name="connsiteY29" fmla="*/ 65770 h 1218914"/>
              <a:gd name="connsiteX30" fmla="*/ 433054 w 692753"/>
              <a:gd name="connsiteY30" fmla="*/ 65770 h 1218914"/>
              <a:gd name="connsiteX31" fmla="*/ 444770 w 692753"/>
              <a:gd name="connsiteY31" fmla="*/ 78676 h 1218914"/>
              <a:gd name="connsiteX32" fmla="*/ 433054 w 692753"/>
              <a:gd name="connsiteY32" fmla="*/ 91583 h 1218914"/>
              <a:gd name="connsiteX33" fmla="*/ 259652 w 692753"/>
              <a:gd name="connsiteY33" fmla="*/ 91583 h 1218914"/>
              <a:gd name="connsiteX34" fmla="*/ 247936 w 692753"/>
              <a:gd name="connsiteY34" fmla="*/ 78676 h 1218914"/>
              <a:gd name="connsiteX35" fmla="*/ 259652 w 692753"/>
              <a:gd name="connsiteY35" fmla="*/ 65770 h 1218914"/>
              <a:gd name="connsiteX36" fmla="*/ 552879 w 692753"/>
              <a:gd name="connsiteY36" fmla="*/ 50006 h 1218914"/>
              <a:gd name="connsiteX37" fmla="*/ 580311 w 692753"/>
              <a:gd name="connsiteY37" fmla="*/ 77438 h 1218914"/>
              <a:gd name="connsiteX38" fmla="*/ 552879 w 692753"/>
              <a:gd name="connsiteY38" fmla="*/ 104870 h 1218914"/>
              <a:gd name="connsiteX39" fmla="*/ 525447 w 692753"/>
              <a:gd name="connsiteY39" fmla="*/ 77438 h 1218914"/>
              <a:gd name="connsiteX40" fmla="*/ 552879 w 692753"/>
              <a:gd name="connsiteY40" fmla="*/ 50006 h 1218914"/>
              <a:gd name="connsiteX41" fmla="*/ 69723 w 692753"/>
              <a:gd name="connsiteY41" fmla="*/ 27670 h 1218914"/>
              <a:gd name="connsiteX42" fmla="*/ 27670 w 692753"/>
              <a:gd name="connsiteY42" fmla="*/ 69723 h 1218914"/>
              <a:gd name="connsiteX43" fmla="*/ 27670 w 692753"/>
              <a:gd name="connsiteY43" fmla="*/ 1149144 h 1218914"/>
              <a:gd name="connsiteX44" fmla="*/ 69723 w 692753"/>
              <a:gd name="connsiteY44" fmla="*/ 1191197 h 1218914"/>
              <a:gd name="connsiteX45" fmla="*/ 623030 w 692753"/>
              <a:gd name="connsiteY45" fmla="*/ 1191197 h 1218914"/>
              <a:gd name="connsiteX46" fmla="*/ 665083 w 692753"/>
              <a:gd name="connsiteY46" fmla="*/ 1149144 h 1218914"/>
              <a:gd name="connsiteX47" fmla="*/ 665083 w 692753"/>
              <a:gd name="connsiteY47" fmla="*/ 69723 h 1218914"/>
              <a:gd name="connsiteX48" fmla="*/ 623030 w 692753"/>
              <a:gd name="connsiteY48" fmla="*/ 27670 h 1218914"/>
              <a:gd name="connsiteX49" fmla="*/ 69723 w 692753"/>
              <a:gd name="connsiteY49" fmla="*/ 0 h 1218914"/>
              <a:gd name="connsiteX50" fmla="*/ 623030 w 692753"/>
              <a:gd name="connsiteY50" fmla="*/ 0 h 1218914"/>
              <a:gd name="connsiteX51" fmla="*/ 692753 w 692753"/>
              <a:gd name="connsiteY51" fmla="*/ 69723 h 1218914"/>
              <a:gd name="connsiteX52" fmla="*/ 692753 w 692753"/>
              <a:gd name="connsiteY52" fmla="*/ 1149144 h 1218914"/>
              <a:gd name="connsiteX53" fmla="*/ 623030 w 692753"/>
              <a:gd name="connsiteY53" fmla="*/ 1218867 h 1218914"/>
              <a:gd name="connsiteX54" fmla="*/ 623030 w 692753"/>
              <a:gd name="connsiteY54" fmla="*/ 1218914 h 1218914"/>
              <a:gd name="connsiteX55" fmla="*/ 69723 w 692753"/>
              <a:gd name="connsiteY55" fmla="*/ 1218914 h 1218914"/>
              <a:gd name="connsiteX56" fmla="*/ 0 w 692753"/>
              <a:gd name="connsiteY56" fmla="*/ 1149191 h 1218914"/>
              <a:gd name="connsiteX57" fmla="*/ 0 w 692753"/>
              <a:gd name="connsiteY57" fmla="*/ 69723 h 1218914"/>
              <a:gd name="connsiteX58" fmla="*/ 69723 w 692753"/>
              <a:gd name="connsiteY58" fmla="*/ 0 h 121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92753" h="1218914">
                <a:moveTo>
                  <a:pt x="327184" y="1097898"/>
                </a:moveTo>
                <a:cubicBezTo>
                  <a:pt x="323898" y="1097898"/>
                  <a:pt x="321231" y="1100565"/>
                  <a:pt x="321231" y="1103852"/>
                </a:cubicBezTo>
                <a:lnTo>
                  <a:pt x="321231" y="1142190"/>
                </a:lnTo>
                <a:cubicBezTo>
                  <a:pt x="321231" y="1145476"/>
                  <a:pt x="323898" y="1148143"/>
                  <a:pt x="327184" y="1148143"/>
                </a:cubicBezTo>
                <a:lnTo>
                  <a:pt x="365522" y="1148143"/>
                </a:lnTo>
                <a:cubicBezTo>
                  <a:pt x="368808" y="1148143"/>
                  <a:pt x="371475" y="1145476"/>
                  <a:pt x="371475" y="1142190"/>
                </a:cubicBezTo>
                <a:lnTo>
                  <a:pt x="371475" y="1103852"/>
                </a:lnTo>
                <a:cubicBezTo>
                  <a:pt x="371475" y="1100565"/>
                  <a:pt x="368808" y="1097898"/>
                  <a:pt x="365522" y="1097898"/>
                </a:cubicBezTo>
                <a:close/>
                <a:moveTo>
                  <a:pt x="327184" y="1074848"/>
                </a:moveTo>
                <a:lnTo>
                  <a:pt x="365522" y="1074848"/>
                </a:lnTo>
                <a:cubicBezTo>
                  <a:pt x="381524" y="1074848"/>
                  <a:pt x="394525" y="1087897"/>
                  <a:pt x="394525" y="1103852"/>
                </a:cubicBezTo>
                <a:lnTo>
                  <a:pt x="394525" y="1142190"/>
                </a:lnTo>
                <a:cubicBezTo>
                  <a:pt x="394525" y="1158192"/>
                  <a:pt x="381524" y="1171193"/>
                  <a:pt x="365522" y="1171193"/>
                </a:cubicBezTo>
                <a:lnTo>
                  <a:pt x="327184" y="1171193"/>
                </a:lnTo>
                <a:cubicBezTo>
                  <a:pt x="311182" y="1171193"/>
                  <a:pt x="298180" y="1158192"/>
                  <a:pt x="298180" y="1142190"/>
                </a:cubicBezTo>
                <a:lnTo>
                  <a:pt x="298180" y="1103852"/>
                </a:lnTo>
                <a:cubicBezTo>
                  <a:pt x="298180" y="1087850"/>
                  <a:pt x="311182" y="1074848"/>
                  <a:pt x="327184" y="1074848"/>
                </a:cubicBezTo>
                <a:close/>
                <a:moveTo>
                  <a:pt x="76295" y="121824"/>
                </a:moveTo>
                <a:lnTo>
                  <a:pt x="616458" y="121824"/>
                </a:lnTo>
                <a:cubicBezTo>
                  <a:pt x="625507" y="121824"/>
                  <a:pt x="632841" y="129158"/>
                  <a:pt x="632841" y="138207"/>
                </a:cubicBezTo>
                <a:lnTo>
                  <a:pt x="632841" y="1038320"/>
                </a:lnTo>
                <a:lnTo>
                  <a:pt x="632841" y="1038367"/>
                </a:lnTo>
                <a:cubicBezTo>
                  <a:pt x="632841" y="1047416"/>
                  <a:pt x="625507" y="1054750"/>
                  <a:pt x="616458" y="1054750"/>
                </a:cubicBezTo>
                <a:lnTo>
                  <a:pt x="76295" y="1054750"/>
                </a:lnTo>
                <a:cubicBezTo>
                  <a:pt x="67246" y="1054750"/>
                  <a:pt x="59912" y="1047416"/>
                  <a:pt x="59912" y="1038367"/>
                </a:cubicBezTo>
                <a:lnTo>
                  <a:pt x="59912" y="1038320"/>
                </a:lnTo>
                <a:lnTo>
                  <a:pt x="59912" y="138255"/>
                </a:lnTo>
                <a:lnTo>
                  <a:pt x="59912" y="138207"/>
                </a:lnTo>
                <a:cubicBezTo>
                  <a:pt x="59912" y="129158"/>
                  <a:pt x="67246" y="121824"/>
                  <a:pt x="76295" y="121824"/>
                </a:cubicBezTo>
                <a:close/>
                <a:moveTo>
                  <a:pt x="259652" y="65770"/>
                </a:moveTo>
                <a:lnTo>
                  <a:pt x="433054" y="65770"/>
                </a:lnTo>
                <a:cubicBezTo>
                  <a:pt x="439484" y="65770"/>
                  <a:pt x="444770" y="71580"/>
                  <a:pt x="444770" y="78676"/>
                </a:cubicBezTo>
                <a:cubicBezTo>
                  <a:pt x="444770" y="85773"/>
                  <a:pt x="439531" y="91583"/>
                  <a:pt x="433054" y="91583"/>
                </a:cubicBezTo>
                <a:lnTo>
                  <a:pt x="259652" y="91583"/>
                </a:lnTo>
                <a:cubicBezTo>
                  <a:pt x="253175" y="91583"/>
                  <a:pt x="247936" y="85820"/>
                  <a:pt x="247936" y="78676"/>
                </a:cubicBezTo>
                <a:cubicBezTo>
                  <a:pt x="247936" y="71533"/>
                  <a:pt x="253175" y="65770"/>
                  <a:pt x="259652" y="65770"/>
                </a:cubicBezTo>
                <a:close/>
                <a:moveTo>
                  <a:pt x="552879" y="50006"/>
                </a:moveTo>
                <a:cubicBezTo>
                  <a:pt x="568024" y="50006"/>
                  <a:pt x="580311" y="62293"/>
                  <a:pt x="580311" y="77438"/>
                </a:cubicBezTo>
                <a:cubicBezTo>
                  <a:pt x="580311" y="92583"/>
                  <a:pt x="568024" y="104870"/>
                  <a:pt x="552879" y="104870"/>
                </a:cubicBezTo>
                <a:cubicBezTo>
                  <a:pt x="537734" y="104870"/>
                  <a:pt x="525447" y="92583"/>
                  <a:pt x="525447" y="77438"/>
                </a:cubicBezTo>
                <a:cubicBezTo>
                  <a:pt x="525447" y="62293"/>
                  <a:pt x="537734" y="50006"/>
                  <a:pt x="552879" y="50006"/>
                </a:cubicBezTo>
                <a:close/>
                <a:moveTo>
                  <a:pt x="69723" y="27670"/>
                </a:moveTo>
                <a:cubicBezTo>
                  <a:pt x="46530" y="27670"/>
                  <a:pt x="27670" y="46530"/>
                  <a:pt x="27670" y="69723"/>
                </a:cubicBezTo>
                <a:lnTo>
                  <a:pt x="27670" y="1149144"/>
                </a:lnTo>
                <a:cubicBezTo>
                  <a:pt x="27670" y="1172337"/>
                  <a:pt x="46530" y="1191197"/>
                  <a:pt x="69723" y="1191197"/>
                </a:cubicBezTo>
                <a:lnTo>
                  <a:pt x="623030" y="1191197"/>
                </a:lnTo>
                <a:cubicBezTo>
                  <a:pt x="646224" y="1191197"/>
                  <a:pt x="665083" y="1172337"/>
                  <a:pt x="665083" y="1149144"/>
                </a:cubicBezTo>
                <a:lnTo>
                  <a:pt x="665083" y="69723"/>
                </a:lnTo>
                <a:cubicBezTo>
                  <a:pt x="665083" y="46530"/>
                  <a:pt x="646224" y="27670"/>
                  <a:pt x="623030" y="27670"/>
                </a:cubicBezTo>
                <a:close/>
                <a:moveTo>
                  <a:pt x="69723" y="0"/>
                </a:moveTo>
                <a:lnTo>
                  <a:pt x="623030" y="0"/>
                </a:lnTo>
                <a:cubicBezTo>
                  <a:pt x="661464" y="0"/>
                  <a:pt x="692753" y="31290"/>
                  <a:pt x="692753" y="69723"/>
                </a:cubicBezTo>
                <a:lnTo>
                  <a:pt x="692753" y="1149144"/>
                </a:lnTo>
                <a:cubicBezTo>
                  <a:pt x="692753" y="1187577"/>
                  <a:pt x="661464" y="1218867"/>
                  <a:pt x="623030" y="1218867"/>
                </a:cubicBezTo>
                <a:lnTo>
                  <a:pt x="623030" y="1218914"/>
                </a:lnTo>
                <a:lnTo>
                  <a:pt x="69723" y="1218914"/>
                </a:lnTo>
                <a:cubicBezTo>
                  <a:pt x="31290" y="1218914"/>
                  <a:pt x="0" y="1187625"/>
                  <a:pt x="0" y="1149191"/>
                </a:cubicBezTo>
                <a:lnTo>
                  <a:pt x="0" y="69723"/>
                </a:lnTo>
                <a:cubicBezTo>
                  <a:pt x="-48" y="31290"/>
                  <a:pt x="31242" y="0"/>
                  <a:pt x="69723" y="0"/>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71" name="组合 170"/>
          <p:cNvGrpSpPr/>
          <p:nvPr/>
        </p:nvGrpSpPr>
        <p:grpSpPr>
          <a:xfrm flipH="1">
            <a:off x="10189187" y="2761105"/>
            <a:ext cx="494552" cy="480467"/>
            <a:chOff x="2281062" y="3633591"/>
            <a:chExt cx="564342" cy="548270"/>
          </a:xfrm>
        </p:grpSpPr>
        <p:sp>
          <p:nvSpPr>
            <p:cNvPr id="172" name="椭圆 171"/>
            <p:cNvSpPr/>
            <p:nvPr/>
          </p:nvSpPr>
          <p:spPr>
            <a:xfrm>
              <a:off x="2289098" y="3633591"/>
              <a:ext cx="548270"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73" name="文本框 172"/>
            <p:cNvSpPr txBox="1"/>
            <p:nvPr/>
          </p:nvSpPr>
          <p:spPr>
            <a:xfrm>
              <a:off x="2281062" y="3776921"/>
              <a:ext cx="564342" cy="2809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理解</a:t>
              </a:r>
            </a:p>
          </p:txBody>
        </p:sp>
      </p:grpSp>
      <p:grpSp>
        <p:nvGrpSpPr>
          <p:cNvPr id="174" name="组合 173"/>
          <p:cNvGrpSpPr/>
          <p:nvPr/>
        </p:nvGrpSpPr>
        <p:grpSpPr>
          <a:xfrm flipH="1">
            <a:off x="9919960" y="3219183"/>
            <a:ext cx="491345" cy="386656"/>
            <a:chOff x="2281062" y="3633591"/>
            <a:chExt cx="696716" cy="548270"/>
          </a:xfrm>
        </p:grpSpPr>
        <p:sp>
          <p:nvSpPr>
            <p:cNvPr id="175" name="椭圆 174"/>
            <p:cNvSpPr/>
            <p:nvPr/>
          </p:nvSpPr>
          <p:spPr>
            <a:xfrm>
              <a:off x="2355285" y="3633591"/>
              <a:ext cx="548269"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2281062" y="3733700"/>
              <a:ext cx="696716" cy="3491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经营</a:t>
              </a:r>
            </a:p>
          </p:txBody>
        </p:sp>
      </p:grpSp>
      <p:grpSp>
        <p:nvGrpSpPr>
          <p:cNvPr id="180" name="组合 179"/>
          <p:cNvGrpSpPr/>
          <p:nvPr/>
        </p:nvGrpSpPr>
        <p:grpSpPr>
          <a:xfrm flipH="1">
            <a:off x="9563324" y="3498942"/>
            <a:ext cx="491345" cy="329507"/>
            <a:chOff x="2221892" y="3633591"/>
            <a:chExt cx="817552" cy="548270"/>
          </a:xfrm>
        </p:grpSpPr>
        <p:sp>
          <p:nvSpPr>
            <p:cNvPr id="181" name="椭圆 180"/>
            <p:cNvSpPr/>
            <p:nvPr/>
          </p:nvSpPr>
          <p:spPr>
            <a:xfrm>
              <a:off x="2355285" y="3633591"/>
              <a:ext cx="548269"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2221892" y="3708342"/>
              <a:ext cx="817552" cy="4096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链接</a:t>
              </a:r>
            </a:p>
          </p:txBody>
        </p:sp>
      </p:grpSp>
      <p:sp>
        <p:nvSpPr>
          <p:cNvPr id="185" name="等腰三角形 184"/>
          <p:cNvSpPr/>
          <p:nvPr/>
        </p:nvSpPr>
        <p:spPr>
          <a:xfrm rot="17139763">
            <a:off x="2214793" y="4008527"/>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6" name="等腰三角形 185"/>
          <p:cNvSpPr/>
          <p:nvPr/>
        </p:nvSpPr>
        <p:spPr>
          <a:xfrm rot="15377085">
            <a:off x="9617040" y="4069052"/>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任意多边形: 形状 130"/>
          <p:cNvSpPr/>
          <p:nvPr/>
        </p:nvSpPr>
        <p:spPr>
          <a:xfrm>
            <a:off x="728653" y="1818163"/>
            <a:ext cx="5055007" cy="3042108"/>
          </a:xfrm>
          <a:custGeom>
            <a:avLst/>
            <a:gdLst>
              <a:gd name="connsiteX0" fmla="*/ 0 w 5054127"/>
              <a:gd name="connsiteY0" fmla="*/ 2905082 h 3042108"/>
              <a:gd name="connsiteX1" fmla="*/ 2368988 w 5054127"/>
              <a:gd name="connsiteY1" fmla="*/ 2927479 h 3042108"/>
              <a:gd name="connsiteX2" fmla="*/ 0 w 5054127"/>
              <a:gd name="connsiteY2" fmla="*/ 2927479 h 3042108"/>
              <a:gd name="connsiteX3" fmla="*/ 2368988 w 5054127"/>
              <a:gd name="connsiteY3" fmla="*/ 0 h 3042108"/>
              <a:gd name="connsiteX4" fmla="*/ 4737487 w 5054127"/>
              <a:gd name="connsiteY4" fmla="*/ 0 h 3042108"/>
              <a:gd name="connsiteX5" fmla="*/ 5054127 w 5054127"/>
              <a:gd name="connsiteY5" fmla="*/ 0 h 3042108"/>
              <a:gd name="connsiteX6" fmla="*/ 5054127 w 5054127"/>
              <a:gd name="connsiteY6" fmla="*/ 3042108 h 3042108"/>
              <a:gd name="connsiteX7" fmla="*/ 4737487 w 5054127"/>
              <a:gd name="connsiteY7" fmla="*/ 3042108 h 3042108"/>
              <a:gd name="connsiteX8" fmla="*/ 4737487 w 5054127"/>
              <a:gd name="connsiteY8" fmla="*/ 2927479 h 3042108"/>
              <a:gd name="connsiteX9" fmla="*/ 2368988 w 5054127"/>
              <a:gd name="connsiteY9" fmla="*/ 2927479 h 3042108"/>
              <a:gd name="connsiteX10" fmla="*/ 4737487 w 5054127"/>
              <a:gd name="connsiteY10" fmla="*/ 2897724 h 3042108"/>
              <a:gd name="connsiteX11" fmla="*/ 2367487 w 5054127"/>
              <a:gd name="connsiteY11" fmla="*/ 1961793 h 3042108"/>
              <a:gd name="connsiteX12" fmla="*/ 0 w 5054127"/>
              <a:gd name="connsiteY12" fmla="*/ 2905082 h 3042108"/>
              <a:gd name="connsiteX13" fmla="*/ 0 w 5054127"/>
              <a:gd name="connsiteY13" fmla="*/ 22397 h 3042108"/>
              <a:gd name="connsiteX14" fmla="*/ 2367487 w 5054127"/>
              <a:gd name="connsiteY14" fmla="*/ 965686 h 3042108"/>
              <a:gd name="connsiteX15" fmla="*/ 4737487 w 5054127"/>
              <a:gd name="connsiteY15" fmla="*/ 29755 h 3042108"/>
              <a:gd name="connsiteX16" fmla="*/ 0 w 5054127"/>
              <a:gd name="connsiteY16" fmla="*/ 0 h 3042108"/>
              <a:gd name="connsiteX17" fmla="*/ 2368988 w 5054127"/>
              <a:gd name="connsiteY17" fmla="*/ 0 h 3042108"/>
              <a:gd name="connsiteX18" fmla="*/ 0 w 5054127"/>
              <a:gd name="connsiteY18" fmla="*/ 22397 h 30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54127" h="3042108">
                <a:moveTo>
                  <a:pt x="0" y="2905082"/>
                </a:moveTo>
                <a:lnTo>
                  <a:pt x="2368988" y="2927479"/>
                </a:lnTo>
                <a:lnTo>
                  <a:pt x="0" y="2927479"/>
                </a:lnTo>
                <a:close/>
                <a:moveTo>
                  <a:pt x="2368988" y="0"/>
                </a:moveTo>
                <a:lnTo>
                  <a:pt x="4737487" y="0"/>
                </a:lnTo>
                <a:lnTo>
                  <a:pt x="5054127" y="0"/>
                </a:lnTo>
                <a:lnTo>
                  <a:pt x="5054127" y="3042108"/>
                </a:lnTo>
                <a:lnTo>
                  <a:pt x="4737487" y="3042108"/>
                </a:lnTo>
                <a:lnTo>
                  <a:pt x="4737487" y="2927479"/>
                </a:lnTo>
                <a:lnTo>
                  <a:pt x="2368988" y="2927479"/>
                </a:lnTo>
                <a:lnTo>
                  <a:pt x="4737487" y="2897724"/>
                </a:lnTo>
                <a:cubicBezTo>
                  <a:pt x="4698020" y="2375986"/>
                  <a:pt x="3648348" y="1961462"/>
                  <a:pt x="2367487" y="1961793"/>
                </a:cubicBezTo>
                <a:cubicBezTo>
                  <a:pt x="1080777" y="1962125"/>
                  <a:pt x="29844" y="2380853"/>
                  <a:pt x="0" y="2905082"/>
                </a:cubicBezTo>
                <a:lnTo>
                  <a:pt x="0" y="22397"/>
                </a:lnTo>
                <a:cubicBezTo>
                  <a:pt x="29844" y="546626"/>
                  <a:pt x="1080777" y="965354"/>
                  <a:pt x="2367487" y="965686"/>
                </a:cubicBezTo>
                <a:cubicBezTo>
                  <a:pt x="3648348" y="966017"/>
                  <a:pt x="4698020" y="551493"/>
                  <a:pt x="4737487" y="29755"/>
                </a:cubicBezTo>
                <a:close/>
                <a:moveTo>
                  <a:pt x="0" y="0"/>
                </a:moveTo>
                <a:lnTo>
                  <a:pt x="2368988" y="0"/>
                </a:lnTo>
                <a:lnTo>
                  <a:pt x="0" y="22397"/>
                </a:lnTo>
                <a:close/>
              </a:path>
            </a:pathLst>
          </a:custGeom>
          <a:solidFill>
            <a:schemeClr val="accent2">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en-US" altLang="zh-CN" dirty="0">
                <a:latin typeface="+mn-lt"/>
                <a:ea typeface="+mn-ea"/>
                <a:cs typeface="+mn-ea"/>
                <a:sym typeface="+mn-lt"/>
              </a:rPr>
              <a:t>OS+</a:t>
            </a:r>
            <a:r>
              <a:rPr lang="zh-CN" altLang="en-US" dirty="0">
                <a:latin typeface="+mn-lt"/>
                <a:ea typeface="+mn-ea"/>
                <a:cs typeface="+mn-ea"/>
                <a:sym typeface="+mn-lt"/>
              </a:rPr>
              <a:t>长效经营的本质与关键</a:t>
            </a:r>
          </a:p>
        </p:txBody>
      </p:sp>
      <p:sp>
        <p:nvSpPr>
          <p:cNvPr id="69" name="弧形 68"/>
          <p:cNvSpPr/>
          <p:nvPr/>
        </p:nvSpPr>
        <p:spPr>
          <a:xfrm>
            <a:off x="765977" y="854116"/>
            <a:ext cx="4739249" cy="1931373"/>
          </a:xfrm>
          <a:prstGeom prst="arc">
            <a:avLst>
              <a:gd name="adj1" fmla="val 43186"/>
              <a:gd name="adj2" fmla="val 10767497"/>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5" name="弧形 94"/>
          <p:cNvSpPr/>
          <p:nvPr/>
        </p:nvSpPr>
        <p:spPr>
          <a:xfrm flipV="1">
            <a:off x="765977" y="3781596"/>
            <a:ext cx="4739249" cy="1931373"/>
          </a:xfrm>
          <a:prstGeom prst="arc">
            <a:avLst>
              <a:gd name="adj1" fmla="val 43186"/>
              <a:gd name="adj2" fmla="val 10767497"/>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梯形 2"/>
          <p:cNvSpPr/>
          <p:nvPr/>
        </p:nvSpPr>
        <p:spPr>
          <a:xfrm flipH="1">
            <a:off x="479027" y="1130521"/>
            <a:ext cx="5503507" cy="230389"/>
          </a:xfrm>
          <a:prstGeom prst="trapezoid">
            <a:avLst>
              <a:gd name="adj" fmla="val 97878"/>
            </a:avLst>
          </a:prstGeom>
          <a:gradFill>
            <a:gsLst>
              <a:gs pos="100000">
                <a:schemeClr val="accent1">
                  <a:alpha val="79000"/>
                </a:schemeClr>
              </a:gs>
              <a:gs pos="3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文本框 5"/>
          <p:cNvSpPr txBox="1"/>
          <p:nvPr/>
        </p:nvSpPr>
        <p:spPr>
          <a:xfrm>
            <a:off x="861157" y="906864"/>
            <a:ext cx="473924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1C4273"/>
                </a:solidFill>
                <a:effectLst/>
                <a:uLnTx/>
                <a:uFillTx/>
                <a:cs typeface="+mn-ea"/>
                <a:sym typeface="+mn-lt"/>
              </a:rPr>
              <a:t>本质：</a:t>
            </a:r>
            <a:r>
              <a:rPr kumimoji="0" lang="zh-CN" altLang="en-US" sz="1800" b="0" i="0" u="none" strike="noStrike" kern="1200" cap="none" spc="0" normalizeH="0" baseline="0" noProof="0" dirty="0">
                <a:ln>
                  <a:noFill/>
                </a:ln>
                <a:solidFill>
                  <a:prstClr val="black"/>
                </a:solidFill>
                <a:effectLst/>
                <a:uLnTx/>
                <a:uFillTx/>
                <a:cs typeface="+mn-ea"/>
                <a:sym typeface="+mn-lt"/>
              </a:rPr>
              <a:t>撬动用户生命周期价值的增量</a:t>
            </a:r>
          </a:p>
        </p:txBody>
      </p:sp>
      <p:sp>
        <p:nvSpPr>
          <p:cNvPr id="7" name="矩形 6"/>
          <p:cNvSpPr/>
          <p:nvPr/>
        </p:nvSpPr>
        <p:spPr>
          <a:xfrm>
            <a:off x="499505" y="1405791"/>
            <a:ext cx="5483029" cy="3839674"/>
          </a:xfrm>
          <a:prstGeom prst="rect">
            <a:avLst/>
          </a:prstGeom>
          <a:no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6" name="任意多边形: 形状 55"/>
          <p:cNvSpPr/>
          <p:nvPr/>
        </p:nvSpPr>
        <p:spPr>
          <a:xfrm>
            <a:off x="3142880" y="1890396"/>
            <a:ext cx="0" cy="900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7" name="任意多边形: 形状 56"/>
          <p:cNvSpPr/>
          <p:nvPr/>
        </p:nvSpPr>
        <p:spPr>
          <a:xfrm>
            <a:off x="2000768" y="1899727"/>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任意多边形: 形状 57"/>
          <p:cNvSpPr/>
          <p:nvPr/>
        </p:nvSpPr>
        <p:spPr>
          <a:xfrm>
            <a:off x="4284992" y="1899727"/>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5" name="箭头: 右 54"/>
          <p:cNvSpPr/>
          <p:nvPr/>
        </p:nvSpPr>
        <p:spPr>
          <a:xfrm>
            <a:off x="707300" y="1602323"/>
            <a:ext cx="5078456" cy="468000"/>
          </a:xfrm>
          <a:prstGeom prst="rightArrow">
            <a:avLst>
              <a:gd name="adj1" fmla="val 64405"/>
              <a:gd name="adj2" fmla="val 64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用户生命周期的</a:t>
            </a:r>
            <a:r>
              <a:rPr kumimoji="0" lang="zh-CN" altLang="en-US" sz="1600" b="0" i="0" u="none" strike="noStrike" kern="1200" cap="none" spc="0" normalizeH="0" baseline="0" noProof="0" dirty="0">
                <a:ln>
                  <a:noFill/>
                </a:ln>
                <a:solidFill>
                  <a:srgbClr val="9D3728">
                    <a:lumMod val="20000"/>
                    <a:lumOff val="80000"/>
                  </a:srgbClr>
                </a:solidFill>
                <a:effectLst/>
                <a:uLnTx/>
                <a:uFillTx/>
                <a:cs typeface="+mn-ea"/>
                <a:sym typeface="+mn-lt"/>
              </a:rPr>
              <a:t>长度</a:t>
            </a:r>
          </a:p>
        </p:txBody>
      </p:sp>
      <p:sp>
        <p:nvSpPr>
          <p:cNvPr id="62" name="文本框 61"/>
          <p:cNvSpPr txBox="1"/>
          <p:nvPr/>
        </p:nvSpPr>
        <p:spPr>
          <a:xfrm>
            <a:off x="941991" y="2001396"/>
            <a:ext cx="10605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首次接触</a:t>
            </a:r>
          </a:p>
        </p:txBody>
      </p:sp>
      <p:sp>
        <p:nvSpPr>
          <p:cNvPr id="63" name="文本框 62"/>
          <p:cNvSpPr txBox="1"/>
          <p:nvPr/>
        </p:nvSpPr>
        <p:spPr>
          <a:xfrm>
            <a:off x="2043024" y="2001396"/>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下载安装注册</a:t>
            </a:r>
          </a:p>
        </p:txBody>
      </p:sp>
      <p:sp>
        <p:nvSpPr>
          <p:cNvPr id="64" name="文本框 63"/>
          <p:cNvSpPr txBox="1"/>
          <p:nvPr/>
        </p:nvSpPr>
        <p:spPr>
          <a:xfrm>
            <a:off x="3144057" y="2001396"/>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最后一次打开</a:t>
            </a:r>
          </a:p>
        </p:txBody>
      </p:sp>
      <p:sp>
        <p:nvSpPr>
          <p:cNvPr id="65" name="文本框 64"/>
          <p:cNvSpPr txBox="1"/>
          <p:nvPr/>
        </p:nvSpPr>
        <p:spPr>
          <a:xfrm>
            <a:off x="4245089" y="2001396"/>
            <a:ext cx="10605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流失</a:t>
            </a:r>
          </a:p>
        </p:txBody>
      </p:sp>
      <p:grpSp>
        <p:nvGrpSpPr>
          <p:cNvPr id="103" name="组合 102"/>
          <p:cNvGrpSpPr/>
          <p:nvPr/>
        </p:nvGrpSpPr>
        <p:grpSpPr>
          <a:xfrm>
            <a:off x="1646766" y="2509354"/>
            <a:ext cx="2903022" cy="261610"/>
            <a:chOff x="1962605" y="2688519"/>
            <a:chExt cx="2778792" cy="261610"/>
          </a:xfrm>
        </p:grpSpPr>
        <p:sp>
          <p:nvSpPr>
            <p:cNvPr id="75" name="任意多边形: 形状 74"/>
            <p:cNvSpPr/>
            <p:nvPr/>
          </p:nvSpPr>
          <p:spPr>
            <a:xfrm>
              <a:off x="1962605" y="2695763"/>
              <a:ext cx="2778792" cy="218813"/>
            </a:xfrm>
            <a:custGeom>
              <a:avLst/>
              <a:gdLst>
                <a:gd name="connsiteX0" fmla="*/ 0 w 3110723"/>
                <a:gd name="connsiteY0" fmla="*/ 0 h 244951"/>
                <a:gd name="connsiteX1" fmla="*/ 3110723 w 3110723"/>
                <a:gd name="connsiteY1" fmla="*/ 0 h 244951"/>
                <a:gd name="connsiteX2" fmla="*/ 2823545 w 3110723"/>
                <a:gd name="connsiteY2" fmla="*/ 92964 h 244951"/>
                <a:gd name="connsiteX3" fmla="*/ 1555361 w 3110723"/>
                <a:gd name="connsiteY3" fmla="*/ 244951 h 244951"/>
                <a:gd name="connsiteX4" fmla="*/ 287177 w 3110723"/>
                <a:gd name="connsiteY4" fmla="*/ 92964 h 24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0723" h="244951">
                  <a:moveTo>
                    <a:pt x="0" y="0"/>
                  </a:moveTo>
                  <a:lnTo>
                    <a:pt x="3110723" y="0"/>
                  </a:lnTo>
                  <a:lnTo>
                    <a:pt x="2823545" y="92964"/>
                  </a:lnTo>
                  <a:cubicBezTo>
                    <a:pt x="2461535" y="188921"/>
                    <a:pt x="2025125" y="244951"/>
                    <a:pt x="1555361" y="244951"/>
                  </a:cubicBezTo>
                  <a:cubicBezTo>
                    <a:pt x="1085597" y="244951"/>
                    <a:pt x="649188" y="188921"/>
                    <a:pt x="287177" y="92964"/>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2526151" y="2688519"/>
              <a:ext cx="1668997"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终端厂商能力延长</a:t>
              </a:r>
            </a:p>
          </p:txBody>
        </p:sp>
      </p:grpSp>
      <p:grpSp>
        <p:nvGrpSpPr>
          <p:cNvPr id="102" name="组合 101"/>
          <p:cNvGrpSpPr/>
          <p:nvPr/>
        </p:nvGrpSpPr>
        <p:grpSpPr>
          <a:xfrm flipV="1">
            <a:off x="1931393" y="3790013"/>
            <a:ext cx="2284223" cy="900000"/>
            <a:chOff x="2752752" y="5411153"/>
            <a:chExt cx="2186474" cy="900000"/>
          </a:xfrm>
        </p:grpSpPr>
        <p:sp>
          <p:nvSpPr>
            <p:cNvPr id="87" name="任意多边形: 形状 86"/>
            <p:cNvSpPr/>
            <p:nvPr/>
          </p:nvSpPr>
          <p:spPr>
            <a:xfrm>
              <a:off x="3845989" y="5411153"/>
              <a:ext cx="0" cy="900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任意多边形: 形状 87"/>
            <p:cNvSpPr/>
            <p:nvPr/>
          </p:nvSpPr>
          <p:spPr>
            <a:xfrm>
              <a:off x="2752752" y="5420484"/>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9" name="任意多边形: 形状 88"/>
            <p:cNvSpPr/>
            <p:nvPr/>
          </p:nvSpPr>
          <p:spPr>
            <a:xfrm>
              <a:off x="4939226" y="5420484"/>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90" name="箭头: 右 89"/>
          <p:cNvSpPr/>
          <p:nvPr/>
        </p:nvSpPr>
        <p:spPr>
          <a:xfrm>
            <a:off x="707300" y="4579679"/>
            <a:ext cx="5078456" cy="468000"/>
          </a:xfrm>
          <a:prstGeom prst="rightArrow">
            <a:avLst>
              <a:gd name="adj1" fmla="val 64405"/>
              <a:gd name="adj2" fmla="val 64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从浅层转化到深度转化的</a:t>
            </a:r>
            <a:r>
              <a:rPr kumimoji="0" lang="zh-CN" altLang="en-US" sz="1600" b="0" i="0" u="none" strike="noStrike" kern="1200" cap="none" spc="0" normalizeH="0" baseline="0" noProof="0" dirty="0">
                <a:ln>
                  <a:noFill/>
                </a:ln>
                <a:solidFill>
                  <a:srgbClr val="9D3728">
                    <a:lumMod val="20000"/>
                    <a:lumOff val="80000"/>
                  </a:srgbClr>
                </a:solidFill>
                <a:effectLst/>
                <a:uLnTx/>
                <a:uFillTx/>
                <a:cs typeface="+mn-ea"/>
                <a:sym typeface="+mn-lt"/>
              </a:rPr>
              <a:t>程度</a:t>
            </a:r>
          </a:p>
        </p:txBody>
      </p:sp>
      <p:sp>
        <p:nvSpPr>
          <p:cNvPr id="91" name="文本框 90"/>
          <p:cNvSpPr txBox="1"/>
          <p:nvPr/>
        </p:nvSpPr>
        <p:spPr>
          <a:xfrm>
            <a:off x="994111"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分层用户长期经营</a:t>
            </a:r>
          </a:p>
        </p:txBody>
      </p:sp>
      <p:sp>
        <p:nvSpPr>
          <p:cNvPr id="92" name="文本框 91"/>
          <p:cNvSpPr txBox="1"/>
          <p:nvPr/>
        </p:nvSpPr>
        <p:spPr>
          <a:xfrm>
            <a:off x="1923797" y="4144242"/>
            <a:ext cx="113202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OS</a:t>
            </a:r>
            <a:r>
              <a:rPr kumimoji="0" lang="zh-CN" altLang="en-US" sz="1400" b="0" i="0" u="none" strike="noStrike" kern="1200" cap="none" spc="0" normalizeH="0" baseline="0" noProof="0" dirty="0">
                <a:ln>
                  <a:noFill/>
                </a:ln>
                <a:solidFill>
                  <a:srgbClr val="1C4273"/>
                </a:solidFill>
                <a:effectLst/>
                <a:uLnTx/>
                <a:uFillTx/>
                <a:cs typeface="+mn-ea"/>
                <a:sym typeface="+mn-lt"/>
              </a:rPr>
              <a:t>和企业</a:t>
            </a:r>
            <a:endParaRPr kumimoji="0" lang="en-US" altLang="zh-CN" sz="1400" b="0" i="0" u="none" strike="noStrike" kern="1200" cap="none" spc="0" normalizeH="0" baseline="0" noProof="0" dirty="0">
              <a:ln>
                <a:noFill/>
              </a:ln>
              <a:solidFill>
                <a:srgbClr val="1C4273"/>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数据整合</a:t>
            </a:r>
          </a:p>
        </p:txBody>
      </p:sp>
      <p:sp>
        <p:nvSpPr>
          <p:cNvPr id="93" name="文本框 92"/>
          <p:cNvSpPr txBox="1"/>
          <p:nvPr/>
        </p:nvSpPr>
        <p:spPr>
          <a:xfrm>
            <a:off x="3121877"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激发用户深度转化</a:t>
            </a:r>
          </a:p>
        </p:txBody>
      </p:sp>
      <p:sp>
        <p:nvSpPr>
          <p:cNvPr id="94" name="文本框 93"/>
          <p:cNvSpPr txBox="1"/>
          <p:nvPr/>
        </p:nvSpPr>
        <p:spPr>
          <a:xfrm>
            <a:off x="4095540"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提升业务运营效率</a:t>
            </a:r>
          </a:p>
        </p:txBody>
      </p:sp>
      <p:grpSp>
        <p:nvGrpSpPr>
          <p:cNvPr id="104" name="组合 103"/>
          <p:cNvGrpSpPr/>
          <p:nvPr/>
        </p:nvGrpSpPr>
        <p:grpSpPr>
          <a:xfrm>
            <a:off x="1646766" y="3823040"/>
            <a:ext cx="2903022" cy="261610"/>
            <a:chOff x="1938893" y="3514525"/>
            <a:chExt cx="2778792" cy="261610"/>
          </a:xfrm>
        </p:grpSpPr>
        <p:sp>
          <p:nvSpPr>
            <p:cNvPr id="85" name="任意多边形: 形状 84"/>
            <p:cNvSpPr/>
            <p:nvPr/>
          </p:nvSpPr>
          <p:spPr>
            <a:xfrm flipV="1">
              <a:off x="1938893" y="3521769"/>
              <a:ext cx="2778792" cy="218813"/>
            </a:xfrm>
            <a:custGeom>
              <a:avLst/>
              <a:gdLst>
                <a:gd name="connsiteX0" fmla="*/ 0 w 3110723"/>
                <a:gd name="connsiteY0" fmla="*/ 0 h 244951"/>
                <a:gd name="connsiteX1" fmla="*/ 3110723 w 3110723"/>
                <a:gd name="connsiteY1" fmla="*/ 0 h 244951"/>
                <a:gd name="connsiteX2" fmla="*/ 2823545 w 3110723"/>
                <a:gd name="connsiteY2" fmla="*/ 92964 h 244951"/>
                <a:gd name="connsiteX3" fmla="*/ 1555361 w 3110723"/>
                <a:gd name="connsiteY3" fmla="*/ 244951 h 244951"/>
                <a:gd name="connsiteX4" fmla="*/ 287177 w 3110723"/>
                <a:gd name="connsiteY4" fmla="*/ 92964 h 24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0723" h="244951">
                  <a:moveTo>
                    <a:pt x="0" y="0"/>
                  </a:moveTo>
                  <a:lnTo>
                    <a:pt x="3110723" y="0"/>
                  </a:lnTo>
                  <a:lnTo>
                    <a:pt x="2823545" y="92964"/>
                  </a:lnTo>
                  <a:cubicBezTo>
                    <a:pt x="2461535" y="188921"/>
                    <a:pt x="2025125" y="244951"/>
                    <a:pt x="1555361" y="244951"/>
                  </a:cubicBezTo>
                  <a:cubicBezTo>
                    <a:pt x="1085597" y="244951"/>
                    <a:pt x="649188" y="188921"/>
                    <a:pt x="287177" y="92964"/>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6" name="文本框 85"/>
            <p:cNvSpPr txBox="1"/>
            <p:nvPr/>
          </p:nvSpPr>
          <p:spPr>
            <a:xfrm>
              <a:off x="2502439" y="3514525"/>
              <a:ext cx="1668997"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终端提供</a:t>
              </a:r>
              <a:r>
                <a:rPr kumimoji="0" lang="en-US" altLang="zh-CN" sz="1100" b="0" i="0" u="none" strike="noStrike" kern="1200" cap="none" spc="0" normalizeH="0" baseline="0" noProof="0" dirty="0">
                  <a:ln>
                    <a:noFill/>
                  </a:ln>
                  <a:solidFill>
                    <a:prstClr val="white"/>
                  </a:solidFill>
                  <a:effectLst/>
                  <a:uLnTx/>
                  <a:uFillTx/>
                  <a:cs typeface="+mn-ea"/>
                  <a:sym typeface="+mn-lt"/>
                </a:rPr>
                <a:t>OS</a:t>
              </a:r>
              <a:r>
                <a:rPr kumimoji="0" lang="zh-CN" altLang="en-US" sz="1100" b="0" i="0" u="none" strike="noStrike" kern="1200" cap="none" spc="0" normalizeH="0" baseline="0" noProof="0" dirty="0">
                  <a:ln>
                    <a:noFill/>
                  </a:ln>
                  <a:solidFill>
                    <a:prstClr val="white"/>
                  </a:solidFill>
                  <a:effectLst/>
                  <a:uLnTx/>
                  <a:uFillTx/>
                  <a:cs typeface="+mn-ea"/>
                  <a:sym typeface="+mn-lt"/>
                </a:rPr>
                <a:t>场景</a:t>
              </a:r>
            </a:p>
          </p:txBody>
        </p:sp>
      </p:grpSp>
      <p:sp>
        <p:nvSpPr>
          <p:cNvPr id="146" name="梯形 145"/>
          <p:cNvSpPr/>
          <p:nvPr/>
        </p:nvSpPr>
        <p:spPr>
          <a:xfrm flipH="1">
            <a:off x="6127192" y="1130521"/>
            <a:ext cx="5503507" cy="230389"/>
          </a:xfrm>
          <a:prstGeom prst="trapezoid">
            <a:avLst>
              <a:gd name="adj" fmla="val 97878"/>
            </a:avLst>
          </a:prstGeom>
          <a:gradFill>
            <a:gsLst>
              <a:gs pos="100000">
                <a:schemeClr val="accent4"/>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7" name="文本框 146"/>
          <p:cNvSpPr txBox="1"/>
          <p:nvPr/>
        </p:nvSpPr>
        <p:spPr>
          <a:xfrm>
            <a:off x="6509322" y="906864"/>
            <a:ext cx="473924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1C4273"/>
                </a:solidFill>
                <a:effectLst/>
                <a:uLnTx/>
                <a:uFillTx/>
                <a:cs typeface="+mn-ea"/>
                <a:sym typeface="+mn-lt"/>
              </a:rPr>
              <a:t>关键：</a:t>
            </a:r>
            <a:r>
              <a:rPr kumimoji="0" lang="zh-CN" altLang="en-US" sz="1800" b="0" i="0" u="none" strike="noStrike" kern="1200" cap="none" spc="0" normalizeH="0" baseline="0" noProof="0" dirty="0">
                <a:ln>
                  <a:noFill/>
                </a:ln>
                <a:solidFill>
                  <a:prstClr val="black"/>
                </a:solidFill>
                <a:effectLst/>
                <a:uLnTx/>
                <a:uFillTx/>
                <a:cs typeface="+mn-ea"/>
                <a:sym typeface="+mn-lt"/>
              </a:rPr>
              <a:t>增长与经营的一体化</a:t>
            </a:r>
          </a:p>
        </p:txBody>
      </p:sp>
      <p:sp>
        <p:nvSpPr>
          <p:cNvPr id="148" name="矩形 147"/>
          <p:cNvSpPr/>
          <p:nvPr/>
        </p:nvSpPr>
        <p:spPr>
          <a:xfrm>
            <a:off x="6147670" y="1405791"/>
            <a:ext cx="5483029" cy="3839674"/>
          </a:xfrm>
          <a:prstGeom prst="rect">
            <a:avLst/>
          </a:prstGeom>
          <a:noFill/>
          <a:ln w="1587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89" name="组合 188"/>
          <p:cNvGrpSpPr/>
          <p:nvPr/>
        </p:nvGrpSpPr>
        <p:grpSpPr>
          <a:xfrm>
            <a:off x="6235820" y="1513201"/>
            <a:ext cx="5286250" cy="818141"/>
            <a:chOff x="6245980" y="1832929"/>
            <a:chExt cx="5286250" cy="818141"/>
          </a:xfrm>
        </p:grpSpPr>
        <p:grpSp>
          <p:nvGrpSpPr>
            <p:cNvPr id="186" name="组合 185"/>
            <p:cNvGrpSpPr/>
            <p:nvPr/>
          </p:nvGrpSpPr>
          <p:grpSpPr>
            <a:xfrm>
              <a:off x="8401351" y="1832929"/>
              <a:ext cx="975508" cy="818141"/>
              <a:chOff x="8429749" y="2293131"/>
              <a:chExt cx="1015176" cy="851410"/>
            </a:xfrm>
          </p:grpSpPr>
          <p:sp>
            <p:nvSpPr>
              <p:cNvPr id="183" name="椭圆 182"/>
              <p:cNvSpPr>
                <a:spLocks noChangeAspect="1"/>
              </p:cNvSpPr>
              <p:nvPr/>
            </p:nvSpPr>
            <p:spPr>
              <a:xfrm>
                <a:off x="8511632" y="2293131"/>
                <a:ext cx="851410" cy="85141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84" name="图形 87"/>
              <p:cNvSpPr>
                <a:spLocks noChangeAspect="1"/>
              </p:cNvSpPr>
              <p:nvPr/>
            </p:nvSpPr>
            <p:spPr>
              <a:xfrm>
                <a:off x="8808243" y="2423979"/>
                <a:ext cx="258188" cy="360000"/>
              </a:xfrm>
              <a:custGeom>
                <a:avLst/>
                <a:gdLst>
                  <a:gd name="connsiteX0" fmla="*/ 165542 w 565672"/>
                  <a:gd name="connsiteY0" fmla="*/ 155311 h 788734"/>
                  <a:gd name="connsiteX1" fmla="*/ 173491 w 565672"/>
                  <a:gd name="connsiteY1" fmla="*/ 21965 h 788734"/>
                  <a:gd name="connsiteX2" fmla="*/ 329606 w 565672"/>
                  <a:gd name="connsiteY2" fmla="*/ 10843 h 788734"/>
                  <a:gd name="connsiteX3" fmla="*/ 422036 w 565672"/>
                  <a:gd name="connsiteY3" fmla="*/ 43964 h 788734"/>
                  <a:gd name="connsiteX4" fmla="*/ 388607 w 565672"/>
                  <a:gd name="connsiteY4" fmla="*/ 143018 h 788734"/>
                  <a:gd name="connsiteX5" fmla="*/ 311582 w 565672"/>
                  <a:gd name="connsiteY5" fmla="*/ 75020 h 788734"/>
                  <a:gd name="connsiteX6" fmla="*/ 165542 w 565672"/>
                  <a:gd name="connsiteY6" fmla="*/ 155311 h 788734"/>
                  <a:gd name="connsiteX7" fmla="*/ 282836 w 565672"/>
                  <a:gd name="connsiteY7" fmla="*/ 312843 h 788734"/>
                  <a:gd name="connsiteX8" fmla="*/ 283083 w 565672"/>
                  <a:gd name="connsiteY8" fmla="*/ 312843 h 788734"/>
                  <a:gd name="connsiteX9" fmla="*/ 339650 w 565672"/>
                  <a:gd name="connsiteY9" fmla="*/ 288195 h 788734"/>
                  <a:gd name="connsiteX10" fmla="*/ 368242 w 565672"/>
                  <a:gd name="connsiteY10" fmla="*/ 359613 h 788734"/>
                  <a:gd name="connsiteX11" fmla="*/ 283514 w 565672"/>
                  <a:gd name="connsiteY11" fmla="*/ 410542 h 788734"/>
                  <a:gd name="connsiteX12" fmla="*/ 198756 w 565672"/>
                  <a:gd name="connsiteY12" fmla="*/ 359613 h 788734"/>
                  <a:gd name="connsiteX13" fmla="*/ 227440 w 565672"/>
                  <a:gd name="connsiteY13" fmla="*/ 289027 h 788734"/>
                  <a:gd name="connsiteX14" fmla="*/ 282836 w 565672"/>
                  <a:gd name="connsiteY14" fmla="*/ 312843 h 788734"/>
                  <a:gd name="connsiteX15" fmla="*/ 282836 w 565672"/>
                  <a:gd name="connsiteY15" fmla="*/ 605785 h 788734"/>
                  <a:gd name="connsiteX16" fmla="*/ 173707 w 565672"/>
                  <a:gd name="connsiteY16" fmla="*/ 358103 h 788734"/>
                  <a:gd name="connsiteX17" fmla="*/ 92831 w 565672"/>
                  <a:gd name="connsiteY17" fmla="*/ 358103 h 788734"/>
                  <a:gd name="connsiteX18" fmla="*/ 0 w 565672"/>
                  <a:gd name="connsiteY18" fmla="*/ 450933 h 788734"/>
                  <a:gd name="connsiteX19" fmla="*/ 0 w 565672"/>
                  <a:gd name="connsiteY19" fmla="*/ 715900 h 788734"/>
                  <a:gd name="connsiteX20" fmla="*/ 99825 w 565672"/>
                  <a:gd name="connsiteY20" fmla="*/ 759558 h 788734"/>
                  <a:gd name="connsiteX21" fmla="*/ 99825 w 565672"/>
                  <a:gd name="connsiteY21" fmla="*/ 520687 h 788734"/>
                  <a:gd name="connsiteX22" fmla="*/ 110269 w 565672"/>
                  <a:gd name="connsiteY22" fmla="*/ 510243 h 788734"/>
                  <a:gd name="connsiteX23" fmla="*/ 120714 w 565672"/>
                  <a:gd name="connsiteY23" fmla="*/ 520687 h 788734"/>
                  <a:gd name="connsiteX24" fmla="*/ 120714 w 565672"/>
                  <a:gd name="connsiteY24" fmla="*/ 765935 h 788734"/>
                  <a:gd name="connsiteX25" fmla="*/ 444959 w 565672"/>
                  <a:gd name="connsiteY25" fmla="*/ 765935 h 788734"/>
                  <a:gd name="connsiteX26" fmla="*/ 444959 w 565672"/>
                  <a:gd name="connsiteY26" fmla="*/ 520687 h 788734"/>
                  <a:gd name="connsiteX27" fmla="*/ 455403 w 565672"/>
                  <a:gd name="connsiteY27" fmla="*/ 510243 h 788734"/>
                  <a:gd name="connsiteX28" fmla="*/ 465848 w 565672"/>
                  <a:gd name="connsiteY28" fmla="*/ 520687 h 788734"/>
                  <a:gd name="connsiteX29" fmla="*/ 465848 w 565672"/>
                  <a:gd name="connsiteY29" fmla="*/ 759558 h 788734"/>
                  <a:gd name="connsiteX30" fmla="*/ 565672 w 565672"/>
                  <a:gd name="connsiteY30" fmla="*/ 715900 h 788734"/>
                  <a:gd name="connsiteX31" fmla="*/ 565672 w 565672"/>
                  <a:gd name="connsiteY31" fmla="*/ 450933 h 788734"/>
                  <a:gd name="connsiteX32" fmla="*/ 472842 w 565672"/>
                  <a:gd name="connsiteY32" fmla="*/ 358103 h 788734"/>
                  <a:gd name="connsiteX33" fmla="*/ 391965 w 565672"/>
                  <a:gd name="connsiteY33" fmla="*/ 358103 h 788734"/>
                  <a:gd name="connsiteX34" fmla="*/ 311305 w 565672"/>
                  <a:gd name="connsiteY34" fmla="*/ 411373 h 788734"/>
                  <a:gd name="connsiteX35" fmla="*/ 311305 w 565672"/>
                  <a:gd name="connsiteY35" fmla="*/ 411373 h 788734"/>
                  <a:gd name="connsiteX36" fmla="*/ 297379 w 565672"/>
                  <a:gd name="connsiteY36" fmla="*/ 424252 h 788734"/>
                  <a:gd name="connsiteX37" fmla="*/ 310226 w 565672"/>
                  <a:gd name="connsiteY37" fmla="*/ 534028 h 788734"/>
                  <a:gd name="connsiteX38" fmla="*/ 282836 w 565672"/>
                  <a:gd name="connsiteY38" fmla="*/ 596511 h 788734"/>
                  <a:gd name="connsiteX39" fmla="*/ 255354 w 565672"/>
                  <a:gd name="connsiteY39" fmla="*/ 534151 h 788734"/>
                  <a:gd name="connsiteX40" fmla="*/ 268201 w 565672"/>
                  <a:gd name="connsiteY40" fmla="*/ 424375 h 788734"/>
                  <a:gd name="connsiteX41" fmla="*/ 254275 w 565672"/>
                  <a:gd name="connsiteY41" fmla="*/ 411497 h 788734"/>
                  <a:gd name="connsiteX42" fmla="*/ 254553 w 565672"/>
                  <a:gd name="connsiteY42" fmla="*/ 411127 h 788734"/>
                  <a:gd name="connsiteX43" fmla="*/ 282836 w 565672"/>
                  <a:gd name="connsiteY43" fmla="*/ 414208 h 788734"/>
                  <a:gd name="connsiteX44" fmla="*/ 283514 w 565672"/>
                  <a:gd name="connsiteY44" fmla="*/ 414208 h 788734"/>
                  <a:gd name="connsiteX45" fmla="*/ 311305 w 565672"/>
                  <a:gd name="connsiteY45" fmla="*/ 411373 h 788734"/>
                  <a:gd name="connsiteX46" fmla="*/ 171335 w 565672"/>
                  <a:gd name="connsiteY46" fmla="*/ 139845 h 788734"/>
                  <a:gd name="connsiteX47" fmla="*/ 282836 w 565672"/>
                  <a:gd name="connsiteY47" fmla="*/ 307266 h 788734"/>
                  <a:gd name="connsiteX48" fmla="*/ 394060 w 565672"/>
                  <a:gd name="connsiteY48" fmla="*/ 148564 h 788734"/>
                  <a:gd name="connsiteX49" fmla="*/ 388515 w 565672"/>
                  <a:gd name="connsiteY49" fmla="*/ 150443 h 788734"/>
                  <a:gd name="connsiteX50" fmla="*/ 311490 w 565672"/>
                  <a:gd name="connsiteY50" fmla="*/ 82445 h 788734"/>
                  <a:gd name="connsiteX51" fmla="*/ 171335 w 565672"/>
                  <a:gd name="connsiteY51" fmla="*/ 139845 h 78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65672" h="788734">
                    <a:moveTo>
                      <a:pt x="165542" y="155311"/>
                    </a:moveTo>
                    <a:cubicBezTo>
                      <a:pt x="140555" y="55456"/>
                      <a:pt x="139939" y="39157"/>
                      <a:pt x="173491" y="21965"/>
                    </a:cubicBezTo>
                    <a:cubicBezTo>
                      <a:pt x="210248" y="3140"/>
                      <a:pt x="284407" y="-10508"/>
                      <a:pt x="329606" y="10843"/>
                    </a:cubicBezTo>
                    <a:cubicBezTo>
                      <a:pt x="358567" y="24553"/>
                      <a:pt x="426164" y="-4562"/>
                      <a:pt x="422036" y="43964"/>
                    </a:cubicBezTo>
                    <a:cubicBezTo>
                      <a:pt x="413009" y="147331"/>
                      <a:pt x="388607" y="143018"/>
                      <a:pt x="388607" y="143018"/>
                    </a:cubicBezTo>
                    <a:cubicBezTo>
                      <a:pt x="360447" y="124748"/>
                      <a:pt x="319284" y="63775"/>
                      <a:pt x="311582" y="75020"/>
                    </a:cubicBezTo>
                    <a:cubicBezTo>
                      <a:pt x="272607" y="133005"/>
                      <a:pt x="178575" y="59738"/>
                      <a:pt x="165542" y="155311"/>
                    </a:cubicBezTo>
                    <a:close/>
                    <a:moveTo>
                      <a:pt x="282836" y="312843"/>
                    </a:moveTo>
                    <a:lnTo>
                      <a:pt x="283083" y="312843"/>
                    </a:lnTo>
                    <a:cubicBezTo>
                      <a:pt x="303787" y="312843"/>
                      <a:pt x="323136" y="303785"/>
                      <a:pt x="339650" y="288195"/>
                    </a:cubicBezTo>
                    <a:cubicBezTo>
                      <a:pt x="339157" y="304647"/>
                      <a:pt x="339311" y="342513"/>
                      <a:pt x="368242" y="359613"/>
                    </a:cubicBezTo>
                    <a:cubicBezTo>
                      <a:pt x="368242" y="387742"/>
                      <a:pt x="330314" y="410542"/>
                      <a:pt x="283514" y="410542"/>
                    </a:cubicBezTo>
                    <a:cubicBezTo>
                      <a:pt x="236714" y="410542"/>
                      <a:pt x="198756" y="387742"/>
                      <a:pt x="198756" y="359613"/>
                    </a:cubicBezTo>
                    <a:cubicBezTo>
                      <a:pt x="225437" y="343037"/>
                      <a:pt x="227655" y="307944"/>
                      <a:pt x="227440" y="289027"/>
                    </a:cubicBezTo>
                    <a:cubicBezTo>
                      <a:pt x="243677" y="304062"/>
                      <a:pt x="262594" y="312750"/>
                      <a:pt x="282836" y="312843"/>
                    </a:cubicBezTo>
                    <a:close/>
                    <a:moveTo>
                      <a:pt x="282836" y="605785"/>
                    </a:moveTo>
                    <a:lnTo>
                      <a:pt x="173707" y="358103"/>
                    </a:lnTo>
                    <a:lnTo>
                      <a:pt x="92831" y="358103"/>
                    </a:lnTo>
                    <a:cubicBezTo>
                      <a:pt x="41625" y="358255"/>
                      <a:pt x="152" y="399728"/>
                      <a:pt x="0" y="450933"/>
                    </a:cubicBezTo>
                    <a:lnTo>
                      <a:pt x="0" y="715900"/>
                    </a:lnTo>
                    <a:cubicBezTo>
                      <a:pt x="31839" y="733536"/>
                      <a:pt x="65260" y="748152"/>
                      <a:pt x="99825" y="759558"/>
                    </a:cubicBezTo>
                    <a:lnTo>
                      <a:pt x="99825" y="520687"/>
                    </a:lnTo>
                    <a:cubicBezTo>
                      <a:pt x="99825" y="514919"/>
                      <a:pt x="104501" y="510243"/>
                      <a:pt x="110269" y="510243"/>
                    </a:cubicBezTo>
                    <a:cubicBezTo>
                      <a:pt x="116038" y="510243"/>
                      <a:pt x="120714" y="514919"/>
                      <a:pt x="120714" y="520687"/>
                    </a:cubicBezTo>
                    <a:lnTo>
                      <a:pt x="120714" y="765935"/>
                    </a:lnTo>
                    <a:cubicBezTo>
                      <a:pt x="226658" y="796334"/>
                      <a:pt x="339014" y="796334"/>
                      <a:pt x="444959" y="765935"/>
                    </a:cubicBezTo>
                    <a:lnTo>
                      <a:pt x="444959" y="520687"/>
                    </a:lnTo>
                    <a:cubicBezTo>
                      <a:pt x="444959" y="514919"/>
                      <a:pt x="449635" y="510243"/>
                      <a:pt x="455403" y="510243"/>
                    </a:cubicBezTo>
                    <a:cubicBezTo>
                      <a:pt x="461172" y="510243"/>
                      <a:pt x="465848" y="514919"/>
                      <a:pt x="465848" y="520687"/>
                    </a:cubicBezTo>
                    <a:lnTo>
                      <a:pt x="465848" y="759558"/>
                    </a:lnTo>
                    <a:cubicBezTo>
                      <a:pt x="500410" y="748147"/>
                      <a:pt x="533830" y="733531"/>
                      <a:pt x="565672" y="715900"/>
                    </a:cubicBezTo>
                    <a:lnTo>
                      <a:pt x="565672" y="450933"/>
                    </a:lnTo>
                    <a:cubicBezTo>
                      <a:pt x="565520" y="399728"/>
                      <a:pt x="524047" y="358255"/>
                      <a:pt x="472842" y="358103"/>
                    </a:cubicBezTo>
                    <a:lnTo>
                      <a:pt x="391965" y="358103"/>
                    </a:lnTo>
                    <a:close/>
                    <a:moveTo>
                      <a:pt x="311305" y="411373"/>
                    </a:moveTo>
                    <a:lnTo>
                      <a:pt x="311305" y="411373"/>
                    </a:lnTo>
                    <a:lnTo>
                      <a:pt x="297379" y="424252"/>
                    </a:lnTo>
                    <a:lnTo>
                      <a:pt x="310226" y="534028"/>
                    </a:lnTo>
                    <a:lnTo>
                      <a:pt x="282836" y="596511"/>
                    </a:lnTo>
                    <a:lnTo>
                      <a:pt x="255354" y="534151"/>
                    </a:lnTo>
                    <a:lnTo>
                      <a:pt x="268201" y="424375"/>
                    </a:lnTo>
                    <a:lnTo>
                      <a:pt x="254275" y="411497"/>
                    </a:lnTo>
                    <a:lnTo>
                      <a:pt x="254553" y="411127"/>
                    </a:lnTo>
                    <a:cubicBezTo>
                      <a:pt x="263847" y="413138"/>
                      <a:pt x="273327" y="414171"/>
                      <a:pt x="282836" y="414208"/>
                    </a:cubicBezTo>
                    <a:lnTo>
                      <a:pt x="283514" y="414208"/>
                    </a:lnTo>
                    <a:cubicBezTo>
                      <a:pt x="292850" y="414217"/>
                      <a:pt x="302163" y="413267"/>
                      <a:pt x="311305" y="411373"/>
                    </a:cubicBezTo>
                    <a:close/>
                    <a:moveTo>
                      <a:pt x="171335" y="139845"/>
                    </a:moveTo>
                    <a:cubicBezTo>
                      <a:pt x="172968" y="232737"/>
                      <a:pt x="222264" y="307266"/>
                      <a:pt x="282836" y="307266"/>
                    </a:cubicBezTo>
                    <a:cubicBezTo>
                      <a:pt x="341375" y="307266"/>
                      <a:pt x="389562" y="237358"/>
                      <a:pt x="394060" y="148564"/>
                    </a:cubicBezTo>
                    <a:cubicBezTo>
                      <a:pt x="392503" y="149847"/>
                      <a:pt x="390531" y="150515"/>
                      <a:pt x="388515" y="150443"/>
                    </a:cubicBezTo>
                    <a:cubicBezTo>
                      <a:pt x="360354" y="132173"/>
                      <a:pt x="319192" y="71200"/>
                      <a:pt x="311490" y="82445"/>
                    </a:cubicBezTo>
                    <a:cubicBezTo>
                      <a:pt x="276304" y="134946"/>
                      <a:pt x="195921" y="79888"/>
                      <a:pt x="171335" y="139845"/>
                    </a:cubicBezTo>
                    <a:close/>
                  </a:path>
                </a:pathLst>
              </a:custGeom>
              <a:solidFill>
                <a:schemeClr val="bg1"/>
              </a:solidFill>
              <a:ln w="30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5" name="文本框 184"/>
              <p:cNvSpPr txBox="1"/>
              <p:nvPr/>
            </p:nvSpPr>
            <p:spPr>
              <a:xfrm>
                <a:off x="8429749" y="2786924"/>
                <a:ext cx="1015176" cy="3523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a:t>
                </a:r>
              </a:p>
            </p:txBody>
          </p:sp>
        </p:grpSp>
        <p:sp>
          <p:nvSpPr>
            <p:cNvPr id="187" name="任意多边形: 形状 186"/>
            <p:cNvSpPr/>
            <p:nvPr/>
          </p:nvSpPr>
          <p:spPr>
            <a:xfrm>
              <a:off x="6245980" y="2241999"/>
              <a:ext cx="2155371" cy="0"/>
            </a:xfrm>
            <a:custGeom>
              <a:avLst/>
              <a:gdLst>
                <a:gd name="connsiteX0" fmla="*/ 0 w 2155371"/>
                <a:gd name="connsiteY0" fmla="*/ 0 h 0"/>
                <a:gd name="connsiteX1" fmla="*/ 2155371 w 2155371"/>
                <a:gd name="connsiteY1" fmla="*/ 0 h 0"/>
              </a:gdLst>
              <a:ahLst/>
              <a:cxnLst>
                <a:cxn ang="0">
                  <a:pos x="connsiteX0" y="connsiteY0"/>
                </a:cxn>
                <a:cxn ang="0">
                  <a:pos x="connsiteX1" y="connsiteY1"/>
                </a:cxn>
              </a:cxnLst>
              <a:rect l="l" t="t" r="r" b="b"/>
              <a:pathLst>
                <a:path w="2155371">
                  <a:moveTo>
                    <a:pt x="0" y="0"/>
                  </a:moveTo>
                  <a:lnTo>
                    <a:pt x="2155371" y="0"/>
                  </a:lnTo>
                </a:path>
              </a:pathLst>
            </a:custGeom>
            <a:noFill/>
            <a:ln w="19050" cap="rnd">
              <a:solidFill>
                <a:schemeClr val="accent4"/>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8" name="任意多边形: 形状 187"/>
            <p:cNvSpPr/>
            <p:nvPr/>
          </p:nvSpPr>
          <p:spPr>
            <a:xfrm flipH="1">
              <a:off x="9376859" y="2241999"/>
              <a:ext cx="2155371" cy="0"/>
            </a:xfrm>
            <a:custGeom>
              <a:avLst/>
              <a:gdLst>
                <a:gd name="connsiteX0" fmla="*/ 0 w 2155371"/>
                <a:gd name="connsiteY0" fmla="*/ 0 h 0"/>
                <a:gd name="connsiteX1" fmla="*/ 2155371 w 2155371"/>
                <a:gd name="connsiteY1" fmla="*/ 0 h 0"/>
              </a:gdLst>
              <a:ahLst/>
              <a:cxnLst>
                <a:cxn ang="0">
                  <a:pos x="connsiteX0" y="connsiteY0"/>
                </a:cxn>
                <a:cxn ang="0">
                  <a:pos x="connsiteX1" y="connsiteY1"/>
                </a:cxn>
              </a:cxnLst>
              <a:rect l="l" t="t" r="r" b="b"/>
              <a:pathLst>
                <a:path w="2155371">
                  <a:moveTo>
                    <a:pt x="0" y="0"/>
                  </a:moveTo>
                  <a:lnTo>
                    <a:pt x="2155371" y="0"/>
                  </a:lnTo>
                </a:path>
              </a:pathLst>
            </a:custGeom>
            <a:noFill/>
            <a:ln w="19050" cap="rnd">
              <a:solidFill>
                <a:schemeClr val="accent4"/>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90" name="矩形 189"/>
          <p:cNvSpPr/>
          <p:nvPr/>
        </p:nvSpPr>
        <p:spPr>
          <a:xfrm>
            <a:off x="6430368" y="1648821"/>
            <a:ext cx="1530260" cy="2229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前链路增长</a:t>
            </a:r>
          </a:p>
        </p:txBody>
      </p:sp>
      <p:sp>
        <p:nvSpPr>
          <p:cNvPr id="191" name="矩形 190"/>
          <p:cNvSpPr/>
          <p:nvPr/>
        </p:nvSpPr>
        <p:spPr>
          <a:xfrm>
            <a:off x="9805365" y="1648821"/>
            <a:ext cx="1530260" cy="2229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后链路经营</a:t>
            </a:r>
          </a:p>
        </p:txBody>
      </p:sp>
      <p:sp>
        <p:nvSpPr>
          <p:cNvPr id="192" name="弧形 191"/>
          <p:cNvSpPr/>
          <p:nvPr/>
        </p:nvSpPr>
        <p:spPr>
          <a:xfrm flipH="1">
            <a:off x="8388650" y="1436812"/>
            <a:ext cx="975508" cy="975508"/>
          </a:xfrm>
          <a:prstGeom prst="arc">
            <a:avLst>
              <a:gd name="adj1" fmla="val 26398"/>
              <a:gd name="adj2" fmla="val 10776958"/>
            </a:avLst>
          </a:prstGeom>
          <a:noFill/>
          <a:ln w="19050" cap="rnd">
            <a:solidFill>
              <a:schemeClr val="accent4"/>
            </a:solidFill>
            <a:headEnd type="stealth" w="lg" len="lg"/>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矩形 195"/>
          <p:cNvSpPr/>
          <p:nvPr/>
        </p:nvSpPr>
        <p:spPr>
          <a:xfrm flipV="1">
            <a:off x="9624003" y="1965598"/>
            <a:ext cx="1892985" cy="2359064"/>
          </a:xfrm>
          <a:prstGeom prst="rect">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11" name="组合 210"/>
          <p:cNvGrpSpPr/>
          <p:nvPr/>
        </p:nvGrpSpPr>
        <p:grpSpPr>
          <a:xfrm>
            <a:off x="9841246" y="2493382"/>
            <a:ext cx="1465238" cy="1288214"/>
            <a:chOff x="9851406" y="2698611"/>
            <a:chExt cx="1465238" cy="1184529"/>
          </a:xfrm>
        </p:grpSpPr>
        <p:sp>
          <p:nvSpPr>
            <p:cNvPr id="197" name="任意多边形: 形状 196"/>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0" name="任意多边形: 形状 209"/>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12" name="文本框 211"/>
          <p:cNvSpPr txBox="1"/>
          <p:nvPr/>
        </p:nvSpPr>
        <p:spPr>
          <a:xfrm>
            <a:off x="10243362" y="2803808"/>
            <a:ext cx="65426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cs typeface="+mn-ea"/>
                <a:sym typeface="+mn-lt"/>
              </a:rPr>
              <a:t>OS</a:t>
            </a:r>
            <a:r>
              <a:rPr kumimoji="0" lang="zh-CN" altLang="en-US" sz="800" b="0" i="0" u="none" strike="noStrike" kern="1200" cap="none" spc="0" normalizeH="0" baseline="0" noProof="0" dirty="0">
                <a:ln>
                  <a:noFill/>
                </a:ln>
                <a:solidFill>
                  <a:prstClr val="black"/>
                </a:solidFill>
                <a:effectLst/>
                <a:uLnTx/>
                <a:uFillTx/>
                <a:cs typeface="+mn-ea"/>
                <a:sym typeface="+mn-lt"/>
              </a:rPr>
              <a:t>系统</a:t>
            </a:r>
            <a:endParaRPr kumimoji="0" lang="en-US" altLang="zh-CN" sz="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cs typeface="+mn-ea"/>
                <a:sym typeface="+mn-lt"/>
              </a:rPr>
              <a:t>主动触发</a:t>
            </a:r>
            <a:endParaRPr kumimoji="0" lang="en-US" altLang="zh-CN" sz="800" b="0" i="0" u="none" strike="noStrike" kern="1200" cap="none" spc="0" normalizeH="0" baseline="0" noProof="0" dirty="0">
              <a:ln>
                <a:noFill/>
              </a:ln>
              <a:solidFill>
                <a:prstClr val="black"/>
              </a:solidFill>
              <a:effectLst/>
              <a:uLnTx/>
              <a:uFillTx/>
              <a:cs typeface="+mn-ea"/>
              <a:sym typeface="+mn-lt"/>
            </a:endParaRPr>
          </a:p>
        </p:txBody>
      </p:sp>
      <p:grpSp>
        <p:nvGrpSpPr>
          <p:cNvPr id="179" name="组合 178"/>
          <p:cNvGrpSpPr/>
          <p:nvPr/>
        </p:nvGrpSpPr>
        <p:grpSpPr>
          <a:xfrm>
            <a:off x="9796237" y="2846574"/>
            <a:ext cx="399211" cy="892995"/>
            <a:chOff x="9796237" y="3021834"/>
            <a:chExt cx="399211" cy="892995"/>
          </a:xfrm>
        </p:grpSpPr>
        <p:grpSp>
          <p:nvGrpSpPr>
            <p:cNvPr id="218" name="组合 217"/>
            <p:cNvGrpSpPr/>
            <p:nvPr/>
          </p:nvGrpSpPr>
          <p:grpSpPr>
            <a:xfrm>
              <a:off x="9796237" y="3515618"/>
              <a:ext cx="399211" cy="399211"/>
              <a:chOff x="3034947" y="4607540"/>
              <a:chExt cx="663193" cy="663193"/>
            </a:xfrm>
          </p:grpSpPr>
          <p:sp>
            <p:nvSpPr>
              <p:cNvPr id="219" name="椭圆 218"/>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20" name="文本框 219"/>
              <p:cNvSpPr txBox="1"/>
              <p:nvPr/>
            </p:nvSpPr>
            <p:spPr>
              <a:xfrm>
                <a:off x="3034947" y="4677526"/>
                <a:ext cx="663193" cy="56242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复购率</a:t>
                </a:r>
              </a:p>
            </p:txBody>
          </p:sp>
        </p:grpSp>
        <p:sp>
          <p:nvSpPr>
            <p:cNvPr id="221" name="箭头: 下 220"/>
            <p:cNvSpPr/>
            <p:nvPr/>
          </p:nvSpPr>
          <p:spPr>
            <a:xfrm flipV="1">
              <a:off x="9892986" y="3021834"/>
              <a:ext cx="184023"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4" name="文本框 223"/>
            <p:cNvSpPr txBox="1"/>
            <p:nvPr/>
          </p:nvSpPr>
          <p:spPr>
            <a:xfrm>
              <a:off x="9866922" y="3083756"/>
              <a:ext cx="254749" cy="276999"/>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prstClr val="white"/>
                  </a:solidFill>
                  <a:effectLst/>
                  <a:uLnTx/>
                  <a:uFillTx/>
                  <a:cs typeface="+mn-ea"/>
                  <a:sym typeface="+mn-lt"/>
                </a:rPr>
                <a:t>提升</a:t>
              </a:r>
              <a:endParaRPr kumimoji="0" lang="en-US" altLang="zh-CN" sz="600" b="0" i="0" u="none" strike="noStrike" kern="1200" cap="none" spc="0" normalizeH="0" baseline="0" noProof="0" dirty="0">
                <a:ln>
                  <a:noFill/>
                </a:ln>
                <a:solidFill>
                  <a:prstClr val="white"/>
                </a:solidFill>
                <a:effectLst/>
                <a:uLnTx/>
                <a:uFillTx/>
                <a:cs typeface="+mn-ea"/>
                <a:sym typeface="+mn-lt"/>
              </a:endParaRPr>
            </a:p>
          </p:txBody>
        </p:sp>
      </p:grpSp>
      <p:grpSp>
        <p:nvGrpSpPr>
          <p:cNvPr id="178" name="组合 177"/>
          <p:cNvGrpSpPr/>
          <p:nvPr/>
        </p:nvGrpSpPr>
        <p:grpSpPr>
          <a:xfrm>
            <a:off x="10901337" y="2846574"/>
            <a:ext cx="399211" cy="892995"/>
            <a:chOff x="10901337" y="3021834"/>
            <a:chExt cx="399211" cy="892995"/>
          </a:xfrm>
        </p:grpSpPr>
        <p:grpSp>
          <p:nvGrpSpPr>
            <p:cNvPr id="215" name="组合 214"/>
            <p:cNvGrpSpPr/>
            <p:nvPr/>
          </p:nvGrpSpPr>
          <p:grpSpPr>
            <a:xfrm>
              <a:off x="10901337" y="3515618"/>
              <a:ext cx="399211" cy="399211"/>
              <a:chOff x="3034947" y="4607540"/>
              <a:chExt cx="663193" cy="663193"/>
            </a:xfrm>
          </p:grpSpPr>
          <p:sp>
            <p:nvSpPr>
              <p:cNvPr id="216" name="椭圆 215"/>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17" name="文本框 216"/>
              <p:cNvSpPr txBox="1"/>
              <p:nvPr/>
            </p:nvSpPr>
            <p:spPr>
              <a:xfrm>
                <a:off x="3034947" y="4677526"/>
                <a:ext cx="663193" cy="56242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转化率</a:t>
                </a:r>
              </a:p>
            </p:txBody>
          </p:sp>
        </p:grpSp>
        <p:sp>
          <p:nvSpPr>
            <p:cNvPr id="222" name="箭头: 下 221"/>
            <p:cNvSpPr/>
            <p:nvPr/>
          </p:nvSpPr>
          <p:spPr>
            <a:xfrm flipV="1">
              <a:off x="11009956" y="3021834"/>
              <a:ext cx="184023"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5" name="文本框 224"/>
            <p:cNvSpPr txBox="1"/>
            <p:nvPr/>
          </p:nvSpPr>
          <p:spPr>
            <a:xfrm>
              <a:off x="10985306" y="3083756"/>
              <a:ext cx="254749" cy="276999"/>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prstClr val="white"/>
                  </a:solidFill>
                  <a:effectLst/>
                  <a:uLnTx/>
                  <a:uFillTx/>
                  <a:cs typeface="+mn-ea"/>
                  <a:sym typeface="+mn-lt"/>
                </a:rPr>
                <a:t>增强</a:t>
              </a:r>
              <a:endParaRPr kumimoji="0" lang="en-US" altLang="zh-CN" sz="600" b="0" i="0" u="none" strike="noStrike" kern="1200" cap="none" spc="0" normalizeH="0" baseline="0" noProof="0" dirty="0">
                <a:ln>
                  <a:noFill/>
                </a:ln>
                <a:solidFill>
                  <a:prstClr val="white"/>
                </a:solidFill>
                <a:effectLst/>
                <a:uLnTx/>
                <a:uFillTx/>
                <a:cs typeface="+mn-ea"/>
                <a:sym typeface="+mn-lt"/>
              </a:endParaRPr>
            </a:p>
          </p:txBody>
        </p:sp>
      </p:grpSp>
      <p:sp>
        <p:nvSpPr>
          <p:cNvPr id="251" name="矩形 250"/>
          <p:cNvSpPr/>
          <p:nvPr/>
        </p:nvSpPr>
        <p:spPr>
          <a:xfrm flipV="1">
            <a:off x="6249006" y="1965598"/>
            <a:ext cx="1892985" cy="2359064"/>
          </a:xfrm>
          <a:prstGeom prst="rect">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54" name="组合 253"/>
          <p:cNvGrpSpPr/>
          <p:nvPr/>
        </p:nvGrpSpPr>
        <p:grpSpPr>
          <a:xfrm>
            <a:off x="6466249" y="2493382"/>
            <a:ext cx="1465238" cy="1288214"/>
            <a:chOff x="9851406" y="2698611"/>
            <a:chExt cx="1465238" cy="1184529"/>
          </a:xfrm>
        </p:grpSpPr>
        <p:sp>
          <p:nvSpPr>
            <p:cNvPr id="266" name="任意多边形: 形状 265"/>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7" name="任意多边形: 形状 266"/>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55" name="文本框 254"/>
          <p:cNvSpPr txBox="1"/>
          <p:nvPr/>
        </p:nvSpPr>
        <p:spPr>
          <a:xfrm>
            <a:off x="6868365" y="2803808"/>
            <a:ext cx="65426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cs typeface="+mn-ea"/>
                <a:sym typeface="+mn-lt"/>
              </a:rPr>
              <a:t>营销自动化技术</a:t>
            </a:r>
            <a:endParaRPr kumimoji="0" lang="en-US" altLang="zh-CN" sz="800" b="0" i="0" u="none" strike="noStrike" kern="1200" cap="none" spc="0" normalizeH="0" baseline="0" noProof="0" dirty="0">
              <a:ln>
                <a:noFill/>
              </a:ln>
              <a:solidFill>
                <a:prstClr val="black"/>
              </a:solidFill>
              <a:effectLst/>
              <a:uLnTx/>
              <a:uFillTx/>
              <a:cs typeface="+mn-ea"/>
              <a:sym typeface="+mn-lt"/>
            </a:endParaRPr>
          </a:p>
        </p:txBody>
      </p:sp>
      <p:sp>
        <p:nvSpPr>
          <p:cNvPr id="290" name="任意多边形: 形状 289"/>
          <p:cNvSpPr/>
          <p:nvPr/>
        </p:nvSpPr>
        <p:spPr>
          <a:xfrm flipH="1" flipV="1">
            <a:off x="7624966" y="2609254"/>
            <a:ext cx="2513063" cy="1872261"/>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1" name="梯形 290"/>
          <p:cNvSpPr/>
          <p:nvPr/>
        </p:nvSpPr>
        <p:spPr>
          <a:xfrm flipH="1">
            <a:off x="241640" y="5153700"/>
            <a:ext cx="11688395" cy="344646"/>
          </a:xfrm>
          <a:prstGeom prst="trapezoid">
            <a:avLst>
              <a:gd name="adj" fmla="val 96982"/>
            </a:avLst>
          </a:prstGeom>
          <a:gradFill>
            <a:gsLst>
              <a:gs pos="100000">
                <a:schemeClr val="accent2"/>
              </a:gs>
              <a:gs pos="38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2" name="矩形 291"/>
          <p:cNvSpPr/>
          <p:nvPr/>
        </p:nvSpPr>
        <p:spPr>
          <a:xfrm>
            <a:off x="252514" y="5523560"/>
            <a:ext cx="11688395" cy="1139690"/>
          </a:xfrm>
          <a:prstGeom prst="rect">
            <a:avLst/>
          </a:prstGeom>
          <a:solidFill>
            <a:schemeClr val="accent3"/>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 name="矩形: 圆角 3"/>
          <p:cNvSpPr/>
          <p:nvPr/>
        </p:nvSpPr>
        <p:spPr>
          <a:xfrm flipV="1">
            <a:off x="6247992" y="4473265"/>
            <a:ext cx="5268996" cy="772195"/>
          </a:xfrm>
          <a:prstGeom prst="roundRect">
            <a:avLst>
              <a:gd name="adj" fmla="val 0"/>
            </a:avLst>
          </a:prstGeom>
          <a:noFill/>
          <a:ln w="19050">
            <a:gradFill flip="none" rotWithShape="1">
              <a:gsLst>
                <a:gs pos="100000">
                  <a:schemeClr val="accent4"/>
                </a:gs>
                <a:gs pos="36000">
                  <a:schemeClr val="accent5">
                    <a:alpha val="0"/>
                  </a:schemeClr>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5" name="矩形 34"/>
          <p:cNvSpPr/>
          <p:nvPr/>
        </p:nvSpPr>
        <p:spPr>
          <a:xfrm>
            <a:off x="9666922"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矩形 38"/>
          <p:cNvSpPr/>
          <p:nvPr/>
        </p:nvSpPr>
        <p:spPr>
          <a:xfrm>
            <a:off x="7344391"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0" name="矩形 39"/>
          <p:cNvSpPr/>
          <p:nvPr/>
        </p:nvSpPr>
        <p:spPr>
          <a:xfrm>
            <a:off x="5021858"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1" name="矩形 40"/>
          <p:cNvSpPr/>
          <p:nvPr/>
        </p:nvSpPr>
        <p:spPr>
          <a:xfrm>
            <a:off x="2699325"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5" name="图形 300"/>
          <p:cNvSpPr>
            <a:spLocks noChangeAspect="1"/>
          </p:cNvSpPr>
          <p:nvPr/>
        </p:nvSpPr>
        <p:spPr>
          <a:xfrm>
            <a:off x="7545495" y="5987349"/>
            <a:ext cx="325385" cy="252000"/>
          </a:xfrm>
          <a:custGeom>
            <a:avLst/>
            <a:gdLst>
              <a:gd name="connsiteX0" fmla="*/ 414884 w 1219200"/>
              <a:gd name="connsiteY0" fmla="*/ 944231 h 944231"/>
              <a:gd name="connsiteX1" fmla="*/ 553179 w 1219200"/>
              <a:gd name="connsiteY1" fmla="*/ 944231 h 944231"/>
              <a:gd name="connsiteX2" fmla="*/ 590793 w 1219200"/>
              <a:gd name="connsiteY2" fmla="*/ 919104 h 944231"/>
              <a:gd name="connsiteX3" fmla="*/ 590793 w 1219200"/>
              <a:gd name="connsiteY3" fmla="*/ 616895 h 944231"/>
              <a:gd name="connsiteX4" fmla="*/ 490276 w 1219200"/>
              <a:gd name="connsiteY4" fmla="*/ 566637 h 944231"/>
              <a:gd name="connsiteX5" fmla="*/ 377109 w 1219200"/>
              <a:gd name="connsiteY5" fmla="*/ 629540 h 944231"/>
              <a:gd name="connsiteX6" fmla="*/ 377109 w 1219200"/>
              <a:gd name="connsiteY6" fmla="*/ 919104 h 944231"/>
              <a:gd name="connsiteX7" fmla="*/ 414884 w 1219200"/>
              <a:gd name="connsiteY7" fmla="*/ 944231 h 944231"/>
              <a:gd name="connsiteX8" fmla="*/ 0 w 1219200"/>
              <a:gd name="connsiteY8" fmla="*/ 616895 h 944231"/>
              <a:gd name="connsiteX9" fmla="*/ 465144 w 1219200"/>
              <a:gd name="connsiteY9" fmla="*/ 352629 h 944231"/>
              <a:gd name="connsiteX10" fmla="*/ 490276 w 1219200"/>
              <a:gd name="connsiteY10" fmla="*/ 327336 h 944231"/>
              <a:gd name="connsiteX11" fmla="*/ 515403 w 1219200"/>
              <a:gd name="connsiteY11" fmla="*/ 352629 h 944231"/>
              <a:gd name="connsiteX12" fmla="*/ 653701 w 1219200"/>
              <a:gd name="connsiteY12" fmla="*/ 428181 h 944231"/>
              <a:gd name="connsiteX13" fmla="*/ 1018165 w 1219200"/>
              <a:gd name="connsiteY13" fmla="*/ 113327 h 944231"/>
              <a:gd name="connsiteX14" fmla="*/ 967902 w 1219200"/>
              <a:gd name="connsiteY14" fmla="*/ 50422 h 944231"/>
              <a:gd name="connsiteX15" fmla="*/ 1093551 w 1219200"/>
              <a:gd name="connsiteY15" fmla="*/ 25292 h 944231"/>
              <a:gd name="connsiteX16" fmla="*/ 1219200 w 1219200"/>
              <a:gd name="connsiteY16" fmla="*/ 0 h 944231"/>
              <a:gd name="connsiteX17" fmla="*/ 1181586 w 1219200"/>
              <a:gd name="connsiteY17" fmla="*/ 125973 h 944231"/>
              <a:gd name="connsiteX18" fmla="*/ 1143810 w 1219200"/>
              <a:gd name="connsiteY18" fmla="*/ 239300 h 944231"/>
              <a:gd name="connsiteX19" fmla="*/ 1093551 w 1219200"/>
              <a:gd name="connsiteY19" fmla="*/ 188878 h 944231"/>
              <a:gd name="connsiteX20" fmla="*/ 691315 w 1219200"/>
              <a:gd name="connsiteY20" fmla="*/ 528860 h 944231"/>
              <a:gd name="connsiteX21" fmla="*/ 666183 w 1219200"/>
              <a:gd name="connsiteY21" fmla="*/ 553992 h 944231"/>
              <a:gd name="connsiteX22" fmla="*/ 628569 w 1219200"/>
              <a:gd name="connsiteY22" fmla="*/ 541510 h 944231"/>
              <a:gd name="connsiteX23" fmla="*/ 490276 w 1219200"/>
              <a:gd name="connsiteY23" fmla="*/ 453308 h 944231"/>
              <a:gd name="connsiteX24" fmla="*/ 62905 w 1219200"/>
              <a:gd name="connsiteY24" fmla="*/ 717741 h 944231"/>
              <a:gd name="connsiteX25" fmla="*/ 0 w 1219200"/>
              <a:gd name="connsiteY25" fmla="*/ 616895 h 944231"/>
              <a:gd name="connsiteX26" fmla="*/ 125811 w 1219200"/>
              <a:gd name="connsiteY26" fmla="*/ 944231 h 944231"/>
              <a:gd name="connsiteX27" fmla="*/ 264106 w 1219200"/>
              <a:gd name="connsiteY27" fmla="*/ 944231 h 944231"/>
              <a:gd name="connsiteX28" fmla="*/ 289237 w 1219200"/>
              <a:gd name="connsiteY28" fmla="*/ 919104 h 944231"/>
              <a:gd name="connsiteX29" fmla="*/ 289237 w 1219200"/>
              <a:gd name="connsiteY29" fmla="*/ 679965 h 944231"/>
              <a:gd name="connsiteX30" fmla="*/ 88035 w 1219200"/>
              <a:gd name="connsiteY30" fmla="*/ 805776 h 944231"/>
              <a:gd name="connsiteX31" fmla="*/ 88035 w 1219200"/>
              <a:gd name="connsiteY31" fmla="*/ 919104 h 944231"/>
              <a:gd name="connsiteX32" fmla="*/ 125811 w 1219200"/>
              <a:gd name="connsiteY32" fmla="*/ 944231 h 944231"/>
              <a:gd name="connsiteX33" fmla="*/ 703959 w 1219200"/>
              <a:gd name="connsiteY33" fmla="*/ 944231 h 944231"/>
              <a:gd name="connsiteX34" fmla="*/ 842253 w 1219200"/>
              <a:gd name="connsiteY34" fmla="*/ 944231 h 944231"/>
              <a:gd name="connsiteX35" fmla="*/ 879867 w 1219200"/>
              <a:gd name="connsiteY35" fmla="*/ 919104 h 944231"/>
              <a:gd name="connsiteX36" fmla="*/ 879867 w 1219200"/>
              <a:gd name="connsiteY36" fmla="*/ 491084 h 944231"/>
              <a:gd name="connsiteX37" fmla="*/ 678828 w 1219200"/>
              <a:gd name="connsiteY37" fmla="*/ 667321 h 944231"/>
              <a:gd name="connsiteX38" fmla="*/ 666183 w 1219200"/>
              <a:gd name="connsiteY38" fmla="*/ 654671 h 944231"/>
              <a:gd name="connsiteX39" fmla="*/ 666183 w 1219200"/>
              <a:gd name="connsiteY39" fmla="*/ 919104 h 944231"/>
              <a:gd name="connsiteX40" fmla="*/ 703959 w 1219200"/>
              <a:gd name="connsiteY40" fmla="*/ 944231 h 944231"/>
              <a:gd name="connsiteX41" fmla="*/ 993034 w 1219200"/>
              <a:gd name="connsiteY41" fmla="*/ 944231 h 944231"/>
              <a:gd name="connsiteX42" fmla="*/ 1131327 w 1219200"/>
              <a:gd name="connsiteY42" fmla="*/ 944231 h 944231"/>
              <a:gd name="connsiteX43" fmla="*/ 1168941 w 1219200"/>
              <a:gd name="connsiteY43" fmla="*/ 919104 h 944231"/>
              <a:gd name="connsiteX44" fmla="*/ 1168941 w 1219200"/>
              <a:gd name="connsiteY44" fmla="*/ 402887 h 944231"/>
              <a:gd name="connsiteX45" fmla="*/ 1081069 w 1219200"/>
              <a:gd name="connsiteY45" fmla="*/ 302206 h 944231"/>
              <a:gd name="connsiteX46" fmla="*/ 967902 w 1219200"/>
              <a:gd name="connsiteY46" fmla="*/ 415532 h 944231"/>
              <a:gd name="connsiteX47" fmla="*/ 967902 w 1219200"/>
              <a:gd name="connsiteY47" fmla="*/ 919104 h 944231"/>
              <a:gd name="connsiteX48" fmla="*/ 993034 w 1219200"/>
              <a:gd name="connsiteY48" fmla="*/ 944231 h 944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219200" h="944231">
                <a:moveTo>
                  <a:pt x="414884" y="944231"/>
                </a:moveTo>
                <a:cubicBezTo>
                  <a:pt x="465144" y="944231"/>
                  <a:pt x="502758" y="944231"/>
                  <a:pt x="553179" y="944231"/>
                </a:cubicBezTo>
                <a:cubicBezTo>
                  <a:pt x="565666" y="944231"/>
                  <a:pt x="590793" y="931749"/>
                  <a:pt x="590793" y="919104"/>
                </a:cubicBezTo>
                <a:cubicBezTo>
                  <a:pt x="590793" y="616895"/>
                  <a:pt x="590793" y="616895"/>
                  <a:pt x="590793" y="616895"/>
                </a:cubicBezTo>
                <a:cubicBezTo>
                  <a:pt x="490276" y="566637"/>
                  <a:pt x="490276" y="566637"/>
                  <a:pt x="490276" y="566637"/>
                </a:cubicBezTo>
                <a:cubicBezTo>
                  <a:pt x="377109" y="629540"/>
                  <a:pt x="377109" y="629540"/>
                  <a:pt x="377109" y="629540"/>
                </a:cubicBezTo>
                <a:cubicBezTo>
                  <a:pt x="377109" y="919104"/>
                  <a:pt x="377109" y="919104"/>
                  <a:pt x="377109" y="919104"/>
                </a:cubicBezTo>
                <a:cubicBezTo>
                  <a:pt x="377109" y="931749"/>
                  <a:pt x="389755" y="944231"/>
                  <a:pt x="414884" y="944231"/>
                </a:cubicBezTo>
                <a:close/>
                <a:moveTo>
                  <a:pt x="0" y="616895"/>
                </a:moveTo>
                <a:cubicBezTo>
                  <a:pt x="465144" y="352629"/>
                  <a:pt x="465144" y="352629"/>
                  <a:pt x="465144" y="352629"/>
                </a:cubicBezTo>
                <a:cubicBezTo>
                  <a:pt x="490276" y="327336"/>
                  <a:pt x="490276" y="327336"/>
                  <a:pt x="490276" y="327336"/>
                </a:cubicBezTo>
                <a:cubicBezTo>
                  <a:pt x="515403" y="352629"/>
                  <a:pt x="515403" y="352629"/>
                  <a:pt x="515403" y="352629"/>
                </a:cubicBezTo>
                <a:cubicBezTo>
                  <a:pt x="653701" y="428181"/>
                  <a:pt x="653701" y="428181"/>
                  <a:pt x="653701" y="428181"/>
                </a:cubicBezTo>
                <a:cubicBezTo>
                  <a:pt x="1018165" y="113327"/>
                  <a:pt x="1018165" y="113327"/>
                  <a:pt x="1018165" y="113327"/>
                </a:cubicBezTo>
                <a:cubicBezTo>
                  <a:pt x="967902" y="50422"/>
                  <a:pt x="967902" y="50422"/>
                  <a:pt x="967902" y="50422"/>
                </a:cubicBezTo>
                <a:cubicBezTo>
                  <a:pt x="1093551" y="25292"/>
                  <a:pt x="1093551" y="25292"/>
                  <a:pt x="1093551" y="25292"/>
                </a:cubicBezTo>
                <a:cubicBezTo>
                  <a:pt x="1219200" y="0"/>
                  <a:pt x="1219200" y="0"/>
                  <a:pt x="1219200" y="0"/>
                </a:cubicBezTo>
                <a:cubicBezTo>
                  <a:pt x="1181586" y="125973"/>
                  <a:pt x="1181586" y="125973"/>
                  <a:pt x="1181586" y="125973"/>
                </a:cubicBezTo>
                <a:cubicBezTo>
                  <a:pt x="1143810" y="239300"/>
                  <a:pt x="1143810" y="239300"/>
                  <a:pt x="1143810" y="239300"/>
                </a:cubicBezTo>
                <a:cubicBezTo>
                  <a:pt x="1093551" y="188878"/>
                  <a:pt x="1093551" y="188878"/>
                  <a:pt x="1093551" y="188878"/>
                </a:cubicBezTo>
                <a:cubicBezTo>
                  <a:pt x="691315" y="528860"/>
                  <a:pt x="691315" y="528860"/>
                  <a:pt x="691315" y="528860"/>
                </a:cubicBezTo>
                <a:cubicBezTo>
                  <a:pt x="666183" y="553992"/>
                  <a:pt x="666183" y="553992"/>
                  <a:pt x="666183" y="553992"/>
                </a:cubicBezTo>
                <a:cubicBezTo>
                  <a:pt x="628569" y="541510"/>
                  <a:pt x="628569" y="541510"/>
                  <a:pt x="628569" y="541510"/>
                </a:cubicBezTo>
                <a:cubicBezTo>
                  <a:pt x="490276" y="453308"/>
                  <a:pt x="490276" y="453308"/>
                  <a:pt x="490276" y="453308"/>
                </a:cubicBezTo>
                <a:cubicBezTo>
                  <a:pt x="62905" y="717741"/>
                  <a:pt x="62905" y="717741"/>
                  <a:pt x="62905" y="717741"/>
                </a:cubicBezTo>
                <a:cubicBezTo>
                  <a:pt x="0" y="616895"/>
                  <a:pt x="0" y="616895"/>
                  <a:pt x="0" y="616895"/>
                </a:cubicBezTo>
                <a:close/>
                <a:moveTo>
                  <a:pt x="125811" y="944231"/>
                </a:moveTo>
                <a:cubicBezTo>
                  <a:pt x="264106" y="944231"/>
                  <a:pt x="264106" y="944231"/>
                  <a:pt x="264106" y="944231"/>
                </a:cubicBezTo>
                <a:cubicBezTo>
                  <a:pt x="276590" y="944231"/>
                  <a:pt x="289237" y="931749"/>
                  <a:pt x="289237" y="919104"/>
                </a:cubicBezTo>
                <a:cubicBezTo>
                  <a:pt x="289237" y="679965"/>
                  <a:pt x="289237" y="679965"/>
                  <a:pt x="289237" y="679965"/>
                </a:cubicBezTo>
                <a:cubicBezTo>
                  <a:pt x="88035" y="805776"/>
                  <a:pt x="88035" y="805776"/>
                  <a:pt x="88035" y="805776"/>
                </a:cubicBezTo>
                <a:cubicBezTo>
                  <a:pt x="88035" y="919104"/>
                  <a:pt x="88035" y="919104"/>
                  <a:pt x="88035" y="919104"/>
                </a:cubicBezTo>
                <a:cubicBezTo>
                  <a:pt x="88035" y="931749"/>
                  <a:pt x="100681" y="944231"/>
                  <a:pt x="125811" y="944231"/>
                </a:cubicBezTo>
                <a:close/>
                <a:moveTo>
                  <a:pt x="703959" y="944231"/>
                </a:moveTo>
                <a:cubicBezTo>
                  <a:pt x="754218" y="944231"/>
                  <a:pt x="791994" y="944231"/>
                  <a:pt x="842253" y="944231"/>
                </a:cubicBezTo>
                <a:cubicBezTo>
                  <a:pt x="867385" y="944231"/>
                  <a:pt x="879867" y="931749"/>
                  <a:pt x="879867" y="919104"/>
                </a:cubicBezTo>
                <a:cubicBezTo>
                  <a:pt x="879867" y="780644"/>
                  <a:pt x="879867" y="629540"/>
                  <a:pt x="879867" y="491084"/>
                </a:cubicBezTo>
                <a:cubicBezTo>
                  <a:pt x="678828" y="667321"/>
                  <a:pt x="678828" y="667321"/>
                  <a:pt x="678828" y="667321"/>
                </a:cubicBezTo>
                <a:cubicBezTo>
                  <a:pt x="666183" y="654671"/>
                  <a:pt x="666183" y="654671"/>
                  <a:pt x="666183" y="654671"/>
                </a:cubicBezTo>
                <a:cubicBezTo>
                  <a:pt x="666183" y="919104"/>
                  <a:pt x="666183" y="919104"/>
                  <a:pt x="666183" y="919104"/>
                </a:cubicBezTo>
                <a:cubicBezTo>
                  <a:pt x="666183" y="931749"/>
                  <a:pt x="691315" y="944231"/>
                  <a:pt x="703959" y="944231"/>
                </a:cubicBezTo>
                <a:close/>
                <a:moveTo>
                  <a:pt x="993034" y="944231"/>
                </a:moveTo>
                <a:cubicBezTo>
                  <a:pt x="1131327" y="944231"/>
                  <a:pt x="1131327" y="944231"/>
                  <a:pt x="1131327" y="944231"/>
                </a:cubicBezTo>
                <a:cubicBezTo>
                  <a:pt x="1156459" y="944231"/>
                  <a:pt x="1168941" y="931749"/>
                  <a:pt x="1168941" y="919104"/>
                </a:cubicBezTo>
                <a:cubicBezTo>
                  <a:pt x="1168941" y="402887"/>
                  <a:pt x="1168941" y="402887"/>
                  <a:pt x="1168941" y="402887"/>
                </a:cubicBezTo>
                <a:cubicBezTo>
                  <a:pt x="1081069" y="302206"/>
                  <a:pt x="1081069" y="302206"/>
                  <a:pt x="1081069" y="302206"/>
                </a:cubicBezTo>
                <a:cubicBezTo>
                  <a:pt x="967902" y="415532"/>
                  <a:pt x="967902" y="415532"/>
                  <a:pt x="967902" y="415532"/>
                </a:cubicBezTo>
                <a:cubicBezTo>
                  <a:pt x="967902" y="919104"/>
                  <a:pt x="967902" y="919104"/>
                  <a:pt x="967902" y="919104"/>
                </a:cubicBezTo>
                <a:cubicBezTo>
                  <a:pt x="967902" y="931749"/>
                  <a:pt x="980384" y="944231"/>
                  <a:pt x="993034" y="944231"/>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6" name="文本框 45"/>
          <p:cNvSpPr txBox="1"/>
          <p:nvPr/>
        </p:nvSpPr>
        <p:spPr>
          <a:xfrm>
            <a:off x="8046618" y="5855094"/>
            <a:ext cx="148338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成倍放大获量</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规模</a:t>
            </a:r>
          </a:p>
        </p:txBody>
      </p:sp>
      <p:sp>
        <p:nvSpPr>
          <p:cNvPr id="48" name="文本框 47"/>
          <p:cNvSpPr txBox="1"/>
          <p:nvPr/>
        </p:nvSpPr>
        <p:spPr>
          <a:xfrm>
            <a:off x="10374936" y="5855094"/>
            <a:ext cx="145333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反向带来全域</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渠道增长</a:t>
            </a:r>
          </a:p>
        </p:txBody>
      </p:sp>
      <p:sp>
        <p:nvSpPr>
          <p:cNvPr id="52" name="矩形 51"/>
          <p:cNvSpPr/>
          <p:nvPr/>
        </p:nvSpPr>
        <p:spPr>
          <a:xfrm>
            <a:off x="376792"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文本框 58"/>
          <p:cNvSpPr txBox="1"/>
          <p:nvPr/>
        </p:nvSpPr>
        <p:spPr>
          <a:xfrm>
            <a:off x="5777462"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挖掘高价值</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用户价值</a:t>
            </a:r>
          </a:p>
        </p:txBody>
      </p:sp>
      <p:sp>
        <p:nvSpPr>
          <p:cNvPr id="72" name="任意多边形: 形状 71"/>
          <p:cNvSpPr/>
          <p:nvPr/>
        </p:nvSpPr>
        <p:spPr>
          <a:xfrm>
            <a:off x="5752400" y="586820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3" name="任意多边形: 形状 72"/>
          <p:cNvSpPr/>
          <p:nvPr/>
        </p:nvSpPr>
        <p:spPr>
          <a:xfrm>
            <a:off x="8050116" y="5900704"/>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a:off x="10381836" y="5900704"/>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文本框 78"/>
          <p:cNvSpPr txBox="1"/>
          <p:nvPr/>
        </p:nvSpPr>
        <p:spPr>
          <a:xfrm>
            <a:off x="3381214"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促进后端价值提升</a:t>
            </a:r>
          </a:p>
        </p:txBody>
      </p:sp>
      <p:sp>
        <p:nvSpPr>
          <p:cNvPr id="80" name="任意多边形: 形状 79"/>
          <p:cNvSpPr/>
          <p:nvPr/>
        </p:nvSpPr>
        <p:spPr>
          <a:xfrm>
            <a:off x="3356152" y="588333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2" name="文本框 81"/>
          <p:cNvSpPr txBox="1"/>
          <p:nvPr/>
        </p:nvSpPr>
        <p:spPr>
          <a:xfrm>
            <a:off x="1126050"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推动企业经营</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指标完成</a:t>
            </a:r>
          </a:p>
        </p:txBody>
      </p:sp>
      <p:sp>
        <p:nvSpPr>
          <p:cNvPr id="83" name="任意多边形: 形状 82"/>
          <p:cNvSpPr/>
          <p:nvPr/>
        </p:nvSpPr>
        <p:spPr>
          <a:xfrm>
            <a:off x="1100988" y="588333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图形 108"/>
          <p:cNvSpPr>
            <a:spLocks noChangeAspect="1"/>
          </p:cNvSpPr>
          <p:nvPr/>
        </p:nvSpPr>
        <p:spPr>
          <a:xfrm>
            <a:off x="608308" y="5987349"/>
            <a:ext cx="271452" cy="252000"/>
          </a:xfrm>
          <a:custGeom>
            <a:avLst/>
            <a:gdLst>
              <a:gd name="connsiteX0" fmla="*/ 1076135 w 1219200"/>
              <a:gd name="connsiteY0" fmla="*/ 0 h 1131832"/>
              <a:gd name="connsiteX1" fmla="*/ 139959 w 1219200"/>
              <a:gd name="connsiteY1" fmla="*/ 0 h 1131832"/>
              <a:gd name="connsiteX2" fmla="*/ 0 w 1219200"/>
              <a:gd name="connsiteY2" fmla="*/ 141087 h 1131832"/>
              <a:gd name="connsiteX3" fmla="*/ 0 w 1219200"/>
              <a:gd name="connsiteY3" fmla="*/ 749328 h 1131832"/>
              <a:gd name="connsiteX4" fmla="*/ 139959 w 1219200"/>
              <a:gd name="connsiteY4" fmla="*/ 890417 h 1131832"/>
              <a:gd name="connsiteX5" fmla="*/ 491414 w 1219200"/>
              <a:gd name="connsiteY5" fmla="*/ 890417 h 1131832"/>
              <a:gd name="connsiteX6" fmla="*/ 491414 w 1219200"/>
              <a:gd name="connsiteY6" fmla="*/ 1062857 h 1131832"/>
              <a:gd name="connsiteX7" fmla="*/ 298580 w 1219200"/>
              <a:gd name="connsiteY7" fmla="*/ 1062857 h 1131832"/>
              <a:gd name="connsiteX8" fmla="*/ 264368 w 1219200"/>
              <a:gd name="connsiteY8" fmla="*/ 1097343 h 1131832"/>
              <a:gd name="connsiteX9" fmla="*/ 298580 w 1219200"/>
              <a:gd name="connsiteY9" fmla="*/ 1131833 h 1131832"/>
              <a:gd name="connsiteX10" fmla="*/ 892631 w 1219200"/>
              <a:gd name="connsiteY10" fmla="*/ 1131833 h 1131832"/>
              <a:gd name="connsiteX11" fmla="*/ 926840 w 1219200"/>
              <a:gd name="connsiteY11" fmla="*/ 1097343 h 1131832"/>
              <a:gd name="connsiteX12" fmla="*/ 892631 w 1219200"/>
              <a:gd name="connsiteY12" fmla="*/ 1062857 h 1131832"/>
              <a:gd name="connsiteX13" fmla="*/ 702907 w 1219200"/>
              <a:gd name="connsiteY13" fmla="*/ 1062857 h 1131832"/>
              <a:gd name="connsiteX14" fmla="*/ 702907 w 1219200"/>
              <a:gd name="connsiteY14" fmla="*/ 890417 h 1131832"/>
              <a:gd name="connsiteX15" fmla="*/ 1079240 w 1219200"/>
              <a:gd name="connsiteY15" fmla="*/ 890417 h 1131832"/>
              <a:gd name="connsiteX16" fmla="*/ 1219200 w 1219200"/>
              <a:gd name="connsiteY16" fmla="*/ 749328 h 1131832"/>
              <a:gd name="connsiteX17" fmla="*/ 1219200 w 1219200"/>
              <a:gd name="connsiteY17" fmla="*/ 141087 h 1131832"/>
              <a:gd name="connsiteX18" fmla="*/ 1076135 w 1219200"/>
              <a:gd name="connsiteY18" fmla="*/ 0 h 1131832"/>
              <a:gd name="connsiteX19" fmla="*/ 1013927 w 1219200"/>
              <a:gd name="connsiteY19" fmla="*/ 210063 h 1131832"/>
              <a:gd name="connsiteX20" fmla="*/ 1013927 w 1219200"/>
              <a:gd name="connsiteY20" fmla="*/ 213197 h 1131832"/>
              <a:gd name="connsiteX21" fmla="*/ 665588 w 1219200"/>
              <a:gd name="connsiteY21" fmla="*/ 680352 h 1131832"/>
              <a:gd name="connsiteX22" fmla="*/ 656254 w 1219200"/>
              <a:gd name="connsiteY22" fmla="*/ 674085 h 1131832"/>
              <a:gd name="connsiteX23" fmla="*/ 382555 w 1219200"/>
              <a:gd name="connsiteY23" fmla="*/ 473427 h 1131832"/>
              <a:gd name="connsiteX24" fmla="*/ 286139 w 1219200"/>
              <a:gd name="connsiteY24" fmla="*/ 598837 h 1131832"/>
              <a:gd name="connsiteX25" fmla="*/ 242596 w 1219200"/>
              <a:gd name="connsiteY25" fmla="*/ 614511 h 1131832"/>
              <a:gd name="connsiteX26" fmla="*/ 220825 w 1219200"/>
              <a:gd name="connsiteY26" fmla="*/ 567486 h 1131832"/>
              <a:gd name="connsiteX27" fmla="*/ 223935 w 1219200"/>
              <a:gd name="connsiteY27" fmla="*/ 561214 h 1131832"/>
              <a:gd name="connsiteX28" fmla="*/ 354563 w 1219200"/>
              <a:gd name="connsiteY28" fmla="*/ 388773 h 1131832"/>
              <a:gd name="connsiteX29" fmla="*/ 367005 w 1219200"/>
              <a:gd name="connsiteY29" fmla="*/ 373096 h 1131832"/>
              <a:gd name="connsiteX30" fmla="*/ 650034 w 1219200"/>
              <a:gd name="connsiteY30" fmla="*/ 583159 h 1131832"/>
              <a:gd name="connsiteX31" fmla="*/ 957944 w 1219200"/>
              <a:gd name="connsiteY31" fmla="*/ 172439 h 1131832"/>
              <a:gd name="connsiteX32" fmla="*/ 995263 w 1219200"/>
              <a:gd name="connsiteY32" fmla="*/ 166169 h 1131832"/>
              <a:gd name="connsiteX33" fmla="*/ 1013927 w 1219200"/>
              <a:gd name="connsiteY33" fmla="*/ 210063 h 113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9200" h="1131832">
                <a:moveTo>
                  <a:pt x="1076135" y="0"/>
                </a:moveTo>
                <a:lnTo>
                  <a:pt x="139959" y="0"/>
                </a:lnTo>
                <a:cubicBezTo>
                  <a:pt x="62204" y="0"/>
                  <a:pt x="0" y="62704"/>
                  <a:pt x="0" y="141087"/>
                </a:cubicBezTo>
                <a:lnTo>
                  <a:pt x="0" y="749328"/>
                </a:lnTo>
                <a:cubicBezTo>
                  <a:pt x="0" y="827709"/>
                  <a:pt x="62204" y="890417"/>
                  <a:pt x="139959" y="890417"/>
                </a:cubicBezTo>
                <a:lnTo>
                  <a:pt x="491414" y="890417"/>
                </a:lnTo>
                <a:lnTo>
                  <a:pt x="491414" y="1062857"/>
                </a:lnTo>
                <a:lnTo>
                  <a:pt x="298580" y="1062857"/>
                </a:lnTo>
                <a:cubicBezTo>
                  <a:pt x="279918" y="1062857"/>
                  <a:pt x="264368" y="1078531"/>
                  <a:pt x="264368" y="1097343"/>
                </a:cubicBezTo>
                <a:cubicBezTo>
                  <a:pt x="264368" y="1116155"/>
                  <a:pt x="279918" y="1131833"/>
                  <a:pt x="298580" y="1131833"/>
                </a:cubicBezTo>
                <a:lnTo>
                  <a:pt x="892631" y="1131833"/>
                </a:lnTo>
                <a:cubicBezTo>
                  <a:pt x="911290" y="1131833"/>
                  <a:pt x="926840" y="1116155"/>
                  <a:pt x="926840" y="1097343"/>
                </a:cubicBezTo>
                <a:cubicBezTo>
                  <a:pt x="926840" y="1078531"/>
                  <a:pt x="911290" y="1062857"/>
                  <a:pt x="892631" y="1062857"/>
                </a:cubicBezTo>
                <a:lnTo>
                  <a:pt x="702907" y="1062857"/>
                </a:lnTo>
                <a:lnTo>
                  <a:pt x="702907" y="890417"/>
                </a:lnTo>
                <a:lnTo>
                  <a:pt x="1079240" y="890417"/>
                </a:lnTo>
                <a:cubicBezTo>
                  <a:pt x="1156997" y="890417"/>
                  <a:pt x="1219200" y="827709"/>
                  <a:pt x="1219200" y="749328"/>
                </a:cubicBezTo>
                <a:lnTo>
                  <a:pt x="1219200" y="141087"/>
                </a:lnTo>
                <a:cubicBezTo>
                  <a:pt x="1216090" y="65840"/>
                  <a:pt x="1153887" y="0"/>
                  <a:pt x="1076135" y="0"/>
                </a:cubicBezTo>
                <a:close/>
                <a:moveTo>
                  <a:pt x="1013927" y="210063"/>
                </a:moveTo>
                <a:lnTo>
                  <a:pt x="1013927" y="213197"/>
                </a:lnTo>
                <a:lnTo>
                  <a:pt x="665588" y="680352"/>
                </a:lnTo>
                <a:lnTo>
                  <a:pt x="656254" y="674085"/>
                </a:lnTo>
                <a:lnTo>
                  <a:pt x="382555" y="473427"/>
                </a:lnTo>
                <a:lnTo>
                  <a:pt x="286139" y="598837"/>
                </a:lnTo>
                <a:cubicBezTo>
                  <a:pt x="276809" y="614511"/>
                  <a:pt x="258148" y="620783"/>
                  <a:pt x="242596" y="614511"/>
                </a:cubicBezTo>
                <a:cubicBezTo>
                  <a:pt x="223935" y="608239"/>
                  <a:pt x="214604" y="586293"/>
                  <a:pt x="220825" y="567486"/>
                </a:cubicBezTo>
                <a:cubicBezTo>
                  <a:pt x="220825" y="564352"/>
                  <a:pt x="220825" y="564352"/>
                  <a:pt x="223935" y="561214"/>
                </a:cubicBezTo>
                <a:lnTo>
                  <a:pt x="354563" y="388773"/>
                </a:lnTo>
                <a:lnTo>
                  <a:pt x="367005" y="373096"/>
                </a:lnTo>
                <a:lnTo>
                  <a:pt x="650034" y="583159"/>
                </a:lnTo>
                <a:lnTo>
                  <a:pt x="957944" y="172439"/>
                </a:lnTo>
                <a:cubicBezTo>
                  <a:pt x="967273" y="163033"/>
                  <a:pt x="982828" y="159899"/>
                  <a:pt x="995263" y="166169"/>
                </a:cubicBezTo>
                <a:cubicBezTo>
                  <a:pt x="1013927" y="172439"/>
                  <a:pt x="1023256" y="191251"/>
                  <a:pt x="1013927" y="210063"/>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4" name="图形 112"/>
          <p:cNvSpPr>
            <a:spLocks noChangeAspect="1"/>
          </p:cNvSpPr>
          <p:nvPr/>
        </p:nvSpPr>
        <p:spPr>
          <a:xfrm>
            <a:off x="2900079" y="5987349"/>
            <a:ext cx="269581" cy="252000"/>
          </a:xfrm>
          <a:custGeom>
            <a:avLst/>
            <a:gdLst>
              <a:gd name="connsiteX0" fmla="*/ 803962 w 1219200"/>
              <a:gd name="connsiteY0" fmla="*/ 1139687 h 1139686"/>
              <a:gd name="connsiteX1" fmla="*/ 89487 w 1219200"/>
              <a:gd name="connsiteY1" fmla="*/ 1139687 h 1139686"/>
              <a:gd name="connsiteX2" fmla="*/ 0 w 1219200"/>
              <a:gd name="connsiteY2" fmla="*/ 1050385 h 1139686"/>
              <a:gd name="connsiteX3" fmla="*/ 0 w 1219200"/>
              <a:gd name="connsiteY3" fmla="*/ 221182 h 1139686"/>
              <a:gd name="connsiteX4" fmla="*/ 80876 w 1219200"/>
              <a:gd name="connsiteY4" fmla="*/ 144578 h 1139686"/>
              <a:gd name="connsiteX5" fmla="*/ 102007 w 1219200"/>
              <a:gd name="connsiteY5" fmla="*/ 144578 h 1139686"/>
              <a:gd name="connsiteX6" fmla="*/ 136224 w 1219200"/>
              <a:gd name="connsiteY6" fmla="*/ 178604 h 1139686"/>
              <a:gd name="connsiteX7" fmla="*/ 136224 w 1219200"/>
              <a:gd name="connsiteY7" fmla="*/ 327499 h 1139686"/>
              <a:gd name="connsiteX8" fmla="*/ 170363 w 1219200"/>
              <a:gd name="connsiteY8" fmla="*/ 361526 h 1139686"/>
              <a:gd name="connsiteX9" fmla="*/ 804915 w 1219200"/>
              <a:gd name="connsiteY9" fmla="*/ 357130 h 1139686"/>
              <a:gd name="connsiteX10" fmla="*/ 829189 w 1219200"/>
              <a:gd name="connsiteY10" fmla="*/ 347401 h 1139686"/>
              <a:gd name="connsiteX11" fmla="*/ 839138 w 1219200"/>
              <a:gd name="connsiteY11" fmla="*/ 323184 h 1139686"/>
              <a:gd name="connsiteX12" fmla="*/ 839138 w 1219200"/>
              <a:gd name="connsiteY12" fmla="*/ 174291 h 1139686"/>
              <a:gd name="connsiteX13" fmla="*/ 877419 w 1219200"/>
              <a:gd name="connsiteY13" fmla="*/ 140018 h 1139686"/>
              <a:gd name="connsiteX14" fmla="*/ 898631 w 1219200"/>
              <a:gd name="connsiteY14" fmla="*/ 140018 h 1139686"/>
              <a:gd name="connsiteX15" fmla="*/ 975360 w 1219200"/>
              <a:gd name="connsiteY15" fmla="*/ 216623 h 1139686"/>
              <a:gd name="connsiteX16" fmla="*/ 975360 w 1219200"/>
              <a:gd name="connsiteY16" fmla="*/ 596981 h 1139686"/>
              <a:gd name="connsiteX17" fmla="*/ 677332 w 1219200"/>
              <a:gd name="connsiteY17" fmla="*/ 895466 h 1139686"/>
              <a:gd name="connsiteX18" fmla="*/ 803962 w 1219200"/>
              <a:gd name="connsiteY18" fmla="*/ 1139687 h 1139686"/>
              <a:gd name="connsiteX19" fmla="*/ 258308 w 1219200"/>
              <a:gd name="connsiteY19" fmla="*/ 835473 h 1139686"/>
              <a:gd name="connsiteX20" fmla="*/ 516941 w 1219200"/>
              <a:gd name="connsiteY20" fmla="*/ 835473 h 1139686"/>
              <a:gd name="connsiteX21" fmla="*/ 563918 w 1219200"/>
              <a:gd name="connsiteY21" fmla="*/ 790943 h 1139686"/>
              <a:gd name="connsiteX22" fmla="*/ 516779 w 1219200"/>
              <a:gd name="connsiteY22" fmla="*/ 746419 h 1139686"/>
              <a:gd name="connsiteX23" fmla="*/ 258308 w 1219200"/>
              <a:gd name="connsiteY23" fmla="*/ 746419 h 1139686"/>
              <a:gd name="connsiteX24" fmla="*/ 211164 w 1219200"/>
              <a:gd name="connsiteY24" fmla="*/ 790943 h 1139686"/>
              <a:gd name="connsiteX25" fmla="*/ 258308 w 1219200"/>
              <a:gd name="connsiteY25" fmla="*/ 835473 h 1139686"/>
              <a:gd name="connsiteX26" fmla="*/ 712499 w 1219200"/>
              <a:gd name="connsiteY26" fmla="*/ 569844 h 1139686"/>
              <a:gd name="connsiteX27" fmla="*/ 258308 w 1219200"/>
              <a:gd name="connsiteY27" fmla="*/ 569844 h 1139686"/>
              <a:gd name="connsiteX28" fmla="*/ 211164 w 1219200"/>
              <a:gd name="connsiteY28" fmla="*/ 614374 h 1139686"/>
              <a:gd name="connsiteX29" fmla="*/ 258308 w 1219200"/>
              <a:gd name="connsiteY29" fmla="*/ 658903 h 1139686"/>
              <a:gd name="connsiteX30" fmla="*/ 712580 w 1219200"/>
              <a:gd name="connsiteY30" fmla="*/ 658903 h 1139686"/>
              <a:gd name="connsiteX31" fmla="*/ 759643 w 1219200"/>
              <a:gd name="connsiteY31" fmla="*/ 614374 h 1139686"/>
              <a:gd name="connsiteX32" fmla="*/ 712499 w 1219200"/>
              <a:gd name="connsiteY32" fmla="*/ 569844 h 1139686"/>
              <a:gd name="connsiteX33" fmla="*/ 711122 w 1219200"/>
              <a:gd name="connsiteY33" fmla="*/ 267586 h 1139686"/>
              <a:gd name="connsiteX34" fmla="*/ 259692 w 1219200"/>
              <a:gd name="connsiteY34" fmla="*/ 267586 h 1139686"/>
              <a:gd name="connsiteX35" fmla="*/ 235415 w 1219200"/>
              <a:gd name="connsiteY35" fmla="*/ 257856 h 1139686"/>
              <a:gd name="connsiteX36" fmla="*/ 225474 w 1219200"/>
              <a:gd name="connsiteY36" fmla="*/ 233639 h 1139686"/>
              <a:gd name="connsiteX37" fmla="*/ 225474 w 1219200"/>
              <a:gd name="connsiteY37" fmla="*/ 131632 h 1139686"/>
              <a:gd name="connsiteX38" fmla="*/ 259688 w 1219200"/>
              <a:gd name="connsiteY38" fmla="*/ 97606 h 1139686"/>
              <a:gd name="connsiteX39" fmla="*/ 285212 w 1219200"/>
              <a:gd name="connsiteY39" fmla="*/ 97606 h 1139686"/>
              <a:gd name="connsiteX40" fmla="*/ 319351 w 1219200"/>
              <a:gd name="connsiteY40" fmla="*/ 63659 h 1139686"/>
              <a:gd name="connsiteX41" fmla="*/ 387462 w 1219200"/>
              <a:gd name="connsiteY41" fmla="*/ 0 h 1139686"/>
              <a:gd name="connsiteX42" fmla="*/ 587654 w 1219200"/>
              <a:gd name="connsiteY42" fmla="*/ 0 h 1139686"/>
              <a:gd name="connsiteX43" fmla="*/ 655768 w 1219200"/>
              <a:gd name="connsiteY43" fmla="*/ 63659 h 1139686"/>
              <a:gd name="connsiteX44" fmla="*/ 689905 w 1219200"/>
              <a:gd name="connsiteY44" fmla="*/ 97606 h 1139686"/>
              <a:gd name="connsiteX45" fmla="*/ 711122 w 1219200"/>
              <a:gd name="connsiteY45" fmla="*/ 97606 h 1139686"/>
              <a:gd name="connsiteX46" fmla="*/ 745341 w 1219200"/>
              <a:gd name="connsiteY46" fmla="*/ 131632 h 1139686"/>
              <a:gd name="connsiteX47" fmla="*/ 745341 w 1219200"/>
              <a:gd name="connsiteY47" fmla="*/ 233639 h 1139686"/>
              <a:gd name="connsiteX48" fmla="*/ 711122 w 1219200"/>
              <a:gd name="connsiteY48" fmla="*/ 267586 h 1139686"/>
              <a:gd name="connsiteX49" fmla="*/ 489956 w 1219200"/>
              <a:gd name="connsiteY49" fmla="*/ 63659 h 1139686"/>
              <a:gd name="connsiteX50" fmla="*/ 417535 w 1219200"/>
              <a:gd name="connsiteY50" fmla="*/ 135947 h 1139686"/>
              <a:gd name="connsiteX51" fmla="*/ 489956 w 1219200"/>
              <a:gd name="connsiteY51" fmla="*/ 208236 h 1139686"/>
              <a:gd name="connsiteX52" fmla="*/ 562380 w 1219200"/>
              <a:gd name="connsiteY52" fmla="*/ 135947 h 1139686"/>
              <a:gd name="connsiteX53" fmla="*/ 541320 w 1219200"/>
              <a:gd name="connsiteY53" fmla="*/ 84577 h 1139686"/>
              <a:gd name="connsiteX54" fmla="*/ 489956 w 1219200"/>
              <a:gd name="connsiteY54" fmla="*/ 63659 h 1139686"/>
              <a:gd name="connsiteX55" fmla="*/ 975360 w 1219200"/>
              <a:gd name="connsiteY55" fmla="*/ 1139687 h 1139686"/>
              <a:gd name="connsiteX56" fmla="*/ 731520 w 1219200"/>
              <a:gd name="connsiteY56" fmla="*/ 895466 h 1139686"/>
              <a:gd name="connsiteX57" fmla="*/ 975360 w 1219200"/>
              <a:gd name="connsiteY57" fmla="*/ 651250 h 1139686"/>
              <a:gd name="connsiteX58" fmla="*/ 1219200 w 1219200"/>
              <a:gd name="connsiteY58" fmla="*/ 895466 h 1139686"/>
              <a:gd name="connsiteX59" fmla="*/ 975360 w 1219200"/>
              <a:gd name="connsiteY59" fmla="*/ 1139687 h 1139686"/>
              <a:gd name="connsiteX60" fmla="*/ 867008 w 1219200"/>
              <a:gd name="connsiteY60" fmla="*/ 891975 h 1139686"/>
              <a:gd name="connsiteX61" fmla="*/ 871938 w 1219200"/>
              <a:gd name="connsiteY61" fmla="*/ 904548 h 1139686"/>
              <a:gd name="connsiteX62" fmla="*/ 993400 w 1219200"/>
              <a:gd name="connsiteY62" fmla="*/ 1026206 h 1139686"/>
              <a:gd name="connsiteX63" fmla="*/ 1005049 w 1219200"/>
              <a:gd name="connsiteY63" fmla="*/ 1031145 h 1139686"/>
              <a:gd name="connsiteX64" fmla="*/ 1016703 w 1219200"/>
              <a:gd name="connsiteY64" fmla="*/ 1026206 h 1139686"/>
              <a:gd name="connsiteX65" fmla="*/ 1105895 w 1219200"/>
              <a:gd name="connsiteY65" fmla="*/ 937095 h 1139686"/>
              <a:gd name="connsiteX66" fmla="*/ 1110829 w 1219200"/>
              <a:gd name="connsiteY66" fmla="*/ 925422 h 1139686"/>
              <a:gd name="connsiteX67" fmla="*/ 1105895 w 1219200"/>
              <a:gd name="connsiteY67" fmla="*/ 913749 h 1139686"/>
              <a:gd name="connsiteX68" fmla="*/ 984209 w 1219200"/>
              <a:gd name="connsiteY68" fmla="*/ 791867 h 1139686"/>
              <a:gd name="connsiteX69" fmla="*/ 971664 w 1219200"/>
              <a:gd name="connsiteY69" fmla="*/ 786929 h 1139686"/>
              <a:gd name="connsiteX70" fmla="*/ 886506 w 1219200"/>
              <a:gd name="connsiteY70" fmla="*/ 791191 h 1139686"/>
              <a:gd name="connsiteX71" fmla="*/ 870818 w 1219200"/>
              <a:gd name="connsiteY71" fmla="*/ 806903 h 1139686"/>
              <a:gd name="connsiteX72" fmla="*/ 867008 w 1219200"/>
              <a:gd name="connsiteY72" fmla="*/ 891975 h 1139686"/>
              <a:gd name="connsiteX73" fmla="*/ 901970 w 1219200"/>
              <a:gd name="connsiteY73" fmla="*/ 822166 h 1139686"/>
              <a:gd name="connsiteX74" fmla="*/ 929754 w 1219200"/>
              <a:gd name="connsiteY74" fmla="*/ 822166 h 1139686"/>
              <a:gd name="connsiteX75" fmla="*/ 929754 w 1219200"/>
              <a:gd name="connsiteY75" fmla="*/ 850003 h 1139686"/>
              <a:gd name="connsiteX76" fmla="*/ 901970 w 1219200"/>
              <a:gd name="connsiteY76" fmla="*/ 850003 h 1139686"/>
              <a:gd name="connsiteX77" fmla="*/ 901970 w 1219200"/>
              <a:gd name="connsiteY77" fmla="*/ 822166 h 113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19200" h="1139686">
                <a:moveTo>
                  <a:pt x="803962" y="1139687"/>
                </a:moveTo>
                <a:lnTo>
                  <a:pt x="89487" y="1139687"/>
                </a:lnTo>
                <a:cubicBezTo>
                  <a:pt x="38203" y="1139687"/>
                  <a:pt x="0" y="1088733"/>
                  <a:pt x="0" y="1050385"/>
                </a:cubicBezTo>
                <a:lnTo>
                  <a:pt x="0" y="221182"/>
                </a:lnTo>
                <a:cubicBezTo>
                  <a:pt x="0" y="174291"/>
                  <a:pt x="25520" y="140262"/>
                  <a:pt x="80876" y="144578"/>
                </a:cubicBezTo>
                <a:lnTo>
                  <a:pt x="102007" y="144578"/>
                </a:lnTo>
                <a:cubicBezTo>
                  <a:pt x="119077" y="144578"/>
                  <a:pt x="136224" y="157278"/>
                  <a:pt x="136224" y="178604"/>
                </a:cubicBezTo>
                <a:lnTo>
                  <a:pt x="136224" y="327499"/>
                </a:lnTo>
                <a:cubicBezTo>
                  <a:pt x="136224" y="344510"/>
                  <a:pt x="149233" y="361526"/>
                  <a:pt x="170363" y="361526"/>
                </a:cubicBezTo>
                <a:lnTo>
                  <a:pt x="804915" y="357130"/>
                </a:lnTo>
                <a:cubicBezTo>
                  <a:pt x="813992" y="357303"/>
                  <a:pt x="822741" y="353797"/>
                  <a:pt x="829189" y="347401"/>
                </a:cubicBezTo>
                <a:cubicBezTo>
                  <a:pt x="835638" y="341003"/>
                  <a:pt x="839224" y="332270"/>
                  <a:pt x="839138" y="323184"/>
                </a:cubicBezTo>
                <a:lnTo>
                  <a:pt x="839138" y="174291"/>
                </a:lnTo>
                <a:cubicBezTo>
                  <a:pt x="839138" y="152965"/>
                  <a:pt x="856202" y="140262"/>
                  <a:pt x="877419" y="140018"/>
                </a:cubicBezTo>
                <a:lnTo>
                  <a:pt x="898631" y="140018"/>
                </a:lnTo>
                <a:cubicBezTo>
                  <a:pt x="945533" y="140018"/>
                  <a:pt x="975360" y="178361"/>
                  <a:pt x="975360" y="216623"/>
                </a:cubicBezTo>
                <a:lnTo>
                  <a:pt x="975360" y="596981"/>
                </a:lnTo>
                <a:cubicBezTo>
                  <a:pt x="810763" y="596981"/>
                  <a:pt x="677332" y="730617"/>
                  <a:pt x="677332" y="895466"/>
                </a:cubicBezTo>
                <a:cubicBezTo>
                  <a:pt x="677332" y="996421"/>
                  <a:pt x="727372" y="1085666"/>
                  <a:pt x="803962" y="1139687"/>
                </a:cubicBezTo>
                <a:close/>
                <a:moveTo>
                  <a:pt x="258308" y="835473"/>
                </a:moveTo>
                <a:lnTo>
                  <a:pt x="516941" y="835473"/>
                </a:lnTo>
                <a:cubicBezTo>
                  <a:pt x="542954" y="835473"/>
                  <a:pt x="563918" y="815527"/>
                  <a:pt x="563918" y="790943"/>
                </a:cubicBezTo>
                <a:cubicBezTo>
                  <a:pt x="563918" y="766355"/>
                  <a:pt x="542868" y="746419"/>
                  <a:pt x="516779" y="746419"/>
                </a:cubicBezTo>
                <a:lnTo>
                  <a:pt x="258308" y="746419"/>
                </a:lnTo>
                <a:cubicBezTo>
                  <a:pt x="232300" y="746419"/>
                  <a:pt x="211164" y="766355"/>
                  <a:pt x="211164" y="790943"/>
                </a:cubicBezTo>
                <a:cubicBezTo>
                  <a:pt x="211164" y="815532"/>
                  <a:pt x="232300" y="835473"/>
                  <a:pt x="258308" y="835473"/>
                </a:cubicBezTo>
                <a:close/>
                <a:moveTo>
                  <a:pt x="712499" y="569844"/>
                </a:moveTo>
                <a:lnTo>
                  <a:pt x="258308" y="569844"/>
                </a:lnTo>
                <a:cubicBezTo>
                  <a:pt x="232300" y="569844"/>
                  <a:pt x="211164" y="589790"/>
                  <a:pt x="211164" y="614374"/>
                </a:cubicBezTo>
                <a:cubicBezTo>
                  <a:pt x="211164" y="638958"/>
                  <a:pt x="232300" y="658903"/>
                  <a:pt x="258308" y="658903"/>
                </a:cubicBezTo>
                <a:lnTo>
                  <a:pt x="712580" y="658903"/>
                </a:lnTo>
                <a:cubicBezTo>
                  <a:pt x="738669" y="658903"/>
                  <a:pt x="759643" y="638958"/>
                  <a:pt x="759643" y="614374"/>
                </a:cubicBezTo>
                <a:cubicBezTo>
                  <a:pt x="759643" y="589709"/>
                  <a:pt x="738507" y="569844"/>
                  <a:pt x="712499" y="569844"/>
                </a:cubicBezTo>
                <a:close/>
                <a:moveTo>
                  <a:pt x="711122" y="267586"/>
                </a:moveTo>
                <a:lnTo>
                  <a:pt x="259692" y="267586"/>
                </a:lnTo>
                <a:cubicBezTo>
                  <a:pt x="250618" y="267760"/>
                  <a:pt x="241861" y="264253"/>
                  <a:pt x="235415" y="257856"/>
                </a:cubicBezTo>
                <a:cubicBezTo>
                  <a:pt x="228968" y="251460"/>
                  <a:pt x="225380" y="242725"/>
                  <a:pt x="225474" y="233639"/>
                </a:cubicBezTo>
                <a:lnTo>
                  <a:pt x="225474" y="131632"/>
                </a:lnTo>
                <a:cubicBezTo>
                  <a:pt x="225474" y="114621"/>
                  <a:pt x="238475" y="97606"/>
                  <a:pt x="259688" y="97606"/>
                </a:cubicBezTo>
                <a:lnTo>
                  <a:pt x="285212" y="97606"/>
                </a:lnTo>
                <a:cubicBezTo>
                  <a:pt x="302279" y="97606"/>
                  <a:pt x="319351" y="84989"/>
                  <a:pt x="319351" y="63659"/>
                </a:cubicBezTo>
                <a:cubicBezTo>
                  <a:pt x="319757" y="28414"/>
                  <a:pt x="350156" y="0"/>
                  <a:pt x="387462" y="0"/>
                </a:cubicBezTo>
                <a:lnTo>
                  <a:pt x="587654" y="0"/>
                </a:lnTo>
                <a:cubicBezTo>
                  <a:pt x="625040" y="0"/>
                  <a:pt x="655358" y="28414"/>
                  <a:pt x="655768" y="63659"/>
                </a:cubicBezTo>
                <a:cubicBezTo>
                  <a:pt x="655768" y="80676"/>
                  <a:pt x="668693" y="97606"/>
                  <a:pt x="689905" y="97606"/>
                </a:cubicBezTo>
                <a:lnTo>
                  <a:pt x="711122" y="97606"/>
                </a:lnTo>
                <a:cubicBezTo>
                  <a:pt x="728186" y="97606"/>
                  <a:pt x="745260" y="110387"/>
                  <a:pt x="745341" y="131632"/>
                </a:cubicBezTo>
                <a:lnTo>
                  <a:pt x="745341" y="233639"/>
                </a:lnTo>
                <a:cubicBezTo>
                  <a:pt x="745341" y="250650"/>
                  <a:pt x="732334" y="267586"/>
                  <a:pt x="711122" y="267586"/>
                </a:cubicBezTo>
                <a:close/>
                <a:moveTo>
                  <a:pt x="489956" y="63659"/>
                </a:moveTo>
                <a:cubicBezTo>
                  <a:pt x="451674" y="63659"/>
                  <a:pt x="417535" y="97606"/>
                  <a:pt x="417535" y="135947"/>
                </a:cubicBezTo>
                <a:cubicBezTo>
                  <a:pt x="417535" y="174291"/>
                  <a:pt x="451674" y="208236"/>
                  <a:pt x="489956" y="208236"/>
                </a:cubicBezTo>
                <a:cubicBezTo>
                  <a:pt x="528242" y="208236"/>
                  <a:pt x="562380" y="182676"/>
                  <a:pt x="562380" y="135947"/>
                </a:cubicBezTo>
                <a:cubicBezTo>
                  <a:pt x="562527" y="116687"/>
                  <a:pt x="554941" y="98175"/>
                  <a:pt x="541320" y="84577"/>
                </a:cubicBezTo>
                <a:cubicBezTo>
                  <a:pt x="527695" y="70980"/>
                  <a:pt x="509187" y="63441"/>
                  <a:pt x="489956" y="63659"/>
                </a:cubicBezTo>
                <a:close/>
                <a:moveTo>
                  <a:pt x="975360" y="1139687"/>
                </a:moveTo>
                <a:cubicBezTo>
                  <a:pt x="840691" y="1139687"/>
                  <a:pt x="731520" y="1030345"/>
                  <a:pt x="731520" y="895466"/>
                </a:cubicBezTo>
                <a:cubicBezTo>
                  <a:pt x="731520" y="760592"/>
                  <a:pt x="840691" y="651250"/>
                  <a:pt x="975360" y="651250"/>
                </a:cubicBezTo>
                <a:cubicBezTo>
                  <a:pt x="1110029" y="651250"/>
                  <a:pt x="1219200" y="760592"/>
                  <a:pt x="1219200" y="895466"/>
                </a:cubicBezTo>
                <a:cubicBezTo>
                  <a:pt x="1219200" y="1030345"/>
                  <a:pt x="1110029" y="1139687"/>
                  <a:pt x="975360" y="1139687"/>
                </a:cubicBezTo>
                <a:close/>
                <a:moveTo>
                  <a:pt x="867008" y="891975"/>
                </a:moveTo>
                <a:cubicBezTo>
                  <a:pt x="866785" y="896690"/>
                  <a:pt x="868351" y="901181"/>
                  <a:pt x="871938" y="904548"/>
                </a:cubicBezTo>
                <a:lnTo>
                  <a:pt x="993400" y="1026206"/>
                </a:lnTo>
                <a:cubicBezTo>
                  <a:pt x="996539" y="1029349"/>
                  <a:pt x="1000797" y="1031145"/>
                  <a:pt x="1005049" y="1031145"/>
                </a:cubicBezTo>
                <a:cubicBezTo>
                  <a:pt x="1009312" y="1031145"/>
                  <a:pt x="1013570" y="1029573"/>
                  <a:pt x="1016703" y="1026206"/>
                </a:cubicBezTo>
                <a:lnTo>
                  <a:pt x="1105895" y="937095"/>
                </a:lnTo>
                <a:cubicBezTo>
                  <a:pt x="1109034" y="933952"/>
                  <a:pt x="1110829" y="929913"/>
                  <a:pt x="1110829" y="925422"/>
                </a:cubicBezTo>
                <a:cubicBezTo>
                  <a:pt x="1110829" y="921155"/>
                  <a:pt x="1109034" y="916892"/>
                  <a:pt x="1105895" y="913749"/>
                </a:cubicBezTo>
                <a:lnTo>
                  <a:pt x="984209" y="791867"/>
                </a:lnTo>
                <a:cubicBezTo>
                  <a:pt x="980851" y="788724"/>
                  <a:pt x="976370" y="786929"/>
                  <a:pt x="971664" y="786929"/>
                </a:cubicBezTo>
                <a:lnTo>
                  <a:pt x="886506" y="791191"/>
                </a:lnTo>
                <a:cubicBezTo>
                  <a:pt x="877991" y="791415"/>
                  <a:pt x="871266" y="798373"/>
                  <a:pt x="870818" y="806903"/>
                </a:cubicBezTo>
                <a:lnTo>
                  <a:pt x="867008" y="891975"/>
                </a:lnTo>
                <a:close/>
                <a:moveTo>
                  <a:pt x="901970" y="822166"/>
                </a:moveTo>
                <a:cubicBezTo>
                  <a:pt x="909585" y="814537"/>
                  <a:pt x="922134" y="814537"/>
                  <a:pt x="929754" y="822166"/>
                </a:cubicBezTo>
                <a:cubicBezTo>
                  <a:pt x="937374" y="829801"/>
                  <a:pt x="937374" y="842369"/>
                  <a:pt x="929754" y="850003"/>
                </a:cubicBezTo>
                <a:cubicBezTo>
                  <a:pt x="922134" y="857633"/>
                  <a:pt x="909585" y="857633"/>
                  <a:pt x="901970" y="850003"/>
                </a:cubicBezTo>
                <a:cubicBezTo>
                  <a:pt x="894350" y="842369"/>
                  <a:pt x="894350" y="830024"/>
                  <a:pt x="901970" y="822166"/>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18" name="图形 116"/>
          <p:cNvGrpSpPr>
            <a:grpSpLocks noChangeAspect="1"/>
          </p:cNvGrpSpPr>
          <p:nvPr/>
        </p:nvGrpSpPr>
        <p:grpSpPr>
          <a:xfrm>
            <a:off x="5266592" y="5987349"/>
            <a:ext cx="251973" cy="252000"/>
            <a:chOff x="5486474" y="2819400"/>
            <a:chExt cx="1219068" cy="1219200"/>
          </a:xfrm>
          <a:solidFill>
            <a:schemeClr val="accent1"/>
          </a:solidFill>
        </p:grpSpPr>
        <p:sp>
          <p:nvSpPr>
            <p:cNvPr id="119" name="任意多边形: 形状 118"/>
            <p:cNvSpPr/>
            <p:nvPr/>
          </p:nvSpPr>
          <p:spPr>
            <a:xfrm>
              <a:off x="5486474" y="2819400"/>
              <a:ext cx="902285" cy="1113596"/>
            </a:xfrm>
            <a:custGeom>
              <a:avLst/>
              <a:gdLst>
                <a:gd name="connsiteX0" fmla="*/ 556800 w 902285"/>
                <a:gd name="connsiteY0" fmla="*/ 1113463 h 1113596"/>
                <a:gd name="connsiteX1" fmla="*/ 513966 w 902285"/>
                <a:gd name="connsiteY1" fmla="*/ 1113596 h 1113596"/>
                <a:gd name="connsiteX2" fmla="*/ 0 w 902285"/>
                <a:gd name="connsiteY2" fmla="*/ 985104 h 1113596"/>
                <a:gd name="connsiteX3" fmla="*/ 380325 w 902285"/>
                <a:gd name="connsiteY3" fmla="*/ 568271 h 1113596"/>
                <a:gd name="connsiteX4" fmla="*/ 214153 w 902285"/>
                <a:gd name="connsiteY4" fmla="*/ 299814 h 1113596"/>
                <a:gd name="connsiteX5" fmla="*/ 513966 w 902285"/>
                <a:gd name="connsiteY5" fmla="*/ 0 h 1113596"/>
                <a:gd name="connsiteX6" fmla="*/ 813780 w 902285"/>
                <a:gd name="connsiteY6" fmla="*/ 299814 h 1113596"/>
                <a:gd name="connsiteX7" fmla="*/ 647611 w 902285"/>
                <a:gd name="connsiteY7" fmla="*/ 568271 h 1113596"/>
                <a:gd name="connsiteX8" fmla="*/ 902286 w 902285"/>
                <a:gd name="connsiteY8" fmla="*/ 685290 h 1113596"/>
                <a:gd name="connsiteX9" fmla="*/ 685287 w 902285"/>
                <a:gd name="connsiteY9" fmla="*/ 685290 h 1113596"/>
                <a:gd name="connsiteX10" fmla="*/ 556800 w 902285"/>
                <a:gd name="connsiteY10" fmla="*/ 813783 h 1113596"/>
                <a:gd name="connsiteX11" fmla="*/ 556800 w 902285"/>
                <a:gd name="connsiteY11" fmla="*/ 1113463 h 111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285" h="1113596">
                  <a:moveTo>
                    <a:pt x="556800" y="1113463"/>
                  </a:moveTo>
                  <a:cubicBezTo>
                    <a:pt x="542674" y="1113554"/>
                    <a:pt x="528392" y="1113596"/>
                    <a:pt x="513966" y="1113596"/>
                  </a:cubicBezTo>
                  <a:cubicBezTo>
                    <a:pt x="230111" y="1113596"/>
                    <a:pt x="0" y="1097637"/>
                    <a:pt x="0" y="985104"/>
                  </a:cubicBezTo>
                  <a:cubicBezTo>
                    <a:pt x="0" y="747474"/>
                    <a:pt x="161265" y="607543"/>
                    <a:pt x="380325" y="568271"/>
                  </a:cubicBezTo>
                  <a:cubicBezTo>
                    <a:pt x="281817" y="519136"/>
                    <a:pt x="214153" y="417376"/>
                    <a:pt x="214153" y="299814"/>
                  </a:cubicBezTo>
                  <a:cubicBezTo>
                    <a:pt x="214153" y="134232"/>
                    <a:pt x="348384" y="0"/>
                    <a:pt x="513966" y="0"/>
                  </a:cubicBezTo>
                  <a:cubicBezTo>
                    <a:pt x="679549" y="0"/>
                    <a:pt x="813780" y="134232"/>
                    <a:pt x="813780" y="299814"/>
                  </a:cubicBezTo>
                  <a:cubicBezTo>
                    <a:pt x="813780" y="417376"/>
                    <a:pt x="746119" y="519136"/>
                    <a:pt x="647611" y="568271"/>
                  </a:cubicBezTo>
                  <a:cubicBezTo>
                    <a:pt x="747938" y="586254"/>
                    <a:pt x="836144" y="625359"/>
                    <a:pt x="902286" y="685290"/>
                  </a:cubicBezTo>
                  <a:lnTo>
                    <a:pt x="685287" y="685290"/>
                  </a:lnTo>
                  <a:cubicBezTo>
                    <a:pt x="614326" y="685290"/>
                    <a:pt x="556800" y="742817"/>
                    <a:pt x="556800" y="813783"/>
                  </a:cubicBezTo>
                  <a:lnTo>
                    <a:pt x="556800" y="111346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0" name="任意多边形: 形状 119"/>
            <p:cNvSpPr/>
            <p:nvPr/>
          </p:nvSpPr>
          <p:spPr>
            <a:xfrm>
              <a:off x="6086103" y="3547519"/>
              <a:ext cx="619439" cy="491080"/>
            </a:xfrm>
            <a:custGeom>
              <a:avLst/>
              <a:gdLst>
                <a:gd name="connsiteX0" fmla="*/ 524004 w 619439"/>
                <a:gd name="connsiteY0" fmla="*/ 491080 h 491080"/>
                <a:gd name="connsiteX1" fmla="*/ 619439 w 619439"/>
                <a:gd name="connsiteY1" fmla="*/ 395649 h 491080"/>
                <a:gd name="connsiteX2" fmla="*/ 619439 w 619439"/>
                <a:gd name="connsiteY2" fmla="*/ 95431 h 491080"/>
                <a:gd name="connsiteX3" fmla="*/ 524004 w 619439"/>
                <a:gd name="connsiteY3" fmla="*/ 0 h 491080"/>
                <a:gd name="connsiteX4" fmla="*/ 95431 w 619439"/>
                <a:gd name="connsiteY4" fmla="*/ 0 h 491080"/>
                <a:gd name="connsiteX5" fmla="*/ 0 w 619439"/>
                <a:gd name="connsiteY5" fmla="*/ 95431 h 491080"/>
                <a:gd name="connsiteX6" fmla="*/ 0 w 619439"/>
                <a:gd name="connsiteY6" fmla="*/ 322702 h 491080"/>
                <a:gd name="connsiteX7" fmla="*/ 137993 w 619439"/>
                <a:gd name="connsiteY7" fmla="*/ 184709 h 491080"/>
                <a:gd name="connsiteX8" fmla="*/ 171588 w 619439"/>
                <a:gd name="connsiteY8" fmla="*/ 184709 h 491080"/>
                <a:gd name="connsiteX9" fmla="*/ 281073 w 619439"/>
                <a:gd name="connsiteY9" fmla="*/ 294194 h 491080"/>
                <a:gd name="connsiteX10" fmla="*/ 398459 w 619439"/>
                <a:gd name="connsiteY10" fmla="*/ 176813 h 491080"/>
                <a:gd name="connsiteX11" fmla="*/ 374233 w 619439"/>
                <a:gd name="connsiteY11" fmla="*/ 152586 h 491080"/>
                <a:gd name="connsiteX12" fmla="*/ 381595 w 619439"/>
                <a:gd name="connsiteY12" fmla="*/ 125282 h 491080"/>
                <a:gd name="connsiteX13" fmla="*/ 488133 w 619439"/>
                <a:gd name="connsiteY13" fmla="*/ 96636 h 491080"/>
                <a:gd name="connsiteX14" fmla="*/ 508078 w 619439"/>
                <a:gd name="connsiteY14" fmla="*/ 116581 h 491080"/>
                <a:gd name="connsiteX15" fmla="*/ 479436 w 619439"/>
                <a:gd name="connsiteY15" fmla="*/ 223123 h 491080"/>
                <a:gd name="connsiteX16" fmla="*/ 452128 w 619439"/>
                <a:gd name="connsiteY16" fmla="*/ 230481 h 491080"/>
                <a:gd name="connsiteX17" fmla="*/ 432054 w 619439"/>
                <a:gd name="connsiteY17" fmla="*/ 210407 h 491080"/>
                <a:gd name="connsiteX18" fmla="*/ 297942 w 619439"/>
                <a:gd name="connsiteY18" fmla="*/ 344786 h 491080"/>
                <a:gd name="connsiteX19" fmla="*/ 264343 w 619439"/>
                <a:gd name="connsiteY19" fmla="*/ 344786 h 491080"/>
                <a:gd name="connsiteX20" fmla="*/ 154857 w 619439"/>
                <a:gd name="connsiteY20" fmla="*/ 235301 h 491080"/>
                <a:gd name="connsiteX21" fmla="*/ 7363 w 619439"/>
                <a:gd name="connsiteY21" fmla="*/ 382667 h 491080"/>
                <a:gd name="connsiteX22" fmla="*/ 0 w 619439"/>
                <a:gd name="connsiteY22" fmla="*/ 387620 h 491080"/>
                <a:gd name="connsiteX23" fmla="*/ 0 w 619439"/>
                <a:gd name="connsiteY23" fmla="*/ 411023 h 491080"/>
                <a:gd name="connsiteX24" fmla="*/ 95431 w 619439"/>
                <a:gd name="connsiteY24" fmla="*/ 491080 h 491080"/>
                <a:gd name="connsiteX25" fmla="*/ 524004 w 619439"/>
                <a:gd name="connsiteY25" fmla="*/ 491080 h 49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9439" h="491080">
                  <a:moveTo>
                    <a:pt x="524004" y="491080"/>
                  </a:moveTo>
                  <a:cubicBezTo>
                    <a:pt x="576739" y="491080"/>
                    <a:pt x="619439" y="448385"/>
                    <a:pt x="619439" y="395649"/>
                  </a:cubicBezTo>
                  <a:lnTo>
                    <a:pt x="619439" y="95431"/>
                  </a:lnTo>
                  <a:cubicBezTo>
                    <a:pt x="619439" y="42696"/>
                    <a:pt x="576739" y="0"/>
                    <a:pt x="524004" y="0"/>
                  </a:cubicBezTo>
                  <a:lnTo>
                    <a:pt x="95431" y="0"/>
                  </a:lnTo>
                  <a:cubicBezTo>
                    <a:pt x="42696" y="0"/>
                    <a:pt x="0" y="42696"/>
                    <a:pt x="0" y="95431"/>
                  </a:cubicBezTo>
                  <a:lnTo>
                    <a:pt x="0" y="322702"/>
                  </a:lnTo>
                  <a:lnTo>
                    <a:pt x="137993" y="184709"/>
                  </a:lnTo>
                  <a:cubicBezTo>
                    <a:pt x="147228" y="175341"/>
                    <a:pt x="162354" y="175341"/>
                    <a:pt x="171588" y="184709"/>
                  </a:cubicBezTo>
                  <a:lnTo>
                    <a:pt x="281073" y="294194"/>
                  </a:lnTo>
                  <a:lnTo>
                    <a:pt x="398459" y="176813"/>
                  </a:lnTo>
                  <a:lnTo>
                    <a:pt x="374233" y="152586"/>
                  </a:lnTo>
                  <a:cubicBezTo>
                    <a:pt x="365398" y="143751"/>
                    <a:pt x="369413" y="128626"/>
                    <a:pt x="381595" y="125282"/>
                  </a:cubicBezTo>
                  <a:lnTo>
                    <a:pt x="488133" y="96636"/>
                  </a:lnTo>
                  <a:cubicBezTo>
                    <a:pt x="500315" y="93426"/>
                    <a:pt x="511426" y="104399"/>
                    <a:pt x="508078" y="116581"/>
                  </a:cubicBezTo>
                  <a:lnTo>
                    <a:pt x="479436" y="223123"/>
                  </a:lnTo>
                  <a:cubicBezTo>
                    <a:pt x="476221" y="235301"/>
                    <a:pt x="461096" y="239316"/>
                    <a:pt x="452128" y="230481"/>
                  </a:cubicBezTo>
                  <a:lnTo>
                    <a:pt x="432054" y="210407"/>
                  </a:lnTo>
                  <a:lnTo>
                    <a:pt x="297942" y="344786"/>
                  </a:lnTo>
                  <a:cubicBezTo>
                    <a:pt x="288703" y="354159"/>
                    <a:pt x="273582" y="354159"/>
                    <a:pt x="264343" y="344786"/>
                  </a:cubicBezTo>
                  <a:lnTo>
                    <a:pt x="154857" y="235301"/>
                  </a:lnTo>
                  <a:lnTo>
                    <a:pt x="7363" y="382667"/>
                  </a:lnTo>
                  <a:cubicBezTo>
                    <a:pt x="5220" y="384805"/>
                    <a:pt x="2677" y="386415"/>
                    <a:pt x="0" y="387620"/>
                  </a:cubicBezTo>
                  <a:lnTo>
                    <a:pt x="0" y="411023"/>
                  </a:lnTo>
                  <a:cubicBezTo>
                    <a:pt x="0" y="463758"/>
                    <a:pt x="42696" y="491080"/>
                    <a:pt x="95431" y="491080"/>
                  </a:cubicBezTo>
                  <a:lnTo>
                    <a:pt x="524004" y="491080"/>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24" name="图形 122"/>
          <p:cNvSpPr>
            <a:spLocks noChangeAspect="1"/>
          </p:cNvSpPr>
          <p:nvPr/>
        </p:nvSpPr>
        <p:spPr>
          <a:xfrm>
            <a:off x="9902317" y="5987349"/>
            <a:ext cx="264069" cy="252000"/>
          </a:xfrm>
          <a:custGeom>
            <a:avLst/>
            <a:gdLst>
              <a:gd name="connsiteX0" fmla="*/ 562118 w 1219152"/>
              <a:gd name="connsiteY0" fmla="*/ 845249 h 1163431"/>
              <a:gd name="connsiteX1" fmla="*/ 302609 w 1219152"/>
              <a:gd name="connsiteY1" fmla="*/ 849963 h 1163431"/>
              <a:gd name="connsiteX2" fmla="*/ 166354 w 1219152"/>
              <a:gd name="connsiteY2" fmla="*/ 1079421 h 1163431"/>
              <a:gd name="connsiteX3" fmla="*/ 551212 w 1219152"/>
              <a:gd name="connsiteY3" fmla="*/ 1074420 h 1163431"/>
              <a:gd name="connsiteX4" fmla="*/ 562118 w 1219152"/>
              <a:gd name="connsiteY4" fmla="*/ 845249 h 1163431"/>
              <a:gd name="connsiteX5" fmla="*/ 905685 w 1219152"/>
              <a:gd name="connsiteY5" fmla="*/ 750856 h 1163431"/>
              <a:gd name="connsiteX6" fmla="*/ 631984 w 1219152"/>
              <a:gd name="connsiteY6" fmla="*/ 935165 h 1163431"/>
              <a:gd name="connsiteX7" fmla="*/ 872919 w 1219152"/>
              <a:gd name="connsiteY7" fmla="*/ 1163431 h 1163431"/>
              <a:gd name="connsiteX8" fmla="*/ 881491 w 1219152"/>
              <a:gd name="connsiteY8" fmla="*/ 1053417 h 1163431"/>
              <a:gd name="connsiteX9" fmla="*/ 1076706 w 1219152"/>
              <a:gd name="connsiteY9" fmla="*/ 1055180 h 1163431"/>
              <a:gd name="connsiteX10" fmla="*/ 1219152 w 1219152"/>
              <a:gd name="connsiteY10" fmla="*/ 829580 h 1163431"/>
              <a:gd name="connsiteX11" fmla="*/ 899732 w 1219152"/>
              <a:gd name="connsiteY11" fmla="*/ 825151 h 1163431"/>
              <a:gd name="connsiteX12" fmla="*/ 905637 w 1219152"/>
              <a:gd name="connsiteY12" fmla="*/ 750856 h 1163431"/>
              <a:gd name="connsiteX13" fmla="*/ 317040 w 1219152"/>
              <a:gd name="connsiteY13" fmla="*/ 496348 h 1163431"/>
              <a:gd name="connsiteX14" fmla="*/ 1476 w 1219152"/>
              <a:gd name="connsiteY14" fmla="*/ 599265 h 1163431"/>
              <a:gd name="connsiteX15" fmla="*/ 94393 w 1219152"/>
              <a:gd name="connsiteY15" fmla="*/ 659702 h 1163431"/>
              <a:gd name="connsiteX16" fmla="*/ 0 w 1219152"/>
              <a:gd name="connsiteY16" fmla="*/ 830818 h 1163431"/>
              <a:gd name="connsiteX17" fmla="*/ 130350 w 1219152"/>
              <a:gd name="connsiteY17" fmla="*/ 1063514 h 1163431"/>
              <a:gd name="connsiteX18" fmla="*/ 286369 w 1219152"/>
              <a:gd name="connsiteY18" fmla="*/ 784527 h 1163431"/>
              <a:gd name="connsiteX19" fmla="*/ 348615 w 1219152"/>
              <a:gd name="connsiteY19" fmla="*/ 824913 h 1163431"/>
              <a:gd name="connsiteX20" fmla="*/ 317040 w 1219152"/>
              <a:gd name="connsiteY20" fmla="*/ 496348 h 1163431"/>
              <a:gd name="connsiteX21" fmla="*/ 1028367 w 1219152"/>
              <a:gd name="connsiteY21" fmla="*/ 454485 h 1163431"/>
              <a:gd name="connsiteX22" fmla="*/ 821627 w 1219152"/>
              <a:gd name="connsiteY22" fmla="*/ 554165 h 1163431"/>
              <a:gd name="connsiteX23" fmla="*/ 949309 w 1219152"/>
              <a:gd name="connsiteY23" fmla="*/ 780098 h 1163431"/>
              <a:gd name="connsiteX24" fmla="*/ 1216200 w 1219152"/>
              <a:gd name="connsiteY24" fmla="*/ 790432 h 1163431"/>
              <a:gd name="connsiteX25" fmla="*/ 1028319 w 1219152"/>
              <a:gd name="connsiteY25" fmla="*/ 454533 h 1163431"/>
              <a:gd name="connsiteX26" fmla="*/ 431197 w 1219152"/>
              <a:gd name="connsiteY26" fmla="*/ 24479 h 1163431"/>
              <a:gd name="connsiteX27" fmla="*/ 248364 w 1219152"/>
              <a:gd name="connsiteY27" fmla="*/ 363045 h 1163431"/>
              <a:gd name="connsiteX28" fmla="*/ 443294 w 1219152"/>
              <a:gd name="connsiteY28" fmla="*/ 483965 h 1163431"/>
              <a:gd name="connsiteX29" fmla="*/ 565690 w 1219152"/>
              <a:gd name="connsiteY29" fmla="*/ 255127 h 1163431"/>
              <a:gd name="connsiteX30" fmla="*/ 431197 w 1219152"/>
              <a:gd name="connsiteY30" fmla="*/ 24479 h 1163431"/>
              <a:gd name="connsiteX31" fmla="*/ 729044 w 1219152"/>
              <a:gd name="connsiteY31" fmla="*/ 0 h 1163431"/>
              <a:gd name="connsiteX32" fmla="*/ 462153 w 1219152"/>
              <a:gd name="connsiteY32" fmla="*/ 571 h 1163431"/>
              <a:gd name="connsiteX33" fmla="*/ 629984 w 1219152"/>
              <a:gd name="connsiteY33" fmla="*/ 272796 h 1163431"/>
              <a:gd name="connsiteX34" fmla="*/ 564499 w 1219152"/>
              <a:gd name="connsiteY34" fmla="*/ 307610 h 1163431"/>
              <a:gd name="connsiteX35" fmla="*/ 866775 w 1219152"/>
              <a:gd name="connsiteY35" fmla="*/ 439722 h 1163431"/>
              <a:gd name="connsiteX36" fmla="*/ 930497 w 1219152"/>
              <a:gd name="connsiteY36" fmla="*/ 113824 h 1163431"/>
              <a:gd name="connsiteX37" fmla="*/ 832580 w 1219152"/>
              <a:gd name="connsiteY37" fmla="*/ 165735 h 1163431"/>
              <a:gd name="connsiteX38" fmla="*/ 729044 w 1219152"/>
              <a:gd name="connsiteY38" fmla="*/ 0 h 1163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52" h="1163431">
                <a:moveTo>
                  <a:pt x="562118" y="845249"/>
                </a:moveTo>
                <a:lnTo>
                  <a:pt x="302609" y="849963"/>
                </a:lnTo>
                <a:lnTo>
                  <a:pt x="166354" y="1079421"/>
                </a:lnTo>
                <a:lnTo>
                  <a:pt x="551212" y="1074420"/>
                </a:lnTo>
                <a:lnTo>
                  <a:pt x="562118" y="845249"/>
                </a:lnTo>
                <a:close/>
                <a:moveTo>
                  <a:pt x="905685" y="750856"/>
                </a:moveTo>
                <a:lnTo>
                  <a:pt x="631984" y="935165"/>
                </a:lnTo>
                <a:lnTo>
                  <a:pt x="872919" y="1163431"/>
                </a:lnTo>
                <a:lnTo>
                  <a:pt x="881491" y="1053417"/>
                </a:lnTo>
                <a:lnTo>
                  <a:pt x="1076706" y="1055180"/>
                </a:lnTo>
                <a:lnTo>
                  <a:pt x="1219152" y="829580"/>
                </a:lnTo>
                <a:lnTo>
                  <a:pt x="899732" y="825151"/>
                </a:lnTo>
                <a:lnTo>
                  <a:pt x="905637" y="750856"/>
                </a:lnTo>
                <a:close/>
                <a:moveTo>
                  <a:pt x="317040" y="496348"/>
                </a:moveTo>
                <a:lnTo>
                  <a:pt x="1476" y="599265"/>
                </a:lnTo>
                <a:lnTo>
                  <a:pt x="94393" y="659702"/>
                </a:lnTo>
                <a:lnTo>
                  <a:pt x="0" y="830818"/>
                </a:lnTo>
                <a:lnTo>
                  <a:pt x="130350" y="1063514"/>
                </a:lnTo>
                <a:lnTo>
                  <a:pt x="286369" y="784527"/>
                </a:lnTo>
                <a:lnTo>
                  <a:pt x="348615" y="824913"/>
                </a:lnTo>
                <a:lnTo>
                  <a:pt x="317040" y="496348"/>
                </a:lnTo>
                <a:close/>
                <a:moveTo>
                  <a:pt x="1028367" y="454485"/>
                </a:moveTo>
                <a:lnTo>
                  <a:pt x="821627" y="554165"/>
                </a:lnTo>
                <a:lnTo>
                  <a:pt x="949309" y="780098"/>
                </a:lnTo>
                <a:lnTo>
                  <a:pt x="1216200" y="790432"/>
                </a:lnTo>
                <a:lnTo>
                  <a:pt x="1028319" y="454533"/>
                </a:lnTo>
                <a:close/>
                <a:moveTo>
                  <a:pt x="431197" y="24479"/>
                </a:moveTo>
                <a:lnTo>
                  <a:pt x="248364" y="363045"/>
                </a:lnTo>
                <a:lnTo>
                  <a:pt x="443294" y="483965"/>
                </a:lnTo>
                <a:lnTo>
                  <a:pt x="565690" y="255127"/>
                </a:lnTo>
                <a:lnTo>
                  <a:pt x="431197" y="24479"/>
                </a:lnTo>
                <a:close/>
                <a:moveTo>
                  <a:pt x="729044" y="0"/>
                </a:moveTo>
                <a:lnTo>
                  <a:pt x="462153" y="571"/>
                </a:lnTo>
                <a:lnTo>
                  <a:pt x="629984" y="272796"/>
                </a:lnTo>
                <a:lnTo>
                  <a:pt x="564499" y="307610"/>
                </a:lnTo>
                <a:lnTo>
                  <a:pt x="866775" y="439722"/>
                </a:lnTo>
                <a:lnTo>
                  <a:pt x="930497" y="113824"/>
                </a:lnTo>
                <a:lnTo>
                  <a:pt x="832580" y="165735"/>
                </a:lnTo>
                <a:lnTo>
                  <a:pt x="729044" y="0"/>
                </a:lnTo>
                <a:close/>
              </a:path>
            </a:pathLst>
          </a:custGeom>
          <a:solidFill>
            <a:schemeClr val="accent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5" name="任意多边形: 形状 134"/>
          <p:cNvSpPr/>
          <p:nvPr/>
        </p:nvSpPr>
        <p:spPr>
          <a:xfrm flipH="1" flipV="1">
            <a:off x="8384636" y="3381772"/>
            <a:ext cx="993723" cy="1034330"/>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6" name="矩形 135"/>
          <p:cNvSpPr/>
          <p:nvPr/>
        </p:nvSpPr>
        <p:spPr>
          <a:xfrm>
            <a:off x="8208010" y="3161396"/>
            <a:ext cx="1337310" cy="1963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solidFill>
                <a:effectLst/>
                <a:uLnTx/>
                <a:uFillTx/>
                <a:cs typeface="+mn-ea"/>
                <a:sym typeface="+mn-lt"/>
              </a:rPr>
              <a:t>转化经营效果及效率</a:t>
            </a:r>
          </a:p>
        </p:txBody>
      </p:sp>
      <p:sp>
        <p:nvSpPr>
          <p:cNvPr id="137" name="矩形 136"/>
          <p:cNvSpPr/>
          <p:nvPr/>
        </p:nvSpPr>
        <p:spPr>
          <a:xfrm>
            <a:off x="8208010" y="3634653"/>
            <a:ext cx="1337310" cy="1963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solidFill>
                <a:effectLst/>
                <a:uLnTx/>
                <a:uFillTx/>
                <a:cs typeface="+mn-ea"/>
                <a:sym typeface="+mn-lt"/>
              </a:rPr>
              <a:t>广告获客买量投放出价</a:t>
            </a:r>
          </a:p>
        </p:txBody>
      </p:sp>
      <p:sp>
        <p:nvSpPr>
          <p:cNvPr id="138" name="加号 137"/>
          <p:cNvSpPr/>
          <p:nvPr/>
        </p:nvSpPr>
        <p:spPr>
          <a:xfrm>
            <a:off x="8776728" y="3400337"/>
            <a:ext cx="208239" cy="208239"/>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任意多边形: 形状 142"/>
          <p:cNvSpPr/>
          <p:nvPr/>
        </p:nvSpPr>
        <p:spPr>
          <a:xfrm>
            <a:off x="8208010" y="2253740"/>
            <a:ext cx="1337310" cy="287773"/>
          </a:xfrm>
          <a:custGeom>
            <a:avLst/>
            <a:gdLst>
              <a:gd name="connsiteX0" fmla="*/ 304352 w 1337310"/>
              <a:gd name="connsiteY0" fmla="*/ 0 h 287773"/>
              <a:gd name="connsiteX1" fmla="*/ 310651 w 1337310"/>
              <a:gd name="connsiteY1" fmla="*/ 0 h 287773"/>
              <a:gd name="connsiteX2" fmla="*/ 324911 w 1337310"/>
              <a:gd name="connsiteY2" fmla="*/ 17126 h 287773"/>
              <a:gd name="connsiteX3" fmla="*/ 668632 w 1337310"/>
              <a:gd name="connsiteY3" fmla="*/ 158580 h 287773"/>
              <a:gd name="connsiteX4" fmla="*/ 1012215 w 1337310"/>
              <a:gd name="connsiteY4" fmla="*/ 16790 h 287773"/>
              <a:gd name="connsiteX5" fmla="*/ 1026168 w 1337310"/>
              <a:gd name="connsiteY5" fmla="*/ 0 h 287773"/>
              <a:gd name="connsiteX6" fmla="*/ 1032958 w 1337310"/>
              <a:gd name="connsiteY6" fmla="*/ 0 h 287773"/>
              <a:gd name="connsiteX7" fmla="*/ 1337310 w 1337310"/>
              <a:gd name="connsiteY7" fmla="*/ 287773 h 287773"/>
              <a:gd name="connsiteX8" fmla="*/ 0 w 1337310"/>
              <a:gd name="connsiteY8" fmla="*/ 287773 h 287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310" h="287773">
                <a:moveTo>
                  <a:pt x="304352" y="0"/>
                </a:moveTo>
                <a:lnTo>
                  <a:pt x="310651" y="0"/>
                </a:lnTo>
                <a:lnTo>
                  <a:pt x="324911" y="17126"/>
                </a:lnTo>
                <a:cubicBezTo>
                  <a:pt x="413147" y="104644"/>
                  <a:pt x="534627" y="158645"/>
                  <a:pt x="668632" y="158580"/>
                </a:cubicBezTo>
                <a:cubicBezTo>
                  <a:pt x="802637" y="158515"/>
                  <a:pt x="924064" y="104395"/>
                  <a:pt x="1012215" y="16790"/>
                </a:cubicBezTo>
                <a:lnTo>
                  <a:pt x="1026168" y="0"/>
                </a:lnTo>
                <a:lnTo>
                  <a:pt x="1032958" y="0"/>
                </a:lnTo>
                <a:lnTo>
                  <a:pt x="1337310" y="287773"/>
                </a:lnTo>
                <a:lnTo>
                  <a:pt x="0" y="287773"/>
                </a:lnTo>
                <a:close/>
              </a:path>
            </a:pathLst>
          </a:custGeom>
          <a:gradFill flip="none" rotWithShape="1">
            <a:gsLst>
              <a:gs pos="0">
                <a:schemeClr val="accent6">
                  <a:lumMod val="90000"/>
                  <a:alpha val="63000"/>
                </a:schemeClr>
              </a:gs>
              <a:gs pos="100000">
                <a:schemeClr val="accent6">
                  <a:lumMod val="90000"/>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5" name="箭头: 圆角右 144"/>
          <p:cNvSpPr/>
          <p:nvPr/>
        </p:nvSpPr>
        <p:spPr>
          <a:xfrm rot="5400000">
            <a:off x="8354660" y="2688299"/>
            <a:ext cx="242645" cy="661664"/>
          </a:xfrm>
          <a:prstGeom prst="ben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箭头: 圆角右 149"/>
          <p:cNvSpPr/>
          <p:nvPr/>
        </p:nvSpPr>
        <p:spPr>
          <a:xfrm rot="16200000" flipH="1">
            <a:off x="9171844" y="2688298"/>
            <a:ext cx="242645" cy="661666"/>
          </a:xfrm>
          <a:prstGeom prst="ben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1" name="矩形 150"/>
          <p:cNvSpPr/>
          <p:nvPr/>
        </p:nvSpPr>
        <p:spPr>
          <a:xfrm>
            <a:off x="8208010" y="2562409"/>
            <a:ext cx="1337310" cy="196346"/>
          </a:xfrm>
          <a:prstGeom prst="rect">
            <a:avLst/>
          </a:prstGeom>
          <a:solidFill>
            <a:schemeClr val="accent6"/>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cs typeface="+mn-ea"/>
                <a:sym typeface="+mn-lt"/>
              </a:rPr>
              <a:t>自动化的手段定量结合</a:t>
            </a:r>
          </a:p>
        </p:txBody>
      </p:sp>
      <p:sp>
        <p:nvSpPr>
          <p:cNvPr id="5" name="矩形 4"/>
          <p:cNvSpPr/>
          <p:nvPr/>
        </p:nvSpPr>
        <p:spPr>
          <a:xfrm>
            <a:off x="6345319"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形成细分人群的</a:t>
            </a:r>
            <a:endParaRPr kumimoji="0" lang="en-US" altLang="zh-CN" sz="12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精细增长策略</a:t>
            </a:r>
          </a:p>
        </p:txBody>
      </p:sp>
      <p:sp>
        <p:nvSpPr>
          <p:cNvPr id="8" name="矩形 7"/>
          <p:cNvSpPr/>
          <p:nvPr/>
        </p:nvSpPr>
        <p:spPr>
          <a:xfrm>
            <a:off x="8066511"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实现经营与增长的</a:t>
            </a:r>
            <a:endParaRPr kumimoji="0" lang="en-US" altLang="zh-CN" sz="12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一体化</a:t>
            </a:r>
          </a:p>
        </p:txBody>
      </p:sp>
      <p:sp>
        <p:nvSpPr>
          <p:cNvPr id="152" name="矩形 151"/>
          <p:cNvSpPr/>
          <p:nvPr/>
        </p:nvSpPr>
        <p:spPr>
          <a:xfrm>
            <a:off x="9787703"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对长效经营进行深度理解与落地验证</a:t>
            </a:r>
          </a:p>
        </p:txBody>
      </p:sp>
      <p:grpSp>
        <p:nvGrpSpPr>
          <p:cNvPr id="154" name="组合 153"/>
          <p:cNvGrpSpPr/>
          <p:nvPr/>
        </p:nvGrpSpPr>
        <p:grpSpPr>
          <a:xfrm>
            <a:off x="6371076" y="3840673"/>
            <a:ext cx="1635853" cy="501289"/>
            <a:chOff x="528575" y="4543346"/>
            <a:chExt cx="11134848" cy="2114966"/>
          </a:xfrm>
        </p:grpSpPr>
        <p:sp>
          <p:nvSpPr>
            <p:cNvPr id="155" name="任意多边形: 形状 154"/>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6" name="椭圆 155"/>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7" name="组合 156"/>
          <p:cNvGrpSpPr/>
          <p:nvPr/>
        </p:nvGrpSpPr>
        <p:grpSpPr>
          <a:xfrm>
            <a:off x="9756066" y="3840673"/>
            <a:ext cx="1635853" cy="501289"/>
            <a:chOff x="528575" y="4543346"/>
            <a:chExt cx="11134848" cy="2114966"/>
          </a:xfrm>
        </p:grpSpPr>
        <p:sp>
          <p:nvSpPr>
            <p:cNvPr id="158" name="任意多边形: 形状 157"/>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9" name="椭圆 158"/>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0" name="组合 159"/>
          <p:cNvGrpSpPr/>
          <p:nvPr/>
        </p:nvGrpSpPr>
        <p:grpSpPr>
          <a:xfrm>
            <a:off x="9925479" y="3802488"/>
            <a:ext cx="1254976" cy="415498"/>
            <a:chOff x="9720616" y="2351403"/>
            <a:chExt cx="1685022" cy="557878"/>
          </a:xfrm>
        </p:grpSpPr>
        <p:sp>
          <p:nvSpPr>
            <p:cNvPr id="161" name="文本框 160"/>
            <p:cNvSpPr txBox="1"/>
            <p:nvPr/>
          </p:nvSpPr>
          <p:spPr>
            <a:xfrm>
              <a:off x="9967597" y="2351403"/>
              <a:ext cx="1191059" cy="55787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定时定向的</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主动营销</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sp>
          <p:nvSpPr>
            <p:cNvPr id="162" name="椭圆 161"/>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3" name="组合 162"/>
          <p:cNvGrpSpPr/>
          <p:nvPr/>
        </p:nvGrpSpPr>
        <p:grpSpPr>
          <a:xfrm>
            <a:off x="6550482" y="3802488"/>
            <a:ext cx="1254976" cy="400110"/>
            <a:chOff x="9720616" y="2351403"/>
            <a:chExt cx="1685022" cy="537217"/>
          </a:xfrm>
        </p:grpSpPr>
        <p:sp>
          <p:nvSpPr>
            <p:cNvPr id="164" name="文本框 163"/>
            <p:cNvSpPr txBox="1"/>
            <p:nvPr/>
          </p:nvSpPr>
          <p:spPr>
            <a:xfrm>
              <a:off x="9967597" y="2351403"/>
              <a:ext cx="1191059" cy="53721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为增长提供新的助力</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sp>
          <p:nvSpPr>
            <p:cNvPr id="165" name="椭圆 164"/>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4" name="组合 173"/>
          <p:cNvGrpSpPr/>
          <p:nvPr/>
        </p:nvGrpSpPr>
        <p:grpSpPr>
          <a:xfrm>
            <a:off x="6249656" y="2431569"/>
            <a:ext cx="1890878" cy="1656000"/>
            <a:chOff x="6249656" y="2429305"/>
            <a:chExt cx="1890878" cy="1656000"/>
          </a:xfrm>
        </p:grpSpPr>
        <p:sp>
          <p:nvSpPr>
            <p:cNvPr id="166" name="任意多边形: 形状 165"/>
            <p:cNvSpPr/>
            <p:nvPr/>
          </p:nvSpPr>
          <p:spPr>
            <a:xfrm rot="10800000">
              <a:off x="6249656"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任意多边形: 形状 166"/>
            <p:cNvSpPr/>
            <p:nvPr/>
          </p:nvSpPr>
          <p:spPr>
            <a:xfrm rot="10800000" flipH="1">
              <a:off x="8014033"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8" name="组合 167"/>
          <p:cNvGrpSpPr/>
          <p:nvPr/>
        </p:nvGrpSpPr>
        <p:grpSpPr>
          <a:xfrm>
            <a:off x="9738449" y="2234988"/>
            <a:ext cx="1685022" cy="415498"/>
            <a:chOff x="9720616" y="2430886"/>
            <a:chExt cx="1685022" cy="415498"/>
          </a:xfrm>
        </p:grpSpPr>
        <p:sp>
          <p:nvSpPr>
            <p:cNvPr id="169" name="文本框 168"/>
            <p:cNvSpPr txBox="1"/>
            <p:nvPr/>
          </p:nvSpPr>
          <p:spPr>
            <a:xfrm>
              <a:off x="9967597" y="2430886"/>
              <a:ext cx="1191060"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cs typeface="+mn-ea"/>
                  <a:sym typeface="+mn-lt"/>
                </a:rPr>
                <a:t>行业客户设定的事件条件</a:t>
              </a:r>
            </a:p>
          </p:txBody>
        </p:sp>
        <p:sp>
          <p:nvSpPr>
            <p:cNvPr id="170" name="椭圆 169"/>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1" name="组合 170"/>
          <p:cNvGrpSpPr/>
          <p:nvPr/>
        </p:nvGrpSpPr>
        <p:grpSpPr>
          <a:xfrm>
            <a:off x="6363452" y="2234988"/>
            <a:ext cx="1685022" cy="415498"/>
            <a:chOff x="9720616" y="2430886"/>
            <a:chExt cx="1685022" cy="415498"/>
          </a:xfrm>
        </p:grpSpPr>
        <p:sp>
          <p:nvSpPr>
            <p:cNvPr id="172" name="文本框 171"/>
            <p:cNvSpPr txBox="1"/>
            <p:nvPr/>
          </p:nvSpPr>
          <p:spPr>
            <a:xfrm>
              <a:off x="9967597" y="2430886"/>
              <a:ext cx="1191060"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cs typeface="+mn-ea"/>
                  <a:sym typeface="+mn-lt"/>
                </a:rPr>
                <a:t>基于用户生命周期的理解</a:t>
              </a:r>
            </a:p>
          </p:txBody>
        </p:sp>
        <p:sp>
          <p:nvSpPr>
            <p:cNvPr id="173" name="椭圆 172"/>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5" name="组合 174"/>
          <p:cNvGrpSpPr/>
          <p:nvPr/>
        </p:nvGrpSpPr>
        <p:grpSpPr>
          <a:xfrm>
            <a:off x="9630417" y="2431569"/>
            <a:ext cx="1890878" cy="1656000"/>
            <a:chOff x="6249656" y="2429305"/>
            <a:chExt cx="1890878" cy="1656000"/>
          </a:xfrm>
        </p:grpSpPr>
        <p:sp>
          <p:nvSpPr>
            <p:cNvPr id="176" name="任意多边形: 形状 175"/>
            <p:cNvSpPr/>
            <p:nvPr/>
          </p:nvSpPr>
          <p:spPr>
            <a:xfrm rot="10800000">
              <a:off x="6249656"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7" name="任意多边形: 形状 176"/>
            <p:cNvSpPr/>
            <p:nvPr/>
          </p:nvSpPr>
          <p:spPr>
            <a:xfrm rot="10800000" flipH="1">
              <a:off x="8014033"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39" name="组合 238"/>
          <p:cNvGrpSpPr/>
          <p:nvPr/>
        </p:nvGrpSpPr>
        <p:grpSpPr>
          <a:xfrm>
            <a:off x="6484749" y="3340358"/>
            <a:ext cx="399211" cy="399211"/>
            <a:chOff x="9948637" y="3668018"/>
            <a:chExt cx="399211" cy="399211"/>
          </a:xfrm>
        </p:grpSpPr>
        <p:sp>
          <p:nvSpPr>
            <p:cNvPr id="237" name="椭圆 236"/>
            <p:cNvSpPr>
              <a:spLocks noChangeAspect="1"/>
            </p:cNvSpPr>
            <p:nvPr/>
          </p:nvSpPr>
          <p:spPr>
            <a:xfrm>
              <a:off x="9948637" y="3668018"/>
              <a:ext cx="399211" cy="39921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38" name="文本框 237"/>
            <p:cNvSpPr txBox="1"/>
            <p:nvPr/>
          </p:nvSpPr>
          <p:spPr>
            <a:xfrm>
              <a:off x="9948637" y="3710146"/>
              <a:ext cx="39921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时间价值</a:t>
              </a:r>
            </a:p>
          </p:txBody>
        </p:sp>
      </p:grpSp>
      <p:grpSp>
        <p:nvGrpSpPr>
          <p:cNvPr id="240" name="组合 239"/>
          <p:cNvGrpSpPr/>
          <p:nvPr/>
        </p:nvGrpSpPr>
        <p:grpSpPr>
          <a:xfrm>
            <a:off x="7515509" y="3340358"/>
            <a:ext cx="399211" cy="399211"/>
            <a:chOff x="9948637" y="3668018"/>
            <a:chExt cx="399211" cy="399211"/>
          </a:xfrm>
        </p:grpSpPr>
        <p:sp>
          <p:nvSpPr>
            <p:cNvPr id="241" name="椭圆 240"/>
            <p:cNvSpPr>
              <a:spLocks noChangeAspect="1"/>
            </p:cNvSpPr>
            <p:nvPr/>
          </p:nvSpPr>
          <p:spPr>
            <a:xfrm>
              <a:off x="9948637" y="3668018"/>
              <a:ext cx="399211" cy="39921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42" name="文本框 241"/>
            <p:cNvSpPr txBox="1"/>
            <p:nvPr/>
          </p:nvSpPr>
          <p:spPr>
            <a:xfrm>
              <a:off x="9948637" y="3710146"/>
              <a:ext cx="39921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周期价值</a:t>
              </a:r>
            </a:p>
          </p:txBody>
        </p:sp>
      </p:grpSp>
      <p:grpSp>
        <p:nvGrpSpPr>
          <p:cNvPr id="243" name="组合 242"/>
          <p:cNvGrpSpPr/>
          <p:nvPr/>
        </p:nvGrpSpPr>
        <p:grpSpPr>
          <a:xfrm rot="16200000">
            <a:off x="623253" y="2455449"/>
            <a:ext cx="1842656" cy="1620034"/>
            <a:chOff x="9851406" y="2698611"/>
            <a:chExt cx="1465238" cy="1184529"/>
          </a:xfrm>
        </p:grpSpPr>
        <p:sp>
          <p:nvSpPr>
            <p:cNvPr id="244" name="任意多边形: 形状 243"/>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3">
                    <a:lumMod val="90000"/>
                    <a:alpha val="27000"/>
                  </a:schemeClr>
                </a:gs>
                <a:gs pos="12000">
                  <a:schemeClr val="accent3">
                    <a:lumMod val="90000"/>
                    <a:alpha val="54000"/>
                  </a:schemeClr>
                </a:gs>
                <a:gs pos="100000">
                  <a:schemeClr val="accent3">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5" name="任意多边形: 形状 244"/>
            <p:cNvSpPr/>
            <p:nvPr/>
          </p:nvSpPr>
          <p:spPr>
            <a:xfrm flipH="1" flipV="1">
              <a:off x="10242403" y="2850276"/>
              <a:ext cx="683244" cy="954220"/>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16000">
                  <a:schemeClr val="accent1"/>
                </a:gs>
                <a:gs pos="58000">
                  <a:schemeClr val="accent1">
                    <a:alpha val="35000"/>
                  </a:schemeClr>
                </a:gs>
                <a:gs pos="99000">
                  <a:schemeClr val="accent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57" name="组合 256"/>
          <p:cNvGrpSpPr/>
          <p:nvPr/>
        </p:nvGrpSpPr>
        <p:grpSpPr>
          <a:xfrm>
            <a:off x="2900079" y="2579628"/>
            <a:ext cx="2707485" cy="1429222"/>
            <a:chOff x="3818377" y="2505760"/>
            <a:chExt cx="1741830" cy="1636115"/>
          </a:xfrm>
        </p:grpSpPr>
        <p:sp>
          <p:nvSpPr>
            <p:cNvPr id="250" name="任意多边形: 形状 249"/>
            <p:cNvSpPr/>
            <p:nvPr/>
          </p:nvSpPr>
          <p:spPr>
            <a:xfrm rot="5400000">
              <a:off x="3871234" y="2452903"/>
              <a:ext cx="1636115" cy="1741830"/>
            </a:xfrm>
            <a:custGeom>
              <a:avLst/>
              <a:gdLst>
                <a:gd name="connsiteX0" fmla="*/ 0 w 1636115"/>
                <a:gd name="connsiteY0" fmla="*/ 362356 h 1741830"/>
                <a:gd name="connsiteX1" fmla="*/ 818058 w 1636115"/>
                <a:gd name="connsiteY1" fmla="*/ 0 h 1741830"/>
                <a:gd name="connsiteX2" fmla="*/ 1636115 w 1636115"/>
                <a:gd name="connsiteY2" fmla="*/ 362356 h 1741830"/>
                <a:gd name="connsiteX3" fmla="*/ 1384898 w 1636115"/>
                <a:gd name="connsiteY3" fmla="*/ 362356 h 1741830"/>
                <a:gd name="connsiteX4" fmla="*/ 1344464 w 1636115"/>
                <a:gd name="connsiteY4" fmla="*/ 410441 h 1741830"/>
                <a:gd name="connsiteX5" fmla="*/ 1114233 w 1636115"/>
                <a:gd name="connsiteY5" fmla="*/ 816828 h 1741830"/>
                <a:gd name="connsiteX6" fmla="*/ 941013 w 1636115"/>
                <a:gd name="connsiteY6" fmla="*/ 1379770 h 1741830"/>
                <a:gd name="connsiteX7" fmla="*/ 929586 w 1636115"/>
                <a:gd name="connsiteY7" fmla="*/ 1449975 h 1741830"/>
                <a:gd name="connsiteX8" fmla="*/ 1014301 w 1636115"/>
                <a:gd name="connsiteY8" fmla="*/ 1449975 h 1741830"/>
                <a:gd name="connsiteX9" fmla="*/ 818058 w 1636115"/>
                <a:gd name="connsiteY9" fmla="*/ 1741830 h 1741830"/>
                <a:gd name="connsiteX10" fmla="*/ 621816 w 1636115"/>
                <a:gd name="connsiteY10" fmla="*/ 1449975 h 1741830"/>
                <a:gd name="connsiteX11" fmla="*/ 706531 w 1636115"/>
                <a:gd name="connsiteY11" fmla="*/ 1449975 h 1741830"/>
                <a:gd name="connsiteX12" fmla="*/ 695103 w 1636115"/>
                <a:gd name="connsiteY12" fmla="*/ 1379770 h 1741830"/>
                <a:gd name="connsiteX13" fmla="*/ 521883 w 1636115"/>
                <a:gd name="connsiteY13" fmla="*/ 816828 h 1741830"/>
                <a:gd name="connsiteX14" fmla="*/ 291652 w 1636115"/>
                <a:gd name="connsiteY14" fmla="*/ 410441 h 1741830"/>
                <a:gd name="connsiteX15" fmla="*/ 251218 w 1636115"/>
                <a:gd name="connsiteY15" fmla="*/ 362356 h 1741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6115" h="1741830">
                  <a:moveTo>
                    <a:pt x="0" y="362356"/>
                  </a:moveTo>
                  <a:lnTo>
                    <a:pt x="818058" y="0"/>
                  </a:lnTo>
                  <a:lnTo>
                    <a:pt x="1636115" y="362356"/>
                  </a:lnTo>
                  <a:lnTo>
                    <a:pt x="1384898" y="362356"/>
                  </a:lnTo>
                  <a:lnTo>
                    <a:pt x="1344464" y="410441"/>
                  </a:lnTo>
                  <a:cubicBezTo>
                    <a:pt x="1264286" y="516581"/>
                    <a:pt x="1184862" y="654456"/>
                    <a:pt x="1114233" y="816828"/>
                  </a:cubicBezTo>
                  <a:cubicBezTo>
                    <a:pt x="1031832" y="1006262"/>
                    <a:pt x="973346" y="1201576"/>
                    <a:pt x="941013" y="1379770"/>
                  </a:cubicBezTo>
                  <a:lnTo>
                    <a:pt x="929586" y="1449975"/>
                  </a:lnTo>
                  <a:lnTo>
                    <a:pt x="1014301" y="1449975"/>
                  </a:lnTo>
                  <a:lnTo>
                    <a:pt x="818058" y="1741830"/>
                  </a:lnTo>
                  <a:lnTo>
                    <a:pt x="621816" y="1449975"/>
                  </a:lnTo>
                  <a:lnTo>
                    <a:pt x="706531" y="1449975"/>
                  </a:lnTo>
                  <a:lnTo>
                    <a:pt x="695103" y="1379770"/>
                  </a:lnTo>
                  <a:cubicBezTo>
                    <a:pt x="662771" y="1201576"/>
                    <a:pt x="604285" y="1006261"/>
                    <a:pt x="521883" y="816828"/>
                  </a:cubicBezTo>
                  <a:cubicBezTo>
                    <a:pt x="451254" y="654456"/>
                    <a:pt x="371830" y="516581"/>
                    <a:pt x="291652" y="410441"/>
                  </a:cubicBezTo>
                  <a:lnTo>
                    <a:pt x="251218" y="362356"/>
                  </a:lnTo>
                  <a:close/>
                </a:path>
              </a:pathLst>
            </a:custGeom>
            <a:gradFill flip="none" rotWithShape="1">
              <a:gsLst>
                <a:gs pos="56000">
                  <a:schemeClr val="accent3">
                    <a:lumMod val="90000"/>
                    <a:alpha val="27000"/>
                  </a:schemeClr>
                </a:gs>
                <a:gs pos="0">
                  <a:schemeClr val="accent3">
                    <a:lumMod val="90000"/>
                    <a:alpha val="54000"/>
                  </a:schemeClr>
                </a:gs>
                <a:gs pos="81000">
                  <a:schemeClr val="accent3">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6" name="任意多边形: 形状 255"/>
            <p:cNvSpPr/>
            <p:nvPr/>
          </p:nvSpPr>
          <p:spPr>
            <a:xfrm rot="5400000">
              <a:off x="4453593" y="2777104"/>
              <a:ext cx="846713" cy="1093429"/>
            </a:xfrm>
            <a:custGeom>
              <a:avLst/>
              <a:gdLst>
                <a:gd name="connsiteX0" fmla="*/ 0 w 1636115"/>
                <a:gd name="connsiteY0" fmla="*/ 362356 h 1741830"/>
                <a:gd name="connsiteX1" fmla="*/ 818058 w 1636115"/>
                <a:gd name="connsiteY1" fmla="*/ 0 h 1741830"/>
                <a:gd name="connsiteX2" fmla="*/ 1636115 w 1636115"/>
                <a:gd name="connsiteY2" fmla="*/ 362356 h 1741830"/>
                <a:gd name="connsiteX3" fmla="*/ 1384898 w 1636115"/>
                <a:gd name="connsiteY3" fmla="*/ 362356 h 1741830"/>
                <a:gd name="connsiteX4" fmla="*/ 1344464 w 1636115"/>
                <a:gd name="connsiteY4" fmla="*/ 410441 h 1741830"/>
                <a:gd name="connsiteX5" fmla="*/ 1114233 w 1636115"/>
                <a:gd name="connsiteY5" fmla="*/ 816828 h 1741830"/>
                <a:gd name="connsiteX6" fmla="*/ 941013 w 1636115"/>
                <a:gd name="connsiteY6" fmla="*/ 1379770 h 1741830"/>
                <a:gd name="connsiteX7" fmla="*/ 929586 w 1636115"/>
                <a:gd name="connsiteY7" fmla="*/ 1449975 h 1741830"/>
                <a:gd name="connsiteX8" fmla="*/ 1014301 w 1636115"/>
                <a:gd name="connsiteY8" fmla="*/ 1449975 h 1741830"/>
                <a:gd name="connsiteX9" fmla="*/ 818058 w 1636115"/>
                <a:gd name="connsiteY9" fmla="*/ 1741830 h 1741830"/>
                <a:gd name="connsiteX10" fmla="*/ 621816 w 1636115"/>
                <a:gd name="connsiteY10" fmla="*/ 1449975 h 1741830"/>
                <a:gd name="connsiteX11" fmla="*/ 706531 w 1636115"/>
                <a:gd name="connsiteY11" fmla="*/ 1449975 h 1741830"/>
                <a:gd name="connsiteX12" fmla="*/ 695103 w 1636115"/>
                <a:gd name="connsiteY12" fmla="*/ 1379770 h 1741830"/>
                <a:gd name="connsiteX13" fmla="*/ 521883 w 1636115"/>
                <a:gd name="connsiteY13" fmla="*/ 816828 h 1741830"/>
                <a:gd name="connsiteX14" fmla="*/ 291652 w 1636115"/>
                <a:gd name="connsiteY14" fmla="*/ 410441 h 1741830"/>
                <a:gd name="connsiteX15" fmla="*/ 251218 w 1636115"/>
                <a:gd name="connsiteY15" fmla="*/ 362356 h 1741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6115" h="1741830">
                  <a:moveTo>
                    <a:pt x="0" y="362356"/>
                  </a:moveTo>
                  <a:lnTo>
                    <a:pt x="818058" y="0"/>
                  </a:lnTo>
                  <a:lnTo>
                    <a:pt x="1636115" y="362356"/>
                  </a:lnTo>
                  <a:lnTo>
                    <a:pt x="1384898" y="362356"/>
                  </a:lnTo>
                  <a:lnTo>
                    <a:pt x="1344464" y="410441"/>
                  </a:lnTo>
                  <a:cubicBezTo>
                    <a:pt x="1264286" y="516581"/>
                    <a:pt x="1184862" y="654456"/>
                    <a:pt x="1114233" y="816828"/>
                  </a:cubicBezTo>
                  <a:cubicBezTo>
                    <a:pt x="1031832" y="1006262"/>
                    <a:pt x="973346" y="1201576"/>
                    <a:pt x="941013" y="1379770"/>
                  </a:cubicBezTo>
                  <a:lnTo>
                    <a:pt x="929586" y="1449975"/>
                  </a:lnTo>
                  <a:lnTo>
                    <a:pt x="1014301" y="1449975"/>
                  </a:lnTo>
                  <a:lnTo>
                    <a:pt x="818058" y="1741830"/>
                  </a:lnTo>
                  <a:lnTo>
                    <a:pt x="621816" y="1449975"/>
                  </a:lnTo>
                  <a:lnTo>
                    <a:pt x="706531" y="1449975"/>
                  </a:lnTo>
                  <a:lnTo>
                    <a:pt x="695103" y="1379770"/>
                  </a:lnTo>
                  <a:cubicBezTo>
                    <a:pt x="662771" y="1201576"/>
                    <a:pt x="604285" y="1006261"/>
                    <a:pt x="521883" y="816828"/>
                  </a:cubicBezTo>
                  <a:cubicBezTo>
                    <a:pt x="451254" y="654456"/>
                    <a:pt x="371830" y="516581"/>
                    <a:pt x="291652" y="410441"/>
                  </a:cubicBezTo>
                  <a:lnTo>
                    <a:pt x="251218" y="362356"/>
                  </a:lnTo>
                  <a:close/>
                </a:path>
              </a:pathLst>
            </a:custGeom>
            <a:gradFill flip="none" rotWithShape="1">
              <a:gsLst>
                <a:gs pos="16000">
                  <a:schemeClr val="accent1"/>
                </a:gs>
                <a:gs pos="44000">
                  <a:schemeClr val="accent1">
                    <a:alpha val="35000"/>
                  </a:schemeClr>
                </a:gs>
                <a:gs pos="83000">
                  <a:schemeClr val="accent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58" name="组合 257"/>
          <p:cNvGrpSpPr/>
          <p:nvPr/>
        </p:nvGrpSpPr>
        <p:grpSpPr>
          <a:xfrm>
            <a:off x="2717383" y="2897266"/>
            <a:ext cx="828000" cy="828000"/>
            <a:chOff x="2993797" y="3477203"/>
            <a:chExt cx="918705" cy="959777"/>
          </a:xfrm>
        </p:grpSpPr>
        <p:sp>
          <p:nvSpPr>
            <p:cNvPr id="259" name="椭圆 258"/>
            <p:cNvSpPr/>
            <p:nvPr/>
          </p:nvSpPr>
          <p:spPr>
            <a:xfrm>
              <a:off x="2993797" y="3477203"/>
              <a:ext cx="918705" cy="959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60" name="文本框 259"/>
            <p:cNvSpPr txBox="1"/>
            <p:nvPr/>
          </p:nvSpPr>
          <p:spPr>
            <a:xfrm>
              <a:off x="3076620" y="3960828"/>
              <a:ext cx="778574" cy="39243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终端</a:t>
              </a:r>
            </a:p>
          </p:txBody>
        </p:sp>
        <p:sp>
          <p:nvSpPr>
            <p:cNvPr id="261" name="任意多边形: 形状 260"/>
            <p:cNvSpPr/>
            <p:nvPr/>
          </p:nvSpPr>
          <p:spPr>
            <a:xfrm>
              <a:off x="3376338" y="3655858"/>
              <a:ext cx="179137" cy="315196"/>
            </a:xfrm>
            <a:custGeom>
              <a:avLst/>
              <a:gdLst>
                <a:gd name="connsiteX0" fmla="*/ 327184 w 692753"/>
                <a:gd name="connsiteY0" fmla="*/ 1097898 h 1218914"/>
                <a:gd name="connsiteX1" fmla="*/ 321231 w 692753"/>
                <a:gd name="connsiteY1" fmla="*/ 1103852 h 1218914"/>
                <a:gd name="connsiteX2" fmla="*/ 321231 w 692753"/>
                <a:gd name="connsiteY2" fmla="*/ 1142190 h 1218914"/>
                <a:gd name="connsiteX3" fmla="*/ 327184 w 692753"/>
                <a:gd name="connsiteY3" fmla="*/ 1148143 h 1218914"/>
                <a:gd name="connsiteX4" fmla="*/ 365522 w 692753"/>
                <a:gd name="connsiteY4" fmla="*/ 1148143 h 1218914"/>
                <a:gd name="connsiteX5" fmla="*/ 371475 w 692753"/>
                <a:gd name="connsiteY5" fmla="*/ 1142190 h 1218914"/>
                <a:gd name="connsiteX6" fmla="*/ 371475 w 692753"/>
                <a:gd name="connsiteY6" fmla="*/ 1103852 h 1218914"/>
                <a:gd name="connsiteX7" fmla="*/ 365522 w 692753"/>
                <a:gd name="connsiteY7" fmla="*/ 1097898 h 1218914"/>
                <a:gd name="connsiteX8" fmla="*/ 327184 w 692753"/>
                <a:gd name="connsiteY8" fmla="*/ 1074848 h 1218914"/>
                <a:gd name="connsiteX9" fmla="*/ 365522 w 692753"/>
                <a:gd name="connsiteY9" fmla="*/ 1074848 h 1218914"/>
                <a:gd name="connsiteX10" fmla="*/ 394525 w 692753"/>
                <a:gd name="connsiteY10" fmla="*/ 1103852 h 1218914"/>
                <a:gd name="connsiteX11" fmla="*/ 394525 w 692753"/>
                <a:gd name="connsiteY11" fmla="*/ 1142190 h 1218914"/>
                <a:gd name="connsiteX12" fmla="*/ 365522 w 692753"/>
                <a:gd name="connsiteY12" fmla="*/ 1171193 h 1218914"/>
                <a:gd name="connsiteX13" fmla="*/ 327184 w 692753"/>
                <a:gd name="connsiteY13" fmla="*/ 1171193 h 1218914"/>
                <a:gd name="connsiteX14" fmla="*/ 298180 w 692753"/>
                <a:gd name="connsiteY14" fmla="*/ 1142190 h 1218914"/>
                <a:gd name="connsiteX15" fmla="*/ 298180 w 692753"/>
                <a:gd name="connsiteY15" fmla="*/ 1103852 h 1218914"/>
                <a:gd name="connsiteX16" fmla="*/ 327184 w 692753"/>
                <a:gd name="connsiteY16" fmla="*/ 1074848 h 1218914"/>
                <a:gd name="connsiteX17" fmla="*/ 76295 w 692753"/>
                <a:gd name="connsiteY17" fmla="*/ 121824 h 1218914"/>
                <a:gd name="connsiteX18" fmla="*/ 616458 w 692753"/>
                <a:gd name="connsiteY18" fmla="*/ 121824 h 1218914"/>
                <a:gd name="connsiteX19" fmla="*/ 632841 w 692753"/>
                <a:gd name="connsiteY19" fmla="*/ 138207 h 1218914"/>
                <a:gd name="connsiteX20" fmla="*/ 632841 w 692753"/>
                <a:gd name="connsiteY20" fmla="*/ 1038320 h 1218914"/>
                <a:gd name="connsiteX21" fmla="*/ 632841 w 692753"/>
                <a:gd name="connsiteY21" fmla="*/ 1038367 h 1218914"/>
                <a:gd name="connsiteX22" fmla="*/ 616458 w 692753"/>
                <a:gd name="connsiteY22" fmla="*/ 1054750 h 1218914"/>
                <a:gd name="connsiteX23" fmla="*/ 76295 w 692753"/>
                <a:gd name="connsiteY23" fmla="*/ 1054750 h 1218914"/>
                <a:gd name="connsiteX24" fmla="*/ 59912 w 692753"/>
                <a:gd name="connsiteY24" fmla="*/ 1038367 h 1218914"/>
                <a:gd name="connsiteX25" fmla="*/ 59912 w 692753"/>
                <a:gd name="connsiteY25" fmla="*/ 1038320 h 1218914"/>
                <a:gd name="connsiteX26" fmla="*/ 59912 w 692753"/>
                <a:gd name="connsiteY26" fmla="*/ 138255 h 1218914"/>
                <a:gd name="connsiteX27" fmla="*/ 59912 w 692753"/>
                <a:gd name="connsiteY27" fmla="*/ 138207 h 1218914"/>
                <a:gd name="connsiteX28" fmla="*/ 76295 w 692753"/>
                <a:gd name="connsiteY28" fmla="*/ 121824 h 1218914"/>
                <a:gd name="connsiteX29" fmla="*/ 259652 w 692753"/>
                <a:gd name="connsiteY29" fmla="*/ 65770 h 1218914"/>
                <a:gd name="connsiteX30" fmla="*/ 433054 w 692753"/>
                <a:gd name="connsiteY30" fmla="*/ 65770 h 1218914"/>
                <a:gd name="connsiteX31" fmla="*/ 444770 w 692753"/>
                <a:gd name="connsiteY31" fmla="*/ 78676 h 1218914"/>
                <a:gd name="connsiteX32" fmla="*/ 433054 w 692753"/>
                <a:gd name="connsiteY32" fmla="*/ 91583 h 1218914"/>
                <a:gd name="connsiteX33" fmla="*/ 259652 w 692753"/>
                <a:gd name="connsiteY33" fmla="*/ 91583 h 1218914"/>
                <a:gd name="connsiteX34" fmla="*/ 247936 w 692753"/>
                <a:gd name="connsiteY34" fmla="*/ 78676 h 1218914"/>
                <a:gd name="connsiteX35" fmla="*/ 259652 w 692753"/>
                <a:gd name="connsiteY35" fmla="*/ 65770 h 1218914"/>
                <a:gd name="connsiteX36" fmla="*/ 552879 w 692753"/>
                <a:gd name="connsiteY36" fmla="*/ 50006 h 1218914"/>
                <a:gd name="connsiteX37" fmla="*/ 580311 w 692753"/>
                <a:gd name="connsiteY37" fmla="*/ 77438 h 1218914"/>
                <a:gd name="connsiteX38" fmla="*/ 552879 w 692753"/>
                <a:gd name="connsiteY38" fmla="*/ 104870 h 1218914"/>
                <a:gd name="connsiteX39" fmla="*/ 525447 w 692753"/>
                <a:gd name="connsiteY39" fmla="*/ 77438 h 1218914"/>
                <a:gd name="connsiteX40" fmla="*/ 552879 w 692753"/>
                <a:gd name="connsiteY40" fmla="*/ 50006 h 1218914"/>
                <a:gd name="connsiteX41" fmla="*/ 69723 w 692753"/>
                <a:gd name="connsiteY41" fmla="*/ 27670 h 1218914"/>
                <a:gd name="connsiteX42" fmla="*/ 27670 w 692753"/>
                <a:gd name="connsiteY42" fmla="*/ 69723 h 1218914"/>
                <a:gd name="connsiteX43" fmla="*/ 27670 w 692753"/>
                <a:gd name="connsiteY43" fmla="*/ 1149144 h 1218914"/>
                <a:gd name="connsiteX44" fmla="*/ 69723 w 692753"/>
                <a:gd name="connsiteY44" fmla="*/ 1191197 h 1218914"/>
                <a:gd name="connsiteX45" fmla="*/ 623030 w 692753"/>
                <a:gd name="connsiteY45" fmla="*/ 1191197 h 1218914"/>
                <a:gd name="connsiteX46" fmla="*/ 665083 w 692753"/>
                <a:gd name="connsiteY46" fmla="*/ 1149144 h 1218914"/>
                <a:gd name="connsiteX47" fmla="*/ 665083 w 692753"/>
                <a:gd name="connsiteY47" fmla="*/ 69723 h 1218914"/>
                <a:gd name="connsiteX48" fmla="*/ 623030 w 692753"/>
                <a:gd name="connsiteY48" fmla="*/ 27670 h 1218914"/>
                <a:gd name="connsiteX49" fmla="*/ 69723 w 692753"/>
                <a:gd name="connsiteY49" fmla="*/ 0 h 1218914"/>
                <a:gd name="connsiteX50" fmla="*/ 623030 w 692753"/>
                <a:gd name="connsiteY50" fmla="*/ 0 h 1218914"/>
                <a:gd name="connsiteX51" fmla="*/ 692753 w 692753"/>
                <a:gd name="connsiteY51" fmla="*/ 69723 h 1218914"/>
                <a:gd name="connsiteX52" fmla="*/ 692753 w 692753"/>
                <a:gd name="connsiteY52" fmla="*/ 1149144 h 1218914"/>
                <a:gd name="connsiteX53" fmla="*/ 623030 w 692753"/>
                <a:gd name="connsiteY53" fmla="*/ 1218867 h 1218914"/>
                <a:gd name="connsiteX54" fmla="*/ 623030 w 692753"/>
                <a:gd name="connsiteY54" fmla="*/ 1218914 h 1218914"/>
                <a:gd name="connsiteX55" fmla="*/ 69723 w 692753"/>
                <a:gd name="connsiteY55" fmla="*/ 1218914 h 1218914"/>
                <a:gd name="connsiteX56" fmla="*/ 0 w 692753"/>
                <a:gd name="connsiteY56" fmla="*/ 1149191 h 1218914"/>
                <a:gd name="connsiteX57" fmla="*/ 0 w 692753"/>
                <a:gd name="connsiteY57" fmla="*/ 69723 h 1218914"/>
                <a:gd name="connsiteX58" fmla="*/ 69723 w 692753"/>
                <a:gd name="connsiteY58" fmla="*/ 0 h 121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92753" h="1218914">
                  <a:moveTo>
                    <a:pt x="327184" y="1097898"/>
                  </a:moveTo>
                  <a:cubicBezTo>
                    <a:pt x="323898" y="1097898"/>
                    <a:pt x="321231" y="1100565"/>
                    <a:pt x="321231" y="1103852"/>
                  </a:cubicBezTo>
                  <a:lnTo>
                    <a:pt x="321231" y="1142190"/>
                  </a:lnTo>
                  <a:cubicBezTo>
                    <a:pt x="321231" y="1145476"/>
                    <a:pt x="323898" y="1148143"/>
                    <a:pt x="327184" y="1148143"/>
                  </a:cubicBezTo>
                  <a:lnTo>
                    <a:pt x="365522" y="1148143"/>
                  </a:lnTo>
                  <a:cubicBezTo>
                    <a:pt x="368808" y="1148143"/>
                    <a:pt x="371475" y="1145476"/>
                    <a:pt x="371475" y="1142190"/>
                  </a:cubicBezTo>
                  <a:lnTo>
                    <a:pt x="371475" y="1103852"/>
                  </a:lnTo>
                  <a:cubicBezTo>
                    <a:pt x="371475" y="1100565"/>
                    <a:pt x="368808" y="1097898"/>
                    <a:pt x="365522" y="1097898"/>
                  </a:cubicBezTo>
                  <a:close/>
                  <a:moveTo>
                    <a:pt x="327184" y="1074848"/>
                  </a:moveTo>
                  <a:lnTo>
                    <a:pt x="365522" y="1074848"/>
                  </a:lnTo>
                  <a:cubicBezTo>
                    <a:pt x="381524" y="1074848"/>
                    <a:pt x="394525" y="1087897"/>
                    <a:pt x="394525" y="1103852"/>
                  </a:cubicBezTo>
                  <a:lnTo>
                    <a:pt x="394525" y="1142190"/>
                  </a:lnTo>
                  <a:cubicBezTo>
                    <a:pt x="394525" y="1158192"/>
                    <a:pt x="381524" y="1171193"/>
                    <a:pt x="365522" y="1171193"/>
                  </a:cubicBezTo>
                  <a:lnTo>
                    <a:pt x="327184" y="1171193"/>
                  </a:lnTo>
                  <a:cubicBezTo>
                    <a:pt x="311182" y="1171193"/>
                    <a:pt x="298180" y="1158192"/>
                    <a:pt x="298180" y="1142190"/>
                  </a:cubicBezTo>
                  <a:lnTo>
                    <a:pt x="298180" y="1103852"/>
                  </a:lnTo>
                  <a:cubicBezTo>
                    <a:pt x="298180" y="1087850"/>
                    <a:pt x="311182" y="1074848"/>
                    <a:pt x="327184" y="1074848"/>
                  </a:cubicBezTo>
                  <a:close/>
                  <a:moveTo>
                    <a:pt x="76295" y="121824"/>
                  </a:moveTo>
                  <a:lnTo>
                    <a:pt x="616458" y="121824"/>
                  </a:lnTo>
                  <a:cubicBezTo>
                    <a:pt x="625507" y="121824"/>
                    <a:pt x="632841" y="129158"/>
                    <a:pt x="632841" y="138207"/>
                  </a:cubicBezTo>
                  <a:lnTo>
                    <a:pt x="632841" y="1038320"/>
                  </a:lnTo>
                  <a:lnTo>
                    <a:pt x="632841" y="1038367"/>
                  </a:lnTo>
                  <a:cubicBezTo>
                    <a:pt x="632841" y="1047416"/>
                    <a:pt x="625507" y="1054750"/>
                    <a:pt x="616458" y="1054750"/>
                  </a:cubicBezTo>
                  <a:lnTo>
                    <a:pt x="76295" y="1054750"/>
                  </a:lnTo>
                  <a:cubicBezTo>
                    <a:pt x="67246" y="1054750"/>
                    <a:pt x="59912" y="1047416"/>
                    <a:pt x="59912" y="1038367"/>
                  </a:cubicBezTo>
                  <a:lnTo>
                    <a:pt x="59912" y="1038320"/>
                  </a:lnTo>
                  <a:lnTo>
                    <a:pt x="59912" y="138255"/>
                  </a:lnTo>
                  <a:lnTo>
                    <a:pt x="59912" y="138207"/>
                  </a:lnTo>
                  <a:cubicBezTo>
                    <a:pt x="59912" y="129158"/>
                    <a:pt x="67246" y="121824"/>
                    <a:pt x="76295" y="121824"/>
                  </a:cubicBezTo>
                  <a:close/>
                  <a:moveTo>
                    <a:pt x="259652" y="65770"/>
                  </a:moveTo>
                  <a:lnTo>
                    <a:pt x="433054" y="65770"/>
                  </a:lnTo>
                  <a:cubicBezTo>
                    <a:pt x="439484" y="65770"/>
                    <a:pt x="444770" y="71580"/>
                    <a:pt x="444770" y="78676"/>
                  </a:cubicBezTo>
                  <a:cubicBezTo>
                    <a:pt x="444770" y="85773"/>
                    <a:pt x="439531" y="91583"/>
                    <a:pt x="433054" y="91583"/>
                  </a:cubicBezTo>
                  <a:lnTo>
                    <a:pt x="259652" y="91583"/>
                  </a:lnTo>
                  <a:cubicBezTo>
                    <a:pt x="253175" y="91583"/>
                    <a:pt x="247936" y="85820"/>
                    <a:pt x="247936" y="78676"/>
                  </a:cubicBezTo>
                  <a:cubicBezTo>
                    <a:pt x="247936" y="71533"/>
                    <a:pt x="253175" y="65770"/>
                    <a:pt x="259652" y="65770"/>
                  </a:cubicBezTo>
                  <a:close/>
                  <a:moveTo>
                    <a:pt x="552879" y="50006"/>
                  </a:moveTo>
                  <a:cubicBezTo>
                    <a:pt x="568024" y="50006"/>
                    <a:pt x="580311" y="62293"/>
                    <a:pt x="580311" y="77438"/>
                  </a:cubicBezTo>
                  <a:cubicBezTo>
                    <a:pt x="580311" y="92583"/>
                    <a:pt x="568024" y="104870"/>
                    <a:pt x="552879" y="104870"/>
                  </a:cubicBezTo>
                  <a:cubicBezTo>
                    <a:pt x="537734" y="104870"/>
                    <a:pt x="525447" y="92583"/>
                    <a:pt x="525447" y="77438"/>
                  </a:cubicBezTo>
                  <a:cubicBezTo>
                    <a:pt x="525447" y="62293"/>
                    <a:pt x="537734" y="50006"/>
                    <a:pt x="552879" y="50006"/>
                  </a:cubicBezTo>
                  <a:close/>
                  <a:moveTo>
                    <a:pt x="69723" y="27670"/>
                  </a:moveTo>
                  <a:cubicBezTo>
                    <a:pt x="46530" y="27670"/>
                    <a:pt x="27670" y="46530"/>
                    <a:pt x="27670" y="69723"/>
                  </a:cubicBezTo>
                  <a:lnTo>
                    <a:pt x="27670" y="1149144"/>
                  </a:lnTo>
                  <a:cubicBezTo>
                    <a:pt x="27670" y="1172337"/>
                    <a:pt x="46530" y="1191197"/>
                    <a:pt x="69723" y="1191197"/>
                  </a:cubicBezTo>
                  <a:lnTo>
                    <a:pt x="623030" y="1191197"/>
                  </a:lnTo>
                  <a:cubicBezTo>
                    <a:pt x="646224" y="1191197"/>
                    <a:pt x="665083" y="1172337"/>
                    <a:pt x="665083" y="1149144"/>
                  </a:cubicBezTo>
                  <a:lnTo>
                    <a:pt x="665083" y="69723"/>
                  </a:lnTo>
                  <a:cubicBezTo>
                    <a:pt x="665083" y="46530"/>
                    <a:pt x="646224" y="27670"/>
                    <a:pt x="623030" y="27670"/>
                  </a:cubicBezTo>
                  <a:close/>
                  <a:moveTo>
                    <a:pt x="69723" y="0"/>
                  </a:moveTo>
                  <a:lnTo>
                    <a:pt x="623030" y="0"/>
                  </a:lnTo>
                  <a:cubicBezTo>
                    <a:pt x="661464" y="0"/>
                    <a:pt x="692753" y="31290"/>
                    <a:pt x="692753" y="69723"/>
                  </a:cubicBezTo>
                  <a:lnTo>
                    <a:pt x="692753" y="1149144"/>
                  </a:lnTo>
                  <a:cubicBezTo>
                    <a:pt x="692753" y="1187577"/>
                    <a:pt x="661464" y="1218867"/>
                    <a:pt x="623030" y="1218867"/>
                  </a:cubicBezTo>
                  <a:lnTo>
                    <a:pt x="623030" y="1218914"/>
                  </a:lnTo>
                  <a:lnTo>
                    <a:pt x="69723" y="1218914"/>
                  </a:lnTo>
                  <a:cubicBezTo>
                    <a:pt x="31290" y="1218914"/>
                    <a:pt x="0" y="1187625"/>
                    <a:pt x="0" y="1149191"/>
                  </a:cubicBezTo>
                  <a:lnTo>
                    <a:pt x="0" y="69723"/>
                  </a:lnTo>
                  <a:cubicBezTo>
                    <a:pt x="-48" y="31290"/>
                    <a:pt x="31242" y="0"/>
                    <a:pt x="69723" y="0"/>
                  </a:cubicBezTo>
                  <a:close/>
                </a:path>
              </a:pathLst>
            </a:custGeom>
            <a:solidFill>
              <a:schemeClr val="bg1"/>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grpSp>
      <p:sp>
        <p:nvSpPr>
          <p:cNvPr id="262" name="任意多边形: 形状 261"/>
          <p:cNvSpPr/>
          <p:nvPr/>
        </p:nvSpPr>
        <p:spPr>
          <a:xfrm rot="7900609">
            <a:off x="2438106" y="2875007"/>
            <a:ext cx="649277" cy="67952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263" name="任意多边形: 形状 262"/>
          <p:cNvSpPr/>
          <p:nvPr/>
        </p:nvSpPr>
        <p:spPr>
          <a:xfrm rot="18700609">
            <a:off x="3206433" y="3021422"/>
            <a:ext cx="649277" cy="67952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建设实施步骤分解</a:t>
            </a:r>
          </a:p>
        </p:txBody>
      </p:sp>
      <p:sp>
        <p:nvSpPr>
          <p:cNvPr id="134" name="矩形 133"/>
          <p:cNvSpPr/>
          <p:nvPr/>
        </p:nvSpPr>
        <p:spPr>
          <a:xfrm>
            <a:off x="2167493" y="4993954"/>
            <a:ext cx="9784178" cy="79200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41" name="组合 40"/>
          <p:cNvGrpSpPr/>
          <p:nvPr/>
        </p:nvGrpSpPr>
        <p:grpSpPr>
          <a:xfrm>
            <a:off x="2182062" y="940685"/>
            <a:ext cx="3532468" cy="139959"/>
            <a:chOff x="2239346" y="1110894"/>
            <a:chExt cx="5059708" cy="139959"/>
          </a:xfrm>
        </p:grpSpPr>
        <p:grpSp>
          <p:nvGrpSpPr>
            <p:cNvPr id="29" name="组合 28"/>
            <p:cNvGrpSpPr/>
            <p:nvPr/>
          </p:nvGrpSpPr>
          <p:grpSpPr>
            <a:xfrm>
              <a:off x="2239346" y="1110894"/>
              <a:ext cx="2016000" cy="139959"/>
              <a:chOff x="2239347" y="1110343"/>
              <a:chExt cx="1926661" cy="139959"/>
            </a:xfrm>
          </p:grpSpPr>
          <p:sp>
            <p:nvSpPr>
              <p:cNvPr id="27" name="任意多边形: 形状 26"/>
              <p:cNvSpPr/>
              <p:nvPr/>
            </p:nvSpPr>
            <p:spPr>
              <a:xfrm flipH="1">
                <a:off x="2258008" y="1180322"/>
                <a:ext cx="1908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8" name="任意多边形: 形状 27"/>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30" name="组合 29"/>
            <p:cNvGrpSpPr/>
            <p:nvPr/>
          </p:nvGrpSpPr>
          <p:grpSpPr>
            <a:xfrm flipH="1">
              <a:off x="5283054" y="1110894"/>
              <a:ext cx="2016000" cy="139959"/>
              <a:chOff x="2239347" y="1110343"/>
              <a:chExt cx="1926661" cy="139959"/>
            </a:xfrm>
          </p:grpSpPr>
          <p:sp>
            <p:nvSpPr>
              <p:cNvPr id="31" name="任意多边形: 形状 30"/>
              <p:cNvSpPr/>
              <p:nvPr/>
            </p:nvSpPr>
            <p:spPr>
              <a:xfrm flipH="1">
                <a:off x="2258008" y="1180322"/>
                <a:ext cx="1908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任意多边形: 形状 31"/>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5" name="箭头: 五边形 4"/>
          <p:cNvSpPr/>
          <p:nvPr/>
        </p:nvSpPr>
        <p:spPr>
          <a:xfrm>
            <a:off x="2172731" y="1164896"/>
            <a:ext cx="2554038" cy="386080"/>
          </a:xfrm>
          <a:prstGeom prst="homePlate">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一期</a:t>
            </a:r>
            <a:r>
              <a:rPr kumimoji="0" lang="en-US" altLang="zh-CN" sz="1600" b="0" i="0" u="none" strike="noStrike" kern="1200" cap="none" spc="0" normalizeH="0" baseline="0" noProof="0" dirty="0">
                <a:ln>
                  <a:noFill/>
                </a:ln>
                <a:solidFill>
                  <a:prstClr val="black"/>
                </a:solidFill>
                <a:effectLst/>
                <a:uLnTx/>
                <a:uFillTx/>
                <a:cs typeface="+mn-ea"/>
                <a:sym typeface="+mn-lt"/>
              </a:rPr>
              <a:t>(1.X-2.5)</a:t>
            </a:r>
          </a:p>
        </p:txBody>
      </p:sp>
      <p:sp>
        <p:nvSpPr>
          <p:cNvPr id="8" name="箭头: V 形 7"/>
          <p:cNvSpPr/>
          <p:nvPr/>
        </p:nvSpPr>
        <p:spPr>
          <a:xfrm>
            <a:off x="4643655"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二期</a:t>
            </a:r>
            <a:r>
              <a:rPr kumimoji="0" lang="en-US" altLang="zh-CN" sz="1600" b="0" i="0" u="none" strike="noStrike" kern="1200" cap="none" spc="0" normalizeH="0" baseline="0" noProof="0" dirty="0">
                <a:ln>
                  <a:noFill/>
                </a:ln>
                <a:solidFill>
                  <a:prstClr val="black"/>
                </a:solidFill>
                <a:effectLst/>
                <a:uLnTx/>
                <a:uFillTx/>
                <a:cs typeface="+mn-ea"/>
                <a:sym typeface="+mn-lt"/>
              </a:rPr>
              <a:t>(2.5-3.0)</a:t>
            </a:r>
          </a:p>
        </p:txBody>
      </p:sp>
      <p:sp>
        <p:nvSpPr>
          <p:cNvPr id="9" name="箭头: V 形 8"/>
          <p:cNvSpPr/>
          <p:nvPr/>
        </p:nvSpPr>
        <p:spPr>
          <a:xfrm>
            <a:off x="7114580"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三期</a:t>
            </a:r>
            <a:r>
              <a:rPr kumimoji="0" lang="en-US" altLang="zh-CN" sz="1600" b="0" i="0" u="none" strike="noStrike" kern="1200" cap="none" spc="0" normalizeH="0" baseline="0" noProof="0" dirty="0">
                <a:ln>
                  <a:noFill/>
                </a:ln>
                <a:solidFill>
                  <a:prstClr val="black"/>
                </a:solidFill>
                <a:effectLst/>
                <a:uLnTx/>
                <a:uFillTx/>
                <a:cs typeface="+mn-ea"/>
                <a:sym typeface="+mn-lt"/>
              </a:rPr>
              <a:t>(3.0-3.5)</a:t>
            </a:r>
          </a:p>
        </p:txBody>
      </p:sp>
      <p:sp>
        <p:nvSpPr>
          <p:cNvPr id="10" name="箭头: V 形 9"/>
          <p:cNvSpPr/>
          <p:nvPr/>
        </p:nvSpPr>
        <p:spPr>
          <a:xfrm>
            <a:off x="9585504"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四期</a:t>
            </a:r>
            <a:r>
              <a:rPr kumimoji="0" lang="en-US" altLang="zh-CN" sz="1600" b="0" i="0" u="none" strike="noStrike" kern="1200" cap="none" spc="0" normalizeH="0" baseline="0" noProof="0" dirty="0">
                <a:ln>
                  <a:noFill/>
                </a:ln>
                <a:solidFill>
                  <a:prstClr val="black"/>
                </a:solidFill>
                <a:effectLst/>
                <a:uLnTx/>
                <a:uFillTx/>
                <a:cs typeface="+mn-ea"/>
                <a:sym typeface="+mn-lt"/>
              </a:rPr>
              <a:t>(</a:t>
            </a:r>
            <a:r>
              <a:rPr kumimoji="0" lang="zh-CN" altLang="en-US" sz="1600" b="0" i="0" u="none" strike="noStrike" kern="1200" cap="none" spc="0" normalizeH="0" baseline="0" noProof="0" dirty="0">
                <a:ln>
                  <a:noFill/>
                </a:ln>
                <a:solidFill>
                  <a:prstClr val="black"/>
                </a:solidFill>
                <a:effectLst/>
                <a:uLnTx/>
                <a:uFillTx/>
                <a:cs typeface="+mn-ea"/>
                <a:sym typeface="+mn-lt"/>
              </a:rPr>
              <a:t>迈向</a:t>
            </a:r>
            <a:r>
              <a:rPr kumimoji="0" lang="en-US" altLang="zh-CN" sz="1600" b="0" i="0" u="none" strike="noStrike" kern="1200" cap="none" spc="0" normalizeH="0" baseline="0" noProof="0" dirty="0">
                <a:ln>
                  <a:noFill/>
                </a:ln>
                <a:solidFill>
                  <a:prstClr val="black"/>
                </a:solidFill>
                <a:effectLst/>
                <a:uLnTx/>
                <a:uFillTx/>
                <a:cs typeface="+mn-ea"/>
                <a:sym typeface="+mn-lt"/>
              </a:rPr>
              <a:t>4.0)</a:t>
            </a:r>
          </a:p>
        </p:txBody>
      </p:sp>
      <p:sp>
        <p:nvSpPr>
          <p:cNvPr id="12" name="矩形 11"/>
          <p:cNvSpPr/>
          <p:nvPr/>
        </p:nvSpPr>
        <p:spPr>
          <a:xfrm>
            <a:off x="233432" y="884149"/>
            <a:ext cx="1773721" cy="666828"/>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四期部署</a:t>
            </a:r>
          </a:p>
        </p:txBody>
      </p:sp>
      <p:sp>
        <p:nvSpPr>
          <p:cNvPr id="17" name="矩形 16"/>
          <p:cNvSpPr/>
          <p:nvPr/>
        </p:nvSpPr>
        <p:spPr>
          <a:xfrm>
            <a:off x="232024" y="2298447"/>
            <a:ext cx="1773721" cy="2622770"/>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任务细分</a:t>
            </a:r>
          </a:p>
        </p:txBody>
      </p:sp>
      <p:sp>
        <p:nvSpPr>
          <p:cNvPr id="21" name="矩形 20"/>
          <p:cNvSpPr/>
          <p:nvPr/>
        </p:nvSpPr>
        <p:spPr>
          <a:xfrm>
            <a:off x="232023" y="1613063"/>
            <a:ext cx="1773721" cy="612000"/>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建设目标</a:t>
            </a:r>
          </a:p>
        </p:txBody>
      </p:sp>
      <p:sp>
        <p:nvSpPr>
          <p:cNvPr id="22" name="矩形 21"/>
          <p:cNvSpPr/>
          <p:nvPr/>
        </p:nvSpPr>
        <p:spPr>
          <a:xfrm>
            <a:off x="2172731"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信息化</a:t>
            </a:r>
            <a:r>
              <a:rPr kumimoji="0" lang="en-US" altLang="zh-CN" sz="1600" b="0" i="0" u="none" strike="noStrike" kern="1200" cap="none" spc="0" normalizeH="0" baseline="0" noProof="0" dirty="0">
                <a:ln>
                  <a:noFill/>
                </a:ln>
                <a:solidFill>
                  <a:prstClr val="white"/>
                </a:solidFill>
                <a:effectLst/>
                <a:uLnTx/>
                <a:uFillTx/>
                <a:cs typeface="+mn-ea"/>
                <a:sym typeface="+mn-lt"/>
              </a:rPr>
              <a:t>\</a:t>
            </a:r>
            <a:r>
              <a:rPr kumimoji="0" lang="zh-CN" altLang="en-US" sz="1600" b="0" i="0" u="none" strike="noStrike" kern="1200" cap="none" spc="0" normalizeH="0" baseline="0" noProof="0" dirty="0">
                <a:ln>
                  <a:noFill/>
                </a:ln>
                <a:solidFill>
                  <a:prstClr val="white"/>
                </a:solidFill>
                <a:effectLst/>
                <a:uLnTx/>
                <a:uFillTx/>
                <a:cs typeface="+mn-ea"/>
                <a:sym typeface="+mn-lt"/>
              </a:rPr>
              <a:t>自动化基础</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white"/>
                </a:solidFill>
                <a:effectLst/>
                <a:uLnTx/>
                <a:uFillTx/>
                <a:cs typeface="+mn-ea"/>
                <a:sym typeface="+mn-lt"/>
              </a:rPr>
              <a:t>PDM\ERP\MES(1)</a:t>
            </a:r>
          </a:p>
        </p:txBody>
      </p:sp>
      <p:sp>
        <p:nvSpPr>
          <p:cNvPr id="23" name="矩形 22"/>
          <p:cNvSpPr/>
          <p:nvPr/>
        </p:nvSpPr>
        <p:spPr>
          <a:xfrm>
            <a:off x="4643654"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数字化车间</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white"/>
                </a:solidFill>
                <a:effectLst/>
                <a:uLnTx/>
                <a:uFillTx/>
                <a:cs typeface="+mn-ea"/>
                <a:sym typeface="+mn-lt"/>
              </a:rPr>
              <a:t>MES(2)</a:t>
            </a:r>
          </a:p>
        </p:txBody>
      </p:sp>
      <p:sp>
        <p:nvSpPr>
          <p:cNvPr id="24" name="矩形 23"/>
          <p:cNvSpPr/>
          <p:nvPr/>
        </p:nvSpPr>
        <p:spPr>
          <a:xfrm>
            <a:off x="7114578"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fr-FR" sz="1600" b="0" i="0" u="none" strike="noStrike" kern="1200" cap="none" spc="0" normalizeH="0" baseline="0" noProof="0" dirty="0">
                <a:ln>
                  <a:noFill/>
                </a:ln>
                <a:solidFill>
                  <a:prstClr val="white"/>
                </a:solidFill>
                <a:effectLst/>
                <a:uLnTx/>
                <a:uFillTx/>
                <a:cs typeface="+mn-ea"/>
                <a:sym typeface="+mn-lt"/>
              </a:rPr>
              <a:t>智能工厂</a:t>
            </a:r>
            <a:endParaRPr kumimoji="0" lang="en-US" altLang="zh-CN" sz="16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fr-FR" altLang="zh-CN" sz="1100" b="0" i="0" u="none" strike="noStrike" kern="1200" cap="none" spc="0" normalizeH="0" baseline="0" noProof="0" dirty="0">
                <a:ln>
                  <a:noFill/>
                </a:ln>
                <a:solidFill>
                  <a:prstClr val="white"/>
                </a:solidFill>
                <a:effectLst/>
                <a:uLnTx/>
                <a:uFillTx/>
                <a:cs typeface="+mn-ea"/>
                <a:sym typeface="+mn-lt"/>
              </a:rPr>
              <a:t>MES(3)\PLM(1)</a:t>
            </a:r>
          </a:p>
        </p:txBody>
      </p:sp>
      <p:sp>
        <p:nvSpPr>
          <p:cNvPr id="25" name="矩形 24"/>
          <p:cNvSpPr/>
          <p:nvPr/>
        </p:nvSpPr>
        <p:spPr>
          <a:xfrm>
            <a:off x="9585504"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fr-FR" sz="1600" b="0" i="0" u="none" strike="noStrike" kern="1200" cap="none" spc="0" normalizeH="0" baseline="0" noProof="0" dirty="0">
                <a:ln>
                  <a:noFill/>
                </a:ln>
                <a:solidFill>
                  <a:prstClr val="white"/>
                </a:solidFill>
                <a:effectLst/>
                <a:uLnTx/>
                <a:uFillTx/>
                <a:cs typeface="+mn-ea"/>
                <a:sym typeface="+mn-lt"/>
              </a:rPr>
              <a:t>智能制造</a:t>
            </a:r>
          </a:p>
          <a:p>
            <a:pPr marL="0" marR="0" lvl="0" indent="0" algn="ctr" defTabSz="914400" rtl="0" eaLnBrk="1" fontAlgn="auto" latinLnBrk="0" hangingPunct="1">
              <a:lnSpc>
                <a:spcPct val="120000"/>
              </a:lnSpc>
              <a:spcBef>
                <a:spcPts val="0"/>
              </a:spcBef>
              <a:spcAft>
                <a:spcPts val="0"/>
              </a:spcAft>
              <a:buClrTx/>
              <a:buSzTx/>
              <a:buFontTx/>
              <a:buNone/>
              <a:defRPr/>
            </a:pPr>
            <a:r>
              <a:rPr kumimoji="0" lang="fr-FR" altLang="zh-CN" sz="1100" b="0" i="0" u="none" strike="noStrike" kern="1200" cap="none" spc="0" normalizeH="0" baseline="0" noProof="0" dirty="0">
                <a:ln>
                  <a:noFill/>
                </a:ln>
                <a:solidFill>
                  <a:prstClr val="white"/>
                </a:solidFill>
                <a:effectLst/>
                <a:uLnTx/>
                <a:uFillTx/>
                <a:cs typeface="+mn-ea"/>
                <a:sym typeface="+mn-lt"/>
              </a:rPr>
              <a:t>MES(4)\PLM(2)</a:t>
            </a:r>
          </a:p>
        </p:txBody>
      </p:sp>
      <p:sp>
        <p:nvSpPr>
          <p:cNvPr id="33" name="文本框 32"/>
          <p:cNvSpPr txBox="1"/>
          <p:nvPr/>
        </p:nvSpPr>
        <p:spPr>
          <a:xfrm>
            <a:off x="3430202" y="856776"/>
            <a:ext cx="103546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2025</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nvGrpSpPr>
          <p:cNvPr id="42" name="组合 41"/>
          <p:cNvGrpSpPr/>
          <p:nvPr/>
        </p:nvGrpSpPr>
        <p:grpSpPr>
          <a:xfrm>
            <a:off x="5729003" y="863035"/>
            <a:ext cx="2003170" cy="307777"/>
            <a:chOff x="5637211" y="1033244"/>
            <a:chExt cx="1918978" cy="307777"/>
          </a:xfrm>
        </p:grpSpPr>
        <p:sp>
          <p:nvSpPr>
            <p:cNvPr id="34" name="任意多边形: 形状 33"/>
            <p:cNvSpPr/>
            <p:nvPr/>
          </p:nvSpPr>
          <p:spPr>
            <a:xfrm flipH="1">
              <a:off x="5637211" y="1180873"/>
              <a:ext cx="576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7" name="任意多边形: 形状 36"/>
            <p:cNvSpPr/>
            <p:nvPr/>
          </p:nvSpPr>
          <p:spPr>
            <a:xfrm flipH="1">
              <a:off x="7556189" y="1110894"/>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8" name="任意多边形: 形状 37"/>
            <p:cNvSpPr/>
            <p:nvPr/>
          </p:nvSpPr>
          <p:spPr>
            <a:xfrm>
              <a:off x="6971789" y="1180873"/>
              <a:ext cx="576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0" name="文本框 39"/>
            <p:cNvSpPr txBox="1"/>
            <p:nvPr/>
          </p:nvSpPr>
          <p:spPr>
            <a:xfrm>
              <a:off x="6128320" y="1033244"/>
              <a:ext cx="99194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2026</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grpSp>
        <p:nvGrpSpPr>
          <p:cNvPr id="49" name="组合 48"/>
          <p:cNvGrpSpPr/>
          <p:nvPr/>
        </p:nvGrpSpPr>
        <p:grpSpPr>
          <a:xfrm>
            <a:off x="7749460" y="865537"/>
            <a:ext cx="1739615" cy="307777"/>
            <a:chOff x="7572750" y="1035746"/>
            <a:chExt cx="1666500" cy="307777"/>
          </a:xfrm>
        </p:grpSpPr>
        <p:sp>
          <p:nvSpPr>
            <p:cNvPr id="44" name="任意多边形: 形状 43"/>
            <p:cNvSpPr/>
            <p:nvPr/>
          </p:nvSpPr>
          <p:spPr>
            <a:xfrm flipH="1">
              <a:off x="7572750"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48" name="组合 47"/>
            <p:cNvGrpSpPr/>
            <p:nvPr/>
          </p:nvGrpSpPr>
          <p:grpSpPr>
            <a:xfrm>
              <a:off x="8789753" y="1113396"/>
              <a:ext cx="449497" cy="139959"/>
              <a:chOff x="8789753" y="1113396"/>
              <a:chExt cx="449497" cy="139959"/>
            </a:xfrm>
          </p:grpSpPr>
          <p:sp>
            <p:nvSpPr>
              <p:cNvPr id="45" name="任意多边形: 形状 44"/>
              <p:cNvSpPr/>
              <p:nvPr/>
            </p:nvSpPr>
            <p:spPr>
              <a:xfrm flipH="1">
                <a:off x="9239250" y="1113396"/>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6" name="任意多边形: 形状 45"/>
              <p:cNvSpPr/>
              <p:nvPr/>
            </p:nvSpPr>
            <p:spPr>
              <a:xfrm>
                <a:off x="8789753"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47" name="文本框 46"/>
            <p:cNvSpPr txBox="1"/>
            <p:nvPr/>
          </p:nvSpPr>
          <p:spPr>
            <a:xfrm>
              <a:off x="8049551" y="1035746"/>
              <a:ext cx="76296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2027</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sp>
        <p:nvSpPr>
          <p:cNvPr id="51" name="任意多边形: 形状 50"/>
          <p:cNvSpPr/>
          <p:nvPr/>
        </p:nvSpPr>
        <p:spPr>
          <a:xfrm flipH="1">
            <a:off x="9510106" y="1019645"/>
            <a:ext cx="746075"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52" name="组合 51"/>
          <p:cNvGrpSpPr/>
          <p:nvPr/>
        </p:nvGrpSpPr>
        <p:grpSpPr>
          <a:xfrm>
            <a:off x="11181283" y="949666"/>
            <a:ext cx="756956" cy="139959"/>
            <a:chOff x="8789753" y="1113396"/>
            <a:chExt cx="449497" cy="139959"/>
          </a:xfrm>
        </p:grpSpPr>
        <p:sp>
          <p:nvSpPr>
            <p:cNvPr id="54" name="任意多边形: 形状 53"/>
            <p:cNvSpPr/>
            <p:nvPr/>
          </p:nvSpPr>
          <p:spPr>
            <a:xfrm flipH="1">
              <a:off x="9239250" y="1113396"/>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任意多边形: 形状 58"/>
            <p:cNvSpPr/>
            <p:nvPr/>
          </p:nvSpPr>
          <p:spPr>
            <a:xfrm>
              <a:off x="8789753"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3" name="文本框 52"/>
          <p:cNvSpPr txBox="1"/>
          <p:nvPr/>
        </p:nvSpPr>
        <p:spPr>
          <a:xfrm>
            <a:off x="10257577" y="872016"/>
            <a:ext cx="94873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2028</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nvGrpSpPr>
          <p:cNvPr id="15" name="组合 14"/>
          <p:cNvGrpSpPr/>
          <p:nvPr/>
        </p:nvGrpSpPr>
        <p:grpSpPr>
          <a:xfrm>
            <a:off x="2186363" y="2298446"/>
            <a:ext cx="2352536" cy="2622771"/>
            <a:chOff x="2252405" y="2551805"/>
            <a:chExt cx="2253660" cy="2622771"/>
          </a:xfrm>
        </p:grpSpPr>
        <p:sp>
          <p:nvSpPr>
            <p:cNvPr id="20" name="矩形 19"/>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矩形 2"/>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数字化研发</a:t>
              </a:r>
            </a:p>
          </p:txBody>
        </p:sp>
        <p:sp>
          <p:nvSpPr>
            <p:cNvPr id="4" name="矩形 3"/>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生产资源信息化</a:t>
              </a:r>
            </a:p>
          </p:txBody>
        </p:sp>
        <p:sp>
          <p:nvSpPr>
            <p:cNvPr id="6" name="矩形 5"/>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装备建模</a:t>
              </a:r>
            </a:p>
          </p:txBody>
        </p:sp>
        <p:sp>
          <p:nvSpPr>
            <p:cNvPr id="7" name="矩形 6"/>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精益化生产</a:t>
              </a:r>
            </a:p>
          </p:txBody>
        </p:sp>
        <p:sp>
          <p:nvSpPr>
            <p:cNvPr id="11" name="矩形 10"/>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智能装备升级</a:t>
              </a:r>
            </a:p>
          </p:txBody>
        </p:sp>
        <p:sp>
          <p:nvSpPr>
            <p:cNvPr id="13" name="矩形 12"/>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质量数据采集</a:t>
              </a:r>
            </a:p>
          </p:txBody>
        </p:sp>
        <p:sp>
          <p:nvSpPr>
            <p:cNvPr id="14" name="矩形 13"/>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物联网</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工业总线</a:t>
              </a:r>
            </a:p>
          </p:txBody>
        </p:sp>
      </p:grpSp>
      <p:grpSp>
        <p:nvGrpSpPr>
          <p:cNvPr id="56" name="组合 55"/>
          <p:cNvGrpSpPr/>
          <p:nvPr/>
        </p:nvGrpSpPr>
        <p:grpSpPr>
          <a:xfrm>
            <a:off x="4643654" y="2298446"/>
            <a:ext cx="2352536" cy="2622771"/>
            <a:chOff x="2252405" y="2551805"/>
            <a:chExt cx="2253660" cy="2622771"/>
          </a:xfrm>
        </p:grpSpPr>
        <p:sp>
          <p:nvSpPr>
            <p:cNvPr id="57" name="矩形 56"/>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矩形 57"/>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计划排产</a:t>
              </a:r>
            </a:p>
          </p:txBody>
        </p:sp>
        <p:sp>
          <p:nvSpPr>
            <p:cNvPr id="60" name="矩形 59"/>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信息码应用</a:t>
              </a:r>
            </a:p>
          </p:txBody>
        </p:sp>
        <p:sp>
          <p:nvSpPr>
            <p:cNvPr id="61" name="矩形 60"/>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生产可视化</a:t>
              </a:r>
            </a:p>
          </p:txBody>
        </p:sp>
        <p:sp>
          <p:nvSpPr>
            <p:cNvPr id="62" name="矩形 61"/>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自动化物流</a:t>
              </a:r>
            </a:p>
          </p:txBody>
        </p:sp>
        <p:sp>
          <p:nvSpPr>
            <p:cNvPr id="63" name="矩形 62"/>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精细化成本</a:t>
              </a:r>
            </a:p>
          </p:txBody>
        </p:sp>
        <p:sp>
          <p:nvSpPr>
            <p:cNvPr id="64" name="矩形 63"/>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质量分析</a:t>
              </a:r>
            </a:p>
          </p:txBody>
        </p:sp>
        <p:sp>
          <p:nvSpPr>
            <p:cNvPr id="65" name="矩形 64"/>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能源</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排放管理</a:t>
              </a:r>
            </a:p>
          </p:txBody>
        </p:sp>
      </p:grpSp>
      <p:grpSp>
        <p:nvGrpSpPr>
          <p:cNvPr id="66" name="组合 65"/>
          <p:cNvGrpSpPr/>
          <p:nvPr/>
        </p:nvGrpSpPr>
        <p:grpSpPr>
          <a:xfrm>
            <a:off x="7112802" y="2303215"/>
            <a:ext cx="2352536" cy="2622771"/>
            <a:chOff x="2252405" y="2551805"/>
            <a:chExt cx="2253660" cy="2622771"/>
          </a:xfrm>
        </p:grpSpPr>
        <p:sp>
          <p:nvSpPr>
            <p:cNvPr id="67" name="矩形 66"/>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矩形 67"/>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智能排产</a:t>
              </a:r>
            </a:p>
          </p:txBody>
        </p:sp>
        <p:sp>
          <p:nvSpPr>
            <p:cNvPr id="69" name="矩形 68"/>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材料导入</a:t>
              </a:r>
            </a:p>
          </p:txBody>
        </p:sp>
        <p:sp>
          <p:nvSpPr>
            <p:cNvPr id="70" name="矩形 69"/>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智能诊断</a:t>
              </a:r>
            </a:p>
          </p:txBody>
        </p:sp>
        <p:sp>
          <p:nvSpPr>
            <p:cNvPr id="71" name="矩形 70"/>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智能物流</a:t>
              </a:r>
            </a:p>
          </p:txBody>
        </p:sp>
        <p:sp>
          <p:nvSpPr>
            <p:cNvPr id="72" name="矩形 71"/>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成本优化</a:t>
              </a:r>
            </a:p>
          </p:txBody>
        </p:sp>
        <p:sp>
          <p:nvSpPr>
            <p:cNvPr id="73" name="矩形 72"/>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质量优化</a:t>
              </a:r>
            </a:p>
          </p:txBody>
        </p:sp>
        <p:sp>
          <p:nvSpPr>
            <p:cNvPr id="74" name="矩形 73"/>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供应链优化</a:t>
              </a:r>
            </a:p>
          </p:txBody>
        </p:sp>
      </p:grpSp>
      <p:grpSp>
        <p:nvGrpSpPr>
          <p:cNvPr id="75" name="组合 74"/>
          <p:cNvGrpSpPr/>
          <p:nvPr/>
        </p:nvGrpSpPr>
        <p:grpSpPr>
          <a:xfrm>
            <a:off x="9599136" y="2293055"/>
            <a:ext cx="2352536" cy="2622771"/>
            <a:chOff x="2252405" y="2551805"/>
            <a:chExt cx="2253660" cy="2622771"/>
          </a:xfrm>
        </p:grpSpPr>
        <p:sp>
          <p:nvSpPr>
            <p:cNvPr id="76" name="矩形 75"/>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7" name="矩形 76"/>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智能设计</a:t>
              </a:r>
            </a:p>
          </p:txBody>
        </p:sp>
        <p:sp>
          <p:nvSpPr>
            <p:cNvPr id="78" name="矩形 77"/>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智能优化</a:t>
              </a:r>
            </a:p>
          </p:txBody>
        </p:sp>
        <p:sp>
          <p:nvSpPr>
            <p:cNvPr id="79" name="矩形 78"/>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柔性制造</a:t>
              </a:r>
            </a:p>
          </p:txBody>
        </p:sp>
        <p:sp>
          <p:nvSpPr>
            <p:cNvPr id="80" name="矩形 79"/>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深度协同</a:t>
              </a:r>
            </a:p>
          </p:txBody>
        </p:sp>
        <p:sp>
          <p:nvSpPr>
            <p:cNvPr id="81" name="矩形 80"/>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智能决策</a:t>
              </a:r>
            </a:p>
          </p:txBody>
        </p:sp>
        <p:sp>
          <p:nvSpPr>
            <p:cNvPr id="82" name="矩形 81"/>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远程运维</a:t>
              </a:r>
            </a:p>
          </p:txBody>
        </p:sp>
        <p:sp>
          <p:nvSpPr>
            <p:cNvPr id="83" name="矩形 82"/>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远程服务</a:t>
              </a:r>
            </a:p>
          </p:txBody>
        </p:sp>
      </p:grpSp>
      <p:sp>
        <p:nvSpPr>
          <p:cNvPr id="102" name="矩形 101"/>
          <p:cNvSpPr/>
          <p:nvPr/>
        </p:nvSpPr>
        <p:spPr>
          <a:xfrm>
            <a:off x="232022" y="4972623"/>
            <a:ext cx="1773721" cy="813331"/>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技术支持</a:t>
            </a:r>
          </a:p>
        </p:txBody>
      </p:sp>
      <p:sp>
        <p:nvSpPr>
          <p:cNvPr id="145" name="文本框 144"/>
          <p:cNvSpPr txBox="1"/>
          <p:nvPr/>
        </p:nvSpPr>
        <p:spPr>
          <a:xfrm>
            <a:off x="2742507" y="6244967"/>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10-15%</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50" name="组合 149"/>
          <p:cNvGrpSpPr/>
          <p:nvPr/>
        </p:nvGrpSpPr>
        <p:grpSpPr>
          <a:xfrm>
            <a:off x="2179572" y="6057056"/>
            <a:ext cx="9784179" cy="615124"/>
            <a:chOff x="2343598" y="6615238"/>
            <a:chExt cx="9372956" cy="615124"/>
          </a:xfrm>
        </p:grpSpPr>
        <p:sp>
          <p:nvSpPr>
            <p:cNvPr id="146" name="直角三角形 145"/>
            <p:cNvSpPr/>
            <p:nvPr/>
          </p:nvSpPr>
          <p:spPr>
            <a:xfrm flipH="1">
              <a:off x="2343599" y="6615238"/>
              <a:ext cx="9372955" cy="615124"/>
            </a:xfrm>
            <a:prstGeom prst="rtTriangl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7" name="直角三角形 146"/>
            <p:cNvSpPr/>
            <p:nvPr/>
          </p:nvSpPr>
          <p:spPr>
            <a:xfrm flipH="1">
              <a:off x="2343598" y="6763996"/>
              <a:ext cx="7106239" cy="466365"/>
            </a:xfrm>
            <a:prstGeom prst="rtTriangl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8" name="直角三角形 147"/>
            <p:cNvSpPr/>
            <p:nvPr/>
          </p:nvSpPr>
          <p:spPr>
            <a:xfrm flipH="1">
              <a:off x="2343599" y="6919342"/>
              <a:ext cx="4739164" cy="311020"/>
            </a:xfrm>
            <a:prstGeom prst="rtTriangl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9" name="直角三角形 148"/>
            <p:cNvSpPr/>
            <p:nvPr/>
          </p:nvSpPr>
          <p:spPr>
            <a:xfrm flipH="1">
              <a:off x="2343598" y="7077880"/>
              <a:ext cx="2323445" cy="152482"/>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51" name="文本框 150"/>
          <p:cNvSpPr txBox="1"/>
          <p:nvPr/>
        </p:nvSpPr>
        <p:spPr>
          <a:xfrm>
            <a:off x="5268281" y="6088951"/>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15-30%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文本框 151"/>
          <p:cNvSpPr txBox="1"/>
          <p:nvPr/>
        </p:nvSpPr>
        <p:spPr>
          <a:xfrm>
            <a:off x="7703103" y="5944362"/>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30-60%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文本框 152"/>
          <p:cNvSpPr txBox="1"/>
          <p:nvPr/>
        </p:nvSpPr>
        <p:spPr>
          <a:xfrm>
            <a:off x="10000727" y="5817760"/>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60-100%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4" name="矩形 153"/>
          <p:cNvSpPr/>
          <p:nvPr/>
        </p:nvSpPr>
        <p:spPr>
          <a:xfrm>
            <a:off x="232022" y="5849153"/>
            <a:ext cx="1773721" cy="813331"/>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效益提升</a:t>
            </a:r>
          </a:p>
        </p:txBody>
      </p:sp>
      <p:sp>
        <p:nvSpPr>
          <p:cNvPr id="155" name="箭头: 右 154"/>
          <p:cNvSpPr/>
          <p:nvPr/>
        </p:nvSpPr>
        <p:spPr>
          <a:xfrm rot="21356633">
            <a:off x="2072832" y="6016655"/>
            <a:ext cx="3979193" cy="224743"/>
          </a:xfrm>
          <a:prstGeom prst="rightArrow">
            <a:avLst/>
          </a:prstGeom>
          <a:gradFill>
            <a:gsLst>
              <a:gs pos="0">
                <a:schemeClr val="accent1"/>
              </a:gs>
              <a:gs pos="100000">
                <a:schemeClr val="accent1">
                  <a:lumMod val="20000"/>
                  <a:lumOff val="80000"/>
                  <a:alpha val="0"/>
                </a:schemeClr>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6" name="组合 25"/>
          <p:cNvGrpSpPr/>
          <p:nvPr/>
        </p:nvGrpSpPr>
        <p:grpSpPr>
          <a:xfrm>
            <a:off x="4346480" y="1680303"/>
            <a:ext cx="561650" cy="477520"/>
            <a:chOff x="4409098" y="1717627"/>
            <a:chExt cx="561650" cy="477520"/>
          </a:xfrm>
        </p:grpSpPr>
        <p:sp>
          <p:nvSpPr>
            <p:cNvPr id="35" name="任意多边形: 形状 34"/>
            <p:cNvSpPr/>
            <p:nvPr/>
          </p:nvSpPr>
          <p:spPr>
            <a:xfrm>
              <a:off x="4415178"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6" name="文本框 35"/>
            <p:cNvSpPr txBox="1"/>
            <p:nvPr/>
          </p:nvSpPr>
          <p:spPr>
            <a:xfrm>
              <a:off x="4409098"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两化融合</a:t>
              </a:r>
            </a:p>
          </p:txBody>
        </p:sp>
      </p:grpSp>
      <p:grpSp>
        <p:nvGrpSpPr>
          <p:cNvPr id="39" name="组合 38"/>
          <p:cNvGrpSpPr/>
          <p:nvPr/>
        </p:nvGrpSpPr>
        <p:grpSpPr>
          <a:xfrm>
            <a:off x="6817508" y="1680303"/>
            <a:ext cx="566657" cy="477520"/>
            <a:chOff x="6782665" y="1717627"/>
            <a:chExt cx="566657" cy="477520"/>
          </a:xfrm>
        </p:grpSpPr>
        <p:sp>
          <p:nvSpPr>
            <p:cNvPr id="43" name="任意多边形: 形状 42"/>
            <p:cNvSpPr/>
            <p:nvPr/>
          </p:nvSpPr>
          <p:spPr>
            <a:xfrm>
              <a:off x="6793752"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0" name="文本框 49"/>
            <p:cNvSpPr txBox="1"/>
            <p:nvPr/>
          </p:nvSpPr>
          <p:spPr>
            <a:xfrm>
              <a:off x="6782665"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数智升级</a:t>
              </a:r>
            </a:p>
          </p:txBody>
        </p:sp>
      </p:grpSp>
      <p:grpSp>
        <p:nvGrpSpPr>
          <p:cNvPr id="55" name="组合 54"/>
          <p:cNvGrpSpPr/>
          <p:nvPr/>
        </p:nvGrpSpPr>
        <p:grpSpPr>
          <a:xfrm>
            <a:off x="9293543" y="1680303"/>
            <a:ext cx="562367" cy="477520"/>
            <a:chOff x="9142801" y="1717627"/>
            <a:chExt cx="562367" cy="477520"/>
          </a:xfrm>
        </p:grpSpPr>
        <p:sp>
          <p:nvSpPr>
            <p:cNvPr id="84" name="任意多边形: 形状 83"/>
            <p:cNvSpPr/>
            <p:nvPr/>
          </p:nvSpPr>
          <p:spPr>
            <a:xfrm>
              <a:off x="9149598"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5" name="文本框 84"/>
            <p:cNvSpPr txBox="1"/>
            <p:nvPr/>
          </p:nvSpPr>
          <p:spPr>
            <a:xfrm>
              <a:off x="9142801"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产能升级</a:t>
              </a:r>
            </a:p>
          </p:txBody>
        </p:sp>
      </p:grpSp>
      <p:sp>
        <p:nvSpPr>
          <p:cNvPr id="98" name="任意多边形: 形状 97"/>
          <p:cNvSpPr/>
          <p:nvPr/>
        </p:nvSpPr>
        <p:spPr>
          <a:xfrm flipH="1">
            <a:off x="10377786" y="5051713"/>
            <a:ext cx="1681641" cy="879955"/>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9" name="任意多边形: 形状 98"/>
          <p:cNvSpPr/>
          <p:nvPr/>
        </p:nvSpPr>
        <p:spPr>
          <a:xfrm flipH="1">
            <a:off x="2069866" y="5051713"/>
            <a:ext cx="1681641" cy="879955"/>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1" name="椭圆 100"/>
          <p:cNvSpPr>
            <a:spLocks noChangeAspect="1"/>
          </p:cNvSpPr>
          <p:nvPr/>
        </p:nvSpPr>
        <p:spPr>
          <a:xfrm>
            <a:off x="3515192"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协同研发</a:t>
            </a:r>
          </a:p>
        </p:txBody>
      </p:sp>
      <p:sp>
        <p:nvSpPr>
          <p:cNvPr id="103" name="椭圆 102"/>
          <p:cNvSpPr>
            <a:spLocks noChangeAspect="1"/>
          </p:cNvSpPr>
          <p:nvPr/>
        </p:nvSpPr>
        <p:spPr>
          <a:xfrm>
            <a:off x="4796339"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虚拟仿真</a:t>
            </a:r>
          </a:p>
        </p:txBody>
      </p:sp>
      <p:sp>
        <p:nvSpPr>
          <p:cNvPr id="105" name="椭圆 104"/>
          <p:cNvSpPr>
            <a:spLocks noChangeAspect="1"/>
          </p:cNvSpPr>
          <p:nvPr/>
        </p:nvSpPr>
        <p:spPr>
          <a:xfrm>
            <a:off x="6077486"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信息安全</a:t>
            </a:r>
          </a:p>
        </p:txBody>
      </p:sp>
      <p:sp>
        <p:nvSpPr>
          <p:cNvPr id="106" name="椭圆 105"/>
          <p:cNvSpPr>
            <a:spLocks noChangeAspect="1"/>
          </p:cNvSpPr>
          <p:nvPr/>
        </p:nvSpPr>
        <p:spPr>
          <a:xfrm>
            <a:off x="7358633"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互联网</a:t>
            </a:r>
            <a:r>
              <a:rPr kumimoji="0" lang="en-US" altLang="zh-CN" sz="1100" b="0" i="0" u="none" strike="noStrike" kern="1200" cap="none" spc="0" normalizeH="0" baseline="0" noProof="0" dirty="0">
                <a:ln>
                  <a:noFill/>
                </a:ln>
                <a:solidFill>
                  <a:prstClr val="white"/>
                </a:solidFill>
                <a:effectLst/>
                <a:uLnTx/>
                <a:uFillTx/>
                <a:cs typeface="+mn-ea"/>
                <a:sym typeface="+mn-lt"/>
              </a:rPr>
              <a:t>+</a:t>
            </a: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107" name="椭圆 106"/>
          <p:cNvSpPr>
            <a:spLocks noChangeAspect="1"/>
          </p:cNvSpPr>
          <p:nvPr/>
        </p:nvSpPr>
        <p:spPr>
          <a:xfrm>
            <a:off x="8639780"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大数据</a:t>
            </a:r>
          </a:p>
        </p:txBody>
      </p:sp>
      <p:sp>
        <p:nvSpPr>
          <p:cNvPr id="108" name="椭圆 107"/>
          <p:cNvSpPr>
            <a:spLocks noChangeAspect="1"/>
          </p:cNvSpPr>
          <p:nvPr/>
        </p:nvSpPr>
        <p:spPr>
          <a:xfrm>
            <a:off x="9920926"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工业云</a:t>
            </a:r>
          </a:p>
        </p:txBody>
      </p:sp>
      <p:sp>
        <p:nvSpPr>
          <p:cNvPr id="109" name="加号 108"/>
          <p:cNvSpPr/>
          <p:nvPr/>
        </p:nvSpPr>
        <p:spPr>
          <a:xfrm>
            <a:off x="4335848"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加号 109"/>
          <p:cNvSpPr/>
          <p:nvPr/>
        </p:nvSpPr>
        <p:spPr>
          <a:xfrm>
            <a:off x="5618119"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加号 110"/>
          <p:cNvSpPr/>
          <p:nvPr/>
        </p:nvSpPr>
        <p:spPr>
          <a:xfrm>
            <a:off x="6900390"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加号 111"/>
          <p:cNvSpPr/>
          <p:nvPr/>
        </p:nvSpPr>
        <p:spPr>
          <a:xfrm>
            <a:off x="8182661"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3" name="加号 112"/>
          <p:cNvSpPr/>
          <p:nvPr/>
        </p:nvSpPr>
        <p:spPr>
          <a:xfrm>
            <a:off x="9464931"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矩形 225"/>
          <p:cNvSpPr/>
          <p:nvPr/>
        </p:nvSpPr>
        <p:spPr>
          <a:xfrm>
            <a:off x="239151" y="997328"/>
            <a:ext cx="11725838" cy="56696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09" name="组合 208"/>
          <p:cNvGrpSpPr/>
          <p:nvPr/>
        </p:nvGrpSpPr>
        <p:grpSpPr>
          <a:xfrm>
            <a:off x="2525434" y="6024182"/>
            <a:ext cx="9288707" cy="581354"/>
            <a:chOff x="3397031" y="6124966"/>
            <a:chExt cx="8036870" cy="581354"/>
          </a:xfrm>
        </p:grpSpPr>
        <p:sp>
          <p:nvSpPr>
            <p:cNvPr id="207" name="箭头: 五边形 206"/>
            <p:cNvSpPr/>
            <p:nvPr/>
          </p:nvSpPr>
          <p:spPr>
            <a:xfrm>
              <a:off x="8599665"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6" name="箭头: 五边形 205"/>
            <p:cNvSpPr/>
            <p:nvPr/>
          </p:nvSpPr>
          <p:spPr>
            <a:xfrm>
              <a:off x="5998348"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5" name="箭头: 五边形 204"/>
            <p:cNvSpPr/>
            <p:nvPr/>
          </p:nvSpPr>
          <p:spPr>
            <a:xfrm>
              <a:off x="3397031"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11" name="矩形 110"/>
          <p:cNvSpPr/>
          <p:nvPr/>
        </p:nvSpPr>
        <p:spPr>
          <a:xfrm>
            <a:off x="1593272" y="3343378"/>
            <a:ext cx="10084768" cy="1077493"/>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矩形 111"/>
          <p:cNvSpPr/>
          <p:nvPr/>
        </p:nvSpPr>
        <p:spPr>
          <a:xfrm>
            <a:off x="1592931" y="4709237"/>
            <a:ext cx="10082688" cy="96489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矩形 109"/>
          <p:cNvSpPr/>
          <p:nvPr/>
        </p:nvSpPr>
        <p:spPr>
          <a:xfrm>
            <a:off x="1592931" y="1895248"/>
            <a:ext cx="10082688" cy="1153373"/>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漏斗图：跨境电商行业解决方案</a:t>
            </a:r>
          </a:p>
        </p:txBody>
      </p:sp>
      <p:sp>
        <p:nvSpPr>
          <p:cNvPr id="113" name="矩形 112"/>
          <p:cNvSpPr/>
          <p:nvPr/>
        </p:nvSpPr>
        <p:spPr>
          <a:xfrm>
            <a:off x="4089592"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业财一体化管理</a:t>
            </a:r>
          </a:p>
        </p:txBody>
      </p:sp>
      <p:sp>
        <p:nvSpPr>
          <p:cNvPr id="114" name="矩形 113"/>
          <p:cNvSpPr/>
          <p:nvPr/>
        </p:nvSpPr>
        <p:spPr>
          <a:xfrm>
            <a:off x="4089592"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利润报表、业绩报表</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结算中心、成本管理</a:t>
            </a:r>
          </a:p>
        </p:txBody>
      </p:sp>
      <p:sp>
        <p:nvSpPr>
          <p:cNvPr id="118" name="矩形 117"/>
          <p:cNvSpPr/>
          <p:nvPr/>
        </p:nvSpPr>
        <p:spPr>
          <a:xfrm>
            <a:off x="6626965"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进销存精准管理</a:t>
            </a:r>
          </a:p>
        </p:txBody>
      </p:sp>
      <p:sp>
        <p:nvSpPr>
          <p:cNvPr id="119" name="矩形 118"/>
          <p:cNvSpPr/>
          <p:nvPr/>
        </p:nvSpPr>
        <p:spPr>
          <a:xfrm>
            <a:off x="6626965"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补货建议、头程分摊</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采购协同、库存管理</a:t>
            </a:r>
          </a:p>
        </p:txBody>
      </p:sp>
      <p:sp>
        <p:nvSpPr>
          <p:cNvPr id="121" name="矩形 120"/>
          <p:cNvSpPr/>
          <p:nvPr/>
        </p:nvSpPr>
        <p:spPr>
          <a:xfrm>
            <a:off x="9164339"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运营管理全维提效</a:t>
            </a:r>
          </a:p>
        </p:txBody>
      </p:sp>
      <p:sp>
        <p:nvSpPr>
          <p:cNvPr id="122" name="矩形 121"/>
          <p:cNvSpPr/>
          <p:nvPr/>
        </p:nvSpPr>
        <p:spPr>
          <a:xfrm>
            <a:off x="9164339"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产品表现、销量分析</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广告管理、运营维护</a:t>
            </a:r>
          </a:p>
        </p:txBody>
      </p:sp>
      <p:sp>
        <p:nvSpPr>
          <p:cNvPr id="124" name="矩形 123"/>
          <p:cNvSpPr/>
          <p:nvPr/>
        </p:nvSpPr>
        <p:spPr>
          <a:xfrm>
            <a:off x="4094846" y="3440076"/>
            <a:ext cx="1793066" cy="412164"/>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亚马逊站点</a:t>
            </a:r>
          </a:p>
        </p:txBody>
      </p:sp>
      <p:sp>
        <p:nvSpPr>
          <p:cNvPr id="125" name="矩形 124"/>
          <p:cNvSpPr/>
          <p:nvPr/>
        </p:nvSpPr>
        <p:spPr>
          <a:xfrm>
            <a:off x="5887912" y="3440076"/>
            <a:ext cx="5567679" cy="412164"/>
          </a:xfrm>
          <a:prstGeom prst="rect">
            <a:avLst/>
          </a:prstGeom>
          <a:solidFill>
            <a:schemeClr val="bg1">
              <a:lumMod val="95000"/>
            </a:schemeClr>
          </a:solidFill>
          <a:ln w="31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北美、欧洲、日本、澳洲、新加坡、印度、阿联酋等</a:t>
            </a:r>
            <a:r>
              <a:rPr kumimoji="0" lang="en-US" altLang="zh-CN" sz="1200" b="0" i="0" u="none" strike="noStrike" kern="1200" cap="none" spc="0" normalizeH="0" baseline="0" noProof="0" dirty="0">
                <a:ln>
                  <a:noFill/>
                </a:ln>
                <a:solidFill>
                  <a:srgbClr val="9D3728"/>
                </a:solidFill>
                <a:effectLst/>
                <a:uLnTx/>
                <a:uFillTx/>
                <a:cs typeface="+mn-ea"/>
                <a:sym typeface="+mn-lt"/>
              </a:rPr>
              <a:t>19</a:t>
            </a:r>
            <a:r>
              <a:rPr kumimoji="0" lang="zh-CN" altLang="en-US" sz="1200" b="0" i="0" u="none" strike="noStrike" kern="1200" cap="none" spc="0" normalizeH="0" baseline="0" noProof="0" dirty="0">
                <a:ln>
                  <a:noFill/>
                </a:ln>
                <a:solidFill>
                  <a:srgbClr val="9D3728"/>
                </a:solidFill>
                <a:effectLst/>
                <a:uLnTx/>
                <a:uFillTx/>
                <a:cs typeface="+mn-ea"/>
                <a:sym typeface="+mn-lt"/>
              </a:rPr>
              <a:t>个</a:t>
            </a:r>
            <a:r>
              <a:rPr kumimoji="0" lang="zh-CN" altLang="en-US" sz="1200" b="0" i="0" u="none" strike="noStrike" kern="1200" cap="none" spc="0" normalizeH="0" baseline="0" noProof="0" dirty="0">
                <a:ln>
                  <a:noFill/>
                </a:ln>
                <a:solidFill>
                  <a:prstClr val="black"/>
                </a:solidFill>
                <a:effectLst/>
                <a:uLnTx/>
                <a:uFillTx/>
                <a:cs typeface="+mn-ea"/>
                <a:sym typeface="+mn-lt"/>
              </a:rPr>
              <a:t>站点</a:t>
            </a:r>
          </a:p>
        </p:txBody>
      </p:sp>
      <p:sp>
        <p:nvSpPr>
          <p:cNvPr id="128" name="矩形 127"/>
          <p:cNvSpPr/>
          <p:nvPr/>
        </p:nvSpPr>
        <p:spPr>
          <a:xfrm>
            <a:off x="4094846" y="3907255"/>
            <a:ext cx="1793066" cy="412164"/>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跨境电商平台</a:t>
            </a:r>
          </a:p>
        </p:txBody>
      </p:sp>
      <p:sp>
        <p:nvSpPr>
          <p:cNvPr id="129" name="矩形 128"/>
          <p:cNvSpPr/>
          <p:nvPr/>
        </p:nvSpPr>
        <p:spPr>
          <a:xfrm>
            <a:off x="5887912" y="3907255"/>
            <a:ext cx="5567679" cy="412164"/>
          </a:xfrm>
          <a:prstGeom prst="rect">
            <a:avLst/>
          </a:prstGeom>
          <a:solidFill>
            <a:schemeClr val="bg1">
              <a:lumMod val="95000"/>
            </a:schemeClr>
          </a:solidFill>
          <a:ln w="31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AliExpress</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eBay</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Walmart</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Shopify</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err="1">
                <a:ln>
                  <a:noFill/>
                </a:ln>
                <a:solidFill>
                  <a:prstClr val="black"/>
                </a:solidFill>
                <a:effectLst/>
                <a:uLnTx/>
                <a:uFillTx/>
                <a:cs typeface="+mn-ea"/>
                <a:sym typeface="+mn-lt"/>
              </a:rPr>
              <a:t>Tiktok</a:t>
            </a:r>
            <a:r>
              <a:rPr kumimoji="0" lang="zh-CN" altLang="en-US" sz="1200" b="0" i="0" u="none" strike="noStrike" kern="1200" cap="none" spc="0" normalizeH="0" baseline="0" noProof="0" dirty="0">
                <a:ln>
                  <a:noFill/>
                </a:ln>
                <a:solidFill>
                  <a:prstClr val="black"/>
                </a:solidFill>
                <a:effectLst/>
                <a:uLnTx/>
                <a:uFillTx/>
                <a:cs typeface="+mn-ea"/>
                <a:sym typeface="+mn-lt"/>
              </a:rPr>
              <a:t>等</a:t>
            </a:r>
            <a:r>
              <a:rPr kumimoji="0" lang="en-US" altLang="zh-CN" sz="1200" b="0" i="0" u="none" strike="noStrike" kern="1200" cap="none" spc="0" normalizeH="0" baseline="0" noProof="0" dirty="0">
                <a:ln>
                  <a:noFill/>
                </a:ln>
                <a:solidFill>
                  <a:srgbClr val="9D3728"/>
                </a:solidFill>
                <a:effectLst/>
                <a:uLnTx/>
                <a:uFillTx/>
                <a:cs typeface="+mn-ea"/>
                <a:sym typeface="+mn-lt"/>
              </a:rPr>
              <a:t>15</a:t>
            </a:r>
            <a:r>
              <a:rPr kumimoji="0" lang="zh-CN" altLang="en-US" sz="1200" b="0" i="0" u="none" strike="noStrike" kern="1200" cap="none" spc="0" normalizeH="0" baseline="0" noProof="0" dirty="0">
                <a:ln>
                  <a:noFill/>
                </a:ln>
                <a:solidFill>
                  <a:srgbClr val="9D3728"/>
                </a:solidFill>
                <a:effectLst/>
                <a:uLnTx/>
                <a:uFillTx/>
                <a:cs typeface="+mn-ea"/>
                <a:sym typeface="+mn-lt"/>
              </a:rPr>
              <a:t>个</a:t>
            </a:r>
            <a:r>
              <a:rPr kumimoji="0" lang="zh-CN" altLang="en-US" sz="1200" b="0" i="0" u="none" strike="noStrike" kern="1200" cap="none" spc="0" normalizeH="0" baseline="0" noProof="0" dirty="0">
                <a:ln>
                  <a:noFill/>
                </a:ln>
                <a:solidFill>
                  <a:prstClr val="black"/>
                </a:solidFill>
                <a:effectLst/>
                <a:uLnTx/>
                <a:uFillTx/>
                <a:cs typeface="+mn-ea"/>
                <a:sym typeface="+mn-lt"/>
              </a:rPr>
              <a:t>大跨境电商平台</a:t>
            </a:r>
          </a:p>
        </p:txBody>
      </p:sp>
      <p:grpSp>
        <p:nvGrpSpPr>
          <p:cNvPr id="134" name="组合 133"/>
          <p:cNvGrpSpPr/>
          <p:nvPr/>
        </p:nvGrpSpPr>
        <p:grpSpPr>
          <a:xfrm>
            <a:off x="4056176" y="4899381"/>
            <a:ext cx="1413152" cy="645737"/>
            <a:chOff x="4345545" y="4799991"/>
            <a:chExt cx="1413152" cy="645737"/>
          </a:xfrm>
        </p:grpSpPr>
        <p:sp>
          <p:nvSpPr>
            <p:cNvPr id="131" name="文本框 130"/>
            <p:cNvSpPr txBox="1"/>
            <p:nvPr/>
          </p:nvSpPr>
          <p:spPr>
            <a:xfrm>
              <a:off x="4345545" y="4799991"/>
              <a:ext cx="11568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250</a:t>
              </a:r>
              <a:r>
                <a:rPr kumimoji="0" lang="en-US" altLang="zh-CN" sz="2000" b="0" i="0" u="none" strike="noStrike" kern="1200" cap="none" spc="0" normalizeH="0" baseline="0" noProof="0" dirty="0">
                  <a:ln>
                    <a:noFill/>
                  </a:ln>
                  <a:solidFill>
                    <a:srgbClr val="1C4273"/>
                  </a:solidFill>
                  <a:effectLst/>
                  <a:uLnTx/>
                  <a:uFillTx/>
                  <a:cs typeface="+mn-ea"/>
                  <a:sym typeface="+mn-lt"/>
                </a:rPr>
                <a:t>+</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33" name="文本框 132"/>
            <p:cNvSpPr txBox="1"/>
            <p:nvPr/>
          </p:nvSpPr>
          <p:spPr>
            <a:xfrm>
              <a:off x="4345545" y="5168729"/>
              <a:ext cx="141315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对接物流商</a:t>
              </a:r>
            </a:p>
          </p:txBody>
        </p:sp>
      </p:grpSp>
      <p:grpSp>
        <p:nvGrpSpPr>
          <p:cNvPr id="135" name="组合 134"/>
          <p:cNvGrpSpPr/>
          <p:nvPr/>
        </p:nvGrpSpPr>
        <p:grpSpPr>
          <a:xfrm>
            <a:off x="5257150" y="4899381"/>
            <a:ext cx="1413152" cy="645737"/>
            <a:chOff x="4345545" y="4799991"/>
            <a:chExt cx="1413152" cy="645737"/>
          </a:xfrm>
        </p:grpSpPr>
        <p:sp>
          <p:nvSpPr>
            <p:cNvPr id="136" name="文本框 135"/>
            <p:cNvSpPr txBox="1"/>
            <p:nvPr/>
          </p:nvSpPr>
          <p:spPr>
            <a:xfrm>
              <a:off x="4345545" y="4799991"/>
              <a:ext cx="11568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300</a:t>
              </a:r>
              <a:r>
                <a:rPr kumimoji="0" lang="en-US" altLang="zh-CN" sz="2000" b="0" i="0" u="none" strike="noStrike" kern="1200" cap="none" spc="0" normalizeH="0" baseline="0" noProof="0" dirty="0">
                  <a:ln>
                    <a:noFill/>
                  </a:ln>
                  <a:solidFill>
                    <a:srgbClr val="1C4273"/>
                  </a:solidFill>
                  <a:effectLst/>
                  <a:uLnTx/>
                  <a:uFillTx/>
                  <a:cs typeface="+mn-ea"/>
                  <a:sym typeface="+mn-lt"/>
                </a:rPr>
                <a:t>+</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37" name="文本框 136"/>
            <p:cNvSpPr txBox="1"/>
            <p:nvPr/>
          </p:nvSpPr>
          <p:spPr>
            <a:xfrm>
              <a:off x="4345545" y="5168729"/>
              <a:ext cx="141315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对接海外仓</a:t>
              </a:r>
            </a:p>
          </p:txBody>
        </p:sp>
      </p:grpSp>
      <p:grpSp>
        <p:nvGrpSpPr>
          <p:cNvPr id="142" name="组合 141"/>
          <p:cNvGrpSpPr/>
          <p:nvPr/>
        </p:nvGrpSpPr>
        <p:grpSpPr>
          <a:xfrm>
            <a:off x="6458124" y="4899381"/>
            <a:ext cx="1735558" cy="645737"/>
            <a:chOff x="4345545" y="4799991"/>
            <a:chExt cx="1735558" cy="645737"/>
          </a:xfrm>
        </p:grpSpPr>
        <p:sp>
          <p:nvSpPr>
            <p:cNvPr id="143" name="文本框 142"/>
            <p:cNvSpPr txBox="1"/>
            <p:nvPr/>
          </p:nvSpPr>
          <p:spPr>
            <a:xfrm>
              <a:off x="4345545" y="4799991"/>
              <a:ext cx="173555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Track123</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44" name="文本框 143"/>
            <p:cNvSpPr txBox="1"/>
            <p:nvPr/>
          </p:nvSpPr>
          <p:spPr>
            <a:xfrm>
              <a:off x="4345545" y="5168729"/>
              <a:ext cx="17355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对接全球物流管理系统</a:t>
              </a:r>
            </a:p>
          </p:txBody>
        </p:sp>
      </p:grpSp>
      <p:sp>
        <p:nvSpPr>
          <p:cNvPr id="146" name="任意多边形: 形状 145"/>
          <p:cNvSpPr/>
          <p:nvPr/>
        </p:nvSpPr>
        <p:spPr>
          <a:xfrm>
            <a:off x="8433422" y="4911301"/>
            <a:ext cx="0" cy="606287"/>
          </a:xfrm>
          <a:custGeom>
            <a:avLst/>
            <a:gdLst>
              <a:gd name="connsiteX0" fmla="*/ 0 w 29818"/>
              <a:gd name="connsiteY0" fmla="*/ 0 h 606287"/>
              <a:gd name="connsiteX1" fmla="*/ 0 w 29818"/>
              <a:gd name="connsiteY1" fmla="*/ 606287 h 606287"/>
              <a:gd name="connsiteX2" fmla="*/ 29818 w 29818"/>
              <a:gd name="connsiteY2" fmla="*/ 606287 h 606287"/>
              <a:gd name="connsiteX3" fmla="*/ 29818 w 29818"/>
              <a:gd name="connsiteY3" fmla="*/ 606287 h 606287"/>
            </a:gdLst>
            <a:ahLst/>
            <a:cxnLst>
              <a:cxn ang="0">
                <a:pos x="connsiteX0" y="connsiteY0"/>
              </a:cxn>
              <a:cxn ang="0">
                <a:pos x="connsiteX1" y="connsiteY1"/>
              </a:cxn>
              <a:cxn ang="0">
                <a:pos x="connsiteX2" y="connsiteY2"/>
              </a:cxn>
              <a:cxn ang="0">
                <a:pos x="connsiteX3" y="connsiteY3"/>
              </a:cxn>
            </a:cxnLst>
            <a:rect l="l" t="t" r="r" b="b"/>
            <a:pathLst>
              <a:path w="29818" h="606287">
                <a:moveTo>
                  <a:pt x="0" y="0"/>
                </a:moveTo>
                <a:lnTo>
                  <a:pt x="0" y="606287"/>
                </a:lnTo>
                <a:lnTo>
                  <a:pt x="29818" y="606287"/>
                </a:lnTo>
                <a:lnTo>
                  <a:pt x="29818" y="606287"/>
                </a:lnTo>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矩形: 圆角 158"/>
          <p:cNvSpPr/>
          <p:nvPr/>
        </p:nvSpPr>
        <p:spPr>
          <a:xfrm rot="2409232">
            <a:off x="9209559" y="5115324"/>
            <a:ext cx="867657" cy="140689"/>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0" name="组合 159"/>
          <p:cNvGrpSpPr/>
          <p:nvPr/>
        </p:nvGrpSpPr>
        <p:grpSpPr>
          <a:xfrm>
            <a:off x="8778260" y="4798255"/>
            <a:ext cx="776550" cy="776550"/>
            <a:chOff x="9066058" y="2671375"/>
            <a:chExt cx="776550" cy="776550"/>
          </a:xfrm>
        </p:grpSpPr>
        <p:sp>
          <p:nvSpPr>
            <p:cNvPr id="161" name="椭圆 160"/>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62" name="椭圆 161"/>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63" name="文本框 162"/>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财务</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sp>
        <p:nvSpPr>
          <p:cNvPr id="168" name="矩形: 圆角 167"/>
          <p:cNvSpPr/>
          <p:nvPr/>
        </p:nvSpPr>
        <p:spPr>
          <a:xfrm rot="2409232">
            <a:off x="10172867" y="5115324"/>
            <a:ext cx="867657" cy="140689"/>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9" name="组合 168"/>
          <p:cNvGrpSpPr/>
          <p:nvPr/>
        </p:nvGrpSpPr>
        <p:grpSpPr>
          <a:xfrm>
            <a:off x="10679041" y="4798255"/>
            <a:ext cx="776550" cy="776550"/>
            <a:chOff x="9066058" y="2671375"/>
            <a:chExt cx="776550" cy="776550"/>
          </a:xfrm>
        </p:grpSpPr>
        <p:sp>
          <p:nvSpPr>
            <p:cNvPr id="170" name="椭圆 169"/>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1" name="椭圆 170"/>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2" name="文本框 171"/>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采购</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grpSp>
        <p:nvGrpSpPr>
          <p:cNvPr id="173" name="组合 172"/>
          <p:cNvGrpSpPr/>
          <p:nvPr/>
        </p:nvGrpSpPr>
        <p:grpSpPr>
          <a:xfrm>
            <a:off x="9728650" y="4798255"/>
            <a:ext cx="776550" cy="776550"/>
            <a:chOff x="9066058" y="2671375"/>
            <a:chExt cx="776550" cy="776550"/>
          </a:xfrm>
        </p:grpSpPr>
        <p:sp>
          <p:nvSpPr>
            <p:cNvPr id="174" name="椭圆 173"/>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5" name="椭圆 174"/>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收付款</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grpSp>
        <p:nvGrpSpPr>
          <p:cNvPr id="187" name="组合 186"/>
          <p:cNvGrpSpPr/>
          <p:nvPr/>
        </p:nvGrpSpPr>
        <p:grpSpPr>
          <a:xfrm>
            <a:off x="1021271" y="906842"/>
            <a:ext cx="3094585" cy="5762246"/>
            <a:chOff x="1310640" y="906842"/>
            <a:chExt cx="3094585" cy="5762246"/>
          </a:xfrm>
        </p:grpSpPr>
        <p:grpSp>
          <p:nvGrpSpPr>
            <p:cNvPr id="188" name="组合 187"/>
            <p:cNvGrpSpPr/>
            <p:nvPr/>
          </p:nvGrpSpPr>
          <p:grpSpPr>
            <a:xfrm>
              <a:off x="3109694" y="1509961"/>
              <a:ext cx="1295531" cy="4405826"/>
              <a:chOff x="3129572" y="1509961"/>
              <a:chExt cx="1295531" cy="4405826"/>
            </a:xfrm>
          </p:grpSpPr>
          <p:sp>
            <p:nvSpPr>
              <p:cNvPr id="202" name="椭圆 201"/>
              <p:cNvSpPr/>
              <p:nvPr/>
            </p:nvSpPr>
            <p:spPr>
              <a:xfrm rot="16395220">
                <a:off x="2866280" y="4607934"/>
                <a:ext cx="1571145"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3" name="椭圆 202"/>
              <p:cNvSpPr/>
              <p:nvPr/>
            </p:nvSpPr>
            <p:spPr>
              <a:xfrm rot="16395220">
                <a:off x="2979183" y="3244900"/>
                <a:ext cx="1637322"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4" name="椭圆 203"/>
              <p:cNvSpPr/>
              <p:nvPr/>
            </p:nvSpPr>
            <p:spPr>
              <a:xfrm rot="16395220">
                <a:off x="3096658" y="1793845"/>
                <a:ext cx="1612330"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89" name="椭圆 188"/>
            <p:cNvSpPr/>
            <p:nvPr/>
          </p:nvSpPr>
          <p:spPr>
            <a:xfrm>
              <a:off x="1556222" y="4517133"/>
              <a:ext cx="2326723" cy="387215"/>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0" name="椭圆 189"/>
            <p:cNvSpPr/>
            <p:nvPr/>
          </p:nvSpPr>
          <p:spPr>
            <a:xfrm>
              <a:off x="1420458" y="3129343"/>
              <a:ext cx="2598251" cy="432404"/>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椭圆 190"/>
            <p:cNvSpPr/>
            <p:nvPr/>
          </p:nvSpPr>
          <p:spPr>
            <a:xfrm>
              <a:off x="1310640" y="1645568"/>
              <a:ext cx="2817886" cy="468955"/>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2" name="任意多边形: 形状 191"/>
            <p:cNvSpPr/>
            <p:nvPr/>
          </p:nvSpPr>
          <p:spPr>
            <a:xfrm>
              <a:off x="1460168" y="906842"/>
              <a:ext cx="2622676" cy="5762246"/>
            </a:xfrm>
            <a:custGeom>
              <a:avLst/>
              <a:gdLst>
                <a:gd name="connsiteX0" fmla="*/ 0 w 2064063"/>
                <a:gd name="connsiteY0" fmla="*/ 0 h 5905148"/>
                <a:gd name="connsiteX1" fmla="*/ 2064063 w 2064063"/>
                <a:gd name="connsiteY1" fmla="*/ 0 h 5905148"/>
                <a:gd name="connsiteX2" fmla="*/ 2005907 w 2064063"/>
                <a:gd name="connsiteY2" fmla="*/ 215418 h 5905148"/>
                <a:gd name="connsiteX3" fmla="*/ 1277827 w 2064063"/>
                <a:gd name="connsiteY3" fmla="*/ 5042350 h 5905148"/>
                <a:gd name="connsiteX4" fmla="*/ 1275823 w 2064063"/>
                <a:gd name="connsiteY4" fmla="*/ 5225365 h 5905148"/>
                <a:gd name="connsiteX5" fmla="*/ 1426305 w 2064063"/>
                <a:gd name="connsiteY5" fmla="*/ 5225365 h 5905148"/>
                <a:gd name="connsiteX6" fmla="*/ 1032031 w 2064063"/>
                <a:gd name="connsiteY6" fmla="*/ 5905148 h 5905148"/>
                <a:gd name="connsiteX7" fmla="*/ 637757 w 2064063"/>
                <a:gd name="connsiteY7" fmla="*/ 5225365 h 5905148"/>
                <a:gd name="connsiteX8" fmla="*/ 788240 w 2064063"/>
                <a:gd name="connsiteY8" fmla="*/ 5225365 h 5905148"/>
                <a:gd name="connsiteX9" fmla="*/ 786236 w 2064063"/>
                <a:gd name="connsiteY9" fmla="*/ 5042350 h 5905148"/>
                <a:gd name="connsiteX10" fmla="*/ 58156 w 2064063"/>
                <a:gd name="connsiteY10" fmla="*/ 215418 h 590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4063" h="5905148">
                  <a:moveTo>
                    <a:pt x="0" y="0"/>
                  </a:moveTo>
                  <a:lnTo>
                    <a:pt x="2064063" y="0"/>
                  </a:lnTo>
                  <a:lnTo>
                    <a:pt x="2005907" y="215418"/>
                  </a:lnTo>
                  <a:cubicBezTo>
                    <a:pt x="1552138" y="1972073"/>
                    <a:pt x="1313194" y="3640750"/>
                    <a:pt x="1277827" y="5042350"/>
                  </a:cubicBezTo>
                  <a:lnTo>
                    <a:pt x="1275823" y="5225365"/>
                  </a:lnTo>
                  <a:lnTo>
                    <a:pt x="1426305" y="5225365"/>
                  </a:lnTo>
                  <a:lnTo>
                    <a:pt x="1032031" y="5905148"/>
                  </a:lnTo>
                  <a:lnTo>
                    <a:pt x="637757" y="5225365"/>
                  </a:lnTo>
                  <a:lnTo>
                    <a:pt x="788240" y="5225365"/>
                  </a:lnTo>
                  <a:lnTo>
                    <a:pt x="786236" y="5042350"/>
                  </a:lnTo>
                  <a:cubicBezTo>
                    <a:pt x="750869" y="3640750"/>
                    <a:pt x="511926" y="1972073"/>
                    <a:pt x="58156" y="215418"/>
                  </a:cubicBezTo>
                  <a:close/>
                </a:path>
              </a:pathLst>
            </a:custGeom>
            <a:gradFill>
              <a:gsLst>
                <a:gs pos="6000">
                  <a:schemeClr val="accent4">
                    <a:alpha val="0"/>
                  </a:schemeClr>
                </a:gs>
                <a:gs pos="100000">
                  <a:schemeClr val="accent4"/>
                </a:gs>
              </a:gsLst>
              <a:lin ang="5400000" scaled="1"/>
            </a:gradFill>
            <a:ln w="76200">
              <a:gradFill>
                <a:gsLst>
                  <a:gs pos="0">
                    <a:schemeClr val="accent1">
                      <a:lumMod val="5000"/>
                      <a:lumOff val="95000"/>
                      <a:alpha val="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3" name="椭圆 192"/>
            <p:cNvSpPr/>
            <p:nvPr/>
          </p:nvSpPr>
          <p:spPr>
            <a:xfrm>
              <a:off x="1640835" y="5476370"/>
              <a:ext cx="2157009" cy="38721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4" name="椭圆 193"/>
            <p:cNvSpPr/>
            <p:nvPr/>
          </p:nvSpPr>
          <p:spPr>
            <a:xfrm>
              <a:off x="1514946" y="4200522"/>
              <a:ext cx="2408731" cy="432404"/>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任意多边形: 形状 194"/>
            <p:cNvSpPr/>
            <p:nvPr/>
          </p:nvSpPr>
          <p:spPr>
            <a:xfrm flipV="1">
              <a:off x="1310640" y="1880046"/>
              <a:ext cx="2817886" cy="1168575"/>
            </a:xfrm>
            <a:custGeom>
              <a:avLst/>
              <a:gdLst>
                <a:gd name="connsiteX0" fmla="*/ 0 w 2817886"/>
                <a:gd name="connsiteY0" fmla="*/ 975360 h 975360"/>
                <a:gd name="connsiteX1" fmla="*/ 1408943 w 2817886"/>
                <a:gd name="connsiteY1" fmla="*/ 779651 h 975360"/>
                <a:gd name="connsiteX2" fmla="*/ 2817886 w 2817886"/>
                <a:gd name="connsiteY2" fmla="*/ 975360 h 975360"/>
                <a:gd name="connsiteX3" fmla="*/ 2715005 w 2817886"/>
                <a:gd name="connsiteY3" fmla="*/ 0 h 975360"/>
                <a:gd name="connsiteX4" fmla="*/ 102881 w 2817886"/>
                <a:gd name="connsiteY4" fmla="*/ 0 h 97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7886" h="975360">
                  <a:moveTo>
                    <a:pt x="0" y="975360"/>
                  </a:moveTo>
                  <a:cubicBezTo>
                    <a:pt x="0" y="867273"/>
                    <a:pt x="630805" y="779651"/>
                    <a:pt x="1408943" y="779651"/>
                  </a:cubicBezTo>
                  <a:cubicBezTo>
                    <a:pt x="2187081" y="779651"/>
                    <a:pt x="2817886" y="867273"/>
                    <a:pt x="2817886" y="975360"/>
                  </a:cubicBezTo>
                  <a:lnTo>
                    <a:pt x="2715005" y="0"/>
                  </a:lnTo>
                  <a:lnTo>
                    <a:pt x="10288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椭圆 195"/>
            <p:cNvSpPr/>
            <p:nvPr/>
          </p:nvSpPr>
          <p:spPr>
            <a:xfrm>
              <a:off x="1413115" y="2795388"/>
              <a:ext cx="2612346" cy="46895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7" name="任意多边形: 形状 196"/>
            <p:cNvSpPr/>
            <p:nvPr/>
          </p:nvSpPr>
          <p:spPr>
            <a:xfrm flipV="1">
              <a:off x="1556222" y="4710742"/>
              <a:ext cx="2326723" cy="964890"/>
            </a:xfrm>
            <a:custGeom>
              <a:avLst/>
              <a:gdLst>
                <a:gd name="connsiteX0" fmla="*/ 0 w 2326723"/>
                <a:gd name="connsiteY0" fmla="*/ 805353 h 805353"/>
                <a:gd name="connsiteX1" fmla="*/ 1 w 2326723"/>
                <a:gd name="connsiteY1" fmla="*/ 805353 h 805353"/>
                <a:gd name="connsiteX2" fmla="*/ 23635 w 2326723"/>
                <a:gd name="connsiteY2" fmla="*/ 772787 h 805353"/>
                <a:gd name="connsiteX3" fmla="*/ 1163362 w 2326723"/>
                <a:gd name="connsiteY3" fmla="*/ 643758 h 805353"/>
                <a:gd name="connsiteX4" fmla="*/ 2303089 w 2326723"/>
                <a:gd name="connsiteY4" fmla="*/ 772787 h 805353"/>
                <a:gd name="connsiteX5" fmla="*/ 2326723 w 2326723"/>
                <a:gd name="connsiteY5" fmla="*/ 805353 h 805353"/>
                <a:gd name="connsiteX6" fmla="*/ 2241774 w 2326723"/>
                <a:gd name="connsiteY6" fmla="*/ 0 h 805353"/>
                <a:gd name="connsiteX7" fmla="*/ 84949 w 2326723"/>
                <a:gd name="connsiteY7" fmla="*/ 0 h 80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26723" h="805353">
                  <a:moveTo>
                    <a:pt x="0" y="805353"/>
                  </a:moveTo>
                  <a:lnTo>
                    <a:pt x="1" y="805353"/>
                  </a:lnTo>
                  <a:lnTo>
                    <a:pt x="23635" y="772787"/>
                  </a:lnTo>
                  <a:cubicBezTo>
                    <a:pt x="132115" y="699150"/>
                    <a:pt x="601169" y="643758"/>
                    <a:pt x="1163362" y="643758"/>
                  </a:cubicBezTo>
                  <a:cubicBezTo>
                    <a:pt x="1725556" y="643758"/>
                    <a:pt x="2194610" y="699150"/>
                    <a:pt x="2303089" y="772787"/>
                  </a:cubicBezTo>
                  <a:lnTo>
                    <a:pt x="2326723" y="805353"/>
                  </a:lnTo>
                  <a:lnTo>
                    <a:pt x="2241774" y="0"/>
                  </a:lnTo>
                  <a:lnTo>
                    <a:pt x="8494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任意多边形: 形状 197"/>
            <p:cNvSpPr/>
            <p:nvPr/>
          </p:nvSpPr>
          <p:spPr>
            <a:xfrm flipV="1">
              <a:off x="1420458" y="3345545"/>
              <a:ext cx="2598251" cy="1077493"/>
            </a:xfrm>
            <a:custGeom>
              <a:avLst/>
              <a:gdLst>
                <a:gd name="connsiteX0" fmla="*/ 0 w 2598251"/>
                <a:gd name="connsiteY0" fmla="*/ 899338 h 899338"/>
                <a:gd name="connsiteX1" fmla="*/ 1299126 w 2598251"/>
                <a:gd name="connsiteY1" fmla="*/ 718883 h 899338"/>
                <a:gd name="connsiteX2" fmla="*/ 2571858 w 2598251"/>
                <a:gd name="connsiteY2" fmla="*/ 862970 h 899338"/>
                <a:gd name="connsiteX3" fmla="*/ 2598251 w 2598251"/>
                <a:gd name="connsiteY3" fmla="*/ 899337 h 899338"/>
                <a:gd name="connsiteX4" fmla="*/ 2503389 w 2598251"/>
                <a:gd name="connsiteY4" fmla="*/ 0 h 899338"/>
                <a:gd name="connsiteX5" fmla="*/ 94862 w 2598251"/>
                <a:gd name="connsiteY5" fmla="*/ 0 h 89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8251" h="899338">
                  <a:moveTo>
                    <a:pt x="0" y="899338"/>
                  </a:moveTo>
                  <a:cubicBezTo>
                    <a:pt x="0" y="799675"/>
                    <a:pt x="581639" y="718883"/>
                    <a:pt x="1299126" y="718883"/>
                  </a:cubicBezTo>
                  <a:cubicBezTo>
                    <a:pt x="1926927" y="718883"/>
                    <a:pt x="2450720" y="780739"/>
                    <a:pt x="2571858" y="862970"/>
                  </a:cubicBezTo>
                  <a:lnTo>
                    <a:pt x="2598251" y="899337"/>
                  </a:lnTo>
                  <a:lnTo>
                    <a:pt x="2503389" y="0"/>
                  </a:lnTo>
                  <a:lnTo>
                    <a:pt x="94862" y="0"/>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9" name="文本框 198"/>
            <p:cNvSpPr txBox="1"/>
            <p:nvPr/>
          </p:nvSpPr>
          <p:spPr>
            <a:xfrm>
              <a:off x="1353023" y="2268599"/>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打通跨境电商</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业务全流程</a:t>
              </a:r>
            </a:p>
          </p:txBody>
        </p:sp>
        <p:sp>
          <p:nvSpPr>
            <p:cNvPr id="200" name="文本框 199"/>
            <p:cNvSpPr txBox="1"/>
            <p:nvPr/>
          </p:nvSpPr>
          <p:spPr>
            <a:xfrm>
              <a:off x="1353023" y="3671152"/>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支持主流跨境</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电商平台</a:t>
              </a:r>
            </a:p>
          </p:txBody>
        </p:sp>
        <p:sp>
          <p:nvSpPr>
            <p:cNvPr id="201" name="文本框 200"/>
            <p:cNvSpPr txBox="1"/>
            <p:nvPr/>
          </p:nvSpPr>
          <p:spPr>
            <a:xfrm>
              <a:off x="1353023" y="4962539"/>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多系统覆盖跨</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境业务全场景</a:t>
              </a:r>
            </a:p>
          </p:txBody>
        </p:sp>
      </p:grpSp>
      <p:sp>
        <p:nvSpPr>
          <p:cNvPr id="219" name="任意多边形: 形状 218"/>
          <p:cNvSpPr/>
          <p:nvPr/>
        </p:nvSpPr>
        <p:spPr>
          <a:xfrm>
            <a:off x="675505" y="1933310"/>
            <a:ext cx="354432" cy="3756389"/>
          </a:xfrm>
          <a:custGeom>
            <a:avLst/>
            <a:gdLst>
              <a:gd name="connsiteX0" fmla="*/ 0 w 462987"/>
              <a:gd name="connsiteY0" fmla="*/ 0 h 4178461"/>
              <a:gd name="connsiteX1" fmla="*/ 462987 w 462987"/>
              <a:gd name="connsiteY1" fmla="*/ 4178461 h 4178461"/>
            </a:gdLst>
            <a:ahLst/>
            <a:cxnLst>
              <a:cxn ang="0">
                <a:pos x="connsiteX0" y="connsiteY0"/>
              </a:cxn>
              <a:cxn ang="0">
                <a:pos x="connsiteX1" y="connsiteY1"/>
              </a:cxn>
            </a:cxnLst>
            <a:rect l="l" t="t" r="r" b="b"/>
            <a:pathLst>
              <a:path w="462987" h="4178461">
                <a:moveTo>
                  <a:pt x="0" y="0"/>
                </a:moveTo>
                <a:lnTo>
                  <a:pt x="462987" y="4178461"/>
                </a:lnTo>
              </a:path>
            </a:pathLst>
          </a:custGeom>
          <a:noFill/>
          <a:ln>
            <a:solidFill>
              <a:schemeClr val="accent1"/>
            </a:solidFill>
            <a:tailEnd type="arrow"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1" name="文本框 220"/>
          <p:cNvSpPr txBox="1"/>
          <p:nvPr/>
        </p:nvSpPr>
        <p:spPr>
          <a:xfrm rot="21276748">
            <a:off x="416765" y="2577144"/>
            <a:ext cx="461665" cy="2693863"/>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1C4273"/>
                </a:solidFill>
                <a:effectLst/>
                <a:uLnTx/>
                <a:uFillTx/>
                <a:cs typeface="+mn-ea"/>
                <a:sym typeface="+mn-lt"/>
              </a:rPr>
              <a:t>促成企业内部的高效协</a:t>
            </a:r>
          </a:p>
        </p:txBody>
      </p:sp>
      <p:sp>
        <p:nvSpPr>
          <p:cNvPr id="223" name="文本框 222"/>
          <p:cNvSpPr txBox="1"/>
          <p:nvPr/>
        </p:nvSpPr>
        <p:spPr>
          <a:xfrm>
            <a:off x="2957635" y="6091774"/>
            <a:ext cx="246453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服务超过</a:t>
            </a:r>
            <a:r>
              <a:rPr kumimoji="0" lang="en-US" altLang="zh-CN" sz="2400" b="0" i="0" u="none" strike="noStrike" kern="1200" cap="none" spc="0" normalizeH="0" baseline="0" noProof="0" dirty="0">
                <a:ln>
                  <a:solidFill>
                    <a:srgbClr val="9D3728"/>
                  </a:solidFill>
                </a:ln>
                <a:solidFill>
                  <a:prstClr val="white"/>
                </a:solidFill>
                <a:effectLst/>
                <a:uLnTx/>
                <a:uFillTx/>
                <a:cs typeface="+mn-ea"/>
                <a:sym typeface="+mn-lt"/>
              </a:rPr>
              <a:t>50</a:t>
            </a:r>
            <a:r>
              <a:rPr kumimoji="0" lang="zh-CN" altLang="en-US" sz="1800" b="0" i="0" u="none" strike="noStrike" kern="1200" cap="none" spc="0" normalizeH="0" baseline="0" noProof="0" dirty="0">
                <a:ln>
                  <a:noFill/>
                </a:ln>
                <a:solidFill>
                  <a:prstClr val="black"/>
                </a:solidFill>
                <a:effectLst/>
                <a:uLnTx/>
                <a:uFillTx/>
                <a:cs typeface="+mn-ea"/>
                <a:sym typeface="+mn-lt"/>
              </a:rPr>
              <a:t>万家企业</a:t>
            </a:r>
          </a:p>
        </p:txBody>
      </p:sp>
      <p:sp>
        <p:nvSpPr>
          <p:cNvPr id="224" name="文本框 223"/>
          <p:cNvSpPr txBox="1"/>
          <p:nvPr/>
        </p:nvSpPr>
        <p:spPr>
          <a:xfrm>
            <a:off x="6062191" y="6091774"/>
            <a:ext cx="246453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布局全国</a:t>
            </a:r>
            <a:r>
              <a:rPr kumimoji="0" lang="en-US" altLang="zh-CN" sz="2400" b="0" i="0" u="none" strike="noStrike" kern="1200" cap="none" spc="0" normalizeH="0" baseline="0" noProof="0" dirty="0">
                <a:ln>
                  <a:solidFill>
                    <a:srgbClr val="9D3728"/>
                  </a:solidFill>
                </a:ln>
                <a:solidFill>
                  <a:prstClr val="white"/>
                </a:solidFill>
                <a:effectLst/>
                <a:uLnTx/>
                <a:uFillTx/>
                <a:cs typeface="+mn-ea"/>
                <a:sym typeface="+mn-lt"/>
              </a:rPr>
              <a:t>20</a:t>
            </a:r>
            <a:r>
              <a:rPr kumimoji="0" lang="en-US" altLang="zh-CN" sz="1800" b="0" i="0" u="none" strike="noStrike" kern="1200" cap="none" spc="0" normalizeH="0" baseline="0" noProof="0" dirty="0">
                <a:ln>
                  <a:noFill/>
                </a:ln>
                <a:solidFill>
                  <a:prstClr val="black"/>
                </a:solidFill>
                <a:effectLst/>
                <a:uLnTx/>
                <a:uFillTx/>
                <a:cs typeface="+mn-ea"/>
                <a:sym typeface="+mn-lt"/>
              </a:rPr>
              <a:t>+</a:t>
            </a:r>
            <a:r>
              <a:rPr kumimoji="0" lang="zh-CN" altLang="en-US" sz="1800" b="0" i="0" u="none" strike="noStrike" kern="1200" cap="none" spc="0" normalizeH="0" baseline="0" noProof="0" dirty="0">
                <a:ln>
                  <a:noFill/>
                </a:ln>
                <a:solidFill>
                  <a:prstClr val="black"/>
                </a:solidFill>
                <a:effectLst/>
                <a:uLnTx/>
                <a:uFillTx/>
                <a:cs typeface="+mn-ea"/>
                <a:sym typeface="+mn-lt"/>
              </a:rPr>
              <a:t>城市</a:t>
            </a:r>
          </a:p>
        </p:txBody>
      </p:sp>
      <p:sp>
        <p:nvSpPr>
          <p:cNvPr id="225" name="文本框 224"/>
          <p:cNvSpPr txBox="1"/>
          <p:nvPr/>
        </p:nvSpPr>
        <p:spPr>
          <a:xfrm>
            <a:off x="8924190" y="6091774"/>
            <a:ext cx="268611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ERP</a:t>
            </a:r>
            <a:r>
              <a:rPr kumimoji="0" lang="zh-CN" altLang="en-US" sz="1800" b="0" i="0" u="none" strike="noStrike" kern="1200" cap="none" spc="0" normalizeH="0" baseline="0" noProof="0" dirty="0">
                <a:ln>
                  <a:noFill/>
                </a:ln>
                <a:solidFill>
                  <a:prstClr val="black"/>
                </a:solidFill>
                <a:effectLst/>
                <a:uLnTx/>
                <a:uFillTx/>
                <a:cs typeface="+mn-ea"/>
                <a:sym typeface="+mn-lt"/>
              </a:rPr>
              <a:t>行业处于</a:t>
            </a:r>
            <a:r>
              <a:rPr kumimoji="0" lang="zh-CN" altLang="en-US" sz="2400" b="0" i="0" u="none" strike="noStrike" kern="1200" cap="none" spc="0" normalizeH="0" baseline="0" noProof="0" dirty="0">
                <a:ln>
                  <a:solidFill>
                    <a:srgbClr val="9D3728"/>
                  </a:solidFill>
                </a:ln>
                <a:solidFill>
                  <a:prstClr val="white"/>
                </a:solidFill>
                <a:effectLst/>
                <a:uLnTx/>
                <a:uFillTx/>
                <a:cs typeface="+mn-ea"/>
                <a:sym typeface="+mn-lt"/>
              </a:rPr>
              <a:t>领先</a:t>
            </a:r>
            <a:r>
              <a:rPr kumimoji="0" lang="zh-CN" altLang="en-US" sz="1800" b="0" i="0" u="none" strike="noStrike" kern="1200" cap="none" spc="0" normalizeH="0" baseline="0" noProof="0" dirty="0">
                <a:ln>
                  <a:noFill/>
                </a:ln>
                <a:solidFill>
                  <a:prstClr val="black"/>
                </a:solidFill>
                <a:effectLst/>
                <a:uLnTx/>
                <a:uFillTx/>
                <a:cs typeface="+mn-ea"/>
                <a:sym typeface="+mn-lt"/>
              </a:rPr>
              <a:t>地位</a:t>
            </a:r>
          </a:p>
        </p:txBody>
      </p:sp>
      <p:sp>
        <p:nvSpPr>
          <p:cNvPr id="227" name="矩形 226"/>
          <p:cNvSpPr/>
          <p:nvPr/>
        </p:nvSpPr>
        <p:spPr>
          <a:xfrm>
            <a:off x="239151" y="997328"/>
            <a:ext cx="11725836" cy="504000"/>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打通跨境业务全流程，帮助跨境电商企业实现精细化管理</a:t>
            </a: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梯形 167"/>
          <p:cNvSpPr/>
          <p:nvPr/>
        </p:nvSpPr>
        <p:spPr>
          <a:xfrm flipH="1">
            <a:off x="227011" y="4381789"/>
            <a:ext cx="11737975" cy="664087"/>
          </a:xfrm>
          <a:prstGeom prst="trapezoid">
            <a:avLst>
              <a:gd name="adj" fmla="val 409000"/>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27" name="组合 126"/>
          <p:cNvGrpSpPr/>
          <p:nvPr/>
        </p:nvGrpSpPr>
        <p:grpSpPr>
          <a:xfrm>
            <a:off x="227013" y="982802"/>
            <a:ext cx="11743204" cy="2690429"/>
            <a:chOff x="227013" y="898823"/>
            <a:chExt cx="11743204" cy="2690429"/>
          </a:xfrm>
        </p:grpSpPr>
        <p:sp>
          <p:nvSpPr>
            <p:cNvPr id="128" name="矩形 127"/>
            <p:cNvSpPr/>
            <p:nvPr/>
          </p:nvSpPr>
          <p:spPr>
            <a:xfrm>
              <a:off x="227013" y="898823"/>
              <a:ext cx="11743204" cy="2690429"/>
            </a:xfrm>
            <a:prstGeom prst="rect">
              <a:avLst/>
            </a:prstGeom>
            <a:gradFill flip="none" rotWithShape="1">
              <a:gsLst>
                <a:gs pos="0">
                  <a:schemeClr val="accent3"/>
                </a:gs>
                <a:gs pos="96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flipV="1">
              <a:off x="4241203" y="898823"/>
              <a:ext cx="3709594" cy="463580"/>
            </a:xfrm>
            <a:custGeom>
              <a:avLst/>
              <a:gdLst>
                <a:gd name="connsiteX0" fmla="*/ 0 w 3926669"/>
                <a:gd name="connsiteY0" fmla="*/ 490707 h 490707"/>
                <a:gd name="connsiteX1" fmla="*/ 385066 w 3926669"/>
                <a:gd name="connsiteY1" fmla="*/ 490707 h 490707"/>
                <a:gd name="connsiteX2" fmla="*/ 385067 w 3926669"/>
                <a:gd name="connsiteY2" fmla="*/ 490706 h 490707"/>
                <a:gd name="connsiteX3" fmla="*/ 405944 w 3926669"/>
                <a:gd name="connsiteY3" fmla="*/ 490706 h 490707"/>
                <a:gd name="connsiteX4" fmla="*/ 1075211 w 3926669"/>
                <a:gd name="connsiteY4" fmla="*/ 490706 h 490707"/>
                <a:gd name="connsiteX5" fmla="*/ 1075209 w 3926669"/>
                <a:gd name="connsiteY5" fmla="*/ 490707 h 490707"/>
                <a:gd name="connsiteX6" fmla="*/ 1460275 w 3926669"/>
                <a:gd name="connsiteY6" fmla="*/ 490707 h 490707"/>
                <a:gd name="connsiteX7" fmla="*/ 1460276 w 3926669"/>
                <a:gd name="connsiteY7" fmla="*/ 490706 h 490707"/>
                <a:gd name="connsiteX8" fmla="*/ 1481153 w 3926669"/>
                <a:gd name="connsiteY8" fmla="*/ 490706 h 490707"/>
                <a:gd name="connsiteX9" fmla="*/ 1744474 w 3926669"/>
                <a:gd name="connsiteY9" fmla="*/ 490706 h 490707"/>
                <a:gd name="connsiteX10" fmla="*/ 1765353 w 3926669"/>
                <a:gd name="connsiteY10" fmla="*/ 490706 h 490707"/>
                <a:gd name="connsiteX11" fmla="*/ 1765353 w 3926669"/>
                <a:gd name="connsiteY11" fmla="*/ 490707 h 490707"/>
                <a:gd name="connsiteX12" fmla="*/ 1776250 w 3926669"/>
                <a:gd name="connsiteY12" fmla="*/ 490707 h 490707"/>
                <a:gd name="connsiteX13" fmla="*/ 2150419 w 3926669"/>
                <a:gd name="connsiteY13" fmla="*/ 490707 h 490707"/>
                <a:gd name="connsiteX14" fmla="*/ 2161316 w 3926669"/>
                <a:gd name="connsiteY14" fmla="*/ 490707 h 490707"/>
                <a:gd name="connsiteX15" fmla="*/ 2161317 w 3926669"/>
                <a:gd name="connsiteY15" fmla="*/ 490706 h 490707"/>
                <a:gd name="connsiteX16" fmla="*/ 2182195 w 3926669"/>
                <a:gd name="connsiteY16" fmla="*/ 490706 h 490707"/>
                <a:gd name="connsiteX17" fmla="*/ 2819684 w 3926669"/>
                <a:gd name="connsiteY17" fmla="*/ 490706 h 490707"/>
                <a:gd name="connsiteX18" fmla="*/ 2840562 w 3926669"/>
                <a:gd name="connsiteY18" fmla="*/ 490706 h 490707"/>
                <a:gd name="connsiteX19" fmla="*/ 2840563 w 3926669"/>
                <a:gd name="connsiteY19" fmla="*/ 490707 h 490707"/>
                <a:gd name="connsiteX20" fmla="*/ 3225628 w 3926669"/>
                <a:gd name="connsiteY20" fmla="*/ 490707 h 490707"/>
                <a:gd name="connsiteX21" fmla="*/ 3225626 w 3926669"/>
                <a:gd name="connsiteY21" fmla="*/ 490706 h 490707"/>
                <a:gd name="connsiteX22" fmla="*/ 3520725 w 3926669"/>
                <a:gd name="connsiteY22" fmla="*/ 490706 h 490707"/>
                <a:gd name="connsiteX23" fmla="*/ 3541603 w 3926669"/>
                <a:gd name="connsiteY23" fmla="*/ 490706 h 490707"/>
                <a:gd name="connsiteX24" fmla="*/ 3541604 w 3926669"/>
                <a:gd name="connsiteY24" fmla="*/ 490707 h 490707"/>
                <a:gd name="connsiteX25" fmla="*/ 3926669 w 3926669"/>
                <a:gd name="connsiteY25" fmla="*/ 490707 h 490707"/>
                <a:gd name="connsiteX26" fmla="*/ 3871386 w 3926669"/>
                <a:gd name="connsiteY26" fmla="*/ 468472 h 490707"/>
                <a:gd name="connsiteX27" fmla="*/ 3811008 w 3926669"/>
                <a:gd name="connsiteY27" fmla="*/ 422008 h 490707"/>
                <a:gd name="connsiteX28" fmla="*/ 3668864 w 3926669"/>
                <a:gd name="connsiteY28" fmla="*/ 80661 h 490707"/>
                <a:gd name="connsiteX29" fmla="*/ 3668479 w 3926669"/>
                <a:gd name="connsiteY29" fmla="*/ 80410 h 490707"/>
                <a:gd name="connsiteX30" fmla="*/ 3653202 w 3926669"/>
                <a:gd name="connsiteY30" fmla="*/ 52699 h 490707"/>
                <a:gd name="connsiteX31" fmla="*/ 3549163 w 3926669"/>
                <a:gd name="connsiteY31" fmla="*/ 0 h 490707"/>
                <a:gd name="connsiteX32" fmla="*/ 3520725 w 3926669"/>
                <a:gd name="connsiteY32" fmla="*/ 0 h 490707"/>
                <a:gd name="connsiteX33" fmla="*/ 2848122 w 3926669"/>
                <a:gd name="connsiteY33" fmla="*/ 0 h 490707"/>
                <a:gd name="connsiteX34" fmla="*/ 2819684 w 3926669"/>
                <a:gd name="connsiteY34" fmla="*/ 0 h 490707"/>
                <a:gd name="connsiteX35" fmla="*/ 2182195 w 3926669"/>
                <a:gd name="connsiteY35" fmla="*/ 0 h 490707"/>
                <a:gd name="connsiteX36" fmla="*/ 2153756 w 3926669"/>
                <a:gd name="connsiteY36" fmla="*/ 0 h 490707"/>
                <a:gd name="connsiteX37" fmla="*/ 1772913 w 3926669"/>
                <a:gd name="connsiteY37" fmla="*/ 0 h 490707"/>
                <a:gd name="connsiteX38" fmla="*/ 1744474 w 3926669"/>
                <a:gd name="connsiteY38" fmla="*/ 0 h 490707"/>
                <a:gd name="connsiteX39" fmla="*/ 1481153 w 3926669"/>
                <a:gd name="connsiteY39" fmla="*/ 0 h 490707"/>
                <a:gd name="connsiteX40" fmla="*/ 1452715 w 3926669"/>
                <a:gd name="connsiteY40" fmla="*/ 0 h 490707"/>
                <a:gd name="connsiteX41" fmla="*/ 405944 w 3926669"/>
                <a:gd name="connsiteY41" fmla="*/ 0 h 490707"/>
                <a:gd name="connsiteX42" fmla="*/ 377506 w 3926669"/>
                <a:gd name="connsiteY42" fmla="*/ 0 h 490707"/>
                <a:gd name="connsiteX43" fmla="*/ 273468 w 3926669"/>
                <a:gd name="connsiteY43" fmla="*/ 52699 h 490707"/>
                <a:gd name="connsiteX44" fmla="*/ 258190 w 3926669"/>
                <a:gd name="connsiteY44" fmla="*/ 80410 h 490707"/>
                <a:gd name="connsiteX45" fmla="*/ 257805 w 3926669"/>
                <a:gd name="connsiteY45" fmla="*/ 80661 h 490707"/>
                <a:gd name="connsiteX46" fmla="*/ 115661 w 3926669"/>
                <a:gd name="connsiteY46" fmla="*/ 422008 h 490707"/>
                <a:gd name="connsiteX47" fmla="*/ 55283 w 3926669"/>
                <a:gd name="connsiteY47" fmla="*/ 468472 h 49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926669" h="490707">
                  <a:moveTo>
                    <a:pt x="0" y="490707"/>
                  </a:moveTo>
                  <a:lnTo>
                    <a:pt x="385066" y="490707"/>
                  </a:lnTo>
                  <a:lnTo>
                    <a:pt x="385067" y="490706"/>
                  </a:lnTo>
                  <a:lnTo>
                    <a:pt x="405944" y="490706"/>
                  </a:lnTo>
                  <a:lnTo>
                    <a:pt x="1075211" y="490706"/>
                  </a:lnTo>
                  <a:lnTo>
                    <a:pt x="1075209" y="490707"/>
                  </a:lnTo>
                  <a:lnTo>
                    <a:pt x="1460275" y="490707"/>
                  </a:lnTo>
                  <a:lnTo>
                    <a:pt x="1460276" y="490706"/>
                  </a:lnTo>
                  <a:lnTo>
                    <a:pt x="1481153" y="490706"/>
                  </a:lnTo>
                  <a:lnTo>
                    <a:pt x="1744474" y="490706"/>
                  </a:lnTo>
                  <a:lnTo>
                    <a:pt x="1765353" y="490706"/>
                  </a:lnTo>
                  <a:lnTo>
                    <a:pt x="1765353" y="490707"/>
                  </a:lnTo>
                  <a:lnTo>
                    <a:pt x="1776250" y="490707"/>
                  </a:lnTo>
                  <a:lnTo>
                    <a:pt x="2150419" y="490707"/>
                  </a:lnTo>
                  <a:lnTo>
                    <a:pt x="2161316" y="490707"/>
                  </a:lnTo>
                  <a:lnTo>
                    <a:pt x="2161317" y="490706"/>
                  </a:lnTo>
                  <a:lnTo>
                    <a:pt x="2182195" y="490706"/>
                  </a:lnTo>
                  <a:lnTo>
                    <a:pt x="2819684" y="490706"/>
                  </a:lnTo>
                  <a:lnTo>
                    <a:pt x="2840562" y="490706"/>
                  </a:lnTo>
                  <a:lnTo>
                    <a:pt x="2840563" y="490707"/>
                  </a:lnTo>
                  <a:lnTo>
                    <a:pt x="3225628" y="490707"/>
                  </a:lnTo>
                  <a:lnTo>
                    <a:pt x="3225626" y="490706"/>
                  </a:lnTo>
                  <a:lnTo>
                    <a:pt x="3520725" y="490706"/>
                  </a:lnTo>
                  <a:lnTo>
                    <a:pt x="3541603" y="490706"/>
                  </a:lnTo>
                  <a:lnTo>
                    <a:pt x="3541604" y="490707"/>
                  </a:lnTo>
                  <a:lnTo>
                    <a:pt x="3926669" y="490707"/>
                  </a:lnTo>
                  <a:lnTo>
                    <a:pt x="3871386" y="468472"/>
                  </a:lnTo>
                  <a:cubicBezTo>
                    <a:pt x="3848710" y="456562"/>
                    <a:pt x="3827727" y="441637"/>
                    <a:pt x="3811008" y="422008"/>
                  </a:cubicBezTo>
                  <a:cubicBezTo>
                    <a:pt x="3752490" y="353310"/>
                    <a:pt x="3711381" y="134332"/>
                    <a:pt x="3668864" y="80661"/>
                  </a:cubicBezTo>
                  <a:lnTo>
                    <a:pt x="3668479" y="80410"/>
                  </a:lnTo>
                  <a:lnTo>
                    <a:pt x="3653202" y="52699"/>
                  </a:lnTo>
                  <a:cubicBezTo>
                    <a:pt x="3626576" y="20139"/>
                    <a:pt x="3589793" y="0"/>
                    <a:pt x="3549163" y="0"/>
                  </a:cubicBezTo>
                  <a:lnTo>
                    <a:pt x="3520725" y="0"/>
                  </a:lnTo>
                  <a:lnTo>
                    <a:pt x="2848122" y="0"/>
                  </a:lnTo>
                  <a:lnTo>
                    <a:pt x="2819684" y="0"/>
                  </a:lnTo>
                  <a:lnTo>
                    <a:pt x="2182195" y="0"/>
                  </a:lnTo>
                  <a:lnTo>
                    <a:pt x="2153756" y="0"/>
                  </a:lnTo>
                  <a:lnTo>
                    <a:pt x="1772913" y="0"/>
                  </a:lnTo>
                  <a:lnTo>
                    <a:pt x="1744474" y="0"/>
                  </a:lnTo>
                  <a:lnTo>
                    <a:pt x="1481153" y="0"/>
                  </a:lnTo>
                  <a:lnTo>
                    <a:pt x="1452715" y="0"/>
                  </a:lnTo>
                  <a:lnTo>
                    <a:pt x="405944" y="0"/>
                  </a:lnTo>
                  <a:lnTo>
                    <a:pt x="377506" y="0"/>
                  </a:lnTo>
                  <a:cubicBezTo>
                    <a:pt x="336876" y="0"/>
                    <a:pt x="300093" y="20139"/>
                    <a:pt x="273468" y="52699"/>
                  </a:cubicBezTo>
                  <a:lnTo>
                    <a:pt x="258190" y="80410"/>
                  </a:lnTo>
                  <a:lnTo>
                    <a:pt x="257805" y="80661"/>
                  </a:lnTo>
                  <a:cubicBezTo>
                    <a:pt x="215288" y="134332"/>
                    <a:pt x="174179" y="353310"/>
                    <a:pt x="115661" y="422008"/>
                  </a:cubicBezTo>
                  <a:cubicBezTo>
                    <a:pt x="98942" y="441637"/>
                    <a:pt x="77959" y="456562"/>
                    <a:pt x="55283" y="468472"/>
                  </a:cubicBezTo>
                  <a:close/>
                </a:path>
              </a:pathLst>
            </a:custGeom>
            <a:gradFill flip="none" rotWithShape="1">
              <a:gsLst>
                <a:gs pos="0">
                  <a:schemeClr val="accent1"/>
                </a:gs>
                <a:gs pos="100000">
                  <a:schemeClr val="accent3">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30" name="文本框 129"/>
          <p:cNvSpPr txBox="1"/>
          <p:nvPr/>
        </p:nvSpPr>
        <p:spPr>
          <a:xfrm>
            <a:off x="4469363" y="1018093"/>
            <a:ext cx="323772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共建互联网产业新生态</a:t>
            </a: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循环图：云计算与企业产业结合</a:t>
            </a:r>
          </a:p>
        </p:txBody>
      </p:sp>
      <p:sp>
        <p:nvSpPr>
          <p:cNvPr id="131" name="矩形 130"/>
          <p:cNvSpPr/>
          <p:nvPr/>
        </p:nvSpPr>
        <p:spPr>
          <a:xfrm>
            <a:off x="778397" y="1565081"/>
            <a:ext cx="417288" cy="28466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数据中台</a:t>
            </a:r>
          </a:p>
        </p:txBody>
      </p:sp>
      <p:sp>
        <p:nvSpPr>
          <p:cNvPr id="132" name="矩形 131"/>
          <p:cNvSpPr/>
          <p:nvPr/>
        </p:nvSpPr>
        <p:spPr>
          <a:xfrm>
            <a:off x="10996315" y="1565081"/>
            <a:ext cx="417288" cy="284662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技术中台</a:t>
            </a:r>
          </a:p>
        </p:txBody>
      </p:sp>
      <p:sp>
        <p:nvSpPr>
          <p:cNvPr id="134" name="梯形 133"/>
          <p:cNvSpPr/>
          <p:nvPr/>
        </p:nvSpPr>
        <p:spPr>
          <a:xfrm rot="5400000">
            <a:off x="174273" y="2586492"/>
            <a:ext cx="2846626" cy="803803"/>
          </a:xfrm>
          <a:prstGeom prst="trapezoid">
            <a:avLst>
              <a:gd name="adj" fmla="val 42443"/>
            </a:avLst>
          </a:prstGeom>
          <a:gradFill flip="none" rotWithShape="1">
            <a:gsLst>
              <a:gs pos="41000">
                <a:schemeClr val="accent2">
                  <a:alpha val="34000"/>
                </a:schemeClr>
              </a:gs>
              <a:gs pos="100000">
                <a:schemeClr val="accent2">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梯形 134"/>
          <p:cNvSpPr/>
          <p:nvPr/>
        </p:nvSpPr>
        <p:spPr>
          <a:xfrm rot="16200000" flipH="1">
            <a:off x="9171101" y="2586493"/>
            <a:ext cx="2846626" cy="803803"/>
          </a:xfrm>
          <a:prstGeom prst="trapezoid">
            <a:avLst>
              <a:gd name="adj" fmla="val 42443"/>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6" name="组合 135"/>
          <p:cNvGrpSpPr/>
          <p:nvPr/>
        </p:nvGrpSpPr>
        <p:grpSpPr>
          <a:xfrm>
            <a:off x="1471866" y="1644792"/>
            <a:ext cx="9248269" cy="2871010"/>
            <a:chOff x="1471866" y="1633226"/>
            <a:chExt cx="9248269" cy="2871010"/>
          </a:xfrm>
        </p:grpSpPr>
        <p:grpSp>
          <p:nvGrpSpPr>
            <p:cNvPr id="137" name="组合 136"/>
            <p:cNvGrpSpPr/>
            <p:nvPr/>
          </p:nvGrpSpPr>
          <p:grpSpPr>
            <a:xfrm>
              <a:off x="2804930" y="1633226"/>
              <a:ext cx="6582141" cy="2871010"/>
              <a:chOff x="2804930" y="1941137"/>
              <a:chExt cx="6582141" cy="2871010"/>
            </a:xfrm>
          </p:grpSpPr>
          <p:sp>
            <p:nvSpPr>
              <p:cNvPr id="146" name="文本框 145"/>
              <p:cNvSpPr txBox="1"/>
              <p:nvPr/>
            </p:nvSpPr>
            <p:spPr>
              <a:xfrm>
                <a:off x="4646662" y="2053968"/>
                <a:ext cx="28986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推动产业数字化升级</a:t>
                </a:r>
              </a:p>
            </p:txBody>
          </p:sp>
          <p:grpSp>
            <p:nvGrpSpPr>
              <p:cNvPr id="147" name="组合 146"/>
              <p:cNvGrpSpPr/>
              <p:nvPr/>
            </p:nvGrpSpPr>
            <p:grpSpPr>
              <a:xfrm>
                <a:off x="2804930" y="1941137"/>
                <a:ext cx="6582141" cy="2871010"/>
                <a:chOff x="2818156" y="1941137"/>
                <a:chExt cx="6582141" cy="2871010"/>
              </a:xfrm>
            </p:grpSpPr>
            <p:grpSp>
              <p:nvGrpSpPr>
                <p:cNvPr id="149" name="组合 148"/>
                <p:cNvGrpSpPr/>
                <p:nvPr/>
              </p:nvGrpSpPr>
              <p:grpSpPr>
                <a:xfrm>
                  <a:off x="3012261" y="2168012"/>
                  <a:ext cx="6167479" cy="2406226"/>
                  <a:chOff x="3012261" y="2225887"/>
                  <a:chExt cx="6167479" cy="2406226"/>
                </a:xfrm>
              </p:grpSpPr>
              <p:sp>
                <p:nvSpPr>
                  <p:cNvPr id="163" name="任意多边形: 形状 162"/>
                  <p:cNvSpPr/>
                  <p:nvPr/>
                </p:nvSpPr>
                <p:spPr>
                  <a:xfrm>
                    <a:off x="3012261" y="2225887"/>
                    <a:ext cx="6167479" cy="2406226"/>
                  </a:xfrm>
                  <a:custGeom>
                    <a:avLst/>
                    <a:gdLst>
                      <a:gd name="connsiteX0" fmla="*/ 1240840 w 6360879"/>
                      <a:gd name="connsiteY0" fmla="*/ 0 h 2481680"/>
                      <a:gd name="connsiteX1" fmla="*/ 1934606 w 6360879"/>
                      <a:gd name="connsiteY1" fmla="*/ 211916 h 2481680"/>
                      <a:gd name="connsiteX2" fmla="*/ 3180440 w 6360879"/>
                      <a:gd name="connsiteY2" fmla="*/ 976180 h 2481680"/>
                      <a:gd name="connsiteX3" fmla="*/ 3181620 w 6360879"/>
                      <a:gd name="connsiteY3" fmla="*/ 975457 h 2481680"/>
                      <a:gd name="connsiteX4" fmla="*/ 3621237 w 6360879"/>
                      <a:gd name="connsiteY4" fmla="*/ 1240824 h 2481680"/>
                      <a:gd name="connsiteX5" fmla="*/ 3617825 w 6360879"/>
                      <a:gd name="connsiteY5" fmla="*/ 1242880 h 2481680"/>
                      <a:gd name="connsiteX6" fmla="*/ 4758451 w 6360879"/>
                      <a:gd name="connsiteY6" fmla="*/ 1915792 h 2481680"/>
                      <a:gd name="connsiteX7" fmla="*/ 4840761 w 6360879"/>
                      <a:gd name="connsiteY7" fmla="*/ 1960468 h 2481680"/>
                      <a:gd name="connsiteX8" fmla="*/ 5146540 w 6360879"/>
                      <a:gd name="connsiteY8" fmla="*/ 2022202 h 2481680"/>
                      <a:gd name="connsiteX9" fmla="*/ 5932111 w 6360879"/>
                      <a:gd name="connsiteY9" fmla="*/ 1236631 h 2481680"/>
                      <a:gd name="connsiteX10" fmla="*/ 5146540 w 6360879"/>
                      <a:gd name="connsiteY10" fmla="*/ 451060 h 2481680"/>
                      <a:gd name="connsiteX11" fmla="*/ 4840761 w 6360879"/>
                      <a:gd name="connsiteY11" fmla="*/ 512794 h 2481680"/>
                      <a:gd name="connsiteX12" fmla="*/ 4723310 w 6360879"/>
                      <a:gd name="connsiteY12" fmla="*/ 576544 h 2481680"/>
                      <a:gd name="connsiteX13" fmla="*/ 3706700 w 6360879"/>
                      <a:gd name="connsiteY13" fmla="*/ 1189311 h 2481680"/>
                      <a:gd name="connsiteX14" fmla="*/ 3266332 w 6360879"/>
                      <a:gd name="connsiteY14" fmla="*/ 923490 h 2481680"/>
                      <a:gd name="connsiteX15" fmla="*/ 4426274 w 6360879"/>
                      <a:gd name="connsiteY15" fmla="*/ 211916 h 2481680"/>
                      <a:gd name="connsiteX16" fmla="*/ 5120039 w 6360879"/>
                      <a:gd name="connsiteY16" fmla="*/ 0 h 2481680"/>
                      <a:gd name="connsiteX17" fmla="*/ 6360879 w 6360879"/>
                      <a:gd name="connsiteY17" fmla="*/ 1240840 h 2481680"/>
                      <a:gd name="connsiteX18" fmla="*/ 5120039 w 6360879"/>
                      <a:gd name="connsiteY18" fmla="*/ 2481680 h 2481680"/>
                      <a:gd name="connsiteX19" fmla="*/ 4582084 w 6360879"/>
                      <a:gd name="connsiteY19" fmla="*/ 2359320 h 2481680"/>
                      <a:gd name="connsiteX20" fmla="*/ 4532600 w 6360879"/>
                      <a:gd name="connsiteY20" fmla="*/ 2330877 h 2481680"/>
                      <a:gd name="connsiteX21" fmla="*/ 4508066 w 6360879"/>
                      <a:gd name="connsiteY21" fmla="*/ 2319114 h 2481680"/>
                      <a:gd name="connsiteX22" fmla="*/ 4441240 w 6360879"/>
                      <a:gd name="connsiteY22" fmla="*/ 2278366 h 2481680"/>
                      <a:gd name="connsiteX23" fmla="*/ 4426274 w 6360879"/>
                      <a:gd name="connsiteY23" fmla="*/ 2269764 h 2481680"/>
                      <a:gd name="connsiteX24" fmla="*/ 4423299 w 6360879"/>
                      <a:gd name="connsiteY24" fmla="*/ 2267426 h 2481680"/>
                      <a:gd name="connsiteX25" fmla="*/ 3269841 w 6360879"/>
                      <a:gd name="connsiteY25" fmla="*/ 1564093 h 2481680"/>
                      <a:gd name="connsiteX26" fmla="*/ 3272204 w 6360879"/>
                      <a:gd name="connsiteY26" fmla="*/ 1561458 h 2481680"/>
                      <a:gd name="connsiteX27" fmla="*/ 2642096 w 6360879"/>
                      <a:gd name="connsiteY27" fmla="*/ 1181104 h 2481680"/>
                      <a:gd name="connsiteX28" fmla="*/ 2641611 w 6360879"/>
                      <a:gd name="connsiteY28" fmla="*/ 1181645 h 2481680"/>
                      <a:gd name="connsiteX29" fmla="*/ 1653561 w 6360879"/>
                      <a:gd name="connsiteY29" fmla="*/ 585223 h 2481680"/>
                      <a:gd name="connsiteX30" fmla="*/ 1214340 w 6360879"/>
                      <a:gd name="connsiteY30" fmla="*/ 451060 h 2481680"/>
                      <a:gd name="connsiteX31" fmla="*/ 428769 w 6360879"/>
                      <a:gd name="connsiteY31" fmla="*/ 1236631 h 2481680"/>
                      <a:gd name="connsiteX32" fmla="*/ 1214340 w 6360879"/>
                      <a:gd name="connsiteY32" fmla="*/ 2022202 h 2481680"/>
                      <a:gd name="connsiteX33" fmla="*/ 1520120 w 6360879"/>
                      <a:gd name="connsiteY33" fmla="*/ 1960468 h 2481680"/>
                      <a:gd name="connsiteX34" fmla="*/ 1632679 w 6360879"/>
                      <a:gd name="connsiteY34" fmla="*/ 1899373 h 2481680"/>
                      <a:gd name="connsiteX35" fmla="*/ 2657466 w 6360879"/>
                      <a:gd name="connsiteY35" fmla="*/ 1293484 h 2481680"/>
                      <a:gd name="connsiteX36" fmla="*/ 3098367 w 6360879"/>
                      <a:gd name="connsiteY36" fmla="*/ 1559625 h 2481680"/>
                      <a:gd name="connsiteX37" fmla="*/ 1937583 w 6360879"/>
                      <a:gd name="connsiteY37" fmla="*/ 2267425 h 2481680"/>
                      <a:gd name="connsiteX38" fmla="*/ 1934606 w 6360879"/>
                      <a:gd name="connsiteY38" fmla="*/ 2269764 h 2481680"/>
                      <a:gd name="connsiteX39" fmla="*/ 1919630 w 6360879"/>
                      <a:gd name="connsiteY39" fmla="*/ 2278372 h 2481680"/>
                      <a:gd name="connsiteX40" fmla="*/ 1852813 w 6360879"/>
                      <a:gd name="connsiteY40" fmla="*/ 2319114 h 2481680"/>
                      <a:gd name="connsiteX41" fmla="*/ 1828283 w 6360879"/>
                      <a:gd name="connsiteY41" fmla="*/ 2330876 h 2481680"/>
                      <a:gd name="connsiteX42" fmla="*/ 1778796 w 6360879"/>
                      <a:gd name="connsiteY42" fmla="*/ 2359320 h 2481680"/>
                      <a:gd name="connsiteX43" fmla="*/ 1240840 w 6360879"/>
                      <a:gd name="connsiteY43" fmla="*/ 2481680 h 2481680"/>
                      <a:gd name="connsiteX44" fmla="*/ 0 w 6360879"/>
                      <a:gd name="connsiteY44" fmla="*/ 1240840 h 2481680"/>
                      <a:gd name="connsiteX45" fmla="*/ 1240840 w 6360879"/>
                      <a:gd name="connsiteY45" fmla="*/ 0 h 248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360879" h="2481680">
                        <a:moveTo>
                          <a:pt x="1240840" y="0"/>
                        </a:moveTo>
                        <a:cubicBezTo>
                          <a:pt x="1497827" y="0"/>
                          <a:pt x="1736567" y="78123"/>
                          <a:pt x="1934606" y="211916"/>
                        </a:cubicBezTo>
                        <a:lnTo>
                          <a:pt x="3180440" y="976180"/>
                        </a:lnTo>
                        <a:lnTo>
                          <a:pt x="3181620" y="975457"/>
                        </a:lnTo>
                        <a:lnTo>
                          <a:pt x="3621237" y="1240824"/>
                        </a:lnTo>
                        <a:lnTo>
                          <a:pt x="3617825" y="1242880"/>
                        </a:lnTo>
                        <a:lnTo>
                          <a:pt x="4758451" y="1915792"/>
                        </a:lnTo>
                        <a:lnTo>
                          <a:pt x="4840761" y="1960468"/>
                        </a:lnTo>
                        <a:cubicBezTo>
                          <a:pt x="4934745" y="2000220"/>
                          <a:pt x="5038075" y="2022202"/>
                          <a:pt x="5146540" y="2022202"/>
                        </a:cubicBezTo>
                        <a:cubicBezTo>
                          <a:pt x="5580399" y="2022202"/>
                          <a:pt x="5932111" y="1670490"/>
                          <a:pt x="5932111" y="1236631"/>
                        </a:cubicBezTo>
                        <a:cubicBezTo>
                          <a:pt x="5932111" y="802772"/>
                          <a:pt x="5580399" y="451060"/>
                          <a:pt x="5146540" y="451060"/>
                        </a:cubicBezTo>
                        <a:cubicBezTo>
                          <a:pt x="5038075" y="451060"/>
                          <a:pt x="4934745" y="473042"/>
                          <a:pt x="4840761" y="512794"/>
                        </a:cubicBezTo>
                        <a:lnTo>
                          <a:pt x="4723310" y="576544"/>
                        </a:lnTo>
                        <a:lnTo>
                          <a:pt x="3706700" y="1189311"/>
                        </a:lnTo>
                        <a:lnTo>
                          <a:pt x="3266332" y="923490"/>
                        </a:lnTo>
                        <a:lnTo>
                          <a:pt x="4426274" y="211916"/>
                        </a:lnTo>
                        <a:cubicBezTo>
                          <a:pt x="4624313" y="78123"/>
                          <a:pt x="4863053" y="0"/>
                          <a:pt x="5120039" y="0"/>
                        </a:cubicBezTo>
                        <a:cubicBezTo>
                          <a:pt x="5805336" y="0"/>
                          <a:pt x="6360879" y="555543"/>
                          <a:pt x="6360879" y="1240840"/>
                        </a:cubicBezTo>
                        <a:cubicBezTo>
                          <a:pt x="6360879" y="1926137"/>
                          <a:pt x="5805336" y="2481680"/>
                          <a:pt x="5120039" y="2481680"/>
                        </a:cubicBezTo>
                        <a:cubicBezTo>
                          <a:pt x="4927300" y="2481680"/>
                          <a:pt x="4744824" y="2437736"/>
                          <a:pt x="4582084" y="2359320"/>
                        </a:cubicBezTo>
                        <a:lnTo>
                          <a:pt x="4532600" y="2330877"/>
                        </a:lnTo>
                        <a:lnTo>
                          <a:pt x="4508066" y="2319114"/>
                        </a:lnTo>
                        <a:lnTo>
                          <a:pt x="4441240" y="2278366"/>
                        </a:lnTo>
                        <a:lnTo>
                          <a:pt x="4426274" y="2269764"/>
                        </a:lnTo>
                        <a:lnTo>
                          <a:pt x="4423299" y="2267426"/>
                        </a:lnTo>
                        <a:lnTo>
                          <a:pt x="3269841" y="1564093"/>
                        </a:lnTo>
                        <a:lnTo>
                          <a:pt x="3272204" y="1561458"/>
                        </a:lnTo>
                        <a:lnTo>
                          <a:pt x="2642096" y="1181104"/>
                        </a:lnTo>
                        <a:lnTo>
                          <a:pt x="2641611" y="1181645"/>
                        </a:lnTo>
                        <a:lnTo>
                          <a:pt x="1653561" y="585223"/>
                        </a:lnTo>
                        <a:cubicBezTo>
                          <a:pt x="1528183" y="500520"/>
                          <a:pt x="1377037" y="451060"/>
                          <a:pt x="1214340" y="451060"/>
                        </a:cubicBezTo>
                        <a:cubicBezTo>
                          <a:pt x="780481" y="451060"/>
                          <a:pt x="428769" y="802772"/>
                          <a:pt x="428769" y="1236631"/>
                        </a:cubicBezTo>
                        <a:cubicBezTo>
                          <a:pt x="428769" y="1670490"/>
                          <a:pt x="780481" y="2022202"/>
                          <a:pt x="1214340" y="2022202"/>
                        </a:cubicBezTo>
                        <a:cubicBezTo>
                          <a:pt x="1322805" y="2022202"/>
                          <a:pt x="1426136" y="2000220"/>
                          <a:pt x="1520120" y="1960468"/>
                        </a:cubicBezTo>
                        <a:lnTo>
                          <a:pt x="1632679" y="1899373"/>
                        </a:lnTo>
                        <a:lnTo>
                          <a:pt x="2657466" y="1293484"/>
                        </a:lnTo>
                        <a:lnTo>
                          <a:pt x="3098367" y="1559625"/>
                        </a:lnTo>
                        <a:lnTo>
                          <a:pt x="1937583" y="2267425"/>
                        </a:lnTo>
                        <a:lnTo>
                          <a:pt x="1934606" y="2269764"/>
                        </a:lnTo>
                        <a:lnTo>
                          <a:pt x="1919630" y="2278372"/>
                        </a:lnTo>
                        <a:lnTo>
                          <a:pt x="1852813" y="2319114"/>
                        </a:lnTo>
                        <a:lnTo>
                          <a:pt x="1828283" y="2330876"/>
                        </a:lnTo>
                        <a:lnTo>
                          <a:pt x="1778796" y="2359320"/>
                        </a:lnTo>
                        <a:cubicBezTo>
                          <a:pt x="1616056" y="2437736"/>
                          <a:pt x="1433580" y="2481680"/>
                          <a:pt x="1240840" y="2481680"/>
                        </a:cubicBezTo>
                        <a:cubicBezTo>
                          <a:pt x="555543" y="2481680"/>
                          <a:pt x="0" y="1926137"/>
                          <a:pt x="0" y="1240840"/>
                        </a:cubicBezTo>
                        <a:cubicBezTo>
                          <a:pt x="0" y="555543"/>
                          <a:pt x="555543" y="0"/>
                          <a:pt x="1240840" y="0"/>
                        </a:cubicBezTo>
                        <a:close/>
                      </a:path>
                    </a:pathLst>
                  </a:custGeom>
                  <a:gradFill flip="none" rotWithShape="1">
                    <a:gsLst>
                      <a:gs pos="67000">
                        <a:schemeClr val="accent4"/>
                      </a:gs>
                      <a:gs pos="0">
                        <a:schemeClr val="accent2"/>
                      </a:gs>
                      <a:gs pos="41000">
                        <a:schemeClr val="accent1"/>
                      </a:gs>
                      <a:gs pos="100000">
                        <a:schemeClr val="accent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任意多边形: 形状 163"/>
                  <p:cNvSpPr/>
                  <p:nvPr/>
                </p:nvSpPr>
                <p:spPr>
                  <a:xfrm rot="2051720">
                    <a:off x="7079636" y="2652828"/>
                    <a:ext cx="1780783" cy="1591513"/>
                  </a:xfrm>
                  <a:custGeom>
                    <a:avLst/>
                    <a:gdLst>
                      <a:gd name="connsiteX0" fmla="*/ 1020681 w 1780783"/>
                      <a:gd name="connsiteY0" fmla="*/ 0 h 1591513"/>
                      <a:gd name="connsiteX1" fmla="*/ 1143888 w 1780783"/>
                      <a:gd name="connsiteY1" fmla="*/ 12421 h 1591513"/>
                      <a:gd name="connsiteX2" fmla="*/ 1780783 w 1780783"/>
                      <a:gd name="connsiteY2" fmla="*/ 793864 h 1591513"/>
                      <a:gd name="connsiteX3" fmla="*/ 1780782 w 1780783"/>
                      <a:gd name="connsiteY3" fmla="*/ 793864 h 1591513"/>
                      <a:gd name="connsiteX4" fmla="*/ 983133 w 1780783"/>
                      <a:gd name="connsiteY4" fmla="*/ 1591513 h 1591513"/>
                      <a:gd name="connsiteX5" fmla="*/ 0 w 1780783"/>
                      <a:gd name="connsiteY5" fmla="*/ 1591512 h 1591513"/>
                      <a:gd name="connsiteX6" fmla="*/ 13017 w 1780783"/>
                      <a:gd name="connsiteY6" fmla="*/ 1574877 h 1591513"/>
                      <a:gd name="connsiteX7" fmla="*/ 962659 w 1780783"/>
                      <a:gd name="connsiteY7" fmla="*/ 1514185 h 1591513"/>
                      <a:gd name="connsiteX8" fmla="*/ 1053015 w 1780783"/>
                      <a:gd name="connsiteY8" fmla="*/ 1505160 h 1591513"/>
                      <a:gd name="connsiteX9" fmla="*/ 1331884 w 1780783"/>
                      <a:gd name="connsiteY9" fmla="*/ 1388042 h 1591513"/>
                      <a:gd name="connsiteX10" fmla="*/ 1533814 w 1780783"/>
                      <a:gd name="connsiteY10" fmla="*/ 329952 h 1591513"/>
                      <a:gd name="connsiteX11" fmla="*/ 1046590 w 1780783"/>
                      <a:gd name="connsiteY11" fmla="*/ 9849 h 1591513"/>
                      <a:gd name="connsiteX12" fmla="*/ 1017685 w 1780783"/>
                      <a:gd name="connsiteY12" fmla="*/ 7152 h 159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0783" h="1591513">
                        <a:moveTo>
                          <a:pt x="1020681" y="0"/>
                        </a:moveTo>
                        <a:lnTo>
                          <a:pt x="1143888" y="12421"/>
                        </a:lnTo>
                        <a:cubicBezTo>
                          <a:pt x="1507362" y="86799"/>
                          <a:pt x="1780783" y="408401"/>
                          <a:pt x="1780783" y="793864"/>
                        </a:cubicBezTo>
                        <a:lnTo>
                          <a:pt x="1780782" y="793864"/>
                        </a:lnTo>
                        <a:cubicBezTo>
                          <a:pt x="1780782" y="1234393"/>
                          <a:pt x="1423662" y="1591513"/>
                          <a:pt x="983133" y="1591513"/>
                        </a:cubicBezTo>
                        <a:lnTo>
                          <a:pt x="0" y="1591512"/>
                        </a:lnTo>
                        <a:lnTo>
                          <a:pt x="13017" y="1574877"/>
                        </a:lnTo>
                        <a:lnTo>
                          <a:pt x="962659" y="1514185"/>
                        </a:lnTo>
                        <a:lnTo>
                          <a:pt x="1053015" y="1505160"/>
                        </a:lnTo>
                        <a:cubicBezTo>
                          <a:pt x="1150050" y="1485826"/>
                          <a:pt x="1244898" y="1447148"/>
                          <a:pt x="1331884" y="1388042"/>
                        </a:cubicBezTo>
                        <a:cubicBezTo>
                          <a:pt x="1679829" y="1151620"/>
                          <a:pt x="1770236" y="677898"/>
                          <a:pt x="1533814" y="329952"/>
                        </a:cubicBezTo>
                        <a:cubicBezTo>
                          <a:pt x="1415603" y="155979"/>
                          <a:pt x="1238067" y="46391"/>
                          <a:pt x="1046590" y="9849"/>
                        </a:cubicBezTo>
                        <a:lnTo>
                          <a:pt x="1017685" y="7152"/>
                        </a:lnTo>
                        <a:close/>
                      </a:path>
                    </a:pathLst>
                  </a:custGeom>
                  <a:solidFill>
                    <a:schemeClr val="accent4">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5" name="任意多边形: 形状 164"/>
                  <p:cNvSpPr/>
                  <p:nvPr/>
                </p:nvSpPr>
                <p:spPr>
                  <a:xfrm rot="12851720">
                    <a:off x="3323849" y="2607024"/>
                    <a:ext cx="1780783" cy="1591513"/>
                  </a:xfrm>
                  <a:custGeom>
                    <a:avLst/>
                    <a:gdLst>
                      <a:gd name="connsiteX0" fmla="*/ 1020681 w 1780783"/>
                      <a:gd name="connsiteY0" fmla="*/ 0 h 1591513"/>
                      <a:gd name="connsiteX1" fmla="*/ 1143888 w 1780783"/>
                      <a:gd name="connsiteY1" fmla="*/ 12421 h 1591513"/>
                      <a:gd name="connsiteX2" fmla="*/ 1780783 w 1780783"/>
                      <a:gd name="connsiteY2" fmla="*/ 793864 h 1591513"/>
                      <a:gd name="connsiteX3" fmla="*/ 1780782 w 1780783"/>
                      <a:gd name="connsiteY3" fmla="*/ 793864 h 1591513"/>
                      <a:gd name="connsiteX4" fmla="*/ 983133 w 1780783"/>
                      <a:gd name="connsiteY4" fmla="*/ 1591513 h 1591513"/>
                      <a:gd name="connsiteX5" fmla="*/ 0 w 1780783"/>
                      <a:gd name="connsiteY5" fmla="*/ 1591512 h 1591513"/>
                      <a:gd name="connsiteX6" fmla="*/ 13017 w 1780783"/>
                      <a:gd name="connsiteY6" fmla="*/ 1574877 h 1591513"/>
                      <a:gd name="connsiteX7" fmla="*/ 962659 w 1780783"/>
                      <a:gd name="connsiteY7" fmla="*/ 1514185 h 1591513"/>
                      <a:gd name="connsiteX8" fmla="*/ 1053015 w 1780783"/>
                      <a:gd name="connsiteY8" fmla="*/ 1505160 h 1591513"/>
                      <a:gd name="connsiteX9" fmla="*/ 1331884 w 1780783"/>
                      <a:gd name="connsiteY9" fmla="*/ 1388042 h 1591513"/>
                      <a:gd name="connsiteX10" fmla="*/ 1533814 w 1780783"/>
                      <a:gd name="connsiteY10" fmla="*/ 329952 h 1591513"/>
                      <a:gd name="connsiteX11" fmla="*/ 1046590 w 1780783"/>
                      <a:gd name="connsiteY11" fmla="*/ 9849 h 1591513"/>
                      <a:gd name="connsiteX12" fmla="*/ 1017685 w 1780783"/>
                      <a:gd name="connsiteY12" fmla="*/ 7152 h 159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0783" h="1591513">
                        <a:moveTo>
                          <a:pt x="1020681" y="0"/>
                        </a:moveTo>
                        <a:lnTo>
                          <a:pt x="1143888" y="12421"/>
                        </a:lnTo>
                        <a:cubicBezTo>
                          <a:pt x="1507362" y="86799"/>
                          <a:pt x="1780783" y="408401"/>
                          <a:pt x="1780783" y="793864"/>
                        </a:cubicBezTo>
                        <a:lnTo>
                          <a:pt x="1780782" y="793864"/>
                        </a:lnTo>
                        <a:cubicBezTo>
                          <a:pt x="1780782" y="1234393"/>
                          <a:pt x="1423662" y="1591513"/>
                          <a:pt x="983133" y="1591513"/>
                        </a:cubicBezTo>
                        <a:lnTo>
                          <a:pt x="0" y="1591512"/>
                        </a:lnTo>
                        <a:lnTo>
                          <a:pt x="13017" y="1574877"/>
                        </a:lnTo>
                        <a:lnTo>
                          <a:pt x="962659" y="1514185"/>
                        </a:lnTo>
                        <a:lnTo>
                          <a:pt x="1053015" y="1505160"/>
                        </a:lnTo>
                        <a:cubicBezTo>
                          <a:pt x="1150050" y="1485826"/>
                          <a:pt x="1244898" y="1447148"/>
                          <a:pt x="1331884" y="1388042"/>
                        </a:cubicBezTo>
                        <a:cubicBezTo>
                          <a:pt x="1679829" y="1151620"/>
                          <a:pt x="1770236" y="677898"/>
                          <a:pt x="1533814" y="329952"/>
                        </a:cubicBezTo>
                        <a:cubicBezTo>
                          <a:pt x="1415603" y="155979"/>
                          <a:pt x="1238067" y="46391"/>
                          <a:pt x="1046590" y="9849"/>
                        </a:cubicBezTo>
                        <a:lnTo>
                          <a:pt x="1017685" y="7152"/>
                        </a:lnTo>
                        <a:close/>
                      </a:path>
                    </a:pathLst>
                  </a:custGeom>
                  <a:solidFill>
                    <a:schemeClr val="accent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0" name="组合 149"/>
                <p:cNvGrpSpPr/>
                <p:nvPr/>
              </p:nvGrpSpPr>
              <p:grpSpPr>
                <a:xfrm>
                  <a:off x="7374025" y="2746259"/>
                  <a:ext cx="1249732" cy="1249732"/>
                  <a:chOff x="9066058" y="2671375"/>
                  <a:chExt cx="776550" cy="776550"/>
                </a:xfrm>
              </p:grpSpPr>
              <p:sp>
                <p:nvSpPr>
                  <p:cNvPr id="160" name="椭圆 159"/>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61" name="椭圆 160"/>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62" name="文本框 161"/>
                  <p:cNvSpPr txBox="1"/>
                  <p:nvPr/>
                </p:nvSpPr>
                <p:spPr>
                  <a:xfrm>
                    <a:off x="9080632" y="2851043"/>
                    <a:ext cx="721335" cy="4016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产业</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互联网</a:t>
                    </a:r>
                  </a:p>
                </p:txBody>
              </p:sp>
            </p:grpSp>
            <p:grpSp>
              <p:nvGrpSpPr>
                <p:cNvPr id="151" name="组合 150"/>
                <p:cNvGrpSpPr/>
                <p:nvPr/>
              </p:nvGrpSpPr>
              <p:grpSpPr>
                <a:xfrm>
                  <a:off x="3582066" y="2746259"/>
                  <a:ext cx="1249732" cy="1249732"/>
                  <a:chOff x="9066058" y="2671375"/>
                  <a:chExt cx="776550" cy="776550"/>
                </a:xfrm>
              </p:grpSpPr>
              <p:sp>
                <p:nvSpPr>
                  <p:cNvPr id="157" name="椭圆 156"/>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8" name="椭圆 157"/>
                  <p:cNvSpPr>
                    <a:spLocks noChangeAspect="1"/>
                  </p:cNvSpPr>
                  <p:nvPr/>
                </p:nvSpPr>
                <p:spPr>
                  <a:xfrm>
                    <a:off x="9146102" y="2751419"/>
                    <a:ext cx="616462" cy="616462"/>
                  </a:xfrm>
                  <a:prstGeom prst="ellipse">
                    <a:avLst/>
                  </a:prstGeom>
                  <a:gradFill flip="none" rotWithShape="1">
                    <a:gsLst>
                      <a:gs pos="33000">
                        <a:schemeClr val="accent1"/>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9080632" y="2851043"/>
                    <a:ext cx="721335" cy="4016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消费</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互联网</a:t>
                    </a:r>
                  </a:p>
                </p:txBody>
              </p:sp>
            </p:grpSp>
            <p:sp>
              <p:nvSpPr>
                <p:cNvPr id="152" name="文本框 151"/>
                <p:cNvSpPr txBox="1"/>
                <p:nvPr/>
              </p:nvSpPr>
              <p:spPr>
                <a:xfrm rot="1903468">
                  <a:off x="4784513" y="3194190"/>
                  <a:ext cx="26428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以云为基，连接再深化</a:t>
                  </a:r>
                </a:p>
              </p:txBody>
            </p:sp>
            <p:sp>
              <p:nvSpPr>
                <p:cNvPr id="153" name="箭头: V 形 152"/>
                <p:cNvSpPr/>
                <p:nvPr/>
              </p:nvSpPr>
              <p:spPr>
                <a:xfrm rot="2043503">
                  <a:off x="4851499" y="2549568"/>
                  <a:ext cx="251926" cy="251926"/>
                </a:xfrm>
                <a:prstGeom prst="chevron">
                  <a:avLst/>
                </a:prstGeom>
                <a:gradFill flip="none" rotWithShape="1">
                  <a:gsLst>
                    <a:gs pos="33000">
                      <a:schemeClr val="accent1"/>
                    </a:gs>
                    <a:gs pos="100000">
                      <a:schemeClr val="accent2"/>
                    </a:gs>
                  </a:gsLst>
                  <a:path path="circle">
                    <a:fillToRect l="100000" t="100000"/>
                  </a:path>
                  <a:tileRect r="-100000" b="-100000"/>
                </a:gra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4" name="箭头: V 形 153"/>
                <p:cNvSpPr/>
                <p:nvPr/>
              </p:nvSpPr>
              <p:spPr>
                <a:xfrm rot="12843503">
                  <a:off x="7118155" y="3954833"/>
                  <a:ext cx="251926" cy="251926"/>
                </a:xfrm>
                <a:prstGeom prst="chevron">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5" name="任意多边形: 形状 154"/>
                <p:cNvSpPr/>
                <p:nvPr/>
              </p:nvSpPr>
              <p:spPr>
                <a:xfrm rot="16200000">
                  <a:off x="3774455" y="984838"/>
                  <a:ext cx="2846626" cy="4759223"/>
                </a:xfrm>
                <a:custGeom>
                  <a:avLst/>
                  <a:gdLst>
                    <a:gd name="connsiteX0" fmla="*/ 2846626 w 2846626"/>
                    <a:gd name="connsiteY0" fmla="*/ 4640775 h 4759223"/>
                    <a:gd name="connsiteX1" fmla="*/ 2795956 w 2846626"/>
                    <a:gd name="connsiteY1" fmla="*/ 4759223 h 4759223"/>
                    <a:gd name="connsiteX2" fmla="*/ 2745286 w 2846626"/>
                    <a:gd name="connsiteY2" fmla="*/ 4640775 h 4759223"/>
                    <a:gd name="connsiteX3" fmla="*/ 2770564 w 2846626"/>
                    <a:gd name="connsiteY3" fmla="*/ 4640775 h 4759223"/>
                    <a:gd name="connsiteX4" fmla="*/ 2770564 w 2846626"/>
                    <a:gd name="connsiteY4" fmla="*/ 1410674 h 4759223"/>
                    <a:gd name="connsiteX5" fmla="*/ 1410674 w 2846626"/>
                    <a:gd name="connsiteY5" fmla="*/ 50784 h 4759223"/>
                    <a:gd name="connsiteX6" fmla="*/ 50784 w 2846626"/>
                    <a:gd name="connsiteY6" fmla="*/ 1410674 h 4759223"/>
                    <a:gd name="connsiteX7" fmla="*/ 50784 w 2846626"/>
                    <a:gd name="connsiteY7" fmla="*/ 1731091 h 4759223"/>
                    <a:gd name="connsiteX8" fmla="*/ 0 w 2846626"/>
                    <a:gd name="connsiteY8" fmla="*/ 1731091 h 4759223"/>
                    <a:gd name="connsiteX9" fmla="*/ 0 w 2846626"/>
                    <a:gd name="connsiteY9" fmla="*/ 1410674 h 4759223"/>
                    <a:gd name="connsiteX10" fmla="*/ 1410674 w 2846626"/>
                    <a:gd name="connsiteY10" fmla="*/ 0 h 4759223"/>
                    <a:gd name="connsiteX11" fmla="*/ 2821348 w 2846626"/>
                    <a:gd name="connsiteY11" fmla="*/ 1410674 h 4759223"/>
                    <a:gd name="connsiteX12" fmla="*/ 2821348 w 2846626"/>
                    <a:gd name="connsiteY12" fmla="*/ 4640775 h 4759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6626" h="4759223">
                      <a:moveTo>
                        <a:pt x="2846626" y="4640775"/>
                      </a:moveTo>
                      <a:lnTo>
                        <a:pt x="2795956" y="4759223"/>
                      </a:lnTo>
                      <a:lnTo>
                        <a:pt x="2745286" y="4640775"/>
                      </a:lnTo>
                      <a:lnTo>
                        <a:pt x="2770564" y="4640775"/>
                      </a:lnTo>
                      <a:lnTo>
                        <a:pt x="2770564" y="1410674"/>
                      </a:lnTo>
                      <a:cubicBezTo>
                        <a:pt x="2770564" y="659627"/>
                        <a:pt x="2161721" y="50784"/>
                        <a:pt x="1410674" y="50784"/>
                      </a:cubicBezTo>
                      <a:cubicBezTo>
                        <a:pt x="659627" y="50784"/>
                        <a:pt x="50784" y="659627"/>
                        <a:pt x="50784" y="1410674"/>
                      </a:cubicBezTo>
                      <a:lnTo>
                        <a:pt x="50784" y="1731091"/>
                      </a:lnTo>
                      <a:lnTo>
                        <a:pt x="0" y="1731091"/>
                      </a:lnTo>
                      <a:lnTo>
                        <a:pt x="0" y="1410674"/>
                      </a:lnTo>
                      <a:cubicBezTo>
                        <a:pt x="0" y="631580"/>
                        <a:pt x="631580" y="0"/>
                        <a:pt x="1410674" y="0"/>
                      </a:cubicBezTo>
                      <a:cubicBezTo>
                        <a:pt x="2189768" y="0"/>
                        <a:pt x="2821348" y="631580"/>
                        <a:pt x="2821348" y="1410674"/>
                      </a:cubicBezTo>
                      <a:lnTo>
                        <a:pt x="2821348" y="464077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任意多边形: 形状 155"/>
                <p:cNvSpPr/>
                <p:nvPr/>
              </p:nvSpPr>
              <p:spPr>
                <a:xfrm rot="5400000">
                  <a:off x="5597373" y="1009222"/>
                  <a:ext cx="2846626" cy="4759223"/>
                </a:xfrm>
                <a:custGeom>
                  <a:avLst/>
                  <a:gdLst>
                    <a:gd name="connsiteX0" fmla="*/ 2846626 w 2846626"/>
                    <a:gd name="connsiteY0" fmla="*/ 4640775 h 4759223"/>
                    <a:gd name="connsiteX1" fmla="*/ 2795956 w 2846626"/>
                    <a:gd name="connsiteY1" fmla="*/ 4759223 h 4759223"/>
                    <a:gd name="connsiteX2" fmla="*/ 2745286 w 2846626"/>
                    <a:gd name="connsiteY2" fmla="*/ 4640775 h 4759223"/>
                    <a:gd name="connsiteX3" fmla="*/ 2770564 w 2846626"/>
                    <a:gd name="connsiteY3" fmla="*/ 4640775 h 4759223"/>
                    <a:gd name="connsiteX4" fmla="*/ 2770564 w 2846626"/>
                    <a:gd name="connsiteY4" fmla="*/ 1410674 h 4759223"/>
                    <a:gd name="connsiteX5" fmla="*/ 1410674 w 2846626"/>
                    <a:gd name="connsiteY5" fmla="*/ 50784 h 4759223"/>
                    <a:gd name="connsiteX6" fmla="*/ 50784 w 2846626"/>
                    <a:gd name="connsiteY6" fmla="*/ 1410674 h 4759223"/>
                    <a:gd name="connsiteX7" fmla="*/ 50784 w 2846626"/>
                    <a:gd name="connsiteY7" fmla="*/ 1731091 h 4759223"/>
                    <a:gd name="connsiteX8" fmla="*/ 0 w 2846626"/>
                    <a:gd name="connsiteY8" fmla="*/ 1731091 h 4759223"/>
                    <a:gd name="connsiteX9" fmla="*/ 0 w 2846626"/>
                    <a:gd name="connsiteY9" fmla="*/ 1410674 h 4759223"/>
                    <a:gd name="connsiteX10" fmla="*/ 1410674 w 2846626"/>
                    <a:gd name="connsiteY10" fmla="*/ 0 h 4759223"/>
                    <a:gd name="connsiteX11" fmla="*/ 2821348 w 2846626"/>
                    <a:gd name="connsiteY11" fmla="*/ 1410674 h 4759223"/>
                    <a:gd name="connsiteX12" fmla="*/ 2821348 w 2846626"/>
                    <a:gd name="connsiteY12" fmla="*/ 4640775 h 4759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6626" h="4759223">
                      <a:moveTo>
                        <a:pt x="2846626" y="4640775"/>
                      </a:moveTo>
                      <a:lnTo>
                        <a:pt x="2795956" y="4759223"/>
                      </a:lnTo>
                      <a:lnTo>
                        <a:pt x="2745286" y="4640775"/>
                      </a:lnTo>
                      <a:lnTo>
                        <a:pt x="2770564" y="4640775"/>
                      </a:lnTo>
                      <a:lnTo>
                        <a:pt x="2770564" y="1410674"/>
                      </a:lnTo>
                      <a:cubicBezTo>
                        <a:pt x="2770564" y="659627"/>
                        <a:pt x="2161721" y="50784"/>
                        <a:pt x="1410674" y="50784"/>
                      </a:cubicBezTo>
                      <a:cubicBezTo>
                        <a:pt x="659627" y="50784"/>
                        <a:pt x="50784" y="659627"/>
                        <a:pt x="50784" y="1410674"/>
                      </a:cubicBezTo>
                      <a:lnTo>
                        <a:pt x="50784" y="1731091"/>
                      </a:lnTo>
                      <a:lnTo>
                        <a:pt x="0" y="1731091"/>
                      </a:lnTo>
                      <a:lnTo>
                        <a:pt x="0" y="1410674"/>
                      </a:lnTo>
                      <a:cubicBezTo>
                        <a:pt x="0" y="631580"/>
                        <a:pt x="631580" y="0"/>
                        <a:pt x="1410674" y="0"/>
                      </a:cubicBezTo>
                      <a:cubicBezTo>
                        <a:pt x="2189768" y="0"/>
                        <a:pt x="2821348" y="631580"/>
                        <a:pt x="2821348" y="1410674"/>
                      </a:cubicBezTo>
                      <a:lnTo>
                        <a:pt x="2821348" y="464077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48" name="文本框 147"/>
              <p:cNvSpPr txBox="1"/>
              <p:nvPr/>
            </p:nvSpPr>
            <p:spPr>
              <a:xfrm>
                <a:off x="4646662" y="4398700"/>
                <a:ext cx="28986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为消费端提供高价值</a:t>
                </a:r>
              </a:p>
            </p:txBody>
          </p:sp>
        </p:grpSp>
        <p:grpSp>
          <p:nvGrpSpPr>
            <p:cNvPr id="138" name="组合 137"/>
            <p:cNvGrpSpPr/>
            <p:nvPr/>
          </p:nvGrpSpPr>
          <p:grpSpPr>
            <a:xfrm>
              <a:off x="9373883" y="1894757"/>
              <a:ext cx="1346252" cy="2226745"/>
              <a:chOff x="9387070" y="1820109"/>
              <a:chExt cx="1346252" cy="2226745"/>
            </a:xfrm>
          </p:grpSpPr>
          <p:sp>
            <p:nvSpPr>
              <p:cNvPr id="143" name="矩形: 圆角 142"/>
              <p:cNvSpPr/>
              <p:nvPr/>
            </p:nvSpPr>
            <p:spPr>
              <a:xfrm>
                <a:off x="9387070" y="1820109"/>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通信中台</a:t>
                </a:r>
              </a:p>
            </p:txBody>
          </p:sp>
          <p:sp>
            <p:nvSpPr>
              <p:cNvPr id="144" name="矩形: 圆角 143"/>
              <p:cNvSpPr/>
              <p:nvPr/>
            </p:nvSpPr>
            <p:spPr>
              <a:xfrm>
                <a:off x="9592344" y="2747177"/>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cs typeface="+mn-ea"/>
                    <a:sym typeface="+mn-lt"/>
                  </a:rPr>
                  <a:t>AI</a:t>
                </a:r>
                <a:r>
                  <a:rPr kumimoji="0" lang="zh-CN" altLang="en-US" sz="1400" b="1" i="0" u="none" strike="noStrike" kern="1200" cap="none" spc="0" normalizeH="0" baseline="0" noProof="0" dirty="0">
                    <a:ln>
                      <a:noFill/>
                    </a:ln>
                    <a:solidFill>
                      <a:prstClr val="white"/>
                    </a:solidFill>
                    <a:effectLst/>
                    <a:uLnTx/>
                    <a:uFillTx/>
                    <a:cs typeface="+mn-ea"/>
                    <a:sym typeface="+mn-lt"/>
                  </a:rPr>
                  <a:t>中台</a:t>
                </a:r>
              </a:p>
            </p:txBody>
          </p:sp>
          <p:sp>
            <p:nvSpPr>
              <p:cNvPr id="145" name="矩形: 圆角 144"/>
              <p:cNvSpPr/>
              <p:nvPr/>
            </p:nvSpPr>
            <p:spPr>
              <a:xfrm>
                <a:off x="9387070" y="3674244"/>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安全中台</a:t>
                </a:r>
              </a:p>
            </p:txBody>
          </p:sp>
        </p:grpSp>
        <p:grpSp>
          <p:nvGrpSpPr>
            <p:cNvPr id="139" name="组合 138"/>
            <p:cNvGrpSpPr/>
            <p:nvPr/>
          </p:nvGrpSpPr>
          <p:grpSpPr>
            <a:xfrm flipH="1">
              <a:off x="1471866" y="1894757"/>
              <a:ext cx="1346252" cy="2226745"/>
              <a:chOff x="9387070" y="1820109"/>
              <a:chExt cx="1346252" cy="2226745"/>
            </a:xfrm>
          </p:grpSpPr>
          <p:sp>
            <p:nvSpPr>
              <p:cNvPr id="140" name="矩形: 圆角 139"/>
              <p:cNvSpPr/>
              <p:nvPr/>
            </p:nvSpPr>
            <p:spPr>
              <a:xfrm>
                <a:off x="9387070" y="1820109"/>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用户中台</a:t>
                </a:r>
              </a:p>
            </p:txBody>
          </p:sp>
          <p:sp>
            <p:nvSpPr>
              <p:cNvPr id="141" name="矩形: 圆角 140"/>
              <p:cNvSpPr/>
              <p:nvPr/>
            </p:nvSpPr>
            <p:spPr>
              <a:xfrm>
                <a:off x="9592344" y="2747177"/>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内容中台</a:t>
                </a:r>
              </a:p>
            </p:txBody>
          </p:sp>
          <p:sp>
            <p:nvSpPr>
              <p:cNvPr id="142" name="矩形: 圆角 141"/>
              <p:cNvSpPr/>
              <p:nvPr/>
            </p:nvSpPr>
            <p:spPr>
              <a:xfrm>
                <a:off x="9387070" y="3674244"/>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应用中台</a:t>
                </a:r>
              </a:p>
            </p:txBody>
          </p:sp>
        </p:grpSp>
      </p:grpSp>
      <p:sp>
        <p:nvSpPr>
          <p:cNvPr id="169" name="文本框 168"/>
          <p:cNvSpPr txBox="1"/>
          <p:nvPr/>
        </p:nvSpPr>
        <p:spPr>
          <a:xfrm>
            <a:off x="2514108" y="4599411"/>
            <a:ext cx="716378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降低出海门槛及出海运营的难度，同时积累可复用的成熟经验</a:t>
            </a:r>
          </a:p>
        </p:txBody>
      </p:sp>
      <p:sp>
        <p:nvSpPr>
          <p:cNvPr id="170" name="矩形 169"/>
          <p:cNvSpPr/>
          <p:nvPr/>
        </p:nvSpPr>
        <p:spPr>
          <a:xfrm>
            <a:off x="227012"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矩形 170"/>
          <p:cNvSpPr/>
          <p:nvPr/>
        </p:nvSpPr>
        <p:spPr>
          <a:xfrm>
            <a:off x="3194234"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2" name="矩形 171"/>
          <p:cNvSpPr/>
          <p:nvPr/>
        </p:nvSpPr>
        <p:spPr>
          <a:xfrm>
            <a:off x="6161456"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3" name="矩形 172"/>
          <p:cNvSpPr/>
          <p:nvPr/>
        </p:nvSpPr>
        <p:spPr>
          <a:xfrm>
            <a:off x="9128679"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5" name="矩形: 圆角 174"/>
          <p:cNvSpPr/>
          <p:nvPr/>
        </p:nvSpPr>
        <p:spPr>
          <a:xfrm rot="16200000">
            <a:off x="1257020"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778397"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提供解决方案</a:t>
            </a:r>
          </a:p>
        </p:txBody>
      </p:sp>
      <p:sp>
        <p:nvSpPr>
          <p:cNvPr id="177" name="文本框 176"/>
          <p:cNvSpPr txBox="1"/>
          <p:nvPr/>
        </p:nvSpPr>
        <p:spPr>
          <a:xfrm>
            <a:off x="412964"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1</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78" name="文本框 177"/>
          <p:cNvSpPr txBox="1"/>
          <p:nvPr/>
        </p:nvSpPr>
        <p:spPr>
          <a:xfrm>
            <a:off x="438550"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基于通信技术、云计算的产品服务，能够为出海企业提供包括业务上云、数据安全等服务在内的出海解决方案。</a:t>
            </a:r>
          </a:p>
        </p:txBody>
      </p:sp>
      <p:sp>
        <p:nvSpPr>
          <p:cNvPr id="181" name="矩形: 圆角 180"/>
          <p:cNvSpPr/>
          <p:nvPr/>
        </p:nvSpPr>
        <p:spPr>
          <a:xfrm rot="16200000">
            <a:off x="4270385"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3791762"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提升创新能力</a:t>
            </a:r>
          </a:p>
        </p:txBody>
      </p:sp>
      <p:sp>
        <p:nvSpPr>
          <p:cNvPr id="183" name="文本框 182"/>
          <p:cNvSpPr txBox="1"/>
          <p:nvPr/>
        </p:nvSpPr>
        <p:spPr>
          <a:xfrm>
            <a:off x="3426329"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2</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84" name="文本框 183"/>
          <p:cNvSpPr txBox="1"/>
          <p:nvPr/>
        </p:nvSpPr>
        <p:spPr>
          <a:xfrm>
            <a:off x="3451915"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提供稳定成熟的基础设施，配合当地合法合规的法律经验，帮助出海企业建立以数据驱动的业务创新能力。</a:t>
            </a:r>
          </a:p>
        </p:txBody>
      </p:sp>
      <p:sp>
        <p:nvSpPr>
          <p:cNvPr id="186" name="矩形: 圆角 185"/>
          <p:cNvSpPr/>
          <p:nvPr/>
        </p:nvSpPr>
        <p:spPr>
          <a:xfrm rot="16200000">
            <a:off x="7229281"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6750658"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开放云平台资源</a:t>
            </a:r>
          </a:p>
        </p:txBody>
      </p:sp>
      <p:sp>
        <p:nvSpPr>
          <p:cNvPr id="188" name="文本框 187"/>
          <p:cNvSpPr txBox="1"/>
          <p:nvPr/>
        </p:nvSpPr>
        <p:spPr>
          <a:xfrm>
            <a:off x="6385225"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3</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89" name="文本框 188"/>
          <p:cNvSpPr txBox="1"/>
          <p:nvPr/>
        </p:nvSpPr>
        <p:spPr>
          <a:xfrm>
            <a:off x="6410811"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中国云厂商在互联网、电子商务、移动通信、音视频、游戏、金融等行业的经验积累及服务能力已经走在了世界前列。</a:t>
            </a:r>
          </a:p>
        </p:txBody>
      </p:sp>
      <p:sp>
        <p:nvSpPr>
          <p:cNvPr id="191" name="矩形: 圆角 190"/>
          <p:cNvSpPr/>
          <p:nvPr/>
        </p:nvSpPr>
        <p:spPr>
          <a:xfrm rot="16200000">
            <a:off x="10237104"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92" name="文本框 191"/>
          <p:cNvSpPr txBox="1"/>
          <p:nvPr/>
        </p:nvSpPr>
        <p:spPr>
          <a:xfrm>
            <a:off x="9758481"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助力扎根生长</a:t>
            </a:r>
          </a:p>
        </p:txBody>
      </p:sp>
      <p:sp>
        <p:nvSpPr>
          <p:cNvPr id="193" name="文本框 192"/>
          <p:cNvSpPr txBox="1"/>
          <p:nvPr/>
        </p:nvSpPr>
        <p:spPr>
          <a:xfrm>
            <a:off x="9393048"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4</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94" name="文本框 193"/>
          <p:cNvSpPr txBox="1"/>
          <p:nvPr/>
        </p:nvSpPr>
        <p:spPr>
          <a:xfrm>
            <a:off x="9418634"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中国云计算出海企业不仅以国内的优质产品服务着海外用户，同时也帮助海外企业在中国市场扎根生长。</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梯形 343"/>
          <p:cNvSpPr/>
          <p:nvPr/>
        </p:nvSpPr>
        <p:spPr>
          <a:xfrm>
            <a:off x="227013" y="4568958"/>
            <a:ext cx="11737974" cy="324977"/>
          </a:xfrm>
          <a:prstGeom prst="trapezoid">
            <a:avLst>
              <a:gd name="adj" fmla="val 64326"/>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标题 2"/>
          <p:cNvSpPr>
            <a:spLocks noGrp="1"/>
          </p:cNvSpPr>
          <p:nvPr>
            <p:ph type="title"/>
          </p:nvPr>
        </p:nvSpPr>
        <p:spPr>
          <a:xfrm>
            <a:off x="0" y="181867"/>
            <a:ext cx="9377266" cy="549275"/>
          </a:xfrm>
        </p:spPr>
        <p:txBody>
          <a:bodyPr/>
          <a:lstStyle/>
          <a:p>
            <a:r>
              <a:rPr lang="zh-CN" altLang="en-US" dirty="0">
                <a:latin typeface="+mn-lt"/>
                <a:ea typeface="+mn-ea"/>
                <a:cs typeface="+mn-ea"/>
                <a:sym typeface="+mn-lt"/>
              </a:rPr>
              <a:t>品牌心智指标构成说明</a:t>
            </a:r>
          </a:p>
        </p:txBody>
      </p:sp>
      <p:sp>
        <p:nvSpPr>
          <p:cNvPr id="23" name="矩形 22"/>
          <p:cNvSpPr/>
          <p:nvPr/>
        </p:nvSpPr>
        <p:spPr>
          <a:xfrm>
            <a:off x="388082"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 name="矩形 26"/>
          <p:cNvSpPr/>
          <p:nvPr/>
        </p:nvSpPr>
        <p:spPr>
          <a:xfrm>
            <a:off x="388082"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创新指数（</a:t>
            </a:r>
            <a:r>
              <a:rPr kumimoji="0" lang="en-US" altLang="zh-CN" sz="1800" b="0" i="0" u="none" strike="noStrike" kern="1200" cap="none" spc="0" normalizeH="0" baseline="0" noProof="0" dirty="0">
                <a:ln>
                  <a:noFill/>
                </a:ln>
                <a:solidFill>
                  <a:prstClr val="white"/>
                </a:solidFill>
                <a:effectLst/>
                <a:uLnTx/>
                <a:uFillTx/>
                <a:cs typeface="+mn-ea"/>
                <a:sym typeface="+mn-lt"/>
              </a:rPr>
              <a:t>Novelty</a:t>
            </a:r>
            <a:r>
              <a:rPr kumimoji="0" lang="zh-CN" altLang="en-US" sz="1800" b="0" i="0" u="none" strike="noStrike" kern="1200" cap="none" spc="0" normalizeH="0" baseline="0" noProof="0" dirty="0">
                <a:ln>
                  <a:noFill/>
                </a:ln>
                <a:solidFill>
                  <a:prstClr val="white"/>
                </a:solidFill>
                <a:effectLst/>
                <a:uLnTx/>
                <a:uFillTx/>
                <a:cs typeface="+mn-ea"/>
                <a:sym typeface="+mn-lt"/>
              </a:rPr>
              <a:t>） </a:t>
            </a:r>
          </a:p>
        </p:txBody>
      </p:sp>
      <p:sp>
        <p:nvSpPr>
          <p:cNvPr id="69" name="矩形: 圆角 68"/>
          <p:cNvSpPr/>
          <p:nvPr/>
        </p:nvSpPr>
        <p:spPr>
          <a:xfrm rot="2409232">
            <a:off x="1278182"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0" name="组合 69"/>
          <p:cNvGrpSpPr/>
          <p:nvPr/>
        </p:nvGrpSpPr>
        <p:grpSpPr>
          <a:xfrm>
            <a:off x="846883" y="3729379"/>
            <a:ext cx="776550" cy="776550"/>
            <a:chOff x="9066058" y="2671375"/>
            <a:chExt cx="776550" cy="776550"/>
          </a:xfrm>
        </p:grpSpPr>
        <p:sp>
          <p:nvSpPr>
            <p:cNvPr id="71" name="椭圆 70"/>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2" name="椭圆 71"/>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3" name="文本框 72"/>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先锋人群浓度</a:t>
              </a:r>
            </a:p>
          </p:txBody>
        </p:sp>
      </p:grpSp>
      <p:sp>
        <p:nvSpPr>
          <p:cNvPr id="74" name="矩形: 圆角 73"/>
          <p:cNvSpPr/>
          <p:nvPr/>
        </p:nvSpPr>
        <p:spPr>
          <a:xfrm rot="2409232">
            <a:off x="2241490"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5" name="组合 74"/>
          <p:cNvGrpSpPr/>
          <p:nvPr/>
        </p:nvGrpSpPr>
        <p:grpSpPr>
          <a:xfrm>
            <a:off x="2747664" y="3729379"/>
            <a:ext cx="776550" cy="776550"/>
            <a:chOff x="9066058" y="2671375"/>
            <a:chExt cx="776550" cy="776550"/>
          </a:xfrm>
        </p:grpSpPr>
        <p:sp>
          <p:nvSpPr>
            <p:cNvPr id="76" name="椭圆 75"/>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7" name="椭圆 76"/>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8" name="文本框 77"/>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品牌卖点关联度</a:t>
              </a:r>
            </a:p>
          </p:txBody>
        </p:sp>
      </p:grpSp>
      <p:grpSp>
        <p:nvGrpSpPr>
          <p:cNvPr id="79" name="组合 78"/>
          <p:cNvGrpSpPr/>
          <p:nvPr/>
        </p:nvGrpSpPr>
        <p:grpSpPr>
          <a:xfrm>
            <a:off x="1797273" y="3729379"/>
            <a:ext cx="776550" cy="776550"/>
            <a:chOff x="9066058" y="2671375"/>
            <a:chExt cx="776550" cy="776550"/>
          </a:xfrm>
        </p:grpSpPr>
        <p:sp>
          <p:nvSpPr>
            <p:cNvPr id="80" name="椭圆 79"/>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1" name="椭圆 80"/>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2" name="文本框 81"/>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先锋人群渗透</a:t>
              </a:r>
            </a:p>
          </p:txBody>
        </p:sp>
      </p:grpSp>
      <p:sp>
        <p:nvSpPr>
          <p:cNvPr id="84" name="任意多边形: 形状 83"/>
          <p:cNvSpPr/>
          <p:nvPr/>
        </p:nvSpPr>
        <p:spPr>
          <a:xfrm>
            <a:off x="640261"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86" name="组合 85"/>
          <p:cNvGrpSpPr/>
          <p:nvPr/>
        </p:nvGrpSpPr>
        <p:grpSpPr>
          <a:xfrm>
            <a:off x="495811" y="1544131"/>
            <a:ext cx="1739821" cy="362790"/>
            <a:chOff x="797643" y="2212771"/>
            <a:chExt cx="1739821" cy="362790"/>
          </a:xfrm>
        </p:grpSpPr>
        <p:sp>
          <p:nvSpPr>
            <p:cNvPr id="96" name="矩形: 圆角 95"/>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97" name="组合 96"/>
            <p:cNvGrpSpPr/>
            <p:nvPr/>
          </p:nvGrpSpPr>
          <p:grpSpPr>
            <a:xfrm>
              <a:off x="797643" y="2235096"/>
              <a:ext cx="305053" cy="305053"/>
              <a:chOff x="1239267" y="2525226"/>
              <a:chExt cx="305053" cy="305053"/>
            </a:xfrm>
          </p:grpSpPr>
          <p:sp>
            <p:nvSpPr>
              <p:cNvPr id="99" name="椭圆 9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0" name="椭圆 9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98" name="文本框 97"/>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90" name="文本框 89"/>
          <p:cNvSpPr txBox="1"/>
          <p:nvPr/>
        </p:nvSpPr>
        <p:spPr>
          <a:xfrm>
            <a:off x="846883"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即产品创新力评分，该指标的提升代表品牌新品产品力变强，与消费者需求的吻合度提高。</a:t>
            </a:r>
          </a:p>
        </p:txBody>
      </p:sp>
      <p:grpSp>
        <p:nvGrpSpPr>
          <p:cNvPr id="102" name="组合 101"/>
          <p:cNvGrpSpPr/>
          <p:nvPr/>
        </p:nvGrpSpPr>
        <p:grpSpPr>
          <a:xfrm>
            <a:off x="913975" y="2938105"/>
            <a:ext cx="2908632" cy="259895"/>
            <a:chOff x="561096" y="3475155"/>
            <a:chExt cx="2908632" cy="259895"/>
          </a:xfrm>
        </p:grpSpPr>
        <p:sp>
          <p:nvSpPr>
            <p:cNvPr id="109" name="箭头: V 形 108"/>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跟随趋势</a:t>
              </a:r>
            </a:p>
          </p:txBody>
        </p:sp>
        <p:sp>
          <p:nvSpPr>
            <p:cNvPr id="110" name="箭头: V 形 109"/>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引领创新</a:t>
              </a:r>
            </a:p>
          </p:txBody>
        </p:sp>
      </p:grpSp>
      <p:grpSp>
        <p:nvGrpSpPr>
          <p:cNvPr id="103" name="组合 102"/>
          <p:cNvGrpSpPr/>
          <p:nvPr/>
        </p:nvGrpSpPr>
        <p:grpSpPr>
          <a:xfrm>
            <a:off x="495811" y="2488426"/>
            <a:ext cx="1802915" cy="362790"/>
            <a:chOff x="797643" y="2212771"/>
            <a:chExt cx="1802915" cy="362790"/>
          </a:xfrm>
        </p:grpSpPr>
        <p:sp>
          <p:nvSpPr>
            <p:cNvPr id="104" name="矩形: 圆角 103"/>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105" name="组合 104"/>
            <p:cNvGrpSpPr/>
            <p:nvPr/>
          </p:nvGrpSpPr>
          <p:grpSpPr>
            <a:xfrm>
              <a:off x="797643" y="2235096"/>
              <a:ext cx="305053" cy="305053"/>
              <a:chOff x="1239267" y="2525226"/>
              <a:chExt cx="305053" cy="305053"/>
            </a:xfrm>
          </p:grpSpPr>
          <p:sp>
            <p:nvSpPr>
              <p:cNvPr id="107" name="椭圆 106"/>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8" name="椭圆 107"/>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106" name="文本框 105"/>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112" name="矩形: 圆角 111"/>
          <p:cNvSpPr/>
          <p:nvPr/>
        </p:nvSpPr>
        <p:spPr>
          <a:xfrm rot="16200000">
            <a:off x="1222417"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113" name="组合 112"/>
          <p:cNvGrpSpPr/>
          <p:nvPr/>
        </p:nvGrpSpPr>
        <p:grpSpPr>
          <a:xfrm>
            <a:off x="495811" y="3342182"/>
            <a:ext cx="305053" cy="305053"/>
            <a:chOff x="1239267" y="2525226"/>
            <a:chExt cx="305053" cy="305053"/>
          </a:xfrm>
        </p:grpSpPr>
        <p:sp>
          <p:nvSpPr>
            <p:cNvPr id="115" name="椭圆 114"/>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椭圆 115"/>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114" name="文本框 113"/>
          <p:cNvSpPr txBox="1"/>
          <p:nvPr/>
        </p:nvSpPr>
        <p:spPr>
          <a:xfrm>
            <a:off x="846883"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249" name="矩形 248"/>
          <p:cNvSpPr/>
          <p:nvPr/>
        </p:nvSpPr>
        <p:spPr>
          <a:xfrm>
            <a:off x="4225280"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0" name="矩形 249"/>
          <p:cNvSpPr/>
          <p:nvPr/>
        </p:nvSpPr>
        <p:spPr>
          <a:xfrm>
            <a:off x="4225280"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沟通指数 （</a:t>
            </a:r>
            <a:r>
              <a:rPr kumimoji="0" lang="en-US" altLang="zh-CN" sz="1800" b="0" i="0" u="none" strike="noStrike" kern="1200" cap="none" spc="0" normalizeH="0" baseline="0" noProof="0" dirty="0" err="1">
                <a:ln>
                  <a:noFill/>
                </a:ln>
                <a:solidFill>
                  <a:prstClr val="white"/>
                </a:solidFill>
                <a:effectLst/>
                <a:uLnTx/>
                <a:uFillTx/>
                <a:cs typeface="+mn-ea"/>
                <a:sym typeface="+mn-lt"/>
              </a:rPr>
              <a:t>Engagemen</a:t>
            </a:r>
            <a:r>
              <a:rPr kumimoji="0" lang="zh-CN" altLang="en-US" sz="1800" b="0" i="0" u="none" strike="noStrike" kern="1200" cap="none" spc="0" normalizeH="0" baseline="0" noProof="0" dirty="0">
                <a:ln>
                  <a:noFill/>
                </a:ln>
                <a:solidFill>
                  <a:prstClr val="white"/>
                </a:solidFill>
                <a:effectLst/>
                <a:uLnTx/>
                <a:uFillTx/>
                <a:cs typeface="+mn-ea"/>
                <a:sym typeface="+mn-lt"/>
              </a:rPr>
              <a:t>）</a:t>
            </a:r>
          </a:p>
        </p:txBody>
      </p:sp>
      <p:sp>
        <p:nvSpPr>
          <p:cNvPr id="277" name="矩形: 圆角 276"/>
          <p:cNvSpPr/>
          <p:nvPr/>
        </p:nvSpPr>
        <p:spPr>
          <a:xfrm rot="2409232">
            <a:off x="5115380"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78" name="组合 277"/>
          <p:cNvGrpSpPr/>
          <p:nvPr/>
        </p:nvGrpSpPr>
        <p:grpSpPr>
          <a:xfrm>
            <a:off x="4684081" y="3729379"/>
            <a:ext cx="776550" cy="776550"/>
            <a:chOff x="9066058" y="2671375"/>
            <a:chExt cx="776550" cy="776550"/>
          </a:xfrm>
        </p:grpSpPr>
        <p:sp>
          <p:nvSpPr>
            <p:cNvPr id="288" name="椭圆 287"/>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9" name="椭圆 288"/>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90" name="文本框 289"/>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亲密粉</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浓度</a:t>
              </a:r>
            </a:p>
          </p:txBody>
        </p:sp>
      </p:grpSp>
      <p:sp>
        <p:nvSpPr>
          <p:cNvPr id="279" name="矩形: 圆角 278"/>
          <p:cNvSpPr/>
          <p:nvPr/>
        </p:nvSpPr>
        <p:spPr>
          <a:xfrm rot="2409232">
            <a:off x="6078688"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80" name="组合 279"/>
          <p:cNvGrpSpPr/>
          <p:nvPr/>
        </p:nvGrpSpPr>
        <p:grpSpPr>
          <a:xfrm>
            <a:off x="6584862" y="3729379"/>
            <a:ext cx="776550" cy="776550"/>
            <a:chOff x="9066058" y="2671375"/>
            <a:chExt cx="776550" cy="776550"/>
          </a:xfrm>
        </p:grpSpPr>
        <p:sp>
          <p:nvSpPr>
            <p:cNvPr id="285" name="椭圆 284"/>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6" name="椭圆 285"/>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7" name="文本框 286"/>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品牌搜索热度</a:t>
              </a:r>
            </a:p>
          </p:txBody>
        </p:sp>
      </p:grpSp>
      <p:grpSp>
        <p:nvGrpSpPr>
          <p:cNvPr id="281" name="组合 280"/>
          <p:cNvGrpSpPr/>
          <p:nvPr/>
        </p:nvGrpSpPr>
        <p:grpSpPr>
          <a:xfrm>
            <a:off x="5634471" y="3729379"/>
            <a:ext cx="776550" cy="776550"/>
            <a:chOff x="9066058" y="2671375"/>
            <a:chExt cx="776550" cy="776550"/>
          </a:xfrm>
        </p:grpSpPr>
        <p:sp>
          <p:nvSpPr>
            <p:cNvPr id="282" name="椭圆 281"/>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3" name="椭圆 282"/>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4" name="文本框 283"/>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活跃会员浓度</a:t>
              </a:r>
            </a:p>
          </p:txBody>
        </p:sp>
      </p:grpSp>
      <p:sp>
        <p:nvSpPr>
          <p:cNvPr id="252" name="任意多边形: 形状 251"/>
          <p:cNvSpPr/>
          <p:nvPr/>
        </p:nvSpPr>
        <p:spPr>
          <a:xfrm>
            <a:off x="4477459"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70" name="组合 269"/>
          <p:cNvGrpSpPr/>
          <p:nvPr/>
        </p:nvGrpSpPr>
        <p:grpSpPr>
          <a:xfrm>
            <a:off x="4333009" y="1544131"/>
            <a:ext cx="1739821" cy="362790"/>
            <a:chOff x="797643" y="2212771"/>
            <a:chExt cx="1739821" cy="362790"/>
          </a:xfrm>
        </p:grpSpPr>
        <p:sp>
          <p:nvSpPr>
            <p:cNvPr id="272" name="矩形: 圆角 271"/>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73" name="组合 272"/>
            <p:cNvGrpSpPr/>
            <p:nvPr/>
          </p:nvGrpSpPr>
          <p:grpSpPr>
            <a:xfrm>
              <a:off x="797643" y="2235096"/>
              <a:ext cx="305053" cy="305053"/>
              <a:chOff x="1239267" y="2525226"/>
              <a:chExt cx="305053" cy="305053"/>
            </a:xfrm>
          </p:grpSpPr>
          <p:sp>
            <p:nvSpPr>
              <p:cNvPr id="275" name="椭圆 274"/>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6" name="椭圆 275"/>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74" name="文本框 273"/>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271" name="文本框 270"/>
          <p:cNvSpPr txBox="1"/>
          <p:nvPr/>
        </p:nvSpPr>
        <p:spPr>
          <a:xfrm>
            <a:off x="4684081"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即品牌与消费者交流互动的频次与质量评分，该指标的提升意味着消费者与品牌更加亲密。</a:t>
            </a:r>
          </a:p>
        </p:txBody>
      </p:sp>
      <p:grpSp>
        <p:nvGrpSpPr>
          <p:cNvPr id="261" name="组合 260"/>
          <p:cNvGrpSpPr/>
          <p:nvPr/>
        </p:nvGrpSpPr>
        <p:grpSpPr>
          <a:xfrm>
            <a:off x="4751173" y="2938105"/>
            <a:ext cx="2908632" cy="259895"/>
            <a:chOff x="561096" y="3475155"/>
            <a:chExt cx="2908632" cy="259895"/>
          </a:xfrm>
        </p:grpSpPr>
        <p:sp>
          <p:nvSpPr>
            <p:cNvPr id="268" name="箭头: V 形 267"/>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人群拉新</a:t>
              </a:r>
            </a:p>
          </p:txBody>
        </p:sp>
        <p:sp>
          <p:nvSpPr>
            <p:cNvPr id="269" name="箭头: V 形 268"/>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人群经营</a:t>
              </a:r>
            </a:p>
          </p:txBody>
        </p:sp>
      </p:grpSp>
      <p:grpSp>
        <p:nvGrpSpPr>
          <p:cNvPr id="262" name="组合 261"/>
          <p:cNvGrpSpPr/>
          <p:nvPr/>
        </p:nvGrpSpPr>
        <p:grpSpPr>
          <a:xfrm>
            <a:off x="4333009" y="2488426"/>
            <a:ext cx="1802915" cy="362790"/>
            <a:chOff x="797643" y="2212771"/>
            <a:chExt cx="1802915" cy="362790"/>
          </a:xfrm>
        </p:grpSpPr>
        <p:sp>
          <p:nvSpPr>
            <p:cNvPr id="263" name="矩形: 圆角 262"/>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64" name="组合 263"/>
            <p:cNvGrpSpPr/>
            <p:nvPr/>
          </p:nvGrpSpPr>
          <p:grpSpPr>
            <a:xfrm>
              <a:off x="797643" y="2235096"/>
              <a:ext cx="305053" cy="305053"/>
              <a:chOff x="1239267" y="2525226"/>
              <a:chExt cx="305053" cy="305053"/>
            </a:xfrm>
          </p:grpSpPr>
          <p:sp>
            <p:nvSpPr>
              <p:cNvPr id="266" name="椭圆 265"/>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7" name="椭圆 266"/>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65" name="文本框 264"/>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256" name="矩形: 圆角 255"/>
          <p:cNvSpPr/>
          <p:nvPr/>
        </p:nvSpPr>
        <p:spPr>
          <a:xfrm rot="16200000">
            <a:off x="5059615"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57" name="组合 256"/>
          <p:cNvGrpSpPr/>
          <p:nvPr/>
        </p:nvGrpSpPr>
        <p:grpSpPr>
          <a:xfrm>
            <a:off x="4333009" y="3342182"/>
            <a:ext cx="305053" cy="305053"/>
            <a:chOff x="1239267" y="2525226"/>
            <a:chExt cx="305053" cy="305053"/>
          </a:xfrm>
        </p:grpSpPr>
        <p:sp>
          <p:nvSpPr>
            <p:cNvPr id="259" name="椭圆 25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0" name="椭圆 25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58" name="文本框 257"/>
          <p:cNvSpPr txBox="1"/>
          <p:nvPr/>
        </p:nvSpPr>
        <p:spPr>
          <a:xfrm>
            <a:off x="4684081"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292" name="矩形 291"/>
          <p:cNvSpPr/>
          <p:nvPr/>
        </p:nvSpPr>
        <p:spPr>
          <a:xfrm>
            <a:off x="8062479"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3" name="矩形 292"/>
          <p:cNvSpPr/>
          <p:nvPr/>
        </p:nvSpPr>
        <p:spPr>
          <a:xfrm>
            <a:off x="8062479"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价值指数 （</a:t>
            </a:r>
            <a:r>
              <a:rPr kumimoji="0" lang="en-US" altLang="zh-CN" sz="1800" b="0" i="0" u="none" strike="noStrike" kern="1200" cap="none" spc="0" normalizeH="0" baseline="0" noProof="0" dirty="0" err="1">
                <a:ln>
                  <a:noFill/>
                </a:ln>
                <a:solidFill>
                  <a:prstClr val="white"/>
                </a:solidFill>
                <a:effectLst/>
                <a:uLnTx/>
                <a:uFillTx/>
                <a:cs typeface="+mn-ea"/>
                <a:sym typeface="+mn-lt"/>
              </a:rPr>
              <a:t>Solidity</a:t>
            </a:r>
            <a:r>
              <a:rPr kumimoji="0" lang="zh-CN" altLang="en-US" sz="1800" b="0" i="0" u="none" strike="noStrike" kern="1200" cap="none" spc="0" normalizeH="0" baseline="0" noProof="0" dirty="0">
                <a:ln>
                  <a:noFill/>
                </a:ln>
                <a:solidFill>
                  <a:prstClr val="white"/>
                </a:solidFill>
                <a:effectLst/>
                <a:uLnTx/>
                <a:uFillTx/>
                <a:cs typeface="+mn-ea"/>
                <a:sym typeface="+mn-lt"/>
              </a:rPr>
              <a:t>）</a:t>
            </a:r>
          </a:p>
        </p:txBody>
      </p:sp>
      <p:sp>
        <p:nvSpPr>
          <p:cNvPr id="320" name="矩形: 圆角 319"/>
          <p:cNvSpPr/>
          <p:nvPr/>
        </p:nvSpPr>
        <p:spPr>
          <a:xfrm rot="2409232">
            <a:off x="8952579"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21" name="组合 320"/>
          <p:cNvGrpSpPr/>
          <p:nvPr/>
        </p:nvGrpSpPr>
        <p:grpSpPr>
          <a:xfrm>
            <a:off x="8521280" y="3729379"/>
            <a:ext cx="776550" cy="776550"/>
            <a:chOff x="9066058" y="2671375"/>
            <a:chExt cx="776550" cy="776550"/>
          </a:xfrm>
        </p:grpSpPr>
        <p:sp>
          <p:nvSpPr>
            <p:cNvPr id="331" name="椭圆 330"/>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2" name="椭圆 331"/>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3" name="文本框 332"/>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价位段</a:t>
              </a:r>
            </a:p>
          </p:txBody>
        </p:sp>
      </p:grpSp>
      <p:sp>
        <p:nvSpPr>
          <p:cNvPr id="322" name="矩形: 圆角 321"/>
          <p:cNvSpPr/>
          <p:nvPr/>
        </p:nvSpPr>
        <p:spPr>
          <a:xfrm rot="2409232">
            <a:off x="9915887"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23" name="组合 322"/>
          <p:cNvGrpSpPr/>
          <p:nvPr/>
        </p:nvGrpSpPr>
        <p:grpSpPr>
          <a:xfrm>
            <a:off x="10422061" y="3729379"/>
            <a:ext cx="776550" cy="776550"/>
            <a:chOff x="9066058" y="2671375"/>
            <a:chExt cx="776550" cy="776550"/>
          </a:xfrm>
        </p:grpSpPr>
        <p:sp>
          <p:nvSpPr>
            <p:cNvPr id="328" name="椭圆 327"/>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9" name="椭圆 328"/>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0" name="文本框 329"/>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转化率</a:t>
              </a:r>
            </a:p>
          </p:txBody>
        </p:sp>
      </p:grpSp>
      <p:grpSp>
        <p:nvGrpSpPr>
          <p:cNvPr id="324" name="组合 323"/>
          <p:cNvGrpSpPr/>
          <p:nvPr/>
        </p:nvGrpSpPr>
        <p:grpSpPr>
          <a:xfrm>
            <a:off x="9471670" y="3729379"/>
            <a:ext cx="776550" cy="776550"/>
            <a:chOff x="9066058" y="2671375"/>
            <a:chExt cx="776550" cy="776550"/>
          </a:xfrm>
        </p:grpSpPr>
        <p:sp>
          <p:nvSpPr>
            <p:cNvPr id="325" name="椭圆 324"/>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6" name="椭圆 325"/>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7" name="文本框 326"/>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正价率</a:t>
              </a:r>
            </a:p>
          </p:txBody>
        </p:sp>
      </p:grpSp>
      <p:sp>
        <p:nvSpPr>
          <p:cNvPr id="295" name="任意多边形: 形状 294"/>
          <p:cNvSpPr/>
          <p:nvPr/>
        </p:nvSpPr>
        <p:spPr>
          <a:xfrm>
            <a:off x="8314658"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13" name="组合 312"/>
          <p:cNvGrpSpPr/>
          <p:nvPr/>
        </p:nvGrpSpPr>
        <p:grpSpPr>
          <a:xfrm>
            <a:off x="8170208" y="1544131"/>
            <a:ext cx="1739821" cy="362790"/>
            <a:chOff x="797643" y="2212771"/>
            <a:chExt cx="1739821" cy="362790"/>
          </a:xfrm>
        </p:grpSpPr>
        <p:sp>
          <p:nvSpPr>
            <p:cNvPr id="315" name="矩形: 圆角 314"/>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16" name="组合 315"/>
            <p:cNvGrpSpPr/>
            <p:nvPr/>
          </p:nvGrpSpPr>
          <p:grpSpPr>
            <a:xfrm>
              <a:off x="797643" y="2235096"/>
              <a:ext cx="305053" cy="305053"/>
              <a:chOff x="1239267" y="2525226"/>
              <a:chExt cx="305053" cy="305053"/>
            </a:xfrm>
          </p:grpSpPr>
          <p:sp>
            <p:nvSpPr>
              <p:cNvPr id="318" name="椭圆 317"/>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9" name="椭圆 318"/>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17" name="文本框 316"/>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314" name="文本框 313"/>
          <p:cNvSpPr txBox="1"/>
          <p:nvPr/>
        </p:nvSpPr>
        <p:spPr>
          <a:xfrm>
            <a:off x="8521280"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即品牌价格相对其品牌价值的健康程度，该指标的提升反应了价格在消费者心目中的价值。</a:t>
            </a:r>
          </a:p>
        </p:txBody>
      </p:sp>
      <p:grpSp>
        <p:nvGrpSpPr>
          <p:cNvPr id="304" name="组合 303"/>
          <p:cNvGrpSpPr/>
          <p:nvPr/>
        </p:nvGrpSpPr>
        <p:grpSpPr>
          <a:xfrm>
            <a:off x="8588372" y="2938105"/>
            <a:ext cx="2908632" cy="259895"/>
            <a:chOff x="561096" y="3475155"/>
            <a:chExt cx="2908632" cy="259895"/>
          </a:xfrm>
        </p:grpSpPr>
        <p:sp>
          <p:nvSpPr>
            <p:cNvPr id="311" name="箭头: V 形 310"/>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价格驱动</a:t>
              </a:r>
            </a:p>
          </p:txBody>
        </p:sp>
        <p:sp>
          <p:nvSpPr>
            <p:cNvPr id="312" name="箭头: V 形 311"/>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价值驱动</a:t>
              </a:r>
            </a:p>
          </p:txBody>
        </p:sp>
      </p:grpSp>
      <p:grpSp>
        <p:nvGrpSpPr>
          <p:cNvPr id="305" name="组合 304"/>
          <p:cNvGrpSpPr/>
          <p:nvPr/>
        </p:nvGrpSpPr>
        <p:grpSpPr>
          <a:xfrm>
            <a:off x="8170208" y="2488426"/>
            <a:ext cx="1802915" cy="362790"/>
            <a:chOff x="797643" y="2212771"/>
            <a:chExt cx="1802915" cy="362790"/>
          </a:xfrm>
        </p:grpSpPr>
        <p:sp>
          <p:nvSpPr>
            <p:cNvPr id="306" name="矩形: 圆角 305"/>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07" name="组合 306"/>
            <p:cNvGrpSpPr/>
            <p:nvPr/>
          </p:nvGrpSpPr>
          <p:grpSpPr>
            <a:xfrm>
              <a:off x="797643" y="2235096"/>
              <a:ext cx="305053" cy="305053"/>
              <a:chOff x="1239267" y="2525226"/>
              <a:chExt cx="305053" cy="305053"/>
            </a:xfrm>
          </p:grpSpPr>
          <p:sp>
            <p:nvSpPr>
              <p:cNvPr id="309" name="椭圆 30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0" name="椭圆 30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08" name="文本框 307"/>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299" name="矩形: 圆角 298"/>
          <p:cNvSpPr/>
          <p:nvPr/>
        </p:nvSpPr>
        <p:spPr>
          <a:xfrm rot="16200000">
            <a:off x="8896814"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00" name="组合 299"/>
          <p:cNvGrpSpPr/>
          <p:nvPr/>
        </p:nvGrpSpPr>
        <p:grpSpPr>
          <a:xfrm>
            <a:off x="8170208" y="3342182"/>
            <a:ext cx="305053" cy="305053"/>
            <a:chOff x="1239267" y="2525226"/>
            <a:chExt cx="305053" cy="305053"/>
          </a:xfrm>
        </p:grpSpPr>
        <p:sp>
          <p:nvSpPr>
            <p:cNvPr id="302" name="椭圆 301"/>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03" name="椭圆 302"/>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01" name="文本框 300"/>
          <p:cNvSpPr txBox="1"/>
          <p:nvPr/>
        </p:nvSpPr>
        <p:spPr>
          <a:xfrm>
            <a:off x="8521280"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341" name="矩形: 圆角 340"/>
          <p:cNvSpPr/>
          <p:nvPr/>
        </p:nvSpPr>
        <p:spPr>
          <a:xfrm>
            <a:off x="227013" y="4911760"/>
            <a:ext cx="11737973" cy="1755180"/>
          </a:xfrm>
          <a:prstGeom prst="roundRect">
            <a:avLst>
              <a:gd name="adj" fmla="val 0"/>
            </a:avLst>
          </a:prstGeom>
          <a:solidFill>
            <a:schemeClr val="bg1"/>
          </a:solidFill>
          <a:ln w="1587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6" name="文本框 345"/>
          <p:cNvSpPr txBox="1"/>
          <p:nvPr/>
        </p:nvSpPr>
        <p:spPr>
          <a:xfrm>
            <a:off x="378295" y="5011857"/>
            <a:ext cx="229702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D3728"/>
                </a:solidFill>
                <a:effectLst/>
                <a:uLnTx/>
                <a:uFillTx/>
                <a:cs typeface="+mn-ea"/>
                <a:sym typeface="+mn-lt"/>
              </a:rPr>
              <a:t>美的各指数变化</a:t>
            </a:r>
          </a:p>
        </p:txBody>
      </p:sp>
      <p:graphicFrame>
        <p:nvGraphicFramePr>
          <p:cNvPr id="349" name="图表 348"/>
          <p:cNvGraphicFramePr/>
          <p:nvPr/>
        </p:nvGraphicFramePr>
        <p:xfrm>
          <a:off x="6346437" y="4939753"/>
          <a:ext cx="5374255" cy="1796352"/>
        </p:xfrm>
        <a:graphic>
          <a:graphicData uri="http://schemas.openxmlformats.org/drawingml/2006/chart">
            <c:chart xmlns:c="http://schemas.openxmlformats.org/drawingml/2006/chart" xmlns:r="http://schemas.openxmlformats.org/officeDocument/2006/relationships" r:id="rId3"/>
          </a:graphicData>
        </a:graphic>
      </p:graphicFrame>
      <p:grpSp>
        <p:nvGrpSpPr>
          <p:cNvPr id="355" name="组合 354"/>
          <p:cNvGrpSpPr/>
          <p:nvPr/>
        </p:nvGrpSpPr>
        <p:grpSpPr>
          <a:xfrm>
            <a:off x="433208" y="5441798"/>
            <a:ext cx="1744655" cy="1046820"/>
            <a:chOff x="433208" y="5441798"/>
            <a:chExt cx="1744655" cy="1046820"/>
          </a:xfrm>
        </p:grpSpPr>
        <p:sp>
          <p:nvSpPr>
            <p:cNvPr id="352" name="矩形: 圆角 351"/>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51" name="文本框 350"/>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创新指数</a:t>
              </a:r>
            </a:p>
          </p:txBody>
        </p:sp>
        <p:sp>
          <p:nvSpPr>
            <p:cNvPr id="353" name="文本框 352"/>
            <p:cNvSpPr txBox="1"/>
            <p:nvPr/>
          </p:nvSpPr>
          <p:spPr>
            <a:xfrm>
              <a:off x="530185" y="5780246"/>
              <a:ext cx="113781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18</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54" name="箭头: 下 353"/>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grpSp>
        <p:nvGrpSpPr>
          <p:cNvPr id="356" name="组合 355"/>
          <p:cNvGrpSpPr/>
          <p:nvPr/>
        </p:nvGrpSpPr>
        <p:grpSpPr>
          <a:xfrm>
            <a:off x="2291235" y="5441798"/>
            <a:ext cx="1744655" cy="1046820"/>
            <a:chOff x="433208" y="5441798"/>
            <a:chExt cx="1744655" cy="1046820"/>
          </a:xfrm>
        </p:grpSpPr>
        <p:sp>
          <p:nvSpPr>
            <p:cNvPr id="357" name="矩形: 圆角 356"/>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58" name="文本框 357"/>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沟通指数 </a:t>
              </a:r>
            </a:p>
          </p:txBody>
        </p:sp>
        <p:sp>
          <p:nvSpPr>
            <p:cNvPr id="359" name="文本框 358"/>
            <p:cNvSpPr txBox="1"/>
            <p:nvPr/>
          </p:nvSpPr>
          <p:spPr>
            <a:xfrm>
              <a:off x="530184" y="5780246"/>
              <a:ext cx="1348165"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146</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60" name="箭头: 下 359"/>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grpSp>
        <p:nvGrpSpPr>
          <p:cNvPr id="361" name="组合 360"/>
          <p:cNvGrpSpPr/>
          <p:nvPr/>
        </p:nvGrpSpPr>
        <p:grpSpPr>
          <a:xfrm>
            <a:off x="4149262" y="5441798"/>
            <a:ext cx="1744655" cy="1046820"/>
            <a:chOff x="433208" y="5441798"/>
            <a:chExt cx="1744655" cy="1046820"/>
          </a:xfrm>
        </p:grpSpPr>
        <p:sp>
          <p:nvSpPr>
            <p:cNvPr id="362" name="矩形: 圆角 361"/>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63" name="文本框 362"/>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价值指数 </a:t>
              </a:r>
            </a:p>
          </p:txBody>
        </p:sp>
        <p:sp>
          <p:nvSpPr>
            <p:cNvPr id="364" name="文本框 363"/>
            <p:cNvSpPr txBox="1"/>
            <p:nvPr/>
          </p:nvSpPr>
          <p:spPr>
            <a:xfrm>
              <a:off x="530185" y="5780246"/>
              <a:ext cx="113781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50</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65" name="箭头: 下 364"/>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7" name="组合 196"/>
          <p:cNvGrpSpPr/>
          <p:nvPr/>
        </p:nvGrpSpPr>
        <p:grpSpPr>
          <a:xfrm>
            <a:off x="264760" y="1311089"/>
            <a:ext cx="11662481" cy="4094031"/>
            <a:chOff x="260787" y="1311089"/>
            <a:chExt cx="11662481" cy="2867837"/>
          </a:xfrm>
        </p:grpSpPr>
        <p:sp>
          <p:nvSpPr>
            <p:cNvPr id="195" name="任意多边形: 形状 194"/>
            <p:cNvSpPr/>
            <p:nvPr/>
          </p:nvSpPr>
          <p:spPr>
            <a:xfrm>
              <a:off x="260787" y="1311089"/>
              <a:ext cx="5379267" cy="2867837"/>
            </a:xfrm>
            <a:custGeom>
              <a:avLst/>
              <a:gdLst>
                <a:gd name="connsiteX0" fmla="*/ 229694 w 5379267"/>
                <a:gd name="connsiteY0" fmla="*/ 0 h 2867837"/>
                <a:gd name="connsiteX1" fmla="*/ 5149573 w 5379267"/>
                <a:gd name="connsiteY1" fmla="*/ 0 h 2867837"/>
                <a:gd name="connsiteX2" fmla="*/ 5226020 w 5379267"/>
                <a:gd name="connsiteY2" fmla="*/ 158694 h 2867837"/>
                <a:gd name="connsiteX3" fmla="*/ 5379267 w 5379267"/>
                <a:gd name="connsiteY3" fmla="*/ 917754 h 2867837"/>
                <a:gd name="connsiteX4" fmla="*/ 3429184 w 5379267"/>
                <a:gd name="connsiteY4" fmla="*/ 2867837 h 2867837"/>
                <a:gd name="connsiteX5" fmla="*/ 1950083 w 5379267"/>
                <a:gd name="connsiteY5" fmla="*/ 2867837 h 2867837"/>
                <a:gd name="connsiteX6" fmla="*/ 0 w 5379267"/>
                <a:gd name="connsiteY6" fmla="*/ 917754 h 2867837"/>
                <a:gd name="connsiteX7" fmla="*/ 153247 w 5379267"/>
                <a:gd name="connsiteY7" fmla="*/ 158694 h 286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9267" h="2867837">
                  <a:moveTo>
                    <a:pt x="229694" y="0"/>
                  </a:moveTo>
                  <a:lnTo>
                    <a:pt x="5149573" y="0"/>
                  </a:lnTo>
                  <a:lnTo>
                    <a:pt x="5226020" y="158694"/>
                  </a:lnTo>
                  <a:cubicBezTo>
                    <a:pt x="5324700" y="391999"/>
                    <a:pt x="5379267" y="648504"/>
                    <a:pt x="5379267" y="917754"/>
                  </a:cubicBezTo>
                  <a:cubicBezTo>
                    <a:pt x="5379267" y="1994755"/>
                    <a:pt x="4506185" y="2867837"/>
                    <a:pt x="3429184" y="2867837"/>
                  </a:cubicBezTo>
                  <a:lnTo>
                    <a:pt x="1950083" y="2867837"/>
                  </a:lnTo>
                  <a:cubicBezTo>
                    <a:pt x="873082" y="2867837"/>
                    <a:pt x="0" y="1994755"/>
                    <a:pt x="0" y="917754"/>
                  </a:cubicBezTo>
                  <a:cubicBezTo>
                    <a:pt x="0" y="648504"/>
                    <a:pt x="54568" y="391999"/>
                    <a:pt x="153247" y="158694"/>
                  </a:cubicBezTo>
                  <a:close/>
                </a:path>
              </a:pathLst>
            </a:custGeom>
            <a:gradFill flip="none" rotWithShape="1">
              <a:gsLst>
                <a:gs pos="0">
                  <a:schemeClr val="accent3">
                    <a:alpha val="0"/>
                  </a:schemeClr>
                </a:gs>
                <a:gs pos="100000">
                  <a:schemeClr val="accent1">
                    <a:alpha val="20000"/>
                  </a:schemeClr>
                </a:gs>
              </a:gsLst>
              <a:lin ang="10800000" scaled="1"/>
              <a:tileRect/>
            </a:gradFill>
            <a:ln>
              <a:gradFill flip="none" rotWithShape="1">
                <a:gsLst>
                  <a:gs pos="77000">
                    <a:schemeClr val="accent1">
                      <a:lumMod val="5000"/>
                      <a:lumOff val="95000"/>
                      <a:alpha val="0"/>
                    </a:schemeClr>
                  </a:gs>
                  <a:gs pos="100000">
                    <a:schemeClr val="accent1">
                      <a:alpha val="43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任意多边形: 形状 195"/>
            <p:cNvSpPr/>
            <p:nvPr/>
          </p:nvSpPr>
          <p:spPr>
            <a:xfrm flipH="1">
              <a:off x="6544001" y="1311089"/>
              <a:ext cx="5379267" cy="2867837"/>
            </a:xfrm>
            <a:custGeom>
              <a:avLst/>
              <a:gdLst>
                <a:gd name="connsiteX0" fmla="*/ 229694 w 5379267"/>
                <a:gd name="connsiteY0" fmla="*/ 0 h 2867837"/>
                <a:gd name="connsiteX1" fmla="*/ 5149573 w 5379267"/>
                <a:gd name="connsiteY1" fmla="*/ 0 h 2867837"/>
                <a:gd name="connsiteX2" fmla="*/ 5226020 w 5379267"/>
                <a:gd name="connsiteY2" fmla="*/ 158694 h 2867837"/>
                <a:gd name="connsiteX3" fmla="*/ 5379267 w 5379267"/>
                <a:gd name="connsiteY3" fmla="*/ 917754 h 2867837"/>
                <a:gd name="connsiteX4" fmla="*/ 3429184 w 5379267"/>
                <a:gd name="connsiteY4" fmla="*/ 2867837 h 2867837"/>
                <a:gd name="connsiteX5" fmla="*/ 1950083 w 5379267"/>
                <a:gd name="connsiteY5" fmla="*/ 2867837 h 2867837"/>
                <a:gd name="connsiteX6" fmla="*/ 0 w 5379267"/>
                <a:gd name="connsiteY6" fmla="*/ 917754 h 2867837"/>
                <a:gd name="connsiteX7" fmla="*/ 153247 w 5379267"/>
                <a:gd name="connsiteY7" fmla="*/ 158694 h 286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9267" h="2867837">
                  <a:moveTo>
                    <a:pt x="229694" y="0"/>
                  </a:moveTo>
                  <a:lnTo>
                    <a:pt x="5149573" y="0"/>
                  </a:lnTo>
                  <a:lnTo>
                    <a:pt x="5226020" y="158694"/>
                  </a:lnTo>
                  <a:cubicBezTo>
                    <a:pt x="5324700" y="391999"/>
                    <a:pt x="5379267" y="648504"/>
                    <a:pt x="5379267" y="917754"/>
                  </a:cubicBezTo>
                  <a:cubicBezTo>
                    <a:pt x="5379267" y="1994755"/>
                    <a:pt x="4506185" y="2867837"/>
                    <a:pt x="3429184" y="2867837"/>
                  </a:cubicBezTo>
                  <a:lnTo>
                    <a:pt x="1950083" y="2867837"/>
                  </a:lnTo>
                  <a:cubicBezTo>
                    <a:pt x="873082" y="2867837"/>
                    <a:pt x="0" y="1994755"/>
                    <a:pt x="0" y="917754"/>
                  </a:cubicBezTo>
                  <a:cubicBezTo>
                    <a:pt x="0" y="648504"/>
                    <a:pt x="54568" y="391999"/>
                    <a:pt x="153247" y="158694"/>
                  </a:cubicBezTo>
                  <a:close/>
                </a:path>
              </a:pathLst>
            </a:custGeom>
            <a:gradFill flip="none" rotWithShape="1">
              <a:gsLst>
                <a:gs pos="2000">
                  <a:schemeClr val="accent3">
                    <a:alpha val="0"/>
                  </a:schemeClr>
                </a:gs>
                <a:gs pos="100000">
                  <a:schemeClr val="accent4">
                    <a:alpha val="20000"/>
                  </a:schemeClr>
                </a:gs>
              </a:gsLst>
              <a:lin ang="10800000" scaled="1"/>
              <a:tileRect/>
            </a:gradFill>
            <a:ln>
              <a:gradFill flip="none" rotWithShape="1">
                <a:gsLst>
                  <a:gs pos="77000">
                    <a:schemeClr val="accent1">
                      <a:lumMod val="5000"/>
                      <a:lumOff val="95000"/>
                      <a:alpha val="0"/>
                    </a:schemeClr>
                  </a:gs>
                  <a:gs pos="100000">
                    <a:schemeClr val="accent4"/>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3" name="标题 2"/>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促进用户消费规模稳定增长</a:t>
            </a:r>
          </a:p>
        </p:txBody>
      </p:sp>
      <p:grpSp>
        <p:nvGrpSpPr>
          <p:cNvPr id="14" name="组合 13"/>
          <p:cNvGrpSpPr/>
          <p:nvPr/>
        </p:nvGrpSpPr>
        <p:grpSpPr>
          <a:xfrm>
            <a:off x="1980391" y="1458426"/>
            <a:ext cx="2250637" cy="2250638"/>
            <a:chOff x="3282277" y="2424305"/>
            <a:chExt cx="1847460" cy="1847461"/>
          </a:xfrm>
        </p:grpSpPr>
        <p:grpSp>
          <p:nvGrpSpPr>
            <p:cNvPr id="9" name="组合 8"/>
            <p:cNvGrpSpPr/>
            <p:nvPr/>
          </p:nvGrpSpPr>
          <p:grpSpPr>
            <a:xfrm>
              <a:off x="3282277" y="2424305"/>
              <a:ext cx="1847460" cy="1847461"/>
              <a:chOff x="3282277" y="2271905"/>
              <a:chExt cx="1847460" cy="1847461"/>
            </a:xfrm>
          </p:grpSpPr>
          <p:sp>
            <p:nvSpPr>
              <p:cNvPr id="4" name="椭圆 3"/>
              <p:cNvSpPr/>
              <p:nvPr/>
            </p:nvSpPr>
            <p:spPr>
              <a:xfrm>
                <a:off x="3282277" y="2271905"/>
                <a:ext cx="1847460" cy="1847460"/>
              </a:xfrm>
              <a:prstGeom prst="ellipse">
                <a:avLst/>
              </a:prstGeom>
              <a:gradFill flip="none" rotWithShape="1">
                <a:gsLst>
                  <a:gs pos="0">
                    <a:schemeClr val="accent2">
                      <a:lumMod val="20000"/>
                      <a:lumOff val="80000"/>
                    </a:schemeClr>
                  </a:gs>
                  <a:gs pos="100000">
                    <a:schemeClr val="accent1">
                      <a:lumMod val="20000"/>
                      <a:lumOff val="80000"/>
                    </a:schemeClr>
                  </a:gs>
                </a:gsLst>
                <a:path path="shape">
                  <a:fillToRect l="50000" t="50000" r="50000" b="50000"/>
                </a:path>
                <a:tileRect/>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sp>
            <p:nvSpPr>
              <p:cNvPr id="8" name="任意多边形: 形状 7"/>
              <p:cNvSpPr/>
              <p:nvPr/>
            </p:nvSpPr>
            <p:spPr>
              <a:xfrm>
                <a:off x="3296160" y="32242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13" name="任意多边形: 形状 12"/>
            <p:cNvSpPr/>
            <p:nvPr/>
          </p:nvSpPr>
          <p:spPr>
            <a:xfrm flipH="1">
              <a:off x="3282277" y="33766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84" name="矩形: 圆角 83"/>
          <p:cNvSpPr/>
          <p:nvPr/>
        </p:nvSpPr>
        <p:spPr>
          <a:xfrm>
            <a:off x="1033618" y="2819604"/>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男性</a:t>
            </a:r>
          </a:p>
        </p:txBody>
      </p:sp>
      <p:sp>
        <p:nvSpPr>
          <p:cNvPr id="85" name="矩形: 圆角 84"/>
          <p:cNvSpPr/>
          <p:nvPr/>
        </p:nvSpPr>
        <p:spPr>
          <a:xfrm>
            <a:off x="632997" y="3139557"/>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女性</a:t>
            </a:r>
          </a:p>
        </p:txBody>
      </p:sp>
      <p:sp>
        <p:nvSpPr>
          <p:cNvPr id="91" name="矩形: 圆角 90"/>
          <p:cNvSpPr/>
          <p:nvPr/>
        </p:nvSpPr>
        <p:spPr>
          <a:xfrm>
            <a:off x="4261435" y="2819604"/>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病患</a:t>
            </a:r>
          </a:p>
        </p:txBody>
      </p:sp>
      <p:sp>
        <p:nvSpPr>
          <p:cNvPr id="92" name="矩形: 圆角 91"/>
          <p:cNvSpPr/>
          <p:nvPr/>
        </p:nvSpPr>
        <p:spPr>
          <a:xfrm>
            <a:off x="4617152" y="3139557"/>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蓝领</a:t>
            </a:r>
          </a:p>
        </p:txBody>
      </p:sp>
      <p:sp>
        <p:nvSpPr>
          <p:cNvPr id="93" name="矩形: 圆角 92"/>
          <p:cNvSpPr/>
          <p:nvPr/>
        </p:nvSpPr>
        <p:spPr>
          <a:xfrm>
            <a:off x="1056626" y="3466105"/>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儿童</a:t>
            </a:r>
          </a:p>
        </p:txBody>
      </p:sp>
      <p:sp>
        <p:nvSpPr>
          <p:cNvPr id="94" name="矩形: 圆角 93"/>
          <p:cNvSpPr/>
          <p:nvPr/>
        </p:nvSpPr>
        <p:spPr>
          <a:xfrm>
            <a:off x="2098330" y="3709566"/>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婴儿</a:t>
            </a:r>
          </a:p>
        </p:txBody>
      </p:sp>
      <p:sp>
        <p:nvSpPr>
          <p:cNvPr id="95" name="矩形: 圆角 94"/>
          <p:cNvSpPr/>
          <p:nvPr/>
        </p:nvSpPr>
        <p:spPr>
          <a:xfrm>
            <a:off x="3309054" y="3709566"/>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老年人</a:t>
            </a:r>
          </a:p>
        </p:txBody>
      </p:sp>
      <p:grpSp>
        <p:nvGrpSpPr>
          <p:cNvPr id="110" name="组合 109"/>
          <p:cNvGrpSpPr/>
          <p:nvPr/>
        </p:nvGrpSpPr>
        <p:grpSpPr>
          <a:xfrm>
            <a:off x="7724773" y="1458426"/>
            <a:ext cx="2250637" cy="2250638"/>
            <a:chOff x="3282277" y="2424305"/>
            <a:chExt cx="1847460" cy="1847461"/>
          </a:xfrm>
        </p:grpSpPr>
        <p:grpSp>
          <p:nvGrpSpPr>
            <p:cNvPr id="112" name="组合 111"/>
            <p:cNvGrpSpPr/>
            <p:nvPr/>
          </p:nvGrpSpPr>
          <p:grpSpPr>
            <a:xfrm>
              <a:off x="3282277" y="2424305"/>
              <a:ext cx="1847460" cy="1847461"/>
              <a:chOff x="3282277" y="2271905"/>
              <a:chExt cx="1847460" cy="1847461"/>
            </a:xfrm>
          </p:grpSpPr>
          <p:sp>
            <p:nvSpPr>
              <p:cNvPr id="114" name="椭圆 113"/>
              <p:cNvSpPr/>
              <p:nvPr/>
            </p:nvSpPr>
            <p:spPr>
              <a:xfrm>
                <a:off x="3282277" y="2271905"/>
                <a:ext cx="1847460" cy="1847460"/>
              </a:xfrm>
              <a:prstGeom prst="ellipse">
                <a:avLst/>
              </a:prstGeom>
              <a:gradFill flip="none" rotWithShape="1">
                <a:gsLst>
                  <a:gs pos="0">
                    <a:schemeClr val="accent5">
                      <a:lumMod val="20000"/>
                      <a:lumOff val="80000"/>
                    </a:schemeClr>
                  </a:gs>
                  <a:gs pos="100000">
                    <a:schemeClr val="accent4">
                      <a:lumMod val="20000"/>
                      <a:lumOff val="80000"/>
                    </a:schemeClr>
                  </a:gs>
                </a:gsLst>
                <a:path path="shape">
                  <a:fillToRect l="50000" t="50000" r="50000" b="50000"/>
                </a:path>
                <a:tileRect/>
              </a:gra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sp>
            <p:nvSpPr>
              <p:cNvPr id="115" name="任意多边形: 形状 114"/>
              <p:cNvSpPr/>
              <p:nvPr/>
            </p:nvSpPr>
            <p:spPr>
              <a:xfrm>
                <a:off x="3296160" y="32242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113" name="任意多边形: 形状 112"/>
            <p:cNvSpPr/>
            <p:nvPr/>
          </p:nvSpPr>
          <p:spPr>
            <a:xfrm flipH="1">
              <a:off x="3282277" y="33766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cxnSp>
        <p:nvCxnSpPr>
          <p:cNvPr id="74" name="直接连接符 73"/>
          <p:cNvCxnSpPr/>
          <p:nvPr/>
        </p:nvCxnSpPr>
        <p:spPr>
          <a:xfrm flipH="1">
            <a:off x="7242176" y="3653408"/>
            <a:ext cx="1201593" cy="322757"/>
          </a:xfrm>
          <a:prstGeom prst="line">
            <a:avLst/>
          </a:prstGeom>
          <a:ln w="12700">
            <a:gradFill>
              <a:gsLst>
                <a:gs pos="0">
                  <a:schemeClr val="bg1">
                    <a:alpha val="0"/>
                  </a:schemeClr>
                </a:gs>
                <a:gs pos="100000">
                  <a:schemeClr val="bg1"/>
                </a:gs>
              </a:gsLst>
              <a:lin ang="5400000" scaled="1"/>
            </a:gradFill>
          </a:ln>
        </p:spPr>
        <p:style>
          <a:lnRef idx="2">
            <a:schemeClr val="accent1"/>
          </a:lnRef>
          <a:fillRef idx="0">
            <a:schemeClr val="accent1"/>
          </a:fillRef>
          <a:effectRef idx="1">
            <a:schemeClr val="accent1"/>
          </a:effectRef>
          <a:fontRef idx="minor">
            <a:schemeClr val="tx1"/>
          </a:fontRef>
        </p:style>
      </p:cxnSp>
      <p:sp>
        <p:nvSpPr>
          <p:cNvPr id="100" name="矩形: 圆角 99"/>
          <p:cNvSpPr/>
          <p:nvPr/>
        </p:nvSpPr>
        <p:spPr>
          <a:xfrm>
            <a:off x="6757136" y="2819604"/>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肠胃养护</a:t>
            </a:r>
          </a:p>
        </p:txBody>
      </p:sp>
      <p:sp>
        <p:nvSpPr>
          <p:cNvPr id="101" name="矩形: 圆角 100"/>
          <p:cNvSpPr/>
          <p:nvPr/>
        </p:nvSpPr>
        <p:spPr>
          <a:xfrm>
            <a:off x="6250272" y="3139557"/>
            <a:ext cx="1109386"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心血管养护</a:t>
            </a:r>
          </a:p>
        </p:txBody>
      </p:sp>
      <p:sp>
        <p:nvSpPr>
          <p:cNvPr id="102" name="矩形: 圆角 101"/>
          <p:cNvSpPr/>
          <p:nvPr/>
        </p:nvSpPr>
        <p:spPr>
          <a:xfrm>
            <a:off x="9984953" y="2819604"/>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日常滋补</a:t>
            </a:r>
          </a:p>
        </p:txBody>
      </p:sp>
      <p:sp>
        <p:nvSpPr>
          <p:cNvPr id="103" name="矩形: 圆角 102"/>
          <p:cNvSpPr/>
          <p:nvPr/>
        </p:nvSpPr>
        <p:spPr>
          <a:xfrm>
            <a:off x="10425623" y="3139557"/>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治未病</a:t>
            </a:r>
          </a:p>
        </p:txBody>
      </p:sp>
      <p:sp>
        <p:nvSpPr>
          <p:cNvPr id="104" name="矩形: 圆角 103"/>
          <p:cNvSpPr/>
          <p:nvPr/>
        </p:nvSpPr>
        <p:spPr>
          <a:xfrm>
            <a:off x="6777273" y="3466105"/>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骨骼健康</a:t>
            </a:r>
          </a:p>
        </p:txBody>
      </p:sp>
      <p:sp>
        <p:nvSpPr>
          <p:cNvPr id="105" name="矩形: 圆角 104"/>
          <p:cNvSpPr/>
          <p:nvPr/>
        </p:nvSpPr>
        <p:spPr>
          <a:xfrm>
            <a:off x="7821847" y="3709566"/>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提升活力</a:t>
            </a:r>
          </a:p>
        </p:txBody>
      </p:sp>
      <p:sp>
        <p:nvSpPr>
          <p:cNvPr id="106" name="矩形: 圆角 105"/>
          <p:cNvSpPr/>
          <p:nvPr/>
        </p:nvSpPr>
        <p:spPr>
          <a:xfrm>
            <a:off x="9032571" y="3709566"/>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特医食品</a:t>
            </a:r>
          </a:p>
        </p:txBody>
      </p:sp>
      <p:sp>
        <p:nvSpPr>
          <p:cNvPr id="107" name="矩形: 圆角 106"/>
          <p:cNvSpPr/>
          <p:nvPr/>
        </p:nvSpPr>
        <p:spPr>
          <a:xfrm>
            <a:off x="10062203" y="3466105"/>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强健体质</a:t>
            </a:r>
          </a:p>
        </p:txBody>
      </p:sp>
      <p:sp>
        <p:nvSpPr>
          <p:cNvPr id="134" name="矩形 133"/>
          <p:cNvSpPr/>
          <p:nvPr/>
        </p:nvSpPr>
        <p:spPr>
          <a:xfrm>
            <a:off x="246588" y="904945"/>
            <a:ext cx="11718400" cy="406143"/>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不同的人群有不同的需求和关注点</a:t>
            </a:r>
          </a:p>
        </p:txBody>
      </p:sp>
      <p:sp>
        <p:nvSpPr>
          <p:cNvPr id="153" name="任意多边形: 形状 152"/>
          <p:cNvSpPr/>
          <p:nvPr/>
        </p:nvSpPr>
        <p:spPr>
          <a:xfrm>
            <a:off x="246588" y="3778480"/>
            <a:ext cx="11698827" cy="2927121"/>
          </a:xfrm>
          <a:custGeom>
            <a:avLst/>
            <a:gdLst>
              <a:gd name="connsiteX0" fmla="*/ 0 w 11698827"/>
              <a:gd name="connsiteY0" fmla="*/ 0 h 2749537"/>
              <a:gd name="connsiteX1" fmla="*/ 117889 w 11698827"/>
              <a:gd name="connsiteY1" fmla="*/ 17247 h 2749537"/>
              <a:gd name="connsiteX2" fmla="*/ 5849413 w 11698827"/>
              <a:gd name="connsiteY2" fmla="*/ 366730 h 2749537"/>
              <a:gd name="connsiteX3" fmla="*/ 11580937 w 11698827"/>
              <a:gd name="connsiteY3" fmla="*/ 17247 h 2749537"/>
              <a:gd name="connsiteX4" fmla="*/ 11698827 w 11698827"/>
              <a:gd name="connsiteY4" fmla="*/ 0 h 2749537"/>
              <a:gd name="connsiteX5" fmla="*/ 11698827 w 11698827"/>
              <a:gd name="connsiteY5" fmla="*/ 2749537 h 2749537"/>
              <a:gd name="connsiteX6" fmla="*/ 0 w 11698827"/>
              <a:gd name="connsiteY6" fmla="*/ 2749537 h 27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8827" h="2749537">
                <a:moveTo>
                  <a:pt x="0" y="0"/>
                </a:moveTo>
                <a:lnTo>
                  <a:pt x="117889" y="17247"/>
                </a:lnTo>
                <a:cubicBezTo>
                  <a:pt x="1821660" y="240128"/>
                  <a:pt x="3774141" y="366730"/>
                  <a:pt x="5849413" y="366730"/>
                </a:cubicBezTo>
                <a:cubicBezTo>
                  <a:pt x="7924686" y="366730"/>
                  <a:pt x="9877167" y="240128"/>
                  <a:pt x="11580937" y="17247"/>
                </a:cubicBezTo>
                <a:lnTo>
                  <a:pt x="11698827" y="0"/>
                </a:lnTo>
                <a:lnTo>
                  <a:pt x="11698827" y="2749537"/>
                </a:lnTo>
                <a:lnTo>
                  <a:pt x="0" y="2749537"/>
                </a:lnTo>
                <a:close/>
              </a:path>
            </a:pathLst>
          </a:custGeom>
          <a:solidFill>
            <a:schemeClr val="accent1"/>
          </a:solidFill>
          <a:ln w="12700" cap="rnd">
            <a:no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7" name="任意多边形: 形状 156"/>
          <p:cNvSpPr/>
          <p:nvPr/>
        </p:nvSpPr>
        <p:spPr>
          <a:xfrm>
            <a:off x="341602" y="3916358"/>
            <a:ext cx="11524408" cy="2696170"/>
          </a:xfrm>
          <a:custGeom>
            <a:avLst/>
            <a:gdLst>
              <a:gd name="connsiteX0" fmla="*/ 0 w 11698827"/>
              <a:gd name="connsiteY0" fmla="*/ 0 h 2749537"/>
              <a:gd name="connsiteX1" fmla="*/ 117889 w 11698827"/>
              <a:gd name="connsiteY1" fmla="*/ 17247 h 2749537"/>
              <a:gd name="connsiteX2" fmla="*/ 5849413 w 11698827"/>
              <a:gd name="connsiteY2" fmla="*/ 366730 h 2749537"/>
              <a:gd name="connsiteX3" fmla="*/ 11580937 w 11698827"/>
              <a:gd name="connsiteY3" fmla="*/ 17247 h 2749537"/>
              <a:gd name="connsiteX4" fmla="*/ 11698827 w 11698827"/>
              <a:gd name="connsiteY4" fmla="*/ 0 h 2749537"/>
              <a:gd name="connsiteX5" fmla="*/ 11698827 w 11698827"/>
              <a:gd name="connsiteY5" fmla="*/ 2749537 h 2749537"/>
              <a:gd name="connsiteX6" fmla="*/ 0 w 11698827"/>
              <a:gd name="connsiteY6" fmla="*/ 2749537 h 27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8827" h="2749537">
                <a:moveTo>
                  <a:pt x="0" y="0"/>
                </a:moveTo>
                <a:lnTo>
                  <a:pt x="117889" y="17247"/>
                </a:lnTo>
                <a:cubicBezTo>
                  <a:pt x="1821660" y="240128"/>
                  <a:pt x="3774141" y="366730"/>
                  <a:pt x="5849413" y="366730"/>
                </a:cubicBezTo>
                <a:cubicBezTo>
                  <a:pt x="7924686" y="366730"/>
                  <a:pt x="9877167" y="240128"/>
                  <a:pt x="11580937" y="17247"/>
                </a:cubicBezTo>
                <a:lnTo>
                  <a:pt x="11698827" y="0"/>
                </a:lnTo>
                <a:lnTo>
                  <a:pt x="11698827" y="2749537"/>
                </a:lnTo>
                <a:lnTo>
                  <a:pt x="0" y="2749537"/>
                </a:lnTo>
                <a:close/>
              </a:path>
            </a:pathLst>
          </a:custGeom>
          <a:solidFill>
            <a:schemeClr val="bg1"/>
          </a:solidFill>
          <a:ln w="12700" cap="rnd">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74" name="组合 173"/>
          <p:cNvGrpSpPr/>
          <p:nvPr/>
        </p:nvGrpSpPr>
        <p:grpSpPr>
          <a:xfrm>
            <a:off x="571973" y="4322954"/>
            <a:ext cx="2471199" cy="2124559"/>
            <a:chOff x="571973" y="4467506"/>
            <a:chExt cx="2471199" cy="1995665"/>
          </a:xfrm>
        </p:grpSpPr>
        <p:grpSp>
          <p:nvGrpSpPr>
            <p:cNvPr id="170" name="组合 169"/>
            <p:cNvGrpSpPr/>
            <p:nvPr/>
          </p:nvGrpSpPr>
          <p:grpSpPr>
            <a:xfrm>
              <a:off x="571973" y="4467506"/>
              <a:ext cx="2471199" cy="1995665"/>
              <a:chOff x="649824" y="4538832"/>
              <a:chExt cx="2471199" cy="1995665"/>
            </a:xfrm>
          </p:grpSpPr>
          <p:sp>
            <p:nvSpPr>
              <p:cNvPr id="161" name="任意多边形: 形状 160"/>
              <p:cNvSpPr/>
              <p:nvPr/>
            </p:nvSpPr>
            <p:spPr>
              <a:xfrm rot="16200000">
                <a:off x="77706" y="5330832"/>
                <a:ext cx="158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6" name="任意多边形: 形状 165"/>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9" name="箭头: 五边形 168"/>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拥有严格标准</a:t>
                </a:r>
              </a:p>
            </p:txBody>
          </p:sp>
        </p:grpSp>
        <p:sp>
          <p:nvSpPr>
            <p:cNvPr id="173" name="文本框 172"/>
            <p:cNvSpPr txBox="1"/>
            <p:nvPr/>
          </p:nvSpPr>
          <p:spPr>
            <a:xfrm>
              <a:off x="886870" y="4742043"/>
              <a:ext cx="2156301" cy="1117448"/>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对保健品的生产与管理，部分国家在政府、行业、企业等层面上生产与管理，有相对完善和及时的标准，国内此方面相对滞后。</a:t>
              </a:r>
            </a:p>
          </p:txBody>
        </p:sp>
      </p:grpSp>
      <p:grpSp>
        <p:nvGrpSpPr>
          <p:cNvPr id="175" name="组合 174"/>
          <p:cNvGrpSpPr/>
          <p:nvPr/>
        </p:nvGrpSpPr>
        <p:grpSpPr>
          <a:xfrm>
            <a:off x="3376829" y="4514580"/>
            <a:ext cx="2471199" cy="1932933"/>
            <a:chOff x="571973" y="4647506"/>
            <a:chExt cx="2471199" cy="1815665"/>
          </a:xfrm>
        </p:grpSpPr>
        <p:grpSp>
          <p:nvGrpSpPr>
            <p:cNvPr id="176" name="组合 175"/>
            <p:cNvGrpSpPr/>
            <p:nvPr/>
          </p:nvGrpSpPr>
          <p:grpSpPr>
            <a:xfrm>
              <a:off x="571973" y="4647506"/>
              <a:ext cx="2471199" cy="1815665"/>
              <a:chOff x="649824" y="4718832"/>
              <a:chExt cx="2471199" cy="1815665"/>
            </a:xfrm>
          </p:grpSpPr>
          <p:sp>
            <p:nvSpPr>
              <p:cNvPr id="178" name="任意多边形: 形状 177"/>
              <p:cNvSpPr/>
              <p:nvPr/>
            </p:nvSpPr>
            <p:spPr>
              <a:xfrm rot="16200000">
                <a:off x="167706" y="5420832"/>
                <a:ext cx="140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9" name="任意多边形: 形状 178"/>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0" name="箭头: 五边形 179"/>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功能性把关</a:t>
                </a:r>
              </a:p>
            </p:txBody>
          </p:sp>
        </p:grpSp>
        <p:sp>
          <p:nvSpPr>
            <p:cNvPr id="177" name="文本框 176"/>
            <p:cNvSpPr txBox="1"/>
            <p:nvPr/>
          </p:nvSpPr>
          <p:spPr>
            <a:xfrm>
              <a:off x="886870" y="4742043"/>
              <a:ext cx="2156301" cy="111744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国外厂商会针对消费者众多的细分需求开发相应的产品，因此功能更加丰富，满足消费者但国内厂商通常会因为细分市场过小而谨慎进入。</a:t>
              </a:r>
            </a:p>
          </p:txBody>
        </p:sp>
      </p:grpSp>
      <p:grpSp>
        <p:nvGrpSpPr>
          <p:cNvPr id="181" name="组合 180"/>
          <p:cNvGrpSpPr/>
          <p:nvPr/>
        </p:nvGrpSpPr>
        <p:grpSpPr>
          <a:xfrm>
            <a:off x="6181685" y="4514580"/>
            <a:ext cx="2471199" cy="1932933"/>
            <a:chOff x="571973" y="4647506"/>
            <a:chExt cx="2471199" cy="1815665"/>
          </a:xfrm>
        </p:grpSpPr>
        <p:grpSp>
          <p:nvGrpSpPr>
            <p:cNvPr id="182" name="组合 181"/>
            <p:cNvGrpSpPr/>
            <p:nvPr/>
          </p:nvGrpSpPr>
          <p:grpSpPr>
            <a:xfrm>
              <a:off x="571973" y="4647506"/>
              <a:ext cx="2471199" cy="1815665"/>
              <a:chOff x="649824" y="4718832"/>
              <a:chExt cx="2471199" cy="1815665"/>
            </a:xfrm>
          </p:grpSpPr>
          <p:sp>
            <p:nvSpPr>
              <p:cNvPr id="184" name="任意多边形: 形状 183"/>
              <p:cNvSpPr/>
              <p:nvPr/>
            </p:nvSpPr>
            <p:spPr>
              <a:xfrm rot="16200000">
                <a:off x="167706" y="5420832"/>
                <a:ext cx="140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5" name="任意多边形: 形状 184"/>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6" name="箭头: 五边形 185"/>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新成分使用</a:t>
                </a:r>
              </a:p>
            </p:txBody>
          </p:sp>
        </p:grpSp>
        <p:sp>
          <p:nvSpPr>
            <p:cNvPr id="183" name="文本框 182"/>
            <p:cNvSpPr txBox="1"/>
            <p:nvPr/>
          </p:nvSpPr>
          <p:spPr>
            <a:xfrm>
              <a:off x="886870" y="4742043"/>
              <a:ext cx="2156301" cy="111744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对于创新型的成分研发成果，国外厂商往往会乐于承担风险进行试验并投入市场，国内对新成分的使用通常较为落后。</a:t>
              </a:r>
            </a:p>
          </p:txBody>
        </p:sp>
      </p:grpSp>
      <p:grpSp>
        <p:nvGrpSpPr>
          <p:cNvPr id="187" name="组合 186"/>
          <p:cNvGrpSpPr/>
          <p:nvPr/>
        </p:nvGrpSpPr>
        <p:grpSpPr>
          <a:xfrm>
            <a:off x="8986542" y="4322954"/>
            <a:ext cx="2471199" cy="2124559"/>
            <a:chOff x="571973" y="4467506"/>
            <a:chExt cx="2471199" cy="1995665"/>
          </a:xfrm>
        </p:grpSpPr>
        <p:grpSp>
          <p:nvGrpSpPr>
            <p:cNvPr id="188" name="组合 187"/>
            <p:cNvGrpSpPr/>
            <p:nvPr/>
          </p:nvGrpSpPr>
          <p:grpSpPr>
            <a:xfrm>
              <a:off x="571973" y="4467506"/>
              <a:ext cx="2471199" cy="1995665"/>
              <a:chOff x="649824" y="4538832"/>
              <a:chExt cx="2471199" cy="1995665"/>
            </a:xfrm>
          </p:grpSpPr>
          <p:sp>
            <p:nvSpPr>
              <p:cNvPr id="190" name="任意多边形: 形状 189"/>
              <p:cNvSpPr/>
              <p:nvPr/>
            </p:nvSpPr>
            <p:spPr>
              <a:xfrm rot="16200000">
                <a:off x="77706" y="5330832"/>
                <a:ext cx="158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任意多边形: 形状 190"/>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92" name="箭头: 五边形 191"/>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种类品牌聚集</a:t>
                </a:r>
              </a:p>
            </p:txBody>
          </p:sp>
        </p:grpSp>
        <p:sp>
          <p:nvSpPr>
            <p:cNvPr id="189" name="文本框 188"/>
            <p:cNvSpPr txBox="1"/>
            <p:nvPr/>
          </p:nvSpPr>
          <p:spPr>
            <a:xfrm>
              <a:off x="886870" y="4742043"/>
              <a:ext cx="2156301" cy="1117448"/>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不同国家有不同的品牌，并对细分需求细分市场有不同的重视程度，因此呈现出产品的明显差异化，不同国家间产品的替代性有限。</a:t>
              </a:r>
            </a:p>
          </p:txBody>
        </p:sp>
      </p:grpSp>
      <p:sp>
        <p:nvSpPr>
          <p:cNvPr id="56" name="矩形: 圆角 55"/>
          <p:cNvSpPr/>
          <p:nvPr/>
        </p:nvSpPr>
        <p:spPr>
          <a:xfrm>
            <a:off x="4280898" y="3466105"/>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健康人群</a:t>
            </a:r>
          </a:p>
        </p:txBody>
      </p:sp>
      <p:sp>
        <p:nvSpPr>
          <p:cNvPr id="58" name="箭头: 左右 57"/>
          <p:cNvSpPr/>
          <p:nvPr/>
        </p:nvSpPr>
        <p:spPr>
          <a:xfrm>
            <a:off x="4407728" y="1637531"/>
            <a:ext cx="3376545" cy="978346"/>
          </a:xfrm>
          <a:prstGeom prst="leftRightArrow">
            <a:avLst>
              <a:gd name="adj1" fmla="val 69382"/>
              <a:gd name="adj2" fmla="val 70593"/>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2" name="文本框 61"/>
          <p:cNvSpPr txBox="1"/>
          <p:nvPr/>
        </p:nvSpPr>
        <p:spPr>
          <a:xfrm>
            <a:off x="5153236" y="1814338"/>
            <a:ext cx="1739123"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跨境商品</a:t>
            </a:r>
            <a:endParaRPr kumimoji="0" lang="en-US" altLang="zh-CN" sz="16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消费驱动力</a:t>
            </a:r>
          </a:p>
        </p:txBody>
      </p:sp>
      <p:sp>
        <p:nvSpPr>
          <p:cNvPr id="5" name="文本框 4"/>
          <p:cNvSpPr txBox="1"/>
          <p:nvPr/>
        </p:nvSpPr>
        <p:spPr>
          <a:xfrm>
            <a:off x="1972816" y="2247395"/>
            <a:ext cx="22657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1C4273"/>
                </a:solidFill>
                <a:effectLst/>
                <a:uLnTx/>
                <a:uFillTx/>
                <a:cs typeface="+mn-ea"/>
                <a:sym typeface="+mn-lt"/>
              </a:rPr>
              <a:t>不同人群</a:t>
            </a:r>
          </a:p>
        </p:txBody>
      </p:sp>
      <p:sp>
        <p:nvSpPr>
          <p:cNvPr id="24" name="文本框 23"/>
          <p:cNvSpPr txBox="1"/>
          <p:nvPr/>
        </p:nvSpPr>
        <p:spPr>
          <a:xfrm>
            <a:off x="7717198" y="2247395"/>
            <a:ext cx="22657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9D3728"/>
                </a:solidFill>
                <a:effectLst/>
                <a:uLnTx/>
                <a:uFillTx/>
                <a:cs typeface="+mn-ea"/>
                <a:sym typeface="+mn-lt"/>
              </a:rPr>
              <a:t>不同关注点</a:t>
            </a: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循环结构：业务循环链条</a:t>
            </a:r>
          </a:p>
        </p:txBody>
      </p:sp>
      <p:sp>
        <p:nvSpPr>
          <p:cNvPr id="12" name="矩形: 圆角 11"/>
          <p:cNvSpPr/>
          <p:nvPr/>
        </p:nvSpPr>
        <p:spPr>
          <a:xfrm flipH="1">
            <a:off x="2824409" y="2439853"/>
            <a:ext cx="6543180" cy="2688011"/>
          </a:xfrm>
          <a:prstGeom prst="roundRect">
            <a:avLst>
              <a:gd name="adj" fmla="val 50000"/>
            </a:avLst>
          </a:prstGeom>
          <a:solidFill>
            <a:schemeClr val="accent2">
              <a:lumMod val="20000"/>
              <a:lumOff val="80000"/>
              <a:alpha val="32000"/>
            </a:schemeClr>
          </a:solidFill>
          <a:ln>
            <a:solidFill>
              <a:schemeClr val="accent1">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prstClr val="black">
                  <a:lumMod val="65000"/>
                  <a:lumOff val="35000"/>
                </a:prstClr>
              </a:solidFill>
              <a:effectLst/>
              <a:uLnTx/>
              <a:uFillTx/>
              <a:cs typeface="+mn-ea"/>
              <a:sym typeface="+mn-lt"/>
            </a:endParaRPr>
          </a:p>
        </p:txBody>
      </p:sp>
      <p:sp>
        <p:nvSpPr>
          <p:cNvPr id="9" name="矩形: 圆角 8"/>
          <p:cNvSpPr/>
          <p:nvPr/>
        </p:nvSpPr>
        <p:spPr>
          <a:xfrm flipH="1">
            <a:off x="3467288" y="3078348"/>
            <a:ext cx="5257421" cy="1389743"/>
          </a:xfrm>
          <a:prstGeom prst="roundRect">
            <a:avLst>
              <a:gd name="adj" fmla="val 50000"/>
            </a:avLst>
          </a:prstGeom>
          <a:solidFill>
            <a:schemeClr val="accent4">
              <a:lumMod val="75000"/>
            </a:schemeClr>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prstClr val="black">
                  <a:lumMod val="65000"/>
                  <a:lumOff val="35000"/>
                </a:prstClr>
              </a:solidFill>
              <a:effectLst/>
              <a:uLnTx/>
              <a:uFillTx/>
              <a:cs typeface="+mn-ea"/>
              <a:sym typeface="+mn-lt"/>
            </a:endParaRPr>
          </a:p>
        </p:txBody>
      </p:sp>
      <p:sp>
        <p:nvSpPr>
          <p:cNvPr id="52" name="任意多边形: 形状 51"/>
          <p:cNvSpPr/>
          <p:nvPr/>
        </p:nvSpPr>
        <p:spPr>
          <a:xfrm rot="16200000">
            <a:off x="3943465" y="1565173"/>
            <a:ext cx="2451458" cy="4305850"/>
          </a:xfrm>
          <a:custGeom>
            <a:avLst/>
            <a:gdLst>
              <a:gd name="connsiteX0" fmla="*/ 2341261 w 2341261"/>
              <a:gd name="connsiteY0" fmla="*/ 1579647 h 4112295"/>
              <a:gd name="connsiteX1" fmla="*/ 2086181 w 2341261"/>
              <a:gd name="connsiteY1" fmla="*/ 1992528 h 4112295"/>
              <a:gd name="connsiteX2" fmla="*/ 1831100 w 2341261"/>
              <a:gd name="connsiteY2" fmla="*/ 1579647 h 4112295"/>
              <a:gd name="connsiteX3" fmla="*/ 1950949 w 2341261"/>
              <a:gd name="connsiteY3" fmla="*/ 1579647 h 4112295"/>
              <a:gd name="connsiteX4" fmla="*/ 1950949 w 2341261"/>
              <a:gd name="connsiteY4" fmla="*/ 1110706 h 4112295"/>
              <a:gd name="connsiteX5" fmla="*/ 1110706 w 2341261"/>
              <a:gd name="connsiteY5" fmla="*/ 270463 h 4112295"/>
              <a:gd name="connsiteX6" fmla="*/ 1110706 w 2341261"/>
              <a:gd name="connsiteY6" fmla="*/ 270462 h 4112295"/>
              <a:gd name="connsiteX7" fmla="*/ 270463 w 2341261"/>
              <a:gd name="connsiteY7" fmla="*/ 1110705 h 4112295"/>
              <a:gd name="connsiteX8" fmla="*/ 270462 w 2341261"/>
              <a:gd name="connsiteY8" fmla="*/ 4112295 h 4112295"/>
              <a:gd name="connsiteX9" fmla="*/ 133159 w 2341261"/>
              <a:gd name="connsiteY9" fmla="*/ 3890052 h 4112295"/>
              <a:gd name="connsiteX10" fmla="*/ 0 w 2341261"/>
              <a:gd name="connsiteY10" fmla="*/ 4105587 h 4112295"/>
              <a:gd name="connsiteX11" fmla="*/ 0 w 2341261"/>
              <a:gd name="connsiteY11" fmla="*/ 1110706 h 4112295"/>
              <a:gd name="connsiteX12" fmla="*/ 1110706 w 2341261"/>
              <a:gd name="connsiteY12" fmla="*/ 0 h 4112295"/>
              <a:gd name="connsiteX13" fmla="*/ 2221412 w 2341261"/>
              <a:gd name="connsiteY13" fmla="*/ 1110706 h 4112295"/>
              <a:gd name="connsiteX14" fmla="*/ 2221412 w 2341261"/>
              <a:gd name="connsiteY14" fmla="*/ 1579647 h 411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41261" h="4112295">
                <a:moveTo>
                  <a:pt x="2341261" y="1579647"/>
                </a:moveTo>
                <a:lnTo>
                  <a:pt x="2086181" y="1992528"/>
                </a:lnTo>
                <a:lnTo>
                  <a:pt x="1831100" y="1579647"/>
                </a:lnTo>
                <a:lnTo>
                  <a:pt x="1950949" y="1579647"/>
                </a:lnTo>
                <a:lnTo>
                  <a:pt x="1950949" y="1110706"/>
                </a:lnTo>
                <a:cubicBezTo>
                  <a:pt x="1950949" y="646653"/>
                  <a:pt x="1574759" y="270463"/>
                  <a:pt x="1110706" y="270463"/>
                </a:cubicBezTo>
                <a:lnTo>
                  <a:pt x="1110706" y="270462"/>
                </a:lnTo>
                <a:cubicBezTo>
                  <a:pt x="646653" y="270462"/>
                  <a:pt x="270463" y="646652"/>
                  <a:pt x="270463" y="1110705"/>
                </a:cubicBezTo>
                <a:lnTo>
                  <a:pt x="270462" y="4112295"/>
                </a:lnTo>
                <a:lnTo>
                  <a:pt x="133159" y="3890052"/>
                </a:lnTo>
                <a:lnTo>
                  <a:pt x="0" y="4105587"/>
                </a:lnTo>
                <a:lnTo>
                  <a:pt x="0" y="1110706"/>
                </a:lnTo>
                <a:cubicBezTo>
                  <a:pt x="0" y="497280"/>
                  <a:pt x="497280" y="0"/>
                  <a:pt x="1110706" y="0"/>
                </a:cubicBezTo>
                <a:cubicBezTo>
                  <a:pt x="1724132" y="0"/>
                  <a:pt x="2221412" y="497280"/>
                  <a:pt x="2221412" y="1110706"/>
                </a:cubicBezTo>
                <a:lnTo>
                  <a:pt x="2221412" y="15796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 name="矩形: 圆角 13"/>
          <p:cNvSpPr/>
          <p:nvPr/>
        </p:nvSpPr>
        <p:spPr>
          <a:xfrm>
            <a:off x="2870099"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合作品牌</a:t>
            </a:r>
          </a:p>
        </p:txBody>
      </p:sp>
      <p:sp>
        <p:nvSpPr>
          <p:cNvPr id="15" name="文本框 14"/>
          <p:cNvSpPr txBox="1"/>
          <p:nvPr/>
        </p:nvSpPr>
        <p:spPr>
          <a:xfrm>
            <a:off x="2285582"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行业大品牌的供应商，大型国际国内活动的供应商</a:t>
            </a:r>
          </a:p>
        </p:txBody>
      </p:sp>
      <p:sp>
        <p:nvSpPr>
          <p:cNvPr id="17" name="矩形: 圆角 16"/>
          <p:cNvSpPr/>
          <p:nvPr/>
        </p:nvSpPr>
        <p:spPr>
          <a:xfrm>
            <a:off x="5498658"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品质控制</a:t>
            </a:r>
          </a:p>
        </p:txBody>
      </p:sp>
      <p:sp>
        <p:nvSpPr>
          <p:cNvPr id="18" name="文本框 17"/>
          <p:cNvSpPr txBox="1"/>
          <p:nvPr/>
        </p:nvSpPr>
        <p:spPr>
          <a:xfrm>
            <a:off x="4914141"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行业高标准的质量管理体系，把关步骤严格</a:t>
            </a:r>
          </a:p>
        </p:txBody>
      </p:sp>
      <p:sp>
        <p:nvSpPr>
          <p:cNvPr id="20" name="矩形: 圆角 19"/>
          <p:cNvSpPr/>
          <p:nvPr/>
        </p:nvSpPr>
        <p:spPr>
          <a:xfrm>
            <a:off x="8127218"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品牌效应</a:t>
            </a:r>
          </a:p>
        </p:txBody>
      </p:sp>
      <p:sp>
        <p:nvSpPr>
          <p:cNvPr id="21" name="文本框 20"/>
          <p:cNvSpPr txBox="1"/>
          <p:nvPr/>
        </p:nvSpPr>
        <p:spPr>
          <a:xfrm>
            <a:off x="7542701"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各种正式的榜单荣誉，各种政府部门授予的资质</a:t>
            </a:r>
          </a:p>
        </p:txBody>
      </p:sp>
      <p:sp>
        <p:nvSpPr>
          <p:cNvPr id="23" name="矩形: 圆角 22"/>
          <p:cNvSpPr/>
          <p:nvPr/>
        </p:nvSpPr>
        <p:spPr>
          <a:xfrm>
            <a:off x="9830490" y="255637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企业资质</a:t>
            </a:r>
          </a:p>
        </p:txBody>
      </p:sp>
      <p:sp>
        <p:nvSpPr>
          <p:cNvPr id="24" name="文本框 23"/>
          <p:cNvSpPr txBox="1"/>
          <p:nvPr/>
        </p:nvSpPr>
        <p:spPr>
          <a:xfrm>
            <a:off x="9245973" y="2946522"/>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广告投播情况、媒体合作情况、宣传推广情况</a:t>
            </a:r>
          </a:p>
        </p:txBody>
      </p:sp>
      <p:sp>
        <p:nvSpPr>
          <p:cNvPr id="26" name="矩形: 圆角 25"/>
          <p:cNvSpPr/>
          <p:nvPr/>
        </p:nvSpPr>
        <p:spPr>
          <a:xfrm>
            <a:off x="9830490" y="409489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项目复盘</a:t>
            </a:r>
          </a:p>
        </p:txBody>
      </p:sp>
      <p:sp>
        <p:nvSpPr>
          <p:cNvPr id="27" name="文本框 26"/>
          <p:cNvSpPr txBox="1"/>
          <p:nvPr/>
        </p:nvSpPr>
        <p:spPr>
          <a:xfrm>
            <a:off x="9245973" y="448504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提供用户满意度调查表，做好项目复盘</a:t>
            </a:r>
          </a:p>
        </p:txBody>
      </p:sp>
      <p:sp>
        <p:nvSpPr>
          <p:cNvPr id="29" name="矩形: 圆角 28"/>
          <p:cNvSpPr/>
          <p:nvPr/>
        </p:nvSpPr>
        <p:spPr>
          <a:xfrm>
            <a:off x="2870099"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按时交付</a:t>
            </a:r>
          </a:p>
        </p:txBody>
      </p:sp>
      <p:sp>
        <p:nvSpPr>
          <p:cNvPr id="30" name="文本框 29"/>
          <p:cNvSpPr txBox="1"/>
          <p:nvPr/>
        </p:nvSpPr>
        <p:spPr>
          <a:xfrm>
            <a:off x="2285582"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生产效率快，同时能调动多台生产机器等</a:t>
            </a:r>
          </a:p>
        </p:txBody>
      </p:sp>
      <p:sp>
        <p:nvSpPr>
          <p:cNvPr id="32" name="矩形: 圆角 31"/>
          <p:cNvSpPr/>
          <p:nvPr/>
        </p:nvSpPr>
        <p:spPr>
          <a:xfrm>
            <a:off x="5498658"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评估价值</a:t>
            </a:r>
          </a:p>
        </p:txBody>
      </p:sp>
      <p:sp>
        <p:nvSpPr>
          <p:cNvPr id="33" name="文本框 32"/>
          <p:cNvSpPr txBox="1"/>
          <p:nvPr/>
        </p:nvSpPr>
        <p:spPr>
          <a:xfrm>
            <a:off x="4914141"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使用周期更长，使用后更容易得到下游认可</a:t>
            </a:r>
          </a:p>
        </p:txBody>
      </p:sp>
      <p:sp>
        <p:nvSpPr>
          <p:cNvPr id="35" name="矩形: 圆角 34"/>
          <p:cNvSpPr/>
          <p:nvPr/>
        </p:nvSpPr>
        <p:spPr>
          <a:xfrm>
            <a:off x="8127218"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合理定价</a:t>
            </a:r>
          </a:p>
        </p:txBody>
      </p:sp>
      <p:sp>
        <p:nvSpPr>
          <p:cNvPr id="36" name="文本框 35"/>
          <p:cNvSpPr txBox="1"/>
          <p:nvPr/>
        </p:nvSpPr>
        <p:spPr>
          <a:xfrm>
            <a:off x="7542701"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具有规模化生产优势等客观原因，自带价格优势</a:t>
            </a:r>
          </a:p>
        </p:txBody>
      </p:sp>
      <p:sp>
        <p:nvSpPr>
          <p:cNvPr id="38" name="矩形: 圆角 37"/>
          <p:cNvSpPr/>
          <p:nvPr/>
        </p:nvSpPr>
        <p:spPr>
          <a:xfrm>
            <a:off x="1168979" y="255637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售后服务</a:t>
            </a:r>
          </a:p>
        </p:txBody>
      </p:sp>
      <p:sp>
        <p:nvSpPr>
          <p:cNvPr id="39" name="文本框 38"/>
          <p:cNvSpPr txBox="1"/>
          <p:nvPr/>
        </p:nvSpPr>
        <p:spPr>
          <a:xfrm>
            <a:off x="584462" y="2946522"/>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支持免费看样免费打样，支持售后上门服务</a:t>
            </a:r>
          </a:p>
        </p:txBody>
      </p:sp>
      <p:sp>
        <p:nvSpPr>
          <p:cNvPr id="41" name="矩形: 圆角 40"/>
          <p:cNvSpPr/>
          <p:nvPr/>
        </p:nvSpPr>
        <p:spPr>
          <a:xfrm>
            <a:off x="1168979" y="409489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门店经营</a:t>
            </a:r>
          </a:p>
        </p:txBody>
      </p:sp>
      <p:sp>
        <p:nvSpPr>
          <p:cNvPr id="42" name="文本框 41"/>
          <p:cNvSpPr txBox="1"/>
          <p:nvPr/>
        </p:nvSpPr>
        <p:spPr>
          <a:xfrm>
            <a:off x="584462" y="448504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及时更新产品到不同门店中，确保新品上市</a:t>
            </a:r>
          </a:p>
        </p:txBody>
      </p:sp>
      <p:grpSp>
        <p:nvGrpSpPr>
          <p:cNvPr id="174" name="组合 173"/>
          <p:cNvGrpSpPr/>
          <p:nvPr/>
        </p:nvGrpSpPr>
        <p:grpSpPr>
          <a:xfrm>
            <a:off x="-408122" y="929867"/>
            <a:ext cx="13008244" cy="5843753"/>
            <a:chOff x="-115749" y="947058"/>
            <a:chExt cx="12423501" cy="5581066"/>
          </a:xfrm>
        </p:grpSpPr>
        <p:sp>
          <p:nvSpPr>
            <p:cNvPr id="43" name="箭头: 手杖形 42"/>
            <p:cNvSpPr/>
            <p:nvPr/>
          </p:nvSpPr>
          <p:spPr>
            <a:xfrm rot="16200000">
              <a:off x="3711166" y="-2148624"/>
              <a:ext cx="5500903" cy="11692268"/>
            </a:xfrm>
            <a:prstGeom prst="uturnArrow">
              <a:avLst>
                <a:gd name="adj1" fmla="val 1142"/>
                <a:gd name="adj2" fmla="val 1780"/>
                <a:gd name="adj3" fmla="val 3947"/>
                <a:gd name="adj4" fmla="val 50000"/>
                <a:gd name="adj5" fmla="val 33581"/>
              </a:avLst>
            </a:prstGeom>
            <a:gradFill flip="none" rotWithShape="1">
              <a:gsLst>
                <a:gs pos="32000">
                  <a:schemeClr val="accent3"/>
                </a:gs>
                <a:gs pos="43000">
                  <a:schemeClr val="accent3">
                    <a:alpha val="30000"/>
                  </a:schemeClr>
                </a:gs>
                <a:gs pos="7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箭头: 手杖形 43"/>
            <p:cNvSpPr/>
            <p:nvPr/>
          </p:nvSpPr>
          <p:spPr>
            <a:xfrm rot="5400000">
              <a:off x="2979933" y="-2068461"/>
              <a:ext cx="5500903" cy="11692268"/>
            </a:xfrm>
            <a:prstGeom prst="uturnArrow">
              <a:avLst>
                <a:gd name="adj1" fmla="val 1142"/>
                <a:gd name="adj2" fmla="val 1780"/>
                <a:gd name="adj3" fmla="val 3947"/>
                <a:gd name="adj4" fmla="val 50000"/>
                <a:gd name="adj5" fmla="val 33581"/>
              </a:avLst>
            </a:prstGeom>
            <a:gradFill flip="none" rotWithShape="1">
              <a:gsLst>
                <a:gs pos="32000">
                  <a:schemeClr val="accent6"/>
                </a:gs>
                <a:gs pos="43000">
                  <a:schemeClr val="accent6">
                    <a:alpha val="30000"/>
                  </a:schemeClr>
                </a:gs>
                <a:gs pos="7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3" name="任意多边形: 形状 52"/>
          <p:cNvSpPr/>
          <p:nvPr/>
        </p:nvSpPr>
        <p:spPr>
          <a:xfrm rot="5400000">
            <a:off x="5855140" y="1692770"/>
            <a:ext cx="2451458" cy="4305850"/>
          </a:xfrm>
          <a:custGeom>
            <a:avLst/>
            <a:gdLst>
              <a:gd name="connsiteX0" fmla="*/ 2341261 w 2341261"/>
              <a:gd name="connsiteY0" fmla="*/ 1579647 h 4112295"/>
              <a:gd name="connsiteX1" fmla="*/ 2086181 w 2341261"/>
              <a:gd name="connsiteY1" fmla="*/ 1992528 h 4112295"/>
              <a:gd name="connsiteX2" fmla="*/ 1831100 w 2341261"/>
              <a:gd name="connsiteY2" fmla="*/ 1579647 h 4112295"/>
              <a:gd name="connsiteX3" fmla="*/ 1950949 w 2341261"/>
              <a:gd name="connsiteY3" fmla="*/ 1579647 h 4112295"/>
              <a:gd name="connsiteX4" fmla="*/ 1950949 w 2341261"/>
              <a:gd name="connsiteY4" fmla="*/ 1110706 h 4112295"/>
              <a:gd name="connsiteX5" fmla="*/ 1110706 w 2341261"/>
              <a:gd name="connsiteY5" fmla="*/ 270463 h 4112295"/>
              <a:gd name="connsiteX6" fmla="*/ 1110706 w 2341261"/>
              <a:gd name="connsiteY6" fmla="*/ 270462 h 4112295"/>
              <a:gd name="connsiteX7" fmla="*/ 270463 w 2341261"/>
              <a:gd name="connsiteY7" fmla="*/ 1110705 h 4112295"/>
              <a:gd name="connsiteX8" fmla="*/ 270462 w 2341261"/>
              <a:gd name="connsiteY8" fmla="*/ 4112295 h 4112295"/>
              <a:gd name="connsiteX9" fmla="*/ 133159 w 2341261"/>
              <a:gd name="connsiteY9" fmla="*/ 3890052 h 4112295"/>
              <a:gd name="connsiteX10" fmla="*/ 0 w 2341261"/>
              <a:gd name="connsiteY10" fmla="*/ 4105587 h 4112295"/>
              <a:gd name="connsiteX11" fmla="*/ 0 w 2341261"/>
              <a:gd name="connsiteY11" fmla="*/ 1110706 h 4112295"/>
              <a:gd name="connsiteX12" fmla="*/ 1110706 w 2341261"/>
              <a:gd name="connsiteY12" fmla="*/ 0 h 4112295"/>
              <a:gd name="connsiteX13" fmla="*/ 2221412 w 2341261"/>
              <a:gd name="connsiteY13" fmla="*/ 1110706 h 4112295"/>
              <a:gd name="connsiteX14" fmla="*/ 2221412 w 2341261"/>
              <a:gd name="connsiteY14" fmla="*/ 1579647 h 411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41261" h="4112295">
                <a:moveTo>
                  <a:pt x="2341261" y="1579647"/>
                </a:moveTo>
                <a:lnTo>
                  <a:pt x="2086181" y="1992528"/>
                </a:lnTo>
                <a:lnTo>
                  <a:pt x="1831100" y="1579647"/>
                </a:lnTo>
                <a:lnTo>
                  <a:pt x="1950949" y="1579647"/>
                </a:lnTo>
                <a:lnTo>
                  <a:pt x="1950949" y="1110706"/>
                </a:lnTo>
                <a:cubicBezTo>
                  <a:pt x="1950949" y="646653"/>
                  <a:pt x="1574759" y="270463"/>
                  <a:pt x="1110706" y="270463"/>
                </a:cubicBezTo>
                <a:lnTo>
                  <a:pt x="1110706" y="270462"/>
                </a:lnTo>
                <a:cubicBezTo>
                  <a:pt x="646653" y="270462"/>
                  <a:pt x="270463" y="646652"/>
                  <a:pt x="270463" y="1110705"/>
                </a:cubicBezTo>
                <a:lnTo>
                  <a:pt x="270462" y="4112295"/>
                </a:lnTo>
                <a:lnTo>
                  <a:pt x="133159" y="3890052"/>
                </a:lnTo>
                <a:lnTo>
                  <a:pt x="0" y="4105587"/>
                </a:lnTo>
                <a:lnTo>
                  <a:pt x="0" y="1110706"/>
                </a:lnTo>
                <a:cubicBezTo>
                  <a:pt x="0" y="497280"/>
                  <a:pt x="497280" y="0"/>
                  <a:pt x="1110706" y="0"/>
                </a:cubicBezTo>
                <a:cubicBezTo>
                  <a:pt x="1724132" y="0"/>
                  <a:pt x="2221412" y="497280"/>
                  <a:pt x="2221412" y="1110706"/>
                </a:cubicBezTo>
                <a:lnTo>
                  <a:pt x="2221412" y="157964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文本框 57"/>
          <p:cNvSpPr txBox="1"/>
          <p:nvPr/>
        </p:nvSpPr>
        <p:spPr>
          <a:xfrm>
            <a:off x="3544429" y="3718098"/>
            <a:ext cx="15979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技术整合</a:t>
            </a:r>
          </a:p>
        </p:txBody>
      </p:sp>
      <p:sp>
        <p:nvSpPr>
          <p:cNvPr id="59" name="文本框 58"/>
          <p:cNvSpPr txBox="1"/>
          <p:nvPr/>
        </p:nvSpPr>
        <p:spPr>
          <a:xfrm>
            <a:off x="5334286" y="3718098"/>
            <a:ext cx="153447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生态整合</a:t>
            </a:r>
          </a:p>
        </p:txBody>
      </p:sp>
      <p:sp>
        <p:nvSpPr>
          <p:cNvPr id="60" name="文本框 59"/>
          <p:cNvSpPr txBox="1"/>
          <p:nvPr/>
        </p:nvSpPr>
        <p:spPr>
          <a:xfrm>
            <a:off x="7070818" y="3718098"/>
            <a:ext cx="15979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数据整合</a:t>
            </a:r>
          </a:p>
        </p:txBody>
      </p:sp>
      <p:sp>
        <p:nvSpPr>
          <p:cNvPr id="54" name="箭头: V 形 53"/>
          <p:cNvSpPr/>
          <p:nvPr/>
        </p:nvSpPr>
        <p:spPr>
          <a:xfrm>
            <a:off x="5160993" y="3078348"/>
            <a:ext cx="162246" cy="1389743"/>
          </a:xfrm>
          <a:prstGeom prst="chevron">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1" name="箭头: V 形 60"/>
          <p:cNvSpPr/>
          <p:nvPr/>
        </p:nvSpPr>
        <p:spPr>
          <a:xfrm>
            <a:off x="6868758" y="3078348"/>
            <a:ext cx="162246" cy="1389743"/>
          </a:xfrm>
          <a:prstGeom prst="chevron">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3" name="任意多边形: 形状 62"/>
          <p:cNvSpPr/>
          <p:nvPr/>
        </p:nvSpPr>
        <p:spPr>
          <a:xfrm>
            <a:off x="1452888" y="175432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28" name="任意多边形: 形状 127"/>
          <p:cNvSpPr/>
          <p:nvPr/>
        </p:nvSpPr>
        <p:spPr>
          <a:xfrm flipH="1">
            <a:off x="9023444" y="175432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a:off x="4783591" y="1188765"/>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a:off x="7331890" y="1188765"/>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1" name="任意多边形: 形状 130"/>
          <p:cNvSpPr/>
          <p:nvPr/>
        </p:nvSpPr>
        <p:spPr>
          <a:xfrm>
            <a:off x="484885" y="3738678"/>
            <a:ext cx="2237281" cy="0"/>
          </a:xfrm>
          <a:custGeom>
            <a:avLst/>
            <a:gdLst>
              <a:gd name="connsiteX0" fmla="*/ 0 w 2136711"/>
              <a:gd name="connsiteY0" fmla="*/ 0 h 0"/>
              <a:gd name="connsiteX1" fmla="*/ 2136711 w 2136711"/>
              <a:gd name="connsiteY1" fmla="*/ 0 h 0"/>
            </a:gdLst>
            <a:ahLst/>
            <a:cxnLst>
              <a:cxn ang="0">
                <a:pos x="connsiteX0" y="connsiteY0"/>
              </a:cxn>
              <a:cxn ang="0">
                <a:pos x="connsiteX1" y="connsiteY1"/>
              </a:cxn>
            </a:cxnLst>
            <a:rect l="l" t="t" r="r" b="b"/>
            <a:pathLst>
              <a:path w="2136711">
                <a:moveTo>
                  <a:pt x="0" y="0"/>
                </a:moveTo>
                <a:lnTo>
                  <a:pt x="2136711" y="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4" name="任意多边形: 形状 133"/>
          <p:cNvSpPr/>
          <p:nvPr/>
        </p:nvSpPr>
        <p:spPr>
          <a:xfrm rot="10800000">
            <a:off x="9034082" y="489116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5" name="任意多边形: 形状 134"/>
          <p:cNvSpPr/>
          <p:nvPr/>
        </p:nvSpPr>
        <p:spPr>
          <a:xfrm rot="10800000" flipH="1">
            <a:off x="1452889" y="4891164"/>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6" name="任意多边形: 形状 135"/>
          <p:cNvSpPr/>
          <p:nvPr/>
        </p:nvSpPr>
        <p:spPr>
          <a:xfrm rot="10800000">
            <a:off x="7331891" y="5274786"/>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7" name="任意多边形: 形状 136"/>
          <p:cNvSpPr/>
          <p:nvPr/>
        </p:nvSpPr>
        <p:spPr>
          <a:xfrm rot="10800000">
            <a:off x="4783593" y="5274786"/>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9" name="任意多边形: 形状 138"/>
          <p:cNvSpPr/>
          <p:nvPr/>
        </p:nvSpPr>
        <p:spPr>
          <a:xfrm rot="10800000">
            <a:off x="9441645" y="3738679"/>
            <a:ext cx="2237281" cy="0"/>
          </a:xfrm>
          <a:custGeom>
            <a:avLst/>
            <a:gdLst>
              <a:gd name="connsiteX0" fmla="*/ 0 w 2136711"/>
              <a:gd name="connsiteY0" fmla="*/ 0 h 0"/>
              <a:gd name="connsiteX1" fmla="*/ 2136711 w 2136711"/>
              <a:gd name="connsiteY1" fmla="*/ 0 h 0"/>
            </a:gdLst>
            <a:ahLst/>
            <a:cxnLst>
              <a:cxn ang="0">
                <a:pos x="connsiteX0" y="connsiteY0"/>
              </a:cxn>
              <a:cxn ang="0">
                <a:pos x="connsiteX1" y="connsiteY1"/>
              </a:cxn>
            </a:cxnLst>
            <a:rect l="l" t="t" r="r" b="b"/>
            <a:pathLst>
              <a:path w="2136711">
                <a:moveTo>
                  <a:pt x="0" y="0"/>
                </a:moveTo>
                <a:lnTo>
                  <a:pt x="2136711" y="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41" name="图形 258"/>
          <p:cNvSpPr>
            <a:spLocks noChangeAspect="1"/>
          </p:cNvSpPr>
          <p:nvPr/>
        </p:nvSpPr>
        <p:spPr>
          <a:xfrm>
            <a:off x="4171182" y="3328865"/>
            <a:ext cx="430337" cy="362834"/>
          </a:xfrm>
          <a:custGeom>
            <a:avLst/>
            <a:gdLst>
              <a:gd name="connsiteX0" fmla="*/ 997439 w 1219200"/>
              <a:gd name="connsiteY0" fmla="*/ 549916 h 1027954"/>
              <a:gd name="connsiteX1" fmla="*/ 817450 w 1219200"/>
              <a:gd name="connsiteY1" fmla="*/ 627511 h 1027954"/>
              <a:gd name="connsiteX2" fmla="*/ 800129 w 1219200"/>
              <a:gd name="connsiteY2" fmla="*/ 634569 h 1027954"/>
              <a:gd name="connsiteX3" fmla="*/ 792347 w 1219200"/>
              <a:gd name="connsiteY3" fmla="*/ 652434 h 1027954"/>
              <a:gd name="connsiteX4" fmla="*/ 792347 w 1219200"/>
              <a:gd name="connsiteY4" fmla="*/ 656782 h 1027954"/>
              <a:gd name="connsiteX5" fmla="*/ 741083 w 1219200"/>
              <a:gd name="connsiteY5" fmla="*/ 812801 h 1027954"/>
              <a:gd name="connsiteX6" fmla="*/ 852802 w 1219200"/>
              <a:gd name="connsiteY6" fmla="*/ 1027947 h 1027954"/>
              <a:gd name="connsiteX7" fmla="*/ 25844 w 1219200"/>
              <a:gd name="connsiteY7" fmla="*/ 1027947 h 1027954"/>
              <a:gd name="connsiteX8" fmla="*/ 7781 w 1219200"/>
              <a:gd name="connsiteY8" fmla="*/ 1020894 h 1027954"/>
              <a:gd name="connsiteX9" fmla="*/ 0 w 1219200"/>
              <a:gd name="connsiteY9" fmla="*/ 1003025 h 1027954"/>
              <a:gd name="connsiteX10" fmla="*/ 0 w 1219200"/>
              <a:gd name="connsiteY10" fmla="*/ 902779 h 1027954"/>
              <a:gd name="connsiteX11" fmla="*/ 7791 w 1219200"/>
              <a:gd name="connsiteY11" fmla="*/ 884891 h 1027954"/>
              <a:gd name="connsiteX12" fmla="*/ 25878 w 1219200"/>
              <a:gd name="connsiteY12" fmla="*/ 877852 h 1027954"/>
              <a:gd name="connsiteX13" fmla="*/ 102305 w 1219200"/>
              <a:gd name="connsiteY13" fmla="*/ 877852 h 1027954"/>
              <a:gd name="connsiteX14" fmla="*/ 102305 w 1219200"/>
              <a:gd name="connsiteY14" fmla="*/ 75331 h 1027954"/>
              <a:gd name="connsiteX15" fmla="*/ 179285 w 1219200"/>
              <a:gd name="connsiteY15" fmla="*/ 6 h 1027954"/>
              <a:gd name="connsiteX16" fmla="*/ 690629 w 1219200"/>
              <a:gd name="connsiteY16" fmla="*/ 6 h 1027954"/>
              <a:gd name="connsiteX17" fmla="*/ 741764 w 1219200"/>
              <a:gd name="connsiteY17" fmla="*/ 75331 h 1027954"/>
              <a:gd name="connsiteX18" fmla="*/ 741764 w 1219200"/>
              <a:gd name="connsiteY18" fmla="*/ 225979 h 1027954"/>
              <a:gd name="connsiteX19" fmla="*/ 946304 w 1219200"/>
              <a:gd name="connsiteY19" fmla="*/ 225979 h 1027954"/>
              <a:gd name="connsiteX20" fmla="*/ 997439 w 1219200"/>
              <a:gd name="connsiteY20" fmla="*/ 276322 h 1027954"/>
              <a:gd name="connsiteX21" fmla="*/ 997439 w 1219200"/>
              <a:gd name="connsiteY21" fmla="*/ 549916 h 1027954"/>
              <a:gd name="connsiteX22" fmla="*/ 383818 w 1219200"/>
              <a:gd name="connsiteY22" fmla="*/ 778159 h 1027954"/>
              <a:gd name="connsiteX23" fmla="*/ 383818 w 1219200"/>
              <a:gd name="connsiteY23" fmla="*/ 727762 h 1027954"/>
              <a:gd name="connsiteX24" fmla="*/ 332686 w 1219200"/>
              <a:gd name="connsiteY24" fmla="*/ 677360 h 1027954"/>
              <a:gd name="connsiteX25" fmla="*/ 281551 w 1219200"/>
              <a:gd name="connsiteY25" fmla="*/ 677360 h 1027954"/>
              <a:gd name="connsiteX26" fmla="*/ 230417 w 1219200"/>
              <a:gd name="connsiteY26" fmla="*/ 727762 h 1027954"/>
              <a:gd name="connsiteX27" fmla="*/ 230417 w 1219200"/>
              <a:gd name="connsiteY27" fmla="*/ 778159 h 1027954"/>
              <a:gd name="connsiteX28" fmla="*/ 281551 w 1219200"/>
              <a:gd name="connsiteY28" fmla="*/ 828560 h 1027954"/>
              <a:gd name="connsiteX29" fmla="*/ 332686 w 1219200"/>
              <a:gd name="connsiteY29" fmla="*/ 828560 h 1027954"/>
              <a:gd name="connsiteX30" fmla="*/ 383818 w 1219200"/>
              <a:gd name="connsiteY30" fmla="*/ 778159 h 1027954"/>
              <a:gd name="connsiteX31" fmla="*/ 383818 w 1219200"/>
              <a:gd name="connsiteY31" fmla="*/ 527266 h 1027954"/>
              <a:gd name="connsiteX32" fmla="*/ 383818 w 1219200"/>
              <a:gd name="connsiteY32" fmla="*/ 476869 h 1027954"/>
              <a:gd name="connsiteX33" fmla="*/ 332686 w 1219200"/>
              <a:gd name="connsiteY33" fmla="*/ 426472 h 1027954"/>
              <a:gd name="connsiteX34" fmla="*/ 281551 w 1219200"/>
              <a:gd name="connsiteY34" fmla="*/ 426472 h 1027954"/>
              <a:gd name="connsiteX35" fmla="*/ 230417 w 1219200"/>
              <a:gd name="connsiteY35" fmla="*/ 476869 h 1027954"/>
              <a:gd name="connsiteX36" fmla="*/ 230417 w 1219200"/>
              <a:gd name="connsiteY36" fmla="*/ 527266 h 1027954"/>
              <a:gd name="connsiteX37" fmla="*/ 281551 w 1219200"/>
              <a:gd name="connsiteY37" fmla="*/ 577667 h 1027954"/>
              <a:gd name="connsiteX38" fmla="*/ 332686 w 1219200"/>
              <a:gd name="connsiteY38" fmla="*/ 577667 h 1027954"/>
              <a:gd name="connsiteX39" fmla="*/ 383818 w 1219200"/>
              <a:gd name="connsiteY39" fmla="*/ 527266 h 1027954"/>
              <a:gd name="connsiteX40" fmla="*/ 383818 w 1219200"/>
              <a:gd name="connsiteY40" fmla="*/ 276377 h 1027954"/>
              <a:gd name="connsiteX41" fmla="*/ 383818 w 1219200"/>
              <a:gd name="connsiteY41" fmla="*/ 225979 h 1027954"/>
              <a:gd name="connsiteX42" fmla="*/ 332686 w 1219200"/>
              <a:gd name="connsiteY42" fmla="*/ 175581 h 1027954"/>
              <a:gd name="connsiteX43" fmla="*/ 281551 w 1219200"/>
              <a:gd name="connsiteY43" fmla="*/ 175581 h 1027954"/>
              <a:gd name="connsiteX44" fmla="*/ 230417 w 1219200"/>
              <a:gd name="connsiteY44" fmla="*/ 225979 h 1027954"/>
              <a:gd name="connsiteX45" fmla="*/ 230417 w 1219200"/>
              <a:gd name="connsiteY45" fmla="*/ 276377 h 1027954"/>
              <a:gd name="connsiteX46" fmla="*/ 281551 w 1219200"/>
              <a:gd name="connsiteY46" fmla="*/ 326776 h 1027954"/>
              <a:gd name="connsiteX47" fmla="*/ 332686 w 1219200"/>
              <a:gd name="connsiteY47" fmla="*/ 326776 h 1027954"/>
              <a:gd name="connsiteX48" fmla="*/ 383818 w 1219200"/>
              <a:gd name="connsiteY48" fmla="*/ 276377 h 1027954"/>
              <a:gd name="connsiteX49" fmla="*/ 613686 w 1219200"/>
              <a:gd name="connsiteY49" fmla="*/ 778159 h 1027954"/>
              <a:gd name="connsiteX50" fmla="*/ 613686 w 1219200"/>
              <a:gd name="connsiteY50" fmla="*/ 727762 h 1027954"/>
              <a:gd name="connsiteX51" fmla="*/ 562518 w 1219200"/>
              <a:gd name="connsiteY51" fmla="*/ 677360 h 1027954"/>
              <a:gd name="connsiteX52" fmla="*/ 511383 w 1219200"/>
              <a:gd name="connsiteY52" fmla="*/ 677360 h 1027954"/>
              <a:gd name="connsiteX53" fmla="*/ 460246 w 1219200"/>
              <a:gd name="connsiteY53" fmla="*/ 727762 h 1027954"/>
              <a:gd name="connsiteX54" fmla="*/ 460246 w 1219200"/>
              <a:gd name="connsiteY54" fmla="*/ 778159 h 1027954"/>
              <a:gd name="connsiteX55" fmla="*/ 511383 w 1219200"/>
              <a:gd name="connsiteY55" fmla="*/ 828560 h 1027954"/>
              <a:gd name="connsiteX56" fmla="*/ 562551 w 1219200"/>
              <a:gd name="connsiteY56" fmla="*/ 828560 h 1027954"/>
              <a:gd name="connsiteX57" fmla="*/ 613686 w 1219200"/>
              <a:gd name="connsiteY57" fmla="*/ 778159 h 1027954"/>
              <a:gd name="connsiteX58" fmla="*/ 613686 w 1219200"/>
              <a:gd name="connsiteY58" fmla="*/ 527266 h 1027954"/>
              <a:gd name="connsiteX59" fmla="*/ 613686 w 1219200"/>
              <a:gd name="connsiteY59" fmla="*/ 476869 h 1027954"/>
              <a:gd name="connsiteX60" fmla="*/ 562518 w 1219200"/>
              <a:gd name="connsiteY60" fmla="*/ 426472 h 1027954"/>
              <a:gd name="connsiteX61" fmla="*/ 511383 w 1219200"/>
              <a:gd name="connsiteY61" fmla="*/ 426472 h 1027954"/>
              <a:gd name="connsiteX62" fmla="*/ 460246 w 1219200"/>
              <a:gd name="connsiteY62" fmla="*/ 476869 h 1027954"/>
              <a:gd name="connsiteX63" fmla="*/ 460246 w 1219200"/>
              <a:gd name="connsiteY63" fmla="*/ 527266 h 1027954"/>
              <a:gd name="connsiteX64" fmla="*/ 511383 w 1219200"/>
              <a:gd name="connsiteY64" fmla="*/ 577667 h 1027954"/>
              <a:gd name="connsiteX65" fmla="*/ 562551 w 1219200"/>
              <a:gd name="connsiteY65" fmla="*/ 577667 h 1027954"/>
              <a:gd name="connsiteX66" fmla="*/ 613686 w 1219200"/>
              <a:gd name="connsiteY66" fmla="*/ 527266 h 1027954"/>
              <a:gd name="connsiteX67" fmla="*/ 613686 w 1219200"/>
              <a:gd name="connsiteY67" fmla="*/ 276377 h 1027954"/>
              <a:gd name="connsiteX68" fmla="*/ 613686 w 1219200"/>
              <a:gd name="connsiteY68" fmla="*/ 225979 h 1027954"/>
              <a:gd name="connsiteX69" fmla="*/ 562518 w 1219200"/>
              <a:gd name="connsiteY69" fmla="*/ 175581 h 1027954"/>
              <a:gd name="connsiteX70" fmla="*/ 511383 w 1219200"/>
              <a:gd name="connsiteY70" fmla="*/ 175581 h 1027954"/>
              <a:gd name="connsiteX71" fmla="*/ 460246 w 1219200"/>
              <a:gd name="connsiteY71" fmla="*/ 225979 h 1027954"/>
              <a:gd name="connsiteX72" fmla="*/ 460246 w 1219200"/>
              <a:gd name="connsiteY72" fmla="*/ 276377 h 1027954"/>
              <a:gd name="connsiteX73" fmla="*/ 511383 w 1219200"/>
              <a:gd name="connsiteY73" fmla="*/ 326776 h 1027954"/>
              <a:gd name="connsiteX74" fmla="*/ 562551 w 1219200"/>
              <a:gd name="connsiteY74" fmla="*/ 326776 h 1027954"/>
              <a:gd name="connsiteX75" fmla="*/ 613686 w 1219200"/>
              <a:gd name="connsiteY75" fmla="*/ 276377 h 1027954"/>
              <a:gd name="connsiteX76" fmla="*/ 895169 w 1219200"/>
              <a:gd name="connsiteY76" fmla="*/ 501796 h 1027954"/>
              <a:gd name="connsiteX77" fmla="*/ 895169 w 1219200"/>
              <a:gd name="connsiteY77" fmla="*/ 451389 h 1027954"/>
              <a:gd name="connsiteX78" fmla="*/ 887416 w 1219200"/>
              <a:gd name="connsiteY78" fmla="*/ 433463 h 1027954"/>
              <a:gd name="connsiteX79" fmla="*/ 869328 w 1219200"/>
              <a:gd name="connsiteY79" fmla="*/ 426382 h 1027954"/>
              <a:gd name="connsiteX80" fmla="*/ 818193 w 1219200"/>
              <a:gd name="connsiteY80" fmla="*/ 426382 h 1027954"/>
              <a:gd name="connsiteX81" fmla="*/ 800100 w 1219200"/>
              <a:gd name="connsiteY81" fmla="*/ 433463 h 1027954"/>
              <a:gd name="connsiteX82" fmla="*/ 792347 w 1219200"/>
              <a:gd name="connsiteY82" fmla="*/ 451389 h 1027954"/>
              <a:gd name="connsiteX83" fmla="*/ 792347 w 1219200"/>
              <a:gd name="connsiteY83" fmla="*/ 501796 h 1027954"/>
              <a:gd name="connsiteX84" fmla="*/ 800100 w 1219200"/>
              <a:gd name="connsiteY84" fmla="*/ 519722 h 1027954"/>
              <a:gd name="connsiteX85" fmla="*/ 818193 w 1219200"/>
              <a:gd name="connsiteY85" fmla="*/ 526799 h 1027954"/>
              <a:gd name="connsiteX86" fmla="*/ 869328 w 1219200"/>
              <a:gd name="connsiteY86" fmla="*/ 526799 h 1027954"/>
              <a:gd name="connsiteX87" fmla="*/ 887416 w 1219200"/>
              <a:gd name="connsiteY87" fmla="*/ 519722 h 1027954"/>
              <a:gd name="connsiteX88" fmla="*/ 895169 w 1219200"/>
              <a:gd name="connsiteY88" fmla="*/ 501796 h 1027954"/>
              <a:gd name="connsiteX89" fmla="*/ 1004049 w 1219200"/>
              <a:gd name="connsiteY89" fmla="*/ 1027952 h 1027954"/>
              <a:gd name="connsiteX90" fmla="*/ 788894 w 1219200"/>
              <a:gd name="connsiteY90" fmla="*/ 812801 h 1027954"/>
              <a:gd name="connsiteX91" fmla="*/ 1004049 w 1219200"/>
              <a:gd name="connsiteY91" fmla="*/ 597651 h 1027954"/>
              <a:gd name="connsiteX92" fmla="*/ 1219200 w 1219200"/>
              <a:gd name="connsiteY92" fmla="*/ 812801 h 1027954"/>
              <a:gd name="connsiteX93" fmla="*/ 1004049 w 1219200"/>
              <a:gd name="connsiteY93" fmla="*/ 1027952 h 1027954"/>
              <a:gd name="connsiteX94" fmla="*/ 918743 w 1219200"/>
              <a:gd name="connsiteY94" fmla="*/ 938712 h 1027954"/>
              <a:gd name="connsiteX95" fmla="*/ 968188 w 1219200"/>
              <a:gd name="connsiteY95" fmla="*/ 869627 h 1027954"/>
              <a:gd name="connsiteX96" fmla="*/ 966688 w 1219200"/>
              <a:gd name="connsiteY96" fmla="*/ 832913 h 1027954"/>
              <a:gd name="connsiteX97" fmla="*/ 1008640 w 1219200"/>
              <a:gd name="connsiteY97" fmla="*/ 825736 h 1027954"/>
              <a:gd name="connsiteX98" fmla="*/ 1015798 w 1219200"/>
              <a:gd name="connsiteY98" fmla="*/ 867789 h 1027954"/>
              <a:gd name="connsiteX99" fmla="*/ 980675 w 1219200"/>
              <a:gd name="connsiteY99" fmla="*/ 878633 h 1027954"/>
              <a:gd name="connsiteX100" fmla="*/ 931064 w 1219200"/>
              <a:gd name="connsiteY100" fmla="*/ 948894 h 1027954"/>
              <a:gd name="connsiteX101" fmla="*/ 941384 w 1219200"/>
              <a:gd name="connsiteY101" fmla="*/ 956238 h 1027954"/>
              <a:gd name="connsiteX102" fmla="*/ 1057918 w 1219200"/>
              <a:gd name="connsiteY102" fmla="*/ 913014 h 1027954"/>
              <a:gd name="connsiteX103" fmla="*/ 1099204 w 1219200"/>
              <a:gd name="connsiteY103" fmla="*/ 802205 h 1027954"/>
              <a:gd name="connsiteX104" fmla="*/ 1071734 w 1219200"/>
              <a:gd name="connsiteY104" fmla="*/ 782678 h 1027954"/>
              <a:gd name="connsiteX105" fmla="*/ 1071567 w 1219200"/>
              <a:gd name="connsiteY105" fmla="*/ 782678 h 1027954"/>
              <a:gd name="connsiteX106" fmla="*/ 1070901 w 1219200"/>
              <a:gd name="connsiteY106" fmla="*/ 782178 h 1027954"/>
              <a:gd name="connsiteX107" fmla="*/ 1070239 w 1219200"/>
              <a:gd name="connsiteY107" fmla="*/ 781678 h 1027954"/>
              <a:gd name="connsiteX108" fmla="*/ 1069572 w 1219200"/>
              <a:gd name="connsiteY108" fmla="*/ 781178 h 1027954"/>
              <a:gd name="connsiteX109" fmla="*/ 1068905 w 1219200"/>
              <a:gd name="connsiteY109" fmla="*/ 780678 h 1027954"/>
              <a:gd name="connsiteX110" fmla="*/ 1068238 w 1219200"/>
              <a:gd name="connsiteY110" fmla="*/ 780173 h 1027954"/>
              <a:gd name="connsiteX111" fmla="*/ 1067576 w 1219200"/>
              <a:gd name="connsiteY111" fmla="*/ 779673 h 1027954"/>
              <a:gd name="connsiteX112" fmla="*/ 1066910 w 1219200"/>
              <a:gd name="connsiteY112" fmla="*/ 779173 h 1027954"/>
              <a:gd name="connsiteX113" fmla="*/ 1066243 w 1219200"/>
              <a:gd name="connsiteY113" fmla="*/ 778678 h 1027954"/>
              <a:gd name="connsiteX114" fmla="*/ 1065576 w 1219200"/>
              <a:gd name="connsiteY114" fmla="*/ 778173 h 1027954"/>
              <a:gd name="connsiteX115" fmla="*/ 1064909 w 1219200"/>
              <a:gd name="connsiteY115" fmla="*/ 777673 h 1027954"/>
              <a:gd name="connsiteX116" fmla="*/ 1064243 w 1219200"/>
              <a:gd name="connsiteY116" fmla="*/ 777173 h 1027954"/>
              <a:gd name="connsiteX117" fmla="*/ 1062914 w 1219200"/>
              <a:gd name="connsiteY117" fmla="*/ 776168 h 1027954"/>
              <a:gd name="connsiteX118" fmla="*/ 1062247 w 1219200"/>
              <a:gd name="connsiteY118" fmla="*/ 775673 h 1027954"/>
              <a:gd name="connsiteX119" fmla="*/ 1061580 w 1219200"/>
              <a:gd name="connsiteY119" fmla="*/ 775168 h 1027954"/>
              <a:gd name="connsiteX120" fmla="*/ 1060914 w 1219200"/>
              <a:gd name="connsiteY120" fmla="*/ 774668 h 1027954"/>
              <a:gd name="connsiteX121" fmla="*/ 1060247 w 1219200"/>
              <a:gd name="connsiteY121" fmla="*/ 774168 h 1027954"/>
              <a:gd name="connsiteX122" fmla="*/ 1059585 w 1219200"/>
              <a:gd name="connsiteY122" fmla="*/ 773668 h 1027954"/>
              <a:gd name="connsiteX123" fmla="*/ 1058918 w 1219200"/>
              <a:gd name="connsiteY123" fmla="*/ 773163 h 1027954"/>
              <a:gd name="connsiteX124" fmla="*/ 1058251 w 1219200"/>
              <a:gd name="connsiteY124" fmla="*/ 772668 h 1027954"/>
              <a:gd name="connsiteX125" fmla="*/ 1057585 w 1219200"/>
              <a:gd name="connsiteY125" fmla="*/ 772168 h 1027954"/>
              <a:gd name="connsiteX126" fmla="*/ 1056918 w 1219200"/>
              <a:gd name="connsiteY126" fmla="*/ 771668 h 1027954"/>
              <a:gd name="connsiteX127" fmla="*/ 1056256 w 1219200"/>
              <a:gd name="connsiteY127" fmla="*/ 771163 h 1027954"/>
              <a:gd name="connsiteX128" fmla="*/ 1043602 w 1219200"/>
              <a:gd name="connsiteY128" fmla="*/ 762152 h 1027954"/>
              <a:gd name="connsiteX129" fmla="*/ 1042935 w 1219200"/>
              <a:gd name="connsiteY129" fmla="*/ 761652 h 1027954"/>
              <a:gd name="connsiteX130" fmla="*/ 1042268 w 1219200"/>
              <a:gd name="connsiteY130" fmla="*/ 761152 h 1027954"/>
              <a:gd name="connsiteX131" fmla="*/ 1041602 w 1219200"/>
              <a:gd name="connsiteY131" fmla="*/ 760652 h 1027954"/>
              <a:gd name="connsiteX132" fmla="*/ 1040940 w 1219200"/>
              <a:gd name="connsiteY132" fmla="*/ 760152 h 1027954"/>
              <a:gd name="connsiteX133" fmla="*/ 1040273 w 1219200"/>
              <a:gd name="connsiteY133" fmla="*/ 759647 h 1027954"/>
              <a:gd name="connsiteX134" fmla="*/ 1039606 w 1219200"/>
              <a:gd name="connsiteY134" fmla="*/ 759147 h 1027954"/>
              <a:gd name="connsiteX135" fmla="*/ 1038939 w 1219200"/>
              <a:gd name="connsiteY135" fmla="*/ 758647 h 1027954"/>
              <a:gd name="connsiteX136" fmla="*/ 1038273 w 1219200"/>
              <a:gd name="connsiteY136" fmla="*/ 758147 h 1027954"/>
              <a:gd name="connsiteX137" fmla="*/ 1037611 w 1219200"/>
              <a:gd name="connsiteY137" fmla="*/ 757647 h 1027954"/>
              <a:gd name="connsiteX138" fmla="*/ 1036944 w 1219200"/>
              <a:gd name="connsiteY138" fmla="*/ 757147 h 1027954"/>
              <a:gd name="connsiteX139" fmla="*/ 1036277 w 1219200"/>
              <a:gd name="connsiteY139" fmla="*/ 756647 h 1027954"/>
              <a:gd name="connsiteX140" fmla="*/ 1035610 w 1219200"/>
              <a:gd name="connsiteY140" fmla="*/ 756147 h 1027954"/>
              <a:gd name="connsiteX141" fmla="*/ 1034944 w 1219200"/>
              <a:gd name="connsiteY141" fmla="*/ 755642 h 1027954"/>
              <a:gd name="connsiteX142" fmla="*/ 1034277 w 1219200"/>
              <a:gd name="connsiteY142" fmla="*/ 755142 h 1027954"/>
              <a:gd name="connsiteX143" fmla="*/ 1033615 w 1219200"/>
              <a:gd name="connsiteY143" fmla="*/ 754642 h 1027954"/>
              <a:gd name="connsiteX144" fmla="*/ 1032948 w 1219200"/>
              <a:gd name="connsiteY144" fmla="*/ 754141 h 1027954"/>
              <a:gd name="connsiteX145" fmla="*/ 1032281 w 1219200"/>
              <a:gd name="connsiteY145" fmla="*/ 753641 h 1027954"/>
              <a:gd name="connsiteX146" fmla="*/ 1031615 w 1219200"/>
              <a:gd name="connsiteY146" fmla="*/ 753141 h 1027954"/>
              <a:gd name="connsiteX147" fmla="*/ 1030948 w 1219200"/>
              <a:gd name="connsiteY147" fmla="*/ 752641 h 1027954"/>
              <a:gd name="connsiteX148" fmla="*/ 1030286 w 1219200"/>
              <a:gd name="connsiteY148" fmla="*/ 752141 h 1027954"/>
              <a:gd name="connsiteX149" fmla="*/ 1029619 w 1219200"/>
              <a:gd name="connsiteY149" fmla="*/ 751636 h 1027954"/>
              <a:gd name="connsiteX150" fmla="*/ 1028952 w 1219200"/>
              <a:gd name="connsiteY150" fmla="*/ 751136 h 1027954"/>
              <a:gd name="connsiteX151" fmla="*/ 1028286 w 1219200"/>
              <a:gd name="connsiteY151" fmla="*/ 750641 h 1027954"/>
              <a:gd name="connsiteX152" fmla="*/ 1027619 w 1219200"/>
              <a:gd name="connsiteY152" fmla="*/ 750136 h 1027954"/>
              <a:gd name="connsiteX153" fmla="*/ 1026952 w 1219200"/>
              <a:gd name="connsiteY153" fmla="*/ 749470 h 1027954"/>
              <a:gd name="connsiteX154" fmla="*/ 1026285 w 1219200"/>
              <a:gd name="connsiteY154" fmla="*/ 748969 h 1027954"/>
              <a:gd name="connsiteX155" fmla="*/ 1000649 w 1219200"/>
              <a:gd name="connsiteY155" fmla="*/ 730781 h 1027954"/>
              <a:gd name="connsiteX156" fmla="*/ 910257 w 1219200"/>
              <a:gd name="connsiteY156" fmla="*/ 806710 h 1027954"/>
              <a:gd name="connsiteX157" fmla="*/ 908423 w 1219200"/>
              <a:gd name="connsiteY157" fmla="*/ 931368 h 1027954"/>
              <a:gd name="connsiteX158" fmla="*/ 918743 w 1219200"/>
              <a:gd name="connsiteY158" fmla="*/ 938712 h 1027954"/>
              <a:gd name="connsiteX159" fmla="*/ 1122178 w 1219200"/>
              <a:gd name="connsiteY159" fmla="*/ 799200 h 1027954"/>
              <a:gd name="connsiteX160" fmla="*/ 1147482 w 1219200"/>
              <a:gd name="connsiteY160" fmla="*/ 763319 h 1027954"/>
              <a:gd name="connsiteX161" fmla="*/ 1014965 w 1219200"/>
              <a:gd name="connsiteY161" fmla="*/ 669364 h 1027954"/>
              <a:gd name="connsiteX162" fmla="*/ 989828 w 1219200"/>
              <a:gd name="connsiteY162" fmla="*/ 705245 h 1027954"/>
              <a:gd name="connsiteX163" fmla="*/ 1122178 w 1219200"/>
              <a:gd name="connsiteY163" fmla="*/ 799200 h 102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219200" h="1027954">
                <a:moveTo>
                  <a:pt x="997439" y="549916"/>
                </a:moveTo>
                <a:cubicBezTo>
                  <a:pt x="927116" y="551654"/>
                  <a:pt x="863646" y="580991"/>
                  <a:pt x="817450" y="627511"/>
                </a:cubicBezTo>
                <a:cubicBezTo>
                  <a:pt x="811001" y="627545"/>
                  <a:pt x="804805" y="630064"/>
                  <a:pt x="800129" y="634569"/>
                </a:cubicBezTo>
                <a:cubicBezTo>
                  <a:pt x="795276" y="639246"/>
                  <a:pt x="792480" y="645676"/>
                  <a:pt x="792347" y="652434"/>
                </a:cubicBezTo>
                <a:lnTo>
                  <a:pt x="792347" y="656782"/>
                </a:lnTo>
                <a:cubicBezTo>
                  <a:pt x="760128" y="700425"/>
                  <a:pt x="741083" y="754389"/>
                  <a:pt x="741083" y="812801"/>
                </a:cubicBezTo>
                <a:cubicBezTo>
                  <a:pt x="741083" y="901731"/>
                  <a:pt x="785232" y="980356"/>
                  <a:pt x="852802" y="1027947"/>
                </a:cubicBezTo>
                <a:lnTo>
                  <a:pt x="25844" y="1027947"/>
                </a:lnTo>
                <a:cubicBezTo>
                  <a:pt x="19128" y="1028109"/>
                  <a:pt x="12628" y="1025571"/>
                  <a:pt x="7781" y="1020894"/>
                </a:cubicBezTo>
                <a:cubicBezTo>
                  <a:pt x="2930" y="1016217"/>
                  <a:pt x="131" y="1009788"/>
                  <a:pt x="0" y="1003025"/>
                </a:cubicBezTo>
                <a:lnTo>
                  <a:pt x="0" y="902779"/>
                </a:lnTo>
                <a:cubicBezTo>
                  <a:pt x="131" y="896012"/>
                  <a:pt x="2934" y="889573"/>
                  <a:pt x="7791" y="884891"/>
                </a:cubicBezTo>
                <a:cubicBezTo>
                  <a:pt x="12652" y="880214"/>
                  <a:pt x="19158" y="877681"/>
                  <a:pt x="25878" y="877852"/>
                </a:cubicBezTo>
                <a:lnTo>
                  <a:pt x="102305" y="877852"/>
                </a:lnTo>
                <a:lnTo>
                  <a:pt x="102305" y="75331"/>
                </a:lnTo>
                <a:cubicBezTo>
                  <a:pt x="103008" y="33161"/>
                  <a:pt x="137416" y="-508"/>
                  <a:pt x="179285" y="6"/>
                </a:cubicBezTo>
                <a:lnTo>
                  <a:pt x="690629" y="6"/>
                </a:lnTo>
                <a:cubicBezTo>
                  <a:pt x="732896" y="6"/>
                  <a:pt x="741764" y="33795"/>
                  <a:pt x="741764" y="75331"/>
                </a:cubicBezTo>
                <a:lnTo>
                  <a:pt x="741764" y="225979"/>
                </a:lnTo>
                <a:lnTo>
                  <a:pt x="946304" y="225979"/>
                </a:lnTo>
                <a:cubicBezTo>
                  <a:pt x="974169" y="225797"/>
                  <a:pt x="996982" y="248257"/>
                  <a:pt x="997439" y="276322"/>
                </a:cubicBezTo>
                <a:lnTo>
                  <a:pt x="997439" y="549916"/>
                </a:lnTo>
                <a:close/>
                <a:moveTo>
                  <a:pt x="383818" y="778159"/>
                </a:moveTo>
                <a:lnTo>
                  <a:pt x="383818" y="727762"/>
                </a:lnTo>
                <a:cubicBezTo>
                  <a:pt x="383396" y="699673"/>
                  <a:pt x="360572" y="677180"/>
                  <a:pt x="332686" y="677360"/>
                </a:cubicBezTo>
                <a:lnTo>
                  <a:pt x="281551" y="677360"/>
                </a:lnTo>
                <a:cubicBezTo>
                  <a:pt x="253663" y="677180"/>
                  <a:pt x="230847" y="699673"/>
                  <a:pt x="230417" y="727762"/>
                </a:cubicBezTo>
                <a:lnTo>
                  <a:pt x="230417" y="778159"/>
                </a:lnTo>
                <a:cubicBezTo>
                  <a:pt x="230847" y="806253"/>
                  <a:pt x="253663" y="828741"/>
                  <a:pt x="281551" y="828560"/>
                </a:cubicBezTo>
                <a:lnTo>
                  <a:pt x="332686" y="828560"/>
                </a:lnTo>
                <a:cubicBezTo>
                  <a:pt x="360572" y="828741"/>
                  <a:pt x="383396" y="806253"/>
                  <a:pt x="383818" y="778159"/>
                </a:cubicBezTo>
                <a:close/>
                <a:moveTo>
                  <a:pt x="383818" y="527266"/>
                </a:moveTo>
                <a:lnTo>
                  <a:pt x="383818" y="476869"/>
                </a:lnTo>
                <a:cubicBezTo>
                  <a:pt x="383396" y="448784"/>
                  <a:pt x="360572" y="426286"/>
                  <a:pt x="332686" y="426472"/>
                </a:cubicBezTo>
                <a:lnTo>
                  <a:pt x="281551" y="426472"/>
                </a:lnTo>
                <a:cubicBezTo>
                  <a:pt x="253663" y="426286"/>
                  <a:pt x="230847" y="448784"/>
                  <a:pt x="230417" y="476869"/>
                </a:cubicBezTo>
                <a:lnTo>
                  <a:pt x="230417" y="527266"/>
                </a:lnTo>
                <a:cubicBezTo>
                  <a:pt x="230847" y="555355"/>
                  <a:pt x="253663" y="577848"/>
                  <a:pt x="281551" y="577667"/>
                </a:cubicBezTo>
                <a:lnTo>
                  <a:pt x="332686" y="577667"/>
                </a:lnTo>
                <a:cubicBezTo>
                  <a:pt x="360572" y="577848"/>
                  <a:pt x="383396" y="555355"/>
                  <a:pt x="383818" y="527266"/>
                </a:cubicBezTo>
                <a:close/>
                <a:moveTo>
                  <a:pt x="383818" y="276377"/>
                </a:moveTo>
                <a:lnTo>
                  <a:pt x="383818" y="225979"/>
                </a:lnTo>
                <a:cubicBezTo>
                  <a:pt x="383396" y="197892"/>
                  <a:pt x="360572" y="175396"/>
                  <a:pt x="332686" y="175581"/>
                </a:cubicBezTo>
                <a:lnTo>
                  <a:pt x="281551" y="175581"/>
                </a:lnTo>
                <a:cubicBezTo>
                  <a:pt x="253663" y="175396"/>
                  <a:pt x="230847" y="197892"/>
                  <a:pt x="230417" y="225979"/>
                </a:cubicBezTo>
                <a:lnTo>
                  <a:pt x="230417" y="276377"/>
                </a:lnTo>
                <a:cubicBezTo>
                  <a:pt x="230847" y="304464"/>
                  <a:pt x="253663" y="326957"/>
                  <a:pt x="281551" y="326776"/>
                </a:cubicBezTo>
                <a:lnTo>
                  <a:pt x="332686" y="326776"/>
                </a:lnTo>
                <a:cubicBezTo>
                  <a:pt x="360572" y="326957"/>
                  <a:pt x="383396" y="304464"/>
                  <a:pt x="383818" y="276377"/>
                </a:cubicBezTo>
                <a:close/>
                <a:moveTo>
                  <a:pt x="613686" y="778159"/>
                </a:moveTo>
                <a:lnTo>
                  <a:pt x="613686" y="727762"/>
                </a:lnTo>
                <a:cubicBezTo>
                  <a:pt x="613258" y="699659"/>
                  <a:pt x="590417" y="677161"/>
                  <a:pt x="562518" y="677360"/>
                </a:cubicBezTo>
                <a:lnTo>
                  <a:pt x="511383" y="677360"/>
                </a:lnTo>
                <a:cubicBezTo>
                  <a:pt x="483499" y="677180"/>
                  <a:pt x="460676" y="699673"/>
                  <a:pt x="460246" y="727762"/>
                </a:cubicBezTo>
                <a:lnTo>
                  <a:pt x="460246" y="778159"/>
                </a:lnTo>
                <a:cubicBezTo>
                  <a:pt x="460676" y="806253"/>
                  <a:pt x="483499" y="828741"/>
                  <a:pt x="511383" y="828560"/>
                </a:cubicBezTo>
                <a:lnTo>
                  <a:pt x="562551" y="828560"/>
                </a:lnTo>
                <a:cubicBezTo>
                  <a:pt x="590440" y="828741"/>
                  <a:pt x="613258" y="806253"/>
                  <a:pt x="613686" y="778159"/>
                </a:cubicBezTo>
                <a:close/>
                <a:moveTo>
                  <a:pt x="613686" y="527266"/>
                </a:moveTo>
                <a:lnTo>
                  <a:pt x="613686" y="476869"/>
                </a:lnTo>
                <a:cubicBezTo>
                  <a:pt x="613258" y="448765"/>
                  <a:pt x="590417" y="426267"/>
                  <a:pt x="562518" y="426472"/>
                </a:cubicBezTo>
                <a:lnTo>
                  <a:pt x="511383" y="426472"/>
                </a:lnTo>
                <a:cubicBezTo>
                  <a:pt x="483499" y="426286"/>
                  <a:pt x="460676" y="448784"/>
                  <a:pt x="460246" y="476869"/>
                </a:cubicBezTo>
                <a:lnTo>
                  <a:pt x="460246" y="527266"/>
                </a:lnTo>
                <a:cubicBezTo>
                  <a:pt x="460676" y="555355"/>
                  <a:pt x="483499" y="577848"/>
                  <a:pt x="511383" y="577667"/>
                </a:cubicBezTo>
                <a:lnTo>
                  <a:pt x="562551" y="577667"/>
                </a:lnTo>
                <a:cubicBezTo>
                  <a:pt x="590440" y="577848"/>
                  <a:pt x="613258" y="555355"/>
                  <a:pt x="613686" y="527266"/>
                </a:cubicBezTo>
                <a:close/>
                <a:moveTo>
                  <a:pt x="613686" y="276377"/>
                </a:moveTo>
                <a:lnTo>
                  <a:pt x="613686" y="225979"/>
                </a:lnTo>
                <a:cubicBezTo>
                  <a:pt x="613258" y="197877"/>
                  <a:pt x="590417" y="175380"/>
                  <a:pt x="562518" y="175581"/>
                </a:cubicBezTo>
                <a:lnTo>
                  <a:pt x="511383" y="175581"/>
                </a:lnTo>
                <a:cubicBezTo>
                  <a:pt x="483499" y="175396"/>
                  <a:pt x="460676" y="197892"/>
                  <a:pt x="460246" y="225979"/>
                </a:cubicBezTo>
                <a:lnTo>
                  <a:pt x="460246" y="276377"/>
                </a:lnTo>
                <a:cubicBezTo>
                  <a:pt x="460676" y="304464"/>
                  <a:pt x="483499" y="326957"/>
                  <a:pt x="511383" y="326776"/>
                </a:cubicBezTo>
                <a:lnTo>
                  <a:pt x="562551" y="326776"/>
                </a:lnTo>
                <a:cubicBezTo>
                  <a:pt x="590440" y="326957"/>
                  <a:pt x="613258" y="304464"/>
                  <a:pt x="613686" y="276377"/>
                </a:cubicBezTo>
                <a:close/>
                <a:moveTo>
                  <a:pt x="895169" y="501796"/>
                </a:moveTo>
                <a:lnTo>
                  <a:pt x="895169" y="451389"/>
                </a:lnTo>
                <a:cubicBezTo>
                  <a:pt x="895064" y="444617"/>
                  <a:pt x="892269" y="438159"/>
                  <a:pt x="887416" y="433463"/>
                </a:cubicBezTo>
                <a:cubicBezTo>
                  <a:pt x="882567" y="428772"/>
                  <a:pt x="876057" y="426215"/>
                  <a:pt x="869328" y="426382"/>
                </a:cubicBezTo>
                <a:lnTo>
                  <a:pt x="818193" y="426382"/>
                </a:lnTo>
                <a:cubicBezTo>
                  <a:pt x="811463" y="426215"/>
                  <a:pt x="804953" y="428772"/>
                  <a:pt x="800100" y="433463"/>
                </a:cubicBezTo>
                <a:cubicBezTo>
                  <a:pt x="795242" y="438159"/>
                  <a:pt x="792456" y="444617"/>
                  <a:pt x="792347" y="451389"/>
                </a:cubicBezTo>
                <a:lnTo>
                  <a:pt x="792347" y="501796"/>
                </a:lnTo>
                <a:cubicBezTo>
                  <a:pt x="792456" y="508568"/>
                  <a:pt x="795242" y="515026"/>
                  <a:pt x="800100" y="519722"/>
                </a:cubicBezTo>
                <a:cubicBezTo>
                  <a:pt x="804953" y="524413"/>
                  <a:pt x="811463" y="526970"/>
                  <a:pt x="818193" y="526799"/>
                </a:cubicBezTo>
                <a:lnTo>
                  <a:pt x="869328" y="526799"/>
                </a:lnTo>
                <a:cubicBezTo>
                  <a:pt x="876057" y="526970"/>
                  <a:pt x="882567" y="524413"/>
                  <a:pt x="887416" y="519722"/>
                </a:cubicBezTo>
                <a:cubicBezTo>
                  <a:pt x="892269" y="515026"/>
                  <a:pt x="895064" y="508568"/>
                  <a:pt x="895169" y="501796"/>
                </a:cubicBezTo>
                <a:close/>
                <a:moveTo>
                  <a:pt x="1004049" y="1027952"/>
                </a:moveTo>
                <a:cubicBezTo>
                  <a:pt x="885220" y="1027952"/>
                  <a:pt x="788894" y="931626"/>
                  <a:pt x="788894" y="812801"/>
                </a:cubicBezTo>
                <a:cubicBezTo>
                  <a:pt x="788894" y="693977"/>
                  <a:pt x="885220" y="597651"/>
                  <a:pt x="1004049" y="597651"/>
                </a:cubicBezTo>
                <a:cubicBezTo>
                  <a:pt x="1122874" y="597651"/>
                  <a:pt x="1219200" y="693977"/>
                  <a:pt x="1219200" y="812801"/>
                </a:cubicBezTo>
                <a:cubicBezTo>
                  <a:pt x="1219200" y="931626"/>
                  <a:pt x="1122874" y="1027952"/>
                  <a:pt x="1004049" y="1027952"/>
                </a:cubicBezTo>
                <a:close/>
                <a:moveTo>
                  <a:pt x="918743" y="938712"/>
                </a:moveTo>
                <a:lnTo>
                  <a:pt x="968188" y="869627"/>
                </a:lnTo>
                <a:cubicBezTo>
                  <a:pt x="959534" y="859445"/>
                  <a:pt x="958701" y="844258"/>
                  <a:pt x="966688" y="832913"/>
                </a:cubicBezTo>
                <a:cubicBezTo>
                  <a:pt x="976179" y="819393"/>
                  <a:pt x="994991" y="816054"/>
                  <a:pt x="1008640" y="825736"/>
                </a:cubicBezTo>
                <a:cubicBezTo>
                  <a:pt x="1022128" y="835247"/>
                  <a:pt x="1025457" y="854102"/>
                  <a:pt x="1015798" y="867789"/>
                </a:cubicBezTo>
                <a:cubicBezTo>
                  <a:pt x="1007640" y="879138"/>
                  <a:pt x="993162" y="883310"/>
                  <a:pt x="980675" y="878633"/>
                </a:cubicBezTo>
                <a:lnTo>
                  <a:pt x="931064" y="948894"/>
                </a:lnTo>
                <a:cubicBezTo>
                  <a:pt x="934560" y="951395"/>
                  <a:pt x="937889" y="953733"/>
                  <a:pt x="941384" y="956238"/>
                </a:cubicBezTo>
                <a:cubicBezTo>
                  <a:pt x="980175" y="941717"/>
                  <a:pt x="1018961" y="927363"/>
                  <a:pt x="1057918" y="913014"/>
                </a:cubicBezTo>
                <a:cubicBezTo>
                  <a:pt x="1059585" y="875633"/>
                  <a:pt x="1073401" y="838752"/>
                  <a:pt x="1099204" y="802205"/>
                </a:cubicBezTo>
                <a:lnTo>
                  <a:pt x="1071734" y="782678"/>
                </a:lnTo>
                <a:lnTo>
                  <a:pt x="1071567" y="782678"/>
                </a:lnTo>
                <a:lnTo>
                  <a:pt x="1070901" y="782178"/>
                </a:lnTo>
                <a:lnTo>
                  <a:pt x="1070239" y="781678"/>
                </a:lnTo>
                <a:lnTo>
                  <a:pt x="1069572" y="781178"/>
                </a:lnTo>
                <a:lnTo>
                  <a:pt x="1068905" y="780678"/>
                </a:lnTo>
                <a:lnTo>
                  <a:pt x="1068238" y="780173"/>
                </a:lnTo>
                <a:lnTo>
                  <a:pt x="1067576" y="779673"/>
                </a:lnTo>
                <a:lnTo>
                  <a:pt x="1066910" y="779173"/>
                </a:lnTo>
                <a:lnTo>
                  <a:pt x="1066243" y="778678"/>
                </a:lnTo>
                <a:lnTo>
                  <a:pt x="1065576" y="778173"/>
                </a:lnTo>
                <a:lnTo>
                  <a:pt x="1064909" y="777673"/>
                </a:lnTo>
                <a:lnTo>
                  <a:pt x="1064243" y="777173"/>
                </a:lnTo>
                <a:lnTo>
                  <a:pt x="1062914" y="776168"/>
                </a:lnTo>
                <a:lnTo>
                  <a:pt x="1062247" y="775673"/>
                </a:lnTo>
                <a:lnTo>
                  <a:pt x="1061580" y="775168"/>
                </a:lnTo>
                <a:lnTo>
                  <a:pt x="1060914" y="774668"/>
                </a:lnTo>
                <a:lnTo>
                  <a:pt x="1060247" y="774168"/>
                </a:lnTo>
                <a:lnTo>
                  <a:pt x="1059585" y="773668"/>
                </a:lnTo>
                <a:lnTo>
                  <a:pt x="1058918" y="773163"/>
                </a:lnTo>
                <a:lnTo>
                  <a:pt x="1058251" y="772668"/>
                </a:lnTo>
                <a:lnTo>
                  <a:pt x="1057585" y="772168"/>
                </a:lnTo>
                <a:lnTo>
                  <a:pt x="1056918" y="771668"/>
                </a:lnTo>
                <a:lnTo>
                  <a:pt x="1056256" y="771163"/>
                </a:lnTo>
                <a:lnTo>
                  <a:pt x="1043602" y="762152"/>
                </a:lnTo>
                <a:lnTo>
                  <a:pt x="1042935" y="761652"/>
                </a:lnTo>
                <a:lnTo>
                  <a:pt x="1042268" y="761152"/>
                </a:lnTo>
                <a:lnTo>
                  <a:pt x="1041602" y="760652"/>
                </a:lnTo>
                <a:lnTo>
                  <a:pt x="1040940" y="760152"/>
                </a:lnTo>
                <a:lnTo>
                  <a:pt x="1040273" y="759647"/>
                </a:lnTo>
                <a:lnTo>
                  <a:pt x="1039606" y="759147"/>
                </a:lnTo>
                <a:lnTo>
                  <a:pt x="1038939" y="758647"/>
                </a:lnTo>
                <a:lnTo>
                  <a:pt x="1038273" y="758147"/>
                </a:lnTo>
                <a:lnTo>
                  <a:pt x="1037611" y="757647"/>
                </a:lnTo>
                <a:lnTo>
                  <a:pt x="1036944" y="757147"/>
                </a:lnTo>
                <a:lnTo>
                  <a:pt x="1036277" y="756647"/>
                </a:lnTo>
                <a:lnTo>
                  <a:pt x="1035610" y="756147"/>
                </a:lnTo>
                <a:lnTo>
                  <a:pt x="1034944" y="755642"/>
                </a:lnTo>
                <a:lnTo>
                  <a:pt x="1034277" y="755142"/>
                </a:lnTo>
                <a:lnTo>
                  <a:pt x="1033615" y="754642"/>
                </a:lnTo>
                <a:lnTo>
                  <a:pt x="1032948" y="754141"/>
                </a:lnTo>
                <a:lnTo>
                  <a:pt x="1032281" y="753641"/>
                </a:lnTo>
                <a:lnTo>
                  <a:pt x="1031615" y="753141"/>
                </a:lnTo>
                <a:lnTo>
                  <a:pt x="1030948" y="752641"/>
                </a:lnTo>
                <a:lnTo>
                  <a:pt x="1030286" y="752141"/>
                </a:lnTo>
                <a:lnTo>
                  <a:pt x="1029619" y="751636"/>
                </a:lnTo>
                <a:lnTo>
                  <a:pt x="1028952" y="751136"/>
                </a:lnTo>
                <a:lnTo>
                  <a:pt x="1028286" y="750641"/>
                </a:lnTo>
                <a:lnTo>
                  <a:pt x="1027619" y="750136"/>
                </a:lnTo>
                <a:lnTo>
                  <a:pt x="1026952" y="749470"/>
                </a:lnTo>
                <a:lnTo>
                  <a:pt x="1026285" y="748969"/>
                </a:lnTo>
                <a:lnTo>
                  <a:pt x="1000649" y="730781"/>
                </a:lnTo>
                <a:cubicBezTo>
                  <a:pt x="974846" y="767324"/>
                  <a:pt x="944713" y="792861"/>
                  <a:pt x="910257" y="806710"/>
                </a:cubicBezTo>
                <a:cubicBezTo>
                  <a:pt x="909590" y="848263"/>
                  <a:pt x="909090" y="889820"/>
                  <a:pt x="908423" y="931368"/>
                </a:cubicBezTo>
                <a:cubicBezTo>
                  <a:pt x="911919" y="933874"/>
                  <a:pt x="915248" y="936212"/>
                  <a:pt x="918743" y="938712"/>
                </a:cubicBezTo>
                <a:close/>
                <a:moveTo>
                  <a:pt x="1122178" y="799200"/>
                </a:moveTo>
                <a:lnTo>
                  <a:pt x="1147482" y="763319"/>
                </a:lnTo>
                <a:lnTo>
                  <a:pt x="1014965" y="669364"/>
                </a:lnTo>
                <a:lnTo>
                  <a:pt x="989828" y="705245"/>
                </a:lnTo>
                <a:lnTo>
                  <a:pt x="1122178" y="79920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46" name="图形 137"/>
          <p:cNvGrpSpPr>
            <a:grpSpLocks noChangeAspect="1"/>
          </p:cNvGrpSpPr>
          <p:nvPr/>
        </p:nvGrpSpPr>
        <p:grpSpPr>
          <a:xfrm>
            <a:off x="5894899" y="3328865"/>
            <a:ext cx="444130" cy="362834"/>
            <a:chOff x="13021519" y="2542837"/>
            <a:chExt cx="1219200" cy="996029"/>
          </a:xfrm>
          <a:solidFill>
            <a:schemeClr val="bg1"/>
          </a:solidFill>
        </p:grpSpPr>
        <p:sp>
          <p:nvSpPr>
            <p:cNvPr id="147" name="任意多边形: 形状 146"/>
            <p:cNvSpPr/>
            <p:nvPr/>
          </p:nvSpPr>
          <p:spPr>
            <a:xfrm>
              <a:off x="13715272" y="2542837"/>
              <a:ext cx="525446" cy="996029"/>
            </a:xfrm>
            <a:custGeom>
              <a:avLst/>
              <a:gdLst>
                <a:gd name="connsiteX0" fmla="*/ 262700 w 525446"/>
                <a:gd name="connsiteY0" fmla="*/ 306134 h 996029"/>
                <a:gd name="connsiteX1" fmla="*/ 262700 w 525446"/>
                <a:gd name="connsiteY1" fmla="*/ 117777 h 996029"/>
                <a:gd name="connsiteX2" fmla="*/ 74343 w 525446"/>
                <a:gd name="connsiteY2" fmla="*/ 117777 h 996029"/>
                <a:gd name="connsiteX3" fmla="*/ 74343 w 525446"/>
                <a:gd name="connsiteY3" fmla="*/ 306134 h 996029"/>
                <a:gd name="connsiteX4" fmla="*/ 262700 w 525446"/>
                <a:gd name="connsiteY4" fmla="*/ 306134 h 996029"/>
                <a:gd name="connsiteX5" fmla="*/ 262700 w 525446"/>
                <a:gd name="connsiteY5" fmla="*/ 553117 h 996029"/>
                <a:gd name="connsiteX6" fmla="*/ 262700 w 525446"/>
                <a:gd name="connsiteY6" fmla="*/ 364712 h 996029"/>
                <a:gd name="connsiteX7" fmla="*/ 74343 w 525446"/>
                <a:gd name="connsiteY7" fmla="*/ 364712 h 996029"/>
                <a:gd name="connsiteX8" fmla="*/ 74343 w 525446"/>
                <a:gd name="connsiteY8" fmla="*/ 553117 h 996029"/>
                <a:gd name="connsiteX9" fmla="*/ 262700 w 525446"/>
                <a:gd name="connsiteY9" fmla="*/ 553117 h 996029"/>
                <a:gd name="connsiteX10" fmla="*/ 262700 w 525446"/>
                <a:gd name="connsiteY10" fmla="*/ 825103 h 996029"/>
                <a:gd name="connsiteX11" fmla="*/ 262700 w 525446"/>
                <a:gd name="connsiteY11" fmla="*/ 636746 h 996029"/>
                <a:gd name="connsiteX12" fmla="*/ 74343 w 525446"/>
                <a:gd name="connsiteY12" fmla="*/ 636746 h 996029"/>
                <a:gd name="connsiteX13" fmla="*/ 74343 w 525446"/>
                <a:gd name="connsiteY13" fmla="*/ 825103 h 996029"/>
                <a:gd name="connsiteX14" fmla="*/ 262700 w 525446"/>
                <a:gd name="connsiteY14" fmla="*/ 825103 h 996029"/>
                <a:gd name="connsiteX15" fmla="*/ 525447 w 525446"/>
                <a:gd name="connsiteY15" fmla="*/ 0 h 996029"/>
                <a:gd name="connsiteX16" fmla="*/ 525447 w 525446"/>
                <a:gd name="connsiteY16" fmla="*/ 996029 h 996029"/>
                <a:gd name="connsiteX17" fmla="*/ 0 w 525446"/>
                <a:gd name="connsiteY17" fmla="*/ 996029 h 996029"/>
                <a:gd name="connsiteX18" fmla="*/ 0 w 525446"/>
                <a:gd name="connsiteY18" fmla="*/ 0 h 996029"/>
                <a:gd name="connsiteX19" fmla="*/ 525447 w 525446"/>
                <a:gd name="connsiteY19" fmla="*/ 0 h 99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5446" h="996029">
                  <a:moveTo>
                    <a:pt x="262700" y="306134"/>
                  </a:moveTo>
                  <a:lnTo>
                    <a:pt x="262700" y="117777"/>
                  </a:lnTo>
                  <a:lnTo>
                    <a:pt x="74343" y="117777"/>
                  </a:lnTo>
                  <a:lnTo>
                    <a:pt x="74343" y="306134"/>
                  </a:lnTo>
                  <a:lnTo>
                    <a:pt x="262700" y="306134"/>
                  </a:lnTo>
                  <a:close/>
                  <a:moveTo>
                    <a:pt x="262700" y="553117"/>
                  </a:moveTo>
                  <a:lnTo>
                    <a:pt x="262700" y="364712"/>
                  </a:lnTo>
                  <a:lnTo>
                    <a:pt x="74343" y="364712"/>
                  </a:lnTo>
                  <a:lnTo>
                    <a:pt x="74343" y="553117"/>
                  </a:lnTo>
                  <a:lnTo>
                    <a:pt x="262700" y="553117"/>
                  </a:lnTo>
                  <a:close/>
                  <a:moveTo>
                    <a:pt x="262700" y="825103"/>
                  </a:moveTo>
                  <a:lnTo>
                    <a:pt x="262700" y="636746"/>
                  </a:lnTo>
                  <a:lnTo>
                    <a:pt x="74343" y="636746"/>
                  </a:lnTo>
                  <a:lnTo>
                    <a:pt x="74343" y="825103"/>
                  </a:lnTo>
                  <a:lnTo>
                    <a:pt x="262700" y="825103"/>
                  </a:lnTo>
                  <a:close/>
                  <a:moveTo>
                    <a:pt x="525447" y="0"/>
                  </a:moveTo>
                  <a:lnTo>
                    <a:pt x="525447" y="996029"/>
                  </a:lnTo>
                  <a:lnTo>
                    <a:pt x="0" y="996029"/>
                  </a:lnTo>
                  <a:lnTo>
                    <a:pt x="0" y="0"/>
                  </a:lnTo>
                  <a:lnTo>
                    <a:pt x="52544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8" name="任意多边形: 形状 147"/>
            <p:cNvSpPr/>
            <p:nvPr/>
          </p:nvSpPr>
          <p:spPr>
            <a:xfrm>
              <a:off x="13899914" y="3288406"/>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9" name="任意多边形: 形状 148"/>
            <p:cNvSpPr/>
            <p:nvPr/>
          </p:nvSpPr>
          <p:spPr>
            <a:xfrm>
              <a:off x="13899914" y="3196538"/>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任意多边形: 形状 149"/>
            <p:cNvSpPr/>
            <p:nvPr/>
          </p:nvSpPr>
          <p:spPr>
            <a:xfrm>
              <a:off x="13899914" y="3016420"/>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1" name="任意多边形: 形状 150"/>
            <p:cNvSpPr/>
            <p:nvPr/>
          </p:nvSpPr>
          <p:spPr>
            <a:xfrm>
              <a:off x="13899914" y="2924504"/>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任意多边形: 形状 151"/>
            <p:cNvSpPr/>
            <p:nvPr/>
          </p:nvSpPr>
          <p:spPr>
            <a:xfrm>
              <a:off x="13899914" y="2769437"/>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任意多边形: 形状 152"/>
            <p:cNvSpPr/>
            <p:nvPr/>
          </p:nvSpPr>
          <p:spPr>
            <a:xfrm>
              <a:off x="13899914" y="2677568"/>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4" name="任意多边形: 形状 153"/>
            <p:cNvSpPr/>
            <p:nvPr/>
          </p:nvSpPr>
          <p:spPr>
            <a:xfrm>
              <a:off x="13804712" y="3288406"/>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5" name="任意多边形: 形状 154"/>
            <p:cNvSpPr/>
            <p:nvPr/>
          </p:nvSpPr>
          <p:spPr>
            <a:xfrm>
              <a:off x="13804712" y="3196538"/>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6" name="任意多边形: 形状 155"/>
            <p:cNvSpPr/>
            <p:nvPr/>
          </p:nvSpPr>
          <p:spPr>
            <a:xfrm>
              <a:off x="13804712" y="3016420"/>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7" name="任意多边形: 形状 156"/>
            <p:cNvSpPr/>
            <p:nvPr/>
          </p:nvSpPr>
          <p:spPr>
            <a:xfrm>
              <a:off x="13804712" y="2924504"/>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8" name="任意多边形: 形状 157"/>
            <p:cNvSpPr/>
            <p:nvPr/>
          </p:nvSpPr>
          <p:spPr>
            <a:xfrm>
              <a:off x="13804712" y="2769437"/>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9" name="任意多边形: 形状 158"/>
            <p:cNvSpPr/>
            <p:nvPr/>
          </p:nvSpPr>
          <p:spPr>
            <a:xfrm>
              <a:off x="13804712" y="2677568"/>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0" name="任意多边形: 形状 159"/>
            <p:cNvSpPr/>
            <p:nvPr/>
          </p:nvSpPr>
          <p:spPr>
            <a:xfrm>
              <a:off x="13021519" y="3321268"/>
              <a:ext cx="673227" cy="217598"/>
            </a:xfrm>
            <a:custGeom>
              <a:avLst/>
              <a:gdLst>
                <a:gd name="connsiteX0" fmla="*/ 346853 w 673227"/>
                <a:gd name="connsiteY0" fmla="*/ 55769 h 217598"/>
                <a:gd name="connsiteX1" fmla="*/ 346853 w 673227"/>
                <a:gd name="connsiteY1" fmla="*/ 39005 h 217598"/>
                <a:gd name="connsiteX2" fmla="*/ 49244 w 673227"/>
                <a:gd name="connsiteY2" fmla="*/ 39005 h 217598"/>
                <a:gd name="connsiteX3" fmla="*/ 49244 w 673227"/>
                <a:gd name="connsiteY3" fmla="*/ 55769 h 217598"/>
                <a:gd name="connsiteX4" fmla="*/ 346853 w 673227"/>
                <a:gd name="connsiteY4" fmla="*/ 55769 h 217598"/>
                <a:gd name="connsiteX5" fmla="*/ 346853 w 673227"/>
                <a:gd name="connsiteY5" fmla="*/ 93440 h 217598"/>
                <a:gd name="connsiteX6" fmla="*/ 346853 w 673227"/>
                <a:gd name="connsiteY6" fmla="*/ 76676 h 217598"/>
                <a:gd name="connsiteX7" fmla="*/ 49244 w 673227"/>
                <a:gd name="connsiteY7" fmla="*/ 76676 h 217598"/>
                <a:gd name="connsiteX8" fmla="*/ 49244 w 673227"/>
                <a:gd name="connsiteY8" fmla="*/ 93440 h 217598"/>
                <a:gd name="connsiteX9" fmla="*/ 346853 w 673227"/>
                <a:gd name="connsiteY9" fmla="*/ 93440 h 217598"/>
                <a:gd name="connsiteX10" fmla="*/ 346853 w 673227"/>
                <a:gd name="connsiteY10" fmla="*/ 137827 h 217598"/>
                <a:gd name="connsiteX11" fmla="*/ 346853 w 673227"/>
                <a:gd name="connsiteY11" fmla="*/ 121063 h 217598"/>
                <a:gd name="connsiteX12" fmla="*/ 49244 w 673227"/>
                <a:gd name="connsiteY12" fmla="*/ 121063 h 217598"/>
                <a:gd name="connsiteX13" fmla="*/ 49244 w 673227"/>
                <a:gd name="connsiteY13" fmla="*/ 137827 h 217598"/>
                <a:gd name="connsiteX14" fmla="*/ 346853 w 673227"/>
                <a:gd name="connsiteY14" fmla="*/ 137827 h 217598"/>
                <a:gd name="connsiteX15" fmla="*/ 346853 w 673227"/>
                <a:gd name="connsiteY15" fmla="*/ 175546 h 217598"/>
                <a:gd name="connsiteX16" fmla="*/ 346853 w 673227"/>
                <a:gd name="connsiteY16" fmla="*/ 158734 h 217598"/>
                <a:gd name="connsiteX17" fmla="*/ 49244 w 673227"/>
                <a:gd name="connsiteY17" fmla="*/ 158734 h 217598"/>
                <a:gd name="connsiteX18" fmla="*/ 49244 w 673227"/>
                <a:gd name="connsiteY18" fmla="*/ 175546 h 217598"/>
                <a:gd name="connsiteX19" fmla="*/ 346853 w 673227"/>
                <a:gd name="connsiteY19" fmla="*/ 175546 h 217598"/>
                <a:gd name="connsiteX20" fmla="*/ 673227 w 673227"/>
                <a:gd name="connsiteY20" fmla="*/ 0 h 217598"/>
                <a:gd name="connsiteX21" fmla="*/ 673227 w 673227"/>
                <a:gd name="connsiteY21" fmla="*/ 217599 h 217598"/>
                <a:gd name="connsiteX22" fmla="*/ 0 w 673227"/>
                <a:gd name="connsiteY22" fmla="*/ 217599 h 217598"/>
                <a:gd name="connsiteX23" fmla="*/ 0 w 673227"/>
                <a:gd name="connsiteY23" fmla="*/ 0 h 217598"/>
                <a:gd name="connsiteX24" fmla="*/ 673227 w 673227"/>
                <a:gd name="connsiteY24" fmla="*/ 0 h 217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3227" h="217598">
                  <a:moveTo>
                    <a:pt x="346853" y="55769"/>
                  </a:moveTo>
                  <a:lnTo>
                    <a:pt x="346853" y="39005"/>
                  </a:lnTo>
                  <a:lnTo>
                    <a:pt x="49244" y="39005"/>
                  </a:lnTo>
                  <a:lnTo>
                    <a:pt x="49244" y="55769"/>
                  </a:lnTo>
                  <a:lnTo>
                    <a:pt x="346853" y="55769"/>
                  </a:lnTo>
                  <a:close/>
                  <a:moveTo>
                    <a:pt x="346853" y="93440"/>
                  </a:moveTo>
                  <a:lnTo>
                    <a:pt x="346853" y="76676"/>
                  </a:lnTo>
                  <a:lnTo>
                    <a:pt x="49244" y="76676"/>
                  </a:lnTo>
                  <a:lnTo>
                    <a:pt x="49244" y="93440"/>
                  </a:lnTo>
                  <a:lnTo>
                    <a:pt x="346853" y="93440"/>
                  </a:lnTo>
                  <a:close/>
                  <a:moveTo>
                    <a:pt x="346853" y="137827"/>
                  </a:moveTo>
                  <a:lnTo>
                    <a:pt x="346853" y="121063"/>
                  </a:lnTo>
                  <a:lnTo>
                    <a:pt x="49244" y="121063"/>
                  </a:lnTo>
                  <a:lnTo>
                    <a:pt x="49244" y="137827"/>
                  </a:lnTo>
                  <a:lnTo>
                    <a:pt x="346853" y="137827"/>
                  </a:lnTo>
                  <a:close/>
                  <a:moveTo>
                    <a:pt x="346853" y="175546"/>
                  </a:moveTo>
                  <a:lnTo>
                    <a:pt x="346853" y="158734"/>
                  </a:lnTo>
                  <a:lnTo>
                    <a:pt x="49244" y="158734"/>
                  </a:lnTo>
                  <a:lnTo>
                    <a:pt x="49244" y="175546"/>
                  </a:lnTo>
                  <a:lnTo>
                    <a:pt x="346853" y="175546"/>
                  </a:lnTo>
                  <a:close/>
                  <a:moveTo>
                    <a:pt x="673227" y="0"/>
                  </a:moveTo>
                  <a:lnTo>
                    <a:pt x="673227" y="217599"/>
                  </a:lnTo>
                  <a:lnTo>
                    <a:pt x="0" y="217599"/>
                  </a:lnTo>
                  <a:lnTo>
                    <a:pt x="0" y="0"/>
                  </a:lnTo>
                  <a:lnTo>
                    <a:pt x="67322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1" name="任意多边形: 形状 160"/>
            <p:cNvSpPr/>
            <p:nvPr/>
          </p:nvSpPr>
          <p:spPr>
            <a:xfrm>
              <a:off x="13021519" y="3255640"/>
              <a:ext cx="673227" cy="34289"/>
            </a:xfrm>
            <a:custGeom>
              <a:avLst/>
              <a:gdLst>
                <a:gd name="connsiteX0" fmla="*/ 673227 w 673227"/>
                <a:gd name="connsiteY0" fmla="*/ 0 h 34289"/>
                <a:gd name="connsiteX1" fmla="*/ 673227 w 673227"/>
                <a:gd name="connsiteY1" fmla="*/ 34290 h 34289"/>
                <a:gd name="connsiteX2" fmla="*/ 0 w 673227"/>
                <a:gd name="connsiteY2" fmla="*/ 34290 h 34289"/>
                <a:gd name="connsiteX3" fmla="*/ 0 w 673227"/>
                <a:gd name="connsiteY3" fmla="*/ 0 h 34289"/>
                <a:gd name="connsiteX4" fmla="*/ 673227 w 673227"/>
                <a:gd name="connsiteY4" fmla="*/ 0 h 34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227" h="34289">
                  <a:moveTo>
                    <a:pt x="673227" y="0"/>
                  </a:moveTo>
                  <a:lnTo>
                    <a:pt x="673227" y="34290"/>
                  </a:lnTo>
                  <a:lnTo>
                    <a:pt x="0" y="34290"/>
                  </a:lnTo>
                  <a:lnTo>
                    <a:pt x="0" y="0"/>
                  </a:lnTo>
                  <a:lnTo>
                    <a:pt x="67322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2" name="任意多边形: 形状 161"/>
            <p:cNvSpPr/>
            <p:nvPr/>
          </p:nvSpPr>
          <p:spPr>
            <a:xfrm>
              <a:off x="13445429" y="3015324"/>
              <a:ext cx="186785" cy="211597"/>
            </a:xfrm>
            <a:custGeom>
              <a:avLst/>
              <a:gdLst>
                <a:gd name="connsiteX0" fmla="*/ 165925 w 186785"/>
                <a:gd name="connsiteY0" fmla="*/ 48 h 211597"/>
                <a:gd name="connsiteX1" fmla="*/ 186785 w 186785"/>
                <a:gd name="connsiteY1" fmla="*/ 211598 h 211597"/>
                <a:gd name="connsiteX2" fmla="*/ 0 w 186785"/>
                <a:gd name="connsiteY2" fmla="*/ 211598 h 211597"/>
                <a:gd name="connsiteX3" fmla="*/ 20860 w 186785"/>
                <a:gd name="connsiteY3" fmla="*/ 0 h 211597"/>
                <a:gd name="connsiteX4" fmla="*/ 21526 w 186785"/>
                <a:gd name="connsiteY4" fmla="*/ 0 h 211597"/>
                <a:gd name="connsiteX5" fmla="*/ 165830 w 186785"/>
                <a:gd name="connsiteY5" fmla="*/ 0 h 211597"/>
                <a:gd name="connsiteX6" fmla="*/ 165878 w 186785"/>
                <a:gd name="connsiteY6" fmla="*/ 0 h 21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785" h="211597">
                  <a:moveTo>
                    <a:pt x="165925" y="48"/>
                  </a:moveTo>
                  <a:lnTo>
                    <a:pt x="186785" y="211598"/>
                  </a:lnTo>
                  <a:lnTo>
                    <a:pt x="0" y="211598"/>
                  </a:lnTo>
                  <a:lnTo>
                    <a:pt x="20860" y="0"/>
                  </a:lnTo>
                  <a:lnTo>
                    <a:pt x="21526" y="0"/>
                  </a:lnTo>
                  <a:cubicBezTo>
                    <a:pt x="21526" y="0"/>
                    <a:pt x="165830" y="0"/>
                    <a:pt x="165830" y="0"/>
                  </a:cubicBezTo>
                  <a:lnTo>
                    <a:pt x="16587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3" name="任意多边形: 形状 162"/>
            <p:cNvSpPr/>
            <p:nvPr/>
          </p:nvSpPr>
          <p:spPr>
            <a:xfrm>
              <a:off x="13467003" y="2721383"/>
              <a:ext cx="143636" cy="22574"/>
            </a:xfrm>
            <a:custGeom>
              <a:avLst/>
              <a:gdLst>
                <a:gd name="connsiteX0" fmla="*/ 132397 w 143636"/>
                <a:gd name="connsiteY0" fmla="*/ 0 h 22574"/>
                <a:gd name="connsiteX1" fmla="*/ 143637 w 143636"/>
                <a:gd name="connsiteY1" fmla="*/ 11287 h 22574"/>
                <a:gd name="connsiteX2" fmla="*/ 132397 w 143636"/>
                <a:gd name="connsiteY2" fmla="*/ 22574 h 22574"/>
                <a:gd name="connsiteX3" fmla="*/ 11240 w 143636"/>
                <a:gd name="connsiteY3" fmla="*/ 22574 h 22574"/>
                <a:gd name="connsiteX4" fmla="*/ 0 w 143636"/>
                <a:gd name="connsiteY4" fmla="*/ 11287 h 22574"/>
                <a:gd name="connsiteX5" fmla="*/ 3286 w 143636"/>
                <a:gd name="connsiteY5" fmla="*/ 3334 h 22574"/>
                <a:gd name="connsiteX6" fmla="*/ 11240 w 143636"/>
                <a:gd name="connsiteY6" fmla="*/ 0 h 22574"/>
                <a:gd name="connsiteX7" fmla="*/ 132397 w 143636"/>
                <a:gd name="connsiteY7" fmla="*/ 0 h 2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636" h="22574">
                  <a:moveTo>
                    <a:pt x="132397" y="0"/>
                  </a:moveTo>
                  <a:cubicBezTo>
                    <a:pt x="138589" y="0"/>
                    <a:pt x="143637" y="5048"/>
                    <a:pt x="143637" y="11287"/>
                  </a:cubicBezTo>
                  <a:cubicBezTo>
                    <a:pt x="143637" y="17526"/>
                    <a:pt x="138589" y="22574"/>
                    <a:pt x="132397" y="22574"/>
                  </a:cubicBezTo>
                  <a:lnTo>
                    <a:pt x="11240" y="22574"/>
                  </a:lnTo>
                  <a:cubicBezTo>
                    <a:pt x="5001" y="22574"/>
                    <a:pt x="0" y="17526"/>
                    <a:pt x="0" y="11287"/>
                  </a:cubicBezTo>
                  <a:cubicBezTo>
                    <a:pt x="0" y="8192"/>
                    <a:pt x="1238" y="5382"/>
                    <a:pt x="3286" y="3334"/>
                  </a:cubicBezTo>
                  <a:cubicBezTo>
                    <a:pt x="5334" y="1286"/>
                    <a:pt x="8192" y="0"/>
                    <a:pt x="11240" y="0"/>
                  </a:cubicBezTo>
                  <a:lnTo>
                    <a:pt x="13239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4" name="任意多边形: 形状 163"/>
            <p:cNvSpPr/>
            <p:nvPr/>
          </p:nvSpPr>
          <p:spPr>
            <a:xfrm>
              <a:off x="13485862" y="2753816"/>
              <a:ext cx="105870" cy="63436"/>
            </a:xfrm>
            <a:custGeom>
              <a:avLst/>
              <a:gdLst>
                <a:gd name="connsiteX0" fmla="*/ 99631 w 105870"/>
                <a:gd name="connsiteY0" fmla="*/ 0 h 63436"/>
                <a:gd name="connsiteX1" fmla="*/ 105870 w 105870"/>
                <a:gd name="connsiteY1" fmla="*/ 63437 h 63436"/>
                <a:gd name="connsiteX2" fmla="*/ 0 w 105870"/>
                <a:gd name="connsiteY2" fmla="*/ 63437 h 63436"/>
                <a:gd name="connsiteX3" fmla="*/ 6239 w 105870"/>
                <a:gd name="connsiteY3" fmla="*/ 0 h 63436"/>
                <a:gd name="connsiteX4" fmla="*/ 99631 w 105870"/>
                <a:gd name="connsiteY4" fmla="*/ 0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70" h="63436">
                  <a:moveTo>
                    <a:pt x="99631" y="0"/>
                  </a:moveTo>
                  <a:lnTo>
                    <a:pt x="105870" y="63437"/>
                  </a:lnTo>
                  <a:lnTo>
                    <a:pt x="0" y="63437"/>
                  </a:lnTo>
                  <a:lnTo>
                    <a:pt x="6239" y="0"/>
                  </a:lnTo>
                  <a:lnTo>
                    <a:pt x="99631"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5" name="任意多边形: 形状 164"/>
            <p:cNvSpPr/>
            <p:nvPr/>
          </p:nvSpPr>
          <p:spPr>
            <a:xfrm>
              <a:off x="13467765" y="2831063"/>
              <a:ext cx="142113" cy="169687"/>
            </a:xfrm>
            <a:custGeom>
              <a:avLst/>
              <a:gdLst>
                <a:gd name="connsiteX0" fmla="*/ 16716 w 142113"/>
                <a:gd name="connsiteY0" fmla="*/ 143 h 169687"/>
                <a:gd name="connsiteX1" fmla="*/ 123968 w 142113"/>
                <a:gd name="connsiteY1" fmla="*/ 143 h 169687"/>
                <a:gd name="connsiteX2" fmla="*/ 125349 w 142113"/>
                <a:gd name="connsiteY2" fmla="*/ 0 h 169687"/>
                <a:gd name="connsiteX3" fmla="*/ 142113 w 142113"/>
                <a:gd name="connsiteY3" fmla="*/ 169688 h 169687"/>
                <a:gd name="connsiteX4" fmla="*/ 0 w 142113"/>
                <a:gd name="connsiteY4" fmla="*/ 169688 h 169687"/>
                <a:gd name="connsiteX5" fmla="*/ 16716 w 142113"/>
                <a:gd name="connsiteY5" fmla="*/ 143 h 16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113" h="169687">
                  <a:moveTo>
                    <a:pt x="16716" y="143"/>
                  </a:moveTo>
                  <a:lnTo>
                    <a:pt x="123968" y="143"/>
                  </a:lnTo>
                  <a:lnTo>
                    <a:pt x="125349" y="0"/>
                  </a:lnTo>
                  <a:lnTo>
                    <a:pt x="142113" y="169688"/>
                  </a:lnTo>
                  <a:lnTo>
                    <a:pt x="0" y="169688"/>
                  </a:lnTo>
                  <a:lnTo>
                    <a:pt x="16716" y="143"/>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6" name="任意多边形: 形状 165"/>
            <p:cNvSpPr/>
            <p:nvPr/>
          </p:nvSpPr>
          <p:spPr>
            <a:xfrm>
              <a:off x="13219543" y="3016325"/>
              <a:ext cx="186785" cy="211597"/>
            </a:xfrm>
            <a:custGeom>
              <a:avLst/>
              <a:gdLst>
                <a:gd name="connsiteX0" fmla="*/ 165925 w 186785"/>
                <a:gd name="connsiteY0" fmla="*/ 95 h 211597"/>
                <a:gd name="connsiteX1" fmla="*/ 186785 w 186785"/>
                <a:gd name="connsiteY1" fmla="*/ 211598 h 211597"/>
                <a:gd name="connsiteX2" fmla="*/ 0 w 186785"/>
                <a:gd name="connsiteY2" fmla="*/ 211598 h 211597"/>
                <a:gd name="connsiteX3" fmla="*/ 20860 w 186785"/>
                <a:gd name="connsiteY3" fmla="*/ 0 h 211597"/>
                <a:gd name="connsiteX4" fmla="*/ 21526 w 186785"/>
                <a:gd name="connsiteY4" fmla="*/ 0 h 211597"/>
                <a:gd name="connsiteX5" fmla="*/ 165878 w 186785"/>
                <a:gd name="connsiteY5" fmla="*/ 48 h 21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785" h="211597">
                  <a:moveTo>
                    <a:pt x="165925" y="95"/>
                  </a:moveTo>
                  <a:lnTo>
                    <a:pt x="186785" y="211598"/>
                  </a:lnTo>
                  <a:lnTo>
                    <a:pt x="0" y="211598"/>
                  </a:lnTo>
                  <a:lnTo>
                    <a:pt x="20860" y="0"/>
                  </a:lnTo>
                  <a:lnTo>
                    <a:pt x="21526" y="0"/>
                  </a:lnTo>
                  <a:cubicBezTo>
                    <a:pt x="21526" y="0"/>
                    <a:pt x="165878" y="48"/>
                    <a:pt x="165878" y="4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7" name="任意多边形: 形状 166"/>
            <p:cNvSpPr/>
            <p:nvPr/>
          </p:nvSpPr>
          <p:spPr>
            <a:xfrm>
              <a:off x="13241879" y="2832111"/>
              <a:ext cx="142160" cy="169687"/>
            </a:xfrm>
            <a:custGeom>
              <a:avLst/>
              <a:gdLst>
                <a:gd name="connsiteX0" fmla="*/ 142161 w 142160"/>
                <a:gd name="connsiteY0" fmla="*/ 169688 h 169687"/>
                <a:gd name="connsiteX1" fmla="*/ 0 w 142160"/>
                <a:gd name="connsiteY1" fmla="*/ 169688 h 169687"/>
                <a:gd name="connsiteX2" fmla="*/ 16716 w 142160"/>
                <a:gd name="connsiteY2" fmla="*/ 143 h 169687"/>
                <a:gd name="connsiteX3" fmla="*/ 124015 w 142160"/>
                <a:gd name="connsiteY3" fmla="*/ 143 h 169687"/>
                <a:gd name="connsiteX4" fmla="*/ 125397 w 142160"/>
                <a:gd name="connsiteY4" fmla="*/ 0 h 169687"/>
                <a:gd name="connsiteX5" fmla="*/ 142161 w 142160"/>
                <a:gd name="connsiteY5" fmla="*/ 169688 h 16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160" h="169687">
                  <a:moveTo>
                    <a:pt x="142161" y="169688"/>
                  </a:moveTo>
                  <a:lnTo>
                    <a:pt x="0" y="169688"/>
                  </a:lnTo>
                  <a:lnTo>
                    <a:pt x="16716" y="143"/>
                  </a:lnTo>
                  <a:lnTo>
                    <a:pt x="124015" y="143"/>
                  </a:lnTo>
                  <a:lnTo>
                    <a:pt x="125397" y="0"/>
                  </a:lnTo>
                  <a:lnTo>
                    <a:pt x="142161" y="169688"/>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8" name="任意多边形: 形状 167"/>
            <p:cNvSpPr/>
            <p:nvPr/>
          </p:nvSpPr>
          <p:spPr>
            <a:xfrm>
              <a:off x="13241117" y="2722431"/>
              <a:ext cx="143684" cy="22479"/>
            </a:xfrm>
            <a:custGeom>
              <a:avLst/>
              <a:gdLst>
                <a:gd name="connsiteX0" fmla="*/ 132398 w 143684"/>
                <a:gd name="connsiteY0" fmla="*/ 0 h 22479"/>
                <a:gd name="connsiteX1" fmla="*/ 143685 w 143684"/>
                <a:gd name="connsiteY1" fmla="*/ 11240 h 22479"/>
                <a:gd name="connsiteX2" fmla="*/ 132398 w 143684"/>
                <a:gd name="connsiteY2" fmla="*/ 22479 h 22479"/>
                <a:gd name="connsiteX3" fmla="*/ 11287 w 143684"/>
                <a:gd name="connsiteY3" fmla="*/ 22479 h 22479"/>
                <a:gd name="connsiteX4" fmla="*/ 0 w 143684"/>
                <a:gd name="connsiteY4" fmla="*/ 11240 h 22479"/>
                <a:gd name="connsiteX5" fmla="*/ 3334 w 143684"/>
                <a:gd name="connsiteY5" fmla="*/ 3286 h 22479"/>
                <a:gd name="connsiteX6" fmla="*/ 11287 w 143684"/>
                <a:gd name="connsiteY6" fmla="*/ 0 h 22479"/>
                <a:gd name="connsiteX7" fmla="*/ 132398 w 143684"/>
                <a:gd name="connsiteY7" fmla="*/ 0 h 22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684" h="22479">
                  <a:moveTo>
                    <a:pt x="132398" y="0"/>
                  </a:moveTo>
                  <a:cubicBezTo>
                    <a:pt x="138636" y="0"/>
                    <a:pt x="143685" y="5001"/>
                    <a:pt x="143685" y="11240"/>
                  </a:cubicBezTo>
                  <a:cubicBezTo>
                    <a:pt x="143685" y="17478"/>
                    <a:pt x="138636" y="22479"/>
                    <a:pt x="132398" y="22479"/>
                  </a:cubicBezTo>
                  <a:lnTo>
                    <a:pt x="11287" y="22479"/>
                  </a:lnTo>
                  <a:cubicBezTo>
                    <a:pt x="5048" y="22479"/>
                    <a:pt x="0" y="17431"/>
                    <a:pt x="0" y="11240"/>
                  </a:cubicBezTo>
                  <a:cubicBezTo>
                    <a:pt x="0" y="8144"/>
                    <a:pt x="1286" y="5334"/>
                    <a:pt x="3334" y="3286"/>
                  </a:cubicBezTo>
                  <a:cubicBezTo>
                    <a:pt x="5382" y="1238"/>
                    <a:pt x="8192" y="0"/>
                    <a:pt x="11287" y="0"/>
                  </a:cubicBezTo>
                  <a:lnTo>
                    <a:pt x="13239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9" name="任意多边形: 形状 168"/>
            <p:cNvSpPr/>
            <p:nvPr/>
          </p:nvSpPr>
          <p:spPr>
            <a:xfrm>
              <a:off x="13260025" y="2754816"/>
              <a:ext cx="105870" cy="63436"/>
            </a:xfrm>
            <a:custGeom>
              <a:avLst/>
              <a:gdLst>
                <a:gd name="connsiteX0" fmla="*/ 99631 w 105870"/>
                <a:gd name="connsiteY0" fmla="*/ 0 h 63436"/>
                <a:gd name="connsiteX1" fmla="*/ 105870 w 105870"/>
                <a:gd name="connsiteY1" fmla="*/ 63437 h 63436"/>
                <a:gd name="connsiteX2" fmla="*/ 0 w 105870"/>
                <a:gd name="connsiteY2" fmla="*/ 63437 h 63436"/>
                <a:gd name="connsiteX3" fmla="*/ 6239 w 105870"/>
                <a:gd name="connsiteY3" fmla="*/ 0 h 63436"/>
                <a:gd name="connsiteX4" fmla="*/ 99631 w 105870"/>
                <a:gd name="connsiteY4" fmla="*/ 0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70" h="63436">
                  <a:moveTo>
                    <a:pt x="99631" y="0"/>
                  </a:moveTo>
                  <a:lnTo>
                    <a:pt x="105870" y="63437"/>
                  </a:lnTo>
                  <a:lnTo>
                    <a:pt x="0" y="63437"/>
                  </a:lnTo>
                  <a:lnTo>
                    <a:pt x="6239" y="0"/>
                  </a:lnTo>
                  <a:lnTo>
                    <a:pt x="99631"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71" name="图形 285"/>
          <p:cNvGrpSpPr>
            <a:grpSpLocks noChangeAspect="1"/>
          </p:cNvGrpSpPr>
          <p:nvPr/>
        </p:nvGrpSpPr>
        <p:grpSpPr>
          <a:xfrm>
            <a:off x="7695526" y="3328865"/>
            <a:ext cx="341547" cy="362834"/>
            <a:chOff x="5522166" y="2819400"/>
            <a:chExt cx="1147667" cy="1219200"/>
          </a:xfrm>
          <a:solidFill>
            <a:schemeClr val="bg1"/>
          </a:solidFill>
        </p:grpSpPr>
        <p:sp>
          <p:nvSpPr>
            <p:cNvPr id="172" name="任意多边形: 形状 171"/>
            <p:cNvSpPr/>
            <p:nvPr/>
          </p:nvSpPr>
          <p:spPr>
            <a:xfrm>
              <a:off x="5681542" y="2819400"/>
              <a:ext cx="822616" cy="541967"/>
            </a:xfrm>
            <a:custGeom>
              <a:avLst/>
              <a:gdLst>
                <a:gd name="connsiteX0" fmla="*/ 19884 w 822616"/>
                <a:gd name="connsiteY0" fmla="*/ 530352 h 541967"/>
                <a:gd name="connsiteX1" fmla="*/ 81797 w 822616"/>
                <a:gd name="connsiteY1" fmla="*/ 527828 h 541967"/>
                <a:gd name="connsiteX2" fmla="*/ 414791 w 822616"/>
                <a:gd name="connsiteY2" fmla="*/ 187023 h 541967"/>
                <a:gd name="connsiteX3" fmla="*/ 742737 w 822616"/>
                <a:gd name="connsiteY3" fmla="*/ 511493 h 541967"/>
                <a:gd name="connsiteX4" fmla="*/ 802839 w 822616"/>
                <a:gd name="connsiteY4" fmla="*/ 511112 h 541967"/>
                <a:gd name="connsiteX5" fmla="*/ 810316 w 822616"/>
                <a:gd name="connsiteY5" fmla="*/ 503587 h 541967"/>
                <a:gd name="connsiteX6" fmla="*/ 809983 w 822616"/>
                <a:gd name="connsiteY6" fmla="*/ 443436 h 541967"/>
                <a:gd name="connsiteX7" fmla="*/ 465178 w 822616"/>
                <a:gd name="connsiteY7" fmla="*/ 102346 h 541967"/>
                <a:gd name="connsiteX8" fmla="*/ 478275 w 822616"/>
                <a:gd name="connsiteY8" fmla="*/ 63770 h 541967"/>
                <a:gd name="connsiteX9" fmla="*/ 414457 w 822616"/>
                <a:gd name="connsiteY9" fmla="*/ 0 h 541967"/>
                <a:gd name="connsiteX10" fmla="*/ 350688 w 822616"/>
                <a:gd name="connsiteY10" fmla="*/ 63770 h 541967"/>
                <a:gd name="connsiteX11" fmla="*/ 363784 w 822616"/>
                <a:gd name="connsiteY11" fmla="*/ 102346 h 541967"/>
                <a:gd name="connsiteX12" fmla="*/ 13360 w 822616"/>
                <a:gd name="connsiteY12" fmla="*/ 461010 h 541967"/>
                <a:gd name="connsiteX13" fmla="*/ 12264 w 822616"/>
                <a:gd name="connsiteY13" fmla="*/ 522923 h 541967"/>
                <a:gd name="connsiteX14" fmla="*/ 19884 w 822616"/>
                <a:gd name="connsiteY14" fmla="*/ 530352 h 5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2616" h="541967">
                  <a:moveTo>
                    <a:pt x="19884" y="530352"/>
                  </a:moveTo>
                  <a:cubicBezTo>
                    <a:pt x="36696" y="546783"/>
                    <a:pt x="64366" y="545640"/>
                    <a:pt x="81797" y="527828"/>
                  </a:cubicBezTo>
                  <a:lnTo>
                    <a:pt x="414791" y="187023"/>
                  </a:lnTo>
                  <a:lnTo>
                    <a:pt x="742737" y="511493"/>
                  </a:lnTo>
                  <a:cubicBezTo>
                    <a:pt x="759453" y="527971"/>
                    <a:pt x="786361" y="527828"/>
                    <a:pt x="802839" y="511112"/>
                  </a:cubicBezTo>
                  <a:lnTo>
                    <a:pt x="810316" y="503587"/>
                  </a:lnTo>
                  <a:cubicBezTo>
                    <a:pt x="826842" y="486870"/>
                    <a:pt x="826699" y="459962"/>
                    <a:pt x="809983" y="443436"/>
                  </a:cubicBezTo>
                  <a:lnTo>
                    <a:pt x="465178" y="102346"/>
                  </a:lnTo>
                  <a:cubicBezTo>
                    <a:pt x="473322" y="91631"/>
                    <a:pt x="478275" y="78296"/>
                    <a:pt x="478275" y="63770"/>
                  </a:cubicBezTo>
                  <a:cubicBezTo>
                    <a:pt x="478227" y="28575"/>
                    <a:pt x="449652" y="0"/>
                    <a:pt x="414457" y="0"/>
                  </a:cubicBezTo>
                  <a:cubicBezTo>
                    <a:pt x="379263" y="0"/>
                    <a:pt x="350688" y="28575"/>
                    <a:pt x="350688" y="63770"/>
                  </a:cubicBezTo>
                  <a:cubicBezTo>
                    <a:pt x="350688" y="78296"/>
                    <a:pt x="355593" y="91678"/>
                    <a:pt x="363784" y="102346"/>
                  </a:cubicBezTo>
                  <a:lnTo>
                    <a:pt x="13360" y="461010"/>
                  </a:lnTo>
                  <a:cubicBezTo>
                    <a:pt x="-4023" y="478822"/>
                    <a:pt x="-4500" y="506540"/>
                    <a:pt x="12264" y="522923"/>
                  </a:cubicBezTo>
                  <a:lnTo>
                    <a:pt x="19884" y="53035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3" name="任意多边形: 形状 172"/>
            <p:cNvSpPr/>
            <p:nvPr/>
          </p:nvSpPr>
          <p:spPr>
            <a:xfrm>
              <a:off x="5522166" y="3074431"/>
              <a:ext cx="1147667" cy="964168"/>
            </a:xfrm>
            <a:custGeom>
              <a:avLst/>
              <a:gdLst>
                <a:gd name="connsiteX0" fmla="*/ 1020175 w 1147667"/>
                <a:gd name="connsiteY0" fmla="*/ 626316 h 964168"/>
                <a:gd name="connsiteX1" fmla="*/ 1008840 w 1147667"/>
                <a:gd name="connsiteY1" fmla="*/ 637651 h 964168"/>
                <a:gd name="connsiteX2" fmla="*/ 903970 w 1147667"/>
                <a:gd name="connsiteY2" fmla="*/ 637651 h 964168"/>
                <a:gd name="connsiteX3" fmla="*/ 892635 w 1147667"/>
                <a:gd name="connsiteY3" fmla="*/ 626316 h 964168"/>
                <a:gd name="connsiteX4" fmla="*/ 892635 w 1147667"/>
                <a:gd name="connsiteY4" fmla="*/ 529971 h 964168"/>
                <a:gd name="connsiteX5" fmla="*/ 903970 w 1147667"/>
                <a:gd name="connsiteY5" fmla="*/ 518636 h 964168"/>
                <a:gd name="connsiteX6" fmla="*/ 1008840 w 1147667"/>
                <a:gd name="connsiteY6" fmla="*/ 518636 h 964168"/>
                <a:gd name="connsiteX7" fmla="*/ 1020175 w 1147667"/>
                <a:gd name="connsiteY7" fmla="*/ 529971 h 964168"/>
                <a:gd name="connsiteX8" fmla="*/ 1020175 w 1147667"/>
                <a:gd name="connsiteY8" fmla="*/ 626316 h 964168"/>
                <a:gd name="connsiteX9" fmla="*/ 1020175 w 1147667"/>
                <a:gd name="connsiteY9" fmla="*/ 809101 h 964168"/>
                <a:gd name="connsiteX10" fmla="*/ 1008840 w 1147667"/>
                <a:gd name="connsiteY10" fmla="*/ 820436 h 964168"/>
                <a:gd name="connsiteX11" fmla="*/ 903970 w 1147667"/>
                <a:gd name="connsiteY11" fmla="*/ 820436 h 964168"/>
                <a:gd name="connsiteX12" fmla="*/ 892635 w 1147667"/>
                <a:gd name="connsiteY12" fmla="*/ 809101 h 964168"/>
                <a:gd name="connsiteX13" fmla="*/ 892635 w 1147667"/>
                <a:gd name="connsiteY13" fmla="*/ 712756 h 964168"/>
                <a:gd name="connsiteX14" fmla="*/ 903970 w 1147667"/>
                <a:gd name="connsiteY14" fmla="*/ 701421 h 964168"/>
                <a:gd name="connsiteX15" fmla="*/ 1008840 w 1147667"/>
                <a:gd name="connsiteY15" fmla="*/ 701421 h 964168"/>
                <a:gd name="connsiteX16" fmla="*/ 1020175 w 1147667"/>
                <a:gd name="connsiteY16" fmla="*/ 712756 h 964168"/>
                <a:gd name="connsiteX17" fmla="*/ 1020175 w 1147667"/>
                <a:gd name="connsiteY17" fmla="*/ 809101 h 964168"/>
                <a:gd name="connsiteX18" fmla="*/ 828913 w 1147667"/>
                <a:gd name="connsiteY18" fmla="*/ 617839 h 964168"/>
                <a:gd name="connsiteX19" fmla="*/ 817578 w 1147667"/>
                <a:gd name="connsiteY19" fmla="*/ 629174 h 964168"/>
                <a:gd name="connsiteX20" fmla="*/ 712708 w 1147667"/>
                <a:gd name="connsiteY20" fmla="*/ 629174 h 964168"/>
                <a:gd name="connsiteX21" fmla="*/ 701373 w 1147667"/>
                <a:gd name="connsiteY21" fmla="*/ 617839 h 964168"/>
                <a:gd name="connsiteX22" fmla="*/ 701373 w 1147667"/>
                <a:gd name="connsiteY22" fmla="*/ 521446 h 964168"/>
                <a:gd name="connsiteX23" fmla="*/ 712708 w 1147667"/>
                <a:gd name="connsiteY23" fmla="*/ 510111 h 964168"/>
                <a:gd name="connsiteX24" fmla="*/ 817578 w 1147667"/>
                <a:gd name="connsiteY24" fmla="*/ 510111 h 964168"/>
                <a:gd name="connsiteX25" fmla="*/ 828913 w 1147667"/>
                <a:gd name="connsiteY25" fmla="*/ 521446 h 964168"/>
                <a:gd name="connsiteX26" fmla="*/ 828913 w 1147667"/>
                <a:gd name="connsiteY26" fmla="*/ 617839 h 964168"/>
                <a:gd name="connsiteX27" fmla="*/ 828913 w 1147667"/>
                <a:gd name="connsiteY27" fmla="*/ 813387 h 964168"/>
                <a:gd name="connsiteX28" fmla="*/ 817578 w 1147667"/>
                <a:gd name="connsiteY28" fmla="*/ 824722 h 964168"/>
                <a:gd name="connsiteX29" fmla="*/ 712708 w 1147667"/>
                <a:gd name="connsiteY29" fmla="*/ 824722 h 964168"/>
                <a:gd name="connsiteX30" fmla="*/ 701373 w 1147667"/>
                <a:gd name="connsiteY30" fmla="*/ 813387 h 964168"/>
                <a:gd name="connsiteX31" fmla="*/ 701373 w 1147667"/>
                <a:gd name="connsiteY31" fmla="*/ 716994 h 964168"/>
                <a:gd name="connsiteX32" fmla="*/ 712708 w 1147667"/>
                <a:gd name="connsiteY32" fmla="*/ 705660 h 964168"/>
                <a:gd name="connsiteX33" fmla="*/ 817578 w 1147667"/>
                <a:gd name="connsiteY33" fmla="*/ 705660 h 964168"/>
                <a:gd name="connsiteX34" fmla="*/ 828913 w 1147667"/>
                <a:gd name="connsiteY34" fmla="*/ 716994 h 964168"/>
                <a:gd name="connsiteX35" fmla="*/ 828913 w 1147667"/>
                <a:gd name="connsiteY35" fmla="*/ 813387 h 964168"/>
                <a:gd name="connsiteX36" fmla="*/ 669512 w 1147667"/>
                <a:gd name="connsiteY36" fmla="*/ 924592 h 964168"/>
                <a:gd name="connsiteX37" fmla="*/ 478250 w 1147667"/>
                <a:gd name="connsiteY37" fmla="*/ 924592 h 964168"/>
                <a:gd name="connsiteX38" fmla="*/ 478250 w 1147667"/>
                <a:gd name="connsiteY38" fmla="*/ 750999 h 964168"/>
                <a:gd name="connsiteX39" fmla="*/ 520732 w 1147667"/>
                <a:gd name="connsiteY39" fmla="*/ 701421 h 964168"/>
                <a:gd name="connsiteX40" fmla="*/ 626983 w 1147667"/>
                <a:gd name="connsiteY40" fmla="*/ 701421 h 964168"/>
                <a:gd name="connsiteX41" fmla="*/ 669465 w 1147667"/>
                <a:gd name="connsiteY41" fmla="*/ 750999 h 964168"/>
                <a:gd name="connsiteX42" fmla="*/ 669465 w 1147667"/>
                <a:gd name="connsiteY42" fmla="*/ 924592 h 964168"/>
                <a:gd name="connsiteX43" fmla="*/ 446389 w 1147667"/>
                <a:gd name="connsiteY43" fmla="*/ 617839 h 964168"/>
                <a:gd name="connsiteX44" fmla="*/ 435054 w 1147667"/>
                <a:gd name="connsiteY44" fmla="*/ 629174 h 964168"/>
                <a:gd name="connsiteX45" fmla="*/ 330184 w 1147667"/>
                <a:gd name="connsiteY45" fmla="*/ 629174 h 964168"/>
                <a:gd name="connsiteX46" fmla="*/ 318849 w 1147667"/>
                <a:gd name="connsiteY46" fmla="*/ 617839 h 964168"/>
                <a:gd name="connsiteX47" fmla="*/ 318849 w 1147667"/>
                <a:gd name="connsiteY47" fmla="*/ 521446 h 964168"/>
                <a:gd name="connsiteX48" fmla="*/ 330184 w 1147667"/>
                <a:gd name="connsiteY48" fmla="*/ 510111 h 964168"/>
                <a:gd name="connsiteX49" fmla="*/ 435054 w 1147667"/>
                <a:gd name="connsiteY49" fmla="*/ 510111 h 964168"/>
                <a:gd name="connsiteX50" fmla="*/ 446389 w 1147667"/>
                <a:gd name="connsiteY50" fmla="*/ 521446 h 964168"/>
                <a:gd name="connsiteX51" fmla="*/ 446389 w 1147667"/>
                <a:gd name="connsiteY51" fmla="*/ 617839 h 964168"/>
                <a:gd name="connsiteX52" fmla="*/ 446389 w 1147667"/>
                <a:gd name="connsiteY52" fmla="*/ 809101 h 964168"/>
                <a:gd name="connsiteX53" fmla="*/ 435054 w 1147667"/>
                <a:gd name="connsiteY53" fmla="*/ 820436 h 964168"/>
                <a:gd name="connsiteX54" fmla="*/ 330184 w 1147667"/>
                <a:gd name="connsiteY54" fmla="*/ 820436 h 964168"/>
                <a:gd name="connsiteX55" fmla="*/ 318849 w 1147667"/>
                <a:gd name="connsiteY55" fmla="*/ 809101 h 964168"/>
                <a:gd name="connsiteX56" fmla="*/ 318849 w 1147667"/>
                <a:gd name="connsiteY56" fmla="*/ 712756 h 964168"/>
                <a:gd name="connsiteX57" fmla="*/ 330184 w 1147667"/>
                <a:gd name="connsiteY57" fmla="*/ 701421 h 964168"/>
                <a:gd name="connsiteX58" fmla="*/ 435054 w 1147667"/>
                <a:gd name="connsiteY58" fmla="*/ 701421 h 964168"/>
                <a:gd name="connsiteX59" fmla="*/ 446389 w 1147667"/>
                <a:gd name="connsiteY59" fmla="*/ 712756 h 964168"/>
                <a:gd name="connsiteX60" fmla="*/ 446389 w 1147667"/>
                <a:gd name="connsiteY60" fmla="*/ 809101 h 964168"/>
                <a:gd name="connsiteX61" fmla="*/ 255080 w 1147667"/>
                <a:gd name="connsiteY61" fmla="*/ 622078 h 964168"/>
                <a:gd name="connsiteX62" fmla="*/ 243745 w 1147667"/>
                <a:gd name="connsiteY62" fmla="*/ 633413 h 964168"/>
                <a:gd name="connsiteX63" fmla="*/ 138922 w 1147667"/>
                <a:gd name="connsiteY63" fmla="*/ 633413 h 964168"/>
                <a:gd name="connsiteX64" fmla="*/ 127587 w 1147667"/>
                <a:gd name="connsiteY64" fmla="*/ 622078 h 964168"/>
                <a:gd name="connsiteX65" fmla="*/ 127587 w 1147667"/>
                <a:gd name="connsiteY65" fmla="*/ 525732 h 964168"/>
                <a:gd name="connsiteX66" fmla="*/ 138922 w 1147667"/>
                <a:gd name="connsiteY66" fmla="*/ 514398 h 964168"/>
                <a:gd name="connsiteX67" fmla="*/ 243745 w 1147667"/>
                <a:gd name="connsiteY67" fmla="*/ 514398 h 964168"/>
                <a:gd name="connsiteX68" fmla="*/ 255080 w 1147667"/>
                <a:gd name="connsiteY68" fmla="*/ 525732 h 964168"/>
                <a:gd name="connsiteX69" fmla="*/ 255080 w 1147667"/>
                <a:gd name="connsiteY69" fmla="*/ 622078 h 964168"/>
                <a:gd name="connsiteX70" fmla="*/ 255080 w 1147667"/>
                <a:gd name="connsiteY70" fmla="*/ 813387 h 964168"/>
                <a:gd name="connsiteX71" fmla="*/ 243745 w 1147667"/>
                <a:gd name="connsiteY71" fmla="*/ 824722 h 964168"/>
                <a:gd name="connsiteX72" fmla="*/ 138922 w 1147667"/>
                <a:gd name="connsiteY72" fmla="*/ 824722 h 964168"/>
                <a:gd name="connsiteX73" fmla="*/ 127587 w 1147667"/>
                <a:gd name="connsiteY73" fmla="*/ 813387 h 964168"/>
                <a:gd name="connsiteX74" fmla="*/ 127587 w 1147667"/>
                <a:gd name="connsiteY74" fmla="*/ 716994 h 964168"/>
                <a:gd name="connsiteX75" fmla="*/ 138922 w 1147667"/>
                <a:gd name="connsiteY75" fmla="*/ 705660 h 964168"/>
                <a:gd name="connsiteX76" fmla="*/ 243745 w 1147667"/>
                <a:gd name="connsiteY76" fmla="*/ 705660 h 964168"/>
                <a:gd name="connsiteX77" fmla="*/ 255080 w 1147667"/>
                <a:gd name="connsiteY77" fmla="*/ 716994 h 964168"/>
                <a:gd name="connsiteX78" fmla="*/ 255080 w 1147667"/>
                <a:gd name="connsiteY78" fmla="*/ 813387 h 964168"/>
                <a:gd name="connsiteX79" fmla="*/ 414480 w 1147667"/>
                <a:gd name="connsiteY79" fmla="*/ 274939 h 964168"/>
                <a:gd name="connsiteX80" fmla="*/ 425815 w 1147667"/>
                <a:gd name="connsiteY80" fmla="*/ 263557 h 964168"/>
                <a:gd name="connsiteX81" fmla="*/ 530685 w 1147667"/>
                <a:gd name="connsiteY81" fmla="*/ 263557 h 964168"/>
                <a:gd name="connsiteX82" fmla="*/ 542020 w 1147667"/>
                <a:gd name="connsiteY82" fmla="*/ 274939 h 964168"/>
                <a:gd name="connsiteX83" fmla="*/ 542020 w 1147667"/>
                <a:gd name="connsiteY83" fmla="*/ 371237 h 964168"/>
                <a:gd name="connsiteX84" fmla="*/ 530685 w 1147667"/>
                <a:gd name="connsiteY84" fmla="*/ 382619 h 964168"/>
                <a:gd name="connsiteX85" fmla="*/ 425815 w 1147667"/>
                <a:gd name="connsiteY85" fmla="*/ 382619 h 964168"/>
                <a:gd name="connsiteX86" fmla="*/ 414480 w 1147667"/>
                <a:gd name="connsiteY86" fmla="*/ 371237 h 964168"/>
                <a:gd name="connsiteX87" fmla="*/ 414480 w 1147667"/>
                <a:gd name="connsiteY87" fmla="*/ 274939 h 964168"/>
                <a:gd name="connsiteX88" fmla="*/ 626316 w 1147667"/>
                <a:gd name="connsiteY88" fmla="*/ 514398 h 964168"/>
                <a:gd name="connsiteX89" fmla="*/ 637651 w 1147667"/>
                <a:gd name="connsiteY89" fmla="*/ 525732 h 964168"/>
                <a:gd name="connsiteX90" fmla="*/ 637651 w 1147667"/>
                <a:gd name="connsiteY90" fmla="*/ 622078 h 964168"/>
                <a:gd name="connsiteX91" fmla="*/ 626316 w 1147667"/>
                <a:gd name="connsiteY91" fmla="*/ 633413 h 964168"/>
                <a:gd name="connsiteX92" fmla="*/ 521446 w 1147667"/>
                <a:gd name="connsiteY92" fmla="*/ 633413 h 964168"/>
                <a:gd name="connsiteX93" fmla="*/ 510111 w 1147667"/>
                <a:gd name="connsiteY93" fmla="*/ 622078 h 964168"/>
                <a:gd name="connsiteX94" fmla="*/ 510111 w 1147667"/>
                <a:gd name="connsiteY94" fmla="*/ 525732 h 964168"/>
                <a:gd name="connsiteX95" fmla="*/ 521446 w 1147667"/>
                <a:gd name="connsiteY95" fmla="*/ 514398 h 964168"/>
                <a:gd name="connsiteX96" fmla="*/ 626316 w 1147667"/>
                <a:gd name="connsiteY96" fmla="*/ 514398 h 964168"/>
                <a:gd name="connsiteX97" fmla="*/ 605790 w 1147667"/>
                <a:gd name="connsiteY97" fmla="*/ 270653 h 964168"/>
                <a:gd name="connsiteX98" fmla="*/ 617125 w 1147667"/>
                <a:gd name="connsiteY98" fmla="*/ 259318 h 964168"/>
                <a:gd name="connsiteX99" fmla="*/ 721947 w 1147667"/>
                <a:gd name="connsiteY99" fmla="*/ 259318 h 964168"/>
                <a:gd name="connsiteX100" fmla="*/ 733282 w 1147667"/>
                <a:gd name="connsiteY100" fmla="*/ 270653 h 964168"/>
                <a:gd name="connsiteX101" fmla="*/ 733282 w 1147667"/>
                <a:gd name="connsiteY101" fmla="*/ 367046 h 964168"/>
                <a:gd name="connsiteX102" fmla="*/ 721947 w 1147667"/>
                <a:gd name="connsiteY102" fmla="*/ 378333 h 964168"/>
                <a:gd name="connsiteX103" fmla="*/ 617125 w 1147667"/>
                <a:gd name="connsiteY103" fmla="*/ 378333 h 964168"/>
                <a:gd name="connsiteX104" fmla="*/ 605790 w 1147667"/>
                <a:gd name="connsiteY104" fmla="*/ 367046 h 964168"/>
                <a:gd name="connsiteX105" fmla="*/ 605790 w 1147667"/>
                <a:gd name="connsiteY105" fmla="*/ 270653 h 964168"/>
                <a:gd name="connsiteX106" fmla="*/ 1105281 w 1147667"/>
                <a:gd name="connsiteY106" fmla="*/ 422196 h 964168"/>
                <a:gd name="connsiteX107" fmla="*/ 828961 w 1147667"/>
                <a:gd name="connsiteY107" fmla="*/ 422196 h 964168"/>
                <a:gd name="connsiteX108" fmla="*/ 828961 w 1147667"/>
                <a:gd name="connsiteY108" fmla="*/ 255032 h 964168"/>
                <a:gd name="connsiteX109" fmla="*/ 573929 w 1147667"/>
                <a:gd name="connsiteY109" fmla="*/ 0 h 964168"/>
                <a:gd name="connsiteX110" fmla="*/ 318849 w 1147667"/>
                <a:gd name="connsiteY110" fmla="*/ 255032 h 964168"/>
                <a:gd name="connsiteX111" fmla="*/ 318849 w 1147667"/>
                <a:gd name="connsiteY111" fmla="*/ 422196 h 964168"/>
                <a:gd name="connsiteX112" fmla="*/ 42482 w 1147667"/>
                <a:gd name="connsiteY112" fmla="*/ 422196 h 964168"/>
                <a:gd name="connsiteX113" fmla="*/ 0 w 1147667"/>
                <a:gd name="connsiteY113" fmla="*/ 458295 h 964168"/>
                <a:gd name="connsiteX114" fmla="*/ 0 w 1147667"/>
                <a:gd name="connsiteY114" fmla="*/ 928021 h 964168"/>
                <a:gd name="connsiteX115" fmla="*/ 42482 w 1147667"/>
                <a:gd name="connsiteY115" fmla="*/ 964168 h 964168"/>
                <a:gd name="connsiteX116" fmla="*/ 1105186 w 1147667"/>
                <a:gd name="connsiteY116" fmla="*/ 964168 h 964168"/>
                <a:gd name="connsiteX117" fmla="*/ 1147667 w 1147667"/>
                <a:gd name="connsiteY117" fmla="*/ 928021 h 964168"/>
                <a:gd name="connsiteX118" fmla="*/ 1147667 w 1147667"/>
                <a:gd name="connsiteY118" fmla="*/ 458295 h 964168"/>
                <a:gd name="connsiteX119" fmla="*/ 1105186 w 1147667"/>
                <a:gd name="connsiteY119" fmla="*/ 422196 h 96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47667" h="964168">
                  <a:moveTo>
                    <a:pt x="1020175" y="626316"/>
                  </a:moveTo>
                  <a:cubicBezTo>
                    <a:pt x="1020175" y="632555"/>
                    <a:pt x="1015127" y="637651"/>
                    <a:pt x="1008840" y="637651"/>
                  </a:cubicBezTo>
                  <a:lnTo>
                    <a:pt x="903970" y="637651"/>
                  </a:lnTo>
                  <a:cubicBezTo>
                    <a:pt x="897684" y="637651"/>
                    <a:pt x="892635" y="632555"/>
                    <a:pt x="892635" y="626316"/>
                  </a:cubicBezTo>
                  <a:lnTo>
                    <a:pt x="892635" y="529971"/>
                  </a:lnTo>
                  <a:cubicBezTo>
                    <a:pt x="892635" y="523684"/>
                    <a:pt x="897731" y="518636"/>
                    <a:pt x="903970" y="518636"/>
                  </a:cubicBezTo>
                  <a:lnTo>
                    <a:pt x="1008840" y="518636"/>
                  </a:lnTo>
                  <a:cubicBezTo>
                    <a:pt x="1015079" y="518636"/>
                    <a:pt x="1020175" y="523684"/>
                    <a:pt x="1020175" y="529971"/>
                  </a:cubicBezTo>
                  <a:lnTo>
                    <a:pt x="1020175" y="626316"/>
                  </a:lnTo>
                  <a:close/>
                  <a:moveTo>
                    <a:pt x="1020175" y="809101"/>
                  </a:moveTo>
                  <a:cubicBezTo>
                    <a:pt x="1020175" y="815388"/>
                    <a:pt x="1015127" y="820436"/>
                    <a:pt x="1008840" y="820436"/>
                  </a:cubicBezTo>
                  <a:lnTo>
                    <a:pt x="903970" y="820436"/>
                  </a:lnTo>
                  <a:cubicBezTo>
                    <a:pt x="897684" y="820436"/>
                    <a:pt x="892635" y="815340"/>
                    <a:pt x="892635" y="809101"/>
                  </a:cubicBezTo>
                  <a:lnTo>
                    <a:pt x="892635" y="712756"/>
                  </a:lnTo>
                  <a:cubicBezTo>
                    <a:pt x="892635" y="706469"/>
                    <a:pt x="897731" y="701421"/>
                    <a:pt x="903970" y="701421"/>
                  </a:cubicBezTo>
                  <a:lnTo>
                    <a:pt x="1008840" y="701421"/>
                  </a:lnTo>
                  <a:cubicBezTo>
                    <a:pt x="1015079" y="701421"/>
                    <a:pt x="1020175" y="706469"/>
                    <a:pt x="1020175" y="712756"/>
                  </a:cubicBezTo>
                  <a:lnTo>
                    <a:pt x="1020175" y="809101"/>
                  </a:lnTo>
                  <a:close/>
                  <a:moveTo>
                    <a:pt x="828913" y="617839"/>
                  </a:moveTo>
                  <a:cubicBezTo>
                    <a:pt x="828913" y="624078"/>
                    <a:pt x="823865" y="629174"/>
                    <a:pt x="817578" y="629174"/>
                  </a:cubicBezTo>
                  <a:lnTo>
                    <a:pt x="712708" y="629174"/>
                  </a:lnTo>
                  <a:cubicBezTo>
                    <a:pt x="706422" y="629174"/>
                    <a:pt x="701373" y="624078"/>
                    <a:pt x="701373" y="617839"/>
                  </a:cubicBezTo>
                  <a:lnTo>
                    <a:pt x="701373" y="521446"/>
                  </a:lnTo>
                  <a:cubicBezTo>
                    <a:pt x="701373" y="515255"/>
                    <a:pt x="706469" y="510111"/>
                    <a:pt x="712708" y="510111"/>
                  </a:cubicBezTo>
                  <a:lnTo>
                    <a:pt x="817578" y="510111"/>
                  </a:lnTo>
                  <a:cubicBezTo>
                    <a:pt x="823865" y="510111"/>
                    <a:pt x="828913" y="515207"/>
                    <a:pt x="828913" y="521446"/>
                  </a:cubicBezTo>
                  <a:lnTo>
                    <a:pt x="828913" y="617839"/>
                  </a:lnTo>
                  <a:close/>
                  <a:moveTo>
                    <a:pt x="828913" y="813387"/>
                  </a:moveTo>
                  <a:cubicBezTo>
                    <a:pt x="828913" y="819626"/>
                    <a:pt x="823865" y="824722"/>
                    <a:pt x="817578" y="824722"/>
                  </a:cubicBezTo>
                  <a:lnTo>
                    <a:pt x="712708" y="824722"/>
                  </a:lnTo>
                  <a:cubicBezTo>
                    <a:pt x="706422" y="824722"/>
                    <a:pt x="701373" y="819626"/>
                    <a:pt x="701373" y="813387"/>
                  </a:cubicBezTo>
                  <a:lnTo>
                    <a:pt x="701373" y="716994"/>
                  </a:lnTo>
                  <a:cubicBezTo>
                    <a:pt x="701373" y="710756"/>
                    <a:pt x="706469" y="705660"/>
                    <a:pt x="712708" y="705660"/>
                  </a:cubicBezTo>
                  <a:lnTo>
                    <a:pt x="817578" y="705660"/>
                  </a:lnTo>
                  <a:cubicBezTo>
                    <a:pt x="823865" y="705660"/>
                    <a:pt x="828913" y="710708"/>
                    <a:pt x="828913" y="716994"/>
                  </a:cubicBezTo>
                  <a:lnTo>
                    <a:pt x="828913" y="813387"/>
                  </a:lnTo>
                  <a:close/>
                  <a:moveTo>
                    <a:pt x="669512" y="924592"/>
                  </a:moveTo>
                  <a:lnTo>
                    <a:pt x="478250" y="924592"/>
                  </a:lnTo>
                  <a:lnTo>
                    <a:pt x="478250" y="750999"/>
                  </a:lnTo>
                  <a:cubicBezTo>
                    <a:pt x="478250" y="723614"/>
                    <a:pt x="497253" y="701421"/>
                    <a:pt x="520732" y="701421"/>
                  </a:cubicBezTo>
                  <a:lnTo>
                    <a:pt x="626983" y="701421"/>
                  </a:lnTo>
                  <a:cubicBezTo>
                    <a:pt x="650462" y="701421"/>
                    <a:pt x="669465" y="723614"/>
                    <a:pt x="669465" y="750999"/>
                  </a:cubicBezTo>
                  <a:lnTo>
                    <a:pt x="669465" y="924592"/>
                  </a:lnTo>
                  <a:close/>
                  <a:moveTo>
                    <a:pt x="446389" y="617839"/>
                  </a:moveTo>
                  <a:cubicBezTo>
                    <a:pt x="446389" y="624078"/>
                    <a:pt x="441293" y="629174"/>
                    <a:pt x="435054" y="629174"/>
                  </a:cubicBezTo>
                  <a:lnTo>
                    <a:pt x="330184" y="629174"/>
                  </a:lnTo>
                  <a:cubicBezTo>
                    <a:pt x="323945" y="629174"/>
                    <a:pt x="318849" y="624078"/>
                    <a:pt x="318849" y="617839"/>
                  </a:cubicBezTo>
                  <a:lnTo>
                    <a:pt x="318849" y="521446"/>
                  </a:lnTo>
                  <a:cubicBezTo>
                    <a:pt x="318849" y="515255"/>
                    <a:pt x="323945" y="510111"/>
                    <a:pt x="330184" y="510111"/>
                  </a:cubicBezTo>
                  <a:lnTo>
                    <a:pt x="435054" y="510111"/>
                  </a:lnTo>
                  <a:cubicBezTo>
                    <a:pt x="441293" y="510111"/>
                    <a:pt x="446389" y="515207"/>
                    <a:pt x="446389" y="521446"/>
                  </a:cubicBezTo>
                  <a:lnTo>
                    <a:pt x="446389" y="617839"/>
                  </a:lnTo>
                  <a:close/>
                  <a:moveTo>
                    <a:pt x="446389" y="809101"/>
                  </a:moveTo>
                  <a:cubicBezTo>
                    <a:pt x="446389" y="815388"/>
                    <a:pt x="441293" y="820436"/>
                    <a:pt x="435054" y="820436"/>
                  </a:cubicBezTo>
                  <a:lnTo>
                    <a:pt x="330184" y="820436"/>
                  </a:lnTo>
                  <a:cubicBezTo>
                    <a:pt x="323945" y="820436"/>
                    <a:pt x="318849" y="815340"/>
                    <a:pt x="318849" y="809101"/>
                  </a:cubicBezTo>
                  <a:lnTo>
                    <a:pt x="318849" y="712756"/>
                  </a:lnTo>
                  <a:cubicBezTo>
                    <a:pt x="318849" y="706469"/>
                    <a:pt x="323945" y="701421"/>
                    <a:pt x="330184" y="701421"/>
                  </a:cubicBezTo>
                  <a:lnTo>
                    <a:pt x="435054" y="701421"/>
                  </a:lnTo>
                  <a:cubicBezTo>
                    <a:pt x="441293" y="701421"/>
                    <a:pt x="446389" y="706469"/>
                    <a:pt x="446389" y="712756"/>
                  </a:cubicBezTo>
                  <a:lnTo>
                    <a:pt x="446389" y="809101"/>
                  </a:lnTo>
                  <a:close/>
                  <a:moveTo>
                    <a:pt x="255080" y="622078"/>
                  </a:moveTo>
                  <a:cubicBezTo>
                    <a:pt x="255080" y="628364"/>
                    <a:pt x="249984" y="633413"/>
                    <a:pt x="243745" y="633413"/>
                  </a:cubicBezTo>
                  <a:lnTo>
                    <a:pt x="138922" y="633413"/>
                  </a:lnTo>
                  <a:cubicBezTo>
                    <a:pt x="132636" y="633413"/>
                    <a:pt x="127587" y="628364"/>
                    <a:pt x="127587" y="622078"/>
                  </a:cubicBezTo>
                  <a:lnTo>
                    <a:pt x="127587" y="525732"/>
                  </a:lnTo>
                  <a:cubicBezTo>
                    <a:pt x="127587" y="519446"/>
                    <a:pt x="132636" y="514398"/>
                    <a:pt x="138922" y="514398"/>
                  </a:cubicBezTo>
                  <a:lnTo>
                    <a:pt x="243745" y="514398"/>
                  </a:lnTo>
                  <a:cubicBezTo>
                    <a:pt x="249984" y="514398"/>
                    <a:pt x="255080" y="519446"/>
                    <a:pt x="255080" y="525732"/>
                  </a:cubicBezTo>
                  <a:lnTo>
                    <a:pt x="255080" y="622078"/>
                  </a:lnTo>
                  <a:close/>
                  <a:moveTo>
                    <a:pt x="255080" y="813387"/>
                  </a:moveTo>
                  <a:cubicBezTo>
                    <a:pt x="255080" y="819626"/>
                    <a:pt x="249984" y="824722"/>
                    <a:pt x="243745" y="824722"/>
                  </a:cubicBezTo>
                  <a:lnTo>
                    <a:pt x="138922" y="824722"/>
                  </a:lnTo>
                  <a:cubicBezTo>
                    <a:pt x="132636" y="824722"/>
                    <a:pt x="127587" y="819626"/>
                    <a:pt x="127587" y="813387"/>
                  </a:cubicBezTo>
                  <a:lnTo>
                    <a:pt x="127587" y="716994"/>
                  </a:lnTo>
                  <a:cubicBezTo>
                    <a:pt x="127587" y="710756"/>
                    <a:pt x="132636" y="705660"/>
                    <a:pt x="138922" y="705660"/>
                  </a:cubicBezTo>
                  <a:lnTo>
                    <a:pt x="243745" y="705660"/>
                  </a:lnTo>
                  <a:cubicBezTo>
                    <a:pt x="249984" y="705660"/>
                    <a:pt x="255080" y="710708"/>
                    <a:pt x="255080" y="716994"/>
                  </a:cubicBezTo>
                  <a:lnTo>
                    <a:pt x="255080" y="813387"/>
                  </a:lnTo>
                  <a:close/>
                  <a:moveTo>
                    <a:pt x="414480" y="274939"/>
                  </a:moveTo>
                  <a:cubicBezTo>
                    <a:pt x="414480" y="268653"/>
                    <a:pt x="419576" y="263557"/>
                    <a:pt x="425815" y="263557"/>
                  </a:cubicBezTo>
                  <a:lnTo>
                    <a:pt x="530685" y="263557"/>
                  </a:lnTo>
                  <a:cubicBezTo>
                    <a:pt x="536924" y="263557"/>
                    <a:pt x="542020" y="268653"/>
                    <a:pt x="542020" y="274939"/>
                  </a:cubicBezTo>
                  <a:lnTo>
                    <a:pt x="542020" y="371237"/>
                  </a:lnTo>
                  <a:cubicBezTo>
                    <a:pt x="542020" y="377523"/>
                    <a:pt x="536924" y="382619"/>
                    <a:pt x="530685" y="382619"/>
                  </a:cubicBezTo>
                  <a:lnTo>
                    <a:pt x="425815" y="382619"/>
                  </a:lnTo>
                  <a:cubicBezTo>
                    <a:pt x="419576" y="382619"/>
                    <a:pt x="414480" y="377523"/>
                    <a:pt x="414480" y="371237"/>
                  </a:cubicBezTo>
                  <a:lnTo>
                    <a:pt x="414480" y="274939"/>
                  </a:lnTo>
                  <a:close/>
                  <a:moveTo>
                    <a:pt x="626316" y="514398"/>
                  </a:moveTo>
                  <a:cubicBezTo>
                    <a:pt x="632603" y="514398"/>
                    <a:pt x="637651" y="519446"/>
                    <a:pt x="637651" y="525732"/>
                  </a:cubicBezTo>
                  <a:lnTo>
                    <a:pt x="637651" y="622078"/>
                  </a:lnTo>
                  <a:cubicBezTo>
                    <a:pt x="637651" y="628364"/>
                    <a:pt x="632555" y="633413"/>
                    <a:pt x="626316" y="633413"/>
                  </a:cubicBezTo>
                  <a:lnTo>
                    <a:pt x="521446" y="633413"/>
                  </a:lnTo>
                  <a:cubicBezTo>
                    <a:pt x="515207" y="633413"/>
                    <a:pt x="510111" y="628364"/>
                    <a:pt x="510111" y="622078"/>
                  </a:cubicBezTo>
                  <a:lnTo>
                    <a:pt x="510111" y="525732"/>
                  </a:lnTo>
                  <a:cubicBezTo>
                    <a:pt x="510111" y="519446"/>
                    <a:pt x="515207" y="514398"/>
                    <a:pt x="521446" y="514398"/>
                  </a:cubicBezTo>
                  <a:lnTo>
                    <a:pt x="626316" y="514398"/>
                  </a:lnTo>
                  <a:close/>
                  <a:moveTo>
                    <a:pt x="605790" y="270653"/>
                  </a:moveTo>
                  <a:cubicBezTo>
                    <a:pt x="605790" y="264366"/>
                    <a:pt x="610838" y="259318"/>
                    <a:pt x="617125" y="259318"/>
                  </a:cubicBezTo>
                  <a:lnTo>
                    <a:pt x="721947" y="259318"/>
                  </a:lnTo>
                  <a:cubicBezTo>
                    <a:pt x="728234" y="259318"/>
                    <a:pt x="733282" y="264414"/>
                    <a:pt x="733282" y="270653"/>
                  </a:cubicBezTo>
                  <a:lnTo>
                    <a:pt x="733282" y="367046"/>
                  </a:lnTo>
                  <a:cubicBezTo>
                    <a:pt x="733282" y="373332"/>
                    <a:pt x="728234" y="378333"/>
                    <a:pt x="721947" y="378333"/>
                  </a:cubicBezTo>
                  <a:lnTo>
                    <a:pt x="617125" y="378333"/>
                  </a:lnTo>
                  <a:cubicBezTo>
                    <a:pt x="610838" y="378333"/>
                    <a:pt x="605790" y="373285"/>
                    <a:pt x="605790" y="367046"/>
                  </a:cubicBezTo>
                  <a:lnTo>
                    <a:pt x="605790" y="270653"/>
                  </a:lnTo>
                  <a:close/>
                  <a:moveTo>
                    <a:pt x="1105281" y="422196"/>
                  </a:moveTo>
                  <a:lnTo>
                    <a:pt x="828961" y="422196"/>
                  </a:lnTo>
                  <a:lnTo>
                    <a:pt x="828961" y="255032"/>
                  </a:lnTo>
                  <a:lnTo>
                    <a:pt x="573929" y="0"/>
                  </a:lnTo>
                  <a:lnTo>
                    <a:pt x="318849" y="255032"/>
                  </a:lnTo>
                  <a:lnTo>
                    <a:pt x="318849" y="422196"/>
                  </a:lnTo>
                  <a:lnTo>
                    <a:pt x="42482" y="422196"/>
                  </a:lnTo>
                  <a:cubicBezTo>
                    <a:pt x="19002" y="422196"/>
                    <a:pt x="0" y="438388"/>
                    <a:pt x="0" y="458295"/>
                  </a:cubicBezTo>
                  <a:lnTo>
                    <a:pt x="0" y="928021"/>
                  </a:lnTo>
                  <a:cubicBezTo>
                    <a:pt x="0" y="947976"/>
                    <a:pt x="19050" y="964168"/>
                    <a:pt x="42482" y="964168"/>
                  </a:cubicBezTo>
                  <a:lnTo>
                    <a:pt x="1105186" y="964168"/>
                  </a:lnTo>
                  <a:cubicBezTo>
                    <a:pt x="1128617" y="964168"/>
                    <a:pt x="1147667" y="947976"/>
                    <a:pt x="1147667" y="928021"/>
                  </a:cubicBezTo>
                  <a:lnTo>
                    <a:pt x="1147667" y="458295"/>
                  </a:lnTo>
                  <a:cubicBezTo>
                    <a:pt x="1147667" y="438388"/>
                    <a:pt x="1128617" y="422196"/>
                    <a:pt x="1105186" y="42219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任意多边形: 形状 204"/>
          <p:cNvSpPr/>
          <p:nvPr/>
        </p:nvSpPr>
        <p:spPr>
          <a:xfrm>
            <a:off x="2169161" y="1402080"/>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6" name="任意多边形: 形状 205"/>
          <p:cNvSpPr/>
          <p:nvPr/>
        </p:nvSpPr>
        <p:spPr>
          <a:xfrm>
            <a:off x="2169161" y="2664834"/>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7" name="任意多边形: 形状 206"/>
          <p:cNvSpPr/>
          <p:nvPr/>
        </p:nvSpPr>
        <p:spPr>
          <a:xfrm>
            <a:off x="2169161" y="3927588"/>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9" name="任意多边形: 形状 208"/>
          <p:cNvSpPr/>
          <p:nvPr/>
        </p:nvSpPr>
        <p:spPr>
          <a:xfrm>
            <a:off x="2169161" y="6453098"/>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漏斗图：营销渠道转化漏斗</a:t>
            </a:r>
          </a:p>
        </p:txBody>
      </p:sp>
      <p:grpSp>
        <p:nvGrpSpPr>
          <p:cNvPr id="146" name="组合 145"/>
          <p:cNvGrpSpPr/>
          <p:nvPr/>
        </p:nvGrpSpPr>
        <p:grpSpPr>
          <a:xfrm>
            <a:off x="177366" y="1403829"/>
            <a:ext cx="369332" cy="1270791"/>
            <a:chOff x="164949" y="911188"/>
            <a:chExt cx="369332" cy="2517815"/>
          </a:xfrm>
        </p:grpSpPr>
        <p:grpSp>
          <p:nvGrpSpPr>
            <p:cNvPr id="147" name="组合 146"/>
            <p:cNvGrpSpPr/>
            <p:nvPr/>
          </p:nvGrpSpPr>
          <p:grpSpPr>
            <a:xfrm rot="5400000">
              <a:off x="-909290" y="2056419"/>
              <a:ext cx="2517815" cy="227354"/>
              <a:chOff x="2239349" y="1110894"/>
              <a:chExt cx="5059705" cy="139959"/>
            </a:xfrm>
          </p:grpSpPr>
          <p:grpSp>
            <p:nvGrpSpPr>
              <p:cNvPr id="149" name="组合 148"/>
              <p:cNvGrpSpPr/>
              <p:nvPr/>
            </p:nvGrpSpPr>
            <p:grpSpPr>
              <a:xfrm>
                <a:off x="2239349" y="1110894"/>
                <a:ext cx="1006990" cy="139959"/>
                <a:chOff x="2239347" y="1110343"/>
                <a:chExt cx="962365" cy="139959"/>
              </a:xfrm>
            </p:grpSpPr>
            <p:sp>
              <p:nvSpPr>
                <p:cNvPr id="153" name="任意多边形: 形状 152"/>
                <p:cNvSpPr/>
                <p:nvPr/>
              </p:nvSpPr>
              <p:spPr>
                <a:xfrm flipH="1">
                  <a:off x="2258011" y="1180324"/>
                  <a:ext cx="9437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4" name="任意多边形: 形状 153"/>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0" name="组合 149"/>
              <p:cNvGrpSpPr/>
              <p:nvPr/>
            </p:nvGrpSpPr>
            <p:grpSpPr>
              <a:xfrm flipH="1">
                <a:off x="6311591" y="1110894"/>
                <a:ext cx="987463" cy="139959"/>
                <a:chOff x="2239346" y="1110343"/>
                <a:chExt cx="943703" cy="139959"/>
              </a:xfrm>
            </p:grpSpPr>
            <p:sp>
              <p:nvSpPr>
                <p:cNvPr id="151" name="任意多边形: 形状 150"/>
                <p:cNvSpPr/>
                <p:nvPr/>
              </p:nvSpPr>
              <p:spPr>
                <a:xfrm flipH="1">
                  <a:off x="2239346" y="1180322"/>
                  <a:ext cx="94370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2" name="任意多边形: 形状 151"/>
                <p:cNvSpPr/>
                <p:nvPr/>
              </p:nvSpPr>
              <p:spPr>
                <a:xfrm>
                  <a:off x="2239346"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48" name="文本框 147"/>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品牌声量</a:t>
              </a:r>
            </a:p>
          </p:txBody>
        </p:sp>
      </p:grpSp>
      <p:sp>
        <p:nvSpPr>
          <p:cNvPr id="138" name="任意多边形: 形状 137"/>
          <p:cNvSpPr/>
          <p:nvPr/>
        </p:nvSpPr>
        <p:spPr>
          <a:xfrm flipH="1">
            <a:off x="733541" y="1373628"/>
            <a:ext cx="4874779" cy="5079484"/>
          </a:xfrm>
          <a:custGeom>
            <a:avLst/>
            <a:gdLst>
              <a:gd name="connsiteX0" fmla="*/ 4030291 w 4592595"/>
              <a:gd name="connsiteY0" fmla="*/ 32 h 4455618"/>
              <a:gd name="connsiteX1" fmla="*/ 2359824 w 4592595"/>
              <a:gd name="connsiteY1" fmla="*/ 117124 h 4455618"/>
              <a:gd name="connsiteX2" fmla="*/ 2296298 w 4592595"/>
              <a:gd name="connsiteY2" fmla="*/ 138106 h 4455618"/>
              <a:gd name="connsiteX3" fmla="*/ 2232772 w 4592595"/>
              <a:gd name="connsiteY3" fmla="*/ 117124 h 4455618"/>
              <a:gd name="connsiteX4" fmla="*/ 262313 w 4592595"/>
              <a:gd name="connsiteY4" fmla="*/ 4076 h 4455618"/>
              <a:gd name="connsiteX5" fmla="*/ 30819 w 4592595"/>
              <a:gd name="connsiteY5" fmla="*/ 189271 h 4455618"/>
              <a:gd name="connsiteX6" fmla="*/ 285462 w 4592595"/>
              <a:gd name="connsiteY6" fmla="*/ 1057372 h 4455618"/>
              <a:gd name="connsiteX7" fmla="*/ 1084115 w 4592595"/>
              <a:gd name="connsiteY7" fmla="*/ 2319013 h 4455618"/>
              <a:gd name="connsiteX8" fmla="*/ 1051278 w 4592595"/>
              <a:gd name="connsiteY8" fmla="*/ 4418722 h 4455618"/>
              <a:gd name="connsiteX9" fmla="*/ 1053707 w 4592595"/>
              <a:gd name="connsiteY9" fmla="*/ 4455618 h 4455618"/>
              <a:gd name="connsiteX10" fmla="*/ 3538888 w 4592595"/>
              <a:gd name="connsiteY10" fmla="*/ 4455618 h 4455618"/>
              <a:gd name="connsiteX11" fmla="*/ 3541317 w 4592595"/>
              <a:gd name="connsiteY11" fmla="*/ 4418722 h 4455618"/>
              <a:gd name="connsiteX12" fmla="*/ 3508480 w 4592595"/>
              <a:gd name="connsiteY12" fmla="*/ 2319013 h 4455618"/>
              <a:gd name="connsiteX13" fmla="*/ 4307133 w 4592595"/>
              <a:gd name="connsiteY13" fmla="*/ 1057372 h 4455618"/>
              <a:gd name="connsiteX14" fmla="*/ 4561776 w 4592595"/>
              <a:gd name="connsiteY14" fmla="*/ 189271 h 4455618"/>
              <a:gd name="connsiteX15" fmla="*/ 4330282 w 4592595"/>
              <a:gd name="connsiteY15" fmla="*/ 4076 h 4455618"/>
              <a:gd name="connsiteX16" fmla="*/ 4030291 w 4592595"/>
              <a:gd name="connsiteY16" fmla="*/ 32 h 445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92595" h="4455618">
                <a:moveTo>
                  <a:pt x="4030291" y="32"/>
                </a:moveTo>
                <a:cubicBezTo>
                  <a:pt x="3533218" y="-952"/>
                  <a:pt x="2713524" y="20175"/>
                  <a:pt x="2359824" y="117124"/>
                </a:cubicBezTo>
                <a:lnTo>
                  <a:pt x="2296298" y="138106"/>
                </a:lnTo>
                <a:lnTo>
                  <a:pt x="2232772" y="117124"/>
                </a:lnTo>
                <a:cubicBezTo>
                  <a:pt x="1790646" y="-4063"/>
                  <a:pt x="620405" y="-6776"/>
                  <a:pt x="262313" y="4076"/>
                </a:cubicBezTo>
                <a:cubicBezTo>
                  <a:pt x="-119652" y="15651"/>
                  <a:pt x="26961" y="13722"/>
                  <a:pt x="30819" y="189271"/>
                </a:cubicBezTo>
                <a:cubicBezTo>
                  <a:pt x="34677" y="364820"/>
                  <a:pt x="109913" y="702415"/>
                  <a:pt x="285462" y="1057372"/>
                </a:cubicBezTo>
                <a:cubicBezTo>
                  <a:pt x="461011" y="1412329"/>
                  <a:pt x="952935" y="1724846"/>
                  <a:pt x="1084115" y="2319013"/>
                </a:cubicBezTo>
                <a:cubicBezTo>
                  <a:pt x="1198898" y="2838909"/>
                  <a:pt x="1031577" y="3868363"/>
                  <a:pt x="1051278" y="4418722"/>
                </a:cubicBezTo>
                <a:lnTo>
                  <a:pt x="1053707" y="4455618"/>
                </a:lnTo>
                <a:lnTo>
                  <a:pt x="3538888" y="4455618"/>
                </a:lnTo>
                <a:lnTo>
                  <a:pt x="3541317" y="4418722"/>
                </a:lnTo>
                <a:cubicBezTo>
                  <a:pt x="3561019" y="3868363"/>
                  <a:pt x="3393697" y="2838909"/>
                  <a:pt x="3508480" y="2319013"/>
                </a:cubicBezTo>
                <a:cubicBezTo>
                  <a:pt x="3639660" y="1724846"/>
                  <a:pt x="4131584" y="1412329"/>
                  <a:pt x="4307133" y="1057372"/>
                </a:cubicBezTo>
                <a:cubicBezTo>
                  <a:pt x="4482682" y="702415"/>
                  <a:pt x="4557918" y="364820"/>
                  <a:pt x="4561776" y="189271"/>
                </a:cubicBezTo>
                <a:cubicBezTo>
                  <a:pt x="4565634" y="13722"/>
                  <a:pt x="4712247" y="15651"/>
                  <a:pt x="4330282" y="4076"/>
                </a:cubicBezTo>
                <a:cubicBezTo>
                  <a:pt x="4258664" y="1906"/>
                  <a:pt x="4154559" y="278"/>
                  <a:pt x="4030291" y="32"/>
                </a:cubicBezTo>
                <a:close/>
              </a:path>
            </a:pathLst>
          </a:cu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椭圆 134"/>
          <p:cNvSpPr/>
          <p:nvPr/>
        </p:nvSpPr>
        <p:spPr>
          <a:xfrm>
            <a:off x="733541" y="1192313"/>
            <a:ext cx="4874779" cy="415412"/>
          </a:xfrm>
          <a:prstGeom prst="ellipse">
            <a:avLst/>
          </a:prstGeom>
          <a:gradFill flip="none" rotWithShape="1">
            <a:gsLst>
              <a:gs pos="100000">
                <a:schemeClr val="accent4"/>
              </a:gs>
              <a:gs pos="3000">
                <a:schemeClr val="accent6">
                  <a:lumMod val="90000"/>
                </a:schemeClr>
              </a:gs>
            </a:gsLst>
            <a:lin ang="5400000" scaled="1"/>
            <a:tileRect/>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0" name="椭圆 139"/>
          <p:cNvSpPr/>
          <p:nvPr/>
        </p:nvSpPr>
        <p:spPr>
          <a:xfrm>
            <a:off x="1105748" y="2457117"/>
            <a:ext cx="4141466" cy="415412"/>
          </a:xfrm>
          <a:prstGeom prst="ellipse">
            <a:avLst/>
          </a:prstGeom>
          <a:gradFill>
            <a:gsLst>
              <a:gs pos="100000">
                <a:schemeClr val="accent6">
                  <a:lumMod val="50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椭圆 140"/>
          <p:cNvSpPr/>
          <p:nvPr/>
        </p:nvSpPr>
        <p:spPr>
          <a:xfrm>
            <a:off x="1875107" y="3721921"/>
            <a:ext cx="2598396" cy="415412"/>
          </a:xfrm>
          <a:prstGeom prst="ellipse">
            <a:avLst/>
          </a:prstGeom>
          <a:gradFill>
            <a:gsLst>
              <a:gs pos="100000">
                <a:schemeClr val="accent6">
                  <a:lumMod val="75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2" name="椭圆 141"/>
          <p:cNvSpPr/>
          <p:nvPr/>
        </p:nvSpPr>
        <p:spPr>
          <a:xfrm>
            <a:off x="1845814" y="6251528"/>
            <a:ext cx="2650233" cy="415412"/>
          </a:xfrm>
          <a:prstGeom prst="ellipse">
            <a:avLst/>
          </a:prstGeom>
          <a:gradFill>
            <a:gsLst>
              <a:gs pos="100000">
                <a:schemeClr val="accent6"/>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椭圆 163"/>
          <p:cNvSpPr/>
          <p:nvPr/>
        </p:nvSpPr>
        <p:spPr>
          <a:xfrm>
            <a:off x="1915751" y="4986725"/>
            <a:ext cx="2510573" cy="415412"/>
          </a:xfrm>
          <a:prstGeom prst="ellipse">
            <a:avLst/>
          </a:prstGeom>
          <a:gradFill>
            <a:gsLst>
              <a:gs pos="100000">
                <a:schemeClr val="accent6">
                  <a:lumMod val="90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5" name="组合 164"/>
          <p:cNvGrpSpPr/>
          <p:nvPr/>
        </p:nvGrpSpPr>
        <p:grpSpPr>
          <a:xfrm>
            <a:off x="177366" y="2674551"/>
            <a:ext cx="369332" cy="1270791"/>
            <a:chOff x="164949" y="911188"/>
            <a:chExt cx="369332" cy="2517815"/>
          </a:xfrm>
        </p:grpSpPr>
        <p:grpSp>
          <p:nvGrpSpPr>
            <p:cNvPr id="166" name="组合 165"/>
            <p:cNvGrpSpPr/>
            <p:nvPr/>
          </p:nvGrpSpPr>
          <p:grpSpPr>
            <a:xfrm rot="5400000">
              <a:off x="-909290" y="2056419"/>
              <a:ext cx="2517815" cy="227354"/>
              <a:chOff x="2239349" y="1110894"/>
              <a:chExt cx="5059705" cy="139959"/>
            </a:xfrm>
          </p:grpSpPr>
          <p:grpSp>
            <p:nvGrpSpPr>
              <p:cNvPr id="168" name="组合 167"/>
              <p:cNvGrpSpPr/>
              <p:nvPr/>
            </p:nvGrpSpPr>
            <p:grpSpPr>
              <a:xfrm>
                <a:off x="2239349" y="1110894"/>
                <a:ext cx="1006990" cy="139959"/>
                <a:chOff x="2239347" y="1110343"/>
                <a:chExt cx="962365" cy="139959"/>
              </a:xfrm>
            </p:grpSpPr>
            <p:sp>
              <p:nvSpPr>
                <p:cNvPr id="172" name="任意多边形: 形状 171"/>
                <p:cNvSpPr/>
                <p:nvPr/>
              </p:nvSpPr>
              <p:spPr>
                <a:xfrm flipH="1">
                  <a:off x="2258011" y="1180324"/>
                  <a:ext cx="9437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3" name="任意多边形: 形状 172"/>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9" name="组合 168"/>
              <p:cNvGrpSpPr/>
              <p:nvPr/>
            </p:nvGrpSpPr>
            <p:grpSpPr>
              <a:xfrm flipH="1">
                <a:off x="6311591" y="1110894"/>
                <a:ext cx="987463" cy="139959"/>
                <a:chOff x="2239346" y="1110343"/>
                <a:chExt cx="943703" cy="139959"/>
              </a:xfrm>
            </p:grpSpPr>
            <p:sp>
              <p:nvSpPr>
                <p:cNvPr id="170" name="任意多边形: 形状 169"/>
                <p:cNvSpPr/>
                <p:nvPr/>
              </p:nvSpPr>
              <p:spPr>
                <a:xfrm flipH="1">
                  <a:off x="2239346" y="1180322"/>
                  <a:ext cx="94370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任意多边形: 形状 170"/>
                <p:cNvSpPr/>
                <p:nvPr/>
              </p:nvSpPr>
              <p:spPr>
                <a:xfrm>
                  <a:off x="2239346"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67" name="文本框 166"/>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品牌心智</a:t>
              </a:r>
            </a:p>
          </p:txBody>
        </p:sp>
      </p:grpSp>
      <p:grpSp>
        <p:nvGrpSpPr>
          <p:cNvPr id="174" name="组合 173"/>
          <p:cNvGrpSpPr/>
          <p:nvPr/>
        </p:nvGrpSpPr>
        <p:grpSpPr>
          <a:xfrm>
            <a:off x="177366" y="3949069"/>
            <a:ext cx="369332" cy="2504030"/>
            <a:chOff x="164949" y="911174"/>
            <a:chExt cx="369332" cy="2517814"/>
          </a:xfrm>
        </p:grpSpPr>
        <p:grpSp>
          <p:nvGrpSpPr>
            <p:cNvPr id="175" name="组合 174"/>
            <p:cNvGrpSpPr/>
            <p:nvPr/>
          </p:nvGrpSpPr>
          <p:grpSpPr>
            <a:xfrm rot="5400000">
              <a:off x="-909293" y="2056404"/>
              <a:ext cx="2517814" cy="227354"/>
              <a:chOff x="2239333" y="1110894"/>
              <a:chExt cx="5059720" cy="139959"/>
            </a:xfrm>
          </p:grpSpPr>
          <p:grpSp>
            <p:nvGrpSpPr>
              <p:cNvPr id="177" name="组合 176"/>
              <p:cNvGrpSpPr/>
              <p:nvPr/>
            </p:nvGrpSpPr>
            <p:grpSpPr>
              <a:xfrm>
                <a:off x="2239333" y="1110894"/>
                <a:ext cx="1692618" cy="139959"/>
                <a:chOff x="2239347" y="1110343"/>
                <a:chExt cx="1617622" cy="139959"/>
              </a:xfrm>
            </p:grpSpPr>
            <p:sp>
              <p:nvSpPr>
                <p:cNvPr id="181" name="任意多边形: 形状 180"/>
                <p:cNvSpPr/>
                <p:nvPr/>
              </p:nvSpPr>
              <p:spPr>
                <a:xfrm flipH="1">
                  <a:off x="2258017" y="1180326"/>
                  <a:ext cx="1598952"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任意多边形: 形状 181"/>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8" name="组合 177"/>
              <p:cNvGrpSpPr/>
              <p:nvPr/>
            </p:nvGrpSpPr>
            <p:grpSpPr>
              <a:xfrm flipH="1">
                <a:off x="5625970" y="1110894"/>
                <a:ext cx="1673083" cy="139959"/>
                <a:chOff x="2239345" y="1110343"/>
                <a:chExt cx="1598935" cy="139959"/>
              </a:xfrm>
            </p:grpSpPr>
            <p:sp>
              <p:nvSpPr>
                <p:cNvPr id="179" name="任意多边形: 形状 178"/>
                <p:cNvSpPr/>
                <p:nvPr/>
              </p:nvSpPr>
              <p:spPr>
                <a:xfrm flipH="1">
                  <a:off x="2239345" y="1180318"/>
                  <a:ext cx="1598935"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任意多边形: 形状 179"/>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76" name="文本框 175"/>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品牌效率</a:t>
              </a:r>
            </a:p>
          </p:txBody>
        </p:sp>
      </p:grpSp>
      <p:sp>
        <p:nvSpPr>
          <p:cNvPr id="186" name="任意多边形: 形状 185"/>
          <p:cNvSpPr/>
          <p:nvPr/>
        </p:nvSpPr>
        <p:spPr>
          <a:xfrm>
            <a:off x="2021842" y="212577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2574079" y="1636047"/>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知晓</a:t>
            </a:r>
          </a:p>
        </p:txBody>
      </p:sp>
      <p:sp>
        <p:nvSpPr>
          <p:cNvPr id="188" name="文本框 187"/>
          <p:cNvSpPr txBox="1"/>
          <p:nvPr/>
        </p:nvSpPr>
        <p:spPr>
          <a:xfrm>
            <a:off x="2201325" y="2001645"/>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进入品牌预设库</a:t>
            </a:r>
          </a:p>
        </p:txBody>
      </p:sp>
      <p:sp>
        <p:nvSpPr>
          <p:cNvPr id="189" name="任意多边形: 形状 188"/>
          <p:cNvSpPr/>
          <p:nvPr/>
        </p:nvSpPr>
        <p:spPr>
          <a:xfrm>
            <a:off x="4042981" y="212577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0" name="任意多边形: 形状 189"/>
          <p:cNvSpPr/>
          <p:nvPr/>
        </p:nvSpPr>
        <p:spPr>
          <a:xfrm>
            <a:off x="2021842" y="341719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文本框 190"/>
          <p:cNvSpPr txBox="1"/>
          <p:nvPr/>
        </p:nvSpPr>
        <p:spPr>
          <a:xfrm>
            <a:off x="2574079" y="2927467"/>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考虑</a:t>
            </a:r>
          </a:p>
        </p:txBody>
      </p:sp>
      <p:sp>
        <p:nvSpPr>
          <p:cNvPr id="192" name="文本框 191"/>
          <p:cNvSpPr txBox="1"/>
          <p:nvPr/>
        </p:nvSpPr>
        <p:spPr>
          <a:xfrm>
            <a:off x="2201325" y="3293065"/>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购买转化</a:t>
            </a:r>
          </a:p>
        </p:txBody>
      </p:sp>
      <p:sp>
        <p:nvSpPr>
          <p:cNvPr id="193" name="任意多边形: 形状 192"/>
          <p:cNvSpPr/>
          <p:nvPr/>
        </p:nvSpPr>
        <p:spPr>
          <a:xfrm>
            <a:off x="4042981" y="341719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任意多边形: 形状 194"/>
          <p:cNvSpPr/>
          <p:nvPr/>
        </p:nvSpPr>
        <p:spPr>
          <a:xfrm>
            <a:off x="2021842" y="4704562"/>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文本框 195"/>
          <p:cNvSpPr txBox="1"/>
          <p:nvPr/>
        </p:nvSpPr>
        <p:spPr>
          <a:xfrm>
            <a:off x="2574079" y="4214830"/>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购买</a:t>
            </a:r>
          </a:p>
        </p:txBody>
      </p:sp>
      <p:sp>
        <p:nvSpPr>
          <p:cNvPr id="197" name="文本框 196"/>
          <p:cNvSpPr txBox="1"/>
          <p:nvPr/>
        </p:nvSpPr>
        <p:spPr>
          <a:xfrm>
            <a:off x="2201325" y="4580428"/>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重复购买转化</a:t>
            </a:r>
          </a:p>
        </p:txBody>
      </p:sp>
      <p:sp>
        <p:nvSpPr>
          <p:cNvPr id="198" name="任意多边形: 形状 197"/>
          <p:cNvSpPr/>
          <p:nvPr/>
        </p:nvSpPr>
        <p:spPr>
          <a:xfrm>
            <a:off x="4042981" y="4704562"/>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0" name="文本框 199"/>
          <p:cNvSpPr txBox="1"/>
          <p:nvPr/>
        </p:nvSpPr>
        <p:spPr>
          <a:xfrm>
            <a:off x="1915750" y="5484586"/>
            <a:ext cx="2510573"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复购</a:t>
            </a:r>
          </a:p>
        </p:txBody>
      </p:sp>
      <p:sp>
        <p:nvSpPr>
          <p:cNvPr id="201" name="文本框 200"/>
          <p:cNvSpPr txBox="1"/>
          <p:nvPr/>
        </p:nvSpPr>
        <p:spPr>
          <a:xfrm>
            <a:off x="2201325" y="5850184"/>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口碑推荐</a:t>
            </a:r>
          </a:p>
        </p:txBody>
      </p:sp>
      <p:sp>
        <p:nvSpPr>
          <p:cNvPr id="211" name="六边形 210"/>
          <p:cNvSpPr/>
          <p:nvPr/>
        </p:nvSpPr>
        <p:spPr>
          <a:xfrm rot="5400000">
            <a:off x="8943671" y="4025036"/>
            <a:ext cx="3992388" cy="1291419"/>
          </a:xfrm>
          <a:prstGeom prst="hexag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2" name="六边形 211"/>
          <p:cNvSpPr/>
          <p:nvPr/>
        </p:nvSpPr>
        <p:spPr>
          <a:xfrm rot="5400000">
            <a:off x="9467358" y="2019111"/>
            <a:ext cx="2945014" cy="1291419"/>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3" name="六边形 212"/>
          <p:cNvSpPr/>
          <p:nvPr/>
        </p:nvSpPr>
        <p:spPr>
          <a:xfrm rot="16200000">
            <a:off x="10409513" y="3470387"/>
            <a:ext cx="1060704" cy="914400"/>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6" name="文本框 215"/>
          <p:cNvSpPr txBox="1"/>
          <p:nvPr/>
        </p:nvSpPr>
        <p:spPr>
          <a:xfrm>
            <a:off x="10294154" y="1832218"/>
            <a:ext cx="1291420" cy="95725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品牌</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营销</a:t>
            </a:r>
          </a:p>
        </p:txBody>
      </p:sp>
      <p:sp>
        <p:nvSpPr>
          <p:cNvPr id="217" name="文本框 216"/>
          <p:cNvSpPr txBox="1"/>
          <p:nvPr/>
        </p:nvSpPr>
        <p:spPr>
          <a:xfrm>
            <a:off x="10294154" y="4634896"/>
            <a:ext cx="1291420" cy="95725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渠道</a:t>
            </a:r>
            <a:endParaRPr kumimoji="0" lang="en-US" altLang="zh-CN" sz="24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营销</a:t>
            </a:r>
          </a:p>
        </p:txBody>
      </p:sp>
      <p:sp>
        <p:nvSpPr>
          <p:cNvPr id="219" name="文本框 218"/>
          <p:cNvSpPr txBox="1"/>
          <p:nvPr/>
        </p:nvSpPr>
        <p:spPr>
          <a:xfrm>
            <a:off x="10482664" y="3610859"/>
            <a:ext cx="923763"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消费者</a:t>
            </a:r>
            <a:endParaRPr kumimoji="0" lang="en-US" altLang="zh-CN" sz="16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心智</a:t>
            </a:r>
          </a:p>
        </p:txBody>
      </p:sp>
      <p:sp>
        <p:nvSpPr>
          <p:cNvPr id="220" name="文本框 219"/>
          <p:cNvSpPr txBox="1"/>
          <p:nvPr/>
        </p:nvSpPr>
        <p:spPr>
          <a:xfrm>
            <a:off x="10031005" y="2686570"/>
            <a:ext cx="1825307" cy="41665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(ATL1 / Brand </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Marketing)</a:t>
            </a:r>
          </a:p>
        </p:txBody>
      </p:sp>
      <p:sp>
        <p:nvSpPr>
          <p:cNvPr id="221" name="文本框 220"/>
          <p:cNvSpPr txBox="1"/>
          <p:nvPr/>
        </p:nvSpPr>
        <p:spPr>
          <a:xfrm>
            <a:off x="10031005" y="5502313"/>
            <a:ext cx="1825307" cy="41665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(BTL2/ Performance</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Marketing)</a:t>
            </a:r>
          </a:p>
        </p:txBody>
      </p:sp>
      <p:sp>
        <p:nvSpPr>
          <p:cNvPr id="225" name="矩形: 圆角 224"/>
          <p:cNvSpPr/>
          <p:nvPr/>
        </p:nvSpPr>
        <p:spPr>
          <a:xfrm>
            <a:off x="5787803" y="1563758"/>
            <a:ext cx="2055890" cy="931785"/>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24" name="组合 223"/>
          <p:cNvGrpSpPr/>
          <p:nvPr/>
        </p:nvGrpSpPr>
        <p:grpSpPr>
          <a:xfrm>
            <a:off x="5787803" y="1678531"/>
            <a:ext cx="2055890" cy="702238"/>
            <a:chOff x="5608320" y="1636047"/>
            <a:chExt cx="1998279" cy="702238"/>
          </a:xfrm>
        </p:grpSpPr>
        <p:sp>
          <p:nvSpPr>
            <p:cNvPr id="222" name="文本框 221"/>
            <p:cNvSpPr txBox="1"/>
            <p:nvPr/>
          </p:nvSpPr>
          <p:spPr>
            <a:xfrm>
              <a:off x="5981074" y="1636047"/>
              <a:ext cx="1252770"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定量</a:t>
              </a:r>
            </a:p>
          </p:txBody>
        </p:sp>
        <p:sp>
          <p:nvSpPr>
            <p:cNvPr id="223" name="文本框 222"/>
            <p:cNvSpPr txBox="1"/>
            <p:nvPr/>
          </p:nvSpPr>
          <p:spPr>
            <a:xfrm>
              <a:off x="5608320" y="1999987"/>
              <a:ext cx="1998279"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主动搜索</a:t>
              </a:r>
              <a:r>
                <a:rPr kumimoji="0" lang="en-US" altLang="zh-CN" sz="1400" b="0" i="0" u="none" strike="noStrike" kern="1200" cap="none" spc="0" normalizeH="0" baseline="0" noProof="0" dirty="0">
                  <a:ln>
                    <a:noFill/>
                  </a:ln>
                  <a:solidFill>
                    <a:prstClr val="black"/>
                  </a:solidFill>
                  <a:effectLst/>
                  <a:uLnTx/>
                  <a:uFillTx/>
                  <a:cs typeface="+mn-ea"/>
                  <a:sym typeface="+mn-lt"/>
                </a:rPr>
                <a:t>PV/UV</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sp>
        <p:nvSpPr>
          <p:cNvPr id="228" name="矩形: 圆角 227"/>
          <p:cNvSpPr/>
          <p:nvPr/>
        </p:nvSpPr>
        <p:spPr>
          <a:xfrm>
            <a:off x="8032991" y="1563758"/>
            <a:ext cx="2055890" cy="931785"/>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29" name="组合 228"/>
          <p:cNvGrpSpPr/>
          <p:nvPr/>
        </p:nvGrpSpPr>
        <p:grpSpPr>
          <a:xfrm>
            <a:off x="8032991" y="1678531"/>
            <a:ext cx="2055890" cy="702238"/>
            <a:chOff x="5608320" y="1636047"/>
            <a:chExt cx="1998279" cy="702238"/>
          </a:xfrm>
        </p:grpSpPr>
        <p:sp>
          <p:nvSpPr>
            <p:cNvPr id="230" name="文本框 229"/>
            <p:cNvSpPr txBox="1"/>
            <p:nvPr/>
          </p:nvSpPr>
          <p:spPr>
            <a:xfrm>
              <a:off x="5981074" y="1636047"/>
              <a:ext cx="1252770"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定性</a:t>
              </a:r>
            </a:p>
          </p:txBody>
        </p:sp>
        <p:sp>
          <p:nvSpPr>
            <p:cNvPr id="231" name="文本框 230"/>
            <p:cNvSpPr txBox="1"/>
            <p:nvPr/>
          </p:nvSpPr>
          <p:spPr>
            <a:xfrm>
              <a:off x="5608320" y="1999987"/>
              <a:ext cx="1998279"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评价正负 </a:t>
              </a:r>
              <a:r>
                <a:rPr kumimoji="0" lang="en-US" altLang="zh-CN" sz="1400" b="0" i="0" u="none" strike="noStrike" kern="1200" cap="none" spc="0" normalizeH="0" baseline="0" noProof="0" dirty="0">
                  <a:ln>
                    <a:noFill/>
                  </a:ln>
                  <a:solidFill>
                    <a:prstClr val="black"/>
                  </a:solidFill>
                  <a:effectLst/>
                  <a:uLnTx/>
                  <a:uFillTx/>
                  <a:cs typeface="+mn-ea"/>
                  <a:sym typeface="+mn-lt"/>
                </a:rPr>
                <a:t>Social Buzz</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sp>
        <p:nvSpPr>
          <p:cNvPr id="234" name="椭圆 233"/>
          <p:cNvSpPr>
            <a:spLocks noChangeAspect="1"/>
          </p:cNvSpPr>
          <p:nvPr/>
        </p:nvSpPr>
        <p:spPr>
          <a:xfrm>
            <a:off x="5689942"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5" name="文本框 234"/>
          <p:cNvSpPr txBox="1"/>
          <p:nvPr/>
        </p:nvSpPr>
        <p:spPr>
          <a:xfrm>
            <a:off x="5715342"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white"/>
                </a:solidFill>
                <a:effectLst/>
                <a:uLnTx/>
                <a:uFillTx/>
                <a:cs typeface="+mn-ea"/>
                <a:sym typeface="+mn-lt"/>
              </a:rPr>
              <a:t>(Product)</a:t>
            </a: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7" name="椭圆 236"/>
          <p:cNvSpPr>
            <a:spLocks noChangeAspect="1"/>
          </p:cNvSpPr>
          <p:nvPr/>
        </p:nvSpPr>
        <p:spPr>
          <a:xfrm>
            <a:off x="7278203"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8" name="文本框 237"/>
          <p:cNvSpPr txBox="1"/>
          <p:nvPr/>
        </p:nvSpPr>
        <p:spPr>
          <a:xfrm>
            <a:off x="7303603"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终端</a:t>
            </a:r>
            <a:br>
              <a:rPr kumimoji="0" lang="zh-CN" altLang="en-US" sz="1800" b="0" i="0" u="none" strike="noStrike" kern="1200" cap="none" spc="0" normalizeH="0" baseline="0" noProof="0" dirty="0">
                <a:ln>
                  <a:noFill/>
                </a:ln>
                <a:solidFill>
                  <a:prstClr val="white"/>
                </a:solidFill>
                <a:effectLst/>
                <a:uLnTx/>
                <a:uFillTx/>
                <a:cs typeface="+mn-ea"/>
                <a:sym typeface="+mn-lt"/>
              </a:rPr>
            </a:br>
            <a:r>
              <a:rPr kumimoji="0" lang="en-US" altLang="zh-CN" sz="1050" b="0" i="0" u="none" strike="noStrike" kern="1200" cap="none" spc="0" normalizeH="0" baseline="0" noProof="0" dirty="0">
                <a:ln>
                  <a:noFill/>
                </a:ln>
                <a:solidFill>
                  <a:prstClr val="white"/>
                </a:solidFill>
                <a:effectLst/>
                <a:uLnTx/>
                <a:uFillTx/>
                <a:cs typeface="+mn-ea"/>
                <a:sym typeface="+mn-lt"/>
              </a:rPr>
              <a:t>(Place)</a:t>
            </a:r>
          </a:p>
        </p:txBody>
      </p:sp>
      <p:sp>
        <p:nvSpPr>
          <p:cNvPr id="240" name="椭圆 239"/>
          <p:cNvSpPr>
            <a:spLocks noChangeAspect="1"/>
          </p:cNvSpPr>
          <p:nvPr/>
        </p:nvSpPr>
        <p:spPr>
          <a:xfrm>
            <a:off x="8866464"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41" name="文本框 240"/>
          <p:cNvSpPr txBox="1"/>
          <p:nvPr/>
        </p:nvSpPr>
        <p:spPr>
          <a:xfrm>
            <a:off x="8891864"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营销</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white"/>
                </a:solidFill>
                <a:effectLst/>
                <a:uLnTx/>
                <a:uFillTx/>
                <a:cs typeface="+mn-ea"/>
                <a:sym typeface="+mn-lt"/>
              </a:rPr>
              <a:t>(Promotion)</a:t>
            </a:r>
          </a:p>
        </p:txBody>
      </p:sp>
      <p:sp>
        <p:nvSpPr>
          <p:cNvPr id="249" name="图形 247"/>
          <p:cNvSpPr/>
          <p:nvPr/>
        </p:nvSpPr>
        <p:spPr>
          <a:xfrm>
            <a:off x="6745706" y="3060745"/>
            <a:ext cx="468828" cy="488542"/>
          </a:xfrm>
          <a:custGeom>
            <a:avLst/>
            <a:gdLst>
              <a:gd name="connsiteX0" fmla="*/ 751341 w 1169697"/>
              <a:gd name="connsiteY0" fmla="*/ 562773 h 1218881"/>
              <a:gd name="connsiteX1" fmla="*/ 797876 w 1169697"/>
              <a:gd name="connsiteY1" fmla="*/ 609336 h 1218881"/>
              <a:gd name="connsiteX2" fmla="*/ 797876 w 1169697"/>
              <a:gd name="connsiteY2" fmla="*/ 610665 h 1218881"/>
              <a:gd name="connsiteX3" fmla="*/ 797876 w 1169697"/>
              <a:gd name="connsiteY3" fmla="*/ 677454 h 1218881"/>
              <a:gd name="connsiteX4" fmla="*/ 1056508 w 1169697"/>
              <a:gd name="connsiteY4" fmla="*/ 419196 h 1218881"/>
              <a:gd name="connsiteX5" fmla="*/ 797876 w 1169697"/>
              <a:gd name="connsiteY5" fmla="*/ 160222 h 1218881"/>
              <a:gd name="connsiteX6" fmla="*/ 797876 w 1169697"/>
              <a:gd name="connsiteY6" fmla="*/ 227039 h 1218881"/>
              <a:gd name="connsiteX7" fmla="*/ 797876 w 1169697"/>
              <a:gd name="connsiteY7" fmla="*/ 228369 h 1218881"/>
              <a:gd name="connsiteX8" fmla="*/ 751341 w 1169697"/>
              <a:gd name="connsiteY8" fmla="*/ 275579 h 1218881"/>
              <a:gd name="connsiteX9" fmla="*/ 418914 w 1169697"/>
              <a:gd name="connsiteY9" fmla="*/ 275579 h 1218881"/>
              <a:gd name="connsiteX10" fmla="*/ 372044 w 1169697"/>
              <a:gd name="connsiteY10" fmla="*/ 228369 h 1218881"/>
              <a:gd name="connsiteX11" fmla="*/ 418914 w 1169697"/>
              <a:gd name="connsiteY11" fmla="*/ 181494 h 1218881"/>
              <a:gd name="connsiteX12" fmla="*/ 704131 w 1169697"/>
              <a:gd name="connsiteY12" fmla="*/ 181494 h 1218881"/>
              <a:gd name="connsiteX13" fmla="*/ 704131 w 1169697"/>
              <a:gd name="connsiteY13" fmla="*/ 46870 h 1218881"/>
              <a:gd name="connsiteX14" fmla="*/ 751341 w 1169697"/>
              <a:gd name="connsiteY14" fmla="*/ 0 h 1218881"/>
              <a:gd name="connsiteX15" fmla="*/ 784603 w 1169697"/>
              <a:gd name="connsiteY15" fmla="*/ 13955 h 1218881"/>
              <a:gd name="connsiteX16" fmla="*/ 1156249 w 1169697"/>
              <a:gd name="connsiteY16" fmla="*/ 385936 h 1218881"/>
              <a:gd name="connsiteX17" fmla="*/ 1156249 w 1169697"/>
              <a:gd name="connsiteY17" fmla="*/ 452078 h 1218881"/>
              <a:gd name="connsiteX18" fmla="*/ 784603 w 1169697"/>
              <a:gd name="connsiteY18" fmla="*/ 823415 h 1218881"/>
              <a:gd name="connsiteX19" fmla="*/ 718123 w 1169697"/>
              <a:gd name="connsiteY19" fmla="*/ 823415 h 1218881"/>
              <a:gd name="connsiteX20" fmla="*/ 704131 w 1169697"/>
              <a:gd name="connsiteY20" fmla="*/ 790835 h 1218881"/>
              <a:gd name="connsiteX21" fmla="*/ 704131 w 1169697"/>
              <a:gd name="connsiteY21" fmla="*/ 789816 h 1218881"/>
              <a:gd name="connsiteX22" fmla="*/ 704131 w 1169697"/>
              <a:gd name="connsiteY22" fmla="*/ 655871 h 1218881"/>
              <a:gd name="connsiteX23" fmla="*/ 418914 w 1169697"/>
              <a:gd name="connsiteY23" fmla="*/ 655871 h 1218881"/>
              <a:gd name="connsiteX24" fmla="*/ 372044 w 1169697"/>
              <a:gd name="connsiteY24" fmla="*/ 609336 h 1218881"/>
              <a:gd name="connsiteX25" fmla="*/ 372044 w 1169697"/>
              <a:gd name="connsiteY25" fmla="*/ 607974 h 1218881"/>
              <a:gd name="connsiteX26" fmla="*/ 372044 w 1169697"/>
              <a:gd name="connsiteY26" fmla="*/ 541190 h 1218881"/>
              <a:gd name="connsiteX27" fmla="*/ 113104 w 1169697"/>
              <a:gd name="connsiteY27" fmla="*/ 799451 h 1218881"/>
              <a:gd name="connsiteX28" fmla="*/ 372044 w 1169697"/>
              <a:gd name="connsiteY28" fmla="*/ 1058421 h 1218881"/>
              <a:gd name="connsiteX29" fmla="*/ 372044 w 1169697"/>
              <a:gd name="connsiteY29" fmla="*/ 990274 h 1218881"/>
              <a:gd name="connsiteX30" fmla="*/ 418914 w 1169697"/>
              <a:gd name="connsiteY30" fmla="*/ 943059 h 1218881"/>
              <a:gd name="connsiteX31" fmla="*/ 419935 w 1169697"/>
              <a:gd name="connsiteY31" fmla="*/ 943059 h 1218881"/>
              <a:gd name="connsiteX32" fmla="*/ 751341 w 1169697"/>
              <a:gd name="connsiteY32" fmla="*/ 943059 h 1218881"/>
              <a:gd name="connsiteX33" fmla="*/ 797876 w 1169697"/>
              <a:gd name="connsiteY33" fmla="*/ 990274 h 1218881"/>
              <a:gd name="connsiteX34" fmla="*/ 751341 w 1169697"/>
              <a:gd name="connsiteY34" fmla="*/ 1037142 h 1218881"/>
              <a:gd name="connsiteX35" fmla="*/ 465787 w 1169697"/>
              <a:gd name="connsiteY35" fmla="*/ 1037142 h 1218881"/>
              <a:gd name="connsiteX36" fmla="*/ 465787 w 1169697"/>
              <a:gd name="connsiteY36" fmla="*/ 1170783 h 1218881"/>
              <a:gd name="connsiteX37" fmla="*/ 465787 w 1169697"/>
              <a:gd name="connsiteY37" fmla="*/ 1171773 h 1218881"/>
              <a:gd name="connsiteX38" fmla="*/ 451832 w 1169697"/>
              <a:gd name="connsiteY38" fmla="*/ 1204687 h 1218881"/>
              <a:gd name="connsiteX39" fmla="*/ 385691 w 1169697"/>
              <a:gd name="connsiteY39" fmla="*/ 1204687 h 1218881"/>
              <a:gd name="connsiteX40" fmla="*/ 14696 w 1169697"/>
              <a:gd name="connsiteY40" fmla="*/ 834031 h 1218881"/>
              <a:gd name="connsiteX41" fmla="*/ 13708 w 1169697"/>
              <a:gd name="connsiteY41" fmla="*/ 833388 h 1218881"/>
              <a:gd name="connsiteX42" fmla="*/ 13708 w 1169697"/>
              <a:gd name="connsiteY42" fmla="*/ 766870 h 1218881"/>
              <a:gd name="connsiteX43" fmla="*/ 385691 w 1169697"/>
              <a:gd name="connsiteY43" fmla="*/ 395227 h 1218881"/>
              <a:gd name="connsiteX44" fmla="*/ 418914 w 1169697"/>
              <a:gd name="connsiteY44" fmla="*/ 380969 h 1218881"/>
              <a:gd name="connsiteX45" fmla="*/ 465787 w 1169697"/>
              <a:gd name="connsiteY45" fmla="*/ 428146 h 1218881"/>
              <a:gd name="connsiteX46" fmla="*/ 465787 w 1169697"/>
              <a:gd name="connsiteY46" fmla="*/ 562773 h 1218881"/>
              <a:gd name="connsiteX47" fmla="*/ 750013 w 1169697"/>
              <a:gd name="connsiteY47" fmla="*/ 562773 h 1218881"/>
              <a:gd name="connsiteX48" fmla="*/ 751341 w 1169697"/>
              <a:gd name="connsiteY48" fmla="*/ 562773 h 121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9697" h="1218881">
                <a:moveTo>
                  <a:pt x="751341" y="562773"/>
                </a:moveTo>
                <a:cubicBezTo>
                  <a:pt x="776944" y="562773"/>
                  <a:pt x="797876" y="583400"/>
                  <a:pt x="797876" y="609336"/>
                </a:cubicBezTo>
                <a:lnTo>
                  <a:pt x="797876" y="610665"/>
                </a:lnTo>
                <a:lnTo>
                  <a:pt x="797876" y="677454"/>
                </a:lnTo>
                <a:lnTo>
                  <a:pt x="1056508" y="419196"/>
                </a:lnTo>
                <a:lnTo>
                  <a:pt x="797876" y="160222"/>
                </a:lnTo>
                <a:lnTo>
                  <a:pt x="797876" y="227039"/>
                </a:lnTo>
                <a:lnTo>
                  <a:pt x="797876" y="228369"/>
                </a:lnTo>
                <a:cubicBezTo>
                  <a:pt x="797876" y="253965"/>
                  <a:pt x="776944" y="275579"/>
                  <a:pt x="751341" y="275579"/>
                </a:cubicBezTo>
                <a:lnTo>
                  <a:pt x="418914" y="275579"/>
                </a:lnTo>
                <a:cubicBezTo>
                  <a:pt x="393013" y="275579"/>
                  <a:pt x="372044" y="253965"/>
                  <a:pt x="372044" y="228369"/>
                </a:cubicBezTo>
                <a:cubicBezTo>
                  <a:pt x="372044" y="202432"/>
                  <a:pt x="393013" y="181494"/>
                  <a:pt x="418914" y="181494"/>
                </a:cubicBezTo>
                <a:lnTo>
                  <a:pt x="704131" y="181494"/>
                </a:lnTo>
                <a:lnTo>
                  <a:pt x="704131" y="46870"/>
                </a:lnTo>
                <a:cubicBezTo>
                  <a:pt x="704131" y="21273"/>
                  <a:pt x="725405" y="0"/>
                  <a:pt x="751341" y="0"/>
                </a:cubicBezTo>
                <a:cubicBezTo>
                  <a:pt x="763633" y="0"/>
                  <a:pt x="775954" y="5308"/>
                  <a:pt x="784603" y="13955"/>
                </a:cubicBezTo>
                <a:lnTo>
                  <a:pt x="1156249" y="385936"/>
                </a:lnTo>
                <a:cubicBezTo>
                  <a:pt x="1174180" y="403874"/>
                  <a:pt x="1174180" y="433799"/>
                  <a:pt x="1156249" y="452078"/>
                </a:cubicBezTo>
                <a:lnTo>
                  <a:pt x="784603" y="823415"/>
                </a:lnTo>
                <a:cubicBezTo>
                  <a:pt x="765981" y="842680"/>
                  <a:pt x="736058" y="842680"/>
                  <a:pt x="718123" y="823415"/>
                </a:cubicBezTo>
                <a:cubicBezTo>
                  <a:pt x="708793" y="814767"/>
                  <a:pt x="704131" y="802780"/>
                  <a:pt x="704131" y="790835"/>
                </a:cubicBezTo>
                <a:lnTo>
                  <a:pt x="704131" y="789816"/>
                </a:lnTo>
                <a:lnTo>
                  <a:pt x="704131" y="655871"/>
                </a:lnTo>
                <a:lnTo>
                  <a:pt x="418914" y="655871"/>
                </a:lnTo>
                <a:cubicBezTo>
                  <a:pt x="393013" y="655871"/>
                  <a:pt x="372044" y="635244"/>
                  <a:pt x="372044" y="609336"/>
                </a:cubicBezTo>
                <a:lnTo>
                  <a:pt x="372044" y="607974"/>
                </a:lnTo>
                <a:lnTo>
                  <a:pt x="372044" y="541190"/>
                </a:lnTo>
                <a:lnTo>
                  <a:pt x="113104" y="799451"/>
                </a:lnTo>
                <a:lnTo>
                  <a:pt x="372044" y="1058421"/>
                </a:lnTo>
                <a:lnTo>
                  <a:pt x="372044" y="990274"/>
                </a:lnTo>
                <a:cubicBezTo>
                  <a:pt x="372044" y="964676"/>
                  <a:pt x="393013" y="943059"/>
                  <a:pt x="418914" y="943059"/>
                </a:cubicBezTo>
                <a:lnTo>
                  <a:pt x="419935" y="943059"/>
                </a:lnTo>
                <a:lnTo>
                  <a:pt x="751341" y="943059"/>
                </a:lnTo>
                <a:cubicBezTo>
                  <a:pt x="776944" y="943059"/>
                  <a:pt x="797876" y="964676"/>
                  <a:pt x="797876" y="990274"/>
                </a:cubicBezTo>
                <a:cubicBezTo>
                  <a:pt x="797876" y="1016859"/>
                  <a:pt x="776944" y="1037142"/>
                  <a:pt x="751341" y="1037142"/>
                </a:cubicBezTo>
                <a:lnTo>
                  <a:pt x="465787" y="1037142"/>
                </a:lnTo>
                <a:lnTo>
                  <a:pt x="465787" y="1170783"/>
                </a:lnTo>
                <a:lnTo>
                  <a:pt x="465787" y="1171773"/>
                </a:lnTo>
                <a:cubicBezTo>
                  <a:pt x="465787" y="1184403"/>
                  <a:pt x="461462" y="1196038"/>
                  <a:pt x="451832" y="1204687"/>
                </a:cubicBezTo>
                <a:cubicBezTo>
                  <a:pt x="433554" y="1223613"/>
                  <a:pt x="403629" y="1223613"/>
                  <a:pt x="385691" y="1204687"/>
                </a:cubicBezTo>
                <a:lnTo>
                  <a:pt x="14696" y="834031"/>
                </a:lnTo>
                <a:lnTo>
                  <a:pt x="13708" y="833388"/>
                </a:lnTo>
                <a:cubicBezTo>
                  <a:pt x="-4569" y="814767"/>
                  <a:pt x="-4569" y="785492"/>
                  <a:pt x="13708" y="766870"/>
                </a:cubicBezTo>
                <a:lnTo>
                  <a:pt x="385691" y="395227"/>
                </a:lnTo>
                <a:cubicBezTo>
                  <a:pt x="394338" y="386617"/>
                  <a:pt x="406288" y="380969"/>
                  <a:pt x="418914" y="380969"/>
                </a:cubicBezTo>
                <a:cubicBezTo>
                  <a:pt x="444515" y="380969"/>
                  <a:pt x="465787" y="402550"/>
                  <a:pt x="465787" y="428146"/>
                </a:cubicBezTo>
                <a:lnTo>
                  <a:pt x="465787" y="562773"/>
                </a:lnTo>
                <a:lnTo>
                  <a:pt x="750013" y="562773"/>
                </a:lnTo>
                <a:lnTo>
                  <a:pt x="751341" y="562773"/>
                </a:ln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50" name="图形 247"/>
          <p:cNvSpPr/>
          <p:nvPr/>
        </p:nvSpPr>
        <p:spPr>
          <a:xfrm>
            <a:off x="8330742" y="3060745"/>
            <a:ext cx="468828" cy="488542"/>
          </a:xfrm>
          <a:custGeom>
            <a:avLst/>
            <a:gdLst>
              <a:gd name="connsiteX0" fmla="*/ 751341 w 1169697"/>
              <a:gd name="connsiteY0" fmla="*/ 562773 h 1218881"/>
              <a:gd name="connsiteX1" fmla="*/ 797876 w 1169697"/>
              <a:gd name="connsiteY1" fmla="*/ 609336 h 1218881"/>
              <a:gd name="connsiteX2" fmla="*/ 797876 w 1169697"/>
              <a:gd name="connsiteY2" fmla="*/ 610665 h 1218881"/>
              <a:gd name="connsiteX3" fmla="*/ 797876 w 1169697"/>
              <a:gd name="connsiteY3" fmla="*/ 677454 h 1218881"/>
              <a:gd name="connsiteX4" fmla="*/ 1056508 w 1169697"/>
              <a:gd name="connsiteY4" fmla="*/ 419196 h 1218881"/>
              <a:gd name="connsiteX5" fmla="*/ 797876 w 1169697"/>
              <a:gd name="connsiteY5" fmla="*/ 160222 h 1218881"/>
              <a:gd name="connsiteX6" fmla="*/ 797876 w 1169697"/>
              <a:gd name="connsiteY6" fmla="*/ 227039 h 1218881"/>
              <a:gd name="connsiteX7" fmla="*/ 797876 w 1169697"/>
              <a:gd name="connsiteY7" fmla="*/ 228369 h 1218881"/>
              <a:gd name="connsiteX8" fmla="*/ 751341 w 1169697"/>
              <a:gd name="connsiteY8" fmla="*/ 275579 h 1218881"/>
              <a:gd name="connsiteX9" fmla="*/ 418914 w 1169697"/>
              <a:gd name="connsiteY9" fmla="*/ 275579 h 1218881"/>
              <a:gd name="connsiteX10" fmla="*/ 372044 w 1169697"/>
              <a:gd name="connsiteY10" fmla="*/ 228369 h 1218881"/>
              <a:gd name="connsiteX11" fmla="*/ 418914 w 1169697"/>
              <a:gd name="connsiteY11" fmla="*/ 181494 h 1218881"/>
              <a:gd name="connsiteX12" fmla="*/ 704131 w 1169697"/>
              <a:gd name="connsiteY12" fmla="*/ 181494 h 1218881"/>
              <a:gd name="connsiteX13" fmla="*/ 704131 w 1169697"/>
              <a:gd name="connsiteY13" fmla="*/ 46870 h 1218881"/>
              <a:gd name="connsiteX14" fmla="*/ 751341 w 1169697"/>
              <a:gd name="connsiteY14" fmla="*/ 0 h 1218881"/>
              <a:gd name="connsiteX15" fmla="*/ 784603 w 1169697"/>
              <a:gd name="connsiteY15" fmla="*/ 13955 h 1218881"/>
              <a:gd name="connsiteX16" fmla="*/ 1156249 w 1169697"/>
              <a:gd name="connsiteY16" fmla="*/ 385936 h 1218881"/>
              <a:gd name="connsiteX17" fmla="*/ 1156249 w 1169697"/>
              <a:gd name="connsiteY17" fmla="*/ 452078 h 1218881"/>
              <a:gd name="connsiteX18" fmla="*/ 784603 w 1169697"/>
              <a:gd name="connsiteY18" fmla="*/ 823415 h 1218881"/>
              <a:gd name="connsiteX19" fmla="*/ 718123 w 1169697"/>
              <a:gd name="connsiteY19" fmla="*/ 823415 h 1218881"/>
              <a:gd name="connsiteX20" fmla="*/ 704131 w 1169697"/>
              <a:gd name="connsiteY20" fmla="*/ 790835 h 1218881"/>
              <a:gd name="connsiteX21" fmla="*/ 704131 w 1169697"/>
              <a:gd name="connsiteY21" fmla="*/ 789816 h 1218881"/>
              <a:gd name="connsiteX22" fmla="*/ 704131 w 1169697"/>
              <a:gd name="connsiteY22" fmla="*/ 655871 h 1218881"/>
              <a:gd name="connsiteX23" fmla="*/ 418914 w 1169697"/>
              <a:gd name="connsiteY23" fmla="*/ 655871 h 1218881"/>
              <a:gd name="connsiteX24" fmla="*/ 372044 w 1169697"/>
              <a:gd name="connsiteY24" fmla="*/ 609336 h 1218881"/>
              <a:gd name="connsiteX25" fmla="*/ 372044 w 1169697"/>
              <a:gd name="connsiteY25" fmla="*/ 607974 h 1218881"/>
              <a:gd name="connsiteX26" fmla="*/ 372044 w 1169697"/>
              <a:gd name="connsiteY26" fmla="*/ 541190 h 1218881"/>
              <a:gd name="connsiteX27" fmla="*/ 113104 w 1169697"/>
              <a:gd name="connsiteY27" fmla="*/ 799451 h 1218881"/>
              <a:gd name="connsiteX28" fmla="*/ 372044 w 1169697"/>
              <a:gd name="connsiteY28" fmla="*/ 1058421 h 1218881"/>
              <a:gd name="connsiteX29" fmla="*/ 372044 w 1169697"/>
              <a:gd name="connsiteY29" fmla="*/ 990274 h 1218881"/>
              <a:gd name="connsiteX30" fmla="*/ 418914 w 1169697"/>
              <a:gd name="connsiteY30" fmla="*/ 943059 h 1218881"/>
              <a:gd name="connsiteX31" fmla="*/ 419935 w 1169697"/>
              <a:gd name="connsiteY31" fmla="*/ 943059 h 1218881"/>
              <a:gd name="connsiteX32" fmla="*/ 751341 w 1169697"/>
              <a:gd name="connsiteY32" fmla="*/ 943059 h 1218881"/>
              <a:gd name="connsiteX33" fmla="*/ 797876 w 1169697"/>
              <a:gd name="connsiteY33" fmla="*/ 990274 h 1218881"/>
              <a:gd name="connsiteX34" fmla="*/ 751341 w 1169697"/>
              <a:gd name="connsiteY34" fmla="*/ 1037142 h 1218881"/>
              <a:gd name="connsiteX35" fmla="*/ 465787 w 1169697"/>
              <a:gd name="connsiteY35" fmla="*/ 1037142 h 1218881"/>
              <a:gd name="connsiteX36" fmla="*/ 465787 w 1169697"/>
              <a:gd name="connsiteY36" fmla="*/ 1170783 h 1218881"/>
              <a:gd name="connsiteX37" fmla="*/ 465787 w 1169697"/>
              <a:gd name="connsiteY37" fmla="*/ 1171773 h 1218881"/>
              <a:gd name="connsiteX38" fmla="*/ 451832 w 1169697"/>
              <a:gd name="connsiteY38" fmla="*/ 1204687 h 1218881"/>
              <a:gd name="connsiteX39" fmla="*/ 385691 w 1169697"/>
              <a:gd name="connsiteY39" fmla="*/ 1204687 h 1218881"/>
              <a:gd name="connsiteX40" fmla="*/ 14696 w 1169697"/>
              <a:gd name="connsiteY40" fmla="*/ 834031 h 1218881"/>
              <a:gd name="connsiteX41" fmla="*/ 13708 w 1169697"/>
              <a:gd name="connsiteY41" fmla="*/ 833388 h 1218881"/>
              <a:gd name="connsiteX42" fmla="*/ 13708 w 1169697"/>
              <a:gd name="connsiteY42" fmla="*/ 766870 h 1218881"/>
              <a:gd name="connsiteX43" fmla="*/ 385691 w 1169697"/>
              <a:gd name="connsiteY43" fmla="*/ 395227 h 1218881"/>
              <a:gd name="connsiteX44" fmla="*/ 418914 w 1169697"/>
              <a:gd name="connsiteY44" fmla="*/ 380969 h 1218881"/>
              <a:gd name="connsiteX45" fmla="*/ 465787 w 1169697"/>
              <a:gd name="connsiteY45" fmla="*/ 428146 h 1218881"/>
              <a:gd name="connsiteX46" fmla="*/ 465787 w 1169697"/>
              <a:gd name="connsiteY46" fmla="*/ 562773 h 1218881"/>
              <a:gd name="connsiteX47" fmla="*/ 750013 w 1169697"/>
              <a:gd name="connsiteY47" fmla="*/ 562773 h 1218881"/>
              <a:gd name="connsiteX48" fmla="*/ 751341 w 1169697"/>
              <a:gd name="connsiteY48" fmla="*/ 562773 h 121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9697" h="1218881">
                <a:moveTo>
                  <a:pt x="751341" y="562773"/>
                </a:moveTo>
                <a:cubicBezTo>
                  <a:pt x="776944" y="562773"/>
                  <a:pt x="797876" y="583400"/>
                  <a:pt x="797876" y="609336"/>
                </a:cubicBezTo>
                <a:lnTo>
                  <a:pt x="797876" y="610665"/>
                </a:lnTo>
                <a:lnTo>
                  <a:pt x="797876" y="677454"/>
                </a:lnTo>
                <a:lnTo>
                  <a:pt x="1056508" y="419196"/>
                </a:lnTo>
                <a:lnTo>
                  <a:pt x="797876" y="160222"/>
                </a:lnTo>
                <a:lnTo>
                  <a:pt x="797876" y="227039"/>
                </a:lnTo>
                <a:lnTo>
                  <a:pt x="797876" y="228369"/>
                </a:lnTo>
                <a:cubicBezTo>
                  <a:pt x="797876" y="253965"/>
                  <a:pt x="776944" y="275579"/>
                  <a:pt x="751341" y="275579"/>
                </a:cubicBezTo>
                <a:lnTo>
                  <a:pt x="418914" y="275579"/>
                </a:lnTo>
                <a:cubicBezTo>
                  <a:pt x="393013" y="275579"/>
                  <a:pt x="372044" y="253965"/>
                  <a:pt x="372044" y="228369"/>
                </a:cubicBezTo>
                <a:cubicBezTo>
                  <a:pt x="372044" y="202432"/>
                  <a:pt x="393013" y="181494"/>
                  <a:pt x="418914" y="181494"/>
                </a:cubicBezTo>
                <a:lnTo>
                  <a:pt x="704131" y="181494"/>
                </a:lnTo>
                <a:lnTo>
                  <a:pt x="704131" y="46870"/>
                </a:lnTo>
                <a:cubicBezTo>
                  <a:pt x="704131" y="21273"/>
                  <a:pt x="725405" y="0"/>
                  <a:pt x="751341" y="0"/>
                </a:cubicBezTo>
                <a:cubicBezTo>
                  <a:pt x="763633" y="0"/>
                  <a:pt x="775954" y="5308"/>
                  <a:pt x="784603" y="13955"/>
                </a:cubicBezTo>
                <a:lnTo>
                  <a:pt x="1156249" y="385936"/>
                </a:lnTo>
                <a:cubicBezTo>
                  <a:pt x="1174180" y="403874"/>
                  <a:pt x="1174180" y="433799"/>
                  <a:pt x="1156249" y="452078"/>
                </a:cubicBezTo>
                <a:lnTo>
                  <a:pt x="784603" y="823415"/>
                </a:lnTo>
                <a:cubicBezTo>
                  <a:pt x="765981" y="842680"/>
                  <a:pt x="736058" y="842680"/>
                  <a:pt x="718123" y="823415"/>
                </a:cubicBezTo>
                <a:cubicBezTo>
                  <a:pt x="708793" y="814767"/>
                  <a:pt x="704131" y="802780"/>
                  <a:pt x="704131" y="790835"/>
                </a:cubicBezTo>
                <a:lnTo>
                  <a:pt x="704131" y="789816"/>
                </a:lnTo>
                <a:lnTo>
                  <a:pt x="704131" y="655871"/>
                </a:lnTo>
                <a:lnTo>
                  <a:pt x="418914" y="655871"/>
                </a:lnTo>
                <a:cubicBezTo>
                  <a:pt x="393013" y="655871"/>
                  <a:pt x="372044" y="635244"/>
                  <a:pt x="372044" y="609336"/>
                </a:cubicBezTo>
                <a:lnTo>
                  <a:pt x="372044" y="607974"/>
                </a:lnTo>
                <a:lnTo>
                  <a:pt x="372044" y="541190"/>
                </a:lnTo>
                <a:lnTo>
                  <a:pt x="113104" y="799451"/>
                </a:lnTo>
                <a:lnTo>
                  <a:pt x="372044" y="1058421"/>
                </a:lnTo>
                <a:lnTo>
                  <a:pt x="372044" y="990274"/>
                </a:lnTo>
                <a:cubicBezTo>
                  <a:pt x="372044" y="964676"/>
                  <a:pt x="393013" y="943059"/>
                  <a:pt x="418914" y="943059"/>
                </a:cubicBezTo>
                <a:lnTo>
                  <a:pt x="419935" y="943059"/>
                </a:lnTo>
                <a:lnTo>
                  <a:pt x="751341" y="943059"/>
                </a:lnTo>
                <a:cubicBezTo>
                  <a:pt x="776944" y="943059"/>
                  <a:pt x="797876" y="964676"/>
                  <a:pt x="797876" y="990274"/>
                </a:cubicBezTo>
                <a:cubicBezTo>
                  <a:pt x="797876" y="1016859"/>
                  <a:pt x="776944" y="1037142"/>
                  <a:pt x="751341" y="1037142"/>
                </a:cubicBezTo>
                <a:lnTo>
                  <a:pt x="465787" y="1037142"/>
                </a:lnTo>
                <a:lnTo>
                  <a:pt x="465787" y="1170783"/>
                </a:lnTo>
                <a:lnTo>
                  <a:pt x="465787" y="1171773"/>
                </a:lnTo>
                <a:cubicBezTo>
                  <a:pt x="465787" y="1184403"/>
                  <a:pt x="461462" y="1196038"/>
                  <a:pt x="451832" y="1204687"/>
                </a:cubicBezTo>
                <a:cubicBezTo>
                  <a:pt x="433554" y="1223613"/>
                  <a:pt x="403629" y="1223613"/>
                  <a:pt x="385691" y="1204687"/>
                </a:cubicBezTo>
                <a:lnTo>
                  <a:pt x="14696" y="834031"/>
                </a:lnTo>
                <a:lnTo>
                  <a:pt x="13708" y="833388"/>
                </a:lnTo>
                <a:cubicBezTo>
                  <a:pt x="-4569" y="814767"/>
                  <a:pt x="-4569" y="785492"/>
                  <a:pt x="13708" y="766870"/>
                </a:cubicBezTo>
                <a:lnTo>
                  <a:pt x="385691" y="395227"/>
                </a:lnTo>
                <a:cubicBezTo>
                  <a:pt x="394338" y="386617"/>
                  <a:pt x="406288" y="380969"/>
                  <a:pt x="418914" y="380969"/>
                </a:cubicBezTo>
                <a:cubicBezTo>
                  <a:pt x="444515" y="380969"/>
                  <a:pt x="465787" y="402550"/>
                  <a:pt x="465787" y="428146"/>
                </a:cubicBezTo>
                <a:lnTo>
                  <a:pt x="465787" y="562773"/>
                </a:lnTo>
                <a:lnTo>
                  <a:pt x="750013" y="562773"/>
                </a:lnTo>
                <a:lnTo>
                  <a:pt x="751341" y="562773"/>
                </a:ln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52" name="矩形: 圆角 251"/>
          <p:cNvSpPr/>
          <p:nvPr/>
        </p:nvSpPr>
        <p:spPr>
          <a:xfrm>
            <a:off x="5787803" y="4422151"/>
            <a:ext cx="2055890" cy="18366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4" name="文本框 253"/>
          <p:cNvSpPr txBox="1"/>
          <p:nvPr/>
        </p:nvSpPr>
        <p:spPr>
          <a:xfrm>
            <a:off x="6171304" y="453692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效果</a:t>
            </a:r>
          </a:p>
        </p:txBody>
      </p:sp>
      <p:sp>
        <p:nvSpPr>
          <p:cNvPr id="255" name="文本框 254"/>
          <p:cNvSpPr txBox="1"/>
          <p:nvPr/>
        </p:nvSpPr>
        <p:spPr>
          <a:xfrm>
            <a:off x="5787803" y="4900864"/>
            <a:ext cx="2055890" cy="111389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品牌价值通过商品供给传递，其中创新商品优先通过先锋人群，不断传递与巩固品牌价值</a:t>
            </a:r>
          </a:p>
        </p:txBody>
      </p:sp>
      <p:sp>
        <p:nvSpPr>
          <p:cNvPr id="257" name="矩形: 圆角 256"/>
          <p:cNvSpPr/>
          <p:nvPr/>
        </p:nvSpPr>
        <p:spPr>
          <a:xfrm>
            <a:off x="8032991" y="4422151"/>
            <a:ext cx="2055890" cy="18366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9" name="文本框 258"/>
          <p:cNvSpPr txBox="1"/>
          <p:nvPr/>
        </p:nvSpPr>
        <p:spPr>
          <a:xfrm>
            <a:off x="8416492" y="453692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效率</a:t>
            </a:r>
          </a:p>
        </p:txBody>
      </p:sp>
      <p:sp>
        <p:nvSpPr>
          <p:cNvPr id="260" name="文本框 259"/>
          <p:cNvSpPr txBox="1"/>
          <p:nvPr/>
        </p:nvSpPr>
        <p:spPr>
          <a:xfrm>
            <a:off x="8032991" y="4900864"/>
            <a:ext cx="2055890" cy="111389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快速获取初期客户，但是生意量级的进一步突破则需要思考品牌核心价值的塑造与沉淀。</a:t>
            </a:r>
          </a:p>
        </p:txBody>
      </p:sp>
      <p:sp>
        <p:nvSpPr>
          <p:cNvPr id="261" name="任意多边形: 形状 260"/>
          <p:cNvSpPr/>
          <p:nvPr/>
        </p:nvSpPr>
        <p:spPr>
          <a:xfrm rot="10800000">
            <a:off x="8886224" y="4018671"/>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2" name="任意多边形: 形状 261"/>
          <p:cNvSpPr/>
          <p:nvPr/>
        </p:nvSpPr>
        <p:spPr>
          <a:xfrm rot="10800000">
            <a:off x="6622201" y="4018671"/>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3" name="任意多边形: 形状 262"/>
          <p:cNvSpPr/>
          <p:nvPr/>
        </p:nvSpPr>
        <p:spPr>
          <a:xfrm rot="10800000" flipV="1">
            <a:off x="8886224" y="2334278"/>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4" name="任意多边形: 形状 263"/>
          <p:cNvSpPr/>
          <p:nvPr/>
        </p:nvSpPr>
        <p:spPr>
          <a:xfrm rot="10800000" flipV="1">
            <a:off x="6622201" y="2334278"/>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5" name="任意多边形: 形状 264"/>
          <p:cNvSpPr/>
          <p:nvPr/>
        </p:nvSpPr>
        <p:spPr>
          <a:xfrm rot="10800000" flipH="1">
            <a:off x="11659059" y="927258"/>
            <a:ext cx="312784" cy="574183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矩形: 圆角 180"/>
          <p:cNvSpPr/>
          <p:nvPr/>
        </p:nvSpPr>
        <p:spPr>
          <a:xfrm>
            <a:off x="4181614"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矩形: 圆角 181"/>
          <p:cNvSpPr/>
          <p:nvPr/>
        </p:nvSpPr>
        <p:spPr>
          <a:xfrm>
            <a:off x="8136216"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矩形: 圆角 179"/>
          <p:cNvSpPr/>
          <p:nvPr/>
        </p:nvSpPr>
        <p:spPr>
          <a:xfrm>
            <a:off x="227013"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品牌力落地三界面升级</a:t>
            </a:r>
          </a:p>
        </p:txBody>
      </p:sp>
      <p:grpSp>
        <p:nvGrpSpPr>
          <p:cNvPr id="105" name="组合 104"/>
          <p:cNvGrpSpPr/>
          <p:nvPr/>
        </p:nvGrpSpPr>
        <p:grpSpPr>
          <a:xfrm>
            <a:off x="510517" y="2151831"/>
            <a:ext cx="3261764" cy="3458436"/>
            <a:chOff x="501956" y="1551057"/>
            <a:chExt cx="3261764" cy="3458436"/>
          </a:xfrm>
        </p:grpSpPr>
        <p:sp>
          <p:nvSpPr>
            <p:cNvPr id="92" name="椭圆 91"/>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0" name="组合 69"/>
            <p:cNvGrpSpPr/>
            <p:nvPr/>
          </p:nvGrpSpPr>
          <p:grpSpPr>
            <a:xfrm>
              <a:off x="1368541" y="1551057"/>
              <a:ext cx="1528594" cy="1773168"/>
              <a:chOff x="1752364" y="2077647"/>
              <a:chExt cx="1528594" cy="1773168"/>
            </a:xfrm>
          </p:grpSpPr>
          <p:sp>
            <p:nvSpPr>
              <p:cNvPr id="42" name="六边形 41"/>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任意多边形: 形状 67"/>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6" name="文本框 45"/>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供应满足</a:t>
                </a:r>
              </a:p>
            </p:txBody>
          </p:sp>
          <p:sp>
            <p:nvSpPr>
              <p:cNvPr id="47" name="文本框 46"/>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Push</a:t>
                </a:r>
                <a:r>
                  <a:rPr kumimoji="0" lang="zh-CN" altLang="en-US" sz="1400" b="0" i="0" u="none" strike="noStrike" kern="1200" cap="none" spc="0" normalizeH="0" baseline="0" noProof="0" dirty="0">
                    <a:ln>
                      <a:noFill/>
                    </a:ln>
                    <a:solidFill>
                      <a:prstClr val="black"/>
                    </a:solidFill>
                    <a:effectLst/>
                    <a:uLnTx/>
                    <a:uFillTx/>
                    <a:cs typeface="+mn-ea"/>
                    <a:sym typeface="+mn-lt"/>
                  </a:rPr>
                  <a:t>模式</a:t>
                </a:r>
              </a:p>
            </p:txBody>
          </p:sp>
        </p:grpSp>
        <p:grpSp>
          <p:nvGrpSpPr>
            <p:cNvPr id="72" name="组合 71"/>
            <p:cNvGrpSpPr/>
            <p:nvPr/>
          </p:nvGrpSpPr>
          <p:grpSpPr>
            <a:xfrm>
              <a:off x="501956" y="3079750"/>
              <a:ext cx="1528594" cy="1773168"/>
              <a:chOff x="1752364" y="2077647"/>
              <a:chExt cx="1528594" cy="1773168"/>
            </a:xfrm>
          </p:grpSpPr>
          <p:sp>
            <p:nvSpPr>
              <p:cNvPr id="73" name="六边形 72"/>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5" name="文本框 74"/>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渠道经营</a:t>
                </a:r>
              </a:p>
            </p:txBody>
          </p:sp>
          <p:sp>
            <p:nvSpPr>
              <p:cNvPr id="76" name="文本框 75"/>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终端</a:t>
                </a:r>
                <a:r>
                  <a:rPr kumimoji="0" lang="en-US" altLang="zh-CN" sz="1400" b="0" i="0" u="none" strike="noStrike" kern="1200" cap="none" spc="0" normalizeH="0" baseline="0" noProof="0" dirty="0">
                    <a:ln>
                      <a:noFill/>
                    </a:ln>
                    <a:solidFill>
                      <a:prstClr val="black"/>
                    </a:solidFill>
                    <a:effectLst/>
                    <a:uLnTx/>
                    <a:uFillTx/>
                    <a:cs typeface="+mn-ea"/>
                    <a:sym typeface="+mn-lt"/>
                  </a:rPr>
                  <a:t>POS</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有限空间</a:t>
                </a:r>
              </a:p>
            </p:txBody>
          </p:sp>
        </p:grpSp>
        <p:grpSp>
          <p:nvGrpSpPr>
            <p:cNvPr id="77" name="组合 76"/>
            <p:cNvGrpSpPr/>
            <p:nvPr/>
          </p:nvGrpSpPr>
          <p:grpSpPr>
            <a:xfrm>
              <a:off x="2235126" y="3079750"/>
              <a:ext cx="1528594" cy="1773168"/>
              <a:chOff x="1752364" y="2077647"/>
              <a:chExt cx="1528594" cy="1773168"/>
            </a:xfrm>
          </p:grpSpPr>
          <p:sp>
            <p:nvSpPr>
              <p:cNvPr id="78" name="六边形 77"/>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任意多边形: 形状 78"/>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0" name="文本框 79"/>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即时转化</a:t>
                </a:r>
              </a:p>
            </p:txBody>
          </p:sp>
          <p:sp>
            <p:nvSpPr>
              <p:cNvPr id="81" name="文本框 80"/>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ATL</a:t>
                </a:r>
                <a:r>
                  <a:rPr kumimoji="0" lang="zh-CN" altLang="en-US" sz="1400" b="0" i="0" u="none" strike="noStrike" kern="1200" cap="none" spc="0" normalizeH="0" baseline="0" noProof="0" dirty="0">
                    <a:ln>
                      <a:noFill/>
                    </a:ln>
                    <a:solidFill>
                      <a:prstClr val="black"/>
                    </a:solidFill>
                    <a:effectLst/>
                    <a:uLnTx/>
                    <a:uFillTx/>
                    <a:cs typeface="+mn-ea"/>
                    <a:sym typeface="+mn-lt"/>
                  </a:rPr>
                  <a:t>难以衡量</a:t>
                </a:r>
                <a:r>
                  <a:rPr kumimoji="0" lang="en-US" altLang="zh-CN" sz="1400" b="0" i="0" u="none" strike="noStrike" kern="1200" cap="none" spc="0" normalizeH="0" baseline="0" noProof="0" dirty="0">
                    <a:ln>
                      <a:noFill/>
                    </a:ln>
                    <a:solidFill>
                      <a:prstClr val="black"/>
                    </a:solidFill>
                    <a:effectLst/>
                    <a:uLnTx/>
                    <a:uFillTx/>
                    <a:cs typeface="+mn-ea"/>
                    <a:sym typeface="+mn-lt"/>
                  </a:rPr>
                  <a:t>BTL</a:t>
                </a:r>
                <a:r>
                  <a:rPr kumimoji="0" lang="zh-CN" altLang="en-US" sz="1400" b="0" i="0" u="none" strike="noStrike" kern="1200" cap="none" spc="0" normalizeH="0" baseline="0" noProof="0" dirty="0">
                    <a:ln>
                      <a:noFill/>
                    </a:ln>
                    <a:solidFill>
                      <a:prstClr val="black"/>
                    </a:solidFill>
                    <a:effectLst/>
                    <a:uLnTx/>
                    <a:uFillTx/>
                    <a:cs typeface="+mn-ea"/>
                    <a:sym typeface="+mn-lt"/>
                  </a:rPr>
                  <a:t>不促不销</a:t>
                </a:r>
              </a:p>
            </p:txBody>
          </p:sp>
        </p:grpSp>
        <p:grpSp>
          <p:nvGrpSpPr>
            <p:cNvPr id="87" name="图形 85"/>
            <p:cNvGrpSpPr/>
            <p:nvPr/>
          </p:nvGrpSpPr>
          <p:grpSpPr>
            <a:xfrm>
              <a:off x="3037262" y="2618314"/>
              <a:ext cx="430856" cy="430856"/>
              <a:chOff x="5532653" y="2865653"/>
              <a:chExt cx="1126692" cy="1126692"/>
            </a:xfrm>
          </p:grpSpPr>
          <p:sp>
            <p:nvSpPr>
              <p:cNvPr id="88" name="任意多边形: 形状 87"/>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9" name="任意多边形: 形状 88"/>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0" name="任意多边形: 形状 89"/>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93" name="图形 85"/>
            <p:cNvGrpSpPr/>
            <p:nvPr/>
          </p:nvGrpSpPr>
          <p:grpSpPr>
            <a:xfrm>
              <a:off x="797559" y="2626308"/>
              <a:ext cx="430856" cy="430856"/>
              <a:chOff x="5532653" y="2865653"/>
              <a:chExt cx="1126692" cy="1126692"/>
            </a:xfrm>
          </p:grpSpPr>
          <p:sp>
            <p:nvSpPr>
              <p:cNvPr id="94" name="任意多边形: 形状 93"/>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5" name="任意多边形: 形状 94"/>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6" name="任意多边形: 形状 95"/>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04" name="组合 103"/>
            <p:cNvGrpSpPr/>
            <p:nvPr/>
          </p:nvGrpSpPr>
          <p:grpSpPr>
            <a:xfrm>
              <a:off x="1917410" y="4578637"/>
              <a:ext cx="430856" cy="430856"/>
              <a:chOff x="1917410" y="4578637"/>
              <a:chExt cx="430856" cy="430856"/>
            </a:xfrm>
          </p:grpSpPr>
          <p:sp>
            <p:nvSpPr>
              <p:cNvPr id="98" name="任意多边形: 形状 97"/>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9" name="任意多边形: 形状 98"/>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0" name="任意多边形: 形状 99"/>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08" name="组合 107"/>
          <p:cNvGrpSpPr/>
          <p:nvPr/>
        </p:nvGrpSpPr>
        <p:grpSpPr>
          <a:xfrm>
            <a:off x="4465118" y="2151831"/>
            <a:ext cx="3261764" cy="3458436"/>
            <a:chOff x="501956" y="1551057"/>
            <a:chExt cx="3261764" cy="3458436"/>
          </a:xfrm>
        </p:grpSpPr>
        <p:sp>
          <p:nvSpPr>
            <p:cNvPr id="109" name="椭圆 108"/>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10" name="组合 109"/>
            <p:cNvGrpSpPr/>
            <p:nvPr/>
          </p:nvGrpSpPr>
          <p:grpSpPr>
            <a:xfrm>
              <a:off x="1368541" y="1551057"/>
              <a:ext cx="1528594" cy="1773168"/>
              <a:chOff x="1752364" y="2077647"/>
              <a:chExt cx="1528594" cy="1773168"/>
            </a:xfrm>
          </p:grpSpPr>
          <p:sp>
            <p:nvSpPr>
              <p:cNvPr id="133" name="六边形 132"/>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4" name="任意多边形: 形状 133"/>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文本框 134"/>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a:t>
                </a:r>
              </a:p>
            </p:txBody>
          </p:sp>
          <p:sp>
            <p:nvSpPr>
              <p:cNvPr id="136" name="文本框 135"/>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Product</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1" name="组合 110"/>
            <p:cNvGrpSpPr/>
            <p:nvPr/>
          </p:nvGrpSpPr>
          <p:grpSpPr>
            <a:xfrm>
              <a:off x="501956" y="3079750"/>
              <a:ext cx="1528594" cy="1773168"/>
              <a:chOff x="1752364" y="2077647"/>
              <a:chExt cx="1528594" cy="1773168"/>
            </a:xfrm>
          </p:grpSpPr>
          <p:sp>
            <p:nvSpPr>
              <p:cNvPr id="129" name="六边形 128"/>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文本框 130"/>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终端</a:t>
                </a:r>
              </a:p>
            </p:txBody>
          </p:sp>
          <p:sp>
            <p:nvSpPr>
              <p:cNvPr id="132" name="文本框 131"/>
              <p:cNvSpPr txBox="1"/>
              <p:nvPr/>
            </p:nvSpPr>
            <p:spPr>
              <a:xfrm>
                <a:off x="1752364" y="2984500"/>
                <a:ext cx="152859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Place</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2" name="组合 111"/>
            <p:cNvGrpSpPr/>
            <p:nvPr/>
          </p:nvGrpSpPr>
          <p:grpSpPr>
            <a:xfrm>
              <a:off x="2235126" y="3079750"/>
              <a:ext cx="1528594" cy="1773168"/>
              <a:chOff x="1752364" y="2077647"/>
              <a:chExt cx="1528594" cy="1773168"/>
            </a:xfrm>
          </p:grpSpPr>
          <p:sp>
            <p:nvSpPr>
              <p:cNvPr id="125" name="六边形 124"/>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任意多边形: 形状 125"/>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7" name="文本框 126"/>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营销</a:t>
                </a:r>
              </a:p>
            </p:txBody>
          </p:sp>
          <p:sp>
            <p:nvSpPr>
              <p:cNvPr id="128" name="文本框 127"/>
              <p:cNvSpPr txBox="1"/>
              <p:nvPr/>
            </p:nvSpPr>
            <p:spPr>
              <a:xfrm>
                <a:off x="1752364" y="2984500"/>
                <a:ext cx="152859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Promotion</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3" name="图形 85"/>
            <p:cNvGrpSpPr/>
            <p:nvPr/>
          </p:nvGrpSpPr>
          <p:grpSpPr>
            <a:xfrm>
              <a:off x="3037262" y="2618314"/>
              <a:ext cx="430856" cy="430856"/>
              <a:chOff x="5532653" y="2865653"/>
              <a:chExt cx="1126692" cy="1126692"/>
            </a:xfrm>
          </p:grpSpPr>
          <p:sp>
            <p:nvSpPr>
              <p:cNvPr id="122" name="任意多边形: 形状 121"/>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3" name="任意多边形: 形状 122"/>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4" name="任意多边形: 形状 123"/>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14" name="图形 85"/>
            <p:cNvGrpSpPr/>
            <p:nvPr/>
          </p:nvGrpSpPr>
          <p:grpSpPr>
            <a:xfrm>
              <a:off x="797559" y="2626308"/>
              <a:ext cx="430856" cy="430856"/>
              <a:chOff x="5532653" y="2865653"/>
              <a:chExt cx="1126692" cy="1126692"/>
            </a:xfrm>
          </p:grpSpPr>
          <p:sp>
            <p:nvSpPr>
              <p:cNvPr id="119" name="任意多边形: 形状 118"/>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0" name="任意多边形: 形状 119"/>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1" name="任意多边形: 形状 120"/>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15" name="组合 114"/>
            <p:cNvGrpSpPr/>
            <p:nvPr/>
          </p:nvGrpSpPr>
          <p:grpSpPr>
            <a:xfrm>
              <a:off x="1917410" y="4578637"/>
              <a:ext cx="430856" cy="430856"/>
              <a:chOff x="1917410" y="4578637"/>
              <a:chExt cx="430856" cy="430856"/>
            </a:xfrm>
          </p:grpSpPr>
          <p:sp>
            <p:nvSpPr>
              <p:cNvPr id="116" name="任意多边形: 形状 115"/>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7" name="任意多边形: 形状 116"/>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8" name="任意多边形: 形状 117"/>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37" name="组合 136"/>
          <p:cNvGrpSpPr/>
          <p:nvPr/>
        </p:nvGrpSpPr>
        <p:grpSpPr>
          <a:xfrm>
            <a:off x="8419720" y="2151831"/>
            <a:ext cx="3261764" cy="3458436"/>
            <a:chOff x="501956" y="1551057"/>
            <a:chExt cx="3261764" cy="3458436"/>
          </a:xfrm>
        </p:grpSpPr>
        <p:sp>
          <p:nvSpPr>
            <p:cNvPr id="138" name="椭圆 137"/>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9" name="组合 138"/>
            <p:cNvGrpSpPr/>
            <p:nvPr/>
          </p:nvGrpSpPr>
          <p:grpSpPr>
            <a:xfrm>
              <a:off x="1368541" y="1551057"/>
              <a:ext cx="1528594" cy="1773168"/>
              <a:chOff x="1752364" y="2077647"/>
              <a:chExt cx="1528594" cy="1773168"/>
            </a:xfrm>
          </p:grpSpPr>
          <p:sp>
            <p:nvSpPr>
              <p:cNvPr id="162" name="六边形 161"/>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3" name="任意多边形: 形状 162"/>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创新引领</a:t>
                </a:r>
              </a:p>
            </p:txBody>
          </p:sp>
          <p:sp>
            <p:nvSpPr>
              <p:cNvPr id="165" name="文本框 164"/>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本地化敏捷化</a:t>
                </a:r>
              </a:p>
            </p:txBody>
          </p:sp>
        </p:grpSp>
        <p:grpSp>
          <p:nvGrpSpPr>
            <p:cNvPr id="140" name="组合 139"/>
            <p:cNvGrpSpPr/>
            <p:nvPr/>
          </p:nvGrpSpPr>
          <p:grpSpPr>
            <a:xfrm>
              <a:off x="501956" y="3079750"/>
              <a:ext cx="1528594" cy="1773168"/>
              <a:chOff x="1752364" y="2077647"/>
              <a:chExt cx="1528594" cy="1773168"/>
            </a:xfrm>
          </p:grpSpPr>
          <p:sp>
            <p:nvSpPr>
              <p:cNvPr id="158" name="六边形 157"/>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任意多边形: 形状 158"/>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0" name="文本框 159"/>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触点经营</a:t>
                </a:r>
              </a:p>
            </p:txBody>
          </p:sp>
          <p:sp>
            <p:nvSpPr>
              <p:cNvPr id="161" name="文本框 160"/>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顾客旅程</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更分散</a:t>
                </a: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多样</a:t>
                </a:r>
              </a:p>
            </p:txBody>
          </p:sp>
        </p:grpSp>
        <p:grpSp>
          <p:nvGrpSpPr>
            <p:cNvPr id="141" name="组合 140"/>
            <p:cNvGrpSpPr/>
            <p:nvPr/>
          </p:nvGrpSpPr>
          <p:grpSpPr>
            <a:xfrm>
              <a:off x="2235126" y="3079750"/>
              <a:ext cx="1528594" cy="1773168"/>
              <a:chOff x="1752364" y="2077647"/>
              <a:chExt cx="1528594" cy="1773168"/>
            </a:xfrm>
          </p:grpSpPr>
          <p:sp>
            <p:nvSpPr>
              <p:cNvPr id="154" name="六边形 153"/>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5" name="任意多边形: 形状 154"/>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文本框 155"/>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长期价值</a:t>
                </a:r>
              </a:p>
            </p:txBody>
          </p:sp>
          <p:sp>
            <p:nvSpPr>
              <p:cNvPr id="157" name="文本框 156"/>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整合营销</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协同联动</a:t>
                </a:r>
              </a:p>
            </p:txBody>
          </p:sp>
        </p:grpSp>
        <p:grpSp>
          <p:nvGrpSpPr>
            <p:cNvPr id="142" name="图形 85"/>
            <p:cNvGrpSpPr/>
            <p:nvPr/>
          </p:nvGrpSpPr>
          <p:grpSpPr>
            <a:xfrm>
              <a:off x="3037262" y="2618314"/>
              <a:ext cx="430856" cy="430856"/>
              <a:chOff x="5532653" y="2865653"/>
              <a:chExt cx="1126692" cy="1126692"/>
            </a:xfrm>
          </p:grpSpPr>
          <p:sp>
            <p:nvSpPr>
              <p:cNvPr id="151" name="任意多边形: 形状 150"/>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任意多边形: 形状 151"/>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任意多边形: 形状 152"/>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43" name="图形 85"/>
            <p:cNvGrpSpPr/>
            <p:nvPr/>
          </p:nvGrpSpPr>
          <p:grpSpPr>
            <a:xfrm>
              <a:off x="797559" y="2626308"/>
              <a:ext cx="430856" cy="430856"/>
              <a:chOff x="5532653" y="2865653"/>
              <a:chExt cx="1126692" cy="1126692"/>
            </a:xfrm>
          </p:grpSpPr>
          <p:sp>
            <p:nvSpPr>
              <p:cNvPr id="148" name="任意多边形: 形状 147"/>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9" name="任意多边形: 形状 148"/>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任意多边形: 形状 149"/>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44" name="组合 143"/>
            <p:cNvGrpSpPr/>
            <p:nvPr/>
          </p:nvGrpSpPr>
          <p:grpSpPr>
            <a:xfrm>
              <a:off x="1917410" y="4578637"/>
              <a:ext cx="430856" cy="430856"/>
              <a:chOff x="1917410" y="4578637"/>
              <a:chExt cx="430856" cy="430856"/>
            </a:xfrm>
          </p:grpSpPr>
          <p:sp>
            <p:nvSpPr>
              <p:cNvPr id="145" name="任意多边形: 形状 144"/>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6" name="任意多边形: 形状 145"/>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7" name="任意多边形: 形状 146"/>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sp>
        <p:nvSpPr>
          <p:cNvPr id="166" name="平行四边形 165"/>
          <p:cNvSpPr/>
          <p:nvPr/>
        </p:nvSpPr>
        <p:spPr>
          <a:xfrm>
            <a:off x="227013" y="1454211"/>
            <a:ext cx="3828772" cy="496439"/>
          </a:xfrm>
          <a:prstGeom prst="parallelogram">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传统品牌力</a:t>
            </a:r>
          </a:p>
        </p:txBody>
      </p:sp>
      <p:sp>
        <p:nvSpPr>
          <p:cNvPr id="167" name="平行四边形 166"/>
          <p:cNvSpPr/>
          <p:nvPr/>
        </p:nvSpPr>
        <p:spPr>
          <a:xfrm>
            <a:off x="4181614" y="1263337"/>
            <a:ext cx="3828772" cy="687313"/>
          </a:xfrm>
          <a:prstGeom prst="parallelogram">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经典品牌力</a:t>
            </a:r>
          </a:p>
        </p:txBody>
      </p:sp>
      <p:sp>
        <p:nvSpPr>
          <p:cNvPr id="168" name="平行四边形 167"/>
          <p:cNvSpPr/>
          <p:nvPr/>
        </p:nvSpPr>
        <p:spPr>
          <a:xfrm>
            <a:off x="8136216" y="1022171"/>
            <a:ext cx="3828772" cy="928479"/>
          </a:xfrm>
          <a:prstGeom prst="parallelogram">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新消费时代品牌力</a:t>
            </a:r>
          </a:p>
        </p:txBody>
      </p:sp>
      <p:grpSp>
        <p:nvGrpSpPr>
          <p:cNvPr id="173" name="图形 171"/>
          <p:cNvGrpSpPr/>
          <p:nvPr/>
        </p:nvGrpSpPr>
        <p:grpSpPr>
          <a:xfrm>
            <a:off x="3559314" y="1149498"/>
            <a:ext cx="901933" cy="650402"/>
            <a:chOff x="2560319" y="1102879"/>
            <a:chExt cx="1219200" cy="879189"/>
          </a:xfrm>
        </p:grpSpPr>
        <p:sp>
          <p:nvSpPr>
            <p:cNvPr id="174" name="任意多边形: 形状 173"/>
            <p:cNvSpPr/>
            <p:nvPr/>
          </p:nvSpPr>
          <p:spPr>
            <a:xfrm>
              <a:off x="2560336" y="1102879"/>
              <a:ext cx="1219183" cy="879189"/>
            </a:xfrm>
            <a:custGeom>
              <a:avLst/>
              <a:gdLst>
                <a:gd name="connsiteX0" fmla="*/ 701074 w 1219183"/>
                <a:gd name="connsiteY0" fmla="*/ 485115 h 879189"/>
                <a:gd name="connsiteX1" fmla="*/ 913614 w 1219183"/>
                <a:gd name="connsiteY1" fmla="*/ 705303 h 879189"/>
                <a:gd name="connsiteX2" fmla="*/ -346 w 1219183"/>
                <a:gd name="connsiteY2" fmla="*/ 878763 h 879189"/>
                <a:gd name="connsiteX3" fmla="*/ 582764 w 1219183"/>
                <a:gd name="connsiteY3" fmla="*/ 583573 h 879189"/>
                <a:gd name="connsiteX4" fmla="*/ 343217 w 1219183"/>
                <a:gd name="connsiteY4" fmla="*/ 335390 h 879189"/>
                <a:gd name="connsiteX5" fmla="*/ 858480 w 1219183"/>
                <a:gd name="connsiteY5" fmla="*/ 148147 h 879189"/>
                <a:gd name="connsiteX6" fmla="*/ 715055 w 1219183"/>
                <a:gd name="connsiteY6" fmla="*/ -426 h 879189"/>
                <a:gd name="connsiteX7" fmla="*/ 895340 w 1219183"/>
                <a:gd name="connsiteY7" fmla="*/ 28736 h 879189"/>
                <a:gd name="connsiteX8" fmla="*/ 1210860 w 1219183"/>
                <a:gd name="connsiteY8" fmla="*/ 79691 h 879189"/>
                <a:gd name="connsiteX9" fmla="*/ 1213377 w 1219183"/>
                <a:gd name="connsiteY9" fmla="*/ 221308 h 879189"/>
                <a:gd name="connsiteX10" fmla="*/ 1214034 w 1219183"/>
                <a:gd name="connsiteY10" fmla="*/ 257510 h 879189"/>
                <a:gd name="connsiteX11" fmla="*/ 1218837 w 1219183"/>
                <a:gd name="connsiteY11" fmla="*/ 521482 h 879189"/>
                <a:gd name="connsiteX12" fmla="*/ 1071678 w 1219183"/>
                <a:gd name="connsiteY12" fmla="*/ 369026 h 879189"/>
                <a:gd name="connsiteX13" fmla="*/ 701074 w 1219183"/>
                <a:gd name="connsiteY13" fmla="*/ 485115 h 87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83" h="879189">
                  <a:moveTo>
                    <a:pt x="701074" y="485115"/>
                  </a:moveTo>
                  <a:lnTo>
                    <a:pt x="913614" y="705303"/>
                  </a:lnTo>
                  <a:lnTo>
                    <a:pt x="-346" y="878763"/>
                  </a:lnTo>
                  <a:lnTo>
                    <a:pt x="582764" y="583573"/>
                  </a:lnTo>
                  <a:lnTo>
                    <a:pt x="343217" y="335390"/>
                  </a:lnTo>
                  <a:lnTo>
                    <a:pt x="858480" y="148147"/>
                  </a:lnTo>
                  <a:lnTo>
                    <a:pt x="715055" y="-426"/>
                  </a:lnTo>
                  <a:lnTo>
                    <a:pt x="895340" y="28736"/>
                  </a:lnTo>
                  <a:lnTo>
                    <a:pt x="1210860" y="79691"/>
                  </a:lnTo>
                  <a:lnTo>
                    <a:pt x="1213377" y="221308"/>
                  </a:lnTo>
                  <a:lnTo>
                    <a:pt x="1214034" y="257510"/>
                  </a:lnTo>
                  <a:lnTo>
                    <a:pt x="1218837" y="521482"/>
                  </a:lnTo>
                  <a:lnTo>
                    <a:pt x="1071678" y="369026"/>
                  </a:lnTo>
                  <a:lnTo>
                    <a:pt x="701074" y="485115"/>
                  </a:lnTo>
                  <a:close/>
                </a:path>
              </a:pathLst>
            </a:custGeom>
            <a:solidFill>
              <a:srgbClr val="FFC823"/>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5" name="任意多边形: 形状 174"/>
            <p:cNvSpPr/>
            <p:nvPr/>
          </p:nvSpPr>
          <p:spPr>
            <a:xfrm>
              <a:off x="2560319" y="1102879"/>
              <a:ext cx="1214331" cy="879139"/>
            </a:xfrm>
            <a:custGeom>
              <a:avLst/>
              <a:gdLst>
                <a:gd name="connsiteX0" fmla="*/ 905901 w 1214331"/>
                <a:gd name="connsiteY0" fmla="*/ 207179 h 879139"/>
                <a:gd name="connsiteX1" fmla="*/ 905901 w 1214331"/>
                <a:gd name="connsiteY1" fmla="*/ 207179 h 879139"/>
                <a:gd name="connsiteX2" fmla="*/ 906279 w 1214331"/>
                <a:gd name="connsiteY2" fmla="*/ 206998 h 879139"/>
                <a:gd name="connsiteX3" fmla="*/ 926016 w 1214331"/>
                <a:gd name="connsiteY3" fmla="*/ 198774 h 879139"/>
                <a:gd name="connsiteX4" fmla="*/ 1213986 w 1214331"/>
                <a:gd name="connsiteY4" fmla="*/ 257510 h 879139"/>
                <a:gd name="connsiteX5" fmla="*/ 1213328 w 1214331"/>
                <a:gd name="connsiteY5" fmla="*/ 221324 h 879139"/>
                <a:gd name="connsiteX6" fmla="*/ 1210812 w 1214331"/>
                <a:gd name="connsiteY6" fmla="*/ 79757 h 879139"/>
                <a:gd name="connsiteX7" fmla="*/ 1210812 w 1214331"/>
                <a:gd name="connsiteY7" fmla="*/ 79757 h 879139"/>
                <a:gd name="connsiteX8" fmla="*/ 1210812 w 1214331"/>
                <a:gd name="connsiteY8" fmla="*/ 79757 h 879139"/>
                <a:gd name="connsiteX9" fmla="*/ 1124740 w 1214331"/>
                <a:gd name="connsiteY9" fmla="*/ 65859 h 879139"/>
                <a:gd name="connsiteX10" fmla="*/ 715122 w 1214331"/>
                <a:gd name="connsiteY10" fmla="*/ -426 h 879139"/>
                <a:gd name="connsiteX11" fmla="*/ 858514 w 1214331"/>
                <a:gd name="connsiteY11" fmla="*/ 148131 h 879139"/>
                <a:gd name="connsiteX12" fmla="*/ 343235 w 1214331"/>
                <a:gd name="connsiteY12" fmla="*/ 335390 h 879139"/>
                <a:gd name="connsiteX13" fmla="*/ 582815 w 1214331"/>
                <a:gd name="connsiteY13" fmla="*/ 583589 h 879139"/>
                <a:gd name="connsiteX14" fmla="*/ -345 w 1214331"/>
                <a:gd name="connsiteY14" fmla="*/ 878714 h 879139"/>
                <a:gd name="connsiteX15" fmla="*/ 734135 w 1214331"/>
                <a:gd name="connsiteY15" fmla="*/ 610810 h 879139"/>
                <a:gd name="connsiteX16" fmla="*/ 505871 w 1214331"/>
                <a:gd name="connsiteY16" fmla="*/ 374322 h 8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31" h="879139">
                  <a:moveTo>
                    <a:pt x="905901" y="207179"/>
                  </a:moveTo>
                  <a:lnTo>
                    <a:pt x="905901" y="207179"/>
                  </a:lnTo>
                  <a:lnTo>
                    <a:pt x="906279" y="206998"/>
                  </a:lnTo>
                  <a:lnTo>
                    <a:pt x="926016" y="198774"/>
                  </a:lnTo>
                  <a:cubicBezTo>
                    <a:pt x="975607" y="180385"/>
                    <a:pt x="1107601" y="146914"/>
                    <a:pt x="1213986" y="257510"/>
                  </a:cubicBezTo>
                  <a:lnTo>
                    <a:pt x="1213328" y="221324"/>
                  </a:lnTo>
                  <a:lnTo>
                    <a:pt x="1210812" y="79757"/>
                  </a:lnTo>
                  <a:lnTo>
                    <a:pt x="1210812" y="79757"/>
                  </a:lnTo>
                  <a:lnTo>
                    <a:pt x="1210812" y="79757"/>
                  </a:lnTo>
                  <a:lnTo>
                    <a:pt x="1124740" y="65859"/>
                  </a:lnTo>
                  <a:lnTo>
                    <a:pt x="715122" y="-426"/>
                  </a:lnTo>
                  <a:lnTo>
                    <a:pt x="858514" y="148131"/>
                  </a:lnTo>
                  <a:lnTo>
                    <a:pt x="343235" y="335390"/>
                  </a:lnTo>
                  <a:lnTo>
                    <a:pt x="582815" y="583589"/>
                  </a:lnTo>
                  <a:lnTo>
                    <a:pt x="-345" y="878714"/>
                  </a:lnTo>
                  <a:lnTo>
                    <a:pt x="734135" y="610810"/>
                  </a:lnTo>
                  <a:lnTo>
                    <a:pt x="505871" y="374322"/>
                  </a:lnTo>
                  <a:close/>
                </a:path>
              </a:pathLst>
            </a:custGeom>
            <a:solidFill>
              <a:srgbClr val="FA7D00"/>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76" name="图形 171"/>
          <p:cNvGrpSpPr/>
          <p:nvPr/>
        </p:nvGrpSpPr>
        <p:grpSpPr>
          <a:xfrm>
            <a:off x="7522781" y="912511"/>
            <a:ext cx="901933" cy="650402"/>
            <a:chOff x="2560319" y="1102879"/>
            <a:chExt cx="1219200" cy="879189"/>
          </a:xfrm>
        </p:grpSpPr>
        <p:sp>
          <p:nvSpPr>
            <p:cNvPr id="177" name="任意多边形: 形状 176"/>
            <p:cNvSpPr/>
            <p:nvPr/>
          </p:nvSpPr>
          <p:spPr>
            <a:xfrm>
              <a:off x="2560336" y="1102879"/>
              <a:ext cx="1219183" cy="879189"/>
            </a:xfrm>
            <a:custGeom>
              <a:avLst/>
              <a:gdLst>
                <a:gd name="connsiteX0" fmla="*/ 701074 w 1219183"/>
                <a:gd name="connsiteY0" fmla="*/ 485115 h 879189"/>
                <a:gd name="connsiteX1" fmla="*/ 913614 w 1219183"/>
                <a:gd name="connsiteY1" fmla="*/ 705303 h 879189"/>
                <a:gd name="connsiteX2" fmla="*/ -346 w 1219183"/>
                <a:gd name="connsiteY2" fmla="*/ 878763 h 879189"/>
                <a:gd name="connsiteX3" fmla="*/ 582764 w 1219183"/>
                <a:gd name="connsiteY3" fmla="*/ 583573 h 879189"/>
                <a:gd name="connsiteX4" fmla="*/ 343217 w 1219183"/>
                <a:gd name="connsiteY4" fmla="*/ 335390 h 879189"/>
                <a:gd name="connsiteX5" fmla="*/ 858480 w 1219183"/>
                <a:gd name="connsiteY5" fmla="*/ 148147 h 879189"/>
                <a:gd name="connsiteX6" fmla="*/ 715055 w 1219183"/>
                <a:gd name="connsiteY6" fmla="*/ -426 h 879189"/>
                <a:gd name="connsiteX7" fmla="*/ 895340 w 1219183"/>
                <a:gd name="connsiteY7" fmla="*/ 28736 h 879189"/>
                <a:gd name="connsiteX8" fmla="*/ 1210860 w 1219183"/>
                <a:gd name="connsiteY8" fmla="*/ 79691 h 879189"/>
                <a:gd name="connsiteX9" fmla="*/ 1213377 w 1219183"/>
                <a:gd name="connsiteY9" fmla="*/ 221308 h 879189"/>
                <a:gd name="connsiteX10" fmla="*/ 1214034 w 1219183"/>
                <a:gd name="connsiteY10" fmla="*/ 257510 h 879189"/>
                <a:gd name="connsiteX11" fmla="*/ 1218837 w 1219183"/>
                <a:gd name="connsiteY11" fmla="*/ 521482 h 879189"/>
                <a:gd name="connsiteX12" fmla="*/ 1071678 w 1219183"/>
                <a:gd name="connsiteY12" fmla="*/ 369026 h 879189"/>
                <a:gd name="connsiteX13" fmla="*/ 701074 w 1219183"/>
                <a:gd name="connsiteY13" fmla="*/ 485115 h 87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83" h="879189">
                  <a:moveTo>
                    <a:pt x="701074" y="485115"/>
                  </a:moveTo>
                  <a:lnTo>
                    <a:pt x="913614" y="705303"/>
                  </a:lnTo>
                  <a:lnTo>
                    <a:pt x="-346" y="878763"/>
                  </a:lnTo>
                  <a:lnTo>
                    <a:pt x="582764" y="583573"/>
                  </a:lnTo>
                  <a:lnTo>
                    <a:pt x="343217" y="335390"/>
                  </a:lnTo>
                  <a:lnTo>
                    <a:pt x="858480" y="148147"/>
                  </a:lnTo>
                  <a:lnTo>
                    <a:pt x="715055" y="-426"/>
                  </a:lnTo>
                  <a:lnTo>
                    <a:pt x="895340" y="28736"/>
                  </a:lnTo>
                  <a:lnTo>
                    <a:pt x="1210860" y="79691"/>
                  </a:lnTo>
                  <a:lnTo>
                    <a:pt x="1213377" y="221308"/>
                  </a:lnTo>
                  <a:lnTo>
                    <a:pt x="1214034" y="257510"/>
                  </a:lnTo>
                  <a:lnTo>
                    <a:pt x="1218837" y="521482"/>
                  </a:lnTo>
                  <a:lnTo>
                    <a:pt x="1071678" y="369026"/>
                  </a:lnTo>
                  <a:lnTo>
                    <a:pt x="701074" y="485115"/>
                  </a:lnTo>
                  <a:close/>
                </a:path>
              </a:pathLst>
            </a:custGeom>
            <a:solidFill>
              <a:srgbClr val="FFC823"/>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8" name="任意多边形: 形状 177"/>
            <p:cNvSpPr/>
            <p:nvPr/>
          </p:nvSpPr>
          <p:spPr>
            <a:xfrm>
              <a:off x="2560319" y="1102879"/>
              <a:ext cx="1214331" cy="879139"/>
            </a:xfrm>
            <a:custGeom>
              <a:avLst/>
              <a:gdLst>
                <a:gd name="connsiteX0" fmla="*/ 905901 w 1214331"/>
                <a:gd name="connsiteY0" fmla="*/ 207179 h 879139"/>
                <a:gd name="connsiteX1" fmla="*/ 905901 w 1214331"/>
                <a:gd name="connsiteY1" fmla="*/ 207179 h 879139"/>
                <a:gd name="connsiteX2" fmla="*/ 906279 w 1214331"/>
                <a:gd name="connsiteY2" fmla="*/ 206998 h 879139"/>
                <a:gd name="connsiteX3" fmla="*/ 926016 w 1214331"/>
                <a:gd name="connsiteY3" fmla="*/ 198774 h 879139"/>
                <a:gd name="connsiteX4" fmla="*/ 1213986 w 1214331"/>
                <a:gd name="connsiteY4" fmla="*/ 257510 h 879139"/>
                <a:gd name="connsiteX5" fmla="*/ 1213328 w 1214331"/>
                <a:gd name="connsiteY5" fmla="*/ 221324 h 879139"/>
                <a:gd name="connsiteX6" fmla="*/ 1210812 w 1214331"/>
                <a:gd name="connsiteY6" fmla="*/ 79757 h 879139"/>
                <a:gd name="connsiteX7" fmla="*/ 1210812 w 1214331"/>
                <a:gd name="connsiteY7" fmla="*/ 79757 h 879139"/>
                <a:gd name="connsiteX8" fmla="*/ 1210812 w 1214331"/>
                <a:gd name="connsiteY8" fmla="*/ 79757 h 879139"/>
                <a:gd name="connsiteX9" fmla="*/ 1124740 w 1214331"/>
                <a:gd name="connsiteY9" fmla="*/ 65859 h 879139"/>
                <a:gd name="connsiteX10" fmla="*/ 715122 w 1214331"/>
                <a:gd name="connsiteY10" fmla="*/ -426 h 879139"/>
                <a:gd name="connsiteX11" fmla="*/ 858514 w 1214331"/>
                <a:gd name="connsiteY11" fmla="*/ 148131 h 879139"/>
                <a:gd name="connsiteX12" fmla="*/ 343235 w 1214331"/>
                <a:gd name="connsiteY12" fmla="*/ 335390 h 879139"/>
                <a:gd name="connsiteX13" fmla="*/ 582815 w 1214331"/>
                <a:gd name="connsiteY13" fmla="*/ 583589 h 879139"/>
                <a:gd name="connsiteX14" fmla="*/ -345 w 1214331"/>
                <a:gd name="connsiteY14" fmla="*/ 878714 h 879139"/>
                <a:gd name="connsiteX15" fmla="*/ 734135 w 1214331"/>
                <a:gd name="connsiteY15" fmla="*/ 610810 h 879139"/>
                <a:gd name="connsiteX16" fmla="*/ 505871 w 1214331"/>
                <a:gd name="connsiteY16" fmla="*/ 374322 h 8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31" h="879139">
                  <a:moveTo>
                    <a:pt x="905901" y="207179"/>
                  </a:moveTo>
                  <a:lnTo>
                    <a:pt x="905901" y="207179"/>
                  </a:lnTo>
                  <a:lnTo>
                    <a:pt x="906279" y="206998"/>
                  </a:lnTo>
                  <a:lnTo>
                    <a:pt x="926016" y="198774"/>
                  </a:lnTo>
                  <a:cubicBezTo>
                    <a:pt x="975607" y="180385"/>
                    <a:pt x="1107601" y="146914"/>
                    <a:pt x="1213986" y="257510"/>
                  </a:cubicBezTo>
                  <a:lnTo>
                    <a:pt x="1213328" y="221324"/>
                  </a:lnTo>
                  <a:lnTo>
                    <a:pt x="1210812" y="79757"/>
                  </a:lnTo>
                  <a:lnTo>
                    <a:pt x="1210812" y="79757"/>
                  </a:lnTo>
                  <a:lnTo>
                    <a:pt x="1210812" y="79757"/>
                  </a:lnTo>
                  <a:lnTo>
                    <a:pt x="1124740" y="65859"/>
                  </a:lnTo>
                  <a:lnTo>
                    <a:pt x="715122" y="-426"/>
                  </a:lnTo>
                  <a:lnTo>
                    <a:pt x="858514" y="148131"/>
                  </a:lnTo>
                  <a:lnTo>
                    <a:pt x="343235" y="335390"/>
                  </a:lnTo>
                  <a:lnTo>
                    <a:pt x="582815" y="583589"/>
                  </a:lnTo>
                  <a:lnTo>
                    <a:pt x="-345" y="878714"/>
                  </a:lnTo>
                  <a:lnTo>
                    <a:pt x="734135" y="610810"/>
                  </a:lnTo>
                  <a:lnTo>
                    <a:pt x="505871" y="374322"/>
                  </a:lnTo>
                  <a:close/>
                </a:path>
              </a:pathLst>
            </a:custGeom>
            <a:solidFill>
              <a:srgbClr val="FA7D00"/>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83" name="文本框 182"/>
          <p:cNvSpPr txBox="1"/>
          <p:nvPr/>
        </p:nvSpPr>
        <p:spPr>
          <a:xfrm>
            <a:off x="426720"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品牌价值通过商品供给传递，其中创新商品优先通过先锋人群，不断传递与巩固品牌价值</a:t>
            </a:r>
          </a:p>
        </p:txBody>
      </p:sp>
      <p:sp>
        <p:nvSpPr>
          <p:cNvPr id="184" name="文本框 183"/>
          <p:cNvSpPr txBox="1"/>
          <p:nvPr/>
        </p:nvSpPr>
        <p:spPr>
          <a:xfrm>
            <a:off x="4366882"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围绕顾客全生命周期的场景与触点运营，最终构建直接支撑品牌价值感知的“品牌心智”。</a:t>
            </a:r>
          </a:p>
        </p:txBody>
      </p:sp>
      <p:sp>
        <p:nvSpPr>
          <p:cNvPr id="185" name="文本框 184"/>
          <p:cNvSpPr txBox="1"/>
          <p:nvPr/>
        </p:nvSpPr>
        <p:spPr>
          <a:xfrm>
            <a:off x="8356039"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品牌必须持续保持一致的品牌形象才能引起消费者自身生活方式和价值观的共鸣。</a:t>
            </a: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层级结构：完整品牌力建设框架</a:t>
            </a:r>
          </a:p>
        </p:txBody>
      </p:sp>
      <p:sp>
        <p:nvSpPr>
          <p:cNvPr id="103" name="矩形: 圆角 102"/>
          <p:cNvSpPr/>
          <p:nvPr/>
        </p:nvSpPr>
        <p:spPr>
          <a:xfrm>
            <a:off x="1448064" y="5161701"/>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7" name="矩形: 圆角 106"/>
          <p:cNvSpPr/>
          <p:nvPr/>
        </p:nvSpPr>
        <p:spPr>
          <a:xfrm>
            <a:off x="1448064" y="3886053"/>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8" name="矩形: 圆角 107"/>
          <p:cNvSpPr/>
          <p:nvPr/>
        </p:nvSpPr>
        <p:spPr>
          <a:xfrm>
            <a:off x="1448064" y="2610406"/>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4" name="组合 163"/>
          <p:cNvGrpSpPr/>
          <p:nvPr/>
        </p:nvGrpSpPr>
        <p:grpSpPr>
          <a:xfrm>
            <a:off x="7374417" y="1525225"/>
            <a:ext cx="4547517" cy="5141715"/>
            <a:chOff x="3822242" y="1525225"/>
            <a:chExt cx="4547517" cy="5141715"/>
          </a:xfrm>
        </p:grpSpPr>
        <p:grpSp>
          <p:nvGrpSpPr>
            <p:cNvPr id="69" name="组合 68"/>
            <p:cNvGrpSpPr/>
            <p:nvPr/>
          </p:nvGrpSpPr>
          <p:grpSpPr>
            <a:xfrm>
              <a:off x="4017241" y="4806238"/>
              <a:ext cx="4157519" cy="1860702"/>
              <a:chOff x="2332560" y="1867991"/>
              <a:chExt cx="3338648" cy="1198482"/>
            </a:xfrm>
          </p:grpSpPr>
          <p:sp>
            <p:nvSpPr>
              <p:cNvPr id="70" name="任意多边形: 形状 69"/>
              <p:cNvSpPr/>
              <p:nvPr/>
            </p:nvSpPr>
            <p:spPr>
              <a:xfrm flipH="1">
                <a:off x="2332560" y="2080546"/>
                <a:ext cx="3338648" cy="985927"/>
              </a:xfrm>
              <a:custGeom>
                <a:avLst/>
                <a:gdLst>
                  <a:gd name="connsiteX0" fmla="*/ 3338648 w 3338648"/>
                  <a:gd name="connsiteY0" fmla="*/ 0 h 985927"/>
                  <a:gd name="connsiteX1" fmla="*/ 0 w 3338648"/>
                  <a:gd name="connsiteY1" fmla="*/ 0 h 985927"/>
                  <a:gd name="connsiteX2" fmla="*/ 0 w 3338648"/>
                  <a:gd name="connsiteY2" fmla="*/ 751823 h 985927"/>
                  <a:gd name="connsiteX3" fmla="*/ 1669324 w 3338648"/>
                  <a:gd name="connsiteY3" fmla="*/ 985927 h 985927"/>
                  <a:gd name="connsiteX4" fmla="*/ 3338648 w 3338648"/>
                  <a:gd name="connsiteY4" fmla="*/ 751823 h 985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8648" h="985927">
                    <a:moveTo>
                      <a:pt x="3338648" y="0"/>
                    </a:moveTo>
                    <a:lnTo>
                      <a:pt x="0" y="0"/>
                    </a:lnTo>
                    <a:lnTo>
                      <a:pt x="0" y="751823"/>
                    </a:lnTo>
                    <a:cubicBezTo>
                      <a:pt x="0" y="881115"/>
                      <a:pt x="747382" y="985927"/>
                      <a:pt x="1669324" y="985927"/>
                    </a:cubicBezTo>
                    <a:cubicBezTo>
                      <a:pt x="2591266" y="985927"/>
                      <a:pt x="3338648" y="881115"/>
                      <a:pt x="3338648" y="751823"/>
                    </a:cubicBez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椭圆 70"/>
              <p:cNvSpPr/>
              <p:nvPr/>
            </p:nvSpPr>
            <p:spPr>
              <a:xfrm flipH="1">
                <a:off x="2332560" y="1867991"/>
                <a:ext cx="3338648" cy="468207"/>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3" name="组合 122"/>
            <p:cNvGrpSpPr/>
            <p:nvPr/>
          </p:nvGrpSpPr>
          <p:grpSpPr>
            <a:xfrm>
              <a:off x="4561127" y="3641669"/>
              <a:ext cx="3069747" cy="1676905"/>
              <a:chOff x="4561127" y="3319983"/>
              <a:chExt cx="3069747" cy="1855215"/>
            </a:xfrm>
          </p:grpSpPr>
          <p:sp>
            <p:nvSpPr>
              <p:cNvPr id="122" name="任意多边形: 形状 121"/>
              <p:cNvSpPr/>
              <p:nvPr/>
            </p:nvSpPr>
            <p:spPr>
              <a:xfrm flipH="1">
                <a:off x="4561127" y="3589553"/>
                <a:ext cx="3069747" cy="1585645"/>
              </a:xfrm>
              <a:custGeom>
                <a:avLst/>
                <a:gdLst>
                  <a:gd name="connsiteX0" fmla="*/ 3069747 w 3069747"/>
                  <a:gd name="connsiteY0" fmla="*/ 0 h 1585645"/>
                  <a:gd name="connsiteX1" fmla="*/ 0 w 3069747"/>
                  <a:gd name="connsiteY1" fmla="*/ 0 h 1585645"/>
                  <a:gd name="connsiteX2" fmla="*/ 0 w 3069747"/>
                  <a:gd name="connsiteY2" fmla="*/ 335259 h 1585645"/>
                  <a:gd name="connsiteX3" fmla="*/ 0 w 3069747"/>
                  <a:gd name="connsiteY3" fmla="*/ 953488 h 1585645"/>
                  <a:gd name="connsiteX4" fmla="*/ 0 w 3069747"/>
                  <a:gd name="connsiteY4" fmla="*/ 1288747 h 1585645"/>
                  <a:gd name="connsiteX5" fmla="*/ 1534874 w 3069747"/>
                  <a:gd name="connsiteY5" fmla="*/ 1585645 h 1585645"/>
                  <a:gd name="connsiteX6" fmla="*/ 3069747 w 3069747"/>
                  <a:gd name="connsiteY6" fmla="*/ 1288747 h 1585645"/>
                  <a:gd name="connsiteX7" fmla="*/ 3069747 w 3069747"/>
                  <a:gd name="connsiteY7" fmla="*/ 953488 h 1585645"/>
                  <a:gd name="connsiteX8" fmla="*/ 3069747 w 3069747"/>
                  <a:gd name="connsiteY8" fmla="*/ 335259 h 15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9747" h="1585645">
                    <a:moveTo>
                      <a:pt x="3069747" y="0"/>
                    </a:moveTo>
                    <a:lnTo>
                      <a:pt x="0" y="0"/>
                    </a:lnTo>
                    <a:lnTo>
                      <a:pt x="0" y="335259"/>
                    </a:lnTo>
                    <a:lnTo>
                      <a:pt x="0" y="953488"/>
                    </a:lnTo>
                    <a:lnTo>
                      <a:pt x="0" y="1288747"/>
                    </a:lnTo>
                    <a:cubicBezTo>
                      <a:pt x="0" y="1452719"/>
                      <a:pt x="687187" y="1585645"/>
                      <a:pt x="1534874" y="1585645"/>
                    </a:cubicBezTo>
                    <a:cubicBezTo>
                      <a:pt x="2382561" y="1585645"/>
                      <a:pt x="3069747" y="1452719"/>
                      <a:pt x="3069747" y="1288747"/>
                    </a:cubicBezTo>
                    <a:lnTo>
                      <a:pt x="3069747" y="953488"/>
                    </a:lnTo>
                    <a:lnTo>
                      <a:pt x="3069747" y="335259"/>
                    </a:ln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椭圆 67"/>
              <p:cNvSpPr/>
              <p:nvPr/>
            </p:nvSpPr>
            <p:spPr>
              <a:xfrm flipH="1">
                <a:off x="4561127" y="3319983"/>
                <a:ext cx="3069747" cy="593796"/>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4" name="组合 123"/>
            <p:cNvGrpSpPr/>
            <p:nvPr/>
          </p:nvGrpSpPr>
          <p:grpSpPr>
            <a:xfrm>
              <a:off x="4938958" y="2405369"/>
              <a:ext cx="2314085" cy="1563293"/>
              <a:chOff x="4938958" y="1952223"/>
              <a:chExt cx="2314085" cy="1729523"/>
            </a:xfrm>
          </p:grpSpPr>
          <p:sp>
            <p:nvSpPr>
              <p:cNvPr id="110" name="任意多边形: 形状 109"/>
              <p:cNvSpPr/>
              <p:nvPr/>
            </p:nvSpPr>
            <p:spPr>
              <a:xfrm flipH="1">
                <a:off x="4938958" y="2155434"/>
                <a:ext cx="2314085" cy="1526312"/>
              </a:xfrm>
              <a:custGeom>
                <a:avLst/>
                <a:gdLst>
                  <a:gd name="connsiteX0" fmla="*/ 2314085 w 2314085"/>
                  <a:gd name="connsiteY0" fmla="*/ 0 h 1526312"/>
                  <a:gd name="connsiteX1" fmla="*/ 0 w 2314085"/>
                  <a:gd name="connsiteY1" fmla="*/ 0 h 1526312"/>
                  <a:gd name="connsiteX2" fmla="*/ 0 w 2314085"/>
                  <a:gd name="connsiteY2" fmla="*/ 583726 h 1526312"/>
                  <a:gd name="connsiteX3" fmla="*/ 0 w 2314085"/>
                  <a:gd name="connsiteY3" fmla="*/ 718773 h 1526312"/>
                  <a:gd name="connsiteX4" fmla="*/ 0 w 2314085"/>
                  <a:gd name="connsiteY4" fmla="*/ 1302499 h 1526312"/>
                  <a:gd name="connsiteX5" fmla="*/ 1157043 w 2314085"/>
                  <a:gd name="connsiteY5" fmla="*/ 1526312 h 1526312"/>
                  <a:gd name="connsiteX6" fmla="*/ 2314085 w 2314085"/>
                  <a:gd name="connsiteY6" fmla="*/ 1302499 h 1526312"/>
                  <a:gd name="connsiteX7" fmla="*/ 2314085 w 2314085"/>
                  <a:gd name="connsiteY7" fmla="*/ 718773 h 1526312"/>
                  <a:gd name="connsiteX8" fmla="*/ 2314085 w 2314085"/>
                  <a:gd name="connsiteY8" fmla="*/ 583726 h 1526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4085" h="1526312">
                    <a:moveTo>
                      <a:pt x="2314085" y="0"/>
                    </a:moveTo>
                    <a:lnTo>
                      <a:pt x="0" y="0"/>
                    </a:lnTo>
                    <a:lnTo>
                      <a:pt x="0" y="583726"/>
                    </a:lnTo>
                    <a:lnTo>
                      <a:pt x="0" y="718773"/>
                    </a:lnTo>
                    <a:lnTo>
                      <a:pt x="0" y="1302499"/>
                    </a:lnTo>
                    <a:cubicBezTo>
                      <a:pt x="0" y="1426108"/>
                      <a:pt x="518026" y="1526312"/>
                      <a:pt x="1157043" y="1526312"/>
                    </a:cubicBezTo>
                    <a:cubicBezTo>
                      <a:pt x="1796059" y="1526312"/>
                      <a:pt x="2314085" y="1426108"/>
                      <a:pt x="2314085" y="1302499"/>
                    </a:cubicBezTo>
                    <a:lnTo>
                      <a:pt x="2314085" y="718773"/>
                    </a:lnTo>
                    <a:lnTo>
                      <a:pt x="2314085" y="583726"/>
                    </a:ln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椭圆 110"/>
              <p:cNvSpPr/>
              <p:nvPr/>
            </p:nvSpPr>
            <p:spPr>
              <a:xfrm flipH="1">
                <a:off x="4938958" y="1952223"/>
                <a:ext cx="2314085" cy="447625"/>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7" name="组合 126"/>
            <p:cNvGrpSpPr/>
            <p:nvPr/>
          </p:nvGrpSpPr>
          <p:grpSpPr>
            <a:xfrm>
              <a:off x="7316442" y="2616000"/>
              <a:ext cx="1053317" cy="3761498"/>
              <a:chOff x="7316442" y="2185251"/>
              <a:chExt cx="1053317" cy="4161470"/>
            </a:xfrm>
          </p:grpSpPr>
          <p:sp>
            <p:nvSpPr>
              <p:cNvPr id="72" name="任意多边形: 形状 71"/>
              <p:cNvSpPr/>
              <p:nvPr/>
            </p:nvSpPr>
            <p:spPr>
              <a:xfrm rot="10800000" flipH="1" flipV="1">
                <a:off x="8225594" y="4997567"/>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5" name="任意多边形: 形状 124"/>
              <p:cNvSpPr/>
              <p:nvPr/>
            </p:nvSpPr>
            <p:spPr>
              <a:xfrm rot="10800000" flipH="1" flipV="1">
                <a:off x="7686769" y="3572106"/>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任意多边形: 形状 125"/>
              <p:cNvSpPr/>
              <p:nvPr/>
            </p:nvSpPr>
            <p:spPr>
              <a:xfrm rot="10800000" flipH="1" flipV="1">
                <a:off x="7316442" y="2185251"/>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8" name="组合 127"/>
            <p:cNvGrpSpPr/>
            <p:nvPr/>
          </p:nvGrpSpPr>
          <p:grpSpPr>
            <a:xfrm flipH="1">
              <a:off x="3822242" y="2616000"/>
              <a:ext cx="1053317" cy="3761498"/>
              <a:chOff x="7316442" y="2185251"/>
              <a:chExt cx="1053317" cy="4161470"/>
            </a:xfrm>
          </p:grpSpPr>
          <p:sp>
            <p:nvSpPr>
              <p:cNvPr id="129" name="任意多边形: 形状 128"/>
              <p:cNvSpPr/>
              <p:nvPr/>
            </p:nvSpPr>
            <p:spPr>
              <a:xfrm rot="10800000" flipH="1" flipV="1">
                <a:off x="8225594" y="4997567"/>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rot="10800000" flipH="1" flipV="1">
                <a:off x="7686769" y="3572106"/>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任意多边形: 形状 130"/>
              <p:cNvSpPr/>
              <p:nvPr/>
            </p:nvSpPr>
            <p:spPr>
              <a:xfrm rot="10800000" flipH="1" flipV="1">
                <a:off x="7316442" y="2185251"/>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33" name="组合 132"/>
            <p:cNvGrpSpPr/>
            <p:nvPr/>
          </p:nvGrpSpPr>
          <p:grpSpPr>
            <a:xfrm>
              <a:off x="5846813" y="1525225"/>
              <a:ext cx="787043" cy="1101148"/>
              <a:chOff x="8002723" y="1264170"/>
              <a:chExt cx="778500" cy="1089195"/>
            </a:xfrm>
          </p:grpSpPr>
          <p:sp>
            <p:nvSpPr>
              <p:cNvPr id="134" name="椭圆 133"/>
              <p:cNvSpPr/>
              <p:nvPr/>
            </p:nvSpPr>
            <p:spPr>
              <a:xfrm flipH="1">
                <a:off x="8002723" y="2243718"/>
                <a:ext cx="566842" cy="109647"/>
              </a:xfrm>
              <a:prstGeom prst="ellipse">
                <a:avLst/>
              </a:prstGeom>
              <a:solidFill>
                <a:schemeClr val="accent5">
                  <a:lumMod val="20000"/>
                  <a:lumOff val="80000"/>
                </a:schemeClr>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5" name="图形 83"/>
              <p:cNvGrpSpPr/>
              <p:nvPr/>
            </p:nvGrpSpPr>
            <p:grpSpPr>
              <a:xfrm>
                <a:off x="8231447" y="1264170"/>
                <a:ext cx="549776" cy="1027950"/>
                <a:chOff x="5752407" y="2824941"/>
                <a:chExt cx="549776" cy="1027950"/>
              </a:xfrm>
            </p:grpSpPr>
            <p:grpSp>
              <p:nvGrpSpPr>
                <p:cNvPr id="136" name="图形 83"/>
                <p:cNvGrpSpPr/>
                <p:nvPr/>
              </p:nvGrpSpPr>
              <p:grpSpPr>
                <a:xfrm>
                  <a:off x="5807825" y="2957945"/>
                  <a:ext cx="494358" cy="391088"/>
                  <a:chOff x="5807825" y="2957945"/>
                  <a:chExt cx="494358" cy="391088"/>
                </a:xfrm>
              </p:grpSpPr>
              <p:sp>
                <p:nvSpPr>
                  <p:cNvPr id="140" name="任意多边形: 形状 139"/>
                  <p:cNvSpPr/>
                  <p:nvPr/>
                </p:nvSpPr>
                <p:spPr>
                  <a:xfrm>
                    <a:off x="5886245" y="3016524"/>
                    <a:ext cx="415938" cy="332509"/>
                  </a:xfrm>
                  <a:custGeom>
                    <a:avLst/>
                    <a:gdLst>
                      <a:gd name="connsiteX0" fmla="*/ 476107 w 476596"/>
                      <a:gd name="connsiteY0" fmla="*/ 332220 h 332509"/>
                      <a:gd name="connsiteX1" fmla="*/ -489 w 476596"/>
                      <a:gd name="connsiteY1" fmla="*/ 332220 h 332509"/>
                      <a:gd name="connsiteX2" fmla="*/ -489 w 476596"/>
                      <a:gd name="connsiteY2" fmla="*/ -289 h 332509"/>
                      <a:gd name="connsiteX3" fmla="*/ 476107 w 476596"/>
                      <a:gd name="connsiteY3" fmla="*/ -289 h 332509"/>
                      <a:gd name="connsiteX4" fmla="*/ 343104 w 476596"/>
                      <a:gd name="connsiteY4" fmla="*/ 165966 h 33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596" h="332509">
                        <a:moveTo>
                          <a:pt x="476107" y="332220"/>
                        </a:moveTo>
                        <a:lnTo>
                          <a:pt x="-489" y="332220"/>
                        </a:lnTo>
                        <a:lnTo>
                          <a:pt x="-489" y="-289"/>
                        </a:lnTo>
                        <a:lnTo>
                          <a:pt x="476107" y="-289"/>
                        </a:lnTo>
                        <a:lnTo>
                          <a:pt x="343104" y="165966"/>
                        </a:lnTo>
                        <a:close/>
                      </a:path>
                    </a:pathLst>
                  </a:custGeom>
                  <a:solidFill>
                    <a:srgbClr val="FBCE43"/>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1" name="任意多边形: 形状 140"/>
                  <p:cNvSpPr/>
                  <p:nvPr/>
                </p:nvSpPr>
                <p:spPr>
                  <a:xfrm>
                    <a:off x="5807825" y="2957945"/>
                    <a:ext cx="200405" cy="332509"/>
                  </a:xfrm>
                  <a:custGeom>
                    <a:avLst/>
                    <a:gdLst>
                      <a:gd name="connsiteX0" fmla="*/ -358 w 476596"/>
                      <a:gd name="connsiteY0" fmla="*/ -232 h 332509"/>
                      <a:gd name="connsiteX1" fmla="*/ 476238 w 476596"/>
                      <a:gd name="connsiteY1" fmla="*/ -232 h 332509"/>
                      <a:gd name="connsiteX2" fmla="*/ 476238 w 476596"/>
                      <a:gd name="connsiteY2" fmla="*/ 332277 h 332509"/>
                      <a:gd name="connsiteX3" fmla="*/ -358 w 476596"/>
                      <a:gd name="connsiteY3" fmla="*/ 332277 h 332509"/>
                    </a:gdLst>
                    <a:ahLst/>
                    <a:cxnLst>
                      <a:cxn ang="0">
                        <a:pos x="connsiteX0" y="connsiteY0"/>
                      </a:cxn>
                      <a:cxn ang="0">
                        <a:pos x="connsiteX1" y="connsiteY1"/>
                      </a:cxn>
                      <a:cxn ang="0">
                        <a:pos x="connsiteX2" y="connsiteY2"/>
                      </a:cxn>
                      <a:cxn ang="0">
                        <a:pos x="connsiteX3" y="connsiteY3"/>
                      </a:cxn>
                    </a:cxnLst>
                    <a:rect l="l" t="t" r="r" b="b"/>
                    <a:pathLst>
                      <a:path w="476596" h="332509">
                        <a:moveTo>
                          <a:pt x="-358" y="-232"/>
                        </a:moveTo>
                        <a:lnTo>
                          <a:pt x="476238" y="-232"/>
                        </a:lnTo>
                        <a:lnTo>
                          <a:pt x="476238" y="332277"/>
                        </a:lnTo>
                        <a:lnTo>
                          <a:pt x="-358" y="332277"/>
                        </a:lnTo>
                        <a:close/>
                      </a:path>
                    </a:pathLst>
                  </a:custGeom>
                  <a:solidFill>
                    <a:srgbClr val="FFC000"/>
                  </a:solidFill>
                  <a:ln w="1386" cap="flat">
                    <a:noFill/>
                    <a:prstDash val="solid"/>
                    <a:miter/>
                  </a:ln>
                  <a:effectLst>
                    <a:outerShdw blurRad="215900" dist="38100" dir="2700000" algn="tl" rotWithShape="0">
                      <a:schemeClr val="tx1">
                        <a:alpha val="15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37" name="图形 83"/>
                <p:cNvGrpSpPr/>
                <p:nvPr/>
              </p:nvGrpSpPr>
              <p:grpSpPr>
                <a:xfrm>
                  <a:off x="5752407" y="2824941"/>
                  <a:ext cx="133003" cy="1027950"/>
                  <a:chOff x="5752407" y="2824941"/>
                  <a:chExt cx="133003" cy="1027950"/>
                </a:xfrm>
              </p:grpSpPr>
              <p:sp>
                <p:nvSpPr>
                  <p:cNvPr id="138" name="矩形: 圆角 137"/>
                  <p:cNvSpPr/>
                  <p:nvPr/>
                </p:nvSpPr>
                <p:spPr>
                  <a:xfrm>
                    <a:off x="5796741" y="2891442"/>
                    <a:ext cx="44334" cy="961449"/>
                  </a:xfrm>
                  <a:prstGeom prst="roundRect">
                    <a:avLst/>
                  </a:prstGeom>
                  <a:solidFill>
                    <a:schemeClr val="accent1"/>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9" name="任意多边形: 形状 138"/>
                  <p:cNvSpPr/>
                  <p:nvPr/>
                </p:nvSpPr>
                <p:spPr>
                  <a:xfrm>
                    <a:off x="5752407" y="2824941"/>
                    <a:ext cx="133003" cy="133003"/>
                  </a:xfrm>
                  <a:custGeom>
                    <a:avLst/>
                    <a:gdLst>
                      <a:gd name="connsiteX0" fmla="*/ 132761 w 133003"/>
                      <a:gd name="connsiteY0" fmla="*/ 66389 h 133003"/>
                      <a:gd name="connsiteX1" fmla="*/ 66260 w 133003"/>
                      <a:gd name="connsiteY1" fmla="*/ 132891 h 133003"/>
                      <a:gd name="connsiteX2" fmla="*/ -242 w 133003"/>
                      <a:gd name="connsiteY2" fmla="*/ 66389 h 133003"/>
                      <a:gd name="connsiteX3" fmla="*/ 66260 w 133003"/>
                      <a:gd name="connsiteY3" fmla="*/ -113 h 133003"/>
                      <a:gd name="connsiteX4" fmla="*/ 132761 w 133003"/>
                      <a:gd name="connsiteY4" fmla="*/ 66389 h 133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03" h="133003">
                        <a:moveTo>
                          <a:pt x="132761" y="66389"/>
                        </a:moveTo>
                        <a:cubicBezTo>
                          <a:pt x="132761" y="103117"/>
                          <a:pt x="102988" y="132891"/>
                          <a:pt x="66260" y="132891"/>
                        </a:cubicBezTo>
                        <a:cubicBezTo>
                          <a:pt x="29532" y="132891"/>
                          <a:pt x="-242" y="103117"/>
                          <a:pt x="-242" y="66389"/>
                        </a:cubicBezTo>
                        <a:cubicBezTo>
                          <a:pt x="-242" y="29661"/>
                          <a:pt x="29532" y="-113"/>
                          <a:pt x="66260" y="-113"/>
                        </a:cubicBezTo>
                        <a:cubicBezTo>
                          <a:pt x="102988" y="-113"/>
                          <a:pt x="132761" y="29661"/>
                          <a:pt x="132761" y="66389"/>
                        </a:cubicBezTo>
                        <a:close/>
                      </a:path>
                    </a:pathLst>
                  </a:custGeom>
                  <a:solidFill>
                    <a:schemeClr val="accent1"/>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sp>
          <p:nvSpPr>
            <p:cNvPr id="145" name="任意多边形: 形状 144"/>
            <p:cNvSpPr/>
            <p:nvPr/>
          </p:nvSpPr>
          <p:spPr>
            <a:xfrm>
              <a:off x="5377543" y="5631002"/>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6" name="任意多边形: 形状 145"/>
            <p:cNvSpPr/>
            <p:nvPr/>
          </p:nvSpPr>
          <p:spPr>
            <a:xfrm>
              <a:off x="6814457" y="5631002"/>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文本框 142"/>
            <p:cNvSpPr txBox="1"/>
            <p:nvPr/>
          </p:nvSpPr>
          <p:spPr>
            <a:xfrm>
              <a:off x="4202185" y="5666882"/>
              <a:ext cx="101180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小公司”态度</a:t>
              </a:r>
            </a:p>
          </p:txBody>
        </p:sp>
        <p:sp>
          <p:nvSpPr>
            <p:cNvPr id="149" name="文本框 148"/>
            <p:cNvSpPr txBox="1"/>
            <p:nvPr/>
          </p:nvSpPr>
          <p:spPr>
            <a:xfrm>
              <a:off x="5557129" y="5834462"/>
              <a:ext cx="94053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“动人”的东西</a:t>
              </a:r>
            </a:p>
          </p:txBody>
        </p:sp>
        <p:sp>
          <p:nvSpPr>
            <p:cNvPr id="151" name="文本框 150"/>
            <p:cNvSpPr txBox="1"/>
            <p:nvPr/>
          </p:nvSpPr>
          <p:spPr>
            <a:xfrm>
              <a:off x="7024816" y="5666882"/>
              <a:ext cx="871582"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家庭与成长</a:t>
              </a:r>
            </a:p>
          </p:txBody>
        </p:sp>
        <p:sp>
          <p:nvSpPr>
            <p:cNvPr id="153" name="任意多边形: 形状 152"/>
            <p:cNvSpPr/>
            <p:nvPr/>
          </p:nvSpPr>
          <p:spPr>
            <a:xfrm>
              <a:off x="5496812" y="4269695"/>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4" name="任意多边形: 形状 153"/>
            <p:cNvSpPr/>
            <p:nvPr/>
          </p:nvSpPr>
          <p:spPr>
            <a:xfrm>
              <a:off x="6695188" y="4269695"/>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任意多边形: 形状 155"/>
            <p:cNvSpPr/>
            <p:nvPr/>
          </p:nvSpPr>
          <p:spPr>
            <a:xfrm>
              <a:off x="6096000" y="2959621"/>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4635144" y="4389140"/>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国产好品牌</a:t>
              </a:r>
            </a:p>
          </p:txBody>
        </p:sp>
        <p:sp>
          <p:nvSpPr>
            <p:cNvPr id="160" name="文本框 159"/>
            <p:cNvSpPr txBox="1"/>
            <p:nvPr/>
          </p:nvSpPr>
          <p:spPr>
            <a:xfrm>
              <a:off x="5590100" y="4518954"/>
              <a:ext cx="101180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“养成系”经营</a:t>
              </a:r>
            </a:p>
          </p:txBody>
        </p:sp>
        <p:sp>
          <p:nvSpPr>
            <p:cNvPr id="161" name="文本框 160"/>
            <p:cNvSpPr txBox="1"/>
            <p:nvPr/>
          </p:nvSpPr>
          <p:spPr>
            <a:xfrm>
              <a:off x="6843411" y="4389140"/>
              <a:ext cx="63924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社群运营</a:t>
              </a:r>
            </a:p>
          </p:txBody>
        </p:sp>
        <p:sp>
          <p:nvSpPr>
            <p:cNvPr id="162" name="文本框 161"/>
            <p:cNvSpPr txBox="1"/>
            <p:nvPr/>
          </p:nvSpPr>
          <p:spPr>
            <a:xfrm>
              <a:off x="5122161" y="3007104"/>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建立会员日</a:t>
              </a:r>
            </a:p>
          </p:txBody>
        </p:sp>
        <p:sp>
          <p:nvSpPr>
            <p:cNvPr id="163" name="文本框 162"/>
            <p:cNvSpPr txBox="1"/>
            <p:nvPr/>
          </p:nvSpPr>
          <p:spPr>
            <a:xfrm>
              <a:off x="6243161" y="3007104"/>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价值认同感</a:t>
              </a:r>
            </a:p>
          </p:txBody>
        </p:sp>
      </p:grpSp>
      <p:sp>
        <p:nvSpPr>
          <p:cNvPr id="167" name="文本框 166"/>
          <p:cNvSpPr txBox="1"/>
          <p:nvPr/>
        </p:nvSpPr>
        <p:spPr>
          <a:xfrm>
            <a:off x="1773184"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新一代数字原住民消费者对于体验的定义与需求发生了改变</a:t>
            </a:r>
          </a:p>
        </p:txBody>
      </p:sp>
      <p:sp>
        <p:nvSpPr>
          <p:cNvPr id="168" name="文本框 167"/>
          <p:cNvSpPr txBox="1"/>
          <p:nvPr/>
        </p:nvSpPr>
        <p:spPr>
          <a:xfrm>
            <a:off x="1806968"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en-US" altLang="zh-CN" sz="1600" b="0" i="0" u="none" strike="noStrike" kern="1200" cap="none" spc="0" normalizeH="0" baseline="0" noProof="0" dirty="0">
                <a:ln>
                  <a:noFill/>
                </a:ln>
                <a:solidFill>
                  <a:srgbClr val="1C4273"/>
                </a:solidFill>
                <a:effectLst/>
                <a:uLnTx/>
                <a:uFillTx/>
                <a:cs typeface="+mn-ea"/>
                <a:sym typeface="+mn-lt"/>
              </a:rPr>
              <a:t>“</a:t>
            </a:r>
            <a:r>
              <a:rPr kumimoji="0" lang="zh-CN" altLang="en-US" sz="1600" b="0" i="0" u="none" strike="noStrike" kern="1200" cap="none" spc="0" normalizeH="0" baseline="0" noProof="0" dirty="0">
                <a:ln>
                  <a:noFill/>
                </a:ln>
                <a:solidFill>
                  <a:srgbClr val="1C4273"/>
                </a:solidFill>
                <a:effectLst/>
                <a:uLnTx/>
                <a:uFillTx/>
                <a:cs typeface="+mn-ea"/>
                <a:sym typeface="+mn-lt"/>
              </a:rPr>
              <a:t>小公司”态度</a:t>
            </a:r>
          </a:p>
        </p:txBody>
      </p:sp>
      <p:sp>
        <p:nvSpPr>
          <p:cNvPr id="171" name="文本框 170"/>
          <p:cNvSpPr txBox="1"/>
          <p:nvPr/>
        </p:nvSpPr>
        <p:spPr>
          <a:xfrm>
            <a:off x="3673039"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消费者倾向于更加符合自己类型、生活方式、理想追求的品牌</a:t>
            </a:r>
          </a:p>
        </p:txBody>
      </p:sp>
      <p:sp>
        <p:nvSpPr>
          <p:cNvPr id="172" name="文本框 171"/>
          <p:cNvSpPr txBox="1"/>
          <p:nvPr/>
        </p:nvSpPr>
        <p:spPr>
          <a:xfrm>
            <a:off x="3706823"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“动人”的东西</a:t>
            </a:r>
          </a:p>
        </p:txBody>
      </p:sp>
      <p:sp>
        <p:nvSpPr>
          <p:cNvPr id="174" name="文本框 173"/>
          <p:cNvSpPr txBox="1"/>
          <p:nvPr/>
        </p:nvSpPr>
        <p:spPr>
          <a:xfrm>
            <a:off x="5572894"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升级互动的逻辑与体验形式以迎合消费者的生活方式的改变</a:t>
            </a:r>
          </a:p>
        </p:txBody>
      </p:sp>
      <p:sp>
        <p:nvSpPr>
          <p:cNvPr id="175" name="文本框 174"/>
          <p:cNvSpPr txBox="1"/>
          <p:nvPr/>
        </p:nvSpPr>
        <p:spPr>
          <a:xfrm>
            <a:off x="5606678"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家庭与成长</a:t>
            </a:r>
          </a:p>
        </p:txBody>
      </p:sp>
      <p:sp>
        <p:nvSpPr>
          <p:cNvPr id="177" name="文本框 176"/>
          <p:cNvSpPr txBox="1"/>
          <p:nvPr/>
        </p:nvSpPr>
        <p:spPr>
          <a:xfrm>
            <a:off x="1773184"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中国消费者心智尚未成规模，刚性需求小，品牌力建设显得尤其重要</a:t>
            </a:r>
          </a:p>
        </p:txBody>
      </p:sp>
      <p:sp>
        <p:nvSpPr>
          <p:cNvPr id="178" name="文本框 177"/>
          <p:cNvSpPr txBox="1"/>
          <p:nvPr/>
        </p:nvSpPr>
        <p:spPr>
          <a:xfrm>
            <a:off x="1806968"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国产好品牌</a:t>
            </a:r>
          </a:p>
        </p:txBody>
      </p:sp>
      <p:sp>
        <p:nvSpPr>
          <p:cNvPr id="180" name="文本框 179"/>
          <p:cNvSpPr txBox="1"/>
          <p:nvPr/>
        </p:nvSpPr>
        <p:spPr>
          <a:xfrm>
            <a:off x="3673039"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受到产品季节性的影响，在尝试教育市场穿搭以延长产品的季节周期</a:t>
            </a:r>
          </a:p>
        </p:txBody>
      </p:sp>
      <p:sp>
        <p:nvSpPr>
          <p:cNvPr id="181" name="文本框 180"/>
          <p:cNvSpPr txBox="1"/>
          <p:nvPr/>
        </p:nvSpPr>
        <p:spPr>
          <a:xfrm>
            <a:off x="3706823"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“养成系”经营</a:t>
            </a:r>
          </a:p>
        </p:txBody>
      </p:sp>
      <p:sp>
        <p:nvSpPr>
          <p:cNvPr id="183" name="文本框 182"/>
          <p:cNvSpPr txBox="1"/>
          <p:nvPr/>
        </p:nvSpPr>
        <p:spPr>
          <a:xfrm>
            <a:off x="5572894"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表达自我则更有偶像包袱，更追求体面的、符合大众审美的穿着打扮</a:t>
            </a:r>
          </a:p>
        </p:txBody>
      </p:sp>
      <p:sp>
        <p:nvSpPr>
          <p:cNvPr id="184" name="文本框 183"/>
          <p:cNvSpPr txBox="1"/>
          <p:nvPr/>
        </p:nvSpPr>
        <p:spPr>
          <a:xfrm>
            <a:off x="5606678"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社群运营</a:t>
            </a:r>
          </a:p>
        </p:txBody>
      </p:sp>
      <p:sp>
        <p:nvSpPr>
          <p:cNvPr id="186" name="文本框 185"/>
          <p:cNvSpPr txBox="1"/>
          <p:nvPr/>
        </p:nvSpPr>
        <p:spPr>
          <a:xfrm>
            <a:off x="1773184" y="3090513"/>
            <a:ext cx="25091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品牌的流行彩妆文化基因与本土文化产生了碰撞，催生了品牌心智</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87" name="文本框 186"/>
          <p:cNvSpPr txBox="1"/>
          <p:nvPr/>
        </p:nvSpPr>
        <p:spPr>
          <a:xfrm>
            <a:off x="1821930" y="2717013"/>
            <a:ext cx="2460352"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建立会员日</a:t>
            </a:r>
          </a:p>
        </p:txBody>
      </p:sp>
      <p:sp>
        <p:nvSpPr>
          <p:cNvPr id="189" name="文本框 188"/>
          <p:cNvSpPr txBox="1"/>
          <p:nvPr/>
        </p:nvSpPr>
        <p:spPr>
          <a:xfrm>
            <a:off x="4600709" y="3090513"/>
            <a:ext cx="25091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既保持了品牌本身的调性，也紧跟了中国年轻消费者的喜好</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90" name="文本框 189"/>
          <p:cNvSpPr txBox="1"/>
          <p:nvPr/>
        </p:nvSpPr>
        <p:spPr>
          <a:xfrm>
            <a:off x="4649455" y="2717013"/>
            <a:ext cx="2460352"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价值认同感</a:t>
            </a:r>
          </a:p>
        </p:txBody>
      </p:sp>
      <p:sp>
        <p:nvSpPr>
          <p:cNvPr id="204" name="文本框 203"/>
          <p:cNvSpPr txBox="1"/>
          <p:nvPr/>
        </p:nvSpPr>
        <p:spPr>
          <a:xfrm>
            <a:off x="1803741" y="1270910"/>
            <a:ext cx="6785947" cy="95725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srgbClr val="9D3728"/>
                </a:solidFill>
                <a:effectLst/>
                <a:uLnTx/>
                <a:uFillTx/>
                <a:cs typeface="+mn-ea"/>
                <a:sym typeface="+mn-lt"/>
              </a:rPr>
              <a:t>品牌力是不分平台。重点不是“产业能做什么”，本质是什么，而是“顾客想看到什么” 。</a:t>
            </a:r>
          </a:p>
        </p:txBody>
      </p:sp>
      <p:sp>
        <p:nvSpPr>
          <p:cNvPr id="215" name="箭头: 上 214"/>
          <p:cNvSpPr/>
          <p:nvPr/>
        </p:nvSpPr>
        <p:spPr>
          <a:xfrm>
            <a:off x="227012" y="951348"/>
            <a:ext cx="1463603" cy="5724785"/>
          </a:xfrm>
          <a:prstGeom prst="upArrow">
            <a:avLst>
              <a:gd name="adj1" fmla="val 73648"/>
              <a:gd name="adj2" fmla="val 58568"/>
            </a:avLst>
          </a:prstGeom>
          <a:solidFill>
            <a:schemeClr val="accent2">
              <a:lumMod val="20000"/>
              <a:lumOff val="80000"/>
            </a:schemeClr>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6" name="矩形: 圆角 215"/>
          <p:cNvSpPr>
            <a:spLocks noChangeAspect="1"/>
          </p:cNvSpPr>
          <p:nvPr/>
        </p:nvSpPr>
        <p:spPr>
          <a:xfrm>
            <a:off x="541237" y="2778810"/>
            <a:ext cx="851787" cy="851787"/>
          </a:xfrm>
          <a:prstGeom prst="roundRect">
            <a:avLst>
              <a:gd name="adj" fmla="val 6649"/>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17" name="矩形: 圆角 216"/>
          <p:cNvSpPr>
            <a:spLocks noChangeAspect="1"/>
          </p:cNvSpPr>
          <p:nvPr/>
        </p:nvSpPr>
        <p:spPr>
          <a:xfrm>
            <a:off x="541237" y="4062766"/>
            <a:ext cx="851787" cy="851787"/>
          </a:xfrm>
          <a:prstGeom prst="roundRect">
            <a:avLst>
              <a:gd name="adj" fmla="val 6649"/>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18" name="矩形: 圆角 217"/>
          <p:cNvSpPr>
            <a:spLocks noChangeAspect="1"/>
          </p:cNvSpPr>
          <p:nvPr/>
        </p:nvSpPr>
        <p:spPr>
          <a:xfrm>
            <a:off x="541237" y="5369449"/>
            <a:ext cx="851787" cy="851787"/>
          </a:xfrm>
          <a:prstGeom prst="roundRect">
            <a:avLst>
              <a:gd name="adj" fmla="val 6649"/>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chemeClr val="tx1"/>
              </a:solidFill>
              <a:effectLst/>
              <a:uLnTx/>
              <a:uFillTx/>
              <a:cs typeface="+mn-ea"/>
              <a:sym typeface="+mn-lt"/>
            </a:endParaRPr>
          </a:p>
        </p:txBody>
      </p:sp>
      <p:sp>
        <p:nvSpPr>
          <p:cNvPr id="219" name="文本框 218"/>
          <p:cNvSpPr txBox="1"/>
          <p:nvPr/>
        </p:nvSpPr>
        <p:spPr>
          <a:xfrm>
            <a:off x="541237" y="5582189"/>
            <a:ext cx="851787"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chemeClr val="tx1"/>
                </a:solidFill>
                <a:effectLst/>
                <a:uLnTx/>
                <a:uFillTx/>
                <a:cs typeface="+mn-ea"/>
                <a:sym typeface="+mn-lt"/>
              </a:rPr>
              <a:t>定位点</a:t>
            </a:r>
          </a:p>
        </p:txBody>
      </p:sp>
      <p:sp>
        <p:nvSpPr>
          <p:cNvPr id="220" name="文本框 219"/>
          <p:cNvSpPr txBox="1"/>
          <p:nvPr/>
        </p:nvSpPr>
        <p:spPr>
          <a:xfrm>
            <a:off x="541237" y="4160305"/>
            <a:ext cx="851787"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消费者认知</a:t>
            </a:r>
          </a:p>
        </p:txBody>
      </p:sp>
      <p:sp>
        <p:nvSpPr>
          <p:cNvPr id="221" name="文本框 220"/>
          <p:cNvSpPr txBox="1"/>
          <p:nvPr/>
        </p:nvSpPr>
        <p:spPr>
          <a:xfrm>
            <a:off x="541237" y="2876548"/>
            <a:ext cx="851787"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消费者关系</a:t>
            </a:r>
          </a:p>
        </p:txBody>
      </p:sp>
      <p:sp>
        <p:nvSpPr>
          <p:cNvPr id="222" name="直角三角形 221"/>
          <p:cNvSpPr/>
          <p:nvPr/>
        </p:nvSpPr>
        <p:spPr>
          <a:xfrm flipV="1">
            <a:off x="1527283" y="6363420"/>
            <a:ext cx="307836" cy="307836"/>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3" name="任意多边形: 形状 222"/>
          <p:cNvSpPr/>
          <p:nvPr/>
        </p:nvSpPr>
        <p:spPr>
          <a:xfrm flipV="1">
            <a:off x="856023" y="4980644"/>
            <a:ext cx="214210" cy="329177"/>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a:effectLst>
            <a:outerShdw blurRad="254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4" name="任意多边形: 形状 223"/>
          <p:cNvSpPr/>
          <p:nvPr/>
        </p:nvSpPr>
        <p:spPr>
          <a:xfrm flipV="1">
            <a:off x="856023" y="3678943"/>
            <a:ext cx="214210" cy="329177"/>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a:effectLst>
            <a:outerShdw blurRad="254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5" name="文本框 224"/>
          <p:cNvSpPr txBox="1"/>
          <p:nvPr/>
        </p:nvSpPr>
        <p:spPr>
          <a:xfrm>
            <a:off x="541237" y="1376978"/>
            <a:ext cx="851787" cy="1384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solidFill>
                    <a:prstClr val="white"/>
                  </a:solidFill>
                </a:ln>
                <a:solidFill>
                  <a:srgbClr val="FFC000"/>
                </a:solidFill>
                <a:effectLst>
                  <a:outerShdw blurRad="50800" dist="38100" dir="2700000" algn="tl" rotWithShape="0">
                    <a:prstClr val="black">
                      <a:alpha val="40000"/>
                    </a:prstClr>
                  </a:outerShdw>
                </a:effectLst>
                <a:uLnTx/>
                <a:uFillTx/>
                <a:cs typeface="+mn-ea"/>
                <a:sym typeface="+mn-lt"/>
              </a:rPr>
              <a:t>3</a:t>
            </a:r>
            <a:r>
              <a:rPr kumimoji="0" lang="zh-CN" altLang="en-US" sz="2400" b="0" i="0" u="none" strike="noStrike" kern="1200" cap="none" spc="0" normalizeH="0" baseline="0" noProof="0" dirty="0">
                <a:ln>
                  <a:noFill/>
                </a:ln>
                <a:solidFill>
                  <a:srgbClr val="1C4273"/>
                </a:solidFill>
                <a:effectLst/>
                <a:uLnTx/>
                <a:uFillTx/>
                <a:cs typeface="+mn-ea"/>
                <a:sym typeface="+mn-lt"/>
              </a:rPr>
              <a:t>维</a:t>
            </a:r>
            <a:endParaRPr kumimoji="0" lang="en-US" altLang="zh-CN" sz="2400" b="0" i="0" u="none" strike="noStrike" kern="1200" cap="none" spc="0" normalizeH="0" baseline="0" noProof="0" dirty="0">
              <a:ln>
                <a:noFill/>
              </a:ln>
              <a:solidFill>
                <a:srgbClr val="1C4273"/>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1C4273"/>
                </a:solidFill>
                <a:effectLst/>
                <a:uLnTx/>
                <a:uFillTx/>
                <a:cs typeface="+mn-ea"/>
                <a:sym typeface="+mn-lt"/>
              </a:rPr>
              <a:t>层级结构</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 name="组合 168"/>
          <p:cNvGrpSpPr/>
          <p:nvPr/>
        </p:nvGrpSpPr>
        <p:grpSpPr>
          <a:xfrm>
            <a:off x="7746058" y="2220538"/>
            <a:ext cx="524595" cy="3877241"/>
            <a:chOff x="3958292" y="1874473"/>
            <a:chExt cx="524595" cy="3877241"/>
          </a:xfrm>
        </p:grpSpPr>
        <p:grpSp>
          <p:nvGrpSpPr>
            <p:cNvPr id="170" name="组合 169"/>
            <p:cNvGrpSpPr/>
            <p:nvPr/>
          </p:nvGrpSpPr>
          <p:grpSpPr>
            <a:xfrm>
              <a:off x="3958292" y="1874473"/>
              <a:ext cx="524595" cy="3877241"/>
              <a:chOff x="3917652" y="1874473"/>
              <a:chExt cx="524595" cy="3877241"/>
            </a:xfrm>
          </p:grpSpPr>
          <p:sp>
            <p:nvSpPr>
              <p:cNvPr id="173" name="矩形: 圆角 172"/>
              <p:cNvSpPr/>
              <p:nvPr/>
            </p:nvSpPr>
            <p:spPr>
              <a:xfrm>
                <a:off x="3917652" y="1874473"/>
                <a:ext cx="79200" cy="3877241"/>
              </a:xfrm>
              <a:prstGeom prst="roundRect">
                <a:avLst>
                  <a:gd name="adj" fmla="val 0"/>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4" name="箭头: 右 173"/>
              <p:cNvSpPr/>
              <p:nvPr/>
            </p:nvSpPr>
            <p:spPr>
              <a:xfrm>
                <a:off x="3967666" y="3562685"/>
                <a:ext cx="474581" cy="360358"/>
              </a:xfrm>
              <a:prstGeom prst="rightArrow">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71" name="任意多边形: 形状 170"/>
            <p:cNvSpPr/>
            <p:nvPr/>
          </p:nvSpPr>
          <p:spPr>
            <a:xfrm>
              <a:off x="4065252" y="3295315"/>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2" name="任意多边形: 形状 171"/>
            <p:cNvSpPr/>
            <p:nvPr/>
          </p:nvSpPr>
          <p:spPr>
            <a:xfrm flipV="1">
              <a:off x="4065252" y="3855033"/>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8" name="组合 167"/>
          <p:cNvGrpSpPr/>
          <p:nvPr/>
        </p:nvGrpSpPr>
        <p:grpSpPr>
          <a:xfrm>
            <a:off x="3958292" y="2220538"/>
            <a:ext cx="524595" cy="3877241"/>
            <a:chOff x="3958292" y="1874473"/>
            <a:chExt cx="524595" cy="3877241"/>
          </a:xfrm>
        </p:grpSpPr>
        <p:grpSp>
          <p:nvGrpSpPr>
            <p:cNvPr id="101" name="组合 100"/>
            <p:cNvGrpSpPr/>
            <p:nvPr/>
          </p:nvGrpSpPr>
          <p:grpSpPr>
            <a:xfrm>
              <a:off x="3958292" y="1874473"/>
              <a:ext cx="524595" cy="3877241"/>
              <a:chOff x="3917652" y="1874473"/>
              <a:chExt cx="524595" cy="3877241"/>
            </a:xfrm>
          </p:grpSpPr>
          <p:sp>
            <p:nvSpPr>
              <p:cNvPr id="99" name="矩形: 圆角 98"/>
              <p:cNvSpPr/>
              <p:nvPr/>
            </p:nvSpPr>
            <p:spPr>
              <a:xfrm>
                <a:off x="3917652" y="1874473"/>
                <a:ext cx="79200" cy="3877241"/>
              </a:xfrm>
              <a:prstGeom prst="roundRect">
                <a:avLst>
                  <a:gd name="adj" fmla="val 0"/>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0" name="箭头: 右 99"/>
              <p:cNvSpPr/>
              <p:nvPr/>
            </p:nvSpPr>
            <p:spPr>
              <a:xfrm>
                <a:off x="3967666" y="3562685"/>
                <a:ext cx="474581" cy="360358"/>
              </a:xfrm>
              <a:prstGeom prst="rightArrow">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66" name="任意多边形: 形状 165"/>
            <p:cNvSpPr/>
            <p:nvPr/>
          </p:nvSpPr>
          <p:spPr>
            <a:xfrm>
              <a:off x="4065252" y="3295315"/>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任意多边形: 形状 166"/>
            <p:cNvSpPr/>
            <p:nvPr/>
          </p:nvSpPr>
          <p:spPr>
            <a:xfrm flipV="1">
              <a:off x="4065252" y="3855033"/>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43" name="矩形: 圆角 142"/>
          <p:cNvSpPr/>
          <p:nvPr/>
        </p:nvSpPr>
        <p:spPr>
          <a:xfrm>
            <a:off x="11522314" y="2220538"/>
            <a:ext cx="144000" cy="3877241"/>
          </a:xfrm>
          <a:prstGeom prst="roundRect">
            <a:avLst>
              <a:gd name="adj" fmla="val 0"/>
            </a:avLst>
          </a:prstGeom>
          <a:solidFill>
            <a:schemeClr val="tx2">
              <a:lumMod val="7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矩形: 圆角 73"/>
          <p:cNvSpPr/>
          <p:nvPr/>
        </p:nvSpPr>
        <p:spPr>
          <a:xfrm>
            <a:off x="513820" y="2220538"/>
            <a:ext cx="144000" cy="3877241"/>
          </a:xfrm>
          <a:prstGeom prst="roundRect">
            <a:avLst>
              <a:gd name="adj" fmla="val 0"/>
            </a:avLst>
          </a:prstGeom>
          <a:solidFill>
            <a:schemeClr val="tx2">
              <a:lumMod val="7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标题 2"/>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房型图：低空经济产业链</a:t>
            </a:r>
          </a:p>
        </p:txBody>
      </p:sp>
      <p:sp>
        <p:nvSpPr>
          <p:cNvPr id="28" name="任意多边形: 形状 27"/>
          <p:cNvSpPr/>
          <p:nvPr/>
        </p:nvSpPr>
        <p:spPr>
          <a:xfrm>
            <a:off x="223919" y="963499"/>
            <a:ext cx="11744163" cy="879047"/>
          </a:xfrm>
          <a:custGeom>
            <a:avLst/>
            <a:gdLst>
              <a:gd name="connsiteX0" fmla="*/ 5872082 w 11744163"/>
              <a:gd name="connsiteY0" fmla="*/ 0 h 875659"/>
              <a:gd name="connsiteX1" fmla="*/ 11721104 w 11744163"/>
              <a:gd name="connsiteY1" fmla="*/ 761465 h 875659"/>
              <a:gd name="connsiteX2" fmla="*/ 11744163 w 11744163"/>
              <a:gd name="connsiteY2" fmla="*/ 761465 h 875659"/>
              <a:gd name="connsiteX3" fmla="*/ 11744163 w 11744163"/>
              <a:gd name="connsiteY3" fmla="*/ 875659 h 875659"/>
              <a:gd name="connsiteX4" fmla="*/ 5872082 w 11744163"/>
              <a:gd name="connsiteY4" fmla="*/ 111192 h 875659"/>
              <a:gd name="connsiteX5" fmla="*/ 0 w 11744163"/>
              <a:gd name="connsiteY5" fmla="*/ 875659 h 875659"/>
              <a:gd name="connsiteX6" fmla="*/ 0 w 11744163"/>
              <a:gd name="connsiteY6" fmla="*/ 764467 h 875659"/>
              <a:gd name="connsiteX7" fmla="*/ 0 w 11744163"/>
              <a:gd name="connsiteY7" fmla="*/ 761465 h 875659"/>
              <a:gd name="connsiteX8" fmla="*/ 5872082 w 11744163"/>
              <a:gd name="connsiteY8" fmla="*/ 0 h 87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3" h="875659">
                <a:moveTo>
                  <a:pt x="5872082" y="0"/>
                </a:moveTo>
                <a:lnTo>
                  <a:pt x="11721104" y="761465"/>
                </a:lnTo>
                <a:lnTo>
                  <a:pt x="11744163" y="761465"/>
                </a:lnTo>
                <a:lnTo>
                  <a:pt x="11744163" y="875659"/>
                </a:lnTo>
                <a:lnTo>
                  <a:pt x="5872082" y="111192"/>
                </a:lnTo>
                <a:lnTo>
                  <a:pt x="0" y="875659"/>
                </a:lnTo>
                <a:lnTo>
                  <a:pt x="0" y="764467"/>
                </a:lnTo>
                <a:lnTo>
                  <a:pt x="0" y="761465"/>
                </a:lnTo>
                <a:lnTo>
                  <a:pt x="5872082" y="0"/>
                </a:lnTo>
                <a:close/>
              </a:path>
            </a:pathLst>
          </a:custGeom>
          <a:solidFill>
            <a:schemeClr val="tx2">
              <a:lumMod val="75000"/>
            </a:schemeClr>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等腰三角形 17"/>
          <p:cNvSpPr/>
          <p:nvPr/>
        </p:nvSpPr>
        <p:spPr>
          <a:xfrm>
            <a:off x="497707" y="1131855"/>
            <a:ext cx="11196587" cy="731644"/>
          </a:xfrm>
          <a:prstGeom prst="triangle">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 name="文本框 19"/>
          <p:cNvSpPr txBox="1"/>
          <p:nvPr/>
        </p:nvSpPr>
        <p:spPr>
          <a:xfrm>
            <a:off x="4421926" y="1346712"/>
            <a:ext cx="3348149" cy="461665"/>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低空经济产业链结构</a:t>
            </a:r>
            <a:endParaRPr kumimoji="0" lang="en-US" altLang="zh-CN" sz="2400" b="0" i="0" u="none" strike="noStrike" kern="1200" cap="none" spc="0" normalizeH="0" baseline="0" noProof="0" dirty="0">
              <a:ln>
                <a:noFill/>
              </a:ln>
              <a:solidFill>
                <a:prstClr val="white"/>
              </a:solidFill>
              <a:effectLst/>
              <a:uLnTx/>
              <a:uFillTx/>
              <a:cs typeface="+mn-ea"/>
              <a:sym typeface="+mn-lt"/>
            </a:endParaRPr>
          </a:p>
        </p:txBody>
      </p:sp>
      <p:sp>
        <p:nvSpPr>
          <p:cNvPr id="30" name="矩形: 圆顶角 29"/>
          <p:cNvSpPr/>
          <p:nvPr/>
        </p:nvSpPr>
        <p:spPr>
          <a:xfrm>
            <a:off x="497707"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矩形: 圆顶角 30"/>
          <p:cNvSpPr/>
          <p:nvPr/>
        </p:nvSpPr>
        <p:spPr>
          <a:xfrm>
            <a:off x="4262286"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矩形: 圆顶角 31"/>
          <p:cNvSpPr/>
          <p:nvPr/>
        </p:nvSpPr>
        <p:spPr>
          <a:xfrm>
            <a:off x="8026864"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文本框 43"/>
          <p:cNvSpPr txBox="1"/>
          <p:nvPr/>
        </p:nvSpPr>
        <p:spPr>
          <a:xfrm>
            <a:off x="755583"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上游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原材料及零部件</a:t>
            </a:r>
          </a:p>
        </p:txBody>
      </p:sp>
      <p:sp>
        <p:nvSpPr>
          <p:cNvPr id="50" name="文本框 49"/>
          <p:cNvSpPr txBox="1"/>
          <p:nvPr/>
        </p:nvSpPr>
        <p:spPr>
          <a:xfrm>
            <a:off x="4520162"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中游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低空经济核心部分</a:t>
            </a:r>
          </a:p>
        </p:txBody>
      </p:sp>
      <p:sp>
        <p:nvSpPr>
          <p:cNvPr id="51" name="文本框 50"/>
          <p:cNvSpPr txBox="1"/>
          <p:nvPr/>
        </p:nvSpPr>
        <p:spPr>
          <a:xfrm>
            <a:off x="8284739"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下游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产业融合</a:t>
            </a:r>
          </a:p>
        </p:txBody>
      </p:sp>
      <p:sp>
        <p:nvSpPr>
          <p:cNvPr id="35" name="矩形: 圆角 34"/>
          <p:cNvSpPr/>
          <p:nvPr/>
        </p:nvSpPr>
        <p:spPr>
          <a:xfrm>
            <a:off x="711201"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 name="矩形: 圆角 33"/>
          <p:cNvSpPr/>
          <p:nvPr/>
        </p:nvSpPr>
        <p:spPr>
          <a:xfrm>
            <a:off x="852144" y="2501692"/>
            <a:ext cx="540718" cy="691644"/>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研发</a:t>
            </a:r>
          </a:p>
        </p:txBody>
      </p:sp>
      <p:sp>
        <p:nvSpPr>
          <p:cNvPr id="37" name="矩形: 圆角 36"/>
          <p:cNvSpPr/>
          <p:nvPr/>
        </p:nvSpPr>
        <p:spPr>
          <a:xfrm>
            <a:off x="1468562"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err="1">
                <a:ln>
                  <a:noFill/>
                </a:ln>
                <a:solidFill>
                  <a:prstClr val="black"/>
                </a:solidFill>
                <a:effectLst/>
                <a:uLnTx/>
                <a:uFillTx/>
                <a:cs typeface="+mn-ea"/>
                <a:sym typeface="+mn-lt"/>
              </a:rPr>
              <a:t>CAx</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38" name="矩形: 圆角 37"/>
          <p:cNvSpPr/>
          <p:nvPr/>
        </p:nvSpPr>
        <p:spPr>
          <a:xfrm>
            <a:off x="2663951"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EDA</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39" name="矩形: 圆角 38"/>
          <p:cNvSpPr/>
          <p:nvPr/>
        </p:nvSpPr>
        <p:spPr>
          <a:xfrm>
            <a:off x="1468562"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PLM</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40" name="矩形: 圆角 39"/>
          <p:cNvSpPr/>
          <p:nvPr/>
        </p:nvSpPr>
        <p:spPr>
          <a:xfrm>
            <a:off x="2663951"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54" name="矩形: 圆角 53"/>
          <p:cNvSpPr/>
          <p:nvPr/>
        </p:nvSpPr>
        <p:spPr>
          <a:xfrm>
            <a:off x="852144" y="3309235"/>
            <a:ext cx="540718" cy="144128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关键原材料</a:t>
            </a:r>
          </a:p>
        </p:txBody>
      </p:sp>
      <p:sp>
        <p:nvSpPr>
          <p:cNvPr id="56" name="矩形: 圆角 55"/>
          <p:cNvSpPr/>
          <p:nvPr/>
        </p:nvSpPr>
        <p:spPr>
          <a:xfrm>
            <a:off x="1468562" y="3309235"/>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钢材</a:t>
            </a:r>
          </a:p>
        </p:txBody>
      </p:sp>
      <p:sp>
        <p:nvSpPr>
          <p:cNvPr id="57" name="矩形: 圆角 56"/>
          <p:cNvSpPr/>
          <p:nvPr/>
        </p:nvSpPr>
        <p:spPr>
          <a:xfrm>
            <a:off x="2663951" y="3309235"/>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铝合金</a:t>
            </a:r>
          </a:p>
        </p:txBody>
      </p:sp>
      <p:sp>
        <p:nvSpPr>
          <p:cNvPr id="58" name="矩形: 圆角 57"/>
          <p:cNvSpPr/>
          <p:nvPr/>
        </p:nvSpPr>
        <p:spPr>
          <a:xfrm>
            <a:off x="1468562" y="3687833"/>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工程塑料</a:t>
            </a:r>
          </a:p>
        </p:txBody>
      </p:sp>
      <p:sp>
        <p:nvSpPr>
          <p:cNvPr id="59" name="矩形: 圆角 58"/>
          <p:cNvSpPr/>
          <p:nvPr/>
        </p:nvSpPr>
        <p:spPr>
          <a:xfrm>
            <a:off x="2663951" y="3687833"/>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陶瓷基材</a:t>
            </a:r>
          </a:p>
        </p:txBody>
      </p:sp>
      <p:sp>
        <p:nvSpPr>
          <p:cNvPr id="60" name="矩形: 圆角 59"/>
          <p:cNvSpPr/>
          <p:nvPr/>
        </p:nvSpPr>
        <p:spPr>
          <a:xfrm>
            <a:off x="1468562" y="406643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碳纤维</a:t>
            </a:r>
          </a:p>
        </p:txBody>
      </p:sp>
      <p:sp>
        <p:nvSpPr>
          <p:cNvPr id="61" name="矩形: 圆角 60"/>
          <p:cNvSpPr/>
          <p:nvPr/>
        </p:nvSpPr>
        <p:spPr>
          <a:xfrm>
            <a:off x="2663951" y="406643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玻璃纤维</a:t>
            </a:r>
          </a:p>
        </p:txBody>
      </p:sp>
      <p:sp>
        <p:nvSpPr>
          <p:cNvPr id="62" name="矩形: 圆角 61"/>
          <p:cNvSpPr/>
          <p:nvPr/>
        </p:nvSpPr>
        <p:spPr>
          <a:xfrm>
            <a:off x="1468562" y="444502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树脂基材</a:t>
            </a:r>
          </a:p>
        </p:txBody>
      </p:sp>
      <p:sp>
        <p:nvSpPr>
          <p:cNvPr id="63" name="矩形: 圆角 62"/>
          <p:cNvSpPr/>
          <p:nvPr/>
        </p:nvSpPr>
        <p:spPr>
          <a:xfrm>
            <a:off x="2663951" y="444502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复合材料</a:t>
            </a:r>
          </a:p>
        </p:txBody>
      </p:sp>
      <p:sp>
        <p:nvSpPr>
          <p:cNvPr id="64" name="矩形: 圆角 63"/>
          <p:cNvSpPr/>
          <p:nvPr/>
        </p:nvSpPr>
        <p:spPr>
          <a:xfrm>
            <a:off x="852144" y="4915941"/>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零部件</a:t>
            </a:r>
          </a:p>
        </p:txBody>
      </p:sp>
      <p:sp>
        <p:nvSpPr>
          <p:cNvPr id="65" name="矩形: 圆角 64"/>
          <p:cNvSpPr/>
          <p:nvPr/>
        </p:nvSpPr>
        <p:spPr>
          <a:xfrm>
            <a:off x="1468562"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芯片</a:t>
            </a:r>
          </a:p>
        </p:txBody>
      </p:sp>
      <p:sp>
        <p:nvSpPr>
          <p:cNvPr id="66" name="矩形: 圆角 65"/>
          <p:cNvSpPr/>
          <p:nvPr/>
        </p:nvSpPr>
        <p:spPr>
          <a:xfrm>
            <a:off x="2663951"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板卡</a:t>
            </a:r>
          </a:p>
        </p:txBody>
      </p:sp>
      <p:sp>
        <p:nvSpPr>
          <p:cNvPr id="67" name="矩形: 圆角 66"/>
          <p:cNvSpPr/>
          <p:nvPr/>
        </p:nvSpPr>
        <p:spPr>
          <a:xfrm>
            <a:off x="1468562"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电池</a:t>
            </a:r>
          </a:p>
        </p:txBody>
      </p:sp>
      <p:sp>
        <p:nvSpPr>
          <p:cNvPr id="68" name="矩形: 圆角 67"/>
          <p:cNvSpPr/>
          <p:nvPr/>
        </p:nvSpPr>
        <p:spPr>
          <a:xfrm>
            <a:off x="2663951"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电机</a:t>
            </a:r>
          </a:p>
        </p:txBody>
      </p:sp>
      <p:sp>
        <p:nvSpPr>
          <p:cNvPr id="69" name="矩形: 圆角 68"/>
          <p:cNvSpPr/>
          <p:nvPr/>
        </p:nvSpPr>
        <p:spPr>
          <a:xfrm>
            <a:off x="1468562"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陀螺</a:t>
            </a:r>
          </a:p>
        </p:txBody>
      </p:sp>
      <p:sp>
        <p:nvSpPr>
          <p:cNvPr id="70" name="矩形: 圆角 69"/>
          <p:cNvSpPr/>
          <p:nvPr/>
        </p:nvSpPr>
        <p:spPr>
          <a:xfrm>
            <a:off x="2663951"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77" name="矩形: 圆角 76"/>
          <p:cNvSpPr/>
          <p:nvPr/>
        </p:nvSpPr>
        <p:spPr>
          <a:xfrm>
            <a:off x="4493047"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8" name="矩形: 圆角 77"/>
          <p:cNvSpPr/>
          <p:nvPr/>
        </p:nvSpPr>
        <p:spPr>
          <a:xfrm>
            <a:off x="4633990" y="2501691"/>
            <a:ext cx="540718" cy="691644"/>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载荷</a:t>
            </a:r>
          </a:p>
        </p:txBody>
      </p:sp>
      <p:sp>
        <p:nvSpPr>
          <p:cNvPr id="79" name="矩形: 圆角 78"/>
          <p:cNvSpPr/>
          <p:nvPr/>
        </p:nvSpPr>
        <p:spPr>
          <a:xfrm>
            <a:off x="5250408"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摄像机</a:t>
            </a:r>
          </a:p>
        </p:txBody>
      </p:sp>
      <p:sp>
        <p:nvSpPr>
          <p:cNvPr id="80" name="矩形: 圆角 79"/>
          <p:cNvSpPr/>
          <p:nvPr/>
        </p:nvSpPr>
        <p:spPr>
          <a:xfrm>
            <a:off x="6445797"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传感器</a:t>
            </a:r>
          </a:p>
        </p:txBody>
      </p:sp>
      <p:sp>
        <p:nvSpPr>
          <p:cNvPr id="81" name="矩形: 圆角 80"/>
          <p:cNvSpPr/>
          <p:nvPr/>
        </p:nvSpPr>
        <p:spPr>
          <a:xfrm>
            <a:off x="5250408"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云台</a:t>
            </a:r>
          </a:p>
        </p:txBody>
      </p:sp>
      <p:sp>
        <p:nvSpPr>
          <p:cNvPr id="82" name="矩形: 圆角 81"/>
          <p:cNvSpPr/>
          <p:nvPr/>
        </p:nvSpPr>
        <p:spPr>
          <a:xfrm>
            <a:off x="6445797"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92" name="矩形: 圆角 91"/>
          <p:cNvSpPr/>
          <p:nvPr/>
        </p:nvSpPr>
        <p:spPr>
          <a:xfrm>
            <a:off x="4633990" y="4915941"/>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地面系统</a:t>
            </a:r>
          </a:p>
        </p:txBody>
      </p:sp>
      <p:sp>
        <p:nvSpPr>
          <p:cNvPr id="93" name="矩形: 圆角 92"/>
          <p:cNvSpPr/>
          <p:nvPr/>
        </p:nvSpPr>
        <p:spPr>
          <a:xfrm>
            <a:off x="5250408"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遥控检测</a:t>
            </a:r>
          </a:p>
        </p:txBody>
      </p:sp>
      <p:sp>
        <p:nvSpPr>
          <p:cNvPr id="94" name="矩形: 圆角 93"/>
          <p:cNvSpPr/>
          <p:nvPr/>
        </p:nvSpPr>
        <p:spPr>
          <a:xfrm>
            <a:off x="6445797"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系统监控</a:t>
            </a:r>
          </a:p>
        </p:txBody>
      </p:sp>
      <p:sp>
        <p:nvSpPr>
          <p:cNvPr id="95" name="矩形: 圆角 94"/>
          <p:cNvSpPr/>
          <p:nvPr/>
        </p:nvSpPr>
        <p:spPr>
          <a:xfrm>
            <a:off x="5250408"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数据处理</a:t>
            </a:r>
          </a:p>
        </p:txBody>
      </p:sp>
      <p:sp>
        <p:nvSpPr>
          <p:cNvPr id="96" name="矩形: 圆角 95"/>
          <p:cNvSpPr/>
          <p:nvPr/>
        </p:nvSpPr>
        <p:spPr>
          <a:xfrm>
            <a:off x="6445797"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起降系统</a:t>
            </a:r>
          </a:p>
        </p:txBody>
      </p:sp>
      <p:sp>
        <p:nvSpPr>
          <p:cNvPr id="97" name="矩形: 圆角 96"/>
          <p:cNvSpPr/>
          <p:nvPr/>
        </p:nvSpPr>
        <p:spPr>
          <a:xfrm>
            <a:off x="5250408"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辅助设备</a:t>
            </a:r>
          </a:p>
        </p:txBody>
      </p:sp>
      <p:sp>
        <p:nvSpPr>
          <p:cNvPr id="98" name="矩形: 圆角 97"/>
          <p:cNvSpPr/>
          <p:nvPr/>
        </p:nvSpPr>
        <p:spPr>
          <a:xfrm>
            <a:off x="6445797"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指挥系统</a:t>
            </a:r>
          </a:p>
        </p:txBody>
      </p:sp>
      <p:sp>
        <p:nvSpPr>
          <p:cNvPr id="115" name="矩形: 圆角 114"/>
          <p:cNvSpPr/>
          <p:nvPr/>
        </p:nvSpPr>
        <p:spPr>
          <a:xfrm>
            <a:off x="8270286"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矩形: 圆角 115"/>
          <p:cNvSpPr/>
          <p:nvPr/>
        </p:nvSpPr>
        <p:spPr>
          <a:xfrm>
            <a:off x="8411229" y="2501690"/>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飞行审批</a:t>
            </a:r>
          </a:p>
        </p:txBody>
      </p:sp>
      <p:sp>
        <p:nvSpPr>
          <p:cNvPr id="117" name="矩形: 圆角 116"/>
          <p:cNvSpPr/>
          <p:nvPr/>
        </p:nvSpPr>
        <p:spPr>
          <a:xfrm>
            <a:off x="9027647" y="2680527"/>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物流</a:t>
            </a:r>
          </a:p>
        </p:txBody>
      </p:sp>
      <p:sp>
        <p:nvSpPr>
          <p:cNvPr id="135" name="矩形: 圆角 134"/>
          <p:cNvSpPr/>
          <p:nvPr/>
        </p:nvSpPr>
        <p:spPr>
          <a:xfrm>
            <a:off x="9027647" y="3079368"/>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农业</a:t>
            </a:r>
          </a:p>
        </p:txBody>
      </p:sp>
      <p:sp>
        <p:nvSpPr>
          <p:cNvPr id="137" name="矩形: 圆角 136"/>
          <p:cNvSpPr/>
          <p:nvPr/>
        </p:nvSpPr>
        <p:spPr>
          <a:xfrm>
            <a:off x="8411229" y="3709156"/>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空域管控</a:t>
            </a:r>
          </a:p>
        </p:txBody>
      </p:sp>
      <p:sp>
        <p:nvSpPr>
          <p:cNvPr id="138" name="矩形: 圆角 137"/>
          <p:cNvSpPr/>
          <p:nvPr/>
        </p:nvSpPr>
        <p:spPr>
          <a:xfrm>
            <a:off x="9027647" y="3887993"/>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旅游</a:t>
            </a:r>
          </a:p>
        </p:txBody>
      </p:sp>
      <p:sp>
        <p:nvSpPr>
          <p:cNvPr id="139" name="矩形: 圆角 138"/>
          <p:cNvSpPr/>
          <p:nvPr/>
        </p:nvSpPr>
        <p:spPr>
          <a:xfrm>
            <a:off x="9027647" y="4286834"/>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消防</a:t>
            </a:r>
          </a:p>
        </p:txBody>
      </p:sp>
      <p:sp>
        <p:nvSpPr>
          <p:cNvPr id="140" name="矩形: 圆角 139"/>
          <p:cNvSpPr/>
          <p:nvPr/>
        </p:nvSpPr>
        <p:spPr>
          <a:xfrm>
            <a:off x="8411229" y="4916622"/>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飞行审批</a:t>
            </a:r>
          </a:p>
        </p:txBody>
      </p:sp>
      <p:sp>
        <p:nvSpPr>
          <p:cNvPr id="141" name="矩形: 圆角 140"/>
          <p:cNvSpPr/>
          <p:nvPr/>
        </p:nvSpPr>
        <p:spPr>
          <a:xfrm>
            <a:off x="9027647" y="5095459"/>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应急</a:t>
            </a:r>
          </a:p>
        </p:txBody>
      </p:sp>
      <p:sp>
        <p:nvSpPr>
          <p:cNvPr id="142" name="矩形: 圆角 141"/>
          <p:cNvSpPr/>
          <p:nvPr/>
        </p:nvSpPr>
        <p:spPr>
          <a:xfrm>
            <a:off x="9027647" y="5494300"/>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156" name="矩形: 圆角 155"/>
          <p:cNvSpPr/>
          <p:nvPr/>
        </p:nvSpPr>
        <p:spPr>
          <a:xfrm>
            <a:off x="4537689" y="3463978"/>
            <a:ext cx="3081656" cy="1204906"/>
          </a:xfrm>
          <a:prstGeom prst="roundRect">
            <a:avLst>
              <a:gd name="adj" fmla="val 0"/>
            </a:avLst>
          </a:prstGeom>
          <a:solidFill>
            <a:schemeClr val="bg1">
              <a:lumMod val="95000"/>
            </a:schemeClr>
          </a:solidFill>
          <a:ln w="12700" cap="flat" cmpd="sng" algn="ctr">
            <a:solidFill>
              <a:schemeClr val="accent4"/>
            </a:solidFill>
            <a:prstDash val="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7" name="矩形: 圆角 156"/>
          <p:cNvSpPr/>
          <p:nvPr/>
        </p:nvSpPr>
        <p:spPr>
          <a:xfrm>
            <a:off x="4633990" y="3527078"/>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低空产品</a:t>
            </a:r>
          </a:p>
        </p:txBody>
      </p:sp>
      <p:sp>
        <p:nvSpPr>
          <p:cNvPr id="158" name="矩形: 圆角 157"/>
          <p:cNvSpPr/>
          <p:nvPr/>
        </p:nvSpPr>
        <p:spPr>
          <a:xfrm>
            <a:off x="5250408" y="3527078"/>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无人机</a:t>
            </a:r>
          </a:p>
        </p:txBody>
      </p:sp>
      <p:sp>
        <p:nvSpPr>
          <p:cNvPr id="159" name="矩形: 圆角 158"/>
          <p:cNvSpPr/>
          <p:nvPr/>
        </p:nvSpPr>
        <p:spPr>
          <a:xfrm>
            <a:off x="6445797" y="3527078"/>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航空器</a:t>
            </a:r>
          </a:p>
        </p:txBody>
      </p:sp>
      <p:sp>
        <p:nvSpPr>
          <p:cNvPr id="160" name="矩形: 圆角 159"/>
          <p:cNvSpPr/>
          <p:nvPr/>
        </p:nvSpPr>
        <p:spPr>
          <a:xfrm>
            <a:off x="5250408" y="3905676"/>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高端装备</a:t>
            </a:r>
          </a:p>
        </p:txBody>
      </p:sp>
      <p:sp>
        <p:nvSpPr>
          <p:cNvPr id="161" name="矩形: 圆角 160"/>
          <p:cNvSpPr/>
          <p:nvPr/>
        </p:nvSpPr>
        <p:spPr>
          <a:xfrm>
            <a:off x="6445797" y="3905676"/>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配套产品</a:t>
            </a:r>
          </a:p>
        </p:txBody>
      </p:sp>
      <p:sp>
        <p:nvSpPr>
          <p:cNvPr id="162" name="矩形: 圆角 161"/>
          <p:cNvSpPr/>
          <p:nvPr/>
        </p:nvSpPr>
        <p:spPr>
          <a:xfrm>
            <a:off x="5250408" y="4284274"/>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低空保障</a:t>
            </a:r>
          </a:p>
        </p:txBody>
      </p:sp>
      <p:sp>
        <p:nvSpPr>
          <p:cNvPr id="163" name="矩形: 圆角 162"/>
          <p:cNvSpPr/>
          <p:nvPr/>
        </p:nvSpPr>
        <p:spPr>
          <a:xfrm>
            <a:off x="6445797" y="4284274"/>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综合服务</a:t>
            </a:r>
          </a:p>
        </p:txBody>
      </p:sp>
      <p:sp>
        <p:nvSpPr>
          <p:cNvPr id="175" name="矩形: 圆顶角 174"/>
          <p:cNvSpPr/>
          <p:nvPr/>
        </p:nvSpPr>
        <p:spPr>
          <a:xfrm>
            <a:off x="210000" y="6016907"/>
            <a:ext cx="11772000" cy="671913"/>
          </a:xfrm>
          <a:prstGeom prst="round2SameRect">
            <a:avLst>
              <a:gd name="adj1" fmla="val 50000"/>
              <a:gd name="adj2" fmla="val 0"/>
            </a:avLst>
          </a:prstGeom>
          <a:solidFill>
            <a:schemeClr val="accent1"/>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8" name="文本框 177"/>
          <p:cNvSpPr txBox="1"/>
          <p:nvPr/>
        </p:nvSpPr>
        <p:spPr>
          <a:xfrm>
            <a:off x="793304" y="6165142"/>
            <a:ext cx="1060539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全产业链条架构促进低空经济迅速发展，实现下游六大产业完美布局</a:t>
            </a:r>
          </a:p>
        </p:txBody>
      </p:sp>
      <p:sp>
        <p:nvSpPr>
          <p:cNvPr id="179" name="直角三角形 178"/>
          <p:cNvSpPr/>
          <p:nvPr/>
        </p:nvSpPr>
        <p:spPr>
          <a:xfrm rot="10800000">
            <a:off x="223920" y="1860960"/>
            <a:ext cx="245724" cy="292959"/>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直角三角形 179"/>
          <p:cNvSpPr/>
          <p:nvPr/>
        </p:nvSpPr>
        <p:spPr>
          <a:xfrm rot="10800000" flipH="1">
            <a:off x="11722358" y="1860961"/>
            <a:ext cx="245724" cy="292959"/>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矩形: 圆角 87"/>
          <p:cNvSpPr/>
          <p:nvPr/>
        </p:nvSpPr>
        <p:spPr>
          <a:xfrm>
            <a:off x="325319" y="1081111"/>
            <a:ext cx="1580933" cy="5415644"/>
          </a:xfrm>
          <a:prstGeom prst="roundRect">
            <a:avLst>
              <a:gd name="adj" fmla="val 3537"/>
            </a:avLst>
          </a:prstGeom>
          <a:solidFill>
            <a:schemeClr val="accent5">
              <a:lumMod val="20000"/>
              <a:lumOff val="80000"/>
            </a:schemeClr>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080068" cy="549275"/>
          </a:xfrm>
        </p:spPr>
        <p:txBody>
          <a:bodyPr>
            <a:normAutofit fontScale="90000"/>
          </a:bodyPr>
          <a:lstStyle/>
          <a:p>
            <a:r>
              <a:rPr lang="zh-CN" altLang="en-US">
                <a:sym typeface="Roboto" panose="02000000000000000000" charset="0"/>
              </a:rPr>
              <a:t>对比结构：产品功能对比</a:t>
            </a:r>
          </a:p>
        </p:txBody>
      </p:sp>
      <p:sp>
        <p:nvSpPr>
          <p:cNvPr id="41" name="矩形: 圆角 40"/>
          <p:cNvSpPr/>
          <p:nvPr/>
        </p:nvSpPr>
        <p:spPr>
          <a:xfrm>
            <a:off x="604448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2" name="矩形: 圆角 41"/>
          <p:cNvSpPr/>
          <p:nvPr/>
        </p:nvSpPr>
        <p:spPr>
          <a:xfrm>
            <a:off x="797133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3" name="矩形: 圆角 42"/>
          <p:cNvSpPr/>
          <p:nvPr/>
        </p:nvSpPr>
        <p:spPr>
          <a:xfrm>
            <a:off x="989818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 name="组合 3"/>
          <p:cNvGrpSpPr/>
          <p:nvPr/>
        </p:nvGrpSpPr>
        <p:grpSpPr>
          <a:xfrm>
            <a:off x="3844348" y="950207"/>
            <a:ext cx="2082144" cy="5718881"/>
            <a:chOff x="3544170" y="1094966"/>
            <a:chExt cx="1763702" cy="5428476"/>
          </a:xfrm>
          <a:effectLst>
            <a:outerShdw blurRad="127000" sx="102000" sy="102000" algn="ctr" rotWithShape="0">
              <a:prstClr val="black">
                <a:alpha val="10000"/>
              </a:prstClr>
            </a:outerShdw>
          </a:effectLst>
        </p:grpSpPr>
        <p:sp>
          <p:nvSpPr>
            <p:cNvPr id="39" name="矩形: 圆角 38"/>
            <p:cNvSpPr/>
            <p:nvPr/>
          </p:nvSpPr>
          <p:spPr>
            <a:xfrm>
              <a:off x="3544170" y="1094966"/>
              <a:ext cx="1763702" cy="392067"/>
            </a:xfrm>
            <a:prstGeom prst="roundRect">
              <a:avLst>
                <a:gd name="adj" fmla="val 7199"/>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4" name="矩形: 圆角 43"/>
            <p:cNvSpPr/>
            <p:nvPr/>
          </p:nvSpPr>
          <p:spPr>
            <a:xfrm>
              <a:off x="3544170" y="1552164"/>
              <a:ext cx="1763702" cy="4971278"/>
            </a:xfrm>
            <a:prstGeom prst="roundRect">
              <a:avLst>
                <a:gd name="adj" fmla="val 0"/>
              </a:avLst>
            </a:prstGeom>
            <a:solidFill>
              <a:schemeClr val="accent2">
                <a:lumMod val="20000"/>
                <a:lumOff val="80000"/>
              </a:schemeClr>
            </a:solidFill>
            <a:ln w="3175">
              <a:solidFill>
                <a:schemeClr val="accent3">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5" name="矩形: 圆角 44"/>
          <p:cNvSpPr/>
          <p:nvPr/>
        </p:nvSpPr>
        <p:spPr>
          <a:xfrm>
            <a:off x="604448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矩形: 圆角 45"/>
          <p:cNvSpPr/>
          <p:nvPr/>
        </p:nvSpPr>
        <p:spPr>
          <a:xfrm>
            <a:off x="797133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矩形: 圆角 46"/>
          <p:cNvSpPr/>
          <p:nvPr/>
        </p:nvSpPr>
        <p:spPr>
          <a:xfrm>
            <a:off x="989818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8" name="矩形: 圆角 47"/>
          <p:cNvSpPr/>
          <p:nvPr/>
        </p:nvSpPr>
        <p:spPr>
          <a:xfrm>
            <a:off x="1980235"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9" name="矩形: 圆角 48"/>
          <p:cNvSpPr/>
          <p:nvPr/>
        </p:nvSpPr>
        <p:spPr>
          <a:xfrm>
            <a:off x="1980235"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矩形: 圆角 49"/>
          <p:cNvSpPr/>
          <p:nvPr/>
        </p:nvSpPr>
        <p:spPr>
          <a:xfrm>
            <a:off x="511683" y="1665213"/>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颜色</a:t>
            </a:r>
          </a:p>
        </p:txBody>
      </p:sp>
      <p:sp>
        <p:nvSpPr>
          <p:cNvPr id="51" name="矩形: 圆角 50"/>
          <p:cNvSpPr/>
          <p:nvPr/>
        </p:nvSpPr>
        <p:spPr>
          <a:xfrm>
            <a:off x="511683" y="2215619"/>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处理器</a:t>
            </a:r>
          </a:p>
        </p:txBody>
      </p:sp>
      <p:sp>
        <p:nvSpPr>
          <p:cNvPr id="52" name="矩形: 圆角 51"/>
          <p:cNvSpPr/>
          <p:nvPr/>
        </p:nvSpPr>
        <p:spPr>
          <a:xfrm>
            <a:off x="511683" y="2898500"/>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屏幕</a:t>
            </a:r>
          </a:p>
        </p:txBody>
      </p:sp>
      <p:sp>
        <p:nvSpPr>
          <p:cNvPr id="54" name="矩形: 圆角 53"/>
          <p:cNvSpPr/>
          <p:nvPr/>
        </p:nvSpPr>
        <p:spPr>
          <a:xfrm>
            <a:off x="511683" y="3711077"/>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充电</a:t>
            </a:r>
          </a:p>
        </p:txBody>
      </p:sp>
      <p:sp>
        <p:nvSpPr>
          <p:cNvPr id="55" name="矩形: 圆角 54"/>
          <p:cNvSpPr/>
          <p:nvPr/>
        </p:nvSpPr>
        <p:spPr>
          <a:xfrm>
            <a:off x="511683" y="4414566"/>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马达扬声器</a:t>
            </a:r>
          </a:p>
        </p:txBody>
      </p:sp>
      <p:sp>
        <p:nvSpPr>
          <p:cNvPr id="56" name="矩形: 圆角 55"/>
          <p:cNvSpPr/>
          <p:nvPr/>
        </p:nvSpPr>
        <p:spPr>
          <a:xfrm>
            <a:off x="511683" y="5895550"/>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其他</a:t>
            </a:r>
          </a:p>
        </p:txBody>
      </p:sp>
      <p:sp>
        <p:nvSpPr>
          <p:cNvPr id="58" name="文本框 57"/>
          <p:cNvSpPr txBox="1"/>
          <p:nvPr/>
        </p:nvSpPr>
        <p:spPr>
          <a:xfrm>
            <a:off x="2112540"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丁香紫</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浅草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绿黑色</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9" name="文本框 58"/>
          <p:cNvSpPr txBox="1"/>
          <p:nvPr/>
        </p:nvSpPr>
        <p:spPr>
          <a:xfrm>
            <a:off x="3994238" y="1579004"/>
            <a:ext cx="1676549" cy="46692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追风蓝</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浮光白</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星夜黑</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气泡粉</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1" name="文本框 60"/>
          <p:cNvSpPr txBox="1"/>
          <p:nvPr/>
        </p:nvSpPr>
        <p:spPr>
          <a:xfrm>
            <a:off x="8103643"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天际蓝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雪域白</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月影灰</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绒黑色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文本框 61"/>
          <p:cNvSpPr txBox="1"/>
          <p:nvPr/>
        </p:nvSpPr>
        <p:spPr>
          <a:xfrm>
            <a:off x="10025378"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宝石蓝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辰夜黑</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绿黑色</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3" name="文本框 62"/>
          <p:cNvSpPr txBox="1"/>
          <p:nvPr/>
        </p:nvSpPr>
        <p:spPr>
          <a:xfrm>
            <a:off x="2112540"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4" name="文本框 63"/>
          <p:cNvSpPr txBox="1"/>
          <p:nvPr/>
        </p:nvSpPr>
        <p:spPr>
          <a:xfrm>
            <a:off x="3994238" y="2235369"/>
            <a:ext cx="1676549" cy="27687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天机</a:t>
            </a:r>
            <a:r>
              <a:rPr kumimoji="0" lang="en-US" altLang="zh-TW"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9400</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6" name="文本框 65"/>
          <p:cNvSpPr txBox="1"/>
          <p:nvPr/>
        </p:nvSpPr>
        <p:spPr>
          <a:xfrm>
            <a:off x="8103643"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文本框 66"/>
          <p:cNvSpPr txBox="1"/>
          <p:nvPr/>
        </p:nvSpPr>
        <p:spPr>
          <a:xfrm>
            <a:off x="10025378"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8" name="文本框 67"/>
          <p:cNvSpPr txBox="1"/>
          <p:nvPr/>
        </p:nvSpPr>
        <p:spPr>
          <a:xfrm>
            <a:off x="2112540"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6.36</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华星</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M9</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基材</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2670x1200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9" name="文本框 68"/>
          <p:cNvSpPr txBox="1"/>
          <p:nvPr/>
        </p:nvSpPr>
        <p:spPr>
          <a:xfrm>
            <a:off x="3994238" y="2627401"/>
            <a:ext cx="1676549" cy="858568"/>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6.59</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天马基材</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2760x1256</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1" name="文本框 70"/>
          <p:cNvSpPr txBox="1"/>
          <p:nvPr/>
        </p:nvSpPr>
        <p:spPr>
          <a:xfrm>
            <a:off x="8103643" y="276525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6.78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英寸等深四曲屏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2800x1264</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2" name="文本框 71"/>
          <p:cNvSpPr txBox="1"/>
          <p:nvPr/>
        </p:nvSpPr>
        <p:spPr>
          <a:xfrm>
            <a:off x="10025378"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6.36</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京东方维信诺混用</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2670x1200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3" name="文本框 72"/>
          <p:cNvSpPr txBox="1"/>
          <p:nvPr/>
        </p:nvSpPr>
        <p:spPr>
          <a:xfrm>
            <a:off x="2112540"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5400mAh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4" name="文本框 73"/>
          <p:cNvSpPr txBox="1"/>
          <p:nvPr/>
        </p:nvSpPr>
        <p:spPr>
          <a:xfrm>
            <a:off x="3994238" y="3633877"/>
            <a:ext cx="1676549" cy="470770"/>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5630mAh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80W</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6" name="文本框 75"/>
          <p:cNvSpPr txBox="1"/>
          <p:nvPr/>
        </p:nvSpPr>
        <p:spPr>
          <a:xfrm>
            <a:off x="8103643"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5650mAh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7" name="文本框 76"/>
          <p:cNvSpPr txBox="1"/>
          <p:nvPr/>
        </p:nvSpPr>
        <p:spPr>
          <a:xfrm>
            <a:off x="10025378"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5650mAh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8" name="文本框 77"/>
          <p:cNvSpPr txBox="1"/>
          <p:nvPr/>
        </p:nvSpPr>
        <p:spPr>
          <a:xfrm>
            <a:off x="2112540"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1115D+1014B</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加强版 </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9" name="文本框 78"/>
          <p:cNvSpPr txBox="1"/>
          <p:nvPr/>
        </p:nvSpPr>
        <p:spPr>
          <a:xfrm>
            <a:off x="3994238" y="4337366"/>
            <a:ext cx="1676549" cy="470770"/>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1012M+1115E</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1" name="文本框 80"/>
          <p:cNvSpPr txBox="1"/>
          <p:nvPr/>
        </p:nvSpPr>
        <p:spPr>
          <a:xfrm>
            <a:off x="8103643"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对称立体声双扬声器</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2" name="文本框 81"/>
          <p:cNvSpPr txBox="1"/>
          <p:nvPr/>
        </p:nvSpPr>
        <p:spPr>
          <a:xfrm>
            <a:off x="10025378"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1115D+1014B</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3" name="文本框 82"/>
          <p:cNvSpPr txBox="1"/>
          <p:nvPr/>
        </p:nvSpPr>
        <p:spPr>
          <a:xfrm>
            <a:off x="2112540"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超声波指纹解锁</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4" name="文本框 83"/>
          <p:cNvSpPr txBox="1"/>
          <p:nvPr/>
        </p:nvSpPr>
        <p:spPr>
          <a:xfrm>
            <a:off x="3994238" y="5721401"/>
            <a:ext cx="1676549" cy="664669"/>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6" name="文本框 85"/>
          <p:cNvSpPr txBox="1"/>
          <p:nvPr/>
        </p:nvSpPr>
        <p:spPr>
          <a:xfrm>
            <a:off x="8103643"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超声波指纹解锁</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7" name="文本框 86"/>
          <p:cNvSpPr txBox="1"/>
          <p:nvPr/>
        </p:nvSpPr>
        <p:spPr>
          <a:xfrm>
            <a:off x="10025378"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9" name="文本框 88"/>
          <p:cNvSpPr txBox="1"/>
          <p:nvPr/>
        </p:nvSpPr>
        <p:spPr>
          <a:xfrm>
            <a:off x="422210" y="1177973"/>
            <a:ext cx="138715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产品功能</a:t>
            </a:r>
          </a:p>
        </p:txBody>
      </p:sp>
      <p:sp>
        <p:nvSpPr>
          <p:cNvPr id="90" name="矩形: 圆角 89"/>
          <p:cNvSpPr/>
          <p:nvPr/>
        </p:nvSpPr>
        <p:spPr>
          <a:xfrm>
            <a:off x="511683" y="5140018"/>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显示</a:t>
            </a:r>
          </a:p>
        </p:txBody>
      </p:sp>
      <p:sp>
        <p:nvSpPr>
          <p:cNvPr id="91" name="文本框 90"/>
          <p:cNvSpPr txBox="1"/>
          <p:nvPr/>
        </p:nvSpPr>
        <p:spPr>
          <a:xfrm>
            <a:off x="2112540"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3200nit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全亮度</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2" name="文本框 91"/>
          <p:cNvSpPr txBox="1"/>
          <p:nvPr/>
        </p:nvSpPr>
        <p:spPr>
          <a:xfrm>
            <a:off x="3994238" y="4965869"/>
            <a:ext cx="1676549" cy="664669"/>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4500nit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LTPS</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3840Hz</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grpSp>
        <p:nvGrpSpPr>
          <p:cNvPr id="16" name="组合 15"/>
          <p:cNvGrpSpPr/>
          <p:nvPr/>
        </p:nvGrpSpPr>
        <p:grpSpPr>
          <a:xfrm>
            <a:off x="6176793" y="1615072"/>
            <a:ext cx="1676549" cy="4730089"/>
            <a:chOff x="6228305" y="1615072"/>
            <a:chExt cx="1676549" cy="4730089"/>
          </a:xfrm>
        </p:grpSpPr>
        <p:sp>
          <p:nvSpPr>
            <p:cNvPr id="60" name="文本框 59"/>
            <p:cNvSpPr txBox="1"/>
            <p:nvPr/>
          </p:nvSpPr>
          <p:spPr>
            <a:xfrm>
              <a:off x="6228305"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白月光</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钛色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宝石蓝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辰夜黑</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文本框 64"/>
            <p:cNvSpPr txBox="1"/>
            <p:nvPr/>
          </p:nvSpPr>
          <p:spPr>
            <a:xfrm>
              <a:off x="6228305"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天机</a:t>
              </a:r>
              <a:r>
                <a:rPr kumimoji="0" lang="en-US" altLang="zh-TW"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9400</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0" name="文本框 69"/>
            <p:cNvSpPr txBox="1"/>
            <p:nvPr/>
          </p:nvSpPr>
          <p:spPr>
            <a:xfrm>
              <a:off x="6228305"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6.67</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英寸等深四曲屏</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京东方维信诺混用</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2800x1260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5" name="文本框 74"/>
            <p:cNvSpPr txBox="1"/>
            <p:nvPr/>
          </p:nvSpPr>
          <p:spPr>
            <a:xfrm>
              <a:off x="6228305" y="3660936"/>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5800mAh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0" name="文本框 79"/>
            <p:cNvSpPr txBox="1"/>
            <p:nvPr/>
          </p:nvSpPr>
          <p:spPr>
            <a:xfrm>
              <a:off x="6228305"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1012D+1115</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5" name="文本框 84"/>
            <p:cNvSpPr txBox="1"/>
            <p:nvPr/>
          </p:nvSpPr>
          <p:spPr>
            <a:xfrm>
              <a:off x="6228305"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93" name="文本框 92"/>
            <p:cNvSpPr txBox="1"/>
            <p:nvPr/>
          </p:nvSpPr>
          <p:spPr>
            <a:xfrm>
              <a:off x="6228305"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4500nit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8T LTPS</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全亮度</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2160HZ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高频调光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94" name="文本框 93"/>
          <p:cNvSpPr txBox="1"/>
          <p:nvPr/>
        </p:nvSpPr>
        <p:spPr>
          <a:xfrm>
            <a:off x="8103643"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4320HZ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sp>
        <p:nvSpPr>
          <p:cNvPr id="95" name="文本框 94"/>
          <p:cNvSpPr txBox="1"/>
          <p:nvPr/>
        </p:nvSpPr>
        <p:spPr>
          <a:xfrm>
            <a:off x="10025378"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3200nit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4320HZ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grpSp>
        <p:nvGrpSpPr>
          <p:cNvPr id="96" name="图形 233"/>
          <p:cNvGrpSpPr/>
          <p:nvPr/>
        </p:nvGrpSpPr>
        <p:grpSpPr>
          <a:xfrm>
            <a:off x="4037647" y="948090"/>
            <a:ext cx="213814" cy="279399"/>
            <a:chOff x="5629495" y="2819400"/>
            <a:chExt cx="933008" cy="1219199"/>
          </a:xfrm>
        </p:grpSpPr>
        <p:sp>
          <p:nvSpPr>
            <p:cNvPr id="97" name="任意多边形: 形状 96"/>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8" name="任意多边形: 形状 97"/>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9" name="任意多边形: 形状 98"/>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0" name="任意多边形: 形状 99"/>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1" name="任意多边形: 形状 100"/>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2" name="任意多边形: 形状 101"/>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3" name="任意多边形: 形状 102"/>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4" name="任意多边形: 形状 103"/>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5" name="图形 233"/>
          <p:cNvGrpSpPr/>
          <p:nvPr/>
        </p:nvGrpSpPr>
        <p:grpSpPr>
          <a:xfrm>
            <a:off x="6203324" y="1081111"/>
            <a:ext cx="213814" cy="279399"/>
            <a:chOff x="5629495" y="2819400"/>
            <a:chExt cx="933008" cy="1219199"/>
          </a:xfrm>
        </p:grpSpPr>
        <p:sp>
          <p:nvSpPr>
            <p:cNvPr id="106" name="任意多边形: 形状 105"/>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chemeClr val="accent2"/>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7" name="任意多边形: 形状 106"/>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chemeClr val="accent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8" name="任意多边形: 形状 107"/>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chemeClr val="accent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9" name="任意多边形: 形状 108"/>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chemeClr val="accent2"/>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0" name="任意多边形: 形状 109"/>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chemeClr val="accent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1" name="任意多边形: 形状 110"/>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任意多边形: 形状 111"/>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3" name="任意多边形: 形状 112"/>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4" name="图形 233"/>
          <p:cNvGrpSpPr/>
          <p:nvPr/>
        </p:nvGrpSpPr>
        <p:grpSpPr>
          <a:xfrm>
            <a:off x="10024320" y="1085974"/>
            <a:ext cx="213814" cy="279399"/>
            <a:chOff x="5629495" y="2819400"/>
            <a:chExt cx="933008" cy="1219199"/>
          </a:xfrm>
        </p:grpSpPr>
        <p:sp>
          <p:nvSpPr>
            <p:cNvPr id="115" name="任意多边形: 形状 114"/>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chemeClr val="bg1">
                <a:lumMod val="50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任意多边形: 形状 115"/>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chemeClr val="bg1">
                <a:lumMod val="8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任意多边形: 形状 116"/>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chemeClr val="bg1">
                <a:lumMod val="7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8" name="任意多边形: 形状 117"/>
            <p:cNvSpPr/>
            <p:nvPr/>
          </p:nvSpPr>
          <p:spPr>
            <a:xfrm>
              <a:off x="5906569" y="3423189"/>
              <a:ext cx="378869" cy="378865"/>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chemeClr val="bg1">
                <a:lumMod val="50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任意多边形: 形状 118"/>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chemeClr val="bg1">
                <a:lumMod val="7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0" name="任意多边形: 形状 119"/>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1" name="任意多边形: 形状 120"/>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2" name="任意多边形: 形状 121"/>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5" name="任意多边形: 形状 14"/>
          <p:cNvSpPr/>
          <p:nvPr/>
        </p:nvSpPr>
        <p:spPr>
          <a:xfrm>
            <a:off x="2118578"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4" name="任意多边形: 形状 123"/>
          <p:cNvSpPr/>
          <p:nvPr/>
        </p:nvSpPr>
        <p:spPr>
          <a:xfrm>
            <a:off x="2118578"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5" name="任意多边形: 形状 124"/>
          <p:cNvSpPr/>
          <p:nvPr/>
        </p:nvSpPr>
        <p:spPr>
          <a:xfrm>
            <a:off x="2118578"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6" name="任意多边形: 形状 125"/>
          <p:cNvSpPr/>
          <p:nvPr/>
        </p:nvSpPr>
        <p:spPr>
          <a:xfrm>
            <a:off x="2118578"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7" name="任意多边形: 形状 126"/>
          <p:cNvSpPr/>
          <p:nvPr/>
        </p:nvSpPr>
        <p:spPr>
          <a:xfrm>
            <a:off x="2118578"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8" name="任意多边形: 形状 127"/>
          <p:cNvSpPr/>
          <p:nvPr/>
        </p:nvSpPr>
        <p:spPr>
          <a:xfrm>
            <a:off x="2118578"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9" name="任意多边形: 形状 128"/>
          <p:cNvSpPr/>
          <p:nvPr/>
        </p:nvSpPr>
        <p:spPr>
          <a:xfrm>
            <a:off x="6176793"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0" name="任意多边形: 形状 129"/>
          <p:cNvSpPr/>
          <p:nvPr/>
        </p:nvSpPr>
        <p:spPr>
          <a:xfrm>
            <a:off x="6176793"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1" name="任意多边形: 形状 130"/>
          <p:cNvSpPr/>
          <p:nvPr/>
        </p:nvSpPr>
        <p:spPr>
          <a:xfrm>
            <a:off x="6176793"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2" name="任意多边形: 形状 131"/>
          <p:cNvSpPr/>
          <p:nvPr/>
        </p:nvSpPr>
        <p:spPr>
          <a:xfrm>
            <a:off x="6176793"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3" name="任意多边形: 形状 132"/>
          <p:cNvSpPr/>
          <p:nvPr/>
        </p:nvSpPr>
        <p:spPr>
          <a:xfrm>
            <a:off x="6176793"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4" name="任意多边形: 形状 133"/>
          <p:cNvSpPr/>
          <p:nvPr/>
        </p:nvSpPr>
        <p:spPr>
          <a:xfrm>
            <a:off x="6176793"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5" name="任意多边形: 形状 134"/>
          <p:cNvSpPr/>
          <p:nvPr/>
        </p:nvSpPr>
        <p:spPr>
          <a:xfrm>
            <a:off x="8103643"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6" name="任意多边形: 形状 135"/>
          <p:cNvSpPr/>
          <p:nvPr/>
        </p:nvSpPr>
        <p:spPr>
          <a:xfrm>
            <a:off x="8103643"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7" name="任意多边形: 形状 136"/>
          <p:cNvSpPr/>
          <p:nvPr/>
        </p:nvSpPr>
        <p:spPr>
          <a:xfrm>
            <a:off x="8103643"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8" name="任意多边形: 形状 137"/>
          <p:cNvSpPr/>
          <p:nvPr/>
        </p:nvSpPr>
        <p:spPr>
          <a:xfrm>
            <a:off x="8103643"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9" name="任意多边形: 形状 138"/>
          <p:cNvSpPr/>
          <p:nvPr/>
        </p:nvSpPr>
        <p:spPr>
          <a:xfrm>
            <a:off x="8103643"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0" name="任意多边形: 形状 139"/>
          <p:cNvSpPr/>
          <p:nvPr/>
        </p:nvSpPr>
        <p:spPr>
          <a:xfrm>
            <a:off x="8103643"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1" name="任意多边形: 形状 140"/>
          <p:cNvSpPr/>
          <p:nvPr/>
        </p:nvSpPr>
        <p:spPr>
          <a:xfrm>
            <a:off x="10024320"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2" name="任意多边形: 形状 141"/>
          <p:cNvSpPr/>
          <p:nvPr/>
        </p:nvSpPr>
        <p:spPr>
          <a:xfrm>
            <a:off x="10024320"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3" name="任意多边形: 形状 142"/>
          <p:cNvSpPr/>
          <p:nvPr/>
        </p:nvSpPr>
        <p:spPr>
          <a:xfrm>
            <a:off x="10024320"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4" name="任意多边形: 形状 143"/>
          <p:cNvSpPr/>
          <p:nvPr/>
        </p:nvSpPr>
        <p:spPr>
          <a:xfrm>
            <a:off x="10024320"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5" name="任意多边形: 形状 144"/>
          <p:cNvSpPr/>
          <p:nvPr/>
        </p:nvSpPr>
        <p:spPr>
          <a:xfrm>
            <a:off x="10024320"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6" name="任意多边形: 形状 145"/>
          <p:cNvSpPr/>
          <p:nvPr/>
        </p:nvSpPr>
        <p:spPr>
          <a:xfrm>
            <a:off x="10024320"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7" name="任意多边形: 形状 146"/>
          <p:cNvSpPr/>
          <p:nvPr/>
        </p:nvSpPr>
        <p:spPr>
          <a:xfrm>
            <a:off x="4007115" y="2092816"/>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8" name="任意多边形: 形状 147"/>
          <p:cNvSpPr/>
          <p:nvPr/>
        </p:nvSpPr>
        <p:spPr>
          <a:xfrm>
            <a:off x="4007115" y="2617770"/>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9" name="任意多边形: 形状 148"/>
          <p:cNvSpPr/>
          <p:nvPr/>
        </p:nvSpPr>
        <p:spPr>
          <a:xfrm>
            <a:off x="4007115" y="3498847"/>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0" name="任意多边形: 形状 149"/>
          <p:cNvSpPr/>
          <p:nvPr/>
        </p:nvSpPr>
        <p:spPr>
          <a:xfrm>
            <a:off x="4007115" y="4258702"/>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1" name="任意多边形: 形状 150"/>
          <p:cNvSpPr/>
          <p:nvPr/>
        </p:nvSpPr>
        <p:spPr>
          <a:xfrm>
            <a:off x="4007115" y="4889765"/>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2" name="任意多边形: 形状 151"/>
          <p:cNvSpPr/>
          <p:nvPr/>
        </p:nvSpPr>
        <p:spPr>
          <a:xfrm>
            <a:off x="4007115" y="5677846"/>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箭头: V 形 60"/>
          <p:cNvSpPr/>
          <p:nvPr/>
        </p:nvSpPr>
        <p:spPr>
          <a:xfrm flipH="1">
            <a:off x="227012" y="4502811"/>
            <a:ext cx="11737975" cy="2171785"/>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箭头: V 形 51"/>
          <p:cNvSpPr/>
          <p:nvPr/>
        </p:nvSpPr>
        <p:spPr>
          <a:xfrm flipH="1">
            <a:off x="6547555" y="1755467"/>
            <a:ext cx="5413605" cy="2694186"/>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5" name="矩形 24"/>
          <p:cNvSpPr/>
          <p:nvPr/>
        </p:nvSpPr>
        <p:spPr>
          <a:xfrm>
            <a:off x="227013" y="944564"/>
            <a:ext cx="11737975" cy="749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电商渠道商品销售数据分析</a:t>
            </a:r>
          </a:p>
        </p:txBody>
      </p:sp>
      <p:grpSp>
        <p:nvGrpSpPr>
          <p:cNvPr id="32" name="组合 31"/>
          <p:cNvGrpSpPr/>
          <p:nvPr/>
        </p:nvGrpSpPr>
        <p:grpSpPr>
          <a:xfrm>
            <a:off x="1137643" y="995848"/>
            <a:ext cx="1454244" cy="635059"/>
            <a:chOff x="5650860" y="1017723"/>
            <a:chExt cx="1454244" cy="635059"/>
          </a:xfrm>
        </p:grpSpPr>
        <p:sp>
          <p:nvSpPr>
            <p:cNvPr id="18" name="文本框 57"/>
            <p:cNvSpPr txBox="1"/>
            <p:nvPr/>
          </p:nvSpPr>
          <p:spPr>
            <a:xfrm>
              <a:off x="5650860" y="1017723"/>
              <a:ext cx="1454244"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392.9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万元</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9"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销售总额</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0" name="任意多边形: 形状 29"/>
          <p:cNvSpPr/>
          <p:nvPr/>
        </p:nvSpPr>
        <p:spPr>
          <a:xfrm>
            <a:off x="2944602" y="1112272"/>
            <a:ext cx="426284" cy="426343"/>
          </a:xfrm>
          <a:custGeom>
            <a:avLst/>
            <a:gdLst>
              <a:gd name="connsiteX0" fmla="*/ 7941 w 460375"/>
              <a:gd name="connsiteY0" fmla="*/ 285692 h 460439"/>
              <a:gd name="connsiteX1" fmla="*/ 71470 w 460375"/>
              <a:gd name="connsiteY1" fmla="*/ 285692 h 460439"/>
              <a:gd name="connsiteX2" fmla="*/ 79411 w 460375"/>
              <a:gd name="connsiteY2" fmla="*/ 293633 h 460439"/>
              <a:gd name="connsiteX3" fmla="*/ 79411 w 460375"/>
              <a:gd name="connsiteY3" fmla="*/ 452456 h 460439"/>
              <a:gd name="connsiteX4" fmla="*/ 71470 w 460375"/>
              <a:gd name="connsiteY4" fmla="*/ 460397 h 460439"/>
              <a:gd name="connsiteX5" fmla="*/ 7941 w 460375"/>
              <a:gd name="connsiteY5" fmla="*/ 460397 h 460439"/>
              <a:gd name="connsiteX6" fmla="*/ 0 w 460375"/>
              <a:gd name="connsiteY6" fmla="*/ 452456 h 460439"/>
              <a:gd name="connsiteX7" fmla="*/ 0 w 460375"/>
              <a:gd name="connsiteY7" fmla="*/ 293633 h 460439"/>
              <a:gd name="connsiteX8" fmla="*/ 7941 w 460375"/>
              <a:gd name="connsiteY8" fmla="*/ 285692 h 460439"/>
              <a:gd name="connsiteX9" fmla="*/ 198423 w 460375"/>
              <a:gd name="connsiteY9" fmla="*/ 269815 h 460439"/>
              <a:gd name="connsiteX10" fmla="*/ 261952 w 460375"/>
              <a:gd name="connsiteY10" fmla="*/ 269815 h 460439"/>
              <a:gd name="connsiteX11" fmla="*/ 269893 w 460375"/>
              <a:gd name="connsiteY11" fmla="*/ 277756 h 460439"/>
              <a:gd name="connsiteX12" fmla="*/ 269893 w 460375"/>
              <a:gd name="connsiteY12" fmla="*/ 452461 h 460439"/>
              <a:gd name="connsiteX13" fmla="*/ 261952 w 460375"/>
              <a:gd name="connsiteY13" fmla="*/ 460402 h 460439"/>
              <a:gd name="connsiteX14" fmla="*/ 198423 w 460375"/>
              <a:gd name="connsiteY14" fmla="*/ 460402 h 460439"/>
              <a:gd name="connsiteX15" fmla="*/ 190482 w 460375"/>
              <a:gd name="connsiteY15" fmla="*/ 452461 h 460439"/>
              <a:gd name="connsiteX16" fmla="*/ 190482 w 460375"/>
              <a:gd name="connsiteY16" fmla="*/ 277756 h 460439"/>
              <a:gd name="connsiteX17" fmla="*/ 198423 w 460375"/>
              <a:gd name="connsiteY17" fmla="*/ 269815 h 460439"/>
              <a:gd name="connsiteX18" fmla="*/ 103182 w 460375"/>
              <a:gd name="connsiteY18" fmla="*/ 230121 h 460439"/>
              <a:gd name="connsiteX19" fmla="*/ 166711 w 460375"/>
              <a:gd name="connsiteY19" fmla="*/ 230121 h 460439"/>
              <a:gd name="connsiteX20" fmla="*/ 174652 w 460375"/>
              <a:gd name="connsiteY20" fmla="*/ 238062 h 460439"/>
              <a:gd name="connsiteX21" fmla="*/ 174652 w 460375"/>
              <a:gd name="connsiteY21" fmla="*/ 452472 h 460439"/>
              <a:gd name="connsiteX22" fmla="*/ 166711 w 460375"/>
              <a:gd name="connsiteY22" fmla="*/ 460414 h 460439"/>
              <a:gd name="connsiteX23" fmla="*/ 103182 w 460375"/>
              <a:gd name="connsiteY23" fmla="*/ 460414 h 460439"/>
              <a:gd name="connsiteX24" fmla="*/ 95240 w 460375"/>
              <a:gd name="connsiteY24" fmla="*/ 452472 h 460439"/>
              <a:gd name="connsiteX25" fmla="*/ 95240 w 460375"/>
              <a:gd name="connsiteY25" fmla="*/ 238062 h 460439"/>
              <a:gd name="connsiteX26" fmla="*/ 103182 w 460375"/>
              <a:gd name="connsiteY26" fmla="*/ 230121 h 460439"/>
              <a:gd name="connsiteX27" fmla="*/ 293664 w 460375"/>
              <a:gd name="connsiteY27" fmla="*/ 190425 h 460439"/>
              <a:gd name="connsiteX28" fmla="*/ 357193 w 460375"/>
              <a:gd name="connsiteY28" fmla="*/ 190425 h 460439"/>
              <a:gd name="connsiteX29" fmla="*/ 365134 w 460375"/>
              <a:gd name="connsiteY29" fmla="*/ 198367 h 460439"/>
              <a:gd name="connsiteX30" fmla="*/ 365134 w 460375"/>
              <a:gd name="connsiteY30" fmla="*/ 452483 h 460439"/>
              <a:gd name="connsiteX31" fmla="*/ 357193 w 460375"/>
              <a:gd name="connsiteY31" fmla="*/ 460424 h 460439"/>
              <a:gd name="connsiteX32" fmla="*/ 293664 w 460375"/>
              <a:gd name="connsiteY32" fmla="*/ 460424 h 460439"/>
              <a:gd name="connsiteX33" fmla="*/ 285723 w 460375"/>
              <a:gd name="connsiteY33" fmla="*/ 452483 h 460439"/>
              <a:gd name="connsiteX34" fmla="*/ 285723 w 460375"/>
              <a:gd name="connsiteY34" fmla="*/ 198367 h 460439"/>
              <a:gd name="connsiteX35" fmla="*/ 293664 w 460375"/>
              <a:gd name="connsiteY35" fmla="*/ 190425 h 460439"/>
              <a:gd name="connsiteX36" fmla="*/ 388905 w 460375"/>
              <a:gd name="connsiteY36" fmla="*/ 134853 h 460439"/>
              <a:gd name="connsiteX37" fmla="*/ 452434 w 460375"/>
              <a:gd name="connsiteY37" fmla="*/ 134853 h 460439"/>
              <a:gd name="connsiteX38" fmla="*/ 460375 w 460375"/>
              <a:gd name="connsiteY38" fmla="*/ 142794 h 460439"/>
              <a:gd name="connsiteX39" fmla="*/ 460375 w 460375"/>
              <a:gd name="connsiteY39" fmla="*/ 452498 h 460439"/>
              <a:gd name="connsiteX40" fmla="*/ 452434 w 460375"/>
              <a:gd name="connsiteY40" fmla="*/ 460439 h 460439"/>
              <a:gd name="connsiteX41" fmla="*/ 388905 w 460375"/>
              <a:gd name="connsiteY41" fmla="*/ 460439 h 460439"/>
              <a:gd name="connsiteX42" fmla="*/ 380964 w 460375"/>
              <a:gd name="connsiteY42" fmla="*/ 452498 h 460439"/>
              <a:gd name="connsiteX43" fmla="*/ 380964 w 460375"/>
              <a:gd name="connsiteY43" fmla="*/ 142794 h 460439"/>
              <a:gd name="connsiteX44" fmla="*/ 388905 w 460375"/>
              <a:gd name="connsiteY44" fmla="*/ 134853 h 460439"/>
              <a:gd name="connsiteX45" fmla="*/ 420670 w 460375"/>
              <a:gd name="connsiteY45" fmla="*/ 0 h 460439"/>
              <a:gd name="connsiteX46" fmla="*/ 452434 w 460375"/>
              <a:gd name="connsiteY46" fmla="*/ 31765 h 460439"/>
              <a:gd name="connsiteX47" fmla="*/ 420670 w 460375"/>
              <a:gd name="connsiteY47" fmla="*/ 63529 h 460439"/>
              <a:gd name="connsiteX48" fmla="*/ 398219 w 460375"/>
              <a:gd name="connsiteY48" fmla="*/ 54215 h 460439"/>
              <a:gd name="connsiteX49" fmla="*/ 398172 w 460375"/>
              <a:gd name="connsiteY49" fmla="*/ 54102 h 460439"/>
              <a:gd name="connsiteX50" fmla="*/ 354082 w 460375"/>
              <a:gd name="connsiteY50" fmla="*/ 79821 h 460439"/>
              <a:gd name="connsiteX51" fmla="*/ 357194 w 460375"/>
              <a:gd name="connsiteY51" fmla="*/ 87322 h 460439"/>
              <a:gd name="connsiteX52" fmla="*/ 325429 w 460375"/>
              <a:gd name="connsiteY52" fmla="*/ 119087 h 460439"/>
              <a:gd name="connsiteX53" fmla="*/ 309692 w 460375"/>
              <a:gd name="connsiteY53" fmla="*/ 112558 h 460439"/>
              <a:gd name="connsiteX54" fmla="*/ 256450 w 460375"/>
              <a:gd name="connsiteY54" fmla="*/ 161363 h 460439"/>
              <a:gd name="connsiteX55" fmla="*/ 261952 w 460375"/>
              <a:gd name="connsiteY55" fmla="*/ 174626 h 460439"/>
              <a:gd name="connsiteX56" fmla="*/ 230188 w 460375"/>
              <a:gd name="connsiteY56" fmla="*/ 206391 h 460439"/>
              <a:gd name="connsiteX57" fmla="*/ 198423 w 460375"/>
              <a:gd name="connsiteY57" fmla="*/ 174626 h 460439"/>
              <a:gd name="connsiteX58" fmla="*/ 200817 w 460375"/>
              <a:gd name="connsiteY58" fmla="*/ 168856 h 460439"/>
              <a:gd name="connsiteX59" fmla="*/ 158190 w 460375"/>
              <a:gd name="connsiteY59" fmla="*/ 147543 h 460439"/>
              <a:gd name="connsiteX60" fmla="*/ 157397 w 460375"/>
              <a:gd name="connsiteY60" fmla="*/ 149456 h 460439"/>
              <a:gd name="connsiteX61" fmla="*/ 134946 w 460375"/>
              <a:gd name="connsiteY61" fmla="*/ 158770 h 460439"/>
              <a:gd name="connsiteX62" fmla="*/ 112496 w 460375"/>
              <a:gd name="connsiteY62" fmla="*/ 149456 h 460439"/>
              <a:gd name="connsiteX63" fmla="*/ 112436 w 460375"/>
              <a:gd name="connsiteY63" fmla="*/ 149312 h 460439"/>
              <a:gd name="connsiteX64" fmla="*/ 68345 w 460375"/>
              <a:gd name="connsiteY64" fmla="*/ 175031 h 460439"/>
              <a:gd name="connsiteX65" fmla="*/ 71470 w 460375"/>
              <a:gd name="connsiteY65" fmla="*/ 182563 h 460439"/>
              <a:gd name="connsiteX66" fmla="*/ 39706 w 460375"/>
              <a:gd name="connsiteY66" fmla="*/ 214327 h 460439"/>
              <a:gd name="connsiteX67" fmla="*/ 7941 w 460375"/>
              <a:gd name="connsiteY67" fmla="*/ 182563 h 460439"/>
              <a:gd name="connsiteX68" fmla="*/ 39706 w 460375"/>
              <a:gd name="connsiteY68" fmla="*/ 150798 h 460439"/>
              <a:gd name="connsiteX69" fmla="*/ 62156 w 460375"/>
              <a:gd name="connsiteY69" fmla="*/ 160113 h 460439"/>
              <a:gd name="connsiteX70" fmla="*/ 62204 w 460375"/>
              <a:gd name="connsiteY70" fmla="*/ 160227 h 460439"/>
              <a:gd name="connsiteX71" fmla="*/ 106294 w 460375"/>
              <a:gd name="connsiteY71" fmla="*/ 134508 h 460439"/>
              <a:gd name="connsiteX72" fmla="*/ 103181 w 460375"/>
              <a:gd name="connsiteY72" fmla="*/ 127005 h 460439"/>
              <a:gd name="connsiteX73" fmla="*/ 134946 w 460375"/>
              <a:gd name="connsiteY73" fmla="*/ 95241 h 460439"/>
              <a:gd name="connsiteX74" fmla="*/ 166711 w 460375"/>
              <a:gd name="connsiteY74" fmla="*/ 127005 h 460439"/>
              <a:gd name="connsiteX75" fmla="*/ 164292 w 460375"/>
              <a:gd name="connsiteY75" fmla="*/ 132837 h 460439"/>
              <a:gd name="connsiteX76" fmla="*/ 206918 w 460375"/>
              <a:gd name="connsiteY76" fmla="*/ 154150 h 460439"/>
              <a:gd name="connsiteX77" fmla="*/ 207737 w 460375"/>
              <a:gd name="connsiteY77" fmla="*/ 152176 h 460439"/>
              <a:gd name="connsiteX78" fmla="*/ 230188 w 460375"/>
              <a:gd name="connsiteY78" fmla="*/ 142862 h 460439"/>
              <a:gd name="connsiteX79" fmla="*/ 245982 w 460375"/>
              <a:gd name="connsiteY79" fmla="*/ 149414 h 460439"/>
              <a:gd name="connsiteX80" fmla="*/ 299190 w 460375"/>
              <a:gd name="connsiteY80" fmla="*/ 100640 h 460439"/>
              <a:gd name="connsiteX81" fmla="*/ 293665 w 460375"/>
              <a:gd name="connsiteY81" fmla="*/ 87322 h 460439"/>
              <a:gd name="connsiteX82" fmla="*/ 325429 w 460375"/>
              <a:gd name="connsiteY82" fmla="*/ 55558 h 460439"/>
              <a:gd name="connsiteX83" fmla="*/ 347880 w 460375"/>
              <a:gd name="connsiteY83" fmla="*/ 64872 h 460439"/>
              <a:gd name="connsiteX84" fmla="*/ 347940 w 460375"/>
              <a:gd name="connsiteY84" fmla="*/ 65018 h 460439"/>
              <a:gd name="connsiteX85" fmla="*/ 392031 w 460375"/>
              <a:gd name="connsiteY85" fmla="*/ 39298 h 460439"/>
              <a:gd name="connsiteX86" fmla="*/ 388905 w 460375"/>
              <a:gd name="connsiteY86" fmla="*/ 31765 h 460439"/>
              <a:gd name="connsiteX87" fmla="*/ 420670 w 460375"/>
              <a:gd name="connsiteY87" fmla="*/ 0 h 4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60375" h="460439">
                <a:moveTo>
                  <a:pt x="7941" y="285692"/>
                </a:moveTo>
                <a:lnTo>
                  <a:pt x="71470" y="285692"/>
                </a:lnTo>
                <a:cubicBezTo>
                  <a:pt x="75856" y="285692"/>
                  <a:pt x="79411" y="289247"/>
                  <a:pt x="79411" y="293633"/>
                </a:cubicBezTo>
                <a:lnTo>
                  <a:pt x="79411" y="452456"/>
                </a:lnTo>
                <a:cubicBezTo>
                  <a:pt x="79411" y="456842"/>
                  <a:pt x="75856" y="460397"/>
                  <a:pt x="71470" y="460397"/>
                </a:cubicBezTo>
                <a:lnTo>
                  <a:pt x="7941" y="460397"/>
                </a:lnTo>
                <a:cubicBezTo>
                  <a:pt x="3555" y="460397"/>
                  <a:pt x="0" y="456842"/>
                  <a:pt x="0" y="452456"/>
                </a:cubicBezTo>
                <a:lnTo>
                  <a:pt x="0" y="293633"/>
                </a:lnTo>
                <a:cubicBezTo>
                  <a:pt x="0" y="289247"/>
                  <a:pt x="3555" y="285692"/>
                  <a:pt x="7941" y="285692"/>
                </a:cubicBezTo>
                <a:close/>
                <a:moveTo>
                  <a:pt x="198423" y="269815"/>
                </a:moveTo>
                <a:lnTo>
                  <a:pt x="261952" y="269815"/>
                </a:lnTo>
                <a:cubicBezTo>
                  <a:pt x="266338" y="269815"/>
                  <a:pt x="269893" y="273370"/>
                  <a:pt x="269893" y="277756"/>
                </a:cubicBezTo>
                <a:lnTo>
                  <a:pt x="269893" y="452461"/>
                </a:lnTo>
                <a:cubicBezTo>
                  <a:pt x="269893" y="456847"/>
                  <a:pt x="266338" y="460402"/>
                  <a:pt x="261952" y="460402"/>
                </a:cubicBezTo>
                <a:lnTo>
                  <a:pt x="198423" y="460402"/>
                </a:lnTo>
                <a:cubicBezTo>
                  <a:pt x="194037" y="460402"/>
                  <a:pt x="190482" y="456847"/>
                  <a:pt x="190482" y="452461"/>
                </a:cubicBezTo>
                <a:lnTo>
                  <a:pt x="190482" y="277756"/>
                </a:lnTo>
                <a:cubicBezTo>
                  <a:pt x="190482" y="273370"/>
                  <a:pt x="194037" y="269815"/>
                  <a:pt x="198423" y="269815"/>
                </a:cubicBezTo>
                <a:close/>
                <a:moveTo>
                  <a:pt x="103182" y="230121"/>
                </a:moveTo>
                <a:lnTo>
                  <a:pt x="166711" y="230121"/>
                </a:lnTo>
                <a:cubicBezTo>
                  <a:pt x="171097" y="230121"/>
                  <a:pt x="174652" y="233676"/>
                  <a:pt x="174652" y="238062"/>
                </a:cubicBezTo>
                <a:lnTo>
                  <a:pt x="174652" y="452472"/>
                </a:lnTo>
                <a:cubicBezTo>
                  <a:pt x="174652" y="456858"/>
                  <a:pt x="171097" y="460414"/>
                  <a:pt x="166711" y="460414"/>
                </a:cubicBezTo>
                <a:lnTo>
                  <a:pt x="103182" y="460414"/>
                </a:lnTo>
                <a:cubicBezTo>
                  <a:pt x="98796" y="460414"/>
                  <a:pt x="95240" y="456858"/>
                  <a:pt x="95240" y="452472"/>
                </a:cubicBezTo>
                <a:lnTo>
                  <a:pt x="95240" y="238062"/>
                </a:lnTo>
                <a:cubicBezTo>
                  <a:pt x="95240" y="233676"/>
                  <a:pt x="98796" y="230121"/>
                  <a:pt x="103182" y="230121"/>
                </a:cubicBezTo>
                <a:close/>
                <a:moveTo>
                  <a:pt x="293664" y="190425"/>
                </a:moveTo>
                <a:lnTo>
                  <a:pt x="357193" y="190425"/>
                </a:lnTo>
                <a:cubicBezTo>
                  <a:pt x="361579" y="190425"/>
                  <a:pt x="365134" y="193981"/>
                  <a:pt x="365134" y="198367"/>
                </a:cubicBezTo>
                <a:lnTo>
                  <a:pt x="365134" y="452483"/>
                </a:lnTo>
                <a:cubicBezTo>
                  <a:pt x="365134" y="456869"/>
                  <a:pt x="361579" y="460424"/>
                  <a:pt x="357193" y="460424"/>
                </a:cubicBezTo>
                <a:lnTo>
                  <a:pt x="293664" y="460424"/>
                </a:lnTo>
                <a:cubicBezTo>
                  <a:pt x="289278" y="460424"/>
                  <a:pt x="285723" y="456869"/>
                  <a:pt x="285723" y="452483"/>
                </a:cubicBezTo>
                <a:lnTo>
                  <a:pt x="285723" y="198367"/>
                </a:lnTo>
                <a:cubicBezTo>
                  <a:pt x="285723" y="193981"/>
                  <a:pt x="289278" y="190425"/>
                  <a:pt x="293664" y="190425"/>
                </a:cubicBezTo>
                <a:close/>
                <a:moveTo>
                  <a:pt x="388905" y="134853"/>
                </a:moveTo>
                <a:lnTo>
                  <a:pt x="452434" y="134853"/>
                </a:lnTo>
                <a:cubicBezTo>
                  <a:pt x="456820" y="134853"/>
                  <a:pt x="460375" y="138409"/>
                  <a:pt x="460375" y="142794"/>
                </a:cubicBezTo>
                <a:lnTo>
                  <a:pt x="460375" y="452498"/>
                </a:lnTo>
                <a:cubicBezTo>
                  <a:pt x="460375" y="456884"/>
                  <a:pt x="456820" y="460439"/>
                  <a:pt x="452434" y="460439"/>
                </a:cubicBezTo>
                <a:lnTo>
                  <a:pt x="388905" y="460439"/>
                </a:lnTo>
                <a:cubicBezTo>
                  <a:pt x="384519" y="460439"/>
                  <a:pt x="380964" y="456884"/>
                  <a:pt x="380964" y="452498"/>
                </a:cubicBezTo>
                <a:lnTo>
                  <a:pt x="380964" y="142794"/>
                </a:lnTo>
                <a:cubicBezTo>
                  <a:pt x="380964" y="138409"/>
                  <a:pt x="384519" y="134853"/>
                  <a:pt x="388905" y="134853"/>
                </a:cubicBezTo>
                <a:close/>
                <a:moveTo>
                  <a:pt x="420670" y="0"/>
                </a:moveTo>
                <a:cubicBezTo>
                  <a:pt x="438185" y="0"/>
                  <a:pt x="452434" y="14250"/>
                  <a:pt x="452434" y="31765"/>
                </a:cubicBezTo>
                <a:cubicBezTo>
                  <a:pt x="452434" y="49280"/>
                  <a:pt x="438185" y="63529"/>
                  <a:pt x="420670" y="63529"/>
                </a:cubicBezTo>
                <a:cubicBezTo>
                  <a:pt x="411912" y="63529"/>
                  <a:pt x="403971" y="59967"/>
                  <a:pt x="398219" y="54215"/>
                </a:cubicBezTo>
                <a:lnTo>
                  <a:pt x="398172" y="54102"/>
                </a:lnTo>
                <a:lnTo>
                  <a:pt x="354082" y="79821"/>
                </a:lnTo>
                <a:lnTo>
                  <a:pt x="357194" y="87322"/>
                </a:lnTo>
                <a:cubicBezTo>
                  <a:pt x="357194" y="104838"/>
                  <a:pt x="342944" y="119087"/>
                  <a:pt x="325429" y="119087"/>
                </a:cubicBezTo>
                <a:lnTo>
                  <a:pt x="309692" y="112558"/>
                </a:lnTo>
                <a:lnTo>
                  <a:pt x="256450" y="161363"/>
                </a:lnTo>
                <a:lnTo>
                  <a:pt x="261952" y="174626"/>
                </a:lnTo>
                <a:cubicBezTo>
                  <a:pt x="261952" y="192142"/>
                  <a:pt x="247703" y="206391"/>
                  <a:pt x="230188" y="206391"/>
                </a:cubicBezTo>
                <a:cubicBezTo>
                  <a:pt x="212672" y="206391"/>
                  <a:pt x="198423" y="192142"/>
                  <a:pt x="198423" y="174626"/>
                </a:cubicBezTo>
                <a:lnTo>
                  <a:pt x="200817" y="168856"/>
                </a:lnTo>
                <a:lnTo>
                  <a:pt x="158190" y="147543"/>
                </a:lnTo>
                <a:lnTo>
                  <a:pt x="157397" y="149456"/>
                </a:lnTo>
                <a:cubicBezTo>
                  <a:pt x="151645" y="155208"/>
                  <a:pt x="143704" y="158770"/>
                  <a:pt x="134946" y="158770"/>
                </a:cubicBezTo>
                <a:cubicBezTo>
                  <a:pt x="126189" y="158770"/>
                  <a:pt x="118247" y="155208"/>
                  <a:pt x="112496" y="149456"/>
                </a:cubicBezTo>
                <a:lnTo>
                  <a:pt x="112436" y="149312"/>
                </a:lnTo>
                <a:lnTo>
                  <a:pt x="68345" y="175031"/>
                </a:lnTo>
                <a:lnTo>
                  <a:pt x="71470" y="182563"/>
                </a:lnTo>
                <a:cubicBezTo>
                  <a:pt x="71470" y="200078"/>
                  <a:pt x="57221" y="214327"/>
                  <a:pt x="39706" y="214327"/>
                </a:cubicBezTo>
                <a:cubicBezTo>
                  <a:pt x="22190" y="214327"/>
                  <a:pt x="7941" y="200078"/>
                  <a:pt x="7941" y="182563"/>
                </a:cubicBezTo>
                <a:cubicBezTo>
                  <a:pt x="7941" y="165048"/>
                  <a:pt x="22190" y="150798"/>
                  <a:pt x="39706" y="150798"/>
                </a:cubicBezTo>
                <a:cubicBezTo>
                  <a:pt x="48463" y="150798"/>
                  <a:pt x="56404" y="154361"/>
                  <a:pt x="62156" y="160113"/>
                </a:cubicBezTo>
                <a:lnTo>
                  <a:pt x="62204" y="160227"/>
                </a:lnTo>
                <a:lnTo>
                  <a:pt x="106294" y="134508"/>
                </a:lnTo>
                <a:lnTo>
                  <a:pt x="103181" y="127005"/>
                </a:lnTo>
                <a:cubicBezTo>
                  <a:pt x="103181" y="109490"/>
                  <a:pt x="117431" y="95241"/>
                  <a:pt x="134946" y="95241"/>
                </a:cubicBezTo>
                <a:cubicBezTo>
                  <a:pt x="152462" y="95241"/>
                  <a:pt x="166711" y="109490"/>
                  <a:pt x="166711" y="127005"/>
                </a:cubicBezTo>
                <a:lnTo>
                  <a:pt x="164292" y="132837"/>
                </a:lnTo>
                <a:lnTo>
                  <a:pt x="206918" y="154150"/>
                </a:lnTo>
                <a:lnTo>
                  <a:pt x="207737" y="152176"/>
                </a:lnTo>
                <a:cubicBezTo>
                  <a:pt x="213489" y="146424"/>
                  <a:pt x="221430" y="142862"/>
                  <a:pt x="230188" y="142862"/>
                </a:cubicBezTo>
                <a:lnTo>
                  <a:pt x="245982" y="149414"/>
                </a:lnTo>
                <a:lnTo>
                  <a:pt x="299190" y="100640"/>
                </a:lnTo>
                <a:lnTo>
                  <a:pt x="293665" y="87322"/>
                </a:lnTo>
                <a:cubicBezTo>
                  <a:pt x="293665" y="69807"/>
                  <a:pt x="307914" y="55558"/>
                  <a:pt x="325429" y="55558"/>
                </a:cubicBezTo>
                <a:cubicBezTo>
                  <a:pt x="334187" y="55558"/>
                  <a:pt x="342128" y="59120"/>
                  <a:pt x="347880" y="64872"/>
                </a:cubicBezTo>
                <a:lnTo>
                  <a:pt x="347940" y="65018"/>
                </a:lnTo>
                <a:lnTo>
                  <a:pt x="392031" y="39298"/>
                </a:lnTo>
                <a:lnTo>
                  <a:pt x="388905" y="31765"/>
                </a:lnTo>
                <a:cubicBezTo>
                  <a:pt x="388905" y="14250"/>
                  <a:pt x="403154" y="0"/>
                  <a:pt x="420670" y="0"/>
                </a:cubicBezTo>
                <a:close/>
              </a:path>
            </a:pathLst>
          </a:custGeom>
          <a:solidFill>
            <a:schemeClr val="bg1"/>
          </a:solidFill>
          <a:ln w="131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1" name="任意多边形: 形状 30"/>
          <p:cNvSpPr/>
          <p:nvPr/>
        </p:nvSpPr>
        <p:spPr>
          <a:xfrm>
            <a:off x="677329" y="1130649"/>
            <a:ext cx="523220" cy="403315"/>
          </a:xfrm>
          <a:custGeom>
            <a:avLst/>
            <a:gdLst>
              <a:gd name="connsiteX0" fmla="*/ 56995 w 524354"/>
              <a:gd name="connsiteY0" fmla="*/ 311800 h 404189"/>
              <a:gd name="connsiteX1" fmla="*/ 296884 w 524354"/>
              <a:gd name="connsiteY1" fmla="*/ 311800 h 404189"/>
              <a:gd name="connsiteX2" fmla="*/ 335701 w 524354"/>
              <a:gd name="connsiteY2" fmla="*/ 392638 h 404189"/>
              <a:gd name="connsiteX3" fmla="*/ 56995 w 524354"/>
              <a:gd name="connsiteY3" fmla="*/ 392638 h 404189"/>
              <a:gd name="connsiteX4" fmla="*/ 34197 w 524354"/>
              <a:gd name="connsiteY4" fmla="*/ 369843 h 404189"/>
              <a:gd name="connsiteX5" fmla="*/ 34197 w 524354"/>
              <a:gd name="connsiteY5" fmla="*/ 334599 h 404189"/>
              <a:gd name="connsiteX6" fmla="*/ 56995 w 524354"/>
              <a:gd name="connsiteY6" fmla="*/ 311800 h 404189"/>
              <a:gd name="connsiteX7" fmla="*/ 421766 w 524354"/>
              <a:gd name="connsiteY7" fmla="*/ 242514 h 404189"/>
              <a:gd name="connsiteX8" fmla="*/ 410365 w 524354"/>
              <a:gd name="connsiteY8" fmla="*/ 253913 h 404189"/>
              <a:gd name="connsiteX9" fmla="*/ 410365 w 524354"/>
              <a:gd name="connsiteY9" fmla="*/ 288707 h 404189"/>
              <a:gd name="connsiteX10" fmla="*/ 376319 w 524354"/>
              <a:gd name="connsiteY10" fmla="*/ 288707 h 404189"/>
              <a:gd name="connsiteX11" fmla="*/ 364769 w 524354"/>
              <a:gd name="connsiteY11" fmla="*/ 300255 h 404189"/>
              <a:gd name="connsiteX12" fmla="*/ 376319 w 524354"/>
              <a:gd name="connsiteY12" fmla="*/ 311803 h 404189"/>
              <a:gd name="connsiteX13" fmla="*/ 410365 w 524354"/>
              <a:gd name="connsiteY13" fmla="*/ 311803 h 404189"/>
              <a:gd name="connsiteX14" fmla="*/ 410365 w 524354"/>
              <a:gd name="connsiteY14" fmla="*/ 346598 h 404189"/>
              <a:gd name="connsiteX15" fmla="*/ 421766 w 524354"/>
              <a:gd name="connsiteY15" fmla="*/ 357997 h 404189"/>
              <a:gd name="connsiteX16" fmla="*/ 433164 w 524354"/>
              <a:gd name="connsiteY16" fmla="*/ 346598 h 404189"/>
              <a:gd name="connsiteX17" fmla="*/ 433164 w 524354"/>
              <a:gd name="connsiteY17" fmla="*/ 311803 h 404189"/>
              <a:gd name="connsiteX18" fmla="*/ 467212 w 524354"/>
              <a:gd name="connsiteY18" fmla="*/ 311803 h 404189"/>
              <a:gd name="connsiteX19" fmla="*/ 478758 w 524354"/>
              <a:gd name="connsiteY19" fmla="*/ 300255 h 404189"/>
              <a:gd name="connsiteX20" fmla="*/ 467212 w 524354"/>
              <a:gd name="connsiteY20" fmla="*/ 288707 h 404189"/>
              <a:gd name="connsiteX21" fmla="*/ 433164 w 524354"/>
              <a:gd name="connsiteY21" fmla="*/ 288707 h 404189"/>
              <a:gd name="connsiteX22" fmla="*/ 433164 w 524354"/>
              <a:gd name="connsiteY22" fmla="*/ 253913 h 404189"/>
              <a:gd name="connsiteX23" fmla="*/ 421766 w 524354"/>
              <a:gd name="connsiteY23" fmla="*/ 242514 h 404189"/>
              <a:gd name="connsiteX24" fmla="*/ 79793 w 524354"/>
              <a:gd name="connsiteY24" fmla="*/ 207868 h 404189"/>
              <a:gd name="connsiteX25" fmla="*/ 335701 w 524354"/>
              <a:gd name="connsiteY25" fmla="*/ 207868 h 404189"/>
              <a:gd name="connsiteX26" fmla="*/ 296884 w 524354"/>
              <a:gd name="connsiteY26" fmla="*/ 288704 h 404189"/>
              <a:gd name="connsiteX27" fmla="*/ 79793 w 524354"/>
              <a:gd name="connsiteY27" fmla="*/ 288704 h 404189"/>
              <a:gd name="connsiteX28" fmla="*/ 56995 w 524354"/>
              <a:gd name="connsiteY28" fmla="*/ 265907 h 404189"/>
              <a:gd name="connsiteX29" fmla="*/ 56995 w 524354"/>
              <a:gd name="connsiteY29" fmla="*/ 230667 h 404189"/>
              <a:gd name="connsiteX30" fmla="*/ 79793 w 524354"/>
              <a:gd name="connsiteY30" fmla="*/ 207868 h 404189"/>
              <a:gd name="connsiteX31" fmla="*/ 421766 w 524354"/>
              <a:gd name="connsiteY31" fmla="*/ 196320 h 404189"/>
              <a:gd name="connsiteX32" fmla="*/ 524354 w 524354"/>
              <a:gd name="connsiteY32" fmla="*/ 300255 h 404189"/>
              <a:gd name="connsiteX33" fmla="*/ 421766 w 524354"/>
              <a:gd name="connsiteY33" fmla="*/ 404189 h 404189"/>
              <a:gd name="connsiteX34" fmla="*/ 319175 w 524354"/>
              <a:gd name="connsiteY34" fmla="*/ 300255 h 404189"/>
              <a:gd name="connsiteX35" fmla="*/ 421766 w 524354"/>
              <a:gd name="connsiteY35" fmla="*/ 196320 h 404189"/>
              <a:gd name="connsiteX36" fmla="*/ 22798 w 524354"/>
              <a:gd name="connsiteY36" fmla="*/ 103934 h 404189"/>
              <a:gd name="connsiteX37" fmla="*/ 330570 w 524354"/>
              <a:gd name="connsiteY37" fmla="*/ 103934 h 404189"/>
              <a:gd name="connsiteX38" fmla="*/ 353367 w 524354"/>
              <a:gd name="connsiteY38" fmla="*/ 126732 h 404189"/>
              <a:gd name="connsiteX39" fmla="*/ 353367 w 524354"/>
              <a:gd name="connsiteY39" fmla="*/ 161974 h 404189"/>
              <a:gd name="connsiteX40" fmla="*/ 330570 w 524354"/>
              <a:gd name="connsiteY40" fmla="*/ 184772 h 404189"/>
              <a:gd name="connsiteX41" fmla="*/ 22798 w 524354"/>
              <a:gd name="connsiteY41" fmla="*/ 184772 h 404189"/>
              <a:gd name="connsiteX42" fmla="*/ 0 w 524354"/>
              <a:gd name="connsiteY42" fmla="*/ 161974 h 404189"/>
              <a:gd name="connsiteX43" fmla="*/ 0 w 524354"/>
              <a:gd name="connsiteY43" fmla="*/ 126732 h 404189"/>
              <a:gd name="connsiteX44" fmla="*/ 22798 w 524354"/>
              <a:gd name="connsiteY44" fmla="*/ 103934 h 404189"/>
              <a:gd name="connsiteX45" fmla="*/ 56995 w 524354"/>
              <a:gd name="connsiteY45" fmla="*/ 0 h 404189"/>
              <a:gd name="connsiteX46" fmla="*/ 364767 w 524354"/>
              <a:gd name="connsiteY46" fmla="*/ 0 h 404189"/>
              <a:gd name="connsiteX47" fmla="*/ 387564 w 524354"/>
              <a:gd name="connsiteY47" fmla="*/ 22798 h 404189"/>
              <a:gd name="connsiteX48" fmla="*/ 387564 w 524354"/>
              <a:gd name="connsiteY48" fmla="*/ 58040 h 404189"/>
              <a:gd name="connsiteX49" fmla="*/ 364767 w 524354"/>
              <a:gd name="connsiteY49" fmla="*/ 80837 h 404189"/>
              <a:gd name="connsiteX50" fmla="*/ 56995 w 524354"/>
              <a:gd name="connsiteY50" fmla="*/ 80837 h 404189"/>
              <a:gd name="connsiteX51" fmla="*/ 34197 w 524354"/>
              <a:gd name="connsiteY51" fmla="*/ 58040 h 404189"/>
              <a:gd name="connsiteX52" fmla="*/ 34197 w 524354"/>
              <a:gd name="connsiteY52" fmla="*/ 22798 h 404189"/>
              <a:gd name="connsiteX53" fmla="*/ 56995 w 524354"/>
              <a:gd name="connsiteY53" fmla="*/ 0 h 40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24354" h="404189">
                <a:moveTo>
                  <a:pt x="56995" y="311800"/>
                </a:moveTo>
                <a:lnTo>
                  <a:pt x="296884" y="311800"/>
                </a:lnTo>
                <a:cubicBezTo>
                  <a:pt x="299709" y="343564"/>
                  <a:pt x="314077" y="371957"/>
                  <a:pt x="335701" y="392638"/>
                </a:cubicBezTo>
                <a:lnTo>
                  <a:pt x="56995" y="392638"/>
                </a:lnTo>
                <a:cubicBezTo>
                  <a:pt x="44404" y="392638"/>
                  <a:pt x="34197" y="382432"/>
                  <a:pt x="34197" y="369843"/>
                </a:cubicBezTo>
                <a:lnTo>
                  <a:pt x="34197" y="334599"/>
                </a:lnTo>
                <a:cubicBezTo>
                  <a:pt x="34197" y="322008"/>
                  <a:pt x="44404" y="311800"/>
                  <a:pt x="56995" y="311800"/>
                </a:cubicBezTo>
                <a:close/>
                <a:moveTo>
                  <a:pt x="421766" y="242514"/>
                </a:moveTo>
                <a:cubicBezTo>
                  <a:pt x="415469" y="242514"/>
                  <a:pt x="410365" y="247616"/>
                  <a:pt x="410365" y="253913"/>
                </a:cubicBezTo>
                <a:lnTo>
                  <a:pt x="410365" y="288707"/>
                </a:lnTo>
                <a:lnTo>
                  <a:pt x="376319" y="288707"/>
                </a:lnTo>
                <a:cubicBezTo>
                  <a:pt x="369939" y="288707"/>
                  <a:pt x="364769" y="293876"/>
                  <a:pt x="364769" y="300255"/>
                </a:cubicBezTo>
                <a:cubicBezTo>
                  <a:pt x="364769" y="306633"/>
                  <a:pt x="369939" y="311803"/>
                  <a:pt x="376319" y="311803"/>
                </a:cubicBezTo>
                <a:lnTo>
                  <a:pt x="410365" y="311803"/>
                </a:lnTo>
                <a:lnTo>
                  <a:pt x="410365" y="346598"/>
                </a:lnTo>
                <a:cubicBezTo>
                  <a:pt x="410365" y="352893"/>
                  <a:pt x="415469" y="357997"/>
                  <a:pt x="421766" y="357997"/>
                </a:cubicBezTo>
                <a:cubicBezTo>
                  <a:pt x="428060" y="357997"/>
                  <a:pt x="433164" y="352893"/>
                  <a:pt x="433164" y="346598"/>
                </a:cubicBezTo>
                <a:lnTo>
                  <a:pt x="433164" y="311803"/>
                </a:lnTo>
                <a:lnTo>
                  <a:pt x="467212" y="311803"/>
                </a:lnTo>
                <a:cubicBezTo>
                  <a:pt x="473588" y="311803"/>
                  <a:pt x="478758" y="306633"/>
                  <a:pt x="478758" y="300255"/>
                </a:cubicBezTo>
                <a:cubicBezTo>
                  <a:pt x="478758" y="293876"/>
                  <a:pt x="473588" y="288707"/>
                  <a:pt x="467212" y="288707"/>
                </a:cubicBezTo>
                <a:lnTo>
                  <a:pt x="433164" y="288707"/>
                </a:lnTo>
                <a:lnTo>
                  <a:pt x="433164" y="253913"/>
                </a:lnTo>
                <a:cubicBezTo>
                  <a:pt x="433164" y="247616"/>
                  <a:pt x="428060" y="242514"/>
                  <a:pt x="421766" y="242514"/>
                </a:cubicBezTo>
                <a:close/>
                <a:moveTo>
                  <a:pt x="79793" y="207868"/>
                </a:moveTo>
                <a:lnTo>
                  <a:pt x="335701" y="207868"/>
                </a:lnTo>
                <a:cubicBezTo>
                  <a:pt x="314077" y="228551"/>
                  <a:pt x="299709" y="256944"/>
                  <a:pt x="296884" y="288704"/>
                </a:cubicBezTo>
                <a:lnTo>
                  <a:pt x="79793" y="288704"/>
                </a:lnTo>
                <a:cubicBezTo>
                  <a:pt x="67202" y="288704"/>
                  <a:pt x="56995" y="278500"/>
                  <a:pt x="56995" y="265907"/>
                </a:cubicBezTo>
                <a:lnTo>
                  <a:pt x="56995" y="230667"/>
                </a:lnTo>
                <a:cubicBezTo>
                  <a:pt x="56995" y="218074"/>
                  <a:pt x="67202" y="207868"/>
                  <a:pt x="79793" y="207868"/>
                </a:cubicBezTo>
                <a:close/>
                <a:moveTo>
                  <a:pt x="421766" y="196320"/>
                </a:moveTo>
                <a:cubicBezTo>
                  <a:pt x="478422" y="196320"/>
                  <a:pt x="524354" y="242854"/>
                  <a:pt x="524354" y="300255"/>
                </a:cubicBezTo>
                <a:cubicBezTo>
                  <a:pt x="524354" y="357655"/>
                  <a:pt x="478422" y="404189"/>
                  <a:pt x="421766" y="404189"/>
                </a:cubicBezTo>
                <a:cubicBezTo>
                  <a:pt x="365105" y="404189"/>
                  <a:pt x="319175" y="357655"/>
                  <a:pt x="319175" y="300255"/>
                </a:cubicBezTo>
                <a:cubicBezTo>
                  <a:pt x="319175" y="242854"/>
                  <a:pt x="365105" y="196320"/>
                  <a:pt x="421766" y="196320"/>
                </a:cubicBezTo>
                <a:close/>
                <a:moveTo>
                  <a:pt x="22798" y="103934"/>
                </a:moveTo>
                <a:lnTo>
                  <a:pt x="330570" y="103934"/>
                </a:lnTo>
                <a:cubicBezTo>
                  <a:pt x="343163" y="103934"/>
                  <a:pt x="353367" y="114141"/>
                  <a:pt x="353367" y="126732"/>
                </a:cubicBezTo>
                <a:lnTo>
                  <a:pt x="353367" y="161974"/>
                </a:lnTo>
                <a:cubicBezTo>
                  <a:pt x="353367" y="174565"/>
                  <a:pt x="343163" y="184772"/>
                  <a:pt x="330570" y="184772"/>
                </a:cubicBezTo>
                <a:lnTo>
                  <a:pt x="22798" y="184772"/>
                </a:lnTo>
                <a:cubicBezTo>
                  <a:pt x="10207" y="184772"/>
                  <a:pt x="0" y="174565"/>
                  <a:pt x="0" y="161974"/>
                </a:cubicBezTo>
                <a:lnTo>
                  <a:pt x="0" y="126732"/>
                </a:lnTo>
                <a:cubicBezTo>
                  <a:pt x="0" y="114141"/>
                  <a:pt x="10207" y="103934"/>
                  <a:pt x="22798" y="103934"/>
                </a:cubicBezTo>
                <a:close/>
                <a:moveTo>
                  <a:pt x="56995" y="0"/>
                </a:moveTo>
                <a:lnTo>
                  <a:pt x="364767" y="0"/>
                </a:lnTo>
                <a:cubicBezTo>
                  <a:pt x="377360" y="0"/>
                  <a:pt x="387564" y="10207"/>
                  <a:pt x="387564" y="22798"/>
                </a:cubicBezTo>
                <a:lnTo>
                  <a:pt x="387564" y="58040"/>
                </a:lnTo>
                <a:cubicBezTo>
                  <a:pt x="387564" y="70631"/>
                  <a:pt x="377360" y="80837"/>
                  <a:pt x="364767" y="80837"/>
                </a:cubicBezTo>
                <a:lnTo>
                  <a:pt x="56995" y="80837"/>
                </a:lnTo>
                <a:cubicBezTo>
                  <a:pt x="44404" y="80837"/>
                  <a:pt x="34197" y="70631"/>
                  <a:pt x="34197" y="58040"/>
                </a:cubicBezTo>
                <a:lnTo>
                  <a:pt x="34197" y="22798"/>
                </a:lnTo>
                <a:cubicBezTo>
                  <a:pt x="34197" y="10207"/>
                  <a:pt x="44404" y="0"/>
                  <a:pt x="56995" y="0"/>
                </a:cubicBezTo>
                <a:close/>
              </a:path>
            </a:pathLst>
          </a:custGeom>
          <a:solidFill>
            <a:schemeClr val="bg1"/>
          </a:solidFill>
          <a:ln w="476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6" name="组合 35"/>
          <p:cNvGrpSpPr/>
          <p:nvPr/>
        </p:nvGrpSpPr>
        <p:grpSpPr>
          <a:xfrm>
            <a:off x="3365297" y="995848"/>
            <a:ext cx="1157689" cy="635059"/>
            <a:chOff x="5650860" y="1017723"/>
            <a:chExt cx="1157689" cy="635059"/>
          </a:xfrm>
        </p:grpSpPr>
        <p:sp>
          <p:nvSpPr>
            <p:cNvPr id="37" name="文本框 57"/>
            <p:cNvSpPr txBox="1"/>
            <p:nvPr/>
          </p:nvSpPr>
          <p:spPr>
            <a:xfrm>
              <a:off x="5650860" y="1017723"/>
              <a:ext cx="1157689"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6681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件</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8"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销售总量</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39" name="组合 38"/>
          <p:cNvGrpSpPr/>
          <p:nvPr/>
        </p:nvGrpSpPr>
        <p:grpSpPr>
          <a:xfrm>
            <a:off x="5080959" y="995848"/>
            <a:ext cx="982961" cy="635059"/>
            <a:chOff x="5650860" y="1017723"/>
            <a:chExt cx="982961" cy="635059"/>
          </a:xfrm>
        </p:grpSpPr>
        <p:sp>
          <p:nvSpPr>
            <p:cNvPr id="40" name="文本框 57"/>
            <p:cNvSpPr txBox="1"/>
            <p:nvPr/>
          </p:nvSpPr>
          <p:spPr>
            <a:xfrm>
              <a:off x="5650860" y="1017723"/>
              <a:ext cx="982961"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588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元</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1"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平均单价</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2" name="图形 104"/>
          <p:cNvSpPr/>
          <p:nvPr/>
        </p:nvSpPr>
        <p:spPr>
          <a:xfrm>
            <a:off x="4654238" y="1102327"/>
            <a:ext cx="460585" cy="429880"/>
          </a:xfrm>
          <a:custGeom>
            <a:avLst/>
            <a:gdLst>
              <a:gd name="connsiteX0" fmla="*/ 992472 w 1219200"/>
              <a:gd name="connsiteY0" fmla="*/ 881890 h 1137922"/>
              <a:gd name="connsiteX1" fmla="*/ 1049079 w 1219200"/>
              <a:gd name="connsiteY1" fmla="*/ 881890 h 1137922"/>
              <a:gd name="connsiteX2" fmla="*/ 1077435 w 1219200"/>
              <a:gd name="connsiteY2" fmla="*/ 853534 h 1137922"/>
              <a:gd name="connsiteX3" fmla="*/ 1077435 w 1219200"/>
              <a:gd name="connsiteY3" fmla="*/ 853344 h 1137922"/>
              <a:gd name="connsiteX4" fmla="*/ 1049079 w 1219200"/>
              <a:gd name="connsiteY4" fmla="*/ 824993 h 1137922"/>
              <a:gd name="connsiteX5" fmla="*/ 1028095 w 1219200"/>
              <a:gd name="connsiteY5" fmla="*/ 824993 h 1137922"/>
              <a:gd name="connsiteX6" fmla="*/ 1052165 w 1219200"/>
              <a:gd name="connsiteY6" fmla="*/ 794189 h 1137922"/>
              <a:gd name="connsiteX7" fmla="*/ 1047279 w 1219200"/>
              <a:gd name="connsiteY7" fmla="*/ 754389 h 1137922"/>
              <a:gd name="connsiteX8" fmla="*/ 1047131 w 1219200"/>
              <a:gd name="connsiteY8" fmla="*/ 754270 h 1137922"/>
              <a:gd name="connsiteX9" fmla="*/ 1007331 w 1219200"/>
              <a:gd name="connsiteY9" fmla="*/ 759161 h 1137922"/>
              <a:gd name="connsiteX10" fmla="*/ 962092 w 1219200"/>
              <a:gd name="connsiteY10" fmla="*/ 817058 h 1137922"/>
              <a:gd name="connsiteX11" fmla="*/ 916853 w 1219200"/>
              <a:gd name="connsiteY11" fmla="*/ 759161 h 1137922"/>
              <a:gd name="connsiteX12" fmla="*/ 877053 w 1219200"/>
              <a:gd name="connsiteY12" fmla="*/ 754270 h 1137922"/>
              <a:gd name="connsiteX13" fmla="*/ 876905 w 1219200"/>
              <a:gd name="connsiteY13" fmla="*/ 754389 h 1137922"/>
              <a:gd name="connsiteX14" fmla="*/ 872019 w 1219200"/>
              <a:gd name="connsiteY14" fmla="*/ 794189 h 1137922"/>
              <a:gd name="connsiteX15" fmla="*/ 896083 w 1219200"/>
              <a:gd name="connsiteY15" fmla="*/ 824993 h 1137922"/>
              <a:gd name="connsiteX16" fmla="*/ 878957 w 1219200"/>
              <a:gd name="connsiteY16" fmla="*/ 824993 h 1137922"/>
              <a:gd name="connsiteX17" fmla="*/ 850602 w 1219200"/>
              <a:gd name="connsiteY17" fmla="*/ 853344 h 1137922"/>
              <a:gd name="connsiteX18" fmla="*/ 850602 w 1219200"/>
              <a:gd name="connsiteY18" fmla="*/ 853534 h 1137922"/>
              <a:gd name="connsiteX19" fmla="*/ 878957 w 1219200"/>
              <a:gd name="connsiteY19" fmla="*/ 881890 h 1137922"/>
              <a:gd name="connsiteX20" fmla="*/ 935574 w 1219200"/>
              <a:gd name="connsiteY20" fmla="*/ 881890 h 1137922"/>
              <a:gd name="connsiteX21" fmla="*/ 935574 w 1219200"/>
              <a:gd name="connsiteY21" fmla="*/ 910337 h 1137922"/>
              <a:gd name="connsiteX22" fmla="*/ 878957 w 1219200"/>
              <a:gd name="connsiteY22" fmla="*/ 910337 h 1137922"/>
              <a:gd name="connsiteX23" fmla="*/ 850602 w 1219200"/>
              <a:gd name="connsiteY23" fmla="*/ 938688 h 1137922"/>
              <a:gd name="connsiteX24" fmla="*/ 850602 w 1219200"/>
              <a:gd name="connsiteY24" fmla="*/ 938878 h 1137922"/>
              <a:gd name="connsiteX25" fmla="*/ 878957 w 1219200"/>
              <a:gd name="connsiteY25" fmla="*/ 967234 h 1137922"/>
              <a:gd name="connsiteX26" fmla="*/ 935574 w 1219200"/>
              <a:gd name="connsiteY26" fmla="*/ 967234 h 1137922"/>
              <a:gd name="connsiteX27" fmla="*/ 935574 w 1219200"/>
              <a:gd name="connsiteY27" fmla="*/ 1023841 h 1137922"/>
              <a:gd name="connsiteX28" fmla="*/ 963925 w 1219200"/>
              <a:gd name="connsiteY28" fmla="*/ 1052197 h 1137922"/>
              <a:gd name="connsiteX29" fmla="*/ 964116 w 1219200"/>
              <a:gd name="connsiteY29" fmla="*/ 1052197 h 1137922"/>
              <a:gd name="connsiteX30" fmla="*/ 992472 w 1219200"/>
              <a:gd name="connsiteY30" fmla="*/ 1023841 h 1137922"/>
              <a:gd name="connsiteX31" fmla="*/ 992472 w 1219200"/>
              <a:gd name="connsiteY31" fmla="*/ 967234 h 1137922"/>
              <a:gd name="connsiteX32" fmla="*/ 1049079 w 1219200"/>
              <a:gd name="connsiteY32" fmla="*/ 967234 h 1137922"/>
              <a:gd name="connsiteX33" fmla="*/ 1077435 w 1219200"/>
              <a:gd name="connsiteY33" fmla="*/ 938878 h 1137922"/>
              <a:gd name="connsiteX34" fmla="*/ 1077435 w 1219200"/>
              <a:gd name="connsiteY34" fmla="*/ 938688 h 1137922"/>
              <a:gd name="connsiteX35" fmla="*/ 1049079 w 1219200"/>
              <a:gd name="connsiteY35" fmla="*/ 910337 h 1137922"/>
              <a:gd name="connsiteX36" fmla="*/ 992472 w 1219200"/>
              <a:gd name="connsiteY36" fmla="*/ 910337 h 1137922"/>
              <a:gd name="connsiteX37" fmla="*/ 992472 w 1219200"/>
              <a:gd name="connsiteY37" fmla="*/ 881890 h 1137922"/>
              <a:gd name="connsiteX38" fmla="*/ 1033482 w 1219200"/>
              <a:gd name="connsiteY38" fmla="*/ 576747 h 1137922"/>
              <a:gd name="connsiteX39" fmla="*/ 964021 w 1219200"/>
              <a:gd name="connsiteY39" fmla="*/ 568961 h 1137922"/>
              <a:gd name="connsiteX40" fmla="*/ 721400 w 1219200"/>
              <a:gd name="connsiteY40" fmla="*/ 685237 h 1137922"/>
              <a:gd name="connsiteX41" fmla="*/ 538715 w 1219200"/>
              <a:gd name="connsiteY41" fmla="*/ 696977 h 1137922"/>
              <a:gd name="connsiteX42" fmla="*/ 0 w 1219200"/>
              <a:gd name="connsiteY42" fmla="*/ 497842 h 1137922"/>
              <a:gd name="connsiteX43" fmla="*/ 12397 w 1219200"/>
              <a:gd name="connsiteY43" fmla="*/ 455170 h 1137922"/>
              <a:gd name="connsiteX44" fmla="*/ 538715 w 1219200"/>
              <a:gd name="connsiteY44" fmla="*/ 611633 h 1137922"/>
              <a:gd name="connsiteX45" fmla="*/ 1065033 w 1219200"/>
              <a:gd name="connsiteY45" fmla="*/ 455170 h 1137922"/>
              <a:gd name="connsiteX46" fmla="*/ 1077435 w 1219200"/>
              <a:gd name="connsiteY46" fmla="*/ 497842 h 1137922"/>
              <a:gd name="connsiteX47" fmla="*/ 1033482 w 1219200"/>
              <a:gd name="connsiteY47" fmla="*/ 576747 h 1137922"/>
              <a:gd name="connsiteX48" fmla="*/ 682666 w 1219200"/>
              <a:gd name="connsiteY48" fmla="*/ 746688 h 1137922"/>
              <a:gd name="connsiteX49" fmla="*/ 655682 w 1219200"/>
              <a:gd name="connsiteY49" fmla="*/ 834508 h 1137922"/>
              <a:gd name="connsiteX50" fmla="*/ 538715 w 1219200"/>
              <a:gd name="connsiteY50" fmla="*/ 839218 h 1137922"/>
              <a:gd name="connsiteX51" fmla="*/ 0 w 1219200"/>
              <a:gd name="connsiteY51" fmla="*/ 640079 h 1137922"/>
              <a:gd name="connsiteX52" fmla="*/ 12397 w 1219200"/>
              <a:gd name="connsiteY52" fmla="*/ 597407 h 1137922"/>
              <a:gd name="connsiteX53" fmla="*/ 538715 w 1219200"/>
              <a:gd name="connsiteY53" fmla="*/ 753874 h 1137922"/>
              <a:gd name="connsiteX54" fmla="*/ 682666 w 1219200"/>
              <a:gd name="connsiteY54" fmla="*/ 746688 h 1137922"/>
              <a:gd name="connsiteX55" fmla="*/ 652282 w 1219200"/>
              <a:gd name="connsiteY55" fmla="*/ 891682 h 1137922"/>
              <a:gd name="connsiteX56" fmla="*/ 666426 w 1219200"/>
              <a:gd name="connsiteY56" fmla="*/ 975826 h 1137922"/>
              <a:gd name="connsiteX57" fmla="*/ 538715 w 1219200"/>
              <a:gd name="connsiteY57" fmla="*/ 981455 h 1137922"/>
              <a:gd name="connsiteX58" fmla="*/ 0 w 1219200"/>
              <a:gd name="connsiteY58" fmla="*/ 782321 h 1137922"/>
              <a:gd name="connsiteX59" fmla="*/ 12397 w 1219200"/>
              <a:gd name="connsiteY59" fmla="*/ 739649 h 1137922"/>
              <a:gd name="connsiteX60" fmla="*/ 538715 w 1219200"/>
              <a:gd name="connsiteY60" fmla="*/ 896111 h 1137922"/>
              <a:gd name="connsiteX61" fmla="*/ 652282 w 1219200"/>
              <a:gd name="connsiteY61" fmla="*/ 891682 h 1137922"/>
              <a:gd name="connsiteX62" fmla="*/ 689453 w 1219200"/>
              <a:gd name="connsiteY62" fmla="*/ 1030456 h 1137922"/>
              <a:gd name="connsiteX63" fmla="*/ 748456 w 1219200"/>
              <a:gd name="connsiteY63" fmla="*/ 1108042 h 1137922"/>
              <a:gd name="connsiteX64" fmla="*/ 538715 w 1219200"/>
              <a:gd name="connsiteY64" fmla="*/ 1123697 h 1137922"/>
              <a:gd name="connsiteX65" fmla="*/ 0 w 1219200"/>
              <a:gd name="connsiteY65" fmla="*/ 924562 h 1137922"/>
              <a:gd name="connsiteX66" fmla="*/ 12397 w 1219200"/>
              <a:gd name="connsiteY66" fmla="*/ 881890 h 1137922"/>
              <a:gd name="connsiteX67" fmla="*/ 538715 w 1219200"/>
              <a:gd name="connsiteY67" fmla="*/ 1038353 h 1137922"/>
              <a:gd name="connsiteX68" fmla="*/ 689453 w 1219200"/>
              <a:gd name="connsiteY68" fmla="*/ 1030456 h 1137922"/>
              <a:gd name="connsiteX69" fmla="*/ 12397 w 1219200"/>
              <a:gd name="connsiteY69" fmla="*/ 312928 h 1137922"/>
              <a:gd name="connsiteX70" fmla="*/ 538715 w 1219200"/>
              <a:gd name="connsiteY70" fmla="*/ 469391 h 1137922"/>
              <a:gd name="connsiteX71" fmla="*/ 1065033 w 1219200"/>
              <a:gd name="connsiteY71" fmla="*/ 312928 h 1137922"/>
              <a:gd name="connsiteX72" fmla="*/ 1077435 w 1219200"/>
              <a:gd name="connsiteY72" fmla="*/ 355600 h 1137922"/>
              <a:gd name="connsiteX73" fmla="*/ 538715 w 1219200"/>
              <a:gd name="connsiteY73" fmla="*/ 554735 h 1137922"/>
              <a:gd name="connsiteX74" fmla="*/ 0 w 1219200"/>
              <a:gd name="connsiteY74" fmla="*/ 355600 h 1137922"/>
              <a:gd name="connsiteX75" fmla="*/ 12397 w 1219200"/>
              <a:gd name="connsiteY75" fmla="*/ 312928 h 1137922"/>
              <a:gd name="connsiteX76" fmla="*/ 538715 w 1219200"/>
              <a:gd name="connsiteY76" fmla="*/ 398272 h 1137922"/>
              <a:gd name="connsiteX77" fmla="*/ 0 w 1219200"/>
              <a:gd name="connsiteY77" fmla="*/ 199136 h 1137922"/>
              <a:gd name="connsiteX78" fmla="*/ 538715 w 1219200"/>
              <a:gd name="connsiteY78" fmla="*/ 0 h 1137922"/>
              <a:gd name="connsiteX79" fmla="*/ 1077435 w 1219200"/>
              <a:gd name="connsiteY79" fmla="*/ 199136 h 1137922"/>
              <a:gd name="connsiteX80" fmla="*/ 538715 w 1219200"/>
              <a:gd name="connsiteY80" fmla="*/ 398272 h 1137922"/>
              <a:gd name="connsiteX81" fmla="*/ 964021 w 1219200"/>
              <a:gd name="connsiteY81" fmla="*/ 1137922 h 1137922"/>
              <a:gd name="connsiteX82" fmla="*/ 708836 w 1219200"/>
              <a:gd name="connsiteY82" fmla="*/ 881890 h 1137922"/>
              <a:gd name="connsiteX83" fmla="*/ 964021 w 1219200"/>
              <a:gd name="connsiteY83" fmla="*/ 625858 h 1137922"/>
              <a:gd name="connsiteX84" fmla="*/ 1219200 w 1219200"/>
              <a:gd name="connsiteY84" fmla="*/ 881890 h 1137922"/>
              <a:gd name="connsiteX85" fmla="*/ 964021 w 1219200"/>
              <a:gd name="connsiteY85" fmla="*/ 1137922 h 1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19200" h="1137922">
                <a:moveTo>
                  <a:pt x="992472" y="881890"/>
                </a:moveTo>
                <a:lnTo>
                  <a:pt x="1049079" y="881890"/>
                </a:lnTo>
                <a:cubicBezTo>
                  <a:pt x="1064743" y="881890"/>
                  <a:pt x="1077435" y="869193"/>
                  <a:pt x="1077435" y="853534"/>
                </a:cubicBezTo>
                <a:lnTo>
                  <a:pt x="1077435" y="853344"/>
                </a:lnTo>
                <a:cubicBezTo>
                  <a:pt x="1077435" y="837685"/>
                  <a:pt x="1064743" y="824993"/>
                  <a:pt x="1049079" y="824993"/>
                </a:cubicBezTo>
                <a:lnTo>
                  <a:pt x="1028095" y="824993"/>
                </a:lnTo>
                <a:lnTo>
                  <a:pt x="1052165" y="794189"/>
                </a:lnTo>
                <a:cubicBezTo>
                  <a:pt x="1061799" y="781844"/>
                  <a:pt x="1059613" y="764033"/>
                  <a:pt x="1047279" y="754389"/>
                </a:cubicBezTo>
                <a:lnTo>
                  <a:pt x="1047131" y="754270"/>
                </a:lnTo>
                <a:cubicBezTo>
                  <a:pt x="1034791" y="744635"/>
                  <a:pt x="1016970" y="746821"/>
                  <a:pt x="1007331" y="759161"/>
                </a:cubicBezTo>
                <a:lnTo>
                  <a:pt x="962092" y="817058"/>
                </a:lnTo>
                <a:lnTo>
                  <a:pt x="916853" y="759161"/>
                </a:lnTo>
                <a:cubicBezTo>
                  <a:pt x="907213" y="746821"/>
                  <a:pt x="889392" y="744635"/>
                  <a:pt x="877053" y="754270"/>
                </a:cubicBezTo>
                <a:lnTo>
                  <a:pt x="876905" y="754389"/>
                </a:lnTo>
                <a:cubicBezTo>
                  <a:pt x="864560" y="764033"/>
                  <a:pt x="862375" y="781844"/>
                  <a:pt x="872019" y="794189"/>
                </a:cubicBezTo>
                <a:lnTo>
                  <a:pt x="896083" y="824993"/>
                </a:lnTo>
                <a:lnTo>
                  <a:pt x="878957" y="824993"/>
                </a:lnTo>
                <a:cubicBezTo>
                  <a:pt x="863303" y="824993"/>
                  <a:pt x="850602" y="837685"/>
                  <a:pt x="850602" y="853344"/>
                </a:cubicBezTo>
                <a:lnTo>
                  <a:pt x="850602" y="853534"/>
                </a:lnTo>
                <a:cubicBezTo>
                  <a:pt x="850602" y="869193"/>
                  <a:pt x="863303" y="881890"/>
                  <a:pt x="878957" y="881890"/>
                </a:cubicBezTo>
                <a:lnTo>
                  <a:pt x="935574" y="881890"/>
                </a:lnTo>
                <a:lnTo>
                  <a:pt x="935574" y="910337"/>
                </a:lnTo>
                <a:lnTo>
                  <a:pt x="878957" y="910337"/>
                </a:lnTo>
                <a:cubicBezTo>
                  <a:pt x="863303" y="910337"/>
                  <a:pt x="850602" y="923029"/>
                  <a:pt x="850602" y="938688"/>
                </a:cubicBezTo>
                <a:lnTo>
                  <a:pt x="850602" y="938878"/>
                </a:lnTo>
                <a:cubicBezTo>
                  <a:pt x="850602" y="954537"/>
                  <a:pt x="863303" y="967234"/>
                  <a:pt x="878957" y="967234"/>
                </a:cubicBezTo>
                <a:lnTo>
                  <a:pt x="935574" y="967234"/>
                </a:lnTo>
                <a:lnTo>
                  <a:pt x="935574" y="1023841"/>
                </a:lnTo>
                <a:cubicBezTo>
                  <a:pt x="935574" y="1039505"/>
                  <a:pt x="948266" y="1052197"/>
                  <a:pt x="963925" y="1052197"/>
                </a:cubicBezTo>
                <a:lnTo>
                  <a:pt x="964116" y="1052197"/>
                </a:lnTo>
                <a:cubicBezTo>
                  <a:pt x="979770" y="1052197"/>
                  <a:pt x="992472" y="1039505"/>
                  <a:pt x="992472" y="1023841"/>
                </a:cubicBezTo>
                <a:lnTo>
                  <a:pt x="992472" y="967234"/>
                </a:lnTo>
                <a:lnTo>
                  <a:pt x="1049079" y="967234"/>
                </a:lnTo>
                <a:cubicBezTo>
                  <a:pt x="1064743" y="967234"/>
                  <a:pt x="1077435" y="954537"/>
                  <a:pt x="1077435" y="938878"/>
                </a:cubicBezTo>
                <a:lnTo>
                  <a:pt x="1077435" y="938688"/>
                </a:lnTo>
                <a:cubicBezTo>
                  <a:pt x="1077435" y="923029"/>
                  <a:pt x="1064743" y="910337"/>
                  <a:pt x="1049079" y="910337"/>
                </a:cubicBezTo>
                <a:lnTo>
                  <a:pt x="992472" y="910337"/>
                </a:lnTo>
                <a:lnTo>
                  <a:pt x="992472" y="881890"/>
                </a:lnTo>
                <a:close/>
                <a:moveTo>
                  <a:pt x="1033482" y="576747"/>
                </a:moveTo>
                <a:cubicBezTo>
                  <a:pt x="1011145" y="571651"/>
                  <a:pt x="987900" y="568961"/>
                  <a:pt x="964021" y="568961"/>
                </a:cubicBezTo>
                <a:cubicBezTo>
                  <a:pt x="866018" y="568961"/>
                  <a:pt x="778574" y="614309"/>
                  <a:pt x="721400" y="685237"/>
                </a:cubicBezTo>
                <a:cubicBezTo>
                  <a:pt x="664354" y="692829"/>
                  <a:pt x="602842" y="696977"/>
                  <a:pt x="538715" y="696977"/>
                </a:cubicBezTo>
                <a:cubicBezTo>
                  <a:pt x="241192" y="696977"/>
                  <a:pt x="0" y="607818"/>
                  <a:pt x="0" y="497842"/>
                </a:cubicBezTo>
                <a:cubicBezTo>
                  <a:pt x="0" y="483193"/>
                  <a:pt x="4278" y="468915"/>
                  <a:pt x="12397" y="455170"/>
                </a:cubicBezTo>
                <a:cubicBezTo>
                  <a:pt x="65243" y="544643"/>
                  <a:pt x="280817" y="611633"/>
                  <a:pt x="538715" y="611633"/>
                </a:cubicBezTo>
                <a:cubicBezTo>
                  <a:pt x="796619" y="611633"/>
                  <a:pt x="1012188" y="544643"/>
                  <a:pt x="1065033" y="455170"/>
                </a:cubicBezTo>
                <a:cubicBezTo>
                  <a:pt x="1073153" y="468915"/>
                  <a:pt x="1077435" y="483193"/>
                  <a:pt x="1077435" y="497842"/>
                </a:cubicBezTo>
                <a:cubicBezTo>
                  <a:pt x="1077435" y="525874"/>
                  <a:pt x="1061761" y="552554"/>
                  <a:pt x="1033482" y="576747"/>
                </a:cubicBezTo>
                <a:close/>
                <a:moveTo>
                  <a:pt x="682666" y="746688"/>
                </a:moveTo>
                <a:cubicBezTo>
                  <a:pt x="669603" y="773996"/>
                  <a:pt x="660373" y="803509"/>
                  <a:pt x="655682" y="834508"/>
                </a:cubicBezTo>
                <a:cubicBezTo>
                  <a:pt x="618025" y="837589"/>
                  <a:pt x="578882" y="839218"/>
                  <a:pt x="538715" y="839218"/>
                </a:cubicBezTo>
                <a:cubicBezTo>
                  <a:pt x="241192" y="839218"/>
                  <a:pt x="0" y="750059"/>
                  <a:pt x="0" y="640079"/>
                </a:cubicBezTo>
                <a:cubicBezTo>
                  <a:pt x="0" y="625434"/>
                  <a:pt x="4278" y="611156"/>
                  <a:pt x="12397" y="597407"/>
                </a:cubicBezTo>
                <a:cubicBezTo>
                  <a:pt x="65243" y="686885"/>
                  <a:pt x="280817" y="753874"/>
                  <a:pt x="538715" y="753874"/>
                </a:cubicBezTo>
                <a:cubicBezTo>
                  <a:pt x="588569" y="753874"/>
                  <a:pt x="636842" y="751364"/>
                  <a:pt x="682666" y="746688"/>
                </a:cubicBezTo>
                <a:close/>
                <a:moveTo>
                  <a:pt x="652282" y="891682"/>
                </a:moveTo>
                <a:cubicBezTo>
                  <a:pt x="653177" y="920914"/>
                  <a:pt x="658068" y="949142"/>
                  <a:pt x="666426" y="975826"/>
                </a:cubicBezTo>
                <a:cubicBezTo>
                  <a:pt x="625488" y="979507"/>
                  <a:pt x="582716" y="981455"/>
                  <a:pt x="538715" y="981455"/>
                </a:cubicBezTo>
                <a:cubicBezTo>
                  <a:pt x="241192" y="981455"/>
                  <a:pt x="0" y="892301"/>
                  <a:pt x="0" y="782321"/>
                </a:cubicBezTo>
                <a:cubicBezTo>
                  <a:pt x="0" y="767676"/>
                  <a:pt x="4278" y="753398"/>
                  <a:pt x="12397" y="739649"/>
                </a:cubicBezTo>
                <a:cubicBezTo>
                  <a:pt x="65243" y="829122"/>
                  <a:pt x="280817" y="896111"/>
                  <a:pt x="538715" y="896111"/>
                </a:cubicBezTo>
                <a:cubicBezTo>
                  <a:pt x="577677" y="896111"/>
                  <a:pt x="615667" y="894582"/>
                  <a:pt x="652282" y="891682"/>
                </a:cubicBezTo>
                <a:close/>
                <a:moveTo>
                  <a:pt x="689453" y="1030456"/>
                </a:moveTo>
                <a:cubicBezTo>
                  <a:pt x="705017" y="1059351"/>
                  <a:pt x="724986" y="1085516"/>
                  <a:pt x="748456" y="1108042"/>
                </a:cubicBezTo>
                <a:cubicBezTo>
                  <a:pt x="683990" y="1118120"/>
                  <a:pt x="613115" y="1123697"/>
                  <a:pt x="538715" y="1123697"/>
                </a:cubicBezTo>
                <a:cubicBezTo>
                  <a:pt x="241192" y="1123697"/>
                  <a:pt x="0" y="1034538"/>
                  <a:pt x="0" y="924562"/>
                </a:cubicBezTo>
                <a:cubicBezTo>
                  <a:pt x="0" y="909918"/>
                  <a:pt x="4278" y="895640"/>
                  <a:pt x="12397" y="881890"/>
                </a:cubicBezTo>
                <a:cubicBezTo>
                  <a:pt x="65243" y="971363"/>
                  <a:pt x="280817" y="1038353"/>
                  <a:pt x="538715" y="1038353"/>
                </a:cubicBezTo>
                <a:cubicBezTo>
                  <a:pt x="591041" y="1038353"/>
                  <a:pt x="641618" y="1035595"/>
                  <a:pt x="689453" y="1030456"/>
                </a:cubicBezTo>
                <a:close/>
                <a:moveTo>
                  <a:pt x="12397" y="312928"/>
                </a:moveTo>
                <a:cubicBezTo>
                  <a:pt x="65243" y="402402"/>
                  <a:pt x="280817" y="469391"/>
                  <a:pt x="538715" y="469391"/>
                </a:cubicBezTo>
                <a:cubicBezTo>
                  <a:pt x="796619" y="469391"/>
                  <a:pt x="1012188" y="402402"/>
                  <a:pt x="1065033" y="312928"/>
                </a:cubicBezTo>
                <a:cubicBezTo>
                  <a:pt x="1073153" y="326675"/>
                  <a:pt x="1077435" y="340953"/>
                  <a:pt x="1077435" y="355600"/>
                </a:cubicBezTo>
                <a:cubicBezTo>
                  <a:pt x="1077435" y="465581"/>
                  <a:pt x="836243" y="554735"/>
                  <a:pt x="538715" y="554735"/>
                </a:cubicBezTo>
                <a:cubicBezTo>
                  <a:pt x="241192" y="554735"/>
                  <a:pt x="0" y="465581"/>
                  <a:pt x="0" y="355600"/>
                </a:cubicBezTo>
                <a:cubicBezTo>
                  <a:pt x="0" y="340953"/>
                  <a:pt x="4278" y="326675"/>
                  <a:pt x="12397" y="312928"/>
                </a:cubicBezTo>
                <a:close/>
                <a:moveTo>
                  <a:pt x="538715" y="398272"/>
                </a:moveTo>
                <a:cubicBezTo>
                  <a:pt x="241192" y="398272"/>
                  <a:pt x="0" y="309116"/>
                  <a:pt x="0" y="199136"/>
                </a:cubicBezTo>
                <a:cubicBezTo>
                  <a:pt x="0" y="89156"/>
                  <a:pt x="241192" y="0"/>
                  <a:pt x="538715" y="0"/>
                </a:cubicBezTo>
                <a:cubicBezTo>
                  <a:pt x="836243" y="0"/>
                  <a:pt x="1077435" y="89156"/>
                  <a:pt x="1077435" y="199136"/>
                </a:cubicBezTo>
                <a:cubicBezTo>
                  <a:pt x="1077435" y="309116"/>
                  <a:pt x="836243" y="398272"/>
                  <a:pt x="538715" y="398272"/>
                </a:cubicBezTo>
                <a:close/>
                <a:moveTo>
                  <a:pt x="964021" y="1137922"/>
                </a:moveTo>
                <a:cubicBezTo>
                  <a:pt x="823089" y="1137922"/>
                  <a:pt x="708836" y="1023289"/>
                  <a:pt x="708836" y="881890"/>
                </a:cubicBezTo>
                <a:cubicBezTo>
                  <a:pt x="708836" y="740487"/>
                  <a:pt x="823089" y="625858"/>
                  <a:pt x="964021" y="625858"/>
                </a:cubicBezTo>
                <a:cubicBezTo>
                  <a:pt x="1104952" y="625858"/>
                  <a:pt x="1219200" y="740487"/>
                  <a:pt x="1219200" y="881890"/>
                </a:cubicBezTo>
                <a:cubicBezTo>
                  <a:pt x="1219200" y="1023289"/>
                  <a:pt x="1104952" y="1137922"/>
                  <a:pt x="964021" y="113792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44" name="表格 43"/>
          <p:cNvGraphicFramePr>
            <a:graphicFrameLocks noGrp="1"/>
          </p:cNvGraphicFramePr>
          <p:nvPr/>
        </p:nvGraphicFramePr>
        <p:xfrm>
          <a:off x="227012" y="1766049"/>
          <a:ext cx="6252806" cy="2683603"/>
        </p:xfrm>
        <a:graphic>
          <a:graphicData uri="http://schemas.openxmlformats.org/drawingml/2006/table">
            <a:tbl>
              <a:tblPr>
                <a:tableStyleId>{3B4B98B0-60AC-42C2-AFA5-B58CD77FA1E5}</a:tableStyleId>
              </a:tblPr>
              <a:tblGrid>
                <a:gridCol w="647282">
                  <a:extLst>
                    <a:ext uri="{9D8B030D-6E8A-4147-A177-3AD203B41FA5}">
                      <a16:colId xmlns:a16="http://schemas.microsoft.com/office/drawing/2014/main" val="20000"/>
                    </a:ext>
                  </a:extLst>
                </a:gridCol>
                <a:gridCol w="622836">
                  <a:extLst>
                    <a:ext uri="{9D8B030D-6E8A-4147-A177-3AD203B41FA5}">
                      <a16:colId xmlns:a16="http://schemas.microsoft.com/office/drawing/2014/main" val="20001"/>
                    </a:ext>
                  </a:extLst>
                </a:gridCol>
                <a:gridCol w="622836">
                  <a:extLst>
                    <a:ext uri="{9D8B030D-6E8A-4147-A177-3AD203B41FA5}">
                      <a16:colId xmlns:a16="http://schemas.microsoft.com/office/drawing/2014/main" val="20002"/>
                    </a:ext>
                  </a:extLst>
                </a:gridCol>
                <a:gridCol w="622836">
                  <a:extLst>
                    <a:ext uri="{9D8B030D-6E8A-4147-A177-3AD203B41FA5}">
                      <a16:colId xmlns:a16="http://schemas.microsoft.com/office/drawing/2014/main" val="20003"/>
                    </a:ext>
                  </a:extLst>
                </a:gridCol>
                <a:gridCol w="622836">
                  <a:extLst>
                    <a:ext uri="{9D8B030D-6E8A-4147-A177-3AD203B41FA5}">
                      <a16:colId xmlns:a16="http://schemas.microsoft.com/office/drawing/2014/main" val="20004"/>
                    </a:ext>
                  </a:extLst>
                </a:gridCol>
                <a:gridCol w="622836">
                  <a:extLst>
                    <a:ext uri="{9D8B030D-6E8A-4147-A177-3AD203B41FA5}">
                      <a16:colId xmlns:a16="http://schemas.microsoft.com/office/drawing/2014/main" val="20005"/>
                    </a:ext>
                  </a:extLst>
                </a:gridCol>
                <a:gridCol w="622836">
                  <a:extLst>
                    <a:ext uri="{9D8B030D-6E8A-4147-A177-3AD203B41FA5}">
                      <a16:colId xmlns:a16="http://schemas.microsoft.com/office/drawing/2014/main" val="20006"/>
                    </a:ext>
                  </a:extLst>
                </a:gridCol>
                <a:gridCol w="622836">
                  <a:extLst>
                    <a:ext uri="{9D8B030D-6E8A-4147-A177-3AD203B41FA5}">
                      <a16:colId xmlns:a16="http://schemas.microsoft.com/office/drawing/2014/main" val="20007"/>
                    </a:ext>
                  </a:extLst>
                </a:gridCol>
                <a:gridCol w="622836">
                  <a:extLst>
                    <a:ext uri="{9D8B030D-6E8A-4147-A177-3AD203B41FA5}">
                      <a16:colId xmlns:a16="http://schemas.microsoft.com/office/drawing/2014/main" val="20008"/>
                    </a:ext>
                  </a:extLst>
                </a:gridCol>
                <a:gridCol w="622836">
                  <a:extLst>
                    <a:ext uri="{9D8B030D-6E8A-4147-A177-3AD203B41FA5}">
                      <a16:colId xmlns:a16="http://schemas.microsoft.com/office/drawing/2014/main" val="20009"/>
                    </a:ext>
                  </a:extLst>
                </a:gridCol>
              </a:tblGrid>
              <a:tr h="206431">
                <a:tc rowSpan="2">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商品名称</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手机端</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电脑端</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合计</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0"/>
                  </a:ext>
                </a:extLst>
              </a:tr>
              <a:tr h="206431">
                <a:tc vMerge="1">
                  <a:txBody>
                    <a:bodyPr/>
                    <a:lstStyle/>
                    <a:p>
                      <a:endParaRPr lang="zh-CN"/>
                    </a:p>
                  </a:txBody>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1</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95,612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173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162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9,234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716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104,846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2"/>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2</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65,842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338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483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123,165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678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189,007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3"/>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3</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780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25,415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1,359,846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25,182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834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1,385,261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4"/>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4</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319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215,789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676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220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285,461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1,298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539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501,250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930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5"/>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5</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189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40,257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337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21,905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526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62,162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118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6"/>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6</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844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203,404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241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46,314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279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1,010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249,718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7"/>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7</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561,254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4,490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303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105,125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347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428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666,379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1,557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8"/>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8</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382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545,125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1,427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10,340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617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555,465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900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9"/>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9</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756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143,640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190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5,508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51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864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149,148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173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10"/>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10</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45,668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20,475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469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66,143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11"/>
                  </a:ext>
                </a:extLst>
              </a:tr>
              <a:tr h="206431">
                <a:tc>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合计</a:t>
                      </a:r>
                      <a:endParaRPr lang="zh-CN" altLang="en-US" sz="900" b="1"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4,340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1,942,006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2,341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1,987,373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849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6,681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3,929,379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588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graphicFrame>
        <p:nvGraphicFramePr>
          <p:cNvPr id="51" name="图表 50"/>
          <p:cNvGraphicFramePr/>
          <p:nvPr/>
        </p:nvGraphicFramePr>
        <p:xfrm>
          <a:off x="188698" y="4128238"/>
          <a:ext cx="11776290" cy="2633169"/>
        </p:xfrm>
        <a:graphic>
          <a:graphicData uri="http://schemas.openxmlformats.org/drawingml/2006/chart">
            <c:chart xmlns:c="http://schemas.openxmlformats.org/drawingml/2006/chart" xmlns:r="http://schemas.openxmlformats.org/officeDocument/2006/relationships" r:id="rId3"/>
          </a:graphicData>
        </a:graphic>
      </p:graphicFrame>
      <p:sp>
        <p:nvSpPr>
          <p:cNvPr id="56" name="任意多边形: 形状 55"/>
          <p:cNvSpPr/>
          <p:nvPr/>
        </p:nvSpPr>
        <p:spPr>
          <a:xfrm rot="16200000">
            <a:off x="8811654" y="-1491774"/>
            <a:ext cx="482448" cy="5622064"/>
          </a:xfrm>
          <a:custGeom>
            <a:avLst/>
            <a:gdLst>
              <a:gd name="connsiteX0" fmla="*/ 482448 w 482448"/>
              <a:gd name="connsiteY0" fmla="*/ 163492 h 5622064"/>
              <a:gd name="connsiteX1" fmla="*/ 482447 w 482448"/>
              <a:gd name="connsiteY1" fmla="*/ 5622064 h 5622064"/>
              <a:gd name="connsiteX2" fmla="*/ 0 w 482448"/>
              <a:gd name="connsiteY2" fmla="*/ 5622064 h 5622064"/>
              <a:gd name="connsiteX3" fmla="*/ 0 w 482448"/>
              <a:gd name="connsiteY3" fmla="*/ 163492 h 5622064"/>
              <a:gd name="connsiteX4" fmla="*/ 146400 w 482448"/>
              <a:gd name="connsiteY4" fmla="*/ 163492 h 5622064"/>
              <a:gd name="connsiteX5" fmla="*/ 241225 w 482448"/>
              <a:gd name="connsiteY5" fmla="*/ 0 h 5622064"/>
              <a:gd name="connsiteX6" fmla="*/ 336050 w 482448"/>
              <a:gd name="connsiteY6" fmla="*/ 163492 h 562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2448" h="5622064">
                <a:moveTo>
                  <a:pt x="482448" y="163492"/>
                </a:moveTo>
                <a:lnTo>
                  <a:pt x="482447" y="5622064"/>
                </a:lnTo>
                <a:lnTo>
                  <a:pt x="0" y="5622064"/>
                </a:lnTo>
                <a:lnTo>
                  <a:pt x="0" y="163492"/>
                </a:lnTo>
                <a:lnTo>
                  <a:pt x="146400" y="163492"/>
                </a:lnTo>
                <a:lnTo>
                  <a:pt x="241225" y="0"/>
                </a:lnTo>
                <a:lnTo>
                  <a:pt x="336050" y="16349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57" name="文本框 58"/>
          <p:cNvSpPr txBox="1"/>
          <p:nvPr/>
        </p:nvSpPr>
        <p:spPr>
          <a:xfrm>
            <a:off x="6766243" y="1150046"/>
            <a:ext cx="469872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双渠道商品销量整体上升，销售总额达到新高度！</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60" name="图表 59"/>
          <p:cNvGraphicFramePr/>
          <p:nvPr/>
        </p:nvGraphicFramePr>
        <p:xfrm>
          <a:off x="6543727" y="1837241"/>
          <a:ext cx="5421261" cy="2513292"/>
        </p:xfrm>
        <a:graphic>
          <a:graphicData uri="http://schemas.openxmlformats.org/drawingml/2006/chart">
            <c:chart xmlns:c="http://schemas.openxmlformats.org/drawingml/2006/chart" xmlns:r="http://schemas.openxmlformats.org/officeDocument/2006/relationships" r:id="rId4"/>
          </a:graphicData>
        </a:graphic>
      </p:graphicFrame>
      <p:sp>
        <p:nvSpPr>
          <p:cNvPr id="62" name="对话气泡: 矩形 61"/>
          <p:cNvSpPr/>
          <p:nvPr/>
        </p:nvSpPr>
        <p:spPr>
          <a:xfrm>
            <a:off x="6698306" y="1906994"/>
            <a:ext cx="1358940" cy="856103"/>
          </a:xfrm>
          <a:prstGeom prst="wedgeRectCallout">
            <a:avLst>
              <a:gd name="adj1" fmla="val 82372"/>
              <a:gd name="adj2" fmla="val 9408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55 </a:t>
            </a: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zh-CN" altLang="en-US"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3" name="对话气泡: 矩形 62"/>
          <p:cNvSpPr/>
          <p:nvPr/>
        </p:nvSpPr>
        <p:spPr>
          <a:xfrm>
            <a:off x="10315061" y="3422737"/>
            <a:ext cx="1358940" cy="856103"/>
          </a:xfrm>
          <a:prstGeom prst="wedgeRectCallout">
            <a:avLst>
              <a:gd name="adj1" fmla="val -74949"/>
              <a:gd name="adj2" fmla="val -7816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45 </a:t>
            </a: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zh-CN" altLang="en-US"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气泡图：营销优势占比</a:t>
            </a:r>
          </a:p>
        </p:txBody>
      </p:sp>
      <p:sp>
        <p:nvSpPr>
          <p:cNvPr id="4" name="梯形 3"/>
          <p:cNvSpPr/>
          <p:nvPr/>
        </p:nvSpPr>
        <p:spPr>
          <a:xfrm>
            <a:off x="486135" y="3211157"/>
            <a:ext cx="11219727" cy="1598935"/>
          </a:xfrm>
          <a:prstGeom prst="trapezoid">
            <a:avLst>
              <a:gd name="adj" fmla="val 99012"/>
            </a:avLst>
          </a:prstGeom>
          <a:gradFill flip="none" rotWithShape="1">
            <a:gsLst>
              <a:gs pos="0">
                <a:schemeClr val="accent3">
                  <a:lumMod val="20000"/>
                  <a:lumOff val="80000"/>
                  <a:alpha val="0"/>
                </a:schemeClr>
              </a:gs>
              <a:gs pos="100000">
                <a:schemeClr val="accent1">
                  <a:lumMod val="20000"/>
                  <a:lumOff val="8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5" name="矩形: 圆角 84"/>
          <p:cNvSpPr/>
          <p:nvPr/>
        </p:nvSpPr>
        <p:spPr>
          <a:xfrm rot="10800000" flipV="1">
            <a:off x="3654336" y="2587702"/>
            <a:ext cx="262594" cy="1498962"/>
          </a:xfrm>
          <a:prstGeom prst="roundRect">
            <a:avLst>
              <a:gd name="adj" fmla="val 50000"/>
            </a:avLst>
          </a:prstGeom>
          <a:gradFill flip="none" rotWithShape="1">
            <a:gsLst>
              <a:gs pos="30000">
                <a:schemeClr val="accent6">
                  <a:alpha val="0"/>
                </a:schemeClr>
              </a:gs>
              <a:gs pos="100000">
                <a:schemeClr val="accent6"/>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7" name="文本框 36"/>
          <p:cNvSpPr txBox="1"/>
          <p:nvPr/>
        </p:nvSpPr>
        <p:spPr>
          <a:xfrm>
            <a:off x="3839155" y="4097715"/>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行业高标准的质量管理体系，把关步骤严格</a:t>
            </a:r>
          </a:p>
        </p:txBody>
      </p:sp>
      <p:sp>
        <p:nvSpPr>
          <p:cNvPr id="38" name="文本框 37"/>
          <p:cNvSpPr txBox="1"/>
          <p:nvPr/>
        </p:nvSpPr>
        <p:spPr>
          <a:xfrm>
            <a:off x="3843616" y="3764145"/>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行业口碑</a:t>
            </a:r>
          </a:p>
        </p:txBody>
      </p:sp>
      <p:sp>
        <p:nvSpPr>
          <p:cNvPr id="41" name="文本框 40"/>
          <p:cNvSpPr txBox="1"/>
          <p:nvPr/>
        </p:nvSpPr>
        <p:spPr>
          <a:xfrm>
            <a:off x="7352855" y="4097715"/>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生产效率快，同时能调动多台生产机器等</a:t>
            </a:r>
          </a:p>
        </p:txBody>
      </p:sp>
      <p:sp>
        <p:nvSpPr>
          <p:cNvPr id="42" name="文本框 41"/>
          <p:cNvSpPr txBox="1"/>
          <p:nvPr/>
        </p:nvSpPr>
        <p:spPr>
          <a:xfrm>
            <a:off x="7352855" y="3764145"/>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企业资质</a:t>
            </a:r>
          </a:p>
        </p:txBody>
      </p:sp>
      <p:sp>
        <p:nvSpPr>
          <p:cNvPr id="49" name="矩形: 对角圆角 48"/>
          <p:cNvSpPr/>
          <p:nvPr/>
        </p:nvSpPr>
        <p:spPr>
          <a:xfrm flipH="1">
            <a:off x="484223" y="4845959"/>
            <a:ext cx="11219727" cy="699231"/>
          </a:xfrm>
          <a:prstGeom prst="round2DiagRect">
            <a:avLst>
              <a:gd name="adj1" fmla="val 0"/>
              <a:gd name="adj2" fmla="val 0"/>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1" name="矩形: 对角圆角 50"/>
          <p:cNvSpPr/>
          <p:nvPr/>
        </p:nvSpPr>
        <p:spPr>
          <a:xfrm flipH="1">
            <a:off x="945906" y="4956083"/>
            <a:ext cx="1475259" cy="487211"/>
          </a:xfrm>
          <a:prstGeom prst="round2DiagRect">
            <a:avLst>
              <a:gd name="adj1" fmla="val 20719"/>
              <a:gd name="adj2" fmla="val 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合作品牌</a:t>
            </a:r>
          </a:p>
        </p:txBody>
      </p:sp>
      <p:sp>
        <p:nvSpPr>
          <p:cNvPr id="52" name="等腰三角形 51"/>
          <p:cNvSpPr/>
          <p:nvPr/>
        </p:nvSpPr>
        <p:spPr>
          <a:xfrm rot="5400000">
            <a:off x="2522240"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4" name="矩形: 对角圆角 53"/>
          <p:cNvSpPr/>
          <p:nvPr/>
        </p:nvSpPr>
        <p:spPr>
          <a:xfrm flipH="1">
            <a:off x="3133588" y="4956083"/>
            <a:ext cx="1475259" cy="487211"/>
          </a:xfrm>
          <a:prstGeom prst="round2DiagRect">
            <a:avLst>
              <a:gd name="adj1" fmla="val 20719"/>
              <a:gd name="adj2"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品质控制</a:t>
            </a:r>
          </a:p>
        </p:txBody>
      </p:sp>
      <p:sp>
        <p:nvSpPr>
          <p:cNvPr id="55" name="等腰三角形 54"/>
          <p:cNvSpPr/>
          <p:nvPr/>
        </p:nvSpPr>
        <p:spPr>
          <a:xfrm rot="5400000">
            <a:off x="4709922"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7" name="矩形: 对角圆角 56"/>
          <p:cNvSpPr/>
          <p:nvPr/>
        </p:nvSpPr>
        <p:spPr>
          <a:xfrm flipH="1">
            <a:off x="5321270" y="4956083"/>
            <a:ext cx="1475259" cy="487211"/>
          </a:xfrm>
          <a:prstGeom prst="round2DiagRect">
            <a:avLst>
              <a:gd name="adj1" fmla="val 20719"/>
              <a:gd name="adj2" fmla="val 0"/>
            </a:avLst>
          </a:prstGeom>
          <a:solidFill>
            <a:schemeClr val="accent3">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品牌效应</a:t>
            </a:r>
          </a:p>
        </p:txBody>
      </p:sp>
      <p:sp>
        <p:nvSpPr>
          <p:cNvPr id="58" name="等腰三角形 57"/>
          <p:cNvSpPr/>
          <p:nvPr/>
        </p:nvSpPr>
        <p:spPr>
          <a:xfrm rot="5400000">
            <a:off x="6897604"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0" name="矩形: 对角圆角 59"/>
          <p:cNvSpPr/>
          <p:nvPr/>
        </p:nvSpPr>
        <p:spPr>
          <a:xfrm flipH="1">
            <a:off x="7508952" y="4956083"/>
            <a:ext cx="1475259" cy="487211"/>
          </a:xfrm>
          <a:prstGeom prst="round2DiagRect">
            <a:avLst>
              <a:gd name="adj1" fmla="val 20719"/>
              <a:gd name="adj2"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价值定位</a:t>
            </a:r>
          </a:p>
        </p:txBody>
      </p:sp>
      <p:sp>
        <p:nvSpPr>
          <p:cNvPr id="61" name="等腰三角形 60"/>
          <p:cNvSpPr/>
          <p:nvPr/>
        </p:nvSpPr>
        <p:spPr>
          <a:xfrm rot="5400000">
            <a:off x="9085286"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矩形: 对角圆角 61"/>
          <p:cNvSpPr/>
          <p:nvPr/>
        </p:nvSpPr>
        <p:spPr>
          <a:xfrm flipH="1">
            <a:off x="9696635" y="4956083"/>
            <a:ext cx="1475259" cy="487211"/>
          </a:xfrm>
          <a:prstGeom prst="round2DiagRect">
            <a:avLst>
              <a:gd name="adj1" fmla="val 20719"/>
              <a:gd name="adj2" fmla="val 0"/>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用户画像</a:t>
            </a:r>
          </a:p>
        </p:txBody>
      </p:sp>
      <p:sp>
        <p:nvSpPr>
          <p:cNvPr id="77" name="矩形: 圆角 76"/>
          <p:cNvSpPr/>
          <p:nvPr/>
        </p:nvSpPr>
        <p:spPr>
          <a:xfrm>
            <a:off x="484223" y="5602861"/>
            <a:ext cx="11219728" cy="1064079"/>
          </a:xfrm>
          <a:prstGeom prst="roundRect">
            <a:avLst>
              <a:gd name="adj" fmla="val 0"/>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6" name="矩形: 圆角 85"/>
          <p:cNvSpPr/>
          <p:nvPr/>
        </p:nvSpPr>
        <p:spPr>
          <a:xfrm rot="10800000" flipV="1">
            <a:off x="7154232" y="2587702"/>
            <a:ext cx="262594" cy="1498962"/>
          </a:xfrm>
          <a:prstGeom prst="roundRect">
            <a:avLst>
              <a:gd name="adj" fmla="val 50000"/>
            </a:avLst>
          </a:prstGeom>
          <a:gradFill flip="none" rotWithShape="1">
            <a:gsLst>
              <a:gs pos="30000">
                <a:schemeClr val="accent6">
                  <a:alpha val="0"/>
                </a:schemeClr>
              </a:gs>
              <a:gs pos="100000">
                <a:schemeClr val="accent6"/>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7" name="矩形: 圆角 86"/>
          <p:cNvSpPr/>
          <p:nvPr/>
        </p:nvSpPr>
        <p:spPr>
          <a:xfrm rot="10800000">
            <a:off x="2086181"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8" name="矩形: 圆角 87"/>
          <p:cNvSpPr/>
          <p:nvPr/>
        </p:nvSpPr>
        <p:spPr>
          <a:xfrm rot="10800000">
            <a:off x="5473429"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9" name="矩形: 圆角 88"/>
          <p:cNvSpPr/>
          <p:nvPr/>
        </p:nvSpPr>
        <p:spPr>
          <a:xfrm rot="10800000">
            <a:off x="9185226"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90" name="组合 89"/>
          <p:cNvGrpSpPr/>
          <p:nvPr/>
        </p:nvGrpSpPr>
        <p:grpSpPr>
          <a:xfrm>
            <a:off x="1219200" y="2559447"/>
            <a:ext cx="10745789" cy="442337"/>
            <a:chOff x="-58210" y="3601043"/>
            <a:chExt cx="12023198" cy="442337"/>
          </a:xfrm>
        </p:grpSpPr>
        <p:sp>
          <p:nvSpPr>
            <p:cNvPr id="91" name="箭头: 右 90"/>
            <p:cNvSpPr/>
            <p:nvPr/>
          </p:nvSpPr>
          <p:spPr>
            <a:xfrm>
              <a:off x="202783" y="3702674"/>
              <a:ext cx="11762205" cy="243941"/>
            </a:xfrm>
            <a:prstGeom prst="rightArrow">
              <a:avLst>
                <a:gd name="adj1" fmla="val 50000"/>
                <a:gd name="adj2" fmla="val 12919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2" name="任意多边形: 形状 91"/>
            <p:cNvSpPr/>
            <p:nvPr/>
          </p:nvSpPr>
          <p:spPr>
            <a:xfrm>
              <a:off x="-58210" y="3601043"/>
              <a:ext cx="11620205" cy="182956"/>
            </a:xfrm>
            <a:custGeom>
              <a:avLst/>
              <a:gdLst>
                <a:gd name="connsiteX0" fmla="*/ 11422823 w 11620205"/>
                <a:gd name="connsiteY0" fmla="*/ 0 h 182956"/>
                <a:gd name="connsiteX1" fmla="*/ 11620205 w 11620205"/>
                <a:gd name="connsiteY1" fmla="*/ 76391 h 182956"/>
                <a:gd name="connsiteX2" fmla="*/ 11620205 w 11620205"/>
                <a:gd name="connsiteY2" fmla="*/ 137218 h 182956"/>
                <a:gd name="connsiteX3" fmla="*/ 197382 w 11620205"/>
                <a:gd name="connsiteY3" fmla="*/ 137218 h 182956"/>
                <a:gd name="connsiteX4" fmla="*/ 197382 w 11620205"/>
                <a:gd name="connsiteY4" fmla="*/ 182956 h 182956"/>
                <a:gd name="connsiteX5" fmla="*/ 0 w 11620205"/>
                <a:gd name="connsiteY5" fmla="*/ 182956 h 182956"/>
                <a:gd name="connsiteX6" fmla="*/ 0 w 11620205"/>
                <a:gd name="connsiteY6" fmla="*/ 60985 h 182956"/>
                <a:gd name="connsiteX7" fmla="*/ 11422823 w 11620205"/>
                <a:gd name="connsiteY7" fmla="*/ 60985 h 18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0205" h="182956">
                  <a:moveTo>
                    <a:pt x="11422823" y="0"/>
                  </a:moveTo>
                  <a:lnTo>
                    <a:pt x="11620205" y="76391"/>
                  </a:lnTo>
                  <a:lnTo>
                    <a:pt x="11620205" y="137218"/>
                  </a:lnTo>
                  <a:lnTo>
                    <a:pt x="197382" y="137218"/>
                  </a:lnTo>
                  <a:lnTo>
                    <a:pt x="197382" y="182956"/>
                  </a:lnTo>
                  <a:lnTo>
                    <a:pt x="0" y="182956"/>
                  </a:lnTo>
                  <a:lnTo>
                    <a:pt x="0" y="60985"/>
                  </a:lnTo>
                  <a:lnTo>
                    <a:pt x="11422823" y="609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3" name="任意多边形: 形状 92"/>
            <p:cNvSpPr/>
            <p:nvPr/>
          </p:nvSpPr>
          <p:spPr>
            <a:xfrm flipV="1">
              <a:off x="-58210" y="3860424"/>
              <a:ext cx="11620205" cy="182956"/>
            </a:xfrm>
            <a:custGeom>
              <a:avLst/>
              <a:gdLst>
                <a:gd name="connsiteX0" fmla="*/ 11422823 w 11620205"/>
                <a:gd name="connsiteY0" fmla="*/ 0 h 182956"/>
                <a:gd name="connsiteX1" fmla="*/ 11620205 w 11620205"/>
                <a:gd name="connsiteY1" fmla="*/ 76391 h 182956"/>
                <a:gd name="connsiteX2" fmla="*/ 11620205 w 11620205"/>
                <a:gd name="connsiteY2" fmla="*/ 137218 h 182956"/>
                <a:gd name="connsiteX3" fmla="*/ 197382 w 11620205"/>
                <a:gd name="connsiteY3" fmla="*/ 137218 h 182956"/>
                <a:gd name="connsiteX4" fmla="*/ 197382 w 11620205"/>
                <a:gd name="connsiteY4" fmla="*/ 182956 h 182956"/>
                <a:gd name="connsiteX5" fmla="*/ 0 w 11620205"/>
                <a:gd name="connsiteY5" fmla="*/ 182956 h 182956"/>
                <a:gd name="connsiteX6" fmla="*/ 0 w 11620205"/>
                <a:gd name="connsiteY6" fmla="*/ 60985 h 182956"/>
                <a:gd name="connsiteX7" fmla="*/ 11422823 w 11620205"/>
                <a:gd name="connsiteY7" fmla="*/ 60985 h 18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0205" h="182956">
                  <a:moveTo>
                    <a:pt x="11422823" y="0"/>
                  </a:moveTo>
                  <a:lnTo>
                    <a:pt x="11620205" y="76391"/>
                  </a:lnTo>
                  <a:lnTo>
                    <a:pt x="11620205" y="137218"/>
                  </a:lnTo>
                  <a:lnTo>
                    <a:pt x="197382" y="137218"/>
                  </a:lnTo>
                  <a:lnTo>
                    <a:pt x="197382" y="182956"/>
                  </a:lnTo>
                  <a:lnTo>
                    <a:pt x="0" y="182956"/>
                  </a:lnTo>
                  <a:lnTo>
                    <a:pt x="0" y="60985"/>
                  </a:lnTo>
                  <a:lnTo>
                    <a:pt x="11422823" y="609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94" name="任意多边形: 形状 93"/>
          <p:cNvSpPr/>
          <p:nvPr/>
        </p:nvSpPr>
        <p:spPr>
          <a:xfrm>
            <a:off x="2218403"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5" name="任意多边形: 形状 94"/>
          <p:cNvSpPr/>
          <p:nvPr/>
        </p:nvSpPr>
        <p:spPr>
          <a:xfrm>
            <a:off x="5599987"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6" name="任意多边形: 形状 95"/>
          <p:cNvSpPr/>
          <p:nvPr/>
        </p:nvSpPr>
        <p:spPr>
          <a:xfrm>
            <a:off x="9321638"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7" name="椭圆 96"/>
          <p:cNvSpPr/>
          <p:nvPr/>
        </p:nvSpPr>
        <p:spPr>
          <a:xfrm>
            <a:off x="1785522" y="2385299"/>
            <a:ext cx="790637" cy="790637"/>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8" name="文本框 97"/>
          <p:cNvSpPr txBox="1"/>
          <p:nvPr/>
        </p:nvSpPr>
        <p:spPr>
          <a:xfrm>
            <a:off x="1683733" y="2554018"/>
            <a:ext cx="994214" cy="461665"/>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9" name="椭圆 98"/>
          <p:cNvSpPr/>
          <p:nvPr/>
        </p:nvSpPr>
        <p:spPr>
          <a:xfrm>
            <a:off x="5118003" y="2295019"/>
            <a:ext cx="971197" cy="971197"/>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0" name="文本框 99"/>
          <p:cNvSpPr txBox="1"/>
          <p:nvPr/>
        </p:nvSpPr>
        <p:spPr>
          <a:xfrm>
            <a:off x="4992968" y="2548568"/>
            <a:ext cx="1221266" cy="461665"/>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a:t>
            </a: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1" name="图形 23"/>
          <p:cNvSpPr/>
          <p:nvPr/>
        </p:nvSpPr>
        <p:spPr>
          <a:xfrm flipH="1">
            <a:off x="0" y="2402218"/>
            <a:ext cx="1219200" cy="944833"/>
          </a:xfrm>
          <a:custGeom>
            <a:avLst/>
            <a:gdLst>
              <a:gd name="connsiteX0" fmla="*/ 1028719 w 1219200"/>
              <a:gd name="connsiteY0" fmla="*/ 836520 h 944833"/>
              <a:gd name="connsiteX1" fmla="*/ 1219200 w 1219200"/>
              <a:gd name="connsiteY1" fmla="*/ 836520 h 944833"/>
              <a:gd name="connsiteX2" fmla="*/ 1219200 w 1219200"/>
              <a:gd name="connsiteY2" fmla="*/ 393255 h 944833"/>
              <a:gd name="connsiteX3" fmla="*/ 1028719 w 1219200"/>
              <a:gd name="connsiteY3" fmla="*/ 393255 h 944833"/>
              <a:gd name="connsiteX4" fmla="*/ 1028719 w 1219200"/>
              <a:gd name="connsiteY4" fmla="*/ 393112 h 944833"/>
              <a:gd name="connsiteX5" fmla="*/ 659759 w 1219200"/>
              <a:gd name="connsiteY5" fmla="*/ 24864 h 944833"/>
              <a:gd name="connsiteX6" fmla="*/ 656468 w 1219200"/>
              <a:gd name="connsiteY6" fmla="*/ 21863 h 944833"/>
              <a:gd name="connsiteX7" fmla="*/ 653182 w 1219200"/>
              <a:gd name="connsiteY7" fmla="*/ 18862 h 944833"/>
              <a:gd name="connsiteX8" fmla="*/ 649753 w 1219200"/>
              <a:gd name="connsiteY8" fmla="*/ 16290 h 944833"/>
              <a:gd name="connsiteX9" fmla="*/ 646467 w 1219200"/>
              <a:gd name="connsiteY9" fmla="*/ 13718 h 944833"/>
              <a:gd name="connsiteX10" fmla="*/ 642609 w 1219200"/>
              <a:gd name="connsiteY10" fmla="*/ 11718 h 944833"/>
              <a:gd name="connsiteX11" fmla="*/ 639037 w 1219200"/>
              <a:gd name="connsiteY11" fmla="*/ 9574 h 944833"/>
              <a:gd name="connsiteX12" fmla="*/ 635322 w 1219200"/>
              <a:gd name="connsiteY12" fmla="*/ 7716 h 944833"/>
              <a:gd name="connsiteX13" fmla="*/ 631750 w 1219200"/>
              <a:gd name="connsiteY13" fmla="*/ 6145 h 944833"/>
              <a:gd name="connsiteX14" fmla="*/ 627750 w 1219200"/>
              <a:gd name="connsiteY14" fmla="*/ 4572 h 944833"/>
              <a:gd name="connsiteX15" fmla="*/ 624035 w 1219200"/>
              <a:gd name="connsiteY15" fmla="*/ 3429 h 944833"/>
              <a:gd name="connsiteX16" fmla="*/ 620030 w 1219200"/>
              <a:gd name="connsiteY16" fmla="*/ 2286 h 944833"/>
              <a:gd name="connsiteX17" fmla="*/ 615887 w 1219200"/>
              <a:gd name="connsiteY17" fmla="*/ 1429 h 944833"/>
              <a:gd name="connsiteX18" fmla="*/ 611886 w 1219200"/>
              <a:gd name="connsiteY18" fmla="*/ 714 h 944833"/>
              <a:gd name="connsiteX19" fmla="*/ 608028 w 1219200"/>
              <a:gd name="connsiteY19" fmla="*/ 286 h 944833"/>
              <a:gd name="connsiteX20" fmla="*/ 604023 w 1219200"/>
              <a:gd name="connsiteY20" fmla="*/ 0 h 944833"/>
              <a:gd name="connsiteX21" fmla="*/ 599885 w 1219200"/>
              <a:gd name="connsiteY21" fmla="*/ 0 h 944833"/>
              <a:gd name="connsiteX22" fmla="*/ 595741 w 1219200"/>
              <a:gd name="connsiteY22" fmla="*/ 0 h 944833"/>
              <a:gd name="connsiteX23" fmla="*/ 591879 w 1219200"/>
              <a:gd name="connsiteY23" fmla="*/ 286 h 944833"/>
              <a:gd name="connsiteX24" fmla="*/ 587735 w 1219200"/>
              <a:gd name="connsiteY24" fmla="*/ 714 h 944833"/>
              <a:gd name="connsiteX25" fmla="*/ 583878 w 1219200"/>
              <a:gd name="connsiteY25" fmla="*/ 1429 h 944833"/>
              <a:gd name="connsiteX26" fmla="*/ 579877 w 1219200"/>
              <a:gd name="connsiteY26" fmla="*/ 2286 h 944833"/>
              <a:gd name="connsiteX27" fmla="*/ 575877 w 1219200"/>
              <a:gd name="connsiteY27" fmla="*/ 3429 h 944833"/>
              <a:gd name="connsiteX28" fmla="*/ 571876 w 1219200"/>
              <a:gd name="connsiteY28" fmla="*/ 4572 h 944833"/>
              <a:gd name="connsiteX29" fmla="*/ 568162 w 1219200"/>
              <a:gd name="connsiteY29" fmla="*/ 6145 h 944833"/>
              <a:gd name="connsiteX30" fmla="*/ 564447 w 1219200"/>
              <a:gd name="connsiteY30" fmla="*/ 7716 h 944833"/>
              <a:gd name="connsiteX31" fmla="*/ 560870 w 1219200"/>
              <a:gd name="connsiteY31" fmla="*/ 9574 h 944833"/>
              <a:gd name="connsiteX32" fmla="*/ 557013 w 1219200"/>
              <a:gd name="connsiteY32" fmla="*/ 11718 h 944833"/>
              <a:gd name="connsiteX33" fmla="*/ 553441 w 1219200"/>
              <a:gd name="connsiteY33" fmla="*/ 13718 h 944833"/>
              <a:gd name="connsiteX34" fmla="*/ 549869 w 1219200"/>
              <a:gd name="connsiteY34" fmla="*/ 16290 h 944833"/>
              <a:gd name="connsiteX35" fmla="*/ 546583 w 1219200"/>
              <a:gd name="connsiteY35" fmla="*/ 18862 h 944833"/>
              <a:gd name="connsiteX36" fmla="*/ 543439 w 1219200"/>
              <a:gd name="connsiteY36" fmla="*/ 21863 h 944833"/>
              <a:gd name="connsiteX37" fmla="*/ 540153 w 1219200"/>
              <a:gd name="connsiteY37" fmla="*/ 24864 h 944833"/>
              <a:gd name="connsiteX38" fmla="*/ 537296 w 1219200"/>
              <a:gd name="connsiteY38" fmla="*/ 27722 h 944833"/>
              <a:gd name="connsiteX39" fmla="*/ 534438 w 1219200"/>
              <a:gd name="connsiteY39" fmla="*/ 31152 h 944833"/>
              <a:gd name="connsiteX40" fmla="*/ 531862 w 1219200"/>
              <a:gd name="connsiteY40" fmla="*/ 34295 h 944833"/>
              <a:gd name="connsiteX41" fmla="*/ 529290 w 1219200"/>
              <a:gd name="connsiteY41" fmla="*/ 37725 h 944833"/>
              <a:gd name="connsiteX42" fmla="*/ 527290 w 1219200"/>
              <a:gd name="connsiteY42" fmla="*/ 41440 h 944833"/>
              <a:gd name="connsiteX43" fmla="*/ 525289 w 1219200"/>
              <a:gd name="connsiteY43" fmla="*/ 45013 h 944833"/>
              <a:gd name="connsiteX44" fmla="*/ 523432 w 1219200"/>
              <a:gd name="connsiteY44" fmla="*/ 48728 h 944833"/>
              <a:gd name="connsiteX45" fmla="*/ 521718 w 1219200"/>
              <a:gd name="connsiteY45" fmla="*/ 52729 h 944833"/>
              <a:gd name="connsiteX46" fmla="*/ 520146 w 1219200"/>
              <a:gd name="connsiteY46" fmla="*/ 56302 h 944833"/>
              <a:gd name="connsiteX47" fmla="*/ 519003 w 1219200"/>
              <a:gd name="connsiteY47" fmla="*/ 60159 h 944833"/>
              <a:gd name="connsiteX48" fmla="*/ 518003 w 1219200"/>
              <a:gd name="connsiteY48" fmla="*/ 64161 h 944833"/>
              <a:gd name="connsiteX49" fmla="*/ 517003 w 1219200"/>
              <a:gd name="connsiteY49" fmla="*/ 68162 h 944833"/>
              <a:gd name="connsiteX50" fmla="*/ 516431 w 1219200"/>
              <a:gd name="connsiteY50" fmla="*/ 72163 h 944833"/>
              <a:gd name="connsiteX51" fmla="*/ 515860 w 1219200"/>
              <a:gd name="connsiteY51" fmla="*/ 76307 h 944833"/>
              <a:gd name="connsiteX52" fmla="*/ 515717 w 1219200"/>
              <a:gd name="connsiteY52" fmla="*/ 80022 h 944833"/>
              <a:gd name="connsiteX53" fmla="*/ 515717 w 1219200"/>
              <a:gd name="connsiteY53" fmla="*/ 84166 h 944833"/>
              <a:gd name="connsiteX54" fmla="*/ 515717 w 1219200"/>
              <a:gd name="connsiteY54" fmla="*/ 88311 h 944833"/>
              <a:gd name="connsiteX55" fmla="*/ 515860 w 1219200"/>
              <a:gd name="connsiteY55" fmla="*/ 92026 h 944833"/>
              <a:gd name="connsiteX56" fmla="*/ 516431 w 1219200"/>
              <a:gd name="connsiteY56" fmla="*/ 96170 h 944833"/>
              <a:gd name="connsiteX57" fmla="*/ 517003 w 1219200"/>
              <a:gd name="connsiteY57" fmla="*/ 100171 h 944833"/>
              <a:gd name="connsiteX58" fmla="*/ 518003 w 1219200"/>
              <a:gd name="connsiteY58" fmla="*/ 104315 h 944833"/>
              <a:gd name="connsiteX59" fmla="*/ 519003 w 1219200"/>
              <a:gd name="connsiteY59" fmla="*/ 108173 h 944833"/>
              <a:gd name="connsiteX60" fmla="*/ 520146 w 1219200"/>
              <a:gd name="connsiteY60" fmla="*/ 112031 h 944833"/>
              <a:gd name="connsiteX61" fmla="*/ 521718 w 1219200"/>
              <a:gd name="connsiteY61" fmla="*/ 116033 h 944833"/>
              <a:gd name="connsiteX62" fmla="*/ 523432 w 1219200"/>
              <a:gd name="connsiteY62" fmla="*/ 119605 h 944833"/>
              <a:gd name="connsiteX63" fmla="*/ 525289 w 1219200"/>
              <a:gd name="connsiteY63" fmla="*/ 123320 h 944833"/>
              <a:gd name="connsiteX64" fmla="*/ 527290 w 1219200"/>
              <a:gd name="connsiteY64" fmla="*/ 126893 h 944833"/>
              <a:gd name="connsiteX65" fmla="*/ 529290 w 1219200"/>
              <a:gd name="connsiteY65" fmla="*/ 130465 h 944833"/>
              <a:gd name="connsiteX66" fmla="*/ 531862 w 1219200"/>
              <a:gd name="connsiteY66" fmla="*/ 134038 h 944833"/>
              <a:gd name="connsiteX67" fmla="*/ 534438 w 1219200"/>
              <a:gd name="connsiteY67" fmla="*/ 137181 h 944833"/>
              <a:gd name="connsiteX68" fmla="*/ 537296 w 1219200"/>
              <a:gd name="connsiteY68" fmla="*/ 140611 h 944833"/>
              <a:gd name="connsiteX69" fmla="*/ 540153 w 1219200"/>
              <a:gd name="connsiteY69" fmla="*/ 143468 h 944833"/>
              <a:gd name="connsiteX70" fmla="*/ 691196 w 1219200"/>
              <a:gd name="connsiteY70" fmla="*/ 294654 h 944833"/>
              <a:gd name="connsiteX71" fmla="*/ 84309 w 1219200"/>
              <a:gd name="connsiteY71" fmla="*/ 294654 h 944833"/>
              <a:gd name="connsiteX72" fmla="*/ 79880 w 1219200"/>
              <a:gd name="connsiteY72" fmla="*/ 294654 h 944833"/>
              <a:gd name="connsiteX73" fmla="*/ 75593 w 1219200"/>
              <a:gd name="connsiteY73" fmla="*/ 295083 h 944833"/>
              <a:gd name="connsiteX74" fmla="*/ 71448 w 1219200"/>
              <a:gd name="connsiteY74" fmla="*/ 295654 h 944833"/>
              <a:gd name="connsiteX75" fmla="*/ 67305 w 1219200"/>
              <a:gd name="connsiteY75" fmla="*/ 296226 h 944833"/>
              <a:gd name="connsiteX76" fmla="*/ 63018 w 1219200"/>
              <a:gd name="connsiteY76" fmla="*/ 297226 h 944833"/>
              <a:gd name="connsiteX77" fmla="*/ 59160 w 1219200"/>
              <a:gd name="connsiteY77" fmla="*/ 298226 h 944833"/>
              <a:gd name="connsiteX78" fmla="*/ 55158 w 1219200"/>
              <a:gd name="connsiteY78" fmla="*/ 299656 h 944833"/>
              <a:gd name="connsiteX79" fmla="*/ 51157 w 1219200"/>
              <a:gd name="connsiteY79" fmla="*/ 301227 h 944833"/>
              <a:gd name="connsiteX80" fmla="*/ 47585 w 1219200"/>
              <a:gd name="connsiteY80" fmla="*/ 302799 h 944833"/>
              <a:gd name="connsiteX81" fmla="*/ 43869 w 1219200"/>
              <a:gd name="connsiteY81" fmla="*/ 304800 h 944833"/>
              <a:gd name="connsiteX82" fmla="*/ 40440 w 1219200"/>
              <a:gd name="connsiteY82" fmla="*/ 306800 h 944833"/>
              <a:gd name="connsiteX83" fmla="*/ 37153 w 1219200"/>
              <a:gd name="connsiteY83" fmla="*/ 309087 h 944833"/>
              <a:gd name="connsiteX84" fmla="*/ 33581 w 1219200"/>
              <a:gd name="connsiteY84" fmla="*/ 311373 h 944833"/>
              <a:gd name="connsiteX85" fmla="*/ 30580 w 1219200"/>
              <a:gd name="connsiteY85" fmla="*/ 313945 h 944833"/>
              <a:gd name="connsiteX86" fmla="*/ 27436 w 1219200"/>
              <a:gd name="connsiteY86" fmla="*/ 316660 h 944833"/>
              <a:gd name="connsiteX87" fmla="*/ 24435 w 1219200"/>
              <a:gd name="connsiteY87" fmla="*/ 319375 h 944833"/>
              <a:gd name="connsiteX88" fmla="*/ 21720 w 1219200"/>
              <a:gd name="connsiteY88" fmla="*/ 322376 h 944833"/>
              <a:gd name="connsiteX89" fmla="*/ 19291 w 1219200"/>
              <a:gd name="connsiteY89" fmla="*/ 325377 h 944833"/>
              <a:gd name="connsiteX90" fmla="*/ 16719 w 1219200"/>
              <a:gd name="connsiteY90" fmla="*/ 328521 h 944833"/>
              <a:gd name="connsiteX91" fmla="*/ 14147 w 1219200"/>
              <a:gd name="connsiteY91" fmla="*/ 331664 h 944833"/>
              <a:gd name="connsiteX92" fmla="*/ 12146 w 1219200"/>
              <a:gd name="connsiteY92" fmla="*/ 335094 h 944833"/>
              <a:gd name="connsiteX93" fmla="*/ 10003 w 1219200"/>
              <a:gd name="connsiteY93" fmla="*/ 338810 h 944833"/>
              <a:gd name="connsiteX94" fmla="*/ 8145 w 1219200"/>
              <a:gd name="connsiteY94" fmla="*/ 342382 h 944833"/>
              <a:gd name="connsiteX95" fmla="*/ 6430 w 1219200"/>
              <a:gd name="connsiteY95" fmla="*/ 346097 h 944833"/>
              <a:gd name="connsiteX96" fmla="*/ 5001 w 1219200"/>
              <a:gd name="connsiteY96" fmla="*/ 349955 h 944833"/>
              <a:gd name="connsiteX97" fmla="*/ 3572 w 1219200"/>
              <a:gd name="connsiteY97" fmla="*/ 353812 h 944833"/>
              <a:gd name="connsiteX98" fmla="*/ 2429 w 1219200"/>
              <a:gd name="connsiteY98" fmla="*/ 357813 h 944833"/>
              <a:gd name="connsiteX99" fmla="*/ 1715 w 1219200"/>
              <a:gd name="connsiteY99" fmla="*/ 361956 h 944833"/>
              <a:gd name="connsiteX100" fmla="*/ 857 w 1219200"/>
              <a:gd name="connsiteY100" fmla="*/ 365957 h 944833"/>
              <a:gd name="connsiteX101" fmla="*/ 286 w 1219200"/>
              <a:gd name="connsiteY101" fmla="*/ 370248 h 944833"/>
              <a:gd name="connsiteX102" fmla="*/ 0 w 1219200"/>
              <a:gd name="connsiteY102" fmla="*/ 374391 h 944833"/>
              <a:gd name="connsiteX103" fmla="*/ 0 w 1219200"/>
              <a:gd name="connsiteY103" fmla="*/ 378820 h 944833"/>
              <a:gd name="connsiteX104" fmla="*/ 0 w 1219200"/>
              <a:gd name="connsiteY104" fmla="*/ 383106 h 944833"/>
              <a:gd name="connsiteX105" fmla="*/ 286 w 1219200"/>
              <a:gd name="connsiteY105" fmla="*/ 387540 h 944833"/>
              <a:gd name="connsiteX106" fmla="*/ 857 w 1219200"/>
              <a:gd name="connsiteY106" fmla="*/ 391679 h 944833"/>
              <a:gd name="connsiteX107" fmla="*/ 1715 w 1219200"/>
              <a:gd name="connsiteY107" fmla="*/ 395965 h 944833"/>
              <a:gd name="connsiteX108" fmla="*/ 2429 w 1219200"/>
              <a:gd name="connsiteY108" fmla="*/ 399828 h 944833"/>
              <a:gd name="connsiteX109" fmla="*/ 3572 w 1219200"/>
              <a:gd name="connsiteY109" fmla="*/ 403971 h 944833"/>
              <a:gd name="connsiteX110" fmla="*/ 5001 w 1219200"/>
              <a:gd name="connsiteY110" fmla="*/ 407829 h 944833"/>
              <a:gd name="connsiteX111" fmla="*/ 6430 w 1219200"/>
              <a:gd name="connsiteY111" fmla="*/ 411686 h 944833"/>
              <a:gd name="connsiteX112" fmla="*/ 8145 w 1219200"/>
              <a:gd name="connsiteY112" fmla="*/ 415401 h 944833"/>
              <a:gd name="connsiteX113" fmla="*/ 10003 w 1219200"/>
              <a:gd name="connsiteY113" fmla="*/ 418978 h 944833"/>
              <a:gd name="connsiteX114" fmla="*/ 12146 w 1219200"/>
              <a:gd name="connsiteY114" fmla="*/ 422549 h 944833"/>
              <a:gd name="connsiteX115" fmla="*/ 14147 w 1219200"/>
              <a:gd name="connsiteY115" fmla="*/ 425831 h 944833"/>
              <a:gd name="connsiteX116" fmla="*/ 16719 w 1219200"/>
              <a:gd name="connsiteY116" fmla="*/ 429260 h 944833"/>
              <a:gd name="connsiteX117" fmla="*/ 19291 w 1219200"/>
              <a:gd name="connsiteY117" fmla="*/ 432408 h 944833"/>
              <a:gd name="connsiteX118" fmla="*/ 21720 w 1219200"/>
              <a:gd name="connsiteY118" fmla="*/ 435551 h 944833"/>
              <a:gd name="connsiteX119" fmla="*/ 24435 w 1219200"/>
              <a:gd name="connsiteY119" fmla="*/ 438551 h 944833"/>
              <a:gd name="connsiteX120" fmla="*/ 27436 w 1219200"/>
              <a:gd name="connsiteY120" fmla="*/ 441123 h 944833"/>
              <a:gd name="connsiteX121" fmla="*/ 30580 w 1219200"/>
              <a:gd name="connsiteY121" fmla="*/ 443700 h 944833"/>
              <a:gd name="connsiteX122" fmla="*/ 33581 w 1219200"/>
              <a:gd name="connsiteY122" fmla="*/ 446267 h 944833"/>
              <a:gd name="connsiteX123" fmla="*/ 37153 w 1219200"/>
              <a:gd name="connsiteY123" fmla="*/ 448839 h 944833"/>
              <a:gd name="connsiteX124" fmla="*/ 40440 w 1219200"/>
              <a:gd name="connsiteY124" fmla="*/ 450844 h 944833"/>
              <a:gd name="connsiteX125" fmla="*/ 43869 w 1219200"/>
              <a:gd name="connsiteY125" fmla="*/ 452844 h 944833"/>
              <a:gd name="connsiteX126" fmla="*/ 47585 w 1219200"/>
              <a:gd name="connsiteY126" fmla="*/ 454844 h 944833"/>
              <a:gd name="connsiteX127" fmla="*/ 51157 w 1219200"/>
              <a:gd name="connsiteY127" fmla="*/ 456558 h 944833"/>
              <a:gd name="connsiteX128" fmla="*/ 55158 w 1219200"/>
              <a:gd name="connsiteY128" fmla="*/ 457987 h 944833"/>
              <a:gd name="connsiteX129" fmla="*/ 59160 w 1219200"/>
              <a:gd name="connsiteY129" fmla="*/ 459268 h 944833"/>
              <a:gd name="connsiteX130" fmla="*/ 63018 w 1219200"/>
              <a:gd name="connsiteY130" fmla="*/ 460273 h 944833"/>
              <a:gd name="connsiteX131" fmla="*/ 67305 w 1219200"/>
              <a:gd name="connsiteY131" fmla="*/ 461269 h 944833"/>
              <a:gd name="connsiteX132" fmla="*/ 71448 w 1219200"/>
              <a:gd name="connsiteY132" fmla="*/ 462131 h 944833"/>
              <a:gd name="connsiteX133" fmla="*/ 75593 w 1219200"/>
              <a:gd name="connsiteY133" fmla="*/ 462702 h 944833"/>
              <a:gd name="connsiteX134" fmla="*/ 79880 w 1219200"/>
              <a:gd name="connsiteY134" fmla="*/ 462845 h 944833"/>
              <a:gd name="connsiteX135" fmla="*/ 84309 w 1219200"/>
              <a:gd name="connsiteY135" fmla="*/ 462845 h 944833"/>
              <a:gd name="connsiteX136" fmla="*/ 335094 w 1219200"/>
              <a:gd name="connsiteY136" fmla="*/ 462845 h 944833"/>
              <a:gd name="connsiteX137" fmla="*/ 335094 w 1219200"/>
              <a:gd name="connsiteY137" fmla="*/ 860671 h 944833"/>
              <a:gd name="connsiteX138" fmla="*/ 335094 w 1219200"/>
              <a:gd name="connsiteY138" fmla="*/ 864957 h 944833"/>
              <a:gd name="connsiteX139" fmla="*/ 335522 w 1219200"/>
              <a:gd name="connsiteY139" fmla="*/ 869386 h 944833"/>
              <a:gd name="connsiteX140" fmla="*/ 335952 w 1219200"/>
              <a:gd name="connsiteY140" fmla="*/ 873530 h 944833"/>
              <a:gd name="connsiteX141" fmla="*/ 336666 w 1219200"/>
              <a:gd name="connsiteY141" fmla="*/ 877673 h 944833"/>
              <a:gd name="connsiteX142" fmla="*/ 337524 w 1219200"/>
              <a:gd name="connsiteY142" fmla="*/ 881535 h 944833"/>
              <a:gd name="connsiteX143" fmla="*/ 338667 w 1219200"/>
              <a:gd name="connsiteY143" fmla="*/ 885679 h 944833"/>
              <a:gd name="connsiteX144" fmla="*/ 340095 w 1219200"/>
              <a:gd name="connsiteY144" fmla="*/ 889679 h 944833"/>
              <a:gd name="connsiteX145" fmla="*/ 341667 w 1219200"/>
              <a:gd name="connsiteY145" fmla="*/ 893680 h 944833"/>
              <a:gd name="connsiteX146" fmla="*/ 343239 w 1219200"/>
              <a:gd name="connsiteY146" fmla="*/ 897252 h 944833"/>
              <a:gd name="connsiteX147" fmla="*/ 345240 w 1219200"/>
              <a:gd name="connsiteY147" fmla="*/ 900966 h 944833"/>
              <a:gd name="connsiteX148" fmla="*/ 347241 w 1219200"/>
              <a:gd name="connsiteY148" fmla="*/ 904395 h 944833"/>
              <a:gd name="connsiteX149" fmla="*/ 349669 w 1219200"/>
              <a:gd name="connsiteY149" fmla="*/ 907682 h 944833"/>
              <a:gd name="connsiteX150" fmla="*/ 351813 w 1219200"/>
              <a:gd name="connsiteY150" fmla="*/ 911111 h 944833"/>
              <a:gd name="connsiteX151" fmla="*/ 354385 w 1219200"/>
              <a:gd name="connsiteY151" fmla="*/ 914397 h 944833"/>
              <a:gd name="connsiteX152" fmla="*/ 356671 w 1219200"/>
              <a:gd name="connsiteY152" fmla="*/ 917402 h 944833"/>
              <a:gd name="connsiteX153" fmla="*/ 359958 w 1219200"/>
              <a:gd name="connsiteY153" fmla="*/ 920402 h 944833"/>
              <a:gd name="connsiteX154" fmla="*/ 362532 w 1219200"/>
              <a:gd name="connsiteY154" fmla="*/ 923117 h 944833"/>
              <a:gd name="connsiteX155" fmla="*/ 365816 w 1219200"/>
              <a:gd name="connsiteY155" fmla="*/ 925689 h 944833"/>
              <a:gd name="connsiteX156" fmla="*/ 368960 w 1219200"/>
              <a:gd name="connsiteY156" fmla="*/ 928260 h 944833"/>
              <a:gd name="connsiteX157" fmla="*/ 372247 w 1219200"/>
              <a:gd name="connsiteY157" fmla="*/ 930689 h 944833"/>
              <a:gd name="connsiteX158" fmla="*/ 375534 w 1219200"/>
              <a:gd name="connsiteY158" fmla="*/ 932832 h 944833"/>
              <a:gd name="connsiteX159" fmla="*/ 379249 w 1219200"/>
              <a:gd name="connsiteY159" fmla="*/ 934552 h 944833"/>
              <a:gd name="connsiteX160" fmla="*/ 382679 w 1219200"/>
              <a:gd name="connsiteY160" fmla="*/ 936833 h 944833"/>
              <a:gd name="connsiteX161" fmla="*/ 386679 w 1219200"/>
              <a:gd name="connsiteY161" fmla="*/ 938409 h 944833"/>
              <a:gd name="connsiteX162" fmla="*/ 390252 w 1219200"/>
              <a:gd name="connsiteY162" fmla="*/ 939981 h 944833"/>
              <a:gd name="connsiteX163" fmla="*/ 394398 w 1219200"/>
              <a:gd name="connsiteY163" fmla="*/ 941119 h 944833"/>
              <a:gd name="connsiteX164" fmla="*/ 398398 w 1219200"/>
              <a:gd name="connsiteY164" fmla="*/ 942267 h 944833"/>
              <a:gd name="connsiteX165" fmla="*/ 402256 w 1219200"/>
              <a:gd name="connsiteY165" fmla="*/ 943119 h 944833"/>
              <a:gd name="connsiteX166" fmla="*/ 406398 w 1219200"/>
              <a:gd name="connsiteY166" fmla="*/ 944124 h 944833"/>
              <a:gd name="connsiteX167" fmla="*/ 410688 w 1219200"/>
              <a:gd name="connsiteY167" fmla="*/ 944548 h 944833"/>
              <a:gd name="connsiteX168" fmla="*/ 414973 w 1219200"/>
              <a:gd name="connsiteY168" fmla="*/ 944691 h 944833"/>
              <a:gd name="connsiteX169" fmla="*/ 419404 w 1219200"/>
              <a:gd name="connsiteY169" fmla="*/ 944834 h 944833"/>
              <a:gd name="connsiteX170" fmla="*/ 921258 w 1219200"/>
              <a:gd name="connsiteY170" fmla="*/ 944834 h 944833"/>
              <a:gd name="connsiteX171" fmla="*/ 1028719 w 1219200"/>
              <a:gd name="connsiteY171" fmla="*/ 836520 h 944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219200" h="944833">
                <a:moveTo>
                  <a:pt x="1028719" y="836520"/>
                </a:moveTo>
                <a:lnTo>
                  <a:pt x="1219200" y="836520"/>
                </a:lnTo>
                <a:lnTo>
                  <a:pt x="1219200" y="393255"/>
                </a:lnTo>
                <a:lnTo>
                  <a:pt x="1028719" y="393255"/>
                </a:lnTo>
                <a:lnTo>
                  <a:pt x="1028719" y="393112"/>
                </a:lnTo>
                <a:lnTo>
                  <a:pt x="659759" y="24864"/>
                </a:lnTo>
                <a:lnTo>
                  <a:pt x="656468" y="21863"/>
                </a:lnTo>
                <a:lnTo>
                  <a:pt x="653182" y="18862"/>
                </a:lnTo>
                <a:lnTo>
                  <a:pt x="649753" y="16290"/>
                </a:lnTo>
                <a:lnTo>
                  <a:pt x="646467" y="13718"/>
                </a:lnTo>
                <a:lnTo>
                  <a:pt x="642609" y="11718"/>
                </a:lnTo>
                <a:lnTo>
                  <a:pt x="639037" y="9574"/>
                </a:lnTo>
                <a:lnTo>
                  <a:pt x="635322" y="7716"/>
                </a:lnTo>
                <a:lnTo>
                  <a:pt x="631750" y="6145"/>
                </a:lnTo>
                <a:lnTo>
                  <a:pt x="627750" y="4572"/>
                </a:lnTo>
                <a:lnTo>
                  <a:pt x="624035" y="3429"/>
                </a:lnTo>
                <a:lnTo>
                  <a:pt x="620030" y="2286"/>
                </a:lnTo>
                <a:lnTo>
                  <a:pt x="615887" y="1429"/>
                </a:lnTo>
                <a:lnTo>
                  <a:pt x="611886" y="714"/>
                </a:lnTo>
                <a:lnTo>
                  <a:pt x="608028" y="286"/>
                </a:lnTo>
                <a:lnTo>
                  <a:pt x="604023" y="0"/>
                </a:lnTo>
                <a:lnTo>
                  <a:pt x="599885" y="0"/>
                </a:lnTo>
                <a:lnTo>
                  <a:pt x="595741" y="0"/>
                </a:lnTo>
                <a:lnTo>
                  <a:pt x="591879" y="286"/>
                </a:lnTo>
                <a:lnTo>
                  <a:pt x="587735" y="714"/>
                </a:lnTo>
                <a:lnTo>
                  <a:pt x="583878" y="1429"/>
                </a:lnTo>
                <a:lnTo>
                  <a:pt x="579877" y="2286"/>
                </a:lnTo>
                <a:lnTo>
                  <a:pt x="575877" y="3429"/>
                </a:lnTo>
                <a:lnTo>
                  <a:pt x="571876" y="4572"/>
                </a:lnTo>
                <a:lnTo>
                  <a:pt x="568162" y="6145"/>
                </a:lnTo>
                <a:lnTo>
                  <a:pt x="564447" y="7716"/>
                </a:lnTo>
                <a:lnTo>
                  <a:pt x="560870" y="9574"/>
                </a:lnTo>
                <a:lnTo>
                  <a:pt x="557013" y="11718"/>
                </a:lnTo>
                <a:lnTo>
                  <a:pt x="553441" y="13718"/>
                </a:lnTo>
                <a:lnTo>
                  <a:pt x="549869" y="16290"/>
                </a:lnTo>
                <a:lnTo>
                  <a:pt x="546583" y="18862"/>
                </a:lnTo>
                <a:lnTo>
                  <a:pt x="543439" y="21863"/>
                </a:lnTo>
                <a:lnTo>
                  <a:pt x="540153" y="24864"/>
                </a:lnTo>
                <a:lnTo>
                  <a:pt x="537296" y="27722"/>
                </a:lnTo>
                <a:lnTo>
                  <a:pt x="534438" y="31152"/>
                </a:lnTo>
                <a:lnTo>
                  <a:pt x="531862" y="34295"/>
                </a:lnTo>
                <a:lnTo>
                  <a:pt x="529290" y="37725"/>
                </a:lnTo>
                <a:lnTo>
                  <a:pt x="527290" y="41440"/>
                </a:lnTo>
                <a:lnTo>
                  <a:pt x="525289" y="45013"/>
                </a:lnTo>
                <a:lnTo>
                  <a:pt x="523432" y="48728"/>
                </a:lnTo>
                <a:lnTo>
                  <a:pt x="521718" y="52729"/>
                </a:lnTo>
                <a:lnTo>
                  <a:pt x="520146" y="56302"/>
                </a:lnTo>
                <a:lnTo>
                  <a:pt x="519003" y="60159"/>
                </a:lnTo>
                <a:lnTo>
                  <a:pt x="518003" y="64161"/>
                </a:lnTo>
                <a:lnTo>
                  <a:pt x="517003" y="68162"/>
                </a:lnTo>
                <a:lnTo>
                  <a:pt x="516431" y="72163"/>
                </a:lnTo>
                <a:lnTo>
                  <a:pt x="515860" y="76307"/>
                </a:lnTo>
                <a:lnTo>
                  <a:pt x="515717" y="80022"/>
                </a:lnTo>
                <a:lnTo>
                  <a:pt x="515717" y="84166"/>
                </a:lnTo>
                <a:lnTo>
                  <a:pt x="515717" y="88311"/>
                </a:lnTo>
                <a:lnTo>
                  <a:pt x="515860" y="92026"/>
                </a:lnTo>
                <a:lnTo>
                  <a:pt x="516431" y="96170"/>
                </a:lnTo>
                <a:lnTo>
                  <a:pt x="517003" y="100171"/>
                </a:lnTo>
                <a:lnTo>
                  <a:pt x="518003" y="104315"/>
                </a:lnTo>
                <a:lnTo>
                  <a:pt x="519003" y="108173"/>
                </a:lnTo>
                <a:lnTo>
                  <a:pt x="520146" y="112031"/>
                </a:lnTo>
                <a:lnTo>
                  <a:pt x="521718" y="116033"/>
                </a:lnTo>
                <a:lnTo>
                  <a:pt x="523432" y="119605"/>
                </a:lnTo>
                <a:lnTo>
                  <a:pt x="525289" y="123320"/>
                </a:lnTo>
                <a:lnTo>
                  <a:pt x="527290" y="126893"/>
                </a:lnTo>
                <a:lnTo>
                  <a:pt x="529290" y="130465"/>
                </a:lnTo>
                <a:lnTo>
                  <a:pt x="531862" y="134038"/>
                </a:lnTo>
                <a:lnTo>
                  <a:pt x="534438" y="137181"/>
                </a:lnTo>
                <a:lnTo>
                  <a:pt x="537296" y="140611"/>
                </a:lnTo>
                <a:lnTo>
                  <a:pt x="540153" y="143468"/>
                </a:lnTo>
                <a:lnTo>
                  <a:pt x="691196" y="294654"/>
                </a:lnTo>
                <a:lnTo>
                  <a:pt x="84309" y="294654"/>
                </a:lnTo>
                <a:lnTo>
                  <a:pt x="79880" y="294654"/>
                </a:lnTo>
                <a:lnTo>
                  <a:pt x="75593" y="295083"/>
                </a:lnTo>
                <a:lnTo>
                  <a:pt x="71448" y="295654"/>
                </a:lnTo>
                <a:lnTo>
                  <a:pt x="67305" y="296226"/>
                </a:lnTo>
                <a:lnTo>
                  <a:pt x="63018" y="297226"/>
                </a:lnTo>
                <a:lnTo>
                  <a:pt x="59160" y="298226"/>
                </a:lnTo>
                <a:lnTo>
                  <a:pt x="55158" y="299656"/>
                </a:lnTo>
                <a:lnTo>
                  <a:pt x="51157" y="301227"/>
                </a:lnTo>
                <a:lnTo>
                  <a:pt x="47585" y="302799"/>
                </a:lnTo>
                <a:lnTo>
                  <a:pt x="43869" y="304800"/>
                </a:lnTo>
                <a:lnTo>
                  <a:pt x="40440" y="306800"/>
                </a:lnTo>
                <a:lnTo>
                  <a:pt x="37153" y="309087"/>
                </a:lnTo>
                <a:lnTo>
                  <a:pt x="33581" y="311373"/>
                </a:lnTo>
                <a:lnTo>
                  <a:pt x="30580" y="313945"/>
                </a:lnTo>
                <a:lnTo>
                  <a:pt x="27436" y="316660"/>
                </a:lnTo>
                <a:lnTo>
                  <a:pt x="24435" y="319375"/>
                </a:lnTo>
                <a:lnTo>
                  <a:pt x="21720" y="322376"/>
                </a:lnTo>
                <a:lnTo>
                  <a:pt x="19291" y="325377"/>
                </a:lnTo>
                <a:lnTo>
                  <a:pt x="16719" y="328521"/>
                </a:lnTo>
                <a:lnTo>
                  <a:pt x="14147" y="331664"/>
                </a:lnTo>
                <a:lnTo>
                  <a:pt x="12146" y="335094"/>
                </a:lnTo>
                <a:lnTo>
                  <a:pt x="10003" y="338810"/>
                </a:lnTo>
                <a:lnTo>
                  <a:pt x="8145" y="342382"/>
                </a:lnTo>
                <a:lnTo>
                  <a:pt x="6430" y="346097"/>
                </a:lnTo>
                <a:lnTo>
                  <a:pt x="5001" y="349955"/>
                </a:lnTo>
                <a:lnTo>
                  <a:pt x="3572" y="353812"/>
                </a:lnTo>
                <a:lnTo>
                  <a:pt x="2429" y="357813"/>
                </a:lnTo>
                <a:lnTo>
                  <a:pt x="1715" y="361956"/>
                </a:lnTo>
                <a:lnTo>
                  <a:pt x="857" y="365957"/>
                </a:lnTo>
                <a:lnTo>
                  <a:pt x="286" y="370248"/>
                </a:lnTo>
                <a:lnTo>
                  <a:pt x="0" y="374391"/>
                </a:lnTo>
                <a:lnTo>
                  <a:pt x="0" y="378820"/>
                </a:lnTo>
                <a:lnTo>
                  <a:pt x="0" y="383106"/>
                </a:lnTo>
                <a:lnTo>
                  <a:pt x="286" y="387540"/>
                </a:lnTo>
                <a:lnTo>
                  <a:pt x="857" y="391679"/>
                </a:lnTo>
                <a:lnTo>
                  <a:pt x="1715" y="395965"/>
                </a:lnTo>
                <a:lnTo>
                  <a:pt x="2429" y="399828"/>
                </a:lnTo>
                <a:lnTo>
                  <a:pt x="3572" y="403971"/>
                </a:lnTo>
                <a:lnTo>
                  <a:pt x="5001" y="407829"/>
                </a:lnTo>
                <a:lnTo>
                  <a:pt x="6430" y="411686"/>
                </a:lnTo>
                <a:lnTo>
                  <a:pt x="8145" y="415401"/>
                </a:lnTo>
                <a:lnTo>
                  <a:pt x="10003" y="418978"/>
                </a:lnTo>
                <a:lnTo>
                  <a:pt x="12146" y="422549"/>
                </a:lnTo>
                <a:lnTo>
                  <a:pt x="14147" y="425831"/>
                </a:lnTo>
                <a:lnTo>
                  <a:pt x="16719" y="429260"/>
                </a:lnTo>
                <a:lnTo>
                  <a:pt x="19291" y="432408"/>
                </a:lnTo>
                <a:lnTo>
                  <a:pt x="21720" y="435551"/>
                </a:lnTo>
                <a:lnTo>
                  <a:pt x="24435" y="438551"/>
                </a:lnTo>
                <a:lnTo>
                  <a:pt x="27436" y="441123"/>
                </a:lnTo>
                <a:lnTo>
                  <a:pt x="30580" y="443700"/>
                </a:lnTo>
                <a:lnTo>
                  <a:pt x="33581" y="446267"/>
                </a:lnTo>
                <a:lnTo>
                  <a:pt x="37153" y="448839"/>
                </a:lnTo>
                <a:lnTo>
                  <a:pt x="40440" y="450844"/>
                </a:lnTo>
                <a:lnTo>
                  <a:pt x="43869" y="452844"/>
                </a:lnTo>
                <a:lnTo>
                  <a:pt x="47585" y="454844"/>
                </a:lnTo>
                <a:lnTo>
                  <a:pt x="51157" y="456558"/>
                </a:lnTo>
                <a:lnTo>
                  <a:pt x="55158" y="457987"/>
                </a:lnTo>
                <a:lnTo>
                  <a:pt x="59160" y="459268"/>
                </a:lnTo>
                <a:lnTo>
                  <a:pt x="63018" y="460273"/>
                </a:lnTo>
                <a:lnTo>
                  <a:pt x="67305" y="461269"/>
                </a:lnTo>
                <a:lnTo>
                  <a:pt x="71448" y="462131"/>
                </a:lnTo>
                <a:lnTo>
                  <a:pt x="75593" y="462702"/>
                </a:lnTo>
                <a:lnTo>
                  <a:pt x="79880" y="462845"/>
                </a:lnTo>
                <a:lnTo>
                  <a:pt x="84309" y="462845"/>
                </a:lnTo>
                <a:lnTo>
                  <a:pt x="335094" y="462845"/>
                </a:lnTo>
                <a:lnTo>
                  <a:pt x="335094" y="860671"/>
                </a:lnTo>
                <a:lnTo>
                  <a:pt x="335094" y="864957"/>
                </a:lnTo>
                <a:lnTo>
                  <a:pt x="335522" y="869386"/>
                </a:lnTo>
                <a:lnTo>
                  <a:pt x="335952" y="873530"/>
                </a:lnTo>
                <a:lnTo>
                  <a:pt x="336666" y="877673"/>
                </a:lnTo>
                <a:lnTo>
                  <a:pt x="337524" y="881535"/>
                </a:lnTo>
                <a:lnTo>
                  <a:pt x="338667" y="885679"/>
                </a:lnTo>
                <a:lnTo>
                  <a:pt x="340095" y="889679"/>
                </a:lnTo>
                <a:lnTo>
                  <a:pt x="341667" y="893680"/>
                </a:lnTo>
                <a:lnTo>
                  <a:pt x="343239" y="897252"/>
                </a:lnTo>
                <a:lnTo>
                  <a:pt x="345240" y="900966"/>
                </a:lnTo>
                <a:lnTo>
                  <a:pt x="347241" y="904395"/>
                </a:lnTo>
                <a:lnTo>
                  <a:pt x="349669" y="907682"/>
                </a:lnTo>
                <a:lnTo>
                  <a:pt x="351813" y="911111"/>
                </a:lnTo>
                <a:lnTo>
                  <a:pt x="354385" y="914397"/>
                </a:lnTo>
                <a:lnTo>
                  <a:pt x="356671" y="917402"/>
                </a:lnTo>
                <a:lnTo>
                  <a:pt x="359958" y="920402"/>
                </a:lnTo>
                <a:lnTo>
                  <a:pt x="362532" y="923117"/>
                </a:lnTo>
                <a:lnTo>
                  <a:pt x="365816" y="925689"/>
                </a:lnTo>
                <a:lnTo>
                  <a:pt x="368960" y="928260"/>
                </a:lnTo>
                <a:lnTo>
                  <a:pt x="372247" y="930689"/>
                </a:lnTo>
                <a:lnTo>
                  <a:pt x="375534" y="932832"/>
                </a:lnTo>
                <a:lnTo>
                  <a:pt x="379249" y="934552"/>
                </a:lnTo>
                <a:lnTo>
                  <a:pt x="382679" y="936833"/>
                </a:lnTo>
                <a:lnTo>
                  <a:pt x="386679" y="938409"/>
                </a:lnTo>
                <a:lnTo>
                  <a:pt x="390252" y="939981"/>
                </a:lnTo>
                <a:lnTo>
                  <a:pt x="394398" y="941119"/>
                </a:lnTo>
                <a:lnTo>
                  <a:pt x="398398" y="942267"/>
                </a:lnTo>
                <a:lnTo>
                  <a:pt x="402256" y="943119"/>
                </a:lnTo>
                <a:lnTo>
                  <a:pt x="406398" y="944124"/>
                </a:lnTo>
                <a:lnTo>
                  <a:pt x="410688" y="944548"/>
                </a:lnTo>
                <a:lnTo>
                  <a:pt x="414973" y="944691"/>
                </a:lnTo>
                <a:lnTo>
                  <a:pt x="419404" y="944834"/>
                </a:lnTo>
                <a:lnTo>
                  <a:pt x="921258" y="944834"/>
                </a:lnTo>
                <a:lnTo>
                  <a:pt x="1028719" y="83652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2" name="椭圆 101"/>
          <p:cNvSpPr/>
          <p:nvPr/>
        </p:nvSpPr>
        <p:spPr>
          <a:xfrm>
            <a:off x="8629023" y="2093117"/>
            <a:ext cx="1375001" cy="1375001"/>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3" name="文本框 102"/>
          <p:cNvSpPr txBox="1"/>
          <p:nvPr/>
        </p:nvSpPr>
        <p:spPr>
          <a:xfrm>
            <a:off x="8452002" y="2452087"/>
            <a:ext cx="1729044" cy="653617"/>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70%</a:t>
            </a:r>
            <a:endParaRPr kumimoji="0" lang="zh-CN" altLang="en-US"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4" name="文本框 103"/>
          <p:cNvSpPr txBox="1"/>
          <p:nvPr/>
        </p:nvSpPr>
        <p:spPr>
          <a:xfrm>
            <a:off x="2313093"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行业高标准的质量管理体系，把关步骤严格</a:t>
            </a:r>
          </a:p>
        </p:txBody>
      </p:sp>
      <p:sp>
        <p:nvSpPr>
          <p:cNvPr id="105" name="文本框 104"/>
          <p:cNvSpPr txBox="1"/>
          <p:nvPr/>
        </p:nvSpPr>
        <p:spPr>
          <a:xfrm>
            <a:off x="2333054"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服务优势</a:t>
            </a:r>
          </a:p>
        </p:txBody>
      </p:sp>
      <p:sp>
        <p:nvSpPr>
          <p:cNvPr id="106" name="文本框 105"/>
          <p:cNvSpPr txBox="1"/>
          <p:nvPr/>
        </p:nvSpPr>
        <p:spPr>
          <a:xfrm>
            <a:off x="5703847"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及时更新产品到不同门店中，确保新品上市</a:t>
            </a:r>
          </a:p>
        </p:txBody>
      </p:sp>
      <p:sp>
        <p:nvSpPr>
          <p:cNvPr id="107" name="文本框 106"/>
          <p:cNvSpPr txBox="1"/>
          <p:nvPr/>
        </p:nvSpPr>
        <p:spPr>
          <a:xfrm>
            <a:off x="5723808"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货源优势</a:t>
            </a:r>
          </a:p>
        </p:txBody>
      </p:sp>
      <p:sp>
        <p:nvSpPr>
          <p:cNvPr id="108" name="文本框 107"/>
          <p:cNvSpPr txBox="1"/>
          <p:nvPr/>
        </p:nvSpPr>
        <p:spPr>
          <a:xfrm>
            <a:off x="9495693"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使用周期更长，使用后更容易得到下游认可</a:t>
            </a:r>
          </a:p>
        </p:txBody>
      </p:sp>
      <p:sp>
        <p:nvSpPr>
          <p:cNvPr id="109" name="文本框 108"/>
          <p:cNvSpPr txBox="1"/>
          <p:nvPr/>
        </p:nvSpPr>
        <p:spPr>
          <a:xfrm>
            <a:off x="9434634"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设备优势</a:t>
            </a:r>
          </a:p>
        </p:txBody>
      </p:sp>
      <p:sp>
        <p:nvSpPr>
          <p:cNvPr id="110" name="任意多边形: 形状 109"/>
          <p:cNvSpPr/>
          <p:nvPr/>
        </p:nvSpPr>
        <p:spPr>
          <a:xfrm>
            <a:off x="3788019" y="2749448"/>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1" name="任意多边形: 形状 110"/>
          <p:cNvSpPr/>
          <p:nvPr/>
        </p:nvSpPr>
        <p:spPr>
          <a:xfrm>
            <a:off x="7283116" y="2749448"/>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椭圆 111"/>
          <p:cNvSpPr/>
          <p:nvPr/>
        </p:nvSpPr>
        <p:spPr>
          <a:xfrm>
            <a:off x="3722017" y="3880815"/>
            <a:ext cx="122032" cy="122032"/>
          </a:xfrm>
          <a:prstGeom prst="ellipse">
            <a:avLst/>
          </a:prstGeom>
          <a:gradFill flip="none" rotWithShape="1">
            <a:gsLst>
              <a:gs pos="0">
                <a:schemeClr val="accent4">
                  <a:lumMod val="20000"/>
                  <a:lumOff val="80000"/>
                  <a:alpha val="0"/>
                </a:schemeClr>
              </a:gs>
              <a:gs pos="77000">
                <a:schemeClr val="accent4"/>
              </a:gs>
            </a:gsLst>
            <a:path path="circle">
              <a:fillToRect l="100000" t="100000"/>
            </a:path>
            <a:tileRect r="-100000" b="-100000"/>
          </a:gra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3" name="椭圆 112"/>
          <p:cNvSpPr/>
          <p:nvPr/>
        </p:nvSpPr>
        <p:spPr>
          <a:xfrm>
            <a:off x="7231256" y="3880815"/>
            <a:ext cx="122032" cy="122032"/>
          </a:xfrm>
          <a:prstGeom prst="ellipse">
            <a:avLst/>
          </a:prstGeom>
          <a:gradFill flip="none" rotWithShape="1">
            <a:gsLst>
              <a:gs pos="0">
                <a:schemeClr val="accent4">
                  <a:lumMod val="20000"/>
                  <a:lumOff val="80000"/>
                  <a:alpha val="0"/>
                </a:schemeClr>
              </a:gs>
              <a:gs pos="77000">
                <a:schemeClr val="accent4"/>
              </a:gs>
            </a:gsLst>
            <a:path path="circle">
              <a:fillToRect l="100000" t="100000"/>
            </a:path>
            <a:tileRect r="-100000" b="-100000"/>
          </a:gra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4" name="椭圆 113"/>
          <p:cNvSpPr/>
          <p:nvPr/>
        </p:nvSpPr>
        <p:spPr>
          <a:xfrm>
            <a:off x="3151019" y="2104253"/>
            <a:ext cx="1352727" cy="1352728"/>
          </a:xfrm>
          <a:prstGeom prst="ellipse">
            <a:avLst/>
          </a:prstGeom>
          <a:gradFill flip="none" rotWithShape="1">
            <a:gsLst>
              <a:gs pos="0">
                <a:schemeClr val="accent5"/>
              </a:gs>
              <a:gs pos="83000">
                <a:schemeClr val="accent4"/>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5" name="文本框 114"/>
          <p:cNvSpPr txBox="1"/>
          <p:nvPr/>
        </p:nvSpPr>
        <p:spPr>
          <a:xfrm>
            <a:off x="2984940" y="2450866"/>
            <a:ext cx="1701035" cy="646331"/>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a:t>
            </a:r>
            <a:endParaRPr kumimoji="0" lang="zh-CN" altLang="en-US" sz="3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椭圆 115"/>
          <p:cNvSpPr/>
          <p:nvPr/>
        </p:nvSpPr>
        <p:spPr>
          <a:xfrm>
            <a:off x="6501008" y="1960082"/>
            <a:ext cx="1641070" cy="1641071"/>
          </a:xfrm>
          <a:prstGeom prst="ellipse">
            <a:avLst/>
          </a:prstGeom>
          <a:gradFill flip="none" rotWithShape="1">
            <a:gsLst>
              <a:gs pos="0">
                <a:schemeClr val="accent5"/>
              </a:gs>
              <a:gs pos="83000">
                <a:schemeClr val="accent4"/>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文本框 116"/>
          <p:cNvSpPr txBox="1"/>
          <p:nvPr/>
        </p:nvSpPr>
        <p:spPr>
          <a:xfrm>
            <a:off x="6289732" y="2200592"/>
            <a:ext cx="2063622" cy="1160049"/>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a:t>
            </a:r>
            <a:endParaRPr kumimoji="0" lang="zh-CN" altLang="en-US"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8" name="椭圆 117"/>
          <p:cNvSpPr/>
          <p:nvPr/>
        </p:nvSpPr>
        <p:spPr>
          <a:xfrm>
            <a:off x="2154582"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椭圆 118"/>
          <p:cNvSpPr/>
          <p:nvPr/>
        </p:nvSpPr>
        <p:spPr>
          <a:xfrm>
            <a:off x="5545336"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0" name="椭圆 119"/>
          <p:cNvSpPr/>
          <p:nvPr/>
        </p:nvSpPr>
        <p:spPr>
          <a:xfrm>
            <a:off x="9260622"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123" name="图表 122"/>
          <p:cNvGraphicFramePr/>
          <p:nvPr/>
        </p:nvGraphicFramePr>
        <p:xfrm>
          <a:off x="443036" y="5348760"/>
          <a:ext cx="11219727" cy="131818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a:xfrm>
            <a:off x="2893743" y="4094768"/>
            <a:ext cx="8992962" cy="4348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1" name="矩形 30"/>
          <p:cNvSpPr/>
          <p:nvPr/>
        </p:nvSpPr>
        <p:spPr>
          <a:xfrm>
            <a:off x="574550" y="944564"/>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2" name="矩形 31"/>
          <p:cNvSpPr/>
          <p:nvPr/>
        </p:nvSpPr>
        <p:spPr>
          <a:xfrm>
            <a:off x="574550" y="2405366"/>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3" name="矩形 32"/>
          <p:cNvSpPr/>
          <p:nvPr/>
        </p:nvSpPr>
        <p:spPr>
          <a:xfrm>
            <a:off x="574550" y="3866168"/>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4" name="矩形 33"/>
          <p:cNvSpPr/>
          <p:nvPr/>
        </p:nvSpPr>
        <p:spPr>
          <a:xfrm>
            <a:off x="574550" y="5326968"/>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购物节营销数据分析</a:t>
            </a:r>
          </a:p>
        </p:txBody>
      </p:sp>
      <p:sp>
        <p:nvSpPr>
          <p:cNvPr id="4" name="矩形 3"/>
          <p:cNvSpPr/>
          <p:nvPr/>
        </p:nvSpPr>
        <p:spPr>
          <a:xfrm>
            <a:off x="227014" y="944564"/>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 name="矩形 4"/>
          <p:cNvSpPr/>
          <p:nvPr/>
        </p:nvSpPr>
        <p:spPr>
          <a:xfrm>
            <a:off x="227014" y="2405366"/>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 name="矩形 10"/>
          <p:cNvSpPr/>
          <p:nvPr/>
        </p:nvSpPr>
        <p:spPr>
          <a:xfrm>
            <a:off x="227014" y="3866168"/>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 name="矩形 11"/>
          <p:cNvSpPr/>
          <p:nvPr/>
        </p:nvSpPr>
        <p:spPr>
          <a:xfrm>
            <a:off x="227014" y="5326968"/>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9" name="组合 18"/>
          <p:cNvGrpSpPr/>
          <p:nvPr/>
        </p:nvGrpSpPr>
        <p:grpSpPr>
          <a:xfrm>
            <a:off x="1167678" y="1240656"/>
            <a:ext cx="1604282" cy="766799"/>
            <a:chOff x="971250" y="1240656"/>
            <a:chExt cx="1604282" cy="766799"/>
          </a:xfrm>
        </p:grpSpPr>
        <p:sp>
          <p:nvSpPr>
            <p:cNvPr id="17"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笔</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8" name="文本框 58"/>
            <p:cNvSpPr txBox="1"/>
            <p:nvPr/>
          </p:nvSpPr>
          <p:spPr>
            <a:xfrm>
              <a:off x="971250" y="1668901"/>
              <a:ext cx="103902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订单数量</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0" name="组合 19"/>
          <p:cNvGrpSpPr/>
          <p:nvPr/>
        </p:nvGrpSpPr>
        <p:grpSpPr>
          <a:xfrm>
            <a:off x="1167678" y="2682139"/>
            <a:ext cx="1604282" cy="766799"/>
            <a:chOff x="971250" y="1240656"/>
            <a:chExt cx="1604282" cy="766799"/>
          </a:xfrm>
        </p:grpSpPr>
        <p:sp>
          <p:nvSpPr>
            <p:cNvPr id="21"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251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万元</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2" name="文本框 58"/>
            <p:cNvSpPr txBox="1"/>
            <p:nvPr/>
          </p:nvSpPr>
          <p:spPr>
            <a:xfrm>
              <a:off x="971250" y="1668901"/>
              <a:ext cx="100540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销售金额</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3" name="组合 22"/>
          <p:cNvGrpSpPr/>
          <p:nvPr/>
        </p:nvGrpSpPr>
        <p:grpSpPr>
          <a:xfrm>
            <a:off x="1167678" y="4178510"/>
            <a:ext cx="1604282" cy="766799"/>
            <a:chOff x="971250" y="1240656"/>
            <a:chExt cx="1604282" cy="766799"/>
          </a:xfrm>
        </p:grpSpPr>
        <p:sp>
          <p:nvSpPr>
            <p:cNvPr id="24"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元</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5" name="文本框 58"/>
            <p:cNvSpPr txBox="1"/>
            <p:nvPr/>
          </p:nvSpPr>
          <p:spPr>
            <a:xfrm>
              <a:off x="971250" y="1668901"/>
              <a:ext cx="80021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客单价</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6" name="组合 25"/>
          <p:cNvGrpSpPr/>
          <p:nvPr/>
        </p:nvGrpSpPr>
        <p:grpSpPr>
          <a:xfrm>
            <a:off x="1167678" y="5619993"/>
            <a:ext cx="1604282" cy="766799"/>
            <a:chOff x="971250" y="1240656"/>
            <a:chExt cx="1604282" cy="766799"/>
          </a:xfrm>
        </p:grpSpPr>
        <p:sp>
          <p:nvSpPr>
            <p:cNvPr id="27"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256184</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8" name="文本框 58"/>
            <p:cNvSpPr txBox="1"/>
            <p:nvPr/>
          </p:nvSpPr>
          <p:spPr>
            <a:xfrm>
              <a:off x="971250" y="1668901"/>
              <a:ext cx="1210588"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累计浏览量</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5" name="矩形 34"/>
          <p:cNvSpPr/>
          <p:nvPr/>
        </p:nvSpPr>
        <p:spPr>
          <a:xfrm>
            <a:off x="2755029" y="944564"/>
            <a:ext cx="72840" cy="57245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36" name="图表 35"/>
          <p:cNvGraphicFramePr/>
          <p:nvPr/>
        </p:nvGraphicFramePr>
        <p:xfrm>
          <a:off x="2822427" y="944564"/>
          <a:ext cx="9142560" cy="3215663"/>
        </p:xfrm>
        <a:graphic>
          <a:graphicData uri="http://schemas.openxmlformats.org/drawingml/2006/chart">
            <c:chart xmlns:c="http://schemas.openxmlformats.org/drawingml/2006/chart" xmlns:r="http://schemas.openxmlformats.org/officeDocument/2006/relationships" r:id="rId3"/>
          </a:graphicData>
        </a:graphic>
      </p:graphicFrame>
      <p:grpSp>
        <p:nvGrpSpPr>
          <p:cNvPr id="44" name="组合 43"/>
          <p:cNvGrpSpPr/>
          <p:nvPr/>
        </p:nvGrpSpPr>
        <p:grpSpPr>
          <a:xfrm>
            <a:off x="3052099" y="4267200"/>
            <a:ext cx="8686061" cy="2399740"/>
            <a:chOff x="2895267" y="3866167"/>
            <a:chExt cx="9064278" cy="2809965"/>
          </a:xfrm>
        </p:grpSpPr>
        <p:sp>
          <p:nvSpPr>
            <p:cNvPr id="45" name="矩形 44"/>
            <p:cNvSpPr/>
            <p:nvPr/>
          </p:nvSpPr>
          <p:spPr>
            <a:xfrm>
              <a:off x="2895267"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矩形 45"/>
            <p:cNvSpPr/>
            <p:nvPr/>
          </p:nvSpPr>
          <p:spPr>
            <a:xfrm>
              <a:off x="5946470"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矩形 46"/>
            <p:cNvSpPr/>
            <p:nvPr/>
          </p:nvSpPr>
          <p:spPr>
            <a:xfrm>
              <a:off x="8997673"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8" name="文本框 47"/>
          <p:cNvSpPr txBox="1"/>
          <p:nvPr/>
        </p:nvSpPr>
        <p:spPr>
          <a:xfrm>
            <a:off x="8899876"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产品销售额（万元）</a:t>
            </a:r>
          </a:p>
        </p:txBody>
      </p:sp>
      <p:graphicFrame>
        <p:nvGraphicFramePr>
          <p:cNvPr id="49" name="图表 48"/>
          <p:cNvGraphicFramePr/>
          <p:nvPr/>
        </p:nvGraphicFramePr>
        <p:xfrm>
          <a:off x="8959585" y="4699892"/>
          <a:ext cx="3319741" cy="1754805"/>
        </p:xfrm>
        <a:graphic>
          <a:graphicData uri="http://schemas.openxmlformats.org/drawingml/2006/chart">
            <c:chart xmlns:c="http://schemas.openxmlformats.org/drawingml/2006/chart" xmlns:r="http://schemas.openxmlformats.org/officeDocument/2006/relationships" r:id="rId4"/>
          </a:graphicData>
        </a:graphic>
      </p:graphicFrame>
      <p:sp>
        <p:nvSpPr>
          <p:cNvPr id="52" name="文本框 51"/>
          <p:cNvSpPr txBox="1"/>
          <p:nvPr/>
        </p:nvSpPr>
        <p:spPr>
          <a:xfrm>
            <a:off x="5983309"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产品销售数量</a:t>
            </a:r>
          </a:p>
        </p:txBody>
      </p:sp>
      <p:graphicFrame>
        <p:nvGraphicFramePr>
          <p:cNvPr id="53" name="图表 52"/>
          <p:cNvGraphicFramePr/>
          <p:nvPr/>
        </p:nvGraphicFramePr>
        <p:xfrm>
          <a:off x="6093380" y="4699892"/>
          <a:ext cx="3319741" cy="1754805"/>
        </p:xfrm>
        <a:graphic>
          <a:graphicData uri="http://schemas.openxmlformats.org/drawingml/2006/chart">
            <c:chart xmlns:c="http://schemas.openxmlformats.org/drawingml/2006/chart" xmlns:r="http://schemas.openxmlformats.org/officeDocument/2006/relationships" r:id="rId5"/>
          </a:graphicData>
        </a:graphic>
      </p:graphicFrame>
      <p:sp>
        <p:nvSpPr>
          <p:cNvPr id="62" name="文本框 61"/>
          <p:cNvSpPr txBox="1"/>
          <p:nvPr/>
        </p:nvSpPr>
        <p:spPr>
          <a:xfrm>
            <a:off x="3046888"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销售团队</a:t>
            </a:r>
          </a:p>
        </p:txBody>
      </p:sp>
      <p:graphicFrame>
        <p:nvGraphicFramePr>
          <p:cNvPr id="63" name="图表 62"/>
          <p:cNvGraphicFramePr/>
          <p:nvPr/>
        </p:nvGraphicFramePr>
        <p:xfrm>
          <a:off x="3180849" y="4699892"/>
          <a:ext cx="2933765" cy="1754805"/>
        </p:xfrm>
        <a:graphic>
          <a:graphicData uri="http://schemas.openxmlformats.org/drawingml/2006/chart">
            <c:chart xmlns:c="http://schemas.openxmlformats.org/drawingml/2006/chart" xmlns:r="http://schemas.openxmlformats.org/officeDocument/2006/relationships" r:id="rId6"/>
          </a:graphicData>
        </a:graphic>
      </p:graphicFrame>
      <p:sp>
        <p:nvSpPr>
          <p:cNvPr id="64" name="图形 104"/>
          <p:cNvSpPr/>
          <p:nvPr/>
        </p:nvSpPr>
        <p:spPr>
          <a:xfrm>
            <a:off x="381405" y="5847711"/>
            <a:ext cx="460585" cy="429880"/>
          </a:xfrm>
          <a:custGeom>
            <a:avLst/>
            <a:gdLst>
              <a:gd name="connsiteX0" fmla="*/ 992472 w 1219200"/>
              <a:gd name="connsiteY0" fmla="*/ 881890 h 1137922"/>
              <a:gd name="connsiteX1" fmla="*/ 1049079 w 1219200"/>
              <a:gd name="connsiteY1" fmla="*/ 881890 h 1137922"/>
              <a:gd name="connsiteX2" fmla="*/ 1077435 w 1219200"/>
              <a:gd name="connsiteY2" fmla="*/ 853534 h 1137922"/>
              <a:gd name="connsiteX3" fmla="*/ 1077435 w 1219200"/>
              <a:gd name="connsiteY3" fmla="*/ 853344 h 1137922"/>
              <a:gd name="connsiteX4" fmla="*/ 1049079 w 1219200"/>
              <a:gd name="connsiteY4" fmla="*/ 824993 h 1137922"/>
              <a:gd name="connsiteX5" fmla="*/ 1028095 w 1219200"/>
              <a:gd name="connsiteY5" fmla="*/ 824993 h 1137922"/>
              <a:gd name="connsiteX6" fmla="*/ 1052165 w 1219200"/>
              <a:gd name="connsiteY6" fmla="*/ 794189 h 1137922"/>
              <a:gd name="connsiteX7" fmla="*/ 1047279 w 1219200"/>
              <a:gd name="connsiteY7" fmla="*/ 754389 h 1137922"/>
              <a:gd name="connsiteX8" fmla="*/ 1047131 w 1219200"/>
              <a:gd name="connsiteY8" fmla="*/ 754270 h 1137922"/>
              <a:gd name="connsiteX9" fmla="*/ 1007331 w 1219200"/>
              <a:gd name="connsiteY9" fmla="*/ 759161 h 1137922"/>
              <a:gd name="connsiteX10" fmla="*/ 962092 w 1219200"/>
              <a:gd name="connsiteY10" fmla="*/ 817058 h 1137922"/>
              <a:gd name="connsiteX11" fmla="*/ 916853 w 1219200"/>
              <a:gd name="connsiteY11" fmla="*/ 759161 h 1137922"/>
              <a:gd name="connsiteX12" fmla="*/ 877053 w 1219200"/>
              <a:gd name="connsiteY12" fmla="*/ 754270 h 1137922"/>
              <a:gd name="connsiteX13" fmla="*/ 876905 w 1219200"/>
              <a:gd name="connsiteY13" fmla="*/ 754389 h 1137922"/>
              <a:gd name="connsiteX14" fmla="*/ 872019 w 1219200"/>
              <a:gd name="connsiteY14" fmla="*/ 794189 h 1137922"/>
              <a:gd name="connsiteX15" fmla="*/ 896083 w 1219200"/>
              <a:gd name="connsiteY15" fmla="*/ 824993 h 1137922"/>
              <a:gd name="connsiteX16" fmla="*/ 878957 w 1219200"/>
              <a:gd name="connsiteY16" fmla="*/ 824993 h 1137922"/>
              <a:gd name="connsiteX17" fmla="*/ 850602 w 1219200"/>
              <a:gd name="connsiteY17" fmla="*/ 853344 h 1137922"/>
              <a:gd name="connsiteX18" fmla="*/ 850602 w 1219200"/>
              <a:gd name="connsiteY18" fmla="*/ 853534 h 1137922"/>
              <a:gd name="connsiteX19" fmla="*/ 878957 w 1219200"/>
              <a:gd name="connsiteY19" fmla="*/ 881890 h 1137922"/>
              <a:gd name="connsiteX20" fmla="*/ 935574 w 1219200"/>
              <a:gd name="connsiteY20" fmla="*/ 881890 h 1137922"/>
              <a:gd name="connsiteX21" fmla="*/ 935574 w 1219200"/>
              <a:gd name="connsiteY21" fmla="*/ 910337 h 1137922"/>
              <a:gd name="connsiteX22" fmla="*/ 878957 w 1219200"/>
              <a:gd name="connsiteY22" fmla="*/ 910337 h 1137922"/>
              <a:gd name="connsiteX23" fmla="*/ 850602 w 1219200"/>
              <a:gd name="connsiteY23" fmla="*/ 938688 h 1137922"/>
              <a:gd name="connsiteX24" fmla="*/ 850602 w 1219200"/>
              <a:gd name="connsiteY24" fmla="*/ 938878 h 1137922"/>
              <a:gd name="connsiteX25" fmla="*/ 878957 w 1219200"/>
              <a:gd name="connsiteY25" fmla="*/ 967234 h 1137922"/>
              <a:gd name="connsiteX26" fmla="*/ 935574 w 1219200"/>
              <a:gd name="connsiteY26" fmla="*/ 967234 h 1137922"/>
              <a:gd name="connsiteX27" fmla="*/ 935574 w 1219200"/>
              <a:gd name="connsiteY27" fmla="*/ 1023841 h 1137922"/>
              <a:gd name="connsiteX28" fmla="*/ 963925 w 1219200"/>
              <a:gd name="connsiteY28" fmla="*/ 1052197 h 1137922"/>
              <a:gd name="connsiteX29" fmla="*/ 964116 w 1219200"/>
              <a:gd name="connsiteY29" fmla="*/ 1052197 h 1137922"/>
              <a:gd name="connsiteX30" fmla="*/ 992472 w 1219200"/>
              <a:gd name="connsiteY30" fmla="*/ 1023841 h 1137922"/>
              <a:gd name="connsiteX31" fmla="*/ 992472 w 1219200"/>
              <a:gd name="connsiteY31" fmla="*/ 967234 h 1137922"/>
              <a:gd name="connsiteX32" fmla="*/ 1049079 w 1219200"/>
              <a:gd name="connsiteY32" fmla="*/ 967234 h 1137922"/>
              <a:gd name="connsiteX33" fmla="*/ 1077435 w 1219200"/>
              <a:gd name="connsiteY33" fmla="*/ 938878 h 1137922"/>
              <a:gd name="connsiteX34" fmla="*/ 1077435 w 1219200"/>
              <a:gd name="connsiteY34" fmla="*/ 938688 h 1137922"/>
              <a:gd name="connsiteX35" fmla="*/ 1049079 w 1219200"/>
              <a:gd name="connsiteY35" fmla="*/ 910337 h 1137922"/>
              <a:gd name="connsiteX36" fmla="*/ 992472 w 1219200"/>
              <a:gd name="connsiteY36" fmla="*/ 910337 h 1137922"/>
              <a:gd name="connsiteX37" fmla="*/ 992472 w 1219200"/>
              <a:gd name="connsiteY37" fmla="*/ 881890 h 1137922"/>
              <a:gd name="connsiteX38" fmla="*/ 1033482 w 1219200"/>
              <a:gd name="connsiteY38" fmla="*/ 576747 h 1137922"/>
              <a:gd name="connsiteX39" fmla="*/ 964021 w 1219200"/>
              <a:gd name="connsiteY39" fmla="*/ 568961 h 1137922"/>
              <a:gd name="connsiteX40" fmla="*/ 721400 w 1219200"/>
              <a:gd name="connsiteY40" fmla="*/ 685237 h 1137922"/>
              <a:gd name="connsiteX41" fmla="*/ 538715 w 1219200"/>
              <a:gd name="connsiteY41" fmla="*/ 696977 h 1137922"/>
              <a:gd name="connsiteX42" fmla="*/ 0 w 1219200"/>
              <a:gd name="connsiteY42" fmla="*/ 497842 h 1137922"/>
              <a:gd name="connsiteX43" fmla="*/ 12397 w 1219200"/>
              <a:gd name="connsiteY43" fmla="*/ 455170 h 1137922"/>
              <a:gd name="connsiteX44" fmla="*/ 538715 w 1219200"/>
              <a:gd name="connsiteY44" fmla="*/ 611633 h 1137922"/>
              <a:gd name="connsiteX45" fmla="*/ 1065033 w 1219200"/>
              <a:gd name="connsiteY45" fmla="*/ 455170 h 1137922"/>
              <a:gd name="connsiteX46" fmla="*/ 1077435 w 1219200"/>
              <a:gd name="connsiteY46" fmla="*/ 497842 h 1137922"/>
              <a:gd name="connsiteX47" fmla="*/ 1033482 w 1219200"/>
              <a:gd name="connsiteY47" fmla="*/ 576747 h 1137922"/>
              <a:gd name="connsiteX48" fmla="*/ 682666 w 1219200"/>
              <a:gd name="connsiteY48" fmla="*/ 746688 h 1137922"/>
              <a:gd name="connsiteX49" fmla="*/ 655682 w 1219200"/>
              <a:gd name="connsiteY49" fmla="*/ 834508 h 1137922"/>
              <a:gd name="connsiteX50" fmla="*/ 538715 w 1219200"/>
              <a:gd name="connsiteY50" fmla="*/ 839218 h 1137922"/>
              <a:gd name="connsiteX51" fmla="*/ 0 w 1219200"/>
              <a:gd name="connsiteY51" fmla="*/ 640079 h 1137922"/>
              <a:gd name="connsiteX52" fmla="*/ 12397 w 1219200"/>
              <a:gd name="connsiteY52" fmla="*/ 597407 h 1137922"/>
              <a:gd name="connsiteX53" fmla="*/ 538715 w 1219200"/>
              <a:gd name="connsiteY53" fmla="*/ 753874 h 1137922"/>
              <a:gd name="connsiteX54" fmla="*/ 682666 w 1219200"/>
              <a:gd name="connsiteY54" fmla="*/ 746688 h 1137922"/>
              <a:gd name="connsiteX55" fmla="*/ 652282 w 1219200"/>
              <a:gd name="connsiteY55" fmla="*/ 891682 h 1137922"/>
              <a:gd name="connsiteX56" fmla="*/ 666426 w 1219200"/>
              <a:gd name="connsiteY56" fmla="*/ 975826 h 1137922"/>
              <a:gd name="connsiteX57" fmla="*/ 538715 w 1219200"/>
              <a:gd name="connsiteY57" fmla="*/ 981455 h 1137922"/>
              <a:gd name="connsiteX58" fmla="*/ 0 w 1219200"/>
              <a:gd name="connsiteY58" fmla="*/ 782321 h 1137922"/>
              <a:gd name="connsiteX59" fmla="*/ 12397 w 1219200"/>
              <a:gd name="connsiteY59" fmla="*/ 739649 h 1137922"/>
              <a:gd name="connsiteX60" fmla="*/ 538715 w 1219200"/>
              <a:gd name="connsiteY60" fmla="*/ 896111 h 1137922"/>
              <a:gd name="connsiteX61" fmla="*/ 652282 w 1219200"/>
              <a:gd name="connsiteY61" fmla="*/ 891682 h 1137922"/>
              <a:gd name="connsiteX62" fmla="*/ 689453 w 1219200"/>
              <a:gd name="connsiteY62" fmla="*/ 1030456 h 1137922"/>
              <a:gd name="connsiteX63" fmla="*/ 748456 w 1219200"/>
              <a:gd name="connsiteY63" fmla="*/ 1108042 h 1137922"/>
              <a:gd name="connsiteX64" fmla="*/ 538715 w 1219200"/>
              <a:gd name="connsiteY64" fmla="*/ 1123697 h 1137922"/>
              <a:gd name="connsiteX65" fmla="*/ 0 w 1219200"/>
              <a:gd name="connsiteY65" fmla="*/ 924562 h 1137922"/>
              <a:gd name="connsiteX66" fmla="*/ 12397 w 1219200"/>
              <a:gd name="connsiteY66" fmla="*/ 881890 h 1137922"/>
              <a:gd name="connsiteX67" fmla="*/ 538715 w 1219200"/>
              <a:gd name="connsiteY67" fmla="*/ 1038353 h 1137922"/>
              <a:gd name="connsiteX68" fmla="*/ 689453 w 1219200"/>
              <a:gd name="connsiteY68" fmla="*/ 1030456 h 1137922"/>
              <a:gd name="connsiteX69" fmla="*/ 12397 w 1219200"/>
              <a:gd name="connsiteY69" fmla="*/ 312928 h 1137922"/>
              <a:gd name="connsiteX70" fmla="*/ 538715 w 1219200"/>
              <a:gd name="connsiteY70" fmla="*/ 469391 h 1137922"/>
              <a:gd name="connsiteX71" fmla="*/ 1065033 w 1219200"/>
              <a:gd name="connsiteY71" fmla="*/ 312928 h 1137922"/>
              <a:gd name="connsiteX72" fmla="*/ 1077435 w 1219200"/>
              <a:gd name="connsiteY72" fmla="*/ 355600 h 1137922"/>
              <a:gd name="connsiteX73" fmla="*/ 538715 w 1219200"/>
              <a:gd name="connsiteY73" fmla="*/ 554735 h 1137922"/>
              <a:gd name="connsiteX74" fmla="*/ 0 w 1219200"/>
              <a:gd name="connsiteY74" fmla="*/ 355600 h 1137922"/>
              <a:gd name="connsiteX75" fmla="*/ 12397 w 1219200"/>
              <a:gd name="connsiteY75" fmla="*/ 312928 h 1137922"/>
              <a:gd name="connsiteX76" fmla="*/ 538715 w 1219200"/>
              <a:gd name="connsiteY76" fmla="*/ 398272 h 1137922"/>
              <a:gd name="connsiteX77" fmla="*/ 0 w 1219200"/>
              <a:gd name="connsiteY77" fmla="*/ 199136 h 1137922"/>
              <a:gd name="connsiteX78" fmla="*/ 538715 w 1219200"/>
              <a:gd name="connsiteY78" fmla="*/ 0 h 1137922"/>
              <a:gd name="connsiteX79" fmla="*/ 1077435 w 1219200"/>
              <a:gd name="connsiteY79" fmla="*/ 199136 h 1137922"/>
              <a:gd name="connsiteX80" fmla="*/ 538715 w 1219200"/>
              <a:gd name="connsiteY80" fmla="*/ 398272 h 1137922"/>
              <a:gd name="connsiteX81" fmla="*/ 964021 w 1219200"/>
              <a:gd name="connsiteY81" fmla="*/ 1137922 h 1137922"/>
              <a:gd name="connsiteX82" fmla="*/ 708836 w 1219200"/>
              <a:gd name="connsiteY82" fmla="*/ 881890 h 1137922"/>
              <a:gd name="connsiteX83" fmla="*/ 964021 w 1219200"/>
              <a:gd name="connsiteY83" fmla="*/ 625858 h 1137922"/>
              <a:gd name="connsiteX84" fmla="*/ 1219200 w 1219200"/>
              <a:gd name="connsiteY84" fmla="*/ 881890 h 1137922"/>
              <a:gd name="connsiteX85" fmla="*/ 964021 w 1219200"/>
              <a:gd name="connsiteY85" fmla="*/ 1137922 h 1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19200" h="1137922">
                <a:moveTo>
                  <a:pt x="992472" y="881890"/>
                </a:moveTo>
                <a:lnTo>
                  <a:pt x="1049079" y="881890"/>
                </a:lnTo>
                <a:cubicBezTo>
                  <a:pt x="1064743" y="881890"/>
                  <a:pt x="1077435" y="869193"/>
                  <a:pt x="1077435" y="853534"/>
                </a:cubicBezTo>
                <a:lnTo>
                  <a:pt x="1077435" y="853344"/>
                </a:lnTo>
                <a:cubicBezTo>
                  <a:pt x="1077435" y="837685"/>
                  <a:pt x="1064743" y="824993"/>
                  <a:pt x="1049079" y="824993"/>
                </a:cubicBezTo>
                <a:lnTo>
                  <a:pt x="1028095" y="824993"/>
                </a:lnTo>
                <a:lnTo>
                  <a:pt x="1052165" y="794189"/>
                </a:lnTo>
                <a:cubicBezTo>
                  <a:pt x="1061799" y="781844"/>
                  <a:pt x="1059613" y="764033"/>
                  <a:pt x="1047279" y="754389"/>
                </a:cubicBezTo>
                <a:lnTo>
                  <a:pt x="1047131" y="754270"/>
                </a:lnTo>
                <a:cubicBezTo>
                  <a:pt x="1034791" y="744635"/>
                  <a:pt x="1016970" y="746821"/>
                  <a:pt x="1007331" y="759161"/>
                </a:cubicBezTo>
                <a:lnTo>
                  <a:pt x="962092" y="817058"/>
                </a:lnTo>
                <a:lnTo>
                  <a:pt x="916853" y="759161"/>
                </a:lnTo>
                <a:cubicBezTo>
                  <a:pt x="907213" y="746821"/>
                  <a:pt x="889392" y="744635"/>
                  <a:pt x="877053" y="754270"/>
                </a:cubicBezTo>
                <a:lnTo>
                  <a:pt x="876905" y="754389"/>
                </a:lnTo>
                <a:cubicBezTo>
                  <a:pt x="864560" y="764033"/>
                  <a:pt x="862375" y="781844"/>
                  <a:pt x="872019" y="794189"/>
                </a:cubicBezTo>
                <a:lnTo>
                  <a:pt x="896083" y="824993"/>
                </a:lnTo>
                <a:lnTo>
                  <a:pt x="878957" y="824993"/>
                </a:lnTo>
                <a:cubicBezTo>
                  <a:pt x="863303" y="824993"/>
                  <a:pt x="850602" y="837685"/>
                  <a:pt x="850602" y="853344"/>
                </a:cubicBezTo>
                <a:lnTo>
                  <a:pt x="850602" y="853534"/>
                </a:lnTo>
                <a:cubicBezTo>
                  <a:pt x="850602" y="869193"/>
                  <a:pt x="863303" y="881890"/>
                  <a:pt x="878957" y="881890"/>
                </a:cubicBezTo>
                <a:lnTo>
                  <a:pt x="935574" y="881890"/>
                </a:lnTo>
                <a:lnTo>
                  <a:pt x="935574" y="910337"/>
                </a:lnTo>
                <a:lnTo>
                  <a:pt x="878957" y="910337"/>
                </a:lnTo>
                <a:cubicBezTo>
                  <a:pt x="863303" y="910337"/>
                  <a:pt x="850602" y="923029"/>
                  <a:pt x="850602" y="938688"/>
                </a:cubicBezTo>
                <a:lnTo>
                  <a:pt x="850602" y="938878"/>
                </a:lnTo>
                <a:cubicBezTo>
                  <a:pt x="850602" y="954537"/>
                  <a:pt x="863303" y="967234"/>
                  <a:pt x="878957" y="967234"/>
                </a:cubicBezTo>
                <a:lnTo>
                  <a:pt x="935574" y="967234"/>
                </a:lnTo>
                <a:lnTo>
                  <a:pt x="935574" y="1023841"/>
                </a:lnTo>
                <a:cubicBezTo>
                  <a:pt x="935574" y="1039505"/>
                  <a:pt x="948266" y="1052197"/>
                  <a:pt x="963925" y="1052197"/>
                </a:cubicBezTo>
                <a:lnTo>
                  <a:pt x="964116" y="1052197"/>
                </a:lnTo>
                <a:cubicBezTo>
                  <a:pt x="979770" y="1052197"/>
                  <a:pt x="992472" y="1039505"/>
                  <a:pt x="992472" y="1023841"/>
                </a:cubicBezTo>
                <a:lnTo>
                  <a:pt x="992472" y="967234"/>
                </a:lnTo>
                <a:lnTo>
                  <a:pt x="1049079" y="967234"/>
                </a:lnTo>
                <a:cubicBezTo>
                  <a:pt x="1064743" y="967234"/>
                  <a:pt x="1077435" y="954537"/>
                  <a:pt x="1077435" y="938878"/>
                </a:cubicBezTo>
                <a:lnTo>
                  <a:pt x="1077435" y="938688"/>
                </a:lnTo>
                <a:cubicBezTo>
                  <a:pt x="1077435" y="923029"/>
                  <a:pt x="1064743" y="910337"/>
                  <a:pt x="1049079" y="910337"/>
                </a:cubicBezTo>
                <a:lnTo>
                  <a:pt x="992472" y="910337"/>
                </a:lnTo>
                <a:lnTo>
                  <a:pt x="992472" y="881890"/>
                </a:lnTo>
                <a:close/>
                <a:moveTo>
                  <a:pt x="1033482" y="576747"/>
                </a:moveTo>
                <a:cubicBezTo>
                  <a:pt x="1011145" y="571651"/>
                  <a:pt x="987900" y="568961"/>
                  <a:pt x="964021" y="568961"/>
                </a:cubicBezTo>
                <a:cubicBezTo>
                  <a:pt x="866018" y="568961"/>
                  <a:pt x="778574" y="614309"/>
                  <a:pt x="721400" y="685237"/>
                </a:cubicBezTo>
                <a:cubicBezTo>
                  <a:pt x="664354" y="692829"/>
                  <a:pt x="602842" y="696977"/>
                  <a:pt x="538715" y="696977"/>
                </a:cubicBezTo>
                <a:cubicBezTo>
                  <a:pt x="241192" y="696977"/>
                  <a:pt x="0" y="607818"/>
                  <a:pt x="0" y="497842"/>
                </a:cubicBezTo>
                <a:cubicBezTo>
                  <a:pt x="0" y="483193"/>
                  <a:pt x="4278" y="468915"/>
                  <a:pt x="12397" y="455170"/>
                </a:cubicBezTo>
                <a:cubicBezTo>
                  <a:pt x="65243" y="544643"/>
                  <a:pt x="280817" y="611633"/>
                  <a:pt x="538715" y="611633"/>
                </a:cubicBezTo>
                <a:cubicBezTo>
                  <a:pt x="796619" y="611633"/>
                  <a:pt x="1012188" y="544643"/>
                  <a:pt x="1065033" y="455170"/>
                </a:cubicBezTo>
                <a:cubicBezTo>
                  <a:pt x="1073153" y="468915"/>
                  <a:pt x="1077435" y="483193"/>
                  <a:pt x="1077435" y="497842"/>
                </a:cubicBezTo>
                <a:cubicBezTo>
                  <a:pt x="1077435" y="525874"/>
                  <a:pt x="1061761" y="552554"/>
                  <a:pt x="1033482" y="576747"/>
                </a:cubicBezTo>
                <a:close/>
                <a:moveTo>
                  <a:pt x="682666" y="746688"/>
                </a:moveTo>
                <a:cubicBezTo>
                  <a:pt x="669603" y="773996"/>
                  <a:pt x="660373" y="803509"/>
                  <a:pt x="655682" y="834508"/>
                </a:cubicBezTo>
                <a:cubicBezTo>
                  <a:pt x="618025" y="837589"/>
                  <a:pt x="578882" y="839218"/>
                  <a:pt x="538715" y="839218"/>
                </a:cubicBezTo>
                <a:cubicBezTo>
                  <a:pt x="241192" y="839218"/>
                  <a:pt x="0" y="750059"/>
                  <a:pt x="0" y="640079"/>
                </a:cubicBezTo>
                <a:cubicBezTo>
                  <a:pt x="0" y="625434"/>
                  <a:pt x="4278" y="611156"/>
                  <a:pt x="12397" y="597407"/>
                </a:cubicBezTo>
                <a:cubicBezTo>
                  <a:pt x="65243" y="686885"/>
                  <a:pt x="280817" y="753874"/>
                  <a:pt x="538715" y="753874"/>
                </a:cubicBezTo>
                <a:cubicBezTo>
                  <a:pt x="588569" y="753874"/>
                  <a:pt x="636842" y="751364"/>
                  <a:pt x="682666" y="746688"/>
                </a:cubicBezTo>
                <a:close/>
                <a:moveTo>
                  <a:pt x="652282" y="891682"/>
                </a:moveTo>
                <a:cubicBezTo>
                  <a:pt x="653177" y="920914"/>
                  <a:pt x="658068" y="949142"/>
                  <a:pt x="666426" y="975826"/>
                </a:cubicBezTo>
                <a:cubicBezTo>
                  <a:pt x="625488" y="979507"/>
                  <a:pt x="582716" y="981455"/>
                  <a:pt x="538715" y="981455"/>
                </a:cubicBezTo>
                <a:cubicBezTo>
                  <a:pt x="241192" y="981455"/>
                  <a:pt x="0" y="892301"/>
                  <a:pt x="0" y="782321"/>
                </a:cubicBezTo>
                <a:cubicBezTo>
                  <a:pt x="0" y="767676"/>
                  <a:pt x="4278" y="753398"/>
                  <a:pt x="12397" y="739649"/>
                </a:cubicBezTo>
                <a:cubicBezTo>
                  <a:pt x="65243" y="829122"/>
                  <a:pt x="280817" y="896111"/>
                  <a:pt x="538715" y="896111"/>
                </a:cubicBezTo>
                <a:cubicBezTo>
                  <a:pt x="577677" y="896111"/>
                  <a:pt x="615667" y="894582"/>
                  <a:pt x="652282" y="891682"/>
                </a:cubicBezTo>
                <a:close/>
                <a:moveTo>
                  <a:pt x="689453" y="1030456"/>
                </a:moveTo>
                <a:cubicBezTo>
                  <a:pt x="705017" y="1059351"/>
                  <a:pt x="724986" y="1085516"/>
                  <a:pt x="748456" y="1108042"/>
                </a:cubicBezTo>
                <a:cubicBezTo>
                  <a:pt x="683990" y="1118120"/>
                  <a:pt x="613115" y="1123697"/>
                  <a:pt x="538715" y="1123697"/>
                </a:cubicBezTo>
                <a:cubicBezTo>
                  <a:pt x="241192" y="1123697"/>
                  <a:pt x="0" y="1034538"/>
                  <a:pt x="0" y="924562"/>
                </a:cubicBezTo>
                <a:cubicBezTo>
                  <a:pt x="0" y="909918"/>
                  <a:pt x="4278" y="895640"/>
                  <a:pt x="12397" y="881890"/>
                </a:cubicBezTo>
                <a:cubicBezTo>
                  <a:pt x="65243" y="971363"/>
                  <a:pt x="280817" y="1038353"/>
                  <a:pt x="538715" y="1038353"/>
                </a:cubicBezTo>
                <a:cubicBezTo>
                  <a:pt x="591041" y="1038353"/>
                  <a:pt x="641618" y="1035595"/>
                  <a:pt x="689453" y="1030456"/>
                </a:cubicBezTo>
                <a:close/>
                <a:moveTo>
                  <a:pt x="12397" y="312928"/>
                </a:moveTo>
                <a:cubicBezTo>
                  <a:pt x="65243" y="402402"/>
                  <a:pt x="280817" y="469391"/>
                  <a:pt x="538715" y="469391"/>
                </a:cubicBezTo>
                <a:cubicBezTo>
                  <a:pt x="796619" y="469391"/>
                  <a:pt x="1012188" y="402402"/>
                  <a:pt x="1065033" y="312928"/>
                </a:cubicBezTo>
                <a:cubicBezTo>
                  <a:pt x="1073153" y="326675"/>
                  <a:pt x="1077435" y="340953"/>
                  <a:pt x="1077435" y="355600"/>
                </a:cubicBezTo>
                <a:cubicBezTo>
                  <a:pt x="1077435" y="465581"/>
                  <a:pt x="836243" y="554735"/>
                  <a:pt x="538715" y="554735"/>
                </a:cubicBezTo>
                <a:cubicBezTo>
                  <a:pt x="241192" y="554735"/>
                  <a:pt x="0" y="465581"/>
                  <a:pt x="0" y="355600"/>
                </a:cubicBezTo>
                <a:cubicBezTo>
                  <a:pt x="0" y="340953"/>
                  <a:pt x="4278" y="326675"/>
                  <a:pt x="12397" y="312928"/>
                </a:cubicBezTo>
                <a:close/>
                <a:moveTo>
                  <a:pt x="538715" y="398272"/>
                </a:moveTo>
                <a:cubicBezTo>
                  <a:pt x="241192" y="398272"/>
                  <a:pt x="0" y="309116"/>
                  <a:pt x="0" y="199136"/>
                </a:cubicBezTo>
                <a:cubicBezTo>
                  <a:pt x="0" y="89156"/>
                  <a:pt x="241192" y="0"/>
                  <a:pt x="538715" y="0"/>
                </a:cubicBezTo>
                <a:cubicBezTo>
                  <a:pt x="836243" y="0"/>
                  <a:pt x="1077435" y="89156"/>
                  <a:pt x="1077435" y="199136"/>
                </a:cubicBezTo>
                <a:cubicBezTo>
                  <a:pt x="1077435" y="309116"/>
                  <a:pt x="836243" y="398272"/>
                  <a:pt x="538715" y="398272"/>
                </a:cubicBezTo>
                <a:close/>
                <a:moveTo>
                  <a:pt x="964021" y="1137922"/>
                </a:moveTo>
                <a:cubicBezTo>
                  <a:pt x="823089" y="1137922"/>
                  <a:pt x="708836" y="1023289"/>
                  <a:pt x="708836" y="881890"/>
                </a:cubicBezTo>
                <a:cubicBezTo>
                  <a:pt x="708836" y="740487"/>
                  <a:pt x="823089" y="625858"/>
                  <a:pt x="964021" y="625858"/>
                </a:cubicBezTo>
                <a:cubicBezTo>
                  <a:pt x="1104952" y="625858"/>
                  <a:pt x="1219200" y="740487"/>
                  <a:pt x="1219200" y="881890"/>
                </a:cubicBezTo>
                <a:cubicBezTo>
                  <a:pt x="1219200" y="1023289"/>
                  <a:pt x="1104952" y="1137922"/>
                  <a:pt x="964021" y="113792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图形 106"/>
          <p:cNvSpPr/>
          <p:nvPr/>
        </p:nvSpPr>
        <p:spPr>
          <a:xfrm>
            <a:off x="381402" y="4299764"/>
            <a:ext cx="460591" cy="459397"/>
          </a:xfrm>
          <a:custGeom>
            <a:avLst/>
            <a:gdLst>
              <a:gd name="connsiteX0" fmla="*/ 646033 w 1219217"/>
              <a:gd name="connsiteY0" fmla="*/ 0 h 1216056"/>
              <a:gd name="connsiteX1" fmla="*/ 621697 w 1219217"/>
              <a:gd name="connsiteY1" fmla="*/ 16240 h 1216056"/>
              <a:gd name="connsiteX2" fmla="*/ 432435 w 1219217"/>
              <a:gd name="connsiteY2" fmla="*/ 146114 h 1216056"/>
              <a:gd name="connsiteX3" fmla="*/ 432435 w 1219217"/>
              <a:gd name="connsiteY3" fmla="*/ 80058 h 1216056"/>
              <a:gd name="connsiteX4" fmla="*/ 327279 w 1219217"/>
              <a:gd name="connsiteY4" fmla="*/ 80058 h 1216056"/>
              <a:gd name="connsiteX5" fmla="*/ 327279 w 1219217"/>
              <a:gd name="connsiteY5" fmla="*/ 217694 h 1216056"/>
              <a:gd name="connsiteX6" fmla="*/ 216599 w 1219217"/>
              <a:gd name="connsiteY6" fmla="*/ 293322 h 1216056"/>
              <a:gd name="connsiteX7" fmla="*/ 264938 w 1219217"/>
              <a:gd name="connsiteY7" fmla="*/ 363807 h 1216056"/>
              <a:gd name="connsiteX8" fmla="*/ 304419 w 1219217"/>
              <a:gd name="connsiteY8" fmla="*/ 335375 h 1216056"/>
              <a:gd name="connsiteX9" fmla="*/ 304419 w 1219217"/>
              <a:gd name="connsiteY9" fmla="*/ 723138 h 1216056"/>
              <a:gd name="connsiteX10" fmla="*/ 389287 w 1219217"/>
              <a:gd name="connsiteY10" fmla="*/ 723138 h 1216056"/>
              <a:gd name="connsiteX11" fmla="*/ 389287 w 1219217"/>
              <a:gd name="connsiteY11" fmla="*/ 278559 h 1216056"/>
              <a:gd name="connsiteX12" fmla="*/ 646081 w 1219217"/>
              <a:gd name="connsiteY12" fmla="*/ 101489 h 1216056"/>
              <a:gd name="connsiteX13" fmla="*/ 897350 w 1219217"/>
              <a:gd name="connsiteY13" fmla="*/ 278559 h 1216056"/>
              <a:gd name="connsiteX14" fmla="*/ 897350 w 1219217"/>
              <a:gd name="connsiteY14" fmla="*/ 825722 h 1216056"/>
              <a:gd name="connsiteX15" fmla="*/ 959691 w 1219217"/>
              <a:gd name="connsiteY15" fmla="*/ 770382 h 1216056"/>
              <a:gd name="connsiteX16" fmla="*/ 981075 w 1219217"/>
              <a:gd name="connsiteY16" fmla="*/ 751570 h 1216056"/>
              <a:gd name="connsiteX17" fmla="*/ 981075 w 1219217"/>
              <a:gd name="connsiteY17" fmla="*/ 331327 h 1216056"/>
              <a:gd name="connsiteX18" fmla="*/ 1031272 w 1219217"/>
              <a:gd name="connsiteY18" fmla="*/ 364903 h 1216056"/>
              <a:gd name="connsiteX19" fmla="*/ 1078516 w 1219217"/>
              <a:gd name="connsiteY19" fmla="*/ 295894 h 1216056"/>
              <a:gd name="connsiteX20" fmla="*/ 670370 w 1219217"/>
              <a:gd name="connsiteY20" fmla="*/ 16240 h 1216056"/>
              <a:gd name="connsiteX21" fmla="*/ 646033 w 1219217"/>
              <a:gd name="connsiteY21" fmla="*/ 0 h 1216056"/>
              <a:gd name="connsiteX22" fmla="*/ 599932 w 1219217"/>
              <a:gd name="connsiteY22" fmla="*/ 302895 h 1216056"/>
              <a:gd name="connsiteX23" fmla="*/ 599932 w 1219217"/>
              <a:gd name="connsiteY23" fmla="*/ 350139 h 1216056"/>
              <a:gd name="connsiteX24" fmla="*/ 524304 w 1219217"/>
              <a:gd name="connsiteY24" fmla="*/ 437960 h 1216056"/>
              <a:gd name="connsiteX25" fmla="*/ 612124 w 1219217"/>
              <a:gd name="connsiteY25" fmla="*/ 532400 h 1216056"/>
              <a:gd name="connsiteX26" fmla="*/ 658225 w 1219217"/>
              <a:gd name="connsiteY26" fmla="*/ 571881 h 1216056"/>
              <a:gd name="connsiteX27" fmla="*/ 617649 w 1219217"/>
              <a:gd name="connsiteY27" fmla="*/ 598837 h 1216056"/>
              <a:gd name="connsiteX28" fmla="*/ 547545 w 1219217"/>
              <a:gd name="connsiteY28" fmla="*/ 580025 h 1216056"/>
              <a:gd name="connsiteX29" fmla="*/ 537972 w 1219217"/>
              <a:gd name="connsiteY29" fmla="*/ 573024 h 1216056"/>
              <a:gd name="connsiteX30" fmla="*/ 519160 w 1219217"/>
              <a:gd name="connsiteY30" fmla="*/ 636461 h 1216056"/>
              <a:gd name="connsiteX31" fmla="*/ 525780 w 1219217"/>
              <a:gd name="connsiteY31" fmla="*/ 640509 h 1216056"/>
              <a:gd name="connsiteX32" fmla="*/ 597360 w 1219217"/>
              <a:gd name="connsiteY32" fmla="*/ 662273 h 1216056"/>
              <a:gd name="connsiteX33" fmla="*/ 597360 w 1219217"/>
              <a:gd name="connsiteY33" fmla="*/ 708041 h 1216056"/>
              <a:gd name="connsiteX34" fmla="*/ 655653 w 1219217"/>
              <a:gd name="connsiteY34" fmla="*/ 708041 h 1216056"/>
              <a:gd name="connsiteX35" fmla="*/ 655653 w 1219217"/>
              <a:gd name="connsiteY35" fmla="*/ 658225 h 1216056"/>
              <a:gd name="connsiteX36" fmla="*/ 735330 w 1219217"/>
              <a:gd name="connsiteY36" fmla="*/ 566357 h 1216056"/>
              <a:gd name="connsiteX37" fmla="*/ 652701 w 1219217"/>
              <a:gd name="connsiteY37" fmla="*/ 468963 h 1216056"/>
              <a:gd name="connsiteX38" fmla="*/ 601409 w 1219217"/>
              <a:gd name="connsiteY38" fmla="*/ 432435 h 1216056"/>
              <a:gd name="connsiteX39" fmla="*/ 636461 w 1219217"/>
              <a:gd name="connsiteY39" fmla="*/ 408099 h 1216056"/>
              <a:gd name="connsiteX40" fmla="*/ 694754 w 1219217"/>
              <a:gd name="connsiteY40" fmla="*/ 421767 h 1216056"/>
              <a:gd name="connsiteX41" fmla="*/ 706946 w 1219217"/>
              <a:gd name="connsiteY41" fmla="*/ 428387 h 1216056"/>
              <a:gd name="connsiteX42" fmla="*/ 725757 w 1219217"/>
              <a:gd name="connsiteY42" fmla="*/ 366427 h 1216056"/>
              <a:gd name="connsiteX43" fmla="*/ 719090 w 1219217"/>
              <a:gd name="connsiteY43" fmla="*/ 362379 h 1216056"/>
              <a:gd name="connsiteX44" fmla="*/ 658225 w 1219217"/>
              <a:gd name="connsiteY44" fmla="*/ 347615 h 1216056"/>
              <a:gd name="connsiteX45" fmla="*/ 658225 w 1219217"/>
              <a:gd name="connsiteY45" fmla="*/ 302990 h 1216056"/>
              <a:gd name="connsiteX46" fmla="*/ 599932 w 1219217"/>
              <a:gd name="connsiteY46" fmla="*/ 302990 h 1216056"/>
              <a:gd name="connsiteX47" fmla="*/ 0 w 1219217"/>
              <a:gd name="connsiteY47" fmla="*/ 735330 h 1216056"/>
              <a:gd name="connsiteX48" fmla="*/ 0 w 1219217"/>
              <a:gd name="connsiteY48" fmla="*/ 1216057 h 1216056"/>
              <a:gd name="connsiteX49" fmla="*/ 167878 w 1219217"/>
              <a:gd name="connsiteY49" fmla="*/ 1216057 h 1216056"/>
              <a:gd name="connsiteX50" fmla="*/ 167878 w 1219217"/>
              <a:gd name="connsiteY50" fmla="*/ 1166241 h 1216056"/>
              <a:gd name="connsiteX51" fmla="*/ 182642 w 1219217"/>
              <a:gd name="connsiteY51" fmla="*/ 1175814 h 1216056"/>
              <a:gd name="connsiteX52" fmla="*/ 301419 w 1219217"/>
              <a:gd name="connsiteY52" fmla="*/ 1210866 h 1216056"/>
              <a:gd name="connsiteX53" fmla="*/ 629793 w 1219217"/>
              <a:gd name="connsiteY53" fmla="*/ 1210866 h 1216056"/>
              <a:gd name="connsiteX54" fmla="*/ 1178433 w 1219217"/>
              <a:gd name="connsiteY54" fmla="*/ 972884 h 1216056"/>
              <a:gd name="connsiteX55" fmla="*/ 1219010 w 1219217"/>
              <a:gd name="connsiteY55" fmla="*/ 894683 h 1216056"/>
              <a:gd name="connsiteX56" fmla="*/ 1167717 w 1219217"/>
              <a:gd name="connsiteY56" fmla="*/ 823103 h 1216056"/>
              <a:gd name="connsiteX57" fmla="*/ 1062180 w 1219217"/>
              <a:gd name="connsiteY57" fmla="*/ 788051 h 1216056"/>
              <a:gd name="connsiteX58" fmla="*/ 923068 w 1219217"/>
              <a:gd name="connsiteY58" fmla="*/ 866251 h 1216056"/>
              <a:gd name="connsiteX59" fmla="*/ 785098 w 1219217"/>
              <a:gd name="connsiteY59" fmla="*/ 950024 h 1216056"/>
              <a:gd name="connsiteX60" fmla="*/ 792099 w 1219217"/>
              <a:gd name="connsiteY60" fmla="*/ 912019 h 1216056"/>
              <a:gd name="connsiteX61" fmla="*/ 619077 w 1219217"/>
              <a:gd name="connsiteY61" fmla="*/ 752618 h 1216056"/>
              <a:gd name="connsiteX62" fmla="*/ 262319 w 1219217"/>
              <a:gd name="connsiteY62" fmla="*/ 752618 h 1216056"/>
              <a:gd name="connsiteX63" fmla="*/ 167878 w 1219217"/>
              <a:gd name="connsiteY63" fmla="*/ 781002 h 1216056"/>
              <a:gd name="connsiteX64" fmla="*/ 167878 w 1219217"/>
              <a:gd name="connsiteY64" fmla="*/ 735235 h 1216056"/>
              <a:gd name="connsiteX65" fmla="*/ 0 w 1219217"/>
              <a:gd name="connsiteY65" fmla="*/ 735235 h 1216056"/>
              <a:gd name="connsiteX66" fmla="*/ 52769 w 1219217"/>
              <a:gd name="connsiteY66" fmla="*/ 782574 h 1216056"/>
              <a:gd name="connsiteX67" fmla="*/ 112157 w 1219217"/>
              <a:gd name="connsiteY67" fmla="*/ 782574 h 1216056"/>
              <a:gd name="connsiteX68" fmla="*/ 112157 w 1219217"/>
              <a:gd name="connsiteY68" fmla="*/ 840486 h 1216056"/>
              <a:gd name="connsiteX69" fmla="*/ 52769 w 1219217"/>
              <a:gd name="connsiteY69" fmla="*/ 840486 h 1216056"/>
              <a:gd name="connsiteX70" fmla="*/ 52769 w 1219217"/>
              <a:gd name="connsiteY70" fmla="*/ 782574 h 1216056"/>
              <a:gd name="connsiteX71" fmla="*/ 619077 w 1219217"/>
              <a:gd name="connsiteY71" fmla="*/ 810959 h 1216056"/>
              <a:gd name="connsiteX72" fmla="*/ 733806 w 1219217"/>
              <a:gd name="connsiteY72" fmla="*/ 912066 h 1216056"/>
              <a:gd name="connsiteX73" fmla="*/ 705374 w 1219217"/>
              <a:gd name="connsiteY73" fmla="*/ 954119 h 1216056"/>
              <a:gd name="connsiteX74" fmla="*/ 443436 w 1219217"/>
              <a:gd name="connsiteY74" fmla="*/ 954119 h 1216056"/>
              <a:gd name="connsiteX75" fmla="*/ 415004 w 1219217"/>
              <a:gd name="connsiteY75" fmla="*/ 983980 h 1216056"/>
              <a:gd name="connsiteX76" fmla="*/ 443436 w 1219217"/>
              <a:gd name="connsiteY76" fmla="*/ 1012031 h 1216056"/>
              <a:gd name="connsiteX77" fmla="*/ 736378 w 1219217"/>
              <a:gd name="connsiteY77" fmla="*/ 1012031 h 1216056"/>
              <a:gd name="connsiteX78" fmla="*/ 968835 w 1219217"/>
              <a:gd name="connsiteY78" fmla="*/ 901351 h 1216056"/>
              <a:gd name="connsiteX79" fmla="*/ 1062180 w 1219217"/>
              <a:gd name="connsiteY79" fmla="*/ 846011 h 1216056"/>
              <a:gd name="connsiteX80" fmla="*/ 1131189 w 1219217"/>
              <a:gd name="connsiteY80" fmla="*/ 868871 h 1216056"/>
              <a:gd name="connsiteX81" fmla="*/ 1160717 w 1219217"/>
              <a:gd name="connsiteY81" fmla="*/ 900208 h 1216056"/>
              <a:gd name="connsiteX82" fmla="*/ 1135237 w 1219217"/>
              <a:gd name="connsiteY82" fmla="*/ 933783 h 1216056"/>
              <a:gd name="connsiteX83" fmla="*/ 629793 w 1219217"/>
              <a:gd name="connsiteY83" fmla="*/ 1151477 h 1216056"/>
              <a:gd name="connsiteX84" fmla="*/ 301419 w 1219217"/>
              <a:gd name="connsiteY84" fmla="*/ 1151477 h 1216056"/>
              <a:gd name="connsiteX85" fmla="*/ 185214 w 1219217"/>
              <a:gd name="connsiteY85" fmla="*/ 1107948 h 1216056"/>
              <a:gd name="connsiteX86" fmla="*/ 167878 w 1219217"/>
              <a:gd name="connsiteY86" fmla="*/ 1102757 h 1216056"/>
              <a:gd name="connsiteX87" fmla="*/ 167878 w 1219217"/>
              <a:gd name="connsiteY87" fmla="*/ 845963 h 1216056"/>
              <a:gd name="connsiteX88" fmla="*/ 185214 w 1219217"/>
              <a:gd name="connsiteY88" fmla="*/ 839343 h 1216056"/>
              <a:gd name="connsiteX89" fmla="*/ 191834 w 1219217"/>
              <a:gd name="connsiteY89" fmla="*/ 835295 h 1216056"/>
              <a:gd name="connsiteX90" fmla="*/ 262319 w 1219217"/>
              <a:gd name="connsiteY90" fmla="*/ 812054 h 1216056"/>
              <a:gd name="connsiteX91" fmla="*/ 619077 w 1219217"/>
              <a:gd name="connsiteY91" fmla="*/ 810959 h 121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219217" h="1216056">
                <a:moveTo>
                  <a:pt x="646033" y="0"/>
                </a:moveTo>
                <a:lnTo>
                  <a:pt x="621697" y="16240"/>
                </a:lnTo>
                <a:lnTo>
                  <a:pt x="432435" y="146114"/>
                </a:lnTo>
                <a:lnTo>
                  <a:pt x="432435" y="80058"/>
                </a:lnTo>
                <a:lnTo>
                  <a:pt x="327279" y="80058"/>
                </a:lnTo>
                <a:lnTo>
                  <a:pt x="327279" y="217694"/>
                </a:lnTo>
                <a:lnTo>
                  <a:pt x="216599" y="293322"/>
                </a:lnTo>
                <a:lnTo>
                  <a:pt x="264938" y="363807"/>
                </a:lnTo>
                <a:lnTo>
                  <a:pt x="304419" y="335375"/>
                </a:lnTo>
                <a:lnTo>
                  <a:pt x="304419" y="723138"/>
                </a:lnTo>
                <a:lnTo>
                  <a:pt x="389287" y="723138"/>
                </a:lnTo>
                <a:lnTo>
                  <a:pt x="389287" y="278559"/>
                </a:lnTo>
                <a:lnTo>
                  <a:pt x="646081" y="101489"/>
                </a:lnTo>
                <a:lnTo>
                  <a:pt x="897350" y="278559"/>
                </a:lnTo>
                <a:lnTo>
                  <a:pt x="897350" y="825722"/>
                </a:lnTo>
                <a:cubicBezTo>
                  <a:pt x="918734" y="808006"/>
                  <a:pt x="939070" y="789194"/>
                  <a:pt x="959691" y="770382"/>
                </a:cubicBezTo>
                <a:cubicBezTo>
                  <a:pt x="966692" y="763762"/>
                  <a:pt x="974455" y="757857"/>
                  <a:pt x="981075" y="751570"/>
                </a:cubicBezTo>
                <a:lnTo>
                  <a:pt x="981075" y="331327"/>
                </a:lnTo>
                <a:lnTo>
                  <a:pt x="1031272" y="364903"/>
                </a:lnTo>
                <a:lnTo>
                  <a:pt x="1078516" y="295894"/>
                </a:lnTo>
                <a:lnTo>
                  <a:pt x="670370" y="16240"/>
                </a:lnTo>
                <a:lnTo>
                  <a:pt x="646033" y="0"/>
                </a:lnTo>
                <a:close/>
                <a:moveTo>
                  <a:pt x="599932" y="302895"/>
                </a:moveTo>
                <a:lnTo>
                  <a:pt x="599932" y="350139"/>
                </a:lnTo>
                <a:cubicBezTo>
                  <a:pt x="552688" y="361188"/>
                  <a:pt x="524304" y="394049"/>
                  <a:pt x="524304" y="437960"/>
                </a:cubicBezTo>
                <a:cubicBezTo>
                  <a:pt x="524304" y="492204"/>
                  <a:pt x="568928" y="516922"/>
                  <a:pt x="612124" y="532400"/>
                </a:cubicBezTo>
                <a:cubicBezTo>
                  <a:pt x="652320" y="547164"/>
                  <a:pt x="658225" y="560070"/>
                  <a:pt x="658225" y="571881"/>
                </a:cubicBezTo>
                <a:cubicBezTo>
                  <a:pt x="658225" y="588836"/>
                  <a:pt x="642366" y="598837"/>
                  <a:pt x="617649" y="598837"/>
                </a:cubicBezTo>
                <a:cubicBezTo>
                  <a:pt x="594789" y="598837"/>
                  <a:pt x="568595" y="592169"/>
                  <a:pt x="547545" y="580025"/>
                </a:cubicBezTo>
                <a:lnTo>
                  <a:pt x="537972" y="573024"/>
                </a:lnTo>
                <a:lnTo>
                  <a:pt x="519160" y="636461"/>
                </a:lnTo>
                <a:lnTo>
                  <a:pt x="525780" y="640509"/>
                </a:lnTo>
                <a:cubicBezTo>
                  <a:pt x="542735" y="651939"/>
                  <a:pt x="569690" y="660082"/>
                  <a:pt x="597360" y="662273"/>
                </a:cubicBezTo>
                <a:lnTo>
                  <a:pt x="597360" y="708041"/>
                </a:lnTo>
                <a:lnTo>
                  <a:pt x="655653" y="708041"/>
                </a:lnTo>
                <a:lnTo>
                  <a:pt x="655653" y="658225"/>
                </a:lnTo>
                <a:cubicBezTo>
                  <a:pt x="704326" y="647176"/>
                  <a:pt x="735330" y="612124"/>
                  <a:pt x="735330" y="566357"/>
                </a:cubicBezTo>
                <a:cubicBezTo>
                  <a:pt x="735330" y="520589"/>
                  <a:pt x="710613" y="490728"/>
                  <a:pt x="652701" y="468963"/>
                </a:cubicBezTo>
                <a:cubicBezTo>
                  <a:pt x="613982" y="453485"/>
                  <a:pt x="601409" y="445341"/>
                  <a:pt x="601409" y="432435"/>
                </a:cubicBezTo>
                <a:cubicBezTo>
                  <a:pt x="601409" y="417671"/>
                  <a:pt x="614315" y="408099"/>
                  <a:pt x="636461" y="408099"/>
                </a:cubicBezTo>
                <a:cubicBezTo>
                  <a:pt x="664512" y="408099"/>
                  <a:pt x="683324" y="416576"/>
                  <a:pt x="694754" y="421767"/>
                </a:cubicBezTo>
                <a:lnTo>
                  <a:pt x="706946" y="428387"/>
                </a:lnTo>
                <a:lnTo>
                  <a:pt x="725757" y="366427"/>
                </a:lnTo>
                <a:lnTo>
                  <a:pt x="719090" y="362379"/>
                </a:lnTo>
                <a:cubicBezTo>
                  <a:pt x="700659" y="353139"/>
                  <a:pt x="680704" y="349091"/>
                  <a:pt x="658225" y="347615"/>
                </a:cubicBezTo>
                <a:lnTo>
                  <a:pt x="658225" y="302990"/>
                </a:lnTo>
                <a:lnTo>
                  <a:pt x="599932" y="302990"/>
                </a:lnTo>
                <a:close/>
                <a:moveTo>
                  <a:pt x="0" y="735330"/>
                </a:moveTo>
                <a:lnTo>
                  <a:pt x="0" y="1216057"/>
                </a:lnTo>
                <a:lnTo>
                  <a:pt x="167878" y="1216057"/>
                </a:lnTo>
                <a:lnTo>
                  <a:pt x="167878" y="1166241"/>
                </a:lnTo>
                <a:cubicBezTo>
                  <a:pt x="174165" y="1169194"/>
                  <a:pt x="182642" y="1175814"/>
                  <a:pt x="182642" y="1175814"/>
                </a:cubicBezTo>
                <a:cubicBezTo>
                  <a:pt x="211407" y="1191292"/>
                  <a:pt x="256080" y="1210866"/>
                  <a:pt x="301419" y="1210866"/>
                </a:cubicBezTo>
                <a:lnTo>
                  <a:pt x="629793" y="1210866"/>
                </a:lnTo>
                <a:cubicBezTo>
                  <a:pt x="912781" y="1210866"/>
                  <a:pt x="1107567" y="1051465"/>
                  <a:pt x="1178433" y="972884"/>
                </a:cubicBezTo>
                <a:cubicBezTo>
                  <a:pt x="1199817" y="949643"/>
                  <a:pt x="1221581" y="925306"/>
                  <a:pt x="1219010" y="894683"/>
                </a:cubicBezTo>
                <a:cubicBezTo>
                  <a:pt x="1216819" y="867394"/>
                  <a:pt x="1197245" y="846344"/>
                  <a:pt x="1167717" y="823103"/>
                </a:cubicBezTo>
                <a:cubicBezTo>
                  <a:pt x="1147048" y="806482"/>
                  <a:pt x="1106853" y="788051"/>
                  <a:pt x="1062180" y="788051"/>
                </a:cubicBezTo>
                <a:cubicBezTo>
                  <a:pt x="1024176" y="788051"/>
                  <a:pt x="969597" y="800957"/>
                  <a:pt x="923068" y="866251"/>
                </a:cubicBezTo>
                <a:cubicBezTo>
                  <a:pt x="881015" y="919734"/>
                  <a:pt x="827865" y="941880"/>
                  <a:pt x="785098" y="950024"/>
                </a:cubicBezTo>
                <a:cubicBezTo>
                  <a:pt x="789146" y="940451"/>
                  <a:pt x="791718" y="928259"/>
                  <a:pt x="792099" y="912019"/>
                </a:cubicBezTo>
                <a:cubicBezTo>
                  <a:pt x="792480" y="821246"/>
                  <a:pt x="719042" y="753380"/>
                  <a:pt x="619077" y="752618"/>
                </a:cubicBezTo>
                <a:lnTo>
                  <a:pt x="262319" y="752618"/>
                </a:lnTo>
                <a:cubicBezTo>
                  <a:pt x="228743" y="752618"/>
                  <a:pt x="195548" y="763334"/>
                  <a:pt x="167878" y="781002"/>
                </a:cubicBezTo>
                <a:lnTo>
                  <a:pt x="167878" y="735235"/>
                </a:lnTo>
                <a:lnTo>
                  <a:pt x="0" y="735235"/>
                </a:lnTo>
                <a:close/>
                <a:moveTo>
                  <a:pt x="52769" y="782574"/>
                </a:moveTo>
                <a:lnTo>
                  <a:pt x="112157" y="782574"/>
                </a:lnTo>
                <a:lnTo>
                  <a:pt x="112157" y="840486"/>
                </a:lnTo>
                <a:lnTo>
                  <a:pt x="52769" y="840486"/>
                </a:lnTo>
                <a:lnTo>
                  <a:pt x="52769" y="782574"/>
                </a:lnTo>
                <a:close/>
                <a:moveTo>
                  <a:pt x="619077" y="810959"/>
                </a:moveTo>
                <a:cubicBezTo>
                  <a:pt x="675894" y="810959"/>
                  <a:pt x="734187" y="844153"/>
                  <a:pt x="733806" y="912066"/>
                </a:cubicBezTo>
                <a:cubicBezTo>
                  <a:pt x="733806" y="951548"/>
                  <a:pt x="706850" y="953738"/>
                  <a:pt x="705374" y="954119"/>
                </a:cubicBezTo>
                <a:lnTo>
                  <a:pt x="443436" y="954119"/>
                </a:lnTo>
                <a:cubicBezTo>
                  <a:pt x="427196" y="954119"/>
                  <a:pt x="415004" y="967788"/>
                  <a:pt x="415004" y="983980"/>
                </a:cubicBezTo>
                <a:cubicBezTo>
                  <a:pt x="415004" y="1000173"/>
                  <a:pt x="427196" y="1012031"/>
                  <a:pt x="443436" y="1012031"/>
                </a:cubicBezTo>
                <a:lnTo>
                  <a:pt x="736378" y="1012031"/>
                </a:lnTo>
                <a:cubicBezTo>
                  <a:pt x="780288" y="1012031"/>
                  <a:pt x="890969" y="1001697"/>
                  <a:pt x="968835" y="901351"/>
                </a:cubicBezTo>
                <a:cubicBezTo>
                  <a:pt x="995029" y="864822"/>
                  <a:pt x="1026747" y="846011"/>
                  <a:pt x="1062180" y="846011"/>
                </a:cubicBezTo>
                <a:cubicBezTo>
                  <a:pt x="1093899" y="846011"/>
                  <a:pt x="1121235" y="861155"/>
                  <a:pt x="1131189" y="868871"/>
                </a:cubicBezTo>
                <a:cubicBezTo>
                  <a:pt x="1160336" y="892112"/>
                  <a:pt x="1160717" y="899874"/>
                  <a:pt x="1160717" y="900208"/>
                </a:cubicBezTo>
                <a:cubicBezTo>
                  <a:pt x="1161098" y="906113"/>
                  <a:pt x="1142286" y="926021"/>
                  <a:pt x="1135237" y="933783"/>
                </a:cubicBezTo>
                <a:cubicBezTo>
                  <a:pt x="1069562" y="1006459"/>
                  <a:pt x="889159" y="1151477"/>
                  <a:pt x="629793" y="1151477"/>
                </a:cubicBezTo>
                <a:lnTo>
                  <a:pt x="301419" y="1151477"/>
                </a:lnTo>
                <a:cubicBezTo>
                  <a:pt x="246078" y="1151477"/>
                  <a:pt x="185547" y="1108662"/>
                  <a:pt x="185214" y="1107948"/>
                </a:cubicBezTo>
                <a:cubicBezTo>
                  <a:pt x="180070" y="1104281"/>
                  <a:pt x="173784" y="1102757"/>
                  <a:pt x="167878" y="1102757"/>
                </a:cubicBezTo>
                <a:lnTo>
                  <a:pt x="167878" y="845963"/>
                </a:lnTo>
                <a:cubicBezTo>
                  <a:pt x="174165" y="845963"/>
                  <a:pt x="180070" y="843010"/>
                  <a:pt x="185214" y="839343"/>
                </a:cubicBezTo>
                <a:lnTo>
                  <a:pt x="191834" y="835295"/>
                </a:lnTo>
                <a:cubicBezTo>
                  <a:pt x="211741" y="820150"/>
                  <a:pt x="237220" y="812054"/>
                  <a:pt x="262319" y="812054"/>
                </a:cubicBezTo>
                <a:lnTo>
                  <a:pt x="619077" y="810959"/>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6" name="任意多边形: 形状 65"/>
          <p:cNvSpPr/>
          <p:nvPr/>
        </p:nvSpPr>
        <p:spPr>
          <a:xfrm>
            <a:off x="381510" y="2810759"/>
            <a:ext cx="460375" cy="460439"/>
          </a:xfrm>
          <a:custGeom>
            <a:avLst/>
            <a:gdLst>
              <a:gd name="connsiteX0" fmla="*/ 7941 w 460375"/>
              <a:gd name="connsiteY0" fmla="*/ 285692 h 460439"/>
              <a:gd name="connsiteX1" fmla="*/ 71470 w 460375"/>
              <a:gd name="connsiteY1" fmla="*/ 285692 h 460439"/>
              <a:gd name="connsiteX2" fmla="*/ 79411 w 460375"/>
              <a:gd name="connsiteY2" fmla="*/ 293633 h 460439"/>
              <a:gd name="connsiteX3" fmla="*/ 79411 w 460375"/>
              <a:gd name="connsiteY3" fmla="*/ 452456 h 460439"/>
              <a:gd name="connsiteX4" fmla="*/ 71470 w 460375"/>
              <a:gd name="connsiteY4" fmla="*/ 460397 h 460439"/>
              <a:gd name="connsiteX5" fmla="*/ 7941 w 460375"/>
              <a:gd name="connsiteY5" fmla="*/ 460397 h 460439"/>
              <a:gd name="connsiteX6" fmla="*/ 0 w 460375"/>
              <a:gd name="connsiteY6" fmla="*/ 452456 h 460439"/>
              <a:gd name="connsiteX7" fmla="*/ 0 w 460375"/>
              <a:gd name="connsiteY7" fmla="*/ 293633 h 460439"/>
              <a:gd name="connsiteX8" fmla="*/ 7941 w 460375"/>
              <a:gd name="connsiteY8" fmla="*/ 285692 h 460439"/>
              <a:gd name="connsiteX9" fmla="*/ 198423 w 460375"/>
              <a:gd name="connsiteY9" fmla="*/ 269815 h 460439"/>
              <a:gd name="connsiteX10" fmla="*/ 261952 w 460375"/>
              <a:gd name="connsiteY10" fmla="*/ 269815 h 460439"/>
              <a:gd name="connsiteX11" fmla="*/ 269893 w 460375"/>
              <a:gd name="connsiteY11" fmla="*/ 277756 h 460439"/>
              <a:gd name="connsiteX12" fmla="*/ 269893 w 460375"/>
              <a:gd name="connsiteY12" fmla="*/ 452461 h 460439"/>
              <a:gd name="connsiteX13" fmla="*/ 261952 w 460375"/>
              <a:gd name="connsiteY13" fmla="*/ 460402 h 460439"/>
              <a:gd name="connsiteX14" fmla="*/ 198423 w 460375"/>
              <a:gd name="connsiteY14" fmla="*/ 460402 h 460439"/>
              <a:gd name="connsiteX15" fmla="*/ 190482 w 460375"/>
              <a:gd name="connsiteY15" fmla="*/ 452461 h 460439"/>
              <a:gd name="connsiteX16" fmla="*/ 190482 w 460375"/>
              <a:gd name="connsiteY16" fmla="*/ 277756 h 460439"/>
              <a:gd name="connsiteX17" fmla="*/ 198423 w 460375"/>
              <a:gd name="connsiteY17" fmla="*/ 269815 h 460439"/>
              <a:gd name="connsiteX18" fmla="*/ 103182 w 460375"/>
              <a:gd name="connsiteY18" fmla="*/ 230121 h 460439"/>
              <a:gd name="connsiteX19" fmla="*/ 166711 w 460375"/>
              <a:gd name="connsiteY19" fmla="*/ 230121 h 460439"/>
              <a:gd name="connsiteX20" fmla="*/ 174652 w 460375"/>
              <a:gd name="connsiteY20" fmla="*/ 238062 h 460439"/>
              <a:gd name="connsiteX21" fmla="*/ 174652 w 460375"/>
              <a:gd name="connsiteY21" fmla="*/ 452472 h 460439"/>
              <a:gd name="connsiteX22" fmla="*/ 166711 w 460375"/>
              <a:gd name="connsiteY22" fmla="*/ 460414 h 460439"/>
              <a:gd name="connsiteX23" fmla="*/ 103182 w 460375"/>
              <a:gd name="connsiteY23" fmla="*/ 460414 h 460439"/>
              <a:gd name="connsiteX24" fmla="*/ 95240 w 460375"/>
              <a:gd name="connsiteY24" fmla="*/ 452472 h 460439"/>
              <a:gd name="connsiteX25" fmla="*/ 95240 w 460375"/>
              <a:gd name="connsiteY25" fmla="*/ 238062 h 460439"/>
              <a:gd name="connsiteX26" fmla="*/ 103182 w 460375"/>
              <a:gd name="connsiteY26" fmla="*/ 230121 h 460439"/>
              <a:gd name="connsiteX27" fmla="*/ 293664 w 460375"/>
              <a:gd name="connsiteY27" fmla="*/ 190425 h 460439"/>
              <a:gd name="connsiteX28" fmla="*/ 357193 w 460375"/>
              <a:gd name="connsiteY28" fmla="*/ 190425 h 460439"/>
              <a:gd name="connsiteX29" fmla="*/ 365134 w 460375"/>
              <a:gd name="connsiteY29" fmla="*/ 198367 h 460439"/>
              <a:gd name="connsiteX30" fmla="*/ 365134 w 460375"/>
              <a:gd name="connsiteY30" fmla="*/ 452483 h 460439"/>
              <a:gd name="connsiteX31" fmla="*/ 357193 w 460375"/>
              <a:gd name="connsiteY31" fmla="*/ 460424 h 460439"/>
              <a:gd name="connsiteX32" fmla="*/ 293664 w 460375"/>
              <a:gd name="connsiteY32" fmla="*/ 460424 h 460439"/>
              <a:gd name="connsiteX33" fmla="*/ 285723 w 460375"/>
              <a:gd name="connsiteY33" fmla="*/ 452483 h 460439"/>
              <a:gd name="connsiteX34" fmla="*/ 285723 w 460375"/>
              <a:gd name="connsiteY34" fmla="*/ 198367 h 460439"/>
              <a:gd name="connsiteX35" fmla="*/ 293664 w 460375"/>
              <a:gd name="connsiteY35" fmla="*/ 190425 h 460439"/>
              <a:gd name="connsiteX36" fmla="*/ 388905 w 460375"/>
              <a:gd name="connsiteY36" fmla="*/ 134853 h 460439"/>
              <a:gd name="connsiteX37" fmla="*/ 452434 w 460375"/>
              <a:gd name="connsiteY37" fmla="*/ 134853 h 460439"/>
              <a:gd name="connsiteX38" fmla="*/ 460375 w 460375"/>
              <a:gd name="connsiteY38" fmla="*/ 142794 h 460439"/>
              <a:gd name="connsiteX39" fmla="*/ 460375 w 460375"/>
              <a:gd name="connsiteY39" fmla="*/ 452498 h 460439"/>
              <a:gd name="connsiteX40" fmla="*/ 452434 w 460375"/>
              <a:gd name="connsiteY40" fmla="*/ 460439 h 460439"/>
              <a:gd name="connsiteX41" fmla="*/ 388905 w 460375"/>
              <a:gd name="connsiteY41" fmla="*/ 460439 h 460439"/>
              <a:gd name="connsiteX42" fmla="*/ 380964 w 460375"/>
              <a:gd name="connsiteY42" fmla="*/ 452498 h 460439"/>
              <a:gd name="connsiteX43" fmla="*/ 380964 w 460375"/>
              <a:gd name="connsiteY43" fmla="*/ 142794 h 460439"/>
              <a:gd name="connsiteX44" fmla="*/ 388905 w 460375"/>
              <a:gd name="connsiteY44" fmla="*/ 134853 h 460439"/>
              <a:gd name="connsiteX45" fmla="*/ 420670 w 460375"/>
              <a:gd name="connsiteY45" fmla="*/ 0 h 460439"/>
              <a:gd name="connsiteX46" fmla="*/ 452434 w 460375"/>
              <a:gd name="connsiteY46" fmla="*/ 31765 h 460439"/>
              <a:gd name="connsiteX47" fmla="*/ 420670 w 460375"/>
              <a:gd name="connsiteY47" fmla="*/ 63529 h 460439"/>
              <a:gd name="connsiteX48" fmla="*/ 398219 w 460375"/>
              <a:gd name="connsiteY48" fmla="*/ 54215 h 460439"/>
              <a:gd name="connsiteX49" fmla="*/ 398172 w 460375"/>
              <a:gd name="connsiteY49" fmla="*/ 54102 h 460439"/>
              <a:gd name="connsiteX50" fmla="*/ 354082 w 460375"/>
              <a:gd name="connsiteY50" fmla="*/ 79821 h 460439"/>
              <a:gd name="connsiteX51" fmla="*/ 357194 w 460375"/>
              <a:gd name="connsiteY51" fmla="*/ 87322 h 460439"/>
              <a:gd name="connsiteX52" fmla="*/ 325429 w 460375"/>
              <a:gd name="connsiteY52" fmla="*/ 119087 h 460439"/>
              <a:gd name="connsiteX53" fmla="*/ 309692 w 460375"/>
              <a:gd name="connsiteY53" fmla="*/ 112558 h 460439"/>
              <a:gd name="connsiteX54" fmla="*/ 256450 w 460375"/>
              <a:gd name="connsiteY54" fmla="*/ 161363 h 460439"/>
              <a:gd name="connsiteX55" fmla="*/ 261952 w 460375"/>
              <a:gd name="connsiteY55" fmla="*/ 174626 h 460439"/>
              <a:gd name="connsiteX56" fmla="*/ 230188 w 460375"/>
              <a:gd name="connsiteY56" fmla="*/ 206391 h 460439"/>
              <a:gd name="connsiteX57" fmla="*/ 198423 w 460375"/>
              <a:gd name="connsiteY57" fmla="*/ 174626 h 460439"/>
              <a:gd name="connsiteX58" fmla="*/ 200817 w 460375"/>
              <a:gd name="connsiteY58" fmla="*/ 168856 h 460439"/>
              <a:gd name="connsiteX59" fmla="*/ 158190 w 460375"/>
              <a:gd name="connsiteY59" fmla="*/ 147543 h 460439"/>
              <a:gd name="connsiteX60" fmla="*/ 157397 w 460375"/>
              <a:gd name="connsiteY60" fmla="*/ 149456 h 460439"/>
              <a:gd name="connsiteX61" fmla="*/ 134946 w 460375"/>
              <a:gd name="connsiteY61" fmla="*/ 158770 h 460439"/>
              <a:gd name="connsiteX62" fmla="*/ 112496 w 460375"/>
              <a:gd name="connsiteY62" fmla="*/ 149456 h 460439"/>
              <a:gd name="connsiteX63" fmla="*/ 112436 w 460375"/>
              <a:gd name="connsiteY63" fmla="*/ 149312 h 460439"/>
              <a:gd name="connsiteX64" fmla="*/ 68345 w 460375"/>
              <a:gd name="connsiteY64" fmla="*/ 175031 h 460439"/>
              <a:gd name="connsiteX65" fmla="*/ 71470 w 460375"/>
              <a:gd name="connsiteY65" fmla="*/ 182563 h 460439"/>
              <a:gd name="connsiteX66" fmla="*/ 39706 w 460375"/>
              <a:gd name="connsiteY66" fmla="*/ 214327 h 460439"/>
              <a:gd name="connsiteX67" fmla="*/ 7941 w 460375"/>
              <a:gd name="connsiteY67" fmla="*/ 182563 h 460439"/>
              <a:gd name="connsiteX68" fmla="*/ 39706 w 460375"/>
              <a:gd name="connsiteY68" fmla="*/ 150798 h 460439"/>
              <a:gd name="connsiteX69" fmla="*/ 62156 w 460375"/>
              <a:gd name="connsiteY69" fmla="*/ 160113 h 460439"/>
              <a:gd name="connsiteX70" fmla="*/ 62204 w 460375"/>
              <a:gd name="connsiteY70" fmla="*/ 160227 h 460439"/>
              <a:gd name="connsiteX71" fmla="*/ 106294 w 460375"/>
              <a:gd name="connsiteY71" fmla="*/ 134508 h 460439"/>
              <a:gd name="connsiteX72" fmla="*/ 103181 w 460375"/>
              <a:gd name="connsiteY72" fmla="*/ 127005 h 460439"/>
              <a:gd name="connsiteX73" fmla="*/ 134946 w 460375"/>
              <a:gd name="connsiteY73" fmla="*/ 95241 h 460439"/>
              <a:gd name="connsiteX74" fmla="*/ 166711 w 460375"/>
              <a:gd name="connsiteY74" fmla="*/ 127005 h 460439"/>
              <a:gd name="connsiteX75" fmla="*/ 164292 w 460375"/>
              <a:gd name="connsiteY75" fmla="*/ 132837 h 460439"/>
              <a:gd name="connsiteX76" fmla="*/ 206918 w 460375"/>
              <a:gd name="connsiteY76" fmla="*/ 154150 h 460439"/>
              <a:gd name="connsiteX77" fmla="*/ 207737 w 460375"/>
              <a:gd name="connsiteY77" fmla="*/ 152176 h 460439"/>
              <a:gd name="connsiteX78" fmla="*/ 230188 w 460375"/>
              <a:gd name="connsiteY78" fmla="*/ 142862 h 460439"/>
              <a:gd name="connsiteX79" fmla="*/ 245982 w 460375"/>
              <a:gd name="connsiteY79" fmla="*/ 149414 h 460439"/>
              <a:gd name="connsiteX80" fmla="*/ 299190 w 460375"/>
              <a:gd name="connsiteY80" fmla="*/ 100640 h 460439"/>
              <a:gd name="connsiteX81" fmla="*/ 293665 w 460375"/>
              <a:gd name="connsiteY81" fmla="*/ 87322 h 460439"/>
              <a:gd name="connsiteX82" fmla="*/ 325429 w 460375"/>
              <a:gd name="connsiteY82" fmla="*/ 55558 h 460439"/>
              <a:gd name="connsiteX83" fmla="*/ 347880 w 460375"/>
              <a:gd name="connsiteY83" fmla="*/ 64872 h 460439"/>
              <a:gd name="connsiteX84" fmla="*/ 347940 w 460375"/>
              <a:gd name="connsiteY84" fmla="*/ 65018 h 460439"/>
              <a:gd name="connsiteX85" fmla="*/ 392031 w 460375"/>
              <a:gd name="connsiteY85" fmla="*/ 39298 h 460439"/>
              <a:gd name="connsiteX86" fmla="*/ 388905 w 460375"/>
              <a:gd name="connsiteY86" fmla="*/ 31765 h 460439"/>
              <a:gd name="connsiteX87" fmla="*/ 420670 w 460375"/>
              <a:gd name="connsiteY87" fmla="*/ 0 h 4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60375" h="460439">
                <a:moveTo>
                  <a:pt x="7941" y="285692"/>
                </a:moveTo>
                <a:lnTo>
                  <a:pt x="71470" y="285692"/>
                </a:lnTo>
                <a:cubicBezTo>
                  <a:pt x="75856" y="285692"/>
                  <a:pt x="79411" y="289247"/>
                  <a:pt x="79411" y="293633"/>
                </a:cubicBezTo>
                <a:lnTo>
                  <a:pt x="79411" y="452456"/>
                </a:lnTo>
                <a:cubicBezTo>
                  <a:pt x="79411" y="456842"/>
                  <a:pt x="75856" y="460397"/>
                  <a:pt x="71470" y="460397"/>
                </a:cubicBezTo>
                <a:lnTo>
                  <a:pt x="7941" y="460397"/>
                </a:lnTo>
                <a:cubicBezTo>
                  <a:pt x="3555" y="460397"/>
                  <a:pt x="0" y="456842"/>
                  <a:pt x="0" y="452456"/>
                </a:cubicBezTo>
                <a:lnTo>
                  <a:pt x="0" y="293633"/>
                </a:lnTo>
                <a:cubicBezTo>
                  <a:pt x="0" y="289247"/>
                  <a:pt x="3555" y="285692"/>
                  <a:pt x="7941" y="285692"/>
                </a:cubicBezTo>
                <a:close/>
                <a:moveTo>
                  <a:pt x="198423" y="269815"/>
                </a:moveTo>
                <a:lnTo>
                  <a:pt x="261952" y="269815"/>
                </a:lnTo>
                <a:cubicBezTo>
                  <a:pt x="266338" y="269815"/>
                  <a:pt x="269893" y="273370"/>
                  <a:pt x="269893" y="277756"/>
                </a:cubicBezTo>
                <a:lnTo>
                  <a:pt x="269893" y="452461"/>
                </a:lnTo>
                <a:cubicBezTo>
                  <a:pt x="269893" y="456847"/>
                  <a:pt x="266338" y="460402"/>
                  <a:pt x="261952" y="460402"/>
                </a:cubicBezTo>
                <a:lnTo>
                  <a:pt x="198423" y="460402"/>
                </a:lnTo>
                <a:cubicBezTo>
                  <a:pt x="194037" y="460402"/>
                  <a:pt x="190482" y="456847"/>
                  <a:pt x="190482" y="452461"/>
                </a:cubicBezTo>
                <a:lnTo>
                  <a:pt x="190482" y="277756"/>
                </a:lnTo>
                <a:cubicBezTo>
                  <a:pt x="190482" y="273370"/>
                  <a:pt x="194037" y="269815"/>
                  <a:pt x="198423" y="269815"/>
                </a:cubicBezTo>
                <a:close/>
                <a:moveTo>
                  <a:pt x="103182" y="230121"/>
                </a:moveTo>
                <a:lnTo>
                  <a:pt x="166711" y="230121"/>
                </a:lnTo>
                <a:cubicBezTo>
                  <a:pt x="171097" y="230121"/>
                  <a:pt x="174652" y="233676"/>
                  <a:pt x="174652" y="238062"/>
                </a:cubicBezTo>
                <a:lnTo>
                  <a:pt x="174652" y="452472"/>
                </a:lnTo>
                <a:cubicBezTo>
                  <a:pt x="174652" y="456858"/>
                  <a:pt x="171097" y="460414"/>
                  <a:pt x="166711" y="460414"/>
                </a:cubicBezTo>
                <a:lnTo>
                  <a:pt x="103182" y="460414"/>
                </a:lnTo>
                <a:cubicBezTo>
                  <a:pt x="98796" y="460414"/>
                  <a:pt x="95240" y="456858"/>
                  <a:pt x="95240" y="452472"/>
                </a:cubicBezTo>
                <a:lnTo>
                  <a:pt x="95240" y="238062"/>
                </a:lnTo>
                <a:cubicBezTo>
                  <a:pt x="95240" y="233676"/>
                  <a:pt x="98796" y="230121"/>
                  <a:pt x="103182" y="230121"/>
                </a:cubicBezTo>
                <a:close/>
                <a:moveTo>
                  <a:pt x="293664" y="190425"/>
                </a:moveTo>
                <a:lnTo>
                  <a:pt x="357193" y="190425"/>
                </a:lnTo>
                <a:cubicBezTo>
                  <a:pt x="361579" y="190425"/>
                  <a:pt x="365134" y="193981"/>
                  <a:pt x="365134" y="198367"/>
                </a:cubicBezTo>
                <a:lnTo>
                  <a:pt x="365134" y="452483"/>
                </a:lnTo>
                <a:cubicBezTo>
                  <a:pt x="365134" y="456869"/>
                  <a:pt x="361579" y="460424"/>
                  <a:pt x="357193" y="460424"/>
                </a:cubicBezTo>
                <a:lnTo>
                  <a:pt x="293664" y="460424"/>
                </a:lnTo>
                <a:cubicBezTo>
                  <a:pt x="289278" y="460424"/>
                  <a:pt x="285723" y="456869"/>
                  <a:pt x="285723" y="452483"/>
                </a:cubicBezTo>
                <a:lnTo>
                  <a:pt x="285723" y="198367"/>
                </a:lnTo>
                <a:cubicBezTo>
                  <a:pt x="285723" y="193981"/>
                  <a:pt x="289278" y="190425"/>
                  <a:pt x="293664" y="190425"/>
                </a:cubicBezTo>
                <a:close/>
                <a:moveTo>
                  <a:pt x="388905" y="134853"/>
                </a:moveTo>
                <a:lnTo>
                  <a:pt x="452434" y="134853"/>
                </a:lnTo>
                <a:cubicBezTo>
                  <a:pt x="456820" y="134853"/>
                  <a:pt x="460375" y="138409"/>
                  <a:pt x="460375" y="142794"/>
                </a:cubicBezTo>
                <a:lnTo>
                  <a:pt x="460375" y="452498"/>
                </a:lnTo>
                <a:cubicBezTo>
                  <a:pt x="460375" y="456884"/>
                  <a:pt x="456820" y="460439"/>
                  <a:pt x="452434" y="460439"/>
                </a:cubicBezTo>
                <a:lnTo>
                  <a:pt x="388905" y="460439"/>
                </a:lnTo>
                <a:cubicBezTo>
                  <a:pt x="384519" y="460439"/>
                  <a:pt x="380964" y="456884"/>
                  <a:pt x="380964" y="452498"/>
                </a:cubicBezTo>
                <a:lnTo>
                  <a:pt x="380964" y="142794"/>
                </a:lnTo>
                <a:cubicBezTo>
                  <a:pt x="380964" y="138409"/>
                  <a:pt x="384519" y="134853"/>
                  <a:pt x="388905" y="134853"/>
                </a:cubicBezTo>
                <a:close/>
                <a:moveTo>
                  <a:pt x="420670" y="0"/>
                </a:moveTo>
                <a:cubicBezTo>
                  <a:pt x="438185" y="0"/>
                  <a:pt x="452434" y="14250"/>
                  <a:pt x="452434" y="31765"/>
                </a:cubicBezTo>
                <a:cubicBezTo>
                  <a:pt x="452434" y="49280"/>
                  <a:pt x="438185" y="63529"/>
                  <a:pt x="420670" y="63529"/>
                </a:cubicBezTo>
                <a:cubicBezTo>
                  <a:pt x="411912" y="63529"/>
                  <a:pt x="403971" y="59967"/>
                  <a:pt x="398219" y="54215"/>
                </a:cubicBezTo>
                <a:lnTo>
                  <a:pt x="398172" y="54102"/>
                </a:lnTo>
                <a:lnTo>
                  <a:pt x="354082" y="79821"/>
                </a:lnTo>
                <a:lnTo>
                  <a:pt x="357194" y="87322"/>
                </a:lnTo>
                <a:cubicBezTo>
                  <a:pt x="357194" y="104838"/>
                  <a:pt x="342944" y="119087"/>
                  <a:pt x="325429" y="119087"/>
                </a:cubicBezTo>
                <a:lnTo>
                  <a:pt x="309692" y="112558"/>
                </a:lnTo>
                <a:lnTo>
                  <a:pt x="256450" y="161363"/>
                </a:lnTo>
                <a:lnTo>
                  <a:pt x="261952" y="174626"/>
                </a:lnTo>
                <a:cubicBezTo>
                  <a:pt x="261952" y="192142"/>
                  <a:pt x="247703" y="206391"/>
                  <a:pt x="230188" y="206391"/>
                </a:cubicBezTo>
                <a:cubicBezTo>
                  <a:pt x="212672" y="206391"/>
                  <a:pt x="198423" y="192142"/>
                  <a:pt x="198423" y="174626"/>
                </a:cubicBezTo>
                <a:lnTo>
                  <a:pt x="200817" y="168856"/>
                </a:lnTo>
                <a:lnTo>
                  <a:pt x="158190" y="147543"/>
                </a:lnTo>
                <a:lnTo>
                  <a:pt x="157397" y="149456"/>
                </a:lnTo>
                <a:cubicBezTo>
                  <a:pt x="151645" y="155208"/>
                  <a:pt x="143704" y="158770"/>
                  <a:pt x="134946" y="158770"/>
                </a:cubicBezTo>
                <a:cubicBezTo>
                  <a:pt x="126189" y="158770"/>
                  <a:pt x="118247" y="155208"/>
                  <a:pt x="112496" y="149456"/>
                </a:cubicBezTo>
                <a:lnTo>
                  <a:pt x="112436" y="149312"/>
                </a:lnTo>
                <a:lnTo>
                  <a:pt x="68345" y="175031"/>
                </a:lnTo>
                <a:lnTo>
                  <a:pt x="71470" y="182563"/>
                </a:lnTo>
                <a:cubicBezTo>
                  <a:pt x="71470" y="200078"/>
                  <a:pt x="57221" y="214327"/>
                  <a:pt x="39706" y="214327"/>
                </a:cubicBezTo>
                <a:cubicBezTo>
                  <a:pt x="22190" y="214327"/>
                  <a:pt x="7941" y="200078"/>
                  <a:pt x="7941" y="182563"/>
                </a:cubicBezTo>
                <a:cubicBezTo>
                  <a:pt x="7941" y="165048"/>
                  <a:pt x="22190" y="150798"/>
                  <a:pt x="39706" y="150798"/>
                </a:cubicBezTo>
                <a:cubicBezTo>
                  <a:pt x="48463" y="150798"/>
                  <a:pt x="56404" y="154361"/>
                  <a:pt x="62156" y="160113"/>
                </a:cubicBezTo>
                <a:lnTo>
                  <a:pt x="62204" y="160227"/>
                </a:lnTo>
                <a:lnTo>
                  <a:pt x="106294" y="134508"/>
                </a:lnTo>
                <a:lnTo>
                  <a:pt x="103181" y="127005"/>
                </a:lnTo>
                <a:cubicBezTo>
                  <a:pt x="103181" y="109490"/>
                  <a:pt x="117431" y="95241"/>
                  <a:pt x="134946" y="95241"/>
                </a:cubicBezTo>
                <a:cubicBezTo>
                  <a:pt x="152462" y="95241"/>
                  <a:pt x="166711" y="109490"/>
                  <a:pt x="166711" y="127005"/>
                </a:cubicBezTo>
                <a:lnTo>
                  <a:pt x="164292" y="132837"/>
                </a:lnTo>
                <a:lnTo>
                  <a:pt x="206918" y="154150"/>
                </a:lnTo>
                <a:lnTo>
                  <a:pt x="207737" y="152176"/>
                </a:lnTo>
                <a:cubicBezTo>
                  <a:pt x="213489" y="146424"/>
                  <a:pt x="221430" y="142862"/>
                  <a:pt x="230188" y="142862"/>
                </a:cubicBezTo>
                <a:lnTo>
                  <a:pt x="245982" y="149414"/>
                </a:lnTo>
                <a:lnTo>
                  <a:pt x="299190" y="100640"/>
                </a:lnTo>
                <a:lnTo>
                  <a:pt x="293665" y="87322"/>
                </a:lnTo>
                <a:cubicBezTo>
                  <a:pt x="293665" y="69807"/>
                  <a:pt x="307914" y="55558"/>
                  <a:pt x="325429" y="55558"/>
                </a:cubicBezTo>
                <a:cubicBezTo>
                  <a:pt x="334187" y="55558"/>
                  <a:pt x="342128" y="59120"/>
                  <a:pt x="347880" y="64872"/>
                </a:cubicBezTo>
                <a:lnTo>
                  <a:pt x="347940" y="65018"/>
                </a:lnTo>
                <a:lnTo>
                  <a:pt x="392031" y="39298"/>
                </a:lnTo>
                <a:lnTo>
                  <a:pt x="388905" y="31765"/>
                </a:lnTo>
                <a:cubicBezTo>
                  <a:pt x="388905" y="14250"/>
                  <a:pt x="403154" y="0"/>
                  <a:pt x="420670" y="0"/>
                </a:cubicBezTo>
                <a:close/>
              </a:path>
            </a:pathLst>
          </a:custGeom>
          <a:solidFill>
            <a:schemeClr val="bg1"/>
          </a:solidFill>
          <a:ln w="131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任意多边形: 形状 66"/>
          <p:cNvSpPr/>
          <p:nvPr/>
        </p:nvSpPr>
        <p:spPr>
          <a:xfrm>
            <a:off x="349520" y="1412296"/>
            <a:ext cx="524354" cy="404189"/>
          </a:xfrm>
          <a:custGeom>
            <a:avLst/>
            <a:gdLst>
              <a:gd name="connsiteX0" fmla="*/ 56995 w 524354"/>
              <a:gd name="connsiteY0" fmla="*/ 311800 h 404189"/>
              <a:gd name="connsiteX1" fmla="*/ 296884 w 524354"/>
              <a:gd name="connsiteY1" fmla="*/ 311800 h 404189"/>
              <a:gd name="connsiteX2" fmla="*/ 335701 w 524354"/>
              <a:gd name="connsiteY2" fmla="*/ 392638 h 404189"/>
              <a:gd name="connsiteX3" fmla="*/ 56995 w 524354"/>
              <a:gd name="connsiteY3" fmla="*/ 392638 h 404189"/>
              <a:gd name="connsiteX4" fmla="*/ 34197 w 524354"/>
              <a:gd name="connsiteY4" fmla="*/ 369843 h 404189"/>
              <a:gd name="connsiteX5" fmla="*/ 34197 w 524354"/>
              <a:gd name="connsiteY5" fmla="*/ 334599 h 404189"/>
              <a:gd name="connsiteX6" fmla="*/ 56995 w 524354"/>
              <a:gd name="connsiteY6" fmla="*/ 311800 h 404189"/>
              <a:gd name="connsiteX7" fmla="*/ 421766 w 524354"/>
              <a:gd name="connsiteY7" fmla="*/ 242514 h 404189"/>
              <a:gd name="connsiteX8" fmla="*/ 410365 w 524354"/>
              <a:gd name="connsiteY8" fmla="*/ 253913 h 404189"/>
              <a:gd name="connsiteX9" fmla="*/ 410365 w 524354"/>
              <a:gd name="connsiteY9" fmla="*/ 288707 h 404189"/>
              <a:gd name="connsiteX10" fmla="*/ 376319 w 524354"/>
              <a:gd name="connsiteY10" fmla="*/ 288707 h 404189"/>
              <a:gd name="connsiteX11" fmla="*/ 364769 w 524354"/>
              <a:gd name="connsiteY11" fmla="*/ 300255 h 404189"/>
              <a:gd name="connsiteX12" fmla="*/ 376319 w 524354"/>
              <a:gd name="connsiteY12" fmla="*/ 311803 h 404189"/>
              <a:gd name="connsiteX13" fmla="*/ 410365 w 524354"/>
              <a:gd name="connsiteY13" fmla="*/ 311803 h 404189"/>
              <a:gd name="connsiteX14" fmla="*/ 410365 w 524354"/>
              <a:gd name="connsiteY14" fmla="*/ 346598 h 404189"/>
              <a:gd name="connsiteX15" fmla="*/ 421766 w 524354"/>
              <a:gd name="connsiteY15" fmla="*/ 357997 h 404189"/>
              <a:gd name="connsiteX16" fmla="*/ 433164 w 524354"/>
              <a:gd name="connsiteY16" fmla="*/ 346598 h 404189"/>
              <a:gd name="connsiteX17" fmla="*/ 433164 w 524354"/>
              <a:gd name="connsiteY17" fmla="*/ 311803 h 404189"/>
              <a:gd name="connsiteX18" fmla="*/ 467212 w 524354"/>
              <a:gd name="connsiteY18" fmla="*/ 311803 h 404189"/>
              <a:gd name="connsiteX19" fmla="*/ 478758 w 524354"/>
              <a:gd name="connsiteY19" fmla="*/ 300255 h 404189"/>
              <a:gd name="connsiteX20" fmla="*/ 467212 w 524354"/>
              <a:gd name="connsiteY20" fmla="*/ 288707 h 404189"/>
              <a:gd name="connsiteX21" fmla="*/ 433164 w 524354"/>
              <a:gd name="connsiteY21" fmla="*/ 288707 h 404189"/>
              <a:gd name="connsiteX22" fmla="*/ 433164 w 524354"/>
              <a:gd name="connsiteY22" fmla="*/ 253913 h 404189"/>
              <a:gd name="connsiteX23" fmla="*/ 421766 w 524354"/>
              <a:gd name="connsiteY23" fmla="*/ 242514 h 404189"/>
              <a:gd name="connsiteX24" fmla="*/ 79793 w 524354"/>
              <a:gd name="connsiteY24" fmla="*/ 207868 h 404189"/>
              <a:gd name="connsiteX25" fmla="*/ 335701 w 524354"/>
              <a:gd name="connsiteY25" fmla="*/ 207868 h 404189"/>
              <a:gd name="connsiteX26" fmla="*/ 296884 w 524354"/>
              <a:gd name="connsiteY26" fmla="*/ 288704 h 404189"/>
              <a:gd name="connsiteX27" fmla="*/ 79793 w 524354"/>
              <a:gd name="connsiteY27" fmla="*/ 288704 h 404189"/>
              <a:gd name="connsiteX28" fmla="*/ 56995 w 524354"/>
              <a:gd name="connsiteY28" fmla="*/ 265907 h 404189"/>
              <a:gd name="connsiteX29" fmla="*/ 56995 w 524354"/>
              <a:gd name="connsiteY29" fmla="*/ 230667 h 404189"/>
              <a:gd name="connsiteX30" fmla="*/ 79793 w 524354"/>
              <a:gd name="connsiteY30" fmla="*/ 207868 h 404189"/>
              <a:gd name="connsiteX31" fmla="*/ 421766 w 524354"/>
              <a:gd name="connsiteY31" fmla="*/ 196320 h 404189"/>
              <a:gd name="connsiteX32" fmla="*/ 524354 w 524354"/>
              <a:gd name="connsiteY32" fmla="*/ 300255 h 404189"/>
              <a:gd name="connsiteX33" fmla="*/ 421766 w 524354"/>
              <a:gd name="connsiteY33" fmla="*/ 404189 h 404189"/>
              <a:gd name="connsiteX34" fmla="*/ 319175 w 524354"/>
              <a:gd name="connsiteY34" fmla="*/ 300255 h 404189"/>
              <a:gd name="connsiteX35" fmla="*/ 421766 w 524354"/>
              <a:gd name="connsiteY35" fmla="*/ 196320 h 404189"/>
              <a:gd name="connsiteX36" fmla="*/ 22798 w 524354"/>
              <a:gd name="connsiteY36" fmla="*/ 103934 h 404189"/>
              <a:gd name="connsiteX37" fmla="*/ 330570 w 524354"/>
              <a:gd name="connsiteY37" fmla="*/ 103934 h 404189"/>
              <a:gd name="connsiteX38" fmla="*/ 353367 w 524354"/>
              <a:gd name="connsiteY38" fmla="*/ 126732 h 404189"/>
              <a:gd name="connsiteX39" fmla="*/ 353367 w 524354"/>
              <a:gd name="connsiteY39" fmla="*/ 161974 h 404189"/>
              <a:gd name="connsiteX40" fmla="*/ 330570 w 524354"/>
              <a:gd name="connsiteY40" fmla="*/ 184772 h 404189"/>
              <a:gd name="connsiteX41" fmla="*/ 22798 w 524354"/>
              <a:gd name="connsiteY41" fmla="*/ 184772 h 404189"/>
              <a:gd name="connsiteX42" fmla="*/ 0 w 524354"/>
              <a:gd name="connsiteY42" fmla="*/ 161974 h 404189"/>
              <a:gd name="connsiteX43" fmla="*/ 0 w 524354"/>
              <a:gd name="connsiteY43" fmla="*/ 126732 h 404189"/>
              <a:gd name="connsiteX44" fmla="*/ 22798 w 524354"/>
              <a:gd name="connsiteY44" fmla="*/ 103934 h 404189"/>
              <a:gd name="connsiteX45" fmla="*/ 56995 w 524354"/>
              <a:gd name="connsiteY45" fmla="*/ 0 h 404189"/>
              <a:gd name="connsiteX46" fmla="*/ 364767 w 524354"/>
              <a:gd name="connsiteY46" fmla="*/ 0 h 404189"/>
              <a:gd name="connsiteX47" fmla="*/ 387564 w 524354"/>
              <a:gd name="connsiteY47" fmla="*/ 22798 h 404189"/>
              <a:gd name="connsiteX48" fmla="*/ 387564 w 524354"/>
              <a:gd name="connsiteY48" fmla="*/ 58040 h 404189"/>
              <a:gd name="connsiteX49" fmla="*/ 364767 w 524354"/>
              <a:gd name="connsiteY49" fmla="*/ 80837 h 404189"/>
              <a:gd name="connsiteX50" fmla="*/ 56995 w 524354"/>
              <a:gd name="connsiteY50" fmla="*/ 80837 h 404189"/>
              <a:gd name="connsiteX51" fmla="*/ 34197 w 524354"/>
              <a:gd name="connsiteY51" fmla="*/ 58040 h 404189"/>
              <a:gd name="connsiteX52" fmla="*/ 34197 w 524354"/>
              <a:gd name="connsiteY52" fmla="*/ 22798 h 404189"/>
              <a:gd name="connsiteX53" fmla="*/ 56995 w 524354"/>
              <a:gd name="connsiteY53" fmla="*/ 0 h 40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24354" h="404189">
                <a:moveTo>
                  <a:pt x="56995" y="311800"/>
                </a:moveTo>
                <a:lnTo>
                  <a:pt x="296884" y="311800"/>
                </a:lnTo>
                <a:cubicBezTo>
                  <a:pt x="299709" y="343564"/>
                  <a:pt x="314077" y="371957"/>
                  <a:pt x="335701" y="392638"/>
                </a:cubicBezTo>
                <a:lnTo>
                  <a:pt x="56995" y="392638"/>
                </a:lnTo>
                <a:cubicBezTo>
                  <a:pt x="44404" y="392638"/>
                  <a:pt x="34197" y="382432"/>
                  <a:pt x="34197" y="369843"/>
                </a:cubicBezTo>
                <a:lnTo>
                  <a:pt x="34197" y="334599"/>
                </a:lnTo>
                <a:cubicBezTo>
                  <a:pt x="34197" y="322008"/>
                  <a:pt x="44404" y="311800"/>
                  <a:pt x="56995" y="311800"/>
                </a:cubicBezTo>
                <a:close/>
                <a:moveTo>
                  <a:pt x="421766" y="242514"/>
                </a:moveTo>
                <a:cubicBezTo>
                  <a:pt x="415469" y="242514"/>
                  <a:pt x="410365" y="247616"/>
                  <a:pt x="410365" y="253913"/>
                </a:cubicBezTo>
                <a:lnTo>
                  <a:pt x="410365" y="288707"/>
                </a:lnTo>
                <a:lnTo>
                  <a:pt x="376319" y="288707"/>
                </a:lnTo>
                <a:cubicBezTo>
                  <a:pt x="369939" y="288707"/>
                  <a:pt x="364769" y="293876"/>
                  <a:pt x="364769" y="300255"/>
                </a:cubicBezTo>
                <a:cubicBezTo>
                  <a:pt x="364769" y="306633"/>
                  <a:pt x="369939" y="311803"/>
                  <a:pt x="376319" y="311803"/>
                </a:cubicBezTo>
                <a:lnTo>
                  <a:pt x="410365" y="311803"/>
                </a:lnTo>
                <a:lnTo>
                  <a:pt x="410365" y="346598"/>
                </a:lnTo>
                <a:cubicBezTo>
                  <a:pt x="410365" y="352893"/>
                  <a:pt x="415469" y="357997"/>
                  <a:pt x="421766" y="357997"/>
                </a:cubicBezTo>
                <a:cubicBezTo>
                  <a:pt x="428060" y="357997"/>
                  <a:pt x="433164" y="352893"/>
                  <a:pt x="433164" y="346598"/>
                </a:cubicBezTo>
                <a:lnTo>
                  <a:pt x="433164" y="311803"/>
                </a:lnTo>
                <a:lnTo>
                  <a:pt x="467212" y="311803"/>
                </a:lnTo>
                <a:cubicBezTo>
                  <a:pt x="473588" y="311803"/>
                  <a:pt x="478758" y="306633"/>
                  <a:pt x="478758" y="300255"/>
                </a:cubicBezTo>
                <a:cubicBezTo>
                  <a:pt x="478758" y="293876"/>
                  <a:pt x="473588" y="288707"/>
                  <a:pt x="467212" y="288707"/>
                </a:cubicBezTo>
                <a:lnTo>
                  <a:pt x="433164" y="288707"/>
                </a:lnTo>
                <a:lnTo>
                  <a:pt x="433164" y="253913"/>
                </a:lnTo>
                <a:cubicBezTo>
                  <a:pt x="433164" y="247616"/>
                  <a:pt x="428060" y="242514"/>
                  <a:pt x="421766" y="242514"/>
                </a:cubicBezTo>
                <a:close/>
                <a:moveTo>
                  <a:pt x="79793" y="207868"/>
                </a:moveTo>
                <a:lnTo>
                  <a:pt x="335701" y="207868"/>
                </a:lnTo>
                <a:cubicBezTo>
                  <a:pt x="314077" y="228551"/>
                  <a:pt x="299709" y="256944"/>
                  <a:pt x="296884" y="288704"/>
                </a:cubicBezTo>
                <a:lnTo>
                  <a:pt x="79793" y="288704"/>
                </a:lnTo>
                <a:cubicBezTo>
                  <a:pt x="67202" y="288704"/>
                  <a:pt x="56995" y="278500"/>
                  <a:pt x="56995" y="265907"/>
                </a:cubicBezTo>
                <a:lnTo>
                  <a:pt x="56995" y="230667"/>
                </a:lnTo>
                <a:cubicBezTo>
                  <a:pt x="56995" y="218074"/>
                  <a:pt x="67202" y="207868"/>
                  <a:pt x="79793" y="207868"/>
                </a:cubicBezTo>
                <a:close/>
                <a:moveTo>
                  <a:pt x="421766" y="196320"/>
                </a:moveTo>
                <a:cubicBezTo>
                  <a:pt x="478422" y="196320"/>
                  <a:pt x="524354" y="242854"/>
                  <a:pt x="524354" y="300255"/>
                </a:cubicBezTo>
                <a:cubicBezTo>
                  <a:pt x="524354" y="357655"/>
                  <a:pt x="478422" y="404189"/>
                  <a:pt x="421766" y="404189"/>
                </a:cubicBezTo>
                <a:cubicBezTo>
                  <a:pt x="365105" y="404189"/>
                  <a:pt x="319175" y="357655"/>
                  <a:pt x="319175" y="300255"/>
                </a:cubicBezTo>
                <a:cubicBezTo>
                  <a:pt x="319175" y="242854"/>
                  <a:pt x="365105" y="196320"/>
                  <a:pt x="421766" y="196320"/>
                </a:cubicBezTo>
                <a:close/>
                <a:moveTo>
                  <a:pt x="22798" y="103934"/>
                </a:moveTo>
                <a:lnTo>
                  <a:pt x="330570" y="103934"/>
                </a:lnTo>
                <a:cubicBezTo>
                  <a:pt x="343163" y="103934"/>
                  <a:pt x="353367" y="114141"/>
                  <a:pt x="353367" y="126732"/>
                </a:cubicBezTo>
                <a:lnTo>
                  <a:pt x="353367" y="161974"/>
                </a:lnTo>
                <a:cubicBezTo>
                  <a:pt x="353367" y="174565"/>
                  <a:pt x="343163" y="184772"/>
                  <a:pt x="330570" y="184772"/>
                </a:cubicBezTo>
                <a:lnTo>
                  <a:pt x="22798" y="184772"/>
                </a:lnTo>
                <a:cubicBezTo>
                  <a:pt x="10207" y="184772"/>
                  <a:pt x="0" y="174565"/>
                  <a:pt x="0" y="161974"/>
                </a:cubicBezTo>
                <a:lnTo>
                  <a:pt x="0" y="126732"/>
                </a:lnTo>
                <a:cubicBezTo>
                  <a:pt x="0" y="114141"/>
                  <a:pt x="10207" y="103934"/>
                  <a:pt x="22798" y="103934"/>
                </a:cubicBezTo>
                <a:close/>
                <a:moveTo>
                  <a:pt x="56995" y="0"/>
                </a:moveTo>
                <a:lnTo>
                  <a:pt x="364767" y="0"/>
                </a:lnTo>
                <a:cubicBezTo>
                  <a:pt x="377360" y="0"/>
                  <a:pt x="387564" y="10207"/>
                  <a:pt x="387564" y="22798"/>
                </a:cubicBezTo>
                <a:lnTo>
                  <a:pt x="387564" y="58040"/>
                </a:lnTo>
                <a:cubicBezTo>
                  <a:pt x="387564" y="70631"/>
                  <a:pt x="377360" y="80837"/>
                  <a:pt x="364767" y="80837"/>
                </a:cubicBezTo>
                <a:lnTo>
                  <a:pt x="56995" y="80837"/>
                </a:lnTo>
                <a:cubicBezTo>
                  <a:pt x="44404" y="80837"/>
                  <a:pt x="34197" y="70631"/>
                  <a:pt x="34197" y="58040"/>
                </a:cubicBezTo>
                <a:lnTo>
                  <a:pt x="34197" y="22798"/>
                </a:lnTo>
                <a:cubicBezTo>
                  <a:pt x="34197" y="10207"/>
                  <a:pt x="44404" y="0"/>
                  <a:pt x="56995" y="0"/>
                </a:cubicBezTo>
                <a:close/>
              </a:path>
            </a:pathLst>
          </a:custGeom>
          <a:solidFill>
            <a:schemeClr val="bg1"/>
          </a:solidFill>
          <a:ln w="476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35305" y="944563"/>
            <a:ext cx="6873833" cy="347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财务数据分析看板</a:t>
            </a:r>
          </a:p>
        </p:txBody>
      </p:sp>
      <p:graphicFrame>
        <p:nvGraphicFramePr>
          <p:cNvPr id="10" name="图表 9"/>
          <p:cNvGraphicFramePr/>
          <p:nvPr/>
        </p:nvGraphicFramePr>
        <p:xfrm>
          <a:off x="235305" y="944563"/>
          <a:ext cx="6873833" cy="3363420"/>
        </p:xfrm>
        <a:graphic>
          <a:graphicData uri="http://schemas.openxmlformats.org/drawingml/2006/chart">
            <c:chart xmlns:c="http://schemas.openxmlformats.org/drawingml/2006/chart" xmlns:r="http://schemas.openxmlformats.org/officeDocument/2006/relationships" r:id="rId29"/>
          </a:graphicData>
        </a:graphic>
      </p:graphicFrame>
      <p:grpSp>
        <p:nvGrpSpPr>
          <p:cNvPr id="27" name="组合 26"/>
          <p:cNvGrpSpPr/>
          <p:nvPr/>
        </p:nvGrpSpPr>
        <p:grpSpPr>
          <a:xfrm>
            <a:off x="227013" y="4521405"/>
            <a:ext cx="3384000" cy="2145536"/>
            <a:chOff x="227013" y="1280683"/>
            <a:chExt cx="3826800" cy="2770910"/>
          </a:xfrm>
        </p:grpSpPr>
        <p:sp>
          <p:nvSpPr>
            <p:cNvPr id="14" name="矩形 13"/>
            <p:cNvSpPr/>
            <p:nvPr/>
          </p:nvSpPr>
          <p:spPr>
            <a:xfrm>
              <a:off x="227013" y="1688701"/>
              <a:ext cx="3826800" cy="236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 name="矩形 14"/>
            <p:cNvSpPr/>
            <p:nvPr/>
          </p:nvSpPr>
          <p:spPr>
            <a:xfrm>
              <a:off x="227013" y="1280683"/>
              <a:ext cx="3826800" cy="40801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销售收入构成</a:t>
              </a:r>
            </a:p>
          </p:txBody>
        </p:sp>
      </p:grpSp>
      <p:grpSp>
        <p:nvGrpSpPr>
          <p:cNvPr id="28" name="组合 27"/>
          <p:cNvGrpSpPr/>
          <p:nvPr/>
        </p:nvGrpSpPr>
        <p:grpSpPr>
          <a:xfrm>
            <a:off x="3725138" y="4521405"/>
            <a:ext cx="3384000" cy="2145536"/>
            <a:chOff x="227013" y="1280683"/>
            <a:chExt cx="3826800" cy="2770910"/>
          </a:xfrm>
        </p:grpSpPr>
        <p:sp>
          <p:nvSpPr>
            <p:cNvPr id="29" name="矩形 28"/>
            <p:cNvSpPr/>
            <p:nvPr/>
          </p:nvSpPr>
          <p:spPr>
            <a:xfrm>
              <a:off x="227013" y="1688701"/>
              <a:ext cx="3826800" cy="236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0" name="矩形 29"/>
            <p:cNvSpPr/>
            <p:nvPr/>
          </p:nvSpPr>
          <p:spPr>
            <a:xfrm>
              <a:off x="227013" y="1280683"/>
              <a:ext cx="3826800" cy="40801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费用构成</a:t>
              </a:r>
            </a:p>
          </p:txBody>
        </p:sp>
      </p:grpSp>
      <p:graphicFrame>
        <p:nvGraphicFramePr>
          <p:cNvPr id="31" name="图表 565"/>
          <p:cNvGraphicFramePr/>
          <p:nvPr/>
        </p:nvGraphicFramePr>
        <p:xfrm>
          <a:off x="1203527" y="4307983"/>
          <a:ext cx="2684379" cy="2684379"/>
        </p:xfrm>
        <a:graphic>
          <a:graphicData uri="http://schemas.openxmlformats.org/drawingml/2006/chart">
            <c:chart xmlns:c="http://schemas.openxmlformats.org/drawingml/2006/chart" xmlns:r="http://schemas.openxmlformats.org/officeDocument/2006/relationships" r:id="rId30"/>
          </a:graphicData>
        </a:graphic>
      </p:graphicFrame>
      <p:graphicFrame>
        <p:nvGraphicFramePr>
          <p:cNvPr id="32" name="图表 565"/>
          <p:cNvGraphicFramePr/>
          <p:nvPr/>
        </p:nvGraphicFramePr>
        <p:xfrm>
          <a:off x="4701652" y="4307983"/>
          <a:ext cx="2684379" cy="2684379"/>
        </p:xfrm>
        <a:graphic>
          <a:graphicData uri="http://schemas.openxmlformats.org/drawingml/2006/chart">
            <c:chart xmlns:c="http://schemas.openxmlformats.org/drawingml/2006/chart" xmlns:r="http://schemas.openxmlformats.org/officeDocument/2006/relationships" r:id="rId31"/>
          </a:graphicData>
        </a:graphic>
      </p:graphicFrame>
      <p:sp>
        <p:nvSpPr>
          <p:cNvPr id="33" name="文本框  57"/>
          <p:cNvSpPr txBox="1"/>
          <p:nvPr/>
        </p:nvSpPr>
        <p:spPr>
          <a:xfrm>
            <a:off x="254091" y="5096260"/>
            <a:ext cx="1552374"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5" name="文本框  57"/>
          <p:cNvSpPr txBox="1"/>
          <p:nvPr/>
        </p:nvSpPr>
        <p:spPr>
          <a:xfrm>
            <a:off x="293756" y="5563664"/>
            <a:ext cx="1107996" cy="40011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12.5</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7" name="等腰三角形 36"/>
          <p:cNvSpPr/>
          <p:nvPr/>
        </p:nvSpPr>
        <p:spPr>
          <a:xfrm>
            <a:off x="852491" y="5976652"/>
            <a:ext cx="93936" cy="8098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9" name="文本框  58"/>
          <p:cNvSpPr txBox="1"/>
          <p:nvPr/>
        </p:nvSpPr>
        <p:spPr>
          <a:xfrm>
            <a:off x="293756" y="5885235"/>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较去年</a:t>
            </a:r>
            <a:endParaRPr kumimoji="0" lang="en-US" sz="11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1" name="文本框  57"/>
          <p:cNvSpPr txBox="1"/>
          <p:nvPr/>
        </p:nvSpPr>
        <p:spPr>
          <a:xfrm>
            <a:off x="3809551" y="5096260"/>
            <a:ext cx="1552374"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750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2" name="文本框  57"/>
          <p:cNvSpPr txBox="1"/>
          <p:nvPr/>
        </p:nvSpPr>
        <p:spPr>
          <a:xfrm>
            <a:off x="3849216" y="5563664"/>
            <a:ext cx="1107996" cy="40011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9.5</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3" name="等腰三角形 42"/>
          <p:cNvSpPr/>
          <p:nvPr/>
        </p:nvSpPr>
        <p:spPr>
          <a:xfrm flipV="1">
            <a:off x="4407951" y="5976652"/>
            <a:ext cx="93936" cy="80980"/>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4" name="文本框  58"/>
          <p:cNvSpPr txBox="1"/>
          <p:nvPr/>
        </p:nvSpPr>
        <p:spPr>
          <a:xfrm>
            <a:off x="3849216" y="5885235"/>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较去年</a:t>
            </a:r>
            <a:endParaRPr kumimoji="0" lang="en-US" sz="11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8" name="组合 47"/>
          <p:cNvGrpSpPr/>
          <p:nvPr>
            <p:custDataLst>
              <p:tags r:id="rId2"/>
            </p:custDataLst>
          </p:nvPr>
        </p:nvGrpSpPr>
        <p:grpSpPr>
          <a:xfrm>
            <a:off x="7179971" y="2726081"/>
            <a:ext cx="4785015" cy="1691374"/>
            <a:chOff x="6995841" y="944562"/>
            <a:chExt cx="4969146" cy="1691374"/>
          </a:xfrm>
        </p:grpSpPr>
        <p:sp>
          <p:nvSpPr>
            <p:cNvPr id="49" name="矩形 48"/>
            <p:cNvSpPr/>
            <p:nvPr>
              <p:custDataLst>
                <p:tags r:id="rId27"/>
              </p:custDataLst>
            </p:nvPr>
          </p:nvSpPr>
          <p:spPr>
            <a:xfrm>
              <a:off x="6995841" y="1370011"/>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矩形 49"/>
            <p:cNvSpPr/>
            <p:nvPr/>
          </p:nvSpPr>
          <p:spPr>
            <a:xfrm>
              <a:off x="6999668" y="944562"/>
              <a:ext cx="4965319" cy="3884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不同产品市场占有率</a:t>
              </a:r>
            </a:p>
          </p:txBody>
        </p:sp>
      </p:grpSp>
      <p:grpSp>
        <p:nvGrpSpPr>
          <p:cNvPr id="51" name="组合 50"/>
          <p:cNvGrpSpPr/>
          <p:nvPr/>
        </p:nvGrpSpPr>
        <p:grpSpPr>
          <a:xfrm>
            <a:off x="7179971" y="944563"/>
            <a:ext cx="4785015" cy="1691374"/>
            <a:chOff x="6995841" y="944562"/>
            <a:chExt cx="4969146" cy="1691374"/>
          </a:xfrm>
        </p:grpSpPr>
        <p:sp>
          <p:nvSpPr>
            <p:cNvPr id="52" name="矩形 51"/>
            <p:cNvSpPr/>
            <p:nvPr/>
          </p:nvSpPr>
          <p:spPr>
            <a:xfrm>
              <a:off x="6995841" y="1370011"/>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3" name="矩形 52"/>
            <p:cNvSpPr/>
            <p:nvPr/>
          </p:nvSpPr>
          <p:spPr>
            <a:xfrm>
              <a:off x="6999668" y="944562"/>
              <a:ext cx="4965319" cy="3884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年度毛利率变化情况</a:t>
              </a:r>
            </a:p>
          </p:txBody>
        </p:sp>
      </p:grpSp>
      <p:graphicFrame>
        <p:nvGraphicFramePr>
          <p:cNvPr id="55" name="图表 54"/>
          <p:cNvGraphicFramePr/>
          <p:nvPr/>
        </p:nvGraphicFramePr>
        <p:xfrm>
          <a:off x="7226283" y="1382890"/>
          <a:ext cx="4662950" cy="1212202"/>
        </p:xfrm>
        <a:graphic>
          <a:graphicData uri="http://schemas.openxmlformats.org/drawingml/2006/chart">
            <c:chart xmlns:c="http://schemas.openxmlformats.org/drawingml/2006/chart" xmlns:r="http://schemas.openxmlformats.org/officeDocument/2006/relationships" r:id="rId32"/>
          </a:graphicData>
        </a:graphic>
      </p:graphicFrame>
      <p:grpSp>
        <p:nvGrpSpPr>
          <p:cNvPr id="60" name="组合 59"/>
          <p:cNvGrpSpPr/>
          <p:nvPr/>
        </p:nvGrpSpPr>
        <p:grpSpPr>
          <a:xfrm>
            <a:off x="7179971" y="4516989"/>
            <a:ext cx="4785015" cy="2174335"/>
            <a:chOff x="6995841" y="944562"/>
            <a:chExt cx="4969146" cy="2174335"/>
          </a:xfrm>
        </p:grpSpPr>
        <p:sp>
          <p:nvSpPr>
            <p:cNvPr id="61" name="矩形 60"/>
            <p:cNvSpPr/>
            <p:nvPr/>
          </p:nvSpPr>
          <p:spPr>
            <a:xfrm>
              <a:off x="6995841" y="1289293"/>
              <a:ext cx="4965320" cy="18296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矩形 61"/>
            <p:cNvSpPr/>
            <p:nvPr/>
          </p:nvSpPr>
          <p:spPr>
            <a:xfrm>
              <a:off x="6999668" y="944562"/>
              <a:ext cx="4965319" cy="315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坏账情况一览</a:t>
              </a:r>
            </a:p>
          </p:txBody>
        </p:sp>
      </p:grpSp>
      <p:grpSp>
        <p:nvGrpSpPr>
          <p:cNvPr id="106" name="组合 105"/>
          <p:cNvGrpSpPr/>
          <p:nvPr>
            <p:custDataLst>
              <p:tags r:id="rId3"/>
            </p:custDataLst>
          </p:nvPr>
        </p:nvGrpSpPr>
        <p:grpSpPr>
          <a:xfrm>
            <a:off x="7386031" y="3313132"/>
            <a:ext cx="902819" cy="902819"/>
            <a:chOff x="525149" y="4557979"/>
            <a:chExt cx="902819" cy="902819"/>
          </a:xfrm>
        </p:grpSpPr>
        <p:grpSp>
          <p:nvGrpSpPr>
            <p:cNvPr id="107" name="组合 106"/>
            <p:cNvGrpSpPr/>
            <p:nvPr/>
          </p:nvGrpSpPr>
          <p:grpSpPr>
            <a:xfrm>
              <a:off x="525149" y="4557979"/>
              <a:ext cx="902819" cy="902819"/>
              <a:chOff x="5152785" y="4184607"/>
              <a:chExt cx="1080000" cy="1080000"/>
            </a:xfrm>
          </p:grpSpPr>
          <p:sp>
            <p:nvSpPr>
              <p:cNvPr id="111" name="椭圆 110"/>
              <p:cNvSpPr>
                <a:spLocks noChangeAspect="1"/>
              </p:cNvSpPr>
              <p:nvPr>
                <p:custDataLst>
                  <p:tags r:id="rId25"/>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弧形 111"/>
              <p:cNvSpPr>
                <a:spLocks noChangeAspect="1"/>
              </p:cNvSpPr>
              <p:nvPr>
                <p:custDataLst>
                  <p:tags r:id="rId26"/>
                </p:custDataLst>
              </p:nvPr>
            </p:nvSpPr>
            <p:spPr>
              <a:xfrm>
                <a:off x="5152785" y="4184607"/>
                <a:ext cx="1080000" cy="1080000"/>
              </a:xfrm>
              <a:prstGeom prst="arc">
                <a:avLst>
                  <a:gd name="adj1" fmla="val 16200000"/>
                  <a:gd name="adj2" fmla="val 8456114"/>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08" name="文本框 107"/>
            <p:cNvSpPr txBox="1"/>
            <p:nvPr>
              <p:custDataLst>
                <p:tags r:id="rId22"/>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9" name="文本框 57"/>
            <p:cNvSpPr txBox="1"/>
            <p:nvPr>
              <p:custDataLst>
                <p:tags r:id="rId23"/>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0" name="等腰三角形 109"/>
            <p:cNvSpPr/>
            <p:nvPr>
              <p:custDataLst>
                <p:tags r:id="rId24"/>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3" name="组合 112"/>
          <p:cNvGrpSpPr/>
          <p:nvPr>
            <p:custDataLst>
              <p:tags r:id="rId4"/>
            </p:custDataLst>
          </p:nvPr>
        </p:nvGrpSpPr>
        <p:grpSpPr>
          <a:xfrm>
            <a:off x="8537695" y="3313132"/>
            <a:ext cx="902820" cy="902820"/>
            <a:chOff x="525149" y="4557979"/>
            <a:chExt cx="902820" cy="902820"/>
          </a:xfrm>
        </p:grpSpPr>
        <p:grpSp>
          <p:nvGrpSpPr>
            <p:cNvPr id="114" name="组合 113"/>
            <p:cNvGrpSpPr/>
            <p:nvPr/>
          </p:nvGrpSpPr>
          <p:grpSpPr>
            <a:xfrm>
              <a:off x="525149" y="4557979"/>
              <a:ext cx="902820" cy="902820"/>
              <a:chOff x="5152784" y="4184606"/>
              <a:chExt cx="1080001" cy="1080001"/>
            </a:xfrm>
          </p:grpSpPr>
          <p:sp>
            <p:nvSpPr>
              <p:cNvPr id="118" name="椭圆 117"/>
              <p:cNvSpPr>
                <a:spLocks noChangeAspect="1"/>
              </p:cNvSpPr>
              <p:nvPr>
                <p:custDataLst>
                  <p:tags r:id="rId20"/>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弧形 118"/>
              <p:cNvSpPr>
                <a:spLocks noChangeAspect="1"/>
              </p:cNvSpPr>
              <p:nvPr>
                <p:custDataLst>
                  <p:tags r:id="rId21"/>
                </p:custDataLst>
              </p:nvPr>
            </p:nvSpPr>
            <p:spPr>
              <a:xfrm>
                <a:off x="5152784" y="4184606"/>
                <a:ext cx="1080000" cy="1080000"/>
              </a:xfrm>
              <a:prstGeom prst="arc">
                <a:avLst>
                  <a:gd name="adj1" fmla="val 16200000"/>
                  <a:gd name="adj2" fmla="val 5932632"/>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15" name="文本框 114"/>
            <p:cNvSpPr txBox="1"/>
            <p:nvPr>
              <p:custDataLst>
                <p:tags r:id="rId17"/>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文本框 57"/>
            <p:cNvSpPr txBox="1"/>
            <p:nvPr>
              <p:custDataLst>
                <p:tags r:id="rId18"/>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51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等腰三角形 116"/>
            <p:cNvSpPr/>
            <p:nvPr>
              <p:custDataLst>
                <p:tags r:id="rId19"/>
              </p:custDataLst>
            </p:nvPr>
          </p:nvSpPr>
          <p:spPr>
            <a:xfrm rot="10800000" flipH="1">
              <a:off x="1190076" y="4908214"/>
              <a:ext cx="99253" cy="101174"/>
            </a:xfrm>
            <a:prstGeom prst="triangle">
              <a:avLst/>
            </a:prstGeom>
            <a:solidFill>
              <a:schemeClr val="accent1"/>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0" name="组合 119"/>
          <p:cNvGrpSpPr/>
          <p:nvPr>
            <p:custDataLst>
              <p:tags r:id="rId5"/>
            </p:custDataLst>
          </p:nvPr>
        </p:nvGrpSpPr>
        <p:grpSpPr>
          <a:xfrm>
            <a:off x="9689360" y="3313132"/>
            <a:ext cx="902819" cy="902819"/>
            <a:chOff x="525149" y="4557979"/>
            <a:chExt cx="902819" cy="902819"/>
          </a:xfrm>
        </p:grpSpPr>
        <p:grpSp>
          <p:nvGrpSpPr>
            <p:cNvPr id="121" name="组合 120"/>
            <p:cNvGrpSpPr/>
            <p:nvPr/>
          </p:nvGrpSpPr>
          <p:grpSpPr>
            <a:xfrm>
              <a:off x="525149" y="4557979"/>
              <a:ext cx="902819" cy="902819"/>
              <a:chOff x="5152785" y="4184607"/>
              <a:chExt cx="1080000" cy="1080000"/>
            </a:xfrm>
          </p:grpSpPr>
          <p:sp>
            <p:nvSpPr>
              <p:cNvPr id="125" name="椭圆 124"/>
              <p:cNvSpPr>
                <a:spLocks noChangeAspect="1"/>
              </p:cNvSpPr>
              <p:nvPr>
                <p:custDataLst>
                  <p:tags r:id="rId15"/>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6" name="弧形 125"/>
              <p:cNvSpPr>
                <a:spLocks noChangeAspect="1"/>
              </p:cNvSpPr>
              <p:nvPr>
                <p:custDataLst>
                  <p:tags r:id="rId16"/>
                </p:custDataLst>
              </p:nvPr>
            </p:nvSpPr>
            <p:spPr>
              <a:xfrm>
                <a:off x="5152785" y="4184607"/>
                <a:ext cx="1080000" cy="1080000"/>
              </a:xfrm>
              <a:prstGeom prst="arc">
                <a:avLst>
                  <a:gd name="adj1" fmla="val 16200000"/>
                  <a:gd name="adj2" fmla="val 12903058"/>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22" name="文本框 121"/>
            <p:cNvSpPr txBox="1"/>
            <p:nvPr>
              <p:custDataLst>
                <p:tags r:id="rId12"/>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3" name="文本框 57"/>
            <p:cNvSpPr txBox="1"/>
            <p:nvPr>
              <p:custDataLst>
                <p:tags r:id="rId13"/>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86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4" name="等腰三角形 123"/>
            <p:cNvSpPr/>
            <p:nvPr>
              <p:custDataLst>
                <p:tags r:id="rId14"/>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7" name="组合 126"/>
          <p:cNvGrpSpPr/>
          <p:nvPr>
            <p:custDataLst>
              <p:tags r:id="rId6"/>
            </p:custDataLst>
          </p:nvPr>
        </p:nvGrpSpPr>
        <p:grpSpPr>
          <a:xfrm>
            <a:off x="10841023" y="3313132"/>
            <a:ext cx="902819" cy="902819"/>
            <a:chOff x="525149" y="4557979"/>
            <a:chExt cx="902819" cy="902819"/>
          </a:xfrm>
        </p:grpSpPr>
        <p:grpSp>
          <p:nvGrpSpPr>
            <p:cNvPr id="128" name="组合 127"/>
            <p:cNvGrpSpPr/>
            <p:nvPr/>
          </p:nvGrpSpPr>
          <p:grpSpPr>
            <a:xfrm>
              <a:off x="525149" y="4557979"/>
              <a:ext cx="902819" cy="902819"/>
              <a:chOff x="5152785" y="4184607"/>
              <a:chExt cx="1080000" cy="1080000"/>
            </a:xfrm>
          </p:grpSpPr>
          <p:sp>
            <p:nvSpPr>
              <p:cNvPr id="132" name="椭圆 131"/>
              <p:cNvSpPr>
                <a:spLocks noChangeAspect="1"/>
              </p:cNvSpPr>
              <p:nvPr>
                <p:custDataLst>
                  <p:tags r:id="rId10"/>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3" name="弧形 132"/>
              <p:cNvSpPr>
                <a:spLocks noChangeAspect="1"/>
              </p:cNvSpPr>
              <p:nvPr>
                <p:custDataLst>
                  <p:tags r:id="rId11"/>
                </p:custDataLst>
              </p:nvPr>
            </p:nvSpPr>
            <p:spPr>
              <a:xfrm>
                <a:off x="5152785" y="4184607"/>
                <a:ext cx="1080000" cy="1080000"/>
              </a:xfrm>
              <a:prstGeom prst="arc">
                <a:avLst>
                  <a:gd name="adj1" fmla="val 16200000"/>
                  <a:gd name="adj2" fmla="val 1635705"/>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29" name="文本框 128"/>
            <p:cNvSpPr txBox="1"/>
            <p:nvPr>
              <p:custDataLst>
                <p:tags r:id="rId7"/>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0" name="文本框 57"/>
            <p:cNvSpPr txBox="1"/>
            <p:nvPr>
              <p:custDataLst>
                <p:tags r:id="rId8"/>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42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1" name="等腰三角形 130"/>
            <p:cNvSpPr/>
            <p:nvPr>
              <p:custDataLst>
                <p:tags r:id="rId9"/>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aphicFrame>
        <p:nvGraphicFramePr>
          <p:cNvPr id="149" name="表格 149"/>
          <p:cNvGraphicFramePr>
            <a:graphicFrameLocks noGrp="1"/>
          </p:cNvGraphicFramePr>
          <p:nvPr/>
        </p:nvGraphicFramePr>
        <p:xfrm>
          <a:off x="7326564" y="4949787"/>
          <a:ext cx="4488144" cy="1627864"/>
        </p:xfrm>
        <a:graphic>
          <a:graphicData uri="http://schemas.openxmlformats.org/drawingml/2006/table">
            <a:tbl>
              <a:tblPr firstRow="1" bandRow="1">
                <a:tableStyleId>{0E3FDE45-AF77-4B5C-9715-49D594BDF05E}</a:tableStyleId>
              </a:tblPr>
              <a:tblGrid>
                <a:gridCol w="1122036">
                  <a:extLst>
                    <a:ext uri="{9D8B030D-6E8A-4147-A177-3AD203B41FA5}">
                      <a16:colId xmlns:a16="http://schemas.microsoft.com/office/drawing/2014/main" val="20000"/>
                    </a:ext>
                  </a:extLst>
                </a:gridCol>
                <a:gridCol w="1122036">
                  <a:extLst>
                    <a:ext uri="{9D8B030D-6E8A-4147-A177-3AD203B41FA5}">
                      <a16:colId xmlns:a16="http://schemas.microsoft.com/office/drawing/2014/main" val="20001"/>
                    </a:ext>
                  </a:extLst>
                </a:gridCol>
                <a:gridCol w="1122036">
                  <a:extLst>
                    <a:ext uri="{9D8B030D-6E8A-4147-A177-3AD203B41FA5}">
                      <a16:colId xmlns:a16="http://schemas.microsoft.com/office/drawing/2014/main" val="20002"/>
                    </a:ext>
                  </a:extLst>
                </a:gridCol>
                <a:gridCol w="1122036">
                  <a:extLst>
                    <a:ext uri="{9D8B030D-6E8A-4147-A177-3AD203B41FA5}">
                      <a16:colId xmlns:a16="http://schemas.microsoft.com/office/drawing/2014/main" val="20003"/>
                    </a:ext>
                  </a:extLst>
                </a:gridCol>
              </a:tblGrid>
              <a:tr h="0">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项目</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金额</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日期</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状态</a:t>
                      </a:r>
                    </a:p>
                  </a:txBody>
                  <a:tcPr anchor="ctr"/>
                </a:tc>
                <a:extLst>
                  <a:ext uri="{0D108BD9-81ED-4DB2-BD59-A6C34878D82A}">
                    <a16:rowId xmlns:a16="http://schemas.microsoft.com/office/drawing/2014/main" val="10000"/>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华南项目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1</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423.56</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9.06</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1"/>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北京项目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3</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586.15</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8.26</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2"/>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西北项目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2</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215.26</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5.28</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追踪</a:t>
                      </a:r>
                    </a:p>
                  </a:txBody>
                  <a:tcPr anchor="ctr"/>
                </a:tc>
                <a:extLst>
                  <a:ext uri="{0D108BD9-81ED-4DB2-BD59-A6C34878D82A}">
                    <a16:rowId xmlns:a16="http://schemas.microsoft.com/office/drawing/2014/main" val="10003"/>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西南项目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4</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652.15</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6.30</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4"/>
                  </a:ext>
                </a:extLst>
              </a:tr>
            </a:tbl>
          </a:graphicData>
        </a:graphic>
      </p:graphicFrame>
      <p:grpSp>
        <p:nvGrpSpPr>
          <p:cNvPr id="150" name="图形 179"/>
          <p:cNvGrpSpPr/>
          <p:nvPr/>
        </p:nvGrpSpPr>
        <p:grpSpPr>
          <a:xfrm>
            <a:off x="6067833" y="1550863"/>
            <a:ext cx="193813" cy="183984"/>
            <a:chOff x="5486400" y="2850316"/>
            <a:chExt cx="1219199" cy="1157367"/>
          </a:xfrm>
        </p:grpSpPr>
        <p:sp>
          <p:nvSpPr>
            <p:cNvPr id="151" name="任意多边形: 形状 150"/>
            <p:cNvSpPr/>
            <p:nvPr/>
          </p:nvSpPr>
          <p:spPr>
            <a:xfrm>
              <a:off x="6536522" y="3053268"/>
              <a:ext cx="157537" cy="157537"/>
            </a:xfrm>
            <a:custGeom>
              <a:avLst/>
              <a:gdLst>
                <a:gd name="connsiteX0" fmla="*/ 156895 w 157537"/>
                <a:gd name="connsiteY0" fmla="*/ 78535 h 157537"/>
                <a:gd name="connsiteX1" fmla="*/ 78126 w 157537"/>
                <a:gd name="connsiteY1" fmla="*/ 157304 h 157537"/>
                <a:gd name="connsiteX2" fmla="*/ -642 w 157537"/>
                <a:gd name="connsiteY2" fmla="*/ 78535 h 157537"/>
                <a:gd name="connsiteX3" fmla="*/ 78126 w 157537"/>
                <a:gd name="connsiteY3" fmla="*/ -234 h 157537"/>
                <a:gd name="connsiteX4" fmla="*/ 156895 w 157537"/>
                <a:gd name="connsiteY4" fmla="*/ 78535 h 157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37" h="157537">
                  <a:moveTo>
                    <a:pt x="156895" y="78535"/>
                  </a:moveTo>
                  <a:cubicBezTo>
                    <a:pt x="156895" y="122038"/>
                    <a:pt x="121629" y="157304"/>
                    <a:pt x="78126" y="157304"/>
                  </a:cubicBezTo>
                  <a:cubicBezTo>
                    <a:pt x="34624" y="157304"/>
                    <a:pt x="-642" y="122038"/>
                    <a:pt x="-642" y="78535"/>
                  </a:cubicBezTo>
                  <a:cubicBezTo>
                    <a:pt x="-642" y="35032"/>
                    <a:pt x="34624" y="-234"/>
                    <a:pt x="78126" y="-234"/>
                  </a:cubicBezTo>
                  <a:cubicBezTo>
                    <a:pt x="121629" y="-234"/>
                    <a:pt x="156895" y="35032"/>
                    <a:pt x="156895" y="78535"/>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2" name="任意多边形: 形状 151"/>
            <p:cNvSpPr/>
            <p:nvPr/>
          </p:nvSpPr>
          <p:spPr>
            <a:xfrm>
              <a:off x="6555806" y="3075471"/>
              <a:ext cx="138253" cy="133566"/>
            </a:xfrm>
            <a:custGeom>
              <a:avLst/>
              <a:gdLst>
                <a:gd name="connsiteX0" fmla="*/ 114617 w 138253"/>
                <a:gd name="connsiteY0" fmla="*/ -239 h 133566"/>
                <a:gd name="connsiteX1" fmla="*/ -647 w 138253"/>
                <a:gd name="connsiteY1" fmla="*/ 114081 h 133566"/>
                <a:gd name="connsiteX2" fmla="*/ 53642 w 138253"/>
                <a:gd name="connsiteY2" fmla="*/ 133328 h 133566"/>
                <a:gd name="connsiteX3" fmla="*/ 137607 w 138253"/>
                <a:gd name="connsiteY3" fmla="*/ 53965 h 133566"/>
                <a:gd name="connsiteX4" fmla="*/ 114617 w 138253"/>
                <a:gd name="connsiteY4" fmla="*/ -239 h 13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53" h="133566">
                  <a:moveTo>
                    <a:pt x="114617" y="-239"/>
                  </a:moveTo>
                  <a:cubicBezTo>
                    <a:pt x="103139" y="47609"/>
                    <a:pt x="60115" y="88714"/>
                    <a:pt x="-647" y="114081"/>
                  </a:cubicBezTo>
                  <a:cubicBezTo>
                    <a:pt x="14706" y="126534"/>
                    <a:pt x="33874" y="133330"/>
                    <a:pt x="53642" y="133328"/>
                  </a:cubicBezTo>
                  <a:cubicBezTo>
                    <a:pt x="100046" y="133328"/>
                    <a:pt x="137607" y="97839"/>
                    <a:pt x="137607" y="53965"/>
                  </a:cubicBezTo>
                  <a:cubicBezTo>
                    <a:pt x="137648" y="34100"/>
                    <a:pt x="129492" y="14871"/>
                    <a:pt x="114617" y="-239"/>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3" name="任意多边形: 形状 152"/>
            <p:cNvSpPr/>
            <p:nvPr/>
          </p:nvSpPr>
          <p:spPr>
            <a:xfrm>
              <a:off x="6524983" y="3041728"/>
              <a:ext cx="180616" cy="180616"/>
            </a:xfrm>
            <a:custGeom>
              <a:avLst/>
              <a:gdLst>
                <a:gd name="connsiteX0" fmla="*/ 89665 w 180616"/>
                <a:gd name="connsiteY0" fmla="*/ 180383 h 180616"/>
                <a:gd name="connsiteX1" fmla="*/ -642 w 180616"/>
                <a:gd name="connsiteY1" fmla="*/ 90074 h 180616"/>
                <a:gd name="connsiteX2" fmla="*/ 89667 w 180616"/>
                <a:gd name="connsiteY2" fmla="*/ -234 h 180616"/>
                <a:gd name="connsiteX3" fmla="*/ 179974 w 180616"/>
                <a:gd name="connsiteY3" fmla="*/ 90074 h 180616"/>
                <a:gd name="connsiteX4" fmla="*/ 89665 w 180616"/>
                <a:gd name="connsiteY4" fmla="*/ 180383 h 180616"/>
                <a:gd name="connsiteX5" fmla="*/ 89665 w 180616"/>
                <a:gd name="connsiteY5" fmla="*/ 22846 h 180616"/>
                <a:gd name="connsiteX6" fmla="*/ 22437 w 180616"/>
                <a:gd name="connsiteY6" fmla="*/ 90075 h 180616"/>
                <a:gd name="connsiteX7" fmla="*/ 89667 w 180616"/>
                <a:gd name="connsiteY7" fmla="*/ 157303 h 180616"/>
                <a:gd name="connsiteX8" fmla="*/ 156895 w 180616"/>
                <a:gd name="connsiteY8" fmla="*/ 90074 h 180616"/>
                <a:gd name="connsiteX9" fmla="*/ 89665 w 180616"/>
                <a:gd name="connsiteY9" fmla="*/ 22846 h 180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616" h="180616">
                  <a:moveTo>
                    <a:pt x="89665" y="180383"/>
                  </a:moveTo>
                  <a:cubicBezTo>
                    <a:pt x="39789" y="180382"/>
                    <a:pt x="-643" y="139950"/>
                    <a:pt x="-642" y="90074"/>
                  </a:cubicBezTo>
                  <a:cubicBezTo>
                    <a:pt x="-642" y="40198"/>
                    <a:pt x="39791" y="-234"/>
                    <a:pt x="89667" y="-234"/>
                  </a:cubicBezTo>
                  <a:cubicBezTo>
                    <a:pt x="139542" y="-234"/>
                    <a:pt x="179974" y="40199"/>
                    <a:pt x="179974" y="90074"/>
                  </a:cubicBezTo>
                  <a:cubicBezTo>
                    <a:pt x="179918" y="139927"/>
                    <a:pt x="139518" y="180327"/>
                    <a:pt x="89665" y="180383"/>
                  </a:cubicBezTo>
                  <a:close/>
                  <a:moveTo>
                    <a:pt x="89665" y="22846"/>
                  </a:moveTo>
                  <a:cubicBezTo>
                    <a:pt x="52536" y="22846"/>
                    <a:pt x="22437" y="52946"/>
                    <a:pt x="22437" y="90075"/>
                  </a:cubicBezTo>
                  <a:cubicBezTo>
                    <a:pt x="22438" y="127205"/>
                    <a:pt x="52537" y="157304"/>
                    <a:pt x="89667" y="157303"/>
                  </a:cubicBezTo>
                  <a:cubicBezTo>
                    <a:pt x="126796" y="157303"/>
                    <a:pt x="156895" y="127204"/>
                    <a:pt x="156895" y="90074"/>
                  </a:cubicBezTo>
                  <a:cubicBezTo>
                    <a:pt x="156853" y="52962"/>
                    <a:pt x="126778" y="22887"/>
                    <a:pt x="89665" y="2284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54" name="图形 179"/>
            <p:cNvGrpSpPr/>
            <p:nvPr/>
          </p:nvGrpSpPr>
          <p:grpSpPr>
            <a:xfrm>
              <a:off x="5486400" y="2850316"/>
              <a:ext cx="1167848" cy="1157367"/>
              <a:chOff x="5486400" y="2850316"/>
              <a:chExt cx="1167848" cy="1157367"/>
            </a:xfrm>
          </p:grpSpPr>
          <p:sp>
            <p:nvSpPr>
              <p:cNvPr id="155" name="任意多边形: 形状 154"/>
              <p:cNvSpPr/>
              <p:nvPr/>
            </p:nvSpPr>
            <p:spPr>
              <a:xfrm>
                <a:off x="5549220" y="3059260"/>
                <a:ext cx="1093477" cy="706244"/>
              </a:xfrm>
              <a:custGeom>
                <a:avLst/>
                <a:gdLst>
                  <a:gd name="connsiteX0" fmla="*/ 978377 w 1093477"/>
                  <a:gd name="connsiteY0" fmla="*/ 705875 h 706244"/>
                  <a:gd name="connsiteX1" fmla="*/ 1022760 w 1093477"/>
                  <a:gd name="connsiteY1" fmla="*/ 667247 h 706244"/>
                  <a:gd name="connsiteX2" fmla="*/ 1092694 w 1093477"/>
                  <a:gd name="connsiteY2" fmla="*/ 165308 h 706244"/>
                  <a:gd name="connsiteX3" fmla="*/ 1062359 w 1093477"/>
                  <a:gd name="connsiteY3" fmla="*/ 120302 h 706244"/>
                  <a:gd name="connsiteX4" fmla="*/ 1031176 w 1093477"/>
                  <a:gd name="connsiteY4" fmla="*/ 112468 h 706244"/>
                  <a:gd name="connsiteX5" fmla="*/ 981880 w 1093477"/>
                  <a:gd name="connsiteY5" fmla="*/ 141968 h 706244"/>
                  <a:gd name="connsiteX6" fmla="*/ 981728 w 1093477"/>
                  <a:gd name="connsiteY6" fmla="*/ 142593 h 706244"/>
                  <a:gd name="connsiteX7" fmla="*/ 981728 w 1093477"/>
                  <a:gd name="connsiteY7" fmla="*/ 142594 h 706244"/>
                  <a:gd name="connsiteX8" fmla="*/ 807153 w 1093477"/>
                  <a:gd name="connsiteY8" fmla="*/ 282576 h 706244"/>
                  <a:gd name="connsiteX9" fmla="*/ 628315 w 1093477"/>
                  <a:gd name="connsiteY9" fmla="*/ 114837 h 706244"/>
                  <a:gd name="connsiteX10" fmla="*/ 622265 w 1093477"/>
                  <a:gd name="connsiteY10" fmla="*/ 37810 h 706244"/>
                  <a:gd name="connsiteX11" fmla="*/ 582603 w 1093477"/>
                  <a:gd name="connsiteY11" fmla="*/ 377 h 706244"/>
                  <a:gd name="connsiteX12" fmla="*/ 546348 w 1093477"/>
                  <a:gd name="connsiteY12" fmla="*/ -369 h 706244"/>
                  <a:gd name="connsiteX13" fmla="*/ 510091 w 1093477"/>
                  <a:gd name="connsiteY13" fmla="*/ 377 h 706244"/>
                  <a:gd name="connsiteX14" fmla="*/ 470430 w 1093477"/>
                  <a:gd name="connsiteY14" fmla="*/ 37810 h 706244"/>
                  <a:gd name="connsiteX15" fmla="*/ 464380 w 1093477"/>
                  <a:gd name="connsiteY15" fmla="*/ 114837 h 706244"/>
                  <a:gd name="connsiteX16" fmla="*/ 285542 w 1093477"/>
                  <a:gd name="connsiteY16" fmla="*/ 282576 h 706244"/>
                  <a:gd name="connsiteX17" fmla="*/ 110967 w 1093477"/>
                  <a:gd name="connsiteY17" fmla="*/ 142594 h 706244"/>
                  <a:gd name="connsiteX18" fmla="*/ 110967 w 1093477"/>
                  <a:gd name="connsiteY18" fmla="*/ 142593 h 706244"/>
                  <a:gd name="connsiteX19" fmla="*/ 62145 w 1093477"/>
                  <a:gd name="connsiteY19" fmla="*/ 112316 h 706244"/>
                  <a:gd name="connsiteX20" fmla="*/ 61519 w 1093477"/>
                  <a:gd name="connsiteY20" fmla="*/ 112468 h 706244"/>
                  <a:gd name="connsiteX21" fmla="*/ 30336 w 1093477"/>
                  <a:gd name="connsiteY21" fmla="*/ 120302 h 706244"/>
                  <a:gd name="connsiteX22" fmla="*/ 1 w 1093477"/>
                  <a:gd name="connsiteY22" fmla="*/ 165308 h 706244"/>
                  <a:gd name="connsiteX23" fmla="*/ 69935 w 1093477"/>
                  <a:gd name="connsiteY23" fmla="*/ 667247 h 706244"/>
                  <a:gd name="connsiteX24" fmla="*/ 114318 w 1093477"/>
                  <a:gd name="connsiteY24" fmla="*/ 705875 h 70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3477" h="706244">
                    <a:moveTo>
                      <a:pt x="978377" y="705875"/>
                    </a:moveTo>
                    <a:cubicBezTo>
                      <a:pt x="1000737" y="705875"/>
                      <a:pt x="1019675" y="689392"/>
                      <a:pt x="1022760" y="667247"/>
                    </a:cubicBezTo>
                    <a:lnTo>
                      <a:pt x="1092694" y="165308"/>
                    </a:lnTo>
                    <a:cubicBezTo>
                      <a:pt x="1095558" y="144761"/>
                      <a:pt x="1082479" y="125357"/>
                      <a:pt x="1062359" y="120302"/>
                    </a:cubicBezTo>
                    <a:lnTo>
                      <a:pt x="1031176" y="112468"/>
                    </a:lnTo>
                    <a:cubicBezTo>
                      <a:pt x="1009417" y="107001"/>
                      <a:pt x="987346" y="120209"/>
                      <a:pt x="981880" y="141968"/>
                    </a:cubicBezTo>
                    <a:cubicBezTo>
                      <a:pt x="981827" y="142176"/>
                      <a:pt x="981777" y="142384"/>
                      <a:pt x="981728" y="142593"/>
                    </a:cubicBezTo>
                    <a:lnTo>
                      <a:pt x="981728" y="142594"/>
                    </a:lnTo>
                    <a:cubicBezTo>
                      <a:pt x="962502" y="224729"/>
                      <a:pt x="890361" y="282576"/>
                      <a:pt x="807153" y="282576"/>
                    </a:cubicBezTo>
                    <a:cubicBezTo>
                      <a:pt x="713572" y="282576"/>
                      <a:pt x="635781" y="209544"/>
                      <a:pt x="628315" y="114837"/>
                    </a:cubicBezTo>
                    <a:lnTo>
                      <a:pt x="622265" y="37810"/>
                    </a:lnTo>
                    <a:cubicBezTo>
                      <a:pt x="620630" y="16993"/>
                      <a:pt x="603480" y="807"/>
                      <a:pt x="582603" y="377"/>
                    </a:cubicBezTo>
                    <a:lnTo>
                      <a:pt x="546348" y="-369"/>
                    </a:lnTo>
                    <a:lnTo>
                      <a:pt x="510091" y="377"/>
                    </a:lnTo>
                    <a:cubicBezTo>
                      <a:pt x="489215" y="807"/>
                      <a:pt x="472065" y="16993"/>
                      <a:pt x="470430" y="37810"/>
                    </a:cubicBezTo>
                    <a:lnTo>
                      <a:pt x="464380" y="114837"/>
                    </a:lnTo>
                    <a:cubicBezTo>
                      <a:pt x="456914" y="209544"/>
                      <a:pt x="379122" y="282576"/>
                      <a:pt x="285542" y="282576"/>
                    </a:cubicBezTo>
                    <a:cubicBezTo>
                      <a:pt x="202334" y="282576"/>
                      <a:pt x="130193" y="224730"/>
                      <a:pt x="110967" y="142594"/>
                    </a:cubicBezTo>
                    <a:lnTo>
                      <a:pt x="110967" y="142593"/>
                    </a:lnTo>
                    <a:cubicBezTo>
                      <a:pt x="105846" y="120750"/>
                      <a:pt x="83987" y="107195"/>
                      <a:pt x="62145" y="112316"/>
                    </a:cubicBezTo>
                    <a:cubicBezTo>
                      <a:pt x="61936" y="112365"/>
                      <a:pt x="61727" y="112416"/>
                      <a:pt x="61519" y="112468"/>
                    </a:cubicBezTo>
                    <a:lnTo>
                      <a:pt x="30336" y="120302"/>
                    </a:lnTo>
                    <a:cubicBezTo>
                      <a:pt x="10216" y="125357"/>
                      <a:pt x="-2863" y="144761"/>
                      <a:pt x="1" y="165308"/>
                    </a:cubicBezTo>
                    <a:lnTo>
                      <a:pt x="69935" y="667247"/>
                    </a:lnTo>
                    <a:cubicBezTo>
                      <a:pt x="73020" y="689392"/>
                      <a:pt x="91959" y="705875"/>
                      <a:pt x="114318" y="705875"/>
                    </a:cubicBezTo>
                    <a:close/>
                  </a:path>
                </a:pathLst>
              </a:custGeom>
              <a:solidFill>
                <a:srgbClr val="F4E958"/>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6" name="任意多边形: 形状 155"/>
              <p:cNvSpPr/>
              <p:nvPr/>
            </p:nvSpPr>
            <p:spPr>
              <a:xfrm>
                <a:off x="6095959" y="3059260"/>
                <a:ext cx="546738" cy="706244"/>
              </a:xfrm>
              <a:custGeom>
                <a:avLst/>
                <a:gdLst>
                  <a:gd name="connsiteX0" fmla="*/ -523 w 546738"/>
                  <a:gd name="connsiteY0" fmla="*/ 705875 h 706244"/>
                  <a:gd name="connsiteX1" fmla="*/ 431506 w 546738"/>
                  <a:gd name="connsiteY1" fmla="*/ 705875 h 706244"/>
                  <a:gd name="connsiteX2" fmla="*/ 475889 w 546738"/>
                  <a:gd name="connsiteY2" fmla="*/ 667247 h 706244"/>
                  <a:gd name="connsiteX3" fmla="*/ 545823 w 546738"/>
                  <a:gd name="connsiteY3" fmla="*/ 165308 h 706244"/>
                  <a:gd name="connsiteX4" fmla="*/ 515488 w 546738"/>
                  <a:gd name="connsiteY4" fmla="*/ 120302 h 706244"/>
                  <a:gd name="connsiteX5" fmla="*/ 484305 w 546738"/>
                  <a:gd name="connsiteY5" fmla="*/ 112468 h 706244"/>
                  <a:gd name="connsiteX6" fmla="*/ 435009 w 546738"/>
                  <a:gd name="connsiteY6" fmla="*/ 141968 h 706244"/>
                  <a:gd name="connsiteX7" fmla="*/ 434857 w 546738"/>
                  <a:gd name="connsiteY7" fmla="*/ 142594 h 706244"/>
                  <a:gd name="connsiteX8" fmla="*/ 434857 w 546738"/>
                  <a:gd name="connsiteY8" fmla="*/ 142594 h 706244"/>
                  <a:gd name="connsiteX9" fmla="*/ 260282 w 546738"/>
                  <a:gd name="connsiteY9" fmla="*/ 282576 h 706244"/>
                  <a:gd name="connsiteX10" fmla="*/ 81444 w 546738"/>
                  <a:gd name="connsiteY10" fmla="*/ 114837 h 706244"/>
                  <a:gd name="connsiteX11" fmla="*/ 75394 w 546738"/>
                  <a:gd name="connsiteY11" fmla="*/ 37810 h 706244"/>
                  <a:gd name="connsiteX12" fmla="*/ 35732 w 546738"/>
                  <a:gd name="connsiteY12" fmla="*/ 377 h 706244"/>
                  <a:gd name="connsiteX13" fmla="*/ -523 w 546738"/>
                  <a:gd name="connsiteY13" fmla="*/ -369 h 70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6738" h="706244">
                    <a:moveTo>
                      <a:pt x="-523" y="705875"/>
                    </a:moveTo>
                    <a:lnTo>
                      <a:pt x="431506" y="705875"/>
                    </a:lnTo>
                    <a:cubicBezTo>
                      <a:pt x="453866" y="705875"/>
                      <a:pt x="472804" y="689392"/>
                      <a:pt x="475889" y="667247"/>
                    </a:cubicBezTo>
                    <a:lnTo>
                      <a:pt x="545823" y="165308"/>
                    </a:lnTo>
                    <a:cubicBezTo>
                      <a:pt x="548687" y="144761"/>
                      <a:pt x="535608" y="125357"/>
                      <a:pt x="515488" y="120302"/>
                    </a:cubicBezTo>
                    <a:lnTo>
                      <a:pt x="484305" y="112468"/>
                    </a:lnTo>
                    <a:cubicBezTo>
                      <a:pt x="462546" y="107001"/>
                      <a:pt x="440475" y="120209"/>
                      <a:pt x="435009" y="141968"/>
                    </a:cubicBezTo>
                    <a:cubicBezTo>
                      <a:pt x="434956" y="142176"/>
                      <a:pt x="434906" y="142385"/>
                      <a:pt x="434857" y="142594"/>
                    </a:cubicBezTo>
                    <a:lnTo>
                      <a:pt x="434857" y="142594"/>
                    </a:lnTo>
                    <a:cubicBezTo>
                      <a:pt x="415631" y="224729"/>
                      <a:pt x="343490" y="282576"/>
                      <a:pt x="260282" y="282576"/>
                    </a:cubicBezTo>
                    <a:cubicBezTo>
                      <a:pt x="166701" y="282576"/>
                      <a:pt x="88910" y="209544"/>
                      <a:pt x="81444" y="114837"/>
                    </a:cubicBezTo>
                    <a:lnTo>
                      <a:pt x="75394" y="37810"/>
                    </a:lnTo>
                    <a:cubicBezTo>
                      <a:pt x="73759" y="16993"/>
                      <a:pt x="56609" y="807"/>
                      <a:pt x="35732" y="377"/>
                    </a:cubicBezTo>
                    <a:lnTo>
                      <a:pt x="-523" y="-369"/>
                    </a:ln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7" name="任意多边形: 形状 156"/>
              <p:cNvSpPr/>
              <p:nvPr/>
            </p:nvSpPr>
            <p:spPr>
              <a:xfrm>
                <a:off x="5637034" y="3852037"/>
                <a:ext cx="917921" cy="144106"/>
              </a:xfrm>
              <a:custGeom>
                <a:avLst/>
                <a:gdLst>
                  <a:gd name="connsiteX0" fmla="*/ 782990 w 917921"/>
                  <a:gd name="connsiteY0" fmla="*/ 143490 h 144106"/>
                  <a:gd name="connsiteX1" fmla="*/ 134163 w 917921"/>
                  <a:gd name="connsiteY1" fmla="*/ 143490 h 144106"/>
                  <a:gd name="connsiteX2" fmla="*/ -1 w 917921"/>
                  <a:gd name="connsiteY2" fmla="*/ 27342 h 144106"/>
                  <a:gd name="connsiteX3" fmla="*/ 19050 w 917921"/>
                  <a:gd name="connsiteY3" fmla="*/ -231 h 144106"/>
                  <a:gd name="connsiteX4" fmla="*/ 23344 w 917921"/>
                  <a:gd name="connsiteY4" fmla="*/ -617 h 144106"/>
                  <a:gd name="connsiteX5" fmla="*/ 893799 w 917921"/>
                  <a:gd name="connsiteY5" fmla="*/ -617 h 144106"/>
                  <a:gd name="connsiteX6" fmla="*/ 917531 w 917921"/>
                  <a:gd name="connsiteY6" fmla="*/ 23048 h 144106"/>
                  <a:gd name="connsiteX7" fmla="*/ 917143 w 917921"/>
                  <a:gd name="connsiteY7" fmla="*/ 27348 h 144106"/>
                  <a:gd name="connsiteX8" fmla="*/ 782990 w 917921"/>
                  <a:gd name="connsiteY8" fmla="*/ 143490 h 14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921" h="144106">
                    <a:moveTo>
                      <a:pt x="782990" y="143490"/>
                    </a:moveTo>
                    <a:lnTo>
                      <a:pt x="134163" y="143490"/>
                    </a:lnTo>
                    <a:cubicBezTo>
                      <a:pt x="67670" y="143490"/>
                      <a:pt x="12335" y="93578"/>
                      <a:pt x="-1" y="27342"/>
                    </a:cubicBezTo>
                    <a:cubicBezTo>
                      <a:pt x="-2354" y="14467"/>
                      <a:pt x="6176" y="2122"/>
                      <a:pt x="19050" y="-231"/>
                    </a:cubicBezTo>
                    <a:cubicBezTo>
                      <a:pt x="20467" y="-489"/>
                      <a:pt x="21904" y="-619"/>
                      <a:pt x="23344" y="-617"/>
                    </a:cubicBezTo>
                    <a:lnTo>
                      <a:pt x="893799" y="-617"/>
                    </a:lnTo>
                    <a:cubicBezTo>
                      <a:pt x="906887" y="-635"/>
                      <a:pt x="917512" y="9960"/>
                      <a:pt x="917531" y="23048"/>
                    </a:cubicBezTo>
                    <a:cubicBezTo>
                      <a:pt x="917533" y="24490"/>
                      <a:pt x="917403" y="25930"/>
                      <a:pt x="917143" y="27348"/>
                    </a:cubicBezTo>
                    <a:cubicBezTo>
                      <a:pt x="904786" y="93581"/>
                      <a:pt x="849378" y="143490"/>
                      <a:pt x="782990" y="143490"/>
                    </a:cubicBezTo>
                    <a:close/>
                  </a:path>
                </a:pathLst>
              </a:custGeom>
              <a:solidFill>
                <a:srgbClr val="7BCBF6"/>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8" name="任意多边形: 形状 157"/>
              <p:cNvSpPr/>
              <p:nvPr/>
            </p:nvSpPr>
            <p:spPr>
              <a:xfrm>
                <a:off x="6095999" y="3852037"/>
                <a:ext cx="461141" cy="144106"/>
              </a:xfrm>
              <a:custGeom>
                <a:avLst/>
                <a:gdLst>
                  <a:gd name="connsiteX0" fmla="*/ -503 w 461141"/>
                  <a:gd name="connsiteY0" fmla="*/ -617 h 144106"/>
                  <a:gd name="connsiteX1" fmla="*/ -503 w 461141"/>
                  <a:gd name="connsiteY1" fmla="*/ 143490 h 144106"/>
                  <a:gd name="connsiteX2" fmla="*/ 327170 w 461141"/>
                  <a:gd name="connsiteY2" fmla="*/ 143490 h 144106"/>
                  <a:gd name="connsiteX3" fmla="*/ 460638 w 461141"/>
                  <a:gd name="connsiteY3" fmla="*/ 2786 h 144106"/>
                  <a:gd name="connsiteX4" fmla="*/ 460638 w 461141"/>
                  <a:gd name="connsiteY4" fmla="*/ 2786 h 144106"/>
                  <a:gd name="connsiteX5" fmla="*/ 457236 w 461141"/>
                  <a:gd name="connsiteY5" fmla="*/ -617 h 14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141" h="144106">
                    <a:moveTo>
                      <a:pt x="-503" y="-617"/>
                    </a:moveTo>
                    <a:lnTo>
                      <a:pt x="-503" y="143490"/>
                    </a:lnTo>
                    <a:lnTo>
                      <a:pt x="327170" y="143490"/>
                    </a:lnTo>
                    <a:cubicBezTo>
                      <a:pt x="400923" y="143490"/>
                      <a:pt x="460638" y="80544"/>
                      <a:pt x="460638" y="2786"/>
                    </a:cubicBezTo>
                    <a:lnTo>
                      <a:pt x="460638" y="2786"/>
                    </a:lnTo>
                    <a:cubicBezTo>
                      <a:pt x="460638" y="907"/>
                      <a:pt x="459115" y="-617"/>
                      <a:pt x="457236" y="-617"/>
                    </a:cubicBezTo>
                    <a:close/>
                  </a:path>
                </a:pathLst>
              </a:custGeom>
              <a:solidFill>
                <a:srgbClr val="4DAFE0"/>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9" name="任意多边形: 形状 158"/>
              <p:cNvSpPr/>
              <p:nvPr/>
            </p:nvSpPr>
            <p:spPr>
              <a:xfrm>
                <a:off x="5621914" y="3372298"/>
                <a:ext cx="46159" cy="46151"/>
              </a:xfrm>
              <a:custGeom>
                <a:avLst/>
                <a:gdLst>
                  <a:gd name="connsiteX0" fmla="*/ 22906 w 46159"/>
                  <a:gd name="connsiteY0" fmla="*/ 45791 h 46151"/>
                  <a:gd name="connsiteX1" fmla="*/ 20642 w 46159"/>
                  <a:gd name="connsiteY1" fmla="*/ 45690 h 46151"/>
                  <a:gd name="connsiteX2" fmla="*/ 18391 w 46159"/>
                  <a:gd name="connsiteY2" fmla="*/ 45343 h 46151"/>
                  <a:gd name="connsiteX3" fmla="*/ 16199 w 46159"/>
                  <a:gd name="connsiteY3" fmla="*/ 44795 h 46151"/>
                  <a:gd name="connsiteX4" fmla="*/ 14079 w 46159"/>
                  <a:gd name="connsiteY4" fmla="*/ 44031 h 46151"/>
                  <a:gd name="connsiteX5" fmla="*/ 12030 w 46159"/>
                  <a:gd name="connsiteY5" fmla="*/ 43064 h 46151"/>
                  <a:gd name="connsiteX6" fmla="*/ 10097 w 46159"/>
                  <a:gd name="connsiteY6" fmla="*/ 41911 h 46151"/>
                  <a:gd name="connsiteX7" fmla="*/ 8265 w 46159"/>
                  <a:gd name="connsiteY7" fmla="*/ 40555 h 46151"/>
                  <a:gd name="connsiteX8" fmla="*/ 6592 w 46159"/>
                  <a:gd name="connsiteY8" fmla="*/ 39040 h 46151"/>
                  <a:gd name="connsiteX9" fmla="*/ 5063 w 46159"/>
                  <a:gd name="connsiteY9" fmla="*/ 37352 h 46151"/>
                  <a:gd name="connsiteX10" fmla="*/ 3722 w 46159"/>
                  <a:gd name="connsiteY10" fmla="*/ 35535 h 46151"/>
                  <a:gd name="connsiteX11" fmla="*/ 2553 w 46159"/>
                  <a:gd name="connsiteY11" fmla="*/ 33587 h 46151"/>
                  <a:gd name="connsiteX12" fmla="*/ 1601 w 46159"/>
                  <a:gd name="connsiteY12" fmla="*/ 31539 h 46151"/>
                  <a:gd name="connsiteX13" fmla="*/ 837 w 46159"/>
                  <a:gd name="connsiteY13" fmla="*/ 29418 h 46151"/>
                  <a:gd name="connsiteX14" fmla="*/ 274 w 46159"/>
                  <a:gd name="connsiteY14" fmla="*/ 27226 h 46151"/>
                  <a:gd name="connsiteX15" fmla="*/ -58 w 46159"/>
                  <a:gd name="connsiteY15" fmla="*/ 24990 h 46151"/>
                  <a:gd name="connsiteX16" fmla="*/ -173 w 46159"/>
                  <a:gd name="connsiteY16" fmla="*/ 22711 h 46151"/>
                  <a:gd name="connsiteX17" fmla="*/ -58 w 46159"/>
                  <a:gd name="connsiteY17" fmla="*/ 20447 h 46151"/>
                  <a:gd name="connsiteX18" fmla="*/ 274 w 46159"/>
                  <a:gd name="connsiteY18" fmla="*/ 18210 h 46151"/>
                  <a:gd name="connsiteX19" fmla="*/ 837 w 46159"/>
                  <a:gd name="connsiteY19" fmla="*/ 16018 h 46151"/>
                  <a:gd name="connsiteX20" fmla="*/ 2553 w 46159"/>
                  <a:gd name="connsiteY20" fmla="*/ 11849 h 46151"/>
                  <a:gd name="connsiteX21" fmla="*/ 3722 w 46159"/>
                  <a:gd name="connsiteY21" fmla="*/ 9902 h 46151"/>
                  <a:gd name="connsiteX22" fmla="*/ 5063 w 46159"/>
                  <a:gd name="connsiteY22" fmla="*/ 8084 h 46151"/>
                  <a:gd name="connsiteX23" fmla="*/ 6592 w 46159"/>
                  <a:gd name="connsiteY23" fmla="*/ 6397 h 46151"/>
                  <a:gd name="connsiteX24" fmla="*/ 8265 w 46159"/>
                  <a:gd name="connsiteY24" fmla="*/ 4868 h 46151"/>
                  <a:gd name="connsiteX25" fmla="*/ 10097 w 46159"/>
                  <a:gd name="connsiteY25" fmla="*/ 3527 h 46151"/>
                  <a:gd name="connsiteX26" fmla="*/ 12030 w 46159"/>
                  <a:gd name="connsiteY26" fmla="*/ 2372 h 46151"/>
                  <a:gd name="connsiteX27" fmla="*/ 14079 w 46159"/>
                  <a:gd name="connsiteY27" fmla="*/ 1406 h 46151"/>
                  <a:gd name="connsiteX28" fmla="*/ 16199 w 46159"/>
                  <a:gd name="connsiteY28" fmla="*/ 642 h 46151"/>
                  <a:gd name="connsiteX29" fmla="*/ 18391 w 46159"/>
                  <a:gd name="connsiteY29" fmla="*/ 93 h 46151"/>
                  <a:gd name="connsiteX30" fmla="*/ 20642 w 46159"/>
                  <a:gd name="connsiteY30" fmla="*/ -253 h 46151"/>
                  <a:gd name="connsiteX31" fmla="*/ 25171 w 46159"/>
                  <a:gd name="connsiteY31" fmla="*/ -253 h 46151"/>
                  <a:gd name="connsiteX32" fmla="*/ 27422 w 46159"/>
                  <a:gd name="connsiteY32" fmla="*/ 93 h 46151"/>
                  <a:gd name="connsiteX33" fmla="*/ 29614 w 46159"/>
                  <a:gd name="connsiteY33" fmla="*/ 642 h 46151"/>
                  <a:gd name="connsiteX34" fmla="*/ 31734 w 46159"/>
                  <a:gd name="connsiteY34" fmla="*/ 1406 h 46151"/>
                  <a:gd name="connsiteX35" fmla="*/ 33783 w 46159"/>
                  <a:gd name="connsiteY35" fmla="*/ 2372 h 46151"/>
                  <a:gd name="connsiteX36" fmla="*/ 35716 w 46159"/>
                  <a:gd name="connsiteY36" fmla="*/ 3527 h 46151"/>
                  <a:gd name="connsiteX37" fmla="*/ 37533 w 46159"/>
                  <a:gd name="connsiteY37" fmla="*/ 4868 h 46151"/>
                  <a:gd name="connsiteX38" fmla="*/ 40750 w 46159"/>
                  <a:gd name="connsiteY38" fmla="*/ 8084 h 46151"/>
                  <a:gd name="connsiteX39" fmla="*/ 42092 w 46159"/>
                  <a:gd name="connsiteY39" fmla="*/ 9902 h 46151"/>
                  <a:gd name="connsiteX40" fmla="*/ 43260 w 46159"/>
                  <a:gd name="connsiteY40" fmla="*/ 11849 h 46151"/>
                  <a:gd name="connsiteX41" fmla="*/ 44977 w 46159"/>
                  <a:gd name="connsiteY41" fmla="*/ 16018 h 46151"/>
                  <a:gd name="connsiteX42" fmla="*/ 45539 w 46159"/>
                  <a:gd name="connsiteY42" fmla="*/ 18211 h 46151"/>
                  <a:gd name="connsiteX43" fmla="*/ 45871 w 46159"/>
                  <a:gd name="connsiteY43" fmla="*/ 20447 h 46151"/>
                  <a:gd name="connsiteX44" fmla="*/ 45986 w 46159"/>
                  <a:gd name="connsiteY44" fmla="*/ 22711 h 46151"/>
                  <a:gd name="connsiteX45" fmla="*/ 45871 w 46159"/>
                  <a:gd name="connsiteY45" fmla="*/ 24990 h 46151"/>
                  <a:gd name="connsiteX46" fmla="*/ 45539 w 46159"/>
                  <a:gd name="connsiteY46" fmla="*/ 27226 h 46151"/>
                  <a:gd name="connsiteX47" fmla="*/ 44977 w 46159"/>
                  <a:gd name="connsiteY47" fmla="*/ 29419 h 46151"/>
                  <a:gd name="connsiteX48" fmla="*/ 44212 w 46159"/>
                  <a:gd name="connsiteY48" fmla="*/ 31539 h 46151"/>
                  <a:gd name="connsiteX49" fmla="*/ 43260 w 46159"/>
                  <a:gd name="connsiteY49" fmla="*/ 33588 h 46151"/>
                  <a:gd name="connsiteX50" fmla="*/ 42092 w 46159"/>
                  <a:gd name="connsiteY50" fmla="*/ 35535 h 46151"/>
                  <a:gd name="connsiteX51" fmla="*/ 40750 w 46159"/>
                  <a:gd name="connsiteY51" fmla="*/ 37352 h 46151"/>
                  <a:gd name="connsiteX52" fmla="*/ 39221 w 46159"/>
                  <a:gd name="connsiteY52" fmla="*/ 39040 h 46151"/>
                  <a:gd name="connsiteX53" fmla="*/ 35716 w 46159"/>
                  <a:gd name="connsiteY53" fmla="*/ 41911 h 46151"/>
                  <a:gd name="connsiteX54" fmla="*/ 33783 w 46159"/>
                  <a:gd name="connsiteY54" fmla="*/ 43064 h 46151"/>
                  <a:gd name="connsiteX55" fmla="*/ 31734 w 46159"/>
                  <a:gd name="connsiteY55" fmla="*/ 44031 h 46151"/>
                  <a:gd name="connsiteX56" fmla="*/ 29614 w 46159"/>
                  <a:gd name="connsiteY56" fmla="*/ 44796 h 46151"/>
                  <a:gd name="connsiteX57" fmla="*/ 27422 w 46159"/>
                  <a:gd name="connsiteY57" fmla="*/ 45344 h 46151"/>
                  <a:gd name="connsiteX58" fmla="*/ 25171 w 46159"/>
                  <a:gd name="connsiteY58" fmla="*/ 45690 h 46151"/>
                  <a:gd name="connsiteX59" fmla="*/ 22906 w 46159"/>
                  <a:gd name="connsiteY59" fmla="*/ 45791 h 4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6159" h="46151">
                    <a:moveTo>
                      <a:pt x="22906" y="45791"/>
                    </a:moveTo>
                    <a:cubicBezTo>
                      <a:pt x="22156" y="45791"/>
                      <a:pt x="21392" y="45762"/>
                      <a:pt x="20642" y="45690"/>
                    </a:cubicBezTo>
                    <a:cubicBezTo>
                      <a:pt x="19892" y="45603"/>
                      <a:pt x="19142" y="45488"/>
                      <a:pt x="18391" y="45343"/>
                    </a:cubicBezTo>
                    <a:cubicBezTo>
                      <a:pt x="17656" y="45199"/>
                      <a:pt x="16920" y="45012"/>
                      <a:pt x="16199" y="44795"/>
                    </a:cubicBezTo>
                    <a:cubicBezTo>
                      <a:pt x="15492" y="44579"/>
                      <a:pt x="14771" y="44319"/>
                      <a:pt x="14079" y="44031"/>
                    </a:cubicBezTo>
                    <a:cubicBezTo>
                      <a:pt x="13386" y="43743"/>
                      <a:pt x="12694" y="43411"/>
                      <a:pt x="12030" y="43064"/>
                    </a:cubicBezTo>
                    <a:cubicBezTo>
                      <a:pt x="11366" y="42704"/>
                      <a:pt x="10718" y="42314"/>
                      <a:pt x="10097" y="41911"/>
                    </a:cubicBezTo>
                    <a:cubicBezTo>
                      <a:pt x="9463" y="41492"/>
                      <a:pt x="8857" y="41031"/>
                      <a:pt x="8265" y="40555"/>
                    </a:cubicBezTo>
                    <a:cubicBezTo>
                      <a:pt x="7688" y="40079"/>
                      <a:pt x="7126" y="39574"/>
                      <a:pt x="6592" y="39040"/>
                    </a:cubicBezTo>
                    <a:cubicBezTo>
                      <a:pt x="6059" y="38506"/>
                      <a:pt x="5539" y="37929"/>
                      <a:pt x="5063" y="37352"/>
                    </a:cubicBezTo>
                    <a:cubicBezTo>
                      <a:pt x="4587" y="36760"/>
                      <a:pt x="4140" y="36155"/>
                      <a:pt x="3722" y="35535"/>
                    </a:cubicBezTo>
                    <a:cubicBezTo>
                      <a:pt x="3303" y="34900"/>
                      <a:pt x="2914" y="34251"/>
                      <a:pt x="2553" y="33587"/>
                    </a:cubicBezTo>
                    <a:cubicBezTo>
                      <a:pt x="2201" y="32921"/>
                      <a:pt x="1883" y="32238"/>
                      <a:pt x="1601" y="31539"/>
                    </a:cubicBezTo>
                    <a:cubicBezTo>
                      <a:pt x="1310" y="30846"/>
                      <a:pt x="1055" y="30138"/>
                      <a:pt x="837" y="29418"/>
                    </a:cubicBezTo>
                    <a:cubicBezTo>
                      <a:pt x="620" y="28697"/>
                      <a:pt x="433" y="27962"/>
                      <a:pt x="274" y="27226"/>
                    </a:cubicBezTo>
                    <a:cubicBezTo>
                      <a:pt x="130" y="26491"/>
                      <a:pt x="15" y="25740"/>
                      <a:pt x="-58" y="24990"/>
                    </a:cubicBezTo>
                    <a:cubicBezTo>
                      <a:pt x="-130" y="24240"/>
                      <a:pt x="-173" y="23475"/>
                      <a:pt x="-173" y="22711"/>
                    </a:cubicBezTo>
                    <a:cubicBezTo>
                      <a:pt x="-173" y="21961"/>
                      <a:pt x="-130" y="21197"/>
                      <a:pt x="-58" y="20447"/>
                    </a:cubicBezTo>
                    <a:cubicBezTo>
                      <a:pt x="15" y="19697"/>
                      <a:pt x="130" y="18947"/>
                      <a:pt x="274" y="18210"/>
                    </a:cubicBezTo>
                    <a:cubicBezTo>
                      <a:pt x="433" y="17475"/>
                      <a:pt x="620" y="16739"/>
                      <a:pt x="837" y="16018"/>
                    </a:cubicBezTo>
                    <a:cubicBezTo>
                      <a:pt x="1277" y="14577"/>
                      <a:pt x="1851" y="13182"/>
                      <a:pt x="2553" y="11849"/>
                    </a:cubicBezTo>
                    <a:cubicBezTo>
                      <a:pt x="2914" y="11185"/>
                      <a:pt x="3303" y="10522"/>
                      <a:pt x="3722" y="9902"/>
                    </a:cubicBezTo>
                    <a:cubicBezTo>
                      <a:pt x="4140" y="9282"/>
                      <a:pt x="4587" y="8661"/>
                      <a:pt x="5063" y="8084"/>
                    </a:cubicBezTo>
                    <a:cubicBezTo>
                      <a:pt x="5542" y="7495"/>
                      <a:pt x="6053" y="6932"/>
                      <a:pt x="6592" y="6397"/>
                    </a:cubicBezTo>
                    <a:cubicBezTo>
                      <a:pt x="7126" y="5863"/>
                      <a:pt x="7688" y="5344"/>
                      <a:pt x="8265" y="4868"/>
                    </a:cubicBezTo>
                    <a:cubicBezTo>
                      <a:pt x="8857" y="4391"/>
                      <a:pt x="9463" y="3944"/>
                      <a:pt x="10097" y="3527"/>
                    </a:cubicBezTo>
                    <a:cubicBezTo>
                      <a:pt x="10720" y="3106"/>
                      <a:pt x="11365" y="2721"/>
                      <a:pt x="12030" y="2372"/>
                    </a:cubicBezTo>
                    <a:cubicBezTo>
                      <a:pt x="12696" y="2015"/>
                      <a:pt x="13380" y="1693"/>
                      <a:pt x="14079" y="1406"/>
                    </a:cubicBezTo>
                    <a:cubicBezTo>
                      <a:pt x="14771" y="1117"/>
                      <a:pt x="15492" y="858"/>
                      <a:pt x="16199" y="642"/>
                    </a:cubicBezTo>
                    <a:cubicBezTo>
                      <a:pt x="16920" y="425"/>
                      <a:pt x="17656" y="237"/>
                      <a:pt x="18391" y="93"/>
                    </a:cubicBezTo>
                    <a:cubicBezTo>
                      <a:pt x="19134" y="-65"/>
                      <a:pt x="19886" y="-180"/>
                      <a:pt x="20642" y="-253"/>
                    </a:cubicBezTo>
                    <a:cubicBezTo>
                      <a:pt x="22148" y="-397"/>
                      <a:pt x="23665" y="-397"/>
                      <a:pt x="25171" y="-253"/>
                    </a:cubicBezTo>
                    <a:cubicBezTo>
                      <a:pt x="25927" y="-180"/>
                      <a:pt x="26679" y="-65"/>
                      <a:pt x="27422" y="93"/>
                    </a:cubicBezTo>
                    <a:cubicBezTo>
                      <a:pt x="28157" y="237"/>
                      <a:pt x="28893" y="425"/>
                      <a:pt x="29614" y="642"/>
                    </a:cubicBezTo>
                    <a:cubicBezTo>
                      <a:pt x="30321" y="858"/>
                      <a:pt x="31042" y="1117"/>
                      <a:pt x="31734" y="1406"/>
                    </a:cubicBezTo>
                    <a:cubicBezTo>
                      <a:pt x="32433" y="1693"/>
                      <a:pt x="33117" y="2015"/>
                      <a:pt x="33783" y="2372"/>
                    </a:cubicBezTo>
                    <a:cubicBezTo>
                      <a:pt x="34448" y="2721"/>
                      <a:pt x="35093" y="3106"/>
                      <a:pt x="35716" y="3527"/>
                    </a:cubicBezTo>
                    <a:cubicBezTo>
                      <a:pt x="36345" y="3941"/>
                      <a:pt x="36952" y="4388"/>
                      <a:pt x="37533" y="4868"/>
                    </a:cubicBezTo>
                    <a:cubicBezTo>
                      <a:pt x="38708" y="5832"/>
                      <a:pt x="39786" y="6909"/>
                      <a:pt x="40750" y="8084"/>
                    </a:cubicBezTo>
                    <a:cubicBezTo>
                      <a:pt x="41226" y="8661"/>
                      <a:pt x="41673" y="9282"/>
                      <a:pt x="42092" y="9902"/>
                    </a:cubicBezTo>
                    <a:cubicBezTo>
                      <a:pt x="42510" y="10522"/>
                      <a:pt x="42899" y="11186"/>
                      <a:pt x="43260" y="11849"/>
                    </a:cubicBezTo>
                    <a:cubicBezTo>
                      <a:pt x="43961" y="13182"/>
                      <a:pt x="44536" y="14578"/>
                      <a:pt x="44977" y="16018"/>
                    </a:cubicBezTo>
                    <a:cubicBezTo>
                      <a:pt x="45207" y="16739"/>
                      <a:pt x="45380" y="17475"/>
                      <a:pt x="45539" y="18211"/>
                    </a:cubicBezTo>
                    <a:cubicBezTo>
                      <a:pt x="45683" y="18947"/>
                      <a:pt x="45799" y="19697"/>
                      <a:pt x="45871" y="20447"/>
                    </a:cubicBezTo>
                    <a:cubicBezTo>
                      <a:pt x="45943" y="21197"/>
                      <a:pt x="45986" y="21961"/>
                      <a:pt x="45986" y="22711"/>
                    </a:cubicBezTo>
                    <a:cubicBezTo>
                      <a:pt x="45986" y="23475"/>
                      <a:pt x="45943" y="24240"/>
                      <a:pt x="45871" y="24990"/>
                    </a:cubicBezTo>
                    <a:cubicBezTo>
                      <a:pt x="45799" y="25741"/>
                      <a:pt x="45683" y="26491"/>
                      <a:pt x="45539" y="27226"/>
                    </a:cubicBezTo>
                    <a:cubicBezTo>
                      <a:pt x="45380" y="27962"/>
                      <a:pt x="45207" y="28697"/>
                      <a:pt x="44977" y="29419"/>
                    </a:cubicBezTo>
                    <a:cubicBezTo>
                      <a:pt x="44758" y="30138"/>
                      <a:pt x="44503" y="30846"/>
                      <a:pt x="44212" y="31539"/>
                    </a:cubicBezTo>
                    <a:cubicBezTo>
                      <a:pt x="43930" y="32238"/>
                      <a:pt x="43612" y="32922"/>
                      <a:pt x="43260" y="33588"/>
                    </a:cubicBezTo>
                    <a:cubicBezTo>
                      <a:pt x="42899" y="34251"/>
                      <a:pt x="42510" y="34900"/>
                      <a:pt x="42092" y="35535"/>
                    </a:cubicBezTo>
                    <a:cubicBezTo>
                      <a:pt x="41673" y="36155"/>
                      <a:pt x="41226" y="36761"/>
                      <a:pt x="40750" y="37352"/>
                    </a:cubicBezTo>
                    <a:cubicBezTo>
                      <a:pt x="40274" y="37929"/>
                      <a:pt x="39755" y="38507"/>
                      <a:pt x="39221" y="39040"/>
                    </a:cubicBezTo>
                    <a:cubicBezTo>
                      <a:pt x="38142" y="40101"/>
                      <a:pt x="36969" y="41061"/>
                      <a:pt x="35716" y="41911"/>
                    </a:cubicBezTo>
                    <a:cubicBezTo>
                      <a:pt x="35095" y="42314"/>
                      <a:pt x="34446" y="42704"/>
                      <a:pt x="33783" y="43064"/>
                    </a:cubicBezTo>
                    <a:cubicBezTo>
                      <a:pt x="33119" y="43411"/>
                      <a:pt x="32427" y="43743"/>
                      <a:pt x="31734" y="44031"/>
                    </a:cubicBezTo>
                    <a:cubicBezTo>
                      <a:pt x="31042" y="44319"/>
                      <a:pt x="30321" y="44579"/>
                      <a:pt x="29614" y="44796"/>
                    </a:cubicBezTo>
                    <a:cubicBezTo>
                      <a:pt x="28893" y="45012"/>
                      <a:pt x="28157" y="45199"/>
                      <a:pt x="27422" y="45344"/>
                    </a:cubicBezTo>
                    <a:cubicBezTo>
                      <a:pt x="26672" y="45488"/>
                      <a:pt x="25922" y="45603"/>
                      <a:pt x="25171" y="45690"/>
                    </a:cubicBezTo>
                    <a:cubicBezTo>
                      <a:pt x="24421" y="45762"/>
                      <a:pt x="23656" y="45791"/>
                      <a:pt x="22906" y="45791"/>
                    </a:cubicBezTo>
                    <a:close/>
                  </a:path>
                </a:pathLst>
              </a:custGeom>
              <a:solidFill>
                <a:srgbClr val="FFFFFF"/>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0" name="任意多边形: 形状 159"/>
              <p:cNvSpPr/>
              <p:nvPr/>
            </p:nvSpPr>
            <p:spPr>
              <a:xfrm>
                <a:off x="5625492" y="3840497"/>
                <a:ext cx="941003" cy="167185"/>
              </a:xfrm>
              <a:custGeom>
                <a:avLst/>
                <a:gdLst>
                  <a:gd name="connsiteX0" fmla="*/ 794533 w 941003"/>
                  <a:gd name="connsiteY0" fmla="*/ 166569 h 167185"/>
                  <a:gd name="connsiteX1" fmla="*/ 145705 w 941003"/>
                  <a:gd name="connsiteY1" fmla="*/ 166569 h 167185"/>
                  <a:gd name="connsiteX2" fmla="*/ 196 w 941003"/>
                  <a:gd name="connsiteY2" fmla="*/ 40995 h 167185"/>
                  <a:gd name="connsiteX3" fmla="*/ 28477 w 941003"/>
                  <a:gd name="connsiteY3" fmla="*/ -35 h 167185"/>
                  <a:gd name="connsiteX4" fmla="*/ 34886 w 941003"/>
                  <a:gd name="connsiteY4" fmla="*/ -617 h 167185"/>
                  <a:gd name="connsiteX5" fmla="*/ 905341 w 941003"/>
                  <a:gd name="connsiteY5" fmla="*/ -617 h 167185"/>
                  <a:gd name="connsiteX6" fmla="*/ 940612 w 941003"/>
                  <a:gd name="connsiteY6" fmla="*/ 34585 h 167185"/>
                  <a:gd name="connsiteX7" fmla="*/ 940029 w 941003"/>
                  <a:gd name="connsiteY7" fmla="*/ 41005 h 167185"/>
                  <a:gd name="connsiteX8" fmla="*/ 794533 w 941003"/>
                  <a:gd name="connsiteY8" fmla="*/ 166569 h 167185"/>
                  <a:gd name="connsiteX9" fmla="*/ 34886 w 941003"/>
                  <a:gd name="connsiteY9" fmla="*/ 22463 h 167185"/>
                  <a:gd name="connsiteX10" fmla="*/ 25475 w 941003"/>
                  <a:gd name="connsiteY10" fmla="*/ 26882 h 167185"/>
                  <a:gd name="connsiteX11" fmla="*/ 22886 w 941003"/>
                  <a:gd name="connsiteY11" fmla="*/ 36769 h 167185"/>
                  <a:gd name="connsiteX12" fmla="*/ 145705 w 941003"/>
                  <a:gd name="connsiteY12" fmla="*/ 143489 h 167185"/>
                  <a:gd name="connsiteX13" fmla="*/ 794533 w 941003"/>
                  <a:gd name="connsiteY13" fmla="*/ 143489 h 167185"/>
                  <a:gd name="connsiteX14" fmla="*/ 917341 w 941003"/>
                  <a:gd name="connsiteY14" fmla="*/ 36771 h 167185"/>
                  <a:gd name="connsiteX15" fmla="*/ 914754 w 941003"/>
                  <a:gd name="connsiteY15" fmla="*/ 26884 h 167185"/>
                  <a:gd name="connsiteX16" fmla="*/ 905341 w 941003"/>
                  <a:gd name="connsiteY16" fmla="*/ 22463 h 16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1003" h="167185">
                    <a:moveTo>
                      <a:pt x="794533" y="166569"/>
                    </a:moveTo>
                    <a:lnTo>
                      <a:pt x="145705" y="166569"/>
                    </a:lnTo>
                    <a:cubicBezTo>
                      <a:pt x="74943" y="166569"/>
                      <a:pt x="13748" y="113757"/>
                      <a:pt x="196" y="40995"/>
                    </a:cubicBezTo>
                    <a:cubicBezTo>
                      <a:pt x="-3324" y="21855"/>
                      <a:pt x="9338" y="3485"/>
                      <a:pt x="28477" y="-35"/>
                    </a:cubicBezTo>
                    <a:cubicBezTo>
                      <a:pt x="30591" y="-424"/>
                      <a:pt x="32737" y="-619"/>
                      <a:pt x="34886" y="-617"/>
                    </a:cubicBezTo>
                    <a:lnTo>
                      <a:pt x="905341" y="-617"/>
                    </a:lnTo>
                    <a:cubicBezTo>
                      <a:pt x="924802" y="-636"/>
                      <a:pt x="940593" y="15124"/>
                      <a:pt x="940612" y="34585"/>
                    </a:cubicBezTo>
                    <a:cubicBezTo>
                      <a:pt x="940614" y="36738"/>
                      <a:pt x="940419" y="38887"/>
                      <a:pt x="940029" y="41005"/>
                    </a:cubicBezTo>
                    <a:cubicBezTo>
                      <a:pt x="926455" y="113762"/>
                      <a:pt x="865265" y="166569"/>
                      <a:pt x="794533" y="166569"/>
                    </a:cubicBezTo>
                    <a:close/>
                    <a:moveTo>
                      <a:pt x="34886" y="22463"/>
                    </a:moveTo>
                    <a:cubicBezTo>
                      <a:pt x="31247" y="22459"/>
                      <a:pt x="27797" y="24079"/>
                      <a:pt x="25475" y="26882"/>
                    </a:cubicBezTo>
                    <a:cubicBezTo>
                      <a:pt x="23166" y="29619"/>
                      <a:pt x="22215" y="33251"/>
                      <a:pt x="22886" y="36769"/>
                    </a:cubicBezTo>
                    <a:cubicBezTo>
                      <a:pt x="34402" y="98607"/>
                      <a:pt x="86055" y="143489"/>
                      <a:pt x="145705" y="143489"/>
                    </a:cubicBezTo>
                    <a:lnTo>
                      <a:pt x="794533" y="143489"/>
                    </a:lnTo>
                    <a:cubicBezTo>
                      <a:pt x="854156" y="143489"/>
                      <a:pt x="905804" y="98608"/>
                      <a:pt x="917341" y="36771"/>
                    </a:cubicBezTo>
                    <a:cubicBezTo>
                      <a:pt x="918014" y="33254"/>
                      <a:pt x="917063" y="29621"/>
                      <a:pt x="914754" y="26884"/>
                    </a:cubicBezTo>
                    <a:cubicBezTo>
                      <a:pt x="912433" y="24080"/>
                      <a:pt x="908981" y="22459"/>
                      <a:pt x="905341" y="22463"/>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1" name="任意多边形: 形状 160"/>
              <p:cNvSpPr/>
              <p:nvPr/>
            </p:nvSpPr>
            <p:spPr>
              <a:xfrm>
                <a:off x="5537670" y="3047718"/>
                <a:ext cx="1116578" cy="729326"/>
              </a:xfrm>
              <a:custGeom>
                <a:avLst/>
                <a:gdLst>
                  <a:gd name="connsiteX0" fmla="*/ 989927 w 1116578"/>
                  <a:gd name="connsiteY0" fmla="*/ 728957 h 729326"/>
                  <a:gd name="connsiteX1" fmla="*/ 125868 w 1116578"/>
                  <a:gd name="connsiteY1" fmla="*/ 728957 h 729326"/>
                  <a:gd name="connsiteX2" fmla="*/ 70056 w 1116578"/>
                  <a:gd name="connsiteY2" fmla="*/ 680382 h 729326"/>
                  <a:gd name="connsiteX3" fmla="*/ 123 w 1116578"/>
                  <a:gd name="connsiteY3" fmla="*/ 178444 h 729326"/>
                  <a:gd name="connsiteX4" fmla="*/ 39075 w 1116578"/>
                  <a:gd name="connsiteY4" fmla="*/ 120653 h 729326"/>
                  <a:gd name="connsiteX5" fmla="*/ 70258 w 1116578"/>
                  <a:gd name="connsiteY5" fmla="*/ 112819 h 729326"/>
                  <a:gd name="connsiteX6" fmla="*/ 133558 w 1116578"/>
                  <a:gd name="connsiteY6" fmla="*/ 150699 h 729326"/>
                  <a:gd name="connsiteX7" fmla="*/ 133753 w 1116578"/>
                  <a:gd name="connsiteY7" fmla="*/ 151501 h 729326"/>
                  <a:gd name="connsiteX8" fmla="*/ 297092 w 1116578"/>
                  <a:gd name="connsiteY8" fmla="*/ 282579 h 729326"/>
                  <a:gd name="connsiteX9" fmla="*/ 464426 w 1116578"/>
                  <a:gd name="connsiteY9" fmla="*/ 125473 h 729326"/>
                  <a:gd name="connsiteX10" fmla="*/ 470475 w 1116578"/>
                  <a:gd name="connsiteY10" fmla="*/ 48449 h 729326"/>
                  <a:gd name="connsiteX11" fmla="*/ 521404 w 1116578"/>
                  <a:gd name="connsiteY11" fmla="*/ 383 h 729326"/>
                  <a:gd name="connsiteX12" fmla="*/ 557898 w 1116578"/>
                  <a:gd name="connsiteY12" fmla="*/ -369 h 729326"/>
                  <a:gd name="connsiteX13" fmla="*/ 558135 w 1116578"/>
                  <a:gd name="connsiteY13" fmla="*/ -364 h 729326"/>
                  <a:gd name="connsiteX14" fmla="*/ 594391 w 1116578"/>
                  <a:gd name="connsiteY14" fmla="*/ 383 h 729326"/>
                  <a:gd name="connsiteX15" fmla="*/ 645320 w 1116578"/>
                  <a:gd name="connsiteY15" fmla="*/ 48449 h 729326"/>
                  <a:gd name="connsiteX16" fmla="*/ 651369 w 1116578"/>
                  <a:gd name="connsiteY16" fmla="*/ 125476 h 729326"/>
                  <a:gd name="connsiteX17" fmla="*/ 818703 w 1116578"/>
                  <a:gd name="connsiteY17" fmla="*/ 282579 h 729326"/>
                  <a:gd name="connsiteX18" fmla="*/ 982042 w 1116578"/>
                  <a:gd name="connsiteY18" fmla="*/ 151506 h 729326"/>
                  <a:gd name="connsiteX19" fmla="*/ 1044729 w 1116578"/>
                  <a:gd name="connsiteY19" fmla="*/ 112622 h 729326"/>
                  <a:gd name="connsiteX20" fmla="*/ 1045537 w 1116578"/>
                  <a:gd name="connsiteY20" fmla="*/ 112819 h 729326"/>
                  <a:gd name="connsiteX21" fmla="*/ 1076720 w 1116578"/>
                  <a:gd name="connsiteY21" fmla="*/ 120653 h 729326"/>
                  <a:gd name="connsiteX22" fmla="*/ 1115674 w 1116578"/>
                  <a:gd name="connsiteY22" fmla="*/ 178444 h 729326"/>
                  <a:gd name="connsiteX23" fmla="*/ 1045739 w 1116578"/>
                  <a:gd name="connsiteY23" fmla="*/ 680382 h 729326"/>
                  <a:gd name="connsiteX24" fmla="*/ 989927 w 1116578"/>
                  <a:gd name="connsiteY24" fmla="*/ 728957 h 729326"/>
                  <a:gd name="connsiteX25" fmla="*/ 83026 w 1116578"/>
                  <a:gd name="connsiteY25" fmla="*/ 134313 h 729326"/>
                  <a:gd name="connsiteX26" fmla="*/ 75882 w 1116578"/>
                  <a:gd name="connsiteY26" fmla="*/ 135202 h 729326"/>
                  <a:gd name="connsiteX27" fmla="*/ 44699 w 1116578"/>
                  <a:gd name="connsiteY27" fmla="*/ 143037 h 729326"/>
                  <a:gd name="connsiteX28" fmla="*/ 22981 w 1116578"/>
                  <a:gd name="connsiteY28" fmla="*/ 175258 h 729326"/>
                  <a:gd name="connsiteX29" fmla="*/ 92915 w 1116578"/>
                  <a:gd name="connsiteY29" fmla="*/ 677197 h 729326"/>
                  <a:gd name="connsiteX30" fmla="*/ 125868 w 1116578"/>
                  <a:gd name="connsiteY30" fmla="*/ 705877 h 729326"/>
                  <a:gd name="connsiteX31" fmla="*/ 989927 w 1116578"/>
                  <a:gd name="connsiteY31" fmla="*/ 705877 h 729326"/>
                  <a:gd name="connsiteX32" fmla="*/ 1022881 w 1116578"/>
                  <a:gd name="connsiteY32" fmla="*/ 677197 h 729326"/>
                  <a:gd name="connsiteX33" fmla="*/ 1092815 w 1116578"/>
                  <a:gd name="connsiteY33" fmla="*/ 175259 h 729326"/>
                  <a:gd name="connsiteX34" fmla="*/ 1071097 w 1116578"/>
                  <a:gd name="connsiteY34" fmla="*/ 143037 h 729326"/>
                  <a:gd name="connsiteX35" fmla="*/ 1039914 w 1116578"/>
                  <a:gd name="connsiteY35" fmla="*/ 135202 h 729326"/>
                  <a:gd name="connsiteX36" fmla="*/ 1004622 w 1116578"/>
                  <a:gd name="connsiteY36" fmla="*/ 156323 h 729326"/>
                  <a:gd name="connsiteX37" fmla="*/ 1004513 w 1116578"/>
                  <a:gd name="connsiteY37" fmla="*/ 156770 h 729326"/>
                  <a:gd name="connsiteX38" fmla="*/ 937203 w 1116578"/>
                  <a:gd name="connsiteY38" fmla="*/ 263931 h 729326"/>
                  <a:gd name="connsiteX39" fmla="*/ 689096 w 1116578"/>
                  <a:gd name="connsiteY39" fmla="*/ 254180 h 729326"/>
                  <a:gd name="connsiteX40" fmla="*/ 628361 w 1116578"/>
                  <a:gd name="connsiteY40" fmla="*/ 127287 h 729326"/>
                  <a:gd name="connsiteX41" fmla="*/ 622311 w 1116578"/>
                  <a:gd name="connsiteY41" fmla="*/ 50256 h 729326"/>
                  <a:gd name="connsiteX42" fmla="*/ 593916 w 1116578"/>
                  <a:gd name="connsiteY42" fmla="*/ 23457 h 729326"/>
                  <a:gd name="connsiteX43" fmla="*/ 557898 w 1116578"/>
                  <a:gd name="connsiteY43" fmla="*/ 22715 h 729326"/>
                  <a:gd name="connsiteX44" fmla="*/ 521879 w 1116578"/>
                  <a:gd name="connsiteY44" fmla="*/ 23457 h 729326"/>
                  <a:gd name="connsiteX45" fmla="*/ 493484 w 1116578"/>
                  <a:gd name="connsiteY45" fmla="*/ 50256 h 729326"/>
                  <a:gd name="connsiteX46" fmla="*/ 487435 w 1116578"/>
                  <a:gd name="connsiteY46" fmla="*/ 127283 h 729326"/>
                  <a:gd name="connsiteX47" fmla="*/ 426700 w 1116578"/>
                  <a:gd name="connsiteY47" fmla="*/ 254180 h 729326"/>
                  <a:gd name="connsiteX48" fmla="*/ 178592 w 1116578"/>
                  <a:gd name="connsiteY48" fmla="*/ 263931 h 729326"/>
                  <a:gd name="connsiteX49" fmla="*/ 111281 w 1116578"/>
                  <a:gd name="connsiteY49" fmla="*/ 156766 h 729326"/>
                  <a:gd name="connsiteX50" fmla="*/ 83026 w 1116578"/>
                  <a:gd name="connsiteY50" fmla="*/ 134313 h 72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116578" h="729326">
                    <a:moveTo>
                      <a:pt x="989927" y="728957"/>
                    </a:moveTo>
                    <a:lnTo>
                      <a:pt x="125868" y="728957"/>
                    </a:lnTo>
                    <a:cubicBezTo>
                      <a:pt x="97790" y="728854"/>
                      <a:pt x="74033" y="708177"/>
                      <a:pt x="70056" y="680382"/>
                    </a:cubicBezTo>
                    <a:lnTo>
                      <a:pt x="123" y="178444"/>
                    </a:lnTo>
                    <a:cubicBezTo>
                      <a:pt x="-3596" y="152050"/>
                      <a:pt x="13215" y="127110"/>
                      <a:pt x="39075" y="120653"/>
                    </a:cubicBezTo>
                    <a:lnTo>
                      <a:pt x="70258" y="112819"/>
                    </a:lnTo>
                    <a:cubicBezTo>
                      <a:pt x="98198" y="105799"/>
                      <a:pt x="126539" y="122759"/>
                      <a:pt x="133558" y="150699"/>
                    </a:cubicBezTo>
                    <a:cubicBezTo>
                      <a:pt x="133625" y="150966"/>
                      <a:pt x="133690" y="151233"/>
                      <a:pt x="133753" y="151501"/>
                    </a:cubicBezTo>
                    <a:cubicBezTo>
                      <a:pt x="151818" y="228679"/>
                      <a:pt x="218985" y="282579"/>
                      <a:pt x="297092" y="282579"/>
                    </a:cubicBezTo>
                    <a:cubicBezTo>
                      <a:pt x="383979" y="282579"/>
                      <a:pt x="457482" y="213569"/>
                      <a:pt x="464426" y="125473"/>
                    </a:cubicBezTo>
                    <a:lnTo>
                      <a:pt x="470475" y="48449"/>
                    </a:lnTo>
                    <a:cubicBezTo>
                      <a:pt x="472498" y="21682"/>
                      <a:pt x="494565" y="855"/>
                      <a:pt x="521404" y="383"/>
                    </a:cubicBezTo>
                    <a:lnTo>
                      <a:pt x="557898" y="-369"/>
                    </a:lnTo>
                    <a:lnTo>
                      <a:pt x="558135" y="-364"/>
                    </a:lnTo>
                    <a:lnTo>
                      <a:pt x="594391" y="383"/>
                    </a:lnTo>
                    <a:cubicBezTo>
                      <a:pt x="621230" y="855"/>
                      <a:pt x="643297" y="21682"/>
                      <a:pt x="645320" y="48449"/>
                    </a:cubicBezTo>
                    <a:lnTo>
                      <a:pt x="651369" y="125476"/>
                    </a:lnTo>
                    <a:cubicBezTo>
                      <a:pt x="658314" y="213569"/>
                      <a:pt x="731816" y="282579"/>
                      <a:pt x="818703" y="282579"/>
                    </a:cubicBezTo>
                    <a:cubicBezTo>
                      <a:pt x="896810" y="282579"/>
                      <a:pt x="963978" y="228679"/>
                      <a:pt x="982042" y="151506"/>
                    </a:cubicBezTo>
                    <a:cubicBezTo>
                      <a:pt x="988615" y="123458"/>
                      <a:pt x="1016681" y="106049"/>
                      <a:pt x="1044729" y="112622"/>
                    </a:cubicBezTo>
                    <a:cubicBezTo>
                      <a:pt x="1044999" y="112686"/>
                      <a:pt x="1045268" y="112751"/>
                      <a:pt x="1045537" y="112819"/>
                    </a:cubicBezTo>
                    <a:lnTo>
                      <a:pt x="1076720" y="120653"/>
                    </a:lnTo>
                    <a:cubicBezTo>
                      <a:pt x="1102581" y="127110"/>
                      <a:pt x="1119391" y="152051"/>
                      <a:pt x="1115674" y="178444"/>
                    </a:cubicBezTo>
                    <a:lnTo>
                      <a:pt x="1045739" y="680382"/>
                    </a:lnTo>
                    <a:cubicBezTo>
                      <a:pt x="1041763" y="708178"/>
                      <a:pt x="1018006" y="728854"/>
                      <a:pt x="989927" y="728957"/>
                    </a:cubicBezTo>
                    <a:close/>
                    <a:moveTo>
                      <a:pt x="83026" y="134313"/>
                    </a:moveTo>
                    <a:cubicBezTo>
                      <a:pt x="80617" y="134315"/>
                      <a:pt x="78218" y="134613"/>
                      <a:pt x="75882" y="135202"/>
                    </a:cubicBezTo>
                    <a:lnTo>
                      <a:pt x="44699" y="143037"/>
                    </a:lnTo>
                    <a:cubicBezTo>
                      <a:pt x="30281" y="146637"/>
                      <a:pt x="20908" y="160542"/>
                      <a:pt x="22981" y="175258"/>
                    </a:cubicBezTo>
                    <a:lnTo>
                      <a:pt x="92915" y="677197"/>
                    </a:lnTo>
                    <a:cubicBezTo>
                      <a:pt x="95263" y="693608"/>
                      <a:pt x="109290" y="705816"/>
                      <a:pt x="125868" y="705877"/>
                    </a:cubicBezTo>
                    <a:lnTo>
                      <a:pt x="989927" y="705877"/>
                    </a:lnTo>
                    <a:cubicBezTo>
                      <a:pt x="1006506" y="705816"/>
                      <a:pt x="1020533" y="693608"/>
                      <a:pt x="1022881" y="677197"/>
                    </a:cubicBezTo>
                    <a:lnTo>
                      <a:pt x="1092815" y="175259"/>
                    </a:lnTo>
                    <a:cubicBezTo>
                      <a:pt x="1094888" y="160543"/>
                      <a:pt x="1085515" y="146637"/>
                      <a:pt x="1071097" y="143037"/>
                    </a:cubicBezTo>
                    <a:lnTo>
                      <a:pt x="1039914" y="135202"/>
                    </a:lnTo>
                    <a:cubicBezTo>
                      <a:pt x="1024336" y="131289"/>
                      <a:pt x="1008535" y="140745"/>
                      <a:pt x="1004622" y="156323"/>
                    </a:cubicBezTo>
                    <a:cubicBezTo>
                      <a:pt x="1004585" y="156472"/>
                      <a:pt x="1004548" y="156621"/>
                      <a:pt x="1004513" y="156770"/>
                    </a:cubicBezTo>
                    <a:cubicBezTo>
                      <a:pt x="994633" y="198989"/>
                      <a:pt x="970945" y="236702"/>
                      <a:pt x="937203" y="263931"/>
                    </a:cubicBezTo>
                    <a:cubicBezTo>
                      <a:pt x="863664" y="323079"/>
                      <a:pt x="757765" y="318917"/>
                      <a:pt x="689096" y="254180"/>
                    </a:cubicBezTo>
                    <a:cubicBezTo>
                      <a:pt x="653724" y="220944"/>
                      <a:pt x="632060" y="175682"/>
                      <a:pt x="628361" y="127287"/>
                    </a:cubicBezTo>
                    <a:lnTo>
                      <a:pt x="622311" y="50256"/>
                    </a:lnTo>
                    <a:cubicBezTo>
                      <a:pt x="621183" y="35332"/>
                      <a:pt x="608880" y="23720"/>
                      <a:pt x="593916" y="23457"/>
                    </a:cubicBezTo>
                    <a:lnTo>
                      <a:pt x="557898" y="22715"/>
                    </a:lnTo>
                    <a:lnTo>
                      <a:pt x="521879" y="23457"/>
                    </a:lnTo>
                    <a:cubicBezTo>
                      <a:pt x="506915" y="23721"/>
                      <a:pt x="494612" y="35333"/>
                      <a:pt x="493484" y="50256"/>
                    </a:cubicBezTo>
                    <a:lnTo>
                      <a:pt x="487435" y="127283"/>
                    </a:lnTo>
                    <a:cubicBezTo>
                      <a:pt x="483736" y="175680"/>
                      <a:pt x="462072" y="220943"/>
                      <a:pt x="426700" y="254180"/>
                    </a:cubicBezTo>
                    <a:cubicBezTo>
                      <a:pt x="358030" y="318917"/>
                      <a:pt x="252131" y="323079"/>
                      <a:pt x="178592" y="263931"/>
                    </a:cubicBezTo>
                    <a:cubicBezTo>
                      <a:pt x="144849" y="236700"/>
                      <a:pt x="121161" y="198986"/>
                      <a:pt x="111281" y="156766"/>
                    </a:cubicBezTo>
                    <a:cubicBezTo>
                      <a:pt x="108196" y="143644"/>
                      <a:pt x="96507" y="134355"/>
                      <a:pt x="83026" y="134313"/>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62" name="图形 179"/>
              <p:cNvGrpSpPr/>
              <p:nvPr/>
            </p:nvGrpSpPr>
            <p:grpSpPr>
              <a:xfrm>
                <a:off x="6014752" y="3464148"/>
                <a:ext cx="158530" cy="100888"/>
                <a:chOff x="6014752" y="3464148"/>
                <a:chExt cx="158530" cy="100888"/>
              </a:xfrm>
            </p:grpSpPr>
            <p:sp>
              <p:nvSpPr>
                <p:cNvPr id="170" name="任意多边形: 形状 169"/>
                <p:cNvSpPr/>
                <p:nvPr/>
              </p:nvSpPr>
              <p:spPr>
                <a:xfrm>
                  <a:off x="6021965" y="3471361"/>
                  <a:ext cx="144106" cy="86463"/>
                </a:xfrm>
                <a:custGeom>
                  <a:avLst/>
                  <a:gdLst>
                    <a:gd name="connsiteX0" fmla="*/ 111148 w 144106"/>
                    <a:gd name="connsiteY0" fmla="*/ 86045 h 86463"/>
                    <a:gd name="connsiteX1" fmla="*/ 32178 w 144106"/>
                    <a:gd name="connsiteY1" fmla="*/ 86045 h 86463"/>
                    <a:gd name="connsiteX2" fmla="*/ -390 w 144106"/>
                    <a:gd name="connsiteY2" fmla="*/ 42815 h 86463"/>
                    <a:gd name="connsiteX3" fmla="*/ 32178 w 144106"/>
                    <a:gd name="connsiteY3" fmla="*/ -419 h 86463"/>
                    <a:gd name="connsiteX4" fmla="*/ 111148 w 144106"/>
                    <a:gd name="connsiteY4" fmla="*/ -419 h 86463"/>
                    <a:gd name="connsiteX5" fmla="*/ 143716 w 144106"/>
                    <a:gd name="connsiteY5" fmla="*/ 42815 h 86463"/>
                    <a:gd name="connsiteX6" fmla="*/ 111148 w 144106"/>
                    <a:gd name="connsiteY6" fmla="*/ 86045 h 8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06" h="86463">
                      <a:moveTo>
                        <a:pt x="111148" y="86045"/>
                      </a:moveTo>
                      <a:lnTo>
                        <a:pt x="32178" y="86045"/>
                      </a:lnTo>
                      <a:cubicBezTo>
                        <a:pt x="14283" y="86045"/>
                        <a:pt x="-390" y="66560"/>
                        <a:pt x="-390" y="42815"/>
                      </a:cubicBezTo>
                      <a:cubicBezTo>
                        <a:pt x="-390" y="19066"/>
                        <a:pt x="14283" y="-419"/>
                        <a:pt x="32178" y="-419"/>
                      </a:cubicBezTo>
                      <a:lnTo>
                        <a:pt x="111148" y="-419"/>
                      </a:lnTo>
                      <a:cubicBezTo>
                        <a:pt x="129049" y="-419"/>
                        <a:pt x="143716" y="19066"/>
                        <a:pt x="143716" y="42815"/>
                      </a:cubicBezTo>
                      <a:cubicBezTo>
                        <a:pt x="143716" y="66560"/>
                        <a:pt x="129049" y="86045"/>
                        <a:pt x="111148" y="86045"/>
                      </a:cubicBezTo>
                      <a:close/>
                    </a:path>
                  </a:pathLst>
                </a:custGeom>
                <a:solidFill>
                  <a:srgbClr val="FF857D"/>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71" name="任意多边形: 形状 170"/>
                <p:cNvSpPr/>
                <p:nvPr/>
              </p:nvSpPr>
              <p:spPr>
                <a:xfrm>
                  <a:off x="6099443" y="3466911"/>
                  <a:ext cx="38056" cy="94528"/>
                </a:xfrm>
                <a:custGeom>
                  <a:avLst/>
                  <a:gdLst>
                    <a:gd name="connsiteX0" fmla="*/ -402 w 38056"/>
                    <a:gd name="connsiteY0" fmla="*/ -419 h 94528"/>
                    <a:gd name="connsiteX1" fmla="*/ 37655 w 38056"/>
                    <a:gd name="connsiteY1" fmla="*/ -419 h 94528"/>
                    <a:gd name="connsiteX2" fmla="*/ 37655 w 38056"/>
                    <a:gd name="connsiteY2" fmla="*/ 94110 h 94528"/>
                    <a:gd name="connsiteX3" fmla="*/ -402 w 38056"/>
                    <a:gd name="connsiteY3" fmla="*/ 94110 h 94528"/>
                  </a:gdLst>
                  <a:ahLst/>
                  <a:cxnLst>
                    <a:cxn ang="0">
                      <a:pos x="connsiteX0" y="connsiteY0"/>
                    </a:cxn>
                    <a:cxn ang="0">
                      <a:pos x="connsiteX1" y="connsiteY1"/>
                    </a:cxn>
                    <a:cxn ang="0">
                      <a:pos x="connsiteX2" y="connsiteY2"/>
                    </a:cxn>
                    <a:cxn ang="0">
                      <a:pos x="connsiteX3" y="connsiteY3"/>
                    </a:cxn>
                  </a:cxnLst>
                  <a:rect l="l" t="t" r="r" b="b"/>
                  <a:pathLst>
                    <a:path w="38056" h="94528">
                      <a:moveTo>
                        <a:pt x="-402" y="-419"/>
                      </a:moveTo>
                      <a:lnTo>
                        <a:pt x="37655" y="-419"/>
                      </a:lnTo>
                      <a:lnTo>
                        <a:pt x="37655" y="94110"/>
                      </a:lnTo>
                      <a:lnTo>
                        <a:pt x="-402" y="94110"/>
                      </a:lnTo>
                      <a:close/>
                    </a:path>
                  </a:pathLst>
                </a:custGeom>
                <a:solidFill>
                  <a:srgbClr val="E55A5A"/>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72" name="任意多边形: 形状 171"/>
                <p:cNvSpPr/>
                <p:nvPr/>
              </p:nvSpPr>
              <p:spPr>
                <a:xfrm>
                  <a:off x="6014752" y="3464148"/>
                  <a:ext cx="158530" cy="100888"/>
                </a:xfrm>
                <a:custGeom>
                  <a:avLst/>
                  <a:gdLst>
                    <a:gd name="connsiteX0" fmla="*/ 118360 w 158530"/>
                    <a:gd name="connsiteY0" fmla="*/ 100469 h 100888"/>
                    <a:gd name="connsiteX1" fmla="*/ 39390 w 158530"/>
                    <a:gd name="connsiteY1" fmla="*/ 100469 h 100888"/>
                    <a:gd name="connsiteX2" fmla="*/ -390 w 158530"/>
                    <a:gd name="connsiteY2" fmla="*/ 50028 h 100888"/>
                    <a:gd name="connsiteX3" fmla="*/ 39390 w 158530"/>
                    <a:gd name="connsiteY3" fmla="*/ -419 h 100888"/>
                    <a:gd name="connsiteX4" fmla="*/ 118360 w 158530"/>
                    <a:gd name="connsiteY4" fmla="*/ -419 h 100888"/>
                    <a:gd name="connsiteX5" fmla="*/ 158141 w 158530"/>
                    <a:gd name="connsiteY5" fmla="*/ 50028 h 100888"/>
                    <a:gd name="connsiteX6" fmla="*/ 118360 w 158530"/>
                    <a:gd name="connsiteY6" fmla="*/ 100469 h 100888"/>
                    <a:gd name="connsiteX7" fmla="*/ 39390 w 158530"/>
                    <a:gd name="connsiteY7" fmla="*/ 14006 h 100888"/>
                    <a:gd name="connsiteX8" fmla="*/ 14034 w 158530"/>
                    <a:gd name="connsiteY8" fmla="*/ 50028 h 100888"/>
                    <a:gd name="connsiteX9" fmla="*/ 39390 w 158530"/>
                    <a:gd name="connsiteY9" fmla="*/ 86045 h 100888"/>
                    <a:gd name="connsiteX10" fmla="*/ 118360 w 158530"/>
                    <a:gd name="connsiteY10" fmla="*/ 86045 h 100888"/>
                    <a:gd name="connsiteX11" fmla="*/ 143716 w 158530"/>
                    <a:gd name="connsiteY11" fmla="*/ 50028 h 100888"/>
                    <a:gd name="connsiteX12" fmla="*/ 118360 w 158530"/>
                    <a:gd name="connsiteY12" fmla="*/ 14006 h 100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530" h="100888">
                      <a:moveTo>
                        <a:pt x="118360" y="100469"/>
                      </a:moveTo>
                      <a:lnTo>
                        <a:pt x="39390" y="100469"/>
                      </a:lnTo>
                      <a:cubicBezTo>
                        <a:pt x="17455" y="100469"/>
                        <a:pt x="-390" y="77841"/>
                        <a:pt x="-390" y="50028"/>
                      </a:cubicBezTo>
                      <a:cubicBezTo>
                        <a:pt x="-390" y="22211"/>
                        <a:pt x="17455" y="-419"/>
                        <a:pt x="39390" y="-419"/>
                      </a:cubicBezTo>
                      <a:lnTo>
                        <a:pt x="118360" y="-419"/>
                      </a:lnTo>
                      <a:cubicBezTo>
                        <a:pt x="140295" y="-419"/>
                        <a:pt x="158141" y="22211"/>
                        <a:pt x="158141" y="50028"/>
                      </a:cubicBezTo>
                      <a:cubicBezTo>
                        <a:pt x="158141" y="77841"/>
                        <a:pt x="140295" y="100469"/>
                        <a:pt x="118360" y="100469"/>
                      </a:cubicBezTo>
                      <a:close/>
                      <a:moveTo>
                        <a:pt x="39390" y="14006"/>
                      </a:moveTo>
                      <a:cubicBezTo>
                        <a:pt x="25646" y="14006"/>
                        <a:pt x="14034" y="30502"/>
                        <a:pt x="14034" y="50028"/>
                      </a:cubicBezTo>
                      <a:cubicBezTo>
                        <a:pt x="14034" y="69551"/>
                        <a:pt x="25646" y="86045"/>
                        <a:pt x="39390" y="86045"/>
                      </a:cubicBezTo>
                      <a:lnTo>
                        <a:pt x="118360" y="86045"/>
                      </a:lnTo>
                      <a:cubicBezTo>
                        <a:pt x="132104" y="86045"/>
                        <a:pt x="143716" y="69551"/>
                        <a:pt x="143716" y="50028"/>
                      </a:cubicBezTo>
                      <a:cubicBezTo>
                        <a:pt x="143716" y="30502"/>
                        <a:pt x="132104" y="14006"/>
                        <a:pt x="118360" y="1400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63" name="任意多边形: 形状 162"/>
              <p:cNvSpPr/>
              <p:nvPr/>
            </p:nvSpPr>
            <p:spPr>
              <a:xfrm>
                <a:off x="5497939" y="3053268"/>
                <a:ext cx="157537" cy="157537"/>
              </a:xfrm>
              <a:custGeom>
                <a:avLst/>
                <a:gdLst>
                  <a:gd name="connsiteX0" fmla="*/ 157397 w 157537"/>
                  <a:gd name="connsiteY0" fmla="*/ 78535 h 157537"/>
                  <a:gd name="connsiteX1" fmla="*/ 78628 w 157537"/>
                  <a:gd name="connsiteY1" fmla="*/ 157304 h 157537"/>
                  <a:gd name="connsiteX2" fmla="*/ -140 w 157537"/>
                  <a:gd name="connsiteY2" fmla="*/ 78535 h 157537"/>
                  <a:gd name="connsiteX3" fmla="*/ 78628 w 157537"/>
                  <a:gd name="connsiteY3" fmla="*/ -234 h 157537"/>
                  <a:gd name="connsiteX4" fmla="*/ 157397 w 157537"/>
                  <a:gd name="connsiteY4" fmla="*/ 78535 h 157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37" h="157537">
                    <a:moveTo>
                      <a:pt x="157397" y="78535"/>
                    </a:moveTo>
                    <a:cubicBezTo>
                      <a:pt x="157397" y="122038"/>
                      <a:pt x="122131" y="157304"/>
                      <a:pt x="78628" y="157304"/>
                    </a:cubicBezTo>
                    <a:cubicBezTo>
                      <a:pt x="35126" y="157304"/>
                      <a:pt x="-140" y="122038"/>
                      <a:pt x="-140" y="78535"/>
                    </a:cubicBezTo>
                    <a:cubicBezTo>
                      <a:pt x="-140" y="35032"/>
                      <a:pt x="35126" y="-234"/>
                      <a:pt x="78628" y="-234"/>
                    </a:cubicBezTo>
                    <a:cubicBezTo>
                      <a:pt x="122131" y="-234"/>
                      <a:pt x="157397" y="35032"/>
                      <a:pt x="157397" y="78535"/>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4" name="任意多边形: 形状 163"/>
              <p:cNvSpPr/>
              <p:nvPr/>
            </p:nvSpPr>
            <p:spPr>
              <a:xfrm>
                <a:off x="5977505" y="2861856"/>
                <a:ext cx="236988" cy="236988"/>
              </a:xfrm>
              <a:custGeom>
                <a:avLst/>
                <a:gdLst>
                  <a:gd name="connsiteX0" fmla="*/ 236597 w 236988"/>
                  <a:gd name="connsiteY0" fmla="*/ 118334 h 236988"/>
                  <a:gd name="connsiteX1" fmla="*/ 118103 w 236988"/>
                  <a:gd name="connsiteY1" fmla="*/ 236828 h 236988"/>
                  <a:gd name="connsiteX2" fmla="*/ -391 w 236988"/>
                  <a:gd name="connsiteY2" fmla="*/ 118334 h 236988"/>
                  <a:gd name="connsiteX3" fmla="*/ 118103 w 236988"/>
                  <a:gd name="connsiteY3" fmla="*/ -161 h 236988"/>
                  <a:gd name="connsiteX4" fmla="*/ 236597 w 236988"/>
                  <a:gd name="connsiteY4" fmla="*/ 118334 h 236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988" h="236988">
                    <a:moveTo>
                      <a:pt x="236597" y="118334"/>
                    </a:moveTo>
                    <a:cubicBezTo>
                      <a:pt x="236597" y="183776"/>
                      <a:pt x="183546" y="236828"/>
                      <a:pt x="118103" y="236828"/>
                    </a:cubicBezTo>
                    <a:cubicBezTo>
                      <a:pt x="52660" y="236828"/>
                      <a:pt x="-391" y="183776"/>
                      <a:pt x="-391" y="118334"/>
                    </a:cubicBezTo>
                    <a:cubicBezTo>
                      <a:pt x="-391" y="52891"/>
                      <a:pt x="52660" y="-161"/>
                      <a:pt x="118103" y="-161"/>
                    </a:cubicBezTo>
                    <a:cubicBezTo>
                      <a:pt x="183546" y="-161"/>
                      <a:pt x="236597" y="52891"/>
                      <a:pt x="236597" y="118334"/>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5" name="任意多边形: 形状 164"/>
              <p:cNvSpPr/>
              <p:nvPr/>
            </p:nvSpPr>
            <p:spPr>
              <a:xfrm>
                <a:off x="5984430" y="2890037"/>
                <a:ext cx="230063" cy="208806"/>
              </a:xfrm>
              <a:custGeom>
                <a:avLst/>
                <a:gdLst>
                  <a:gd name="connsiteX0" fmla="*/ 193972 w 230063"/>
                  <a:gd name="connsiteY0" fmla="*/ -167 h 208806"/>
                  <a:gd name="connsiteX1" fmla="*/ 197828 w 230063"/>
                  <a:gd name="connsiteY1" fmla="*/ 22683 h 208806"/>
                  <a:gd name="connsiteX2" fmla="*/ 43847 w 230063"/>
                  <a:gd name="connsiteY2" fmla="*/ 126485 h 208806"/>
                  <a:gd name="connsiteX3" fmla="*/ -393 w 230063"/>
                  <a:gd name="connsiteY3" fmla="*/ 122009 h 208806"/>
                  <a:gd name="connsiteX4" fmla="*/ 112172 w 230063"/>
                  <a:gd name="connsiteY4" fmla="*/ 208639 h 208806"/>
                  <a:gd name="connsiteX5" fmla="*/ 229671 w 230063"/>
                  <a:gd name="connsiteY5" fmla="*/ 86895 h 208806"/>
                  <a:gd name="connsiteX6" fmla="*/ 193947 w 230063"/>
                  <a:gd name="connsiteY6" fmla="*/ -167 h 20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063" h="208806">
                    <a:moveTo>
                      <a:pt x="193972" y="-167"/>
                    </a:moveTo>
                    <a:cubicBezTo>
                      <a:pt x="196474" y="7193"/>
                      <a:pt x="197776" y="14909"/>
                      <a:pt x="197828" y="22683"/>
                    </a:cubicBezTo>
                    <a:cubicBezTo>
                      <a:pt x="197828" y="79997"/>
                      <a:pt x="128848" y="126485"/>
                      <a:pt x="43847" y="126485"/>
                    </a:cubicBezTo>
                    <a:cubicBezTo>
                      <a:pt x="28986" y="126501"/>
                      <a:pt x="14163" y="125001"/>
                      <a:pt x="-393" y="122009"/>
                    </a:cubicBezTo>
                    <a:cubicBezTo>
                      <a:pt x="14143" y="172186"/>
                      <a:pt x="59013" y="208639"/>
                      <a:pt x="112172" y="208639"/>
                    </a:cubicBezTo>
                    <a:cubicBezTo>
                      <a:pt x="177043" y="208639"/>
                      <a:pt x="229671" y="154126"/>
                      <a:pt x="229671" y="86895"/>
                    </a:cubicBezTo>
                    <a:cubicBezTo>
                      <a:pt x="229692" y="54302"/>
                      <a:pt x="216855" y="23017"/>
                      <a:pt x="193947" y="-167"/>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6" name="任意多边形: 形状 165"/>
              <p:cNvSpPr/>
              <p:nvPr/>
            </p:nvSpPr>
            <p:spPr>
              <a:xfrm>
                <a:off x="5965965" y="2850316"/>
                <a:ext cx="260068" cy="260068"/>
              </a:xfrm>
              <a:custGeom>
                <a:avLst/>
                <a:gdLst>
                  <a:gd name="connsiteX0" fmla="*/ 129643 w 260068"/>
                  <a:gd name="connsiteY0" fmla="*/ 259908 h 260068"/>
                  <a:gd name="connsiteX1" fmla="*/ -391 w 260068"/>
                  <a:gd name="connsiteY1" fmla="*/ 129874 h 260068"/>
                  <a:gd name="connsiteX2" fmla="*/ 129643 w 260068"/>
                  <a:gd name="connsiteY2" fmla="*/ -161 h 260068"/>
                  <a:gd name="connsiteX3" fmla="*/ 259677 w 260068"/>
                  <a:gd name="connsiteY3" fmla="*/ 129874 h 260068"/>
                  <a:gd name="connsiteX4" fmla="*/ 129643 w 260068"/>
                  <a:gd name="connsiteY4" fmla="*/ 259908 h 260068"/>
                  <a:gd name="connsiteX5" fmla="*/ 129643 w 260068"/>
                  <a:gd name="connsiteY5" fmla="*/ 22919 h 260068"/>
                  <a:gd name="connsiteX6" fmla="*/ 22688 w 260068"/>
                  <a:gd name="connsiteY6" fmla="*/ 129874 h 260068"/>
                  <a:gd name="connsiteX7" fmla="*/ 129643 w 260068"/>
                  <a:gd name="connsiteY7" fmla="*/ 236828 h 260068"/>
                  <a:gd name="connsiteX8" fmla="*/ 236597 w 260068"/>
                  <a:gd name="connsiteY8" fmla="*/ 129874 h 260068"/>
                  <a:gd name="connsiteX9" fmla="*/ 129643 w 260068"/>
                  <a:gd name="connsiteY9" fmla="*/ 22919 h 2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068" h="260068">
                    <a:moveTo>
                      <a:pt x="129643" y="259908"/>
                    </a:moveTo>
                    <a:cubicBezTo>
                      <a:pt x="57827" y="259908"/>
                      <a:pt x="-391" y="201690"/>
                      <a:pt x="-391" y="129874"/>
                    </a:cubicBezTo>
                    <a:cubicBezTo>
                      <a:pt x="-391" y="58058"/>
                      <a:pt x="57827" y="-161"/>
                      <a:pt x="129643" y="-161"/>
                    </a:cubicBezTo>
                    <a:cubicBezTo>
                      <a:pt x="201459" y="-161"/>
                      <a:pt x="259677" y="58058"/>
                      <a:pt x="259677" y="129874"/>
                    </a:cubicBezTo>
                    <a:cubicBezTo>
                      <a:pt x="259596" y="201656"/>
                      <a:pt x="201425" y="259827"/>
                      <a:pt x="129643" y="259908"/>
                    </a:cubicBezTo>
                    <a:close/>
                    <a:moveTo>
                      <a:pt x="129643" y="22919"/>
                    </a:moveTo>
                    <a:cubicBezTo>
                      <a:pt x="70573" y="22919"/>
                      <a:pt x="22688" y="70804"/>
                      <a:pt x="22688" y="129874"/>
                    </a:cubicBezTo>
                    <a:cubicBezTo>
                      <a:pt x="22688" y="188943"/>
                      <a:pt x="70573" y="236828"/>
                      <a:pt x="129643" y="236828"/>
                    </a:cubicBezTo>
                    <a:cubicBezTo>
                      <a:pt x="188712" y="236828"/>
                      <a:pt x="236597" y="188943"/>
                      <a:pt x="236597" y="129874"/>
                    </a:cubicBezTo>
                    <a:cubicBezTo>
                      <a:pt x="236531" y="70832"/>
                      <a:pt x="188685" y="22986"/>
                      <a:pt x="129643" y="22919"/>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7" name="任意多边形: 形状 166"/>
              <p:cNvSpPr/>
              <p:nvPr/>
            </p:nvSpPr>
            <p:spPr>
              <a:xfrm>
                <a:off x="5519269" y="3071542"/>
                <a:ext cx="136207" cy="142464"/>
              </a:xfrm>
              <a:custGeom>
                <a:avLst/>
                <a:gdLst>
                  <a:gd name="connsiteX0" fmla="*/ 112724 w 136207"/>
                  <a:gd name="connsiteY0" fmla="*/ -239 h 142464"/>
                  <a:gd name="connsiteX1" fmla="*/ -146 w 136207"/>
                  <a:gd name="connsiteY1" fmla="*/ 123612 h 142464"/>
                  <a:gd name="connsiteX2" fmla="*/ 51961 w 136207"/>
                  <a:gd name="connsiteY2" fmla="*/ 142225 h 142464"/>
                  <a:gd name="connsiteX3" fmla="*/ 136062 w 136207"/>
                  <a:gd name="connsiteY3" fmla="*/ 57811 h 142464"/>
                  <a:gd name="connsiteX4" fmla="*/ 112724 w 136207"/>
                  <a:gd name="connsiteY4" fmla="*/ -239 h 142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142464">
                    <a:moveTo>
                      <a:pt x="112724" y="-239"/>
                    </a:moveTo>
                    <a:cubicBezTo>
                      <a:pt x="102843" y="51266"/>
                      <a:pt x="60512" y="95899"/>
                      <a:pt x="-146" y="123612"/>
                    </a:cubicBezTo>
                    <a:cubicBezTo>
                      <a:pt x="14574" y="135610"/>
                      <a:pt x="32971" y="142182"/>
                      <a:pt x="51961" y="142225"/>
                    </a:cubicBezTo>
                    <a:cubicBezTo>
                      <a:pt x="98495" y="142139"/>
                      <a:pt x="136148" y="104345"/>
                      <a:pt x="136062" y="57811"/>
                    </a:cubicBezTo>
                    <a:cubicBezTo>
                      <a:pt x="136021" y="36183"/>
                      <a:pt x="127666" y="15399"/>
                      <a:pt x="112724" y="-239"/>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8" name="任意多边形: 形状 167"/>
              <p:cNvSpPr/>
              <p:nvPr/>
            </p:nvSpPr>
            <p:spPr>
              <a:xfrm>
                <a:off x="5486400" y="3041728"/>
                <a:ext cx="180616" cy="180616"/>
              </a:xfrm>
              <a:custGeom>
                <a:avLst/>
                <a:gdLst>
                  <a:gd name="connsiteX0" fmla="*/ 90167 w 180616"/>
                  <a:gd name="connsiteY0" fmla="*/ 180383 h 180616"/>
                  <a:gd name="connsiteX1" fmla="*/ -140 w 180616"/>
                  <a:gd name="connsiteY1" fmla="*/ 90074 h 180616"/>
                  <a:gd name="connsiteX2" fmla="*/ 90169 w 180616"/>
                  <a:gd name="connsiteY2" fmla="*/ -234 h 180616"/>
                  <a:gd name="connsiteX3" fmla="*/ 180476 w 180616"/>
                  <a:gd name="connsiteY3" fmla="*/ 90074 h 180616"/>
                  <a:gd name="connsiteX4" fmla="*/ 90167 w 180616"/>
                  <a:gd name="connsiteY4" fmla="*/ 180383 h 180616"/>
                  <a:gd name="connsiteX5" fmla="*/ 90167 w 180616"/>
                  <a:gd name="connsiteY5" fmla="*/ 22846 h 180616"/>
                  <a:gd name="connsiteX6" fmla="*/ 22939 w 180616"/>
                  <a:gd name="connsiteY6" fmla="*/ 90075 h 180616"/>
                  <a:gd name="connsiteX7" fmla="*/ 90169 w 180616"/>
                  <a:gd name="connsiteY7" fmla="*/ 157303 h 180616"/>
                  <a:gd name="connsiteX8" fmla="*/ 157397 w 180616"/>
                  <a:gd name="connsiteY8" fmla="*/ 90074 h 180616"/>
                  <a:gd name="connsiteX9" fmla="*/ 90167 w 180616"/>
                  <a:gd name="connsiteY9" fmla="*/ 22846 h 180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616" h="180616">
                    <a:moveTo>
                      <a:pt x="90167" y="180383"/>
                    </a:moveTo>
                    <a:cubicBezTo>
                      <a:pt x="40291" y="180382"/>
                      <a:pt x="-141" y="139950"/>
                      <a:pt x="-140" y="90074"/>
                    </a:cubicBezTo>
                    <a:cubicBezTo>
                      <a:pt x="-140" y="40198"/>
                      <a:pt x="40293" y="-234"/>
                      <a:pt x="90169" y="-234"/>
                    </a:cubicBezTo>
                    <a:cubicBezTo>
                      <a:pt x="140044" y="-234"/>
                      <a:pt x="180476" y="40199"/>
                      <a:pt x="180476" y="90074"/>
                    </a:cubicBezTo>
                    <a:cubicBezTo>
                      <a:pt x="180420" y="139927"/>
                      <a:pt x="140020" y="180327"/>
                      <a:pt x="90167" y="180383"/>
                    </a:cubicBezTo>
                    <a:close/>
                    <a:moveTo>
                      <a:pt x="90167" y="22846"/>
                    </a:moveTo>
                    <a:cubicBezTo>
                      <a:pt x="53038" y="22846"/>
                      <a:pt x="22939" y="52946"/>
                      <a:pt x="22939" y="90075"/>
                    </a:cubicBezTo>
                    <a:cubicBezTo>
                      <a:pt x="22940" y="127205"/>
                      <a:pt x="53039" y="157304"/>
                      <a:pt x="90169" y="157303"/>
                    </a:cubicBezTo>
                    <a:cubicBezTo>
                      <a:pt x="127298" y="157303"/>
                      <a:pt x="157397" y="127204"/>
                      <a:pt x="157397" y="90074"/>
                    </a:cubicBezTo>
                    <a:cubicBezTo>
                      <a:pt x="157355" y="52962"/>
                      <a:pt x="127280" y="22887"/>
                      <a:pt x="90167" y="2284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9" name="任意多边形: 形状 168"/>
              <p:cNvSpPr/>
              <p:nvPr/>
            </p:nvSpPr>
            <p:spPr>
              <a:xfrm>
                <a:off x="5630441" y="3439225"/>
                <a:ext cx="63724" cy="175628"/>
              </a:xfrm>
              <a:custGeom>
                <a:avLst/>
                <a:gdLst>
                  <a:gd name="connsiteX0" fmla="*/ 40432 w 63724"/>
                  <a:gd name="connsiteY0" fmla="*/ 175204 h 175628"/>
                  <a:gd name="connsiteX1" fmla="*/ 17590 w 63724"/>
                  <a:gd name="connsiteY1" fmla="*/ 155223 h 175628"/>
                  <a:gd name="connsiteX2" fmla="*/ 30 w 63724"/>
                  <a:gd name="connsiteY2" fmla="*/ 25760 h 175628"/>
                  <a:gd name="connsiteX3" fmla="*/ 19799 w 63724"/>
                  <a:gd name="connsiteY3" fmla="*/ -213 h 175628"/>
                  <a:gd name="connsiteX4" fmla="*/ 45771 w 63724"/>
                  <a:gd name="connsiteY4" fmla="*/ 19556 h 175628"/>
                  <a:gd name="connsiteX5" fmla="*/ 63331 w 63724"/>
                  <a:gd name="connsiteY5" fmla="*/ 149020 h 175628"/>
                  <a:gd name="connsiteX6" fmla="*/ 43563 w 63724"/>
                  <a:gd name="connsiteY6" fmla="*/ 174992 h 175628"/>
                  <a:gd name="connsiteX7" fmla="*/ 40432 w 63724"/>
                  <a:gd name="connsiteY7" fmla="*/ 175204 h 17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724" h="175628">
                    <a:moveTo>
                      <a:pt x="40432" y="175204"/>
                    </a:moveTo>
                    <a:cubicBezTo>
                      <a:pt x="28895" y="175187"/>
                      <a:pt x="19142" y="166655"/>
                      <a:pt x="17590" y="155223"/>
                    </a:cubicBezTo>
                    <a:lnTo>
                      <a:pt x="30" y="25760"/>
                    </a:lnTo>
                    <a:cubicBezTo>
                      <a:pt x="-1683" y="13129"/>
                      <a:pt x="7168" y="1500"/>
                      <a:pt x="19799" y="-213"/>
                    </a:cubicBezTo>
                    <a:cubicBezTo>
                      <a:pt x="32430" y="-1926"/>
                      <a:pt x="44058" y="6925"/>
                      <a:pt x="45771" y="19556"/>
                    </a:cubicBezTo>
                    <a:lnTo>
                      <a:pt x="63331" y="149020"/>
                    </a:lnTo>
                    <a:cubicBezTo>
                      <a:pt x="65044" y="161650"/>
                      <a:pt x="56193" y="173278"/>
                      <a:pt x="43563" y="174992"/>
                    </a:cubicBezTo>
                    <a:cubicBezTo>
                      <a:pt x="42525" y="175133"/>
                      <a:pt x="41479" y="175203"/>
                      <a:pt x="40432" y="175204"/>
                    </a:cubicBezTo>
                    <a:close/>
                  </a:path>
                </a:pathLst>
              </a:custGeom>
              <a:solidFill>
                <a:srgbClr val="FFFFFF"/>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公司产业数据综合分析</a:t>
            </a:r>
          </a:p>
        </p:txBody>
      </p:sp>
      <p:grpSp>
        <p:nvGrpSpPr>
          <p:cNvPr id="24" name="组合 23"/>
          <p:cNvGrpSpPr/>
          <p:nvPr/>
        </p:nvGrpSpPr>
        <p:grpSpPr>
          <a:xfrm>
            <a:off x="227010" y="944563"/>
            <a:ext cx="3836253" cy="5731570"/>
            <a:chOff x="227010" y="944563"/>
            <a:chExt cx="3623772" cy="5731570"/>
          </a:xfrm>
        </p:grpSpPr>
        <p:sp>
          <p:nvSpPr>
            <p:cNvPr id="15" name="箭头: V 形 14"/>
            <p:cNvSpPr/>
            <p:nvPr/>
          </p:nvSpPr>
          <p:spPr>
            <a:xfrm flipH="1">
              <a:off x="227011" y="944563"/>
              <a:ext cx="3623771" cy="489389"/>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产业规模稳步增长</a:t>
              </a:r>
            </a:p>
          </p:txBody>
        </p:sp>
        <p:sp>
          <p:nvSpPr>
            <p:cNvPr id="17" name="箭头: V 形 16"/>
            <p:cNvSpPr/>
            <p:nvPr/>
          </p:nvSpPr>
          <p:spPr>
            <a:xfrm flipH="1">
              <a:off x="227010" y="1514282"/>
              <a:ext cx="3623771"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8" name="箭头: V 形 17"/>
          <p:cNvSpPr/>
          <p:nvPr/>
        </p:nvSpPr>
        <p:spPr>
          <a:xfrm flipH="1">
            <a:off x="4174395" y="944563"/>
            <a:ext cx="3836252" cy="489389"/>
          </a:xfrm>
          <a:prstGeom prst="chevron">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科技创新能力第一</a:t>
            </a:r>
          </a:p>
        </p:txBody>
      </p:sp>
      <p:sp>
        <p:nvSpPr>
          <p:cNvPr id="19" name="箭头: V 形 18"/>
          <p:cNvSpPr/>
          <p:nvPr/>
        </p:nvSpPr>
        <p:spPr>
          <a:xfrm flipH="1">
            <a:off x="4174394" y="1514282"/>
            <a:ext cx="3836252"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22" name="组合 21"/>
          <p:cNvGrpSpPr/>
          <p:nvPr/>
        </p:nvGrpSpPr>
        <p:grpSpPr>
          <a:xfrm>
            <a:off x="8121778" y="944563"/>
            <a:ext cx="3836253" cy="5731570"/>
            <a:chOff x="7527699" y="944563"/>
            <a:chExt cx="3623772" cy="5731570"/>
          </a:xfrm>
        </p:grpSpPr>
        <p:sp>
          <p:nvSpPr>
            <p:cNvPr id="20" name="箭头: V 形 19"/>
            <p:cNvSpPr/>
            <p:nvPr/>
          </p:nvSpPr>
          <p:spPr>
            <a:xfrm flipH="1">
              <a:off x="7527700" y="944563"/>
              <a:ext cx="3623771" cy="489389"/>
            </a:xfrm>
            <a:prstGeom prst="chevron">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支持政策相继出台</a:t>
              </a:r>
            </a:p>
          </p:txBody>
        </p:sp>
        <p:sp>
          <p:nvSpPr>
            <p:cNvPr id="21" name="箭头: V 形 20"/>
            <p:cNvSpPr/>
            <p:nvPr/>
          </p:nvSpPr>
          <p:spPr>
            <a:xfrm flipH="1">
              <a:off x="7527699" y="1514282"/>
              <a:ext cx="3623771"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aphicFrame>
        <p:nvGraphicFramePr>
          <p:cNvPr id="28" name="图表 27"/>
          <p:cNvGraphicFramePr/>
          <p:nvPr/>
        </p:nvGraphicFramePr>
        <p:xfrm>
          <a:off x="259205" y="2307919"/>
          <a:ext cx="3836252" cy="2495901"/>
        </p:xfrm>
        <a:graphic>
          <a:graphicData uri="http://schemas.openxmlformats.org/drawingml/2006/chart">
            <c:chart xmlns:c="http://schemas.openxmlformats.org/drawingml/2006/chart" xmlns:r="http://schemas.openxmlformats.org/officeDocument/2006/relationships" r:id="rId3"/>
          </a:graphicData>
        </a:graphic>
      </p:graphicFrame>
      <p:sp>
        <p:nvSpPr>
          <p:cNvPr id="30" name="文本框 29"/>
          <p:cNvSpPr txBox="1"/>
          <p:nvPr/>
        </p:nvSpPr>
        <p:spPr>
          <a:xfrm>
            <a:off x="311237" y="1561496"/>
            <a:ext cx="3655454" cy="520399"/>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年我国区块链产业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除去加密货币、虚拟货币，具有区块链产品投入和产出的企业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规模约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亿元。</a:t>
            </a:r>
          </a:p>
        </p:txBody>
      </p:sp>
      <p:grpSp>
        <p:nvGrpSpPr>
          <p:cNvPr id="34" name="组合 33"/>
          <p:cNvGrpSpPr/>
          <p:nvPr/>
        </p:nvGrpSpPr>
        <p:grpSpPr>
          <a:xfrm>
            <a:off x="348085" y="5174201"/>
            <a:ext cx="1278774" cy="1278774"/>
            <a:chOff x="287056" y="2525495"/>
            <a:chExt cx="1065743" cy="1065743"/>
          </a:xfrm>
        </p:grpSpPr>
        <p:sp>
          <p:nvSpPr>
            <p:cNvPr id="31" name="椭圆 30"/>
            <p:cNvSpPr/>
            <p:nvPr/>
          </p:nvSpPr>
          <p:spPr>
            <a:xfrm>
              <a:off x="287056" y="2525495"/>
              <a:ext cx="1065743" cy="1065743"/>
            </a:xfrm>
            <a:prstGeom prst="ellipse">
              <a:avLst/>
            </a:prstGeom>
            <a:solidFill>
              <a:schemeClr val="accent1">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矩形 31"/>
            <p:cNvSpPr/>
            <p:nvPr/>
          </p:nvSpPr>
          <p:spPr>
            <a:xfrm>
              <a:off x="483800" y="2756115"/>
              <a:ext cx="672254"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3.08 </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3" name="矩形 32"/>
            <p:cNvSpPr/>
            <p:nvPr/>
          </p:nvSpPr>
          <p:spPr>
            <a:xfrm>
              <a:off x="406314" y="3085424"/>
              <a:ext cx="827225"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同比去年增加</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35" name="组合 34"/>
          <p:cNvGrpSpPr/>
          <p:nvPr/>
        </p:nvGrpSpPr>
        <p:grpSpPr>
          <a:xfrm>
            <a:off x="1509502" y="5174201"/>
            <a:ext cx="1278774" cy="1278774"/>
            <a:chOff x="287056" y="2525495"/>
            <a:chExt cx="1065743" cy="1065743"/>
          </a:xfrm>
        </p:grpSpPr>
        <p:sp>
          <p:nvSpPr>
            <p:cNvPr id="36" name="椭圆 35"/>
            <p:cNvSpPr/>
            <p:nvPr/>
          </p:nvSpPr>
          <p:spPr>
            <a:xfrm>
              <a:off x="287056" y="2525495"/>
              <a:ext cx="1065743" cy="1065743"/>
            </a:xfrm>
            <a:prstGeom prst="ellipse">
              <a:avLst/>
            </a:prstGeom>
            <a:solidFill>
              <a:schemeClr val="accent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7" name="矩形 36"/>
            <p:cNvSpPr/>
            <p:nvPr/>
          </p:nvSpPr>
          <p:spPr>
            <a:xfrm>
              <a:off x="486471" y="2756115"/>
              <a:ext cx="666910"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亿</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8" name="矩形 37"/>
            <p:cNvSpPr/>
            <p:nvPr/>
          </p:nvSpPr>
          <p:spPr>
            <a:xfrm>
              <a:off x="462425" y="3085424"/>
              <a:ext cx="715005"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近三年累计</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39" name="组合 38"/>
          <p:cNvGrpSpPr/>
          <p:nvPr/>
        </p:nvGrpSpPr>
        <p:grpSpPr>
          <a:xfrm>
            <a:off x="2655722" y="5174201"/>
            <a:ext cx="1278774" cy="1278774"/>
            <a:chOff x="287056" y="2525495"/>
            <a:chExt cx="1065743" cy="1065743"/>
          </a:xfrm>
        </p:grpSpPr>
        <p:sp>
          <p:nvSpPr>
            <p:cNvPr id="40" name="椭圆 39"/>
            <p:cNvSpPr/>
            <p:nvPr/>
          </p:nvSpPr>
          <p:spPr>
            <a:xfrm>
              <a:off x="287056" y="2525495"/>
              <a:ext cx="1065743" cy="1065743"/>
            </a:xfrm>
            <a:prstGeom prst="ellipse">
              <a:avLst/>
            </a:prstGeom>
            <a:solidFill>
              <a:schemeClr val="accent4">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41" name="矩形 40"/>
            <p:cNvSpPr/>
            <p:nvPr/>
          </p:nvSpPr>
          <p:spPr>
            <a:xfrm>
              <a:off x="541246" y="2756115"/>
              <a:ext cx="557362"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90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亿</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42" name="矩形 41"/>
            <p:cNvSpPr/>
            <p:nvPr/>
          </p:nvSpPr>
          <p:spPr>
            <a:xfrm>
              <a:off x="449065" y="3085424"/>
              <a:ext cx="741724"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2026</a:t>
              </a: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年预计</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44" name="图形 233"/>
          <p:cNvGrpSpPr/>
          <p:nvPr/>
        </p:nvGrpSpPr>
        <p:grpSpPr>
          <a:xfrm>
            <a:off x="3375593" y="2549859"/>
            <a:ext cx="170495" cy="222792"/>
            <a:chOff x="5629495" y="2819400"/>
            <a:chExt cx="933008" cy="1219199"/>
          </a:xfrm>
        </p:grpSpPr>
        <p:sp>
          <p:nvSpPr>
            <p:cNvPr id="45" name="任意多边形: 形状 44"/>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任意多边形: 形状 45"/>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任意多边形: 形状 46"/>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8" name="任意多边形: 形状 47"/>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9" name="任意多边形: 形状 48"/>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任意多边形: 形状 49"/>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1" name="任意多边形: 形状 50"/>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任意多边形: 形状 51"/>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3" name="右大括号 52"/>
          <p:cNvSpPr/>
          <p:nvPr/>
        </p:nvSpPr>
        <p:spPr>
          <a:xfrm rot="5400000">
            <a:off x="1984834" y="3114508"/>
            <a:ext cx="230549" cy="3504048"/>
          </a:xfrm>
          <a:prstGeom prst="rightBrace">
            <a:avLst>
              <a:gd name="adj1" fmla="val 38690"/>
              <a:gd name="adj2" fmla="val 50000"/>
            </a:avLst>
          </a:prstGeom>
          <a:ln w="15875" cap="rn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aphicFrame>
        <p:nvGraphicFramePr>
          <p:cNvPr id="56" name="图表 55"/>
          <p:cNvGraphicFramePr/>
          <p:nvPr/>
        </p:nvGraphicFramePr>
        <p:xfrm>
          <a:off x="4261604" y="2373912"/>
          <a:ext cx="3736174" cy="3039256"/>
        </p:xfrm>
        <a:graphic>
          <a:graphicData uri="http://schemas.openxmlformats.org/drawingml/2006/chart">
            <c:chart xmlns:c="http://schemas.openxmlformats.org/drawingml/2006/chart" xmlns:r="http://schemas.openxmlformats.org/officeDocument/2006/relationships" r:id="rId4"/>
          </a:graphicData>
        </a:graphic>
      </p:graphicFrame>
      <p:sp>
        <p:nvSpPr>
          <p:cNvPr id="57" name="文本框 56"/>
          <p:cNvSpPr txBox="1"/>
          <p:nvPr/>
        </p:nvSpPr>
        <p:spPr>
          <a:xfrm>
            <a:off x="4256735" y="1561496"/>
            <a:ext cx="3655454" cy="746423"/>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截至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年底，我国区块链专利申请量和公开量均已超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万项，其中申请量约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7800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余项，公开量约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16000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余项，均位居全球夺一。</a:t>
            </a:r>
          </a:p>
        </p:txBody>
      </p:sp>
      <p:grpSp>
        <p:nvGrpSpPr>
          <p:cNvPr id="81" name="组合 80"/>
          <p:cNvGrpSpPr/>
          <p:nvPr/>
        </p:nvGrpSpPr>
        <p:grpSpPr>
          <a:xfrm>
            <a:off x="4399123" y="5413168"/>
            <a:ext cx="3409622" cy="1035424"/>
            <a:chOff x="4399123" y="2464405"/>
            <a:chExt cx="3409622" cy="1035424"/>
          </a:xfrm>
        </p:grpSpPr>
        <p:sp>
          <p:nvSpPr>
            <p:cNvPr id="59" name="箭头: V 形 58"/>
            <p:cNvSpPr/>
            <p:nvPr/>
          </p:nvSpPr>
          <p:spPr>
            <a:xfrm flipH="1">
              <a:off x="4399123" y="2464405"/>
              <a:ext cx="1704811" cy="1035424"/>
            </a:xfrm>
            <a:prstGeom prst="chevron">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0" name="箭头: V 形 59"/>
            <p:cNvSpPr/>
            <p:nvPr/>
          </p:nvSpPr>
          <p:spPr>
            <a:xfrm flipH="1">
              <a:off x="6103934" y="2464405"/>
              <a:ext cx="1704811" cy="1035424"/>
            </a:xfrm>
            <a:prstGeom prst="chevron">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63" name="组合 62"/>
            <p:cNvGrpSpPr/>
            <p:nvPr/>
          </p:nvGrpSpPr>
          <p:grpSpPr>
            <a:xfrm>
              <a:off x="4591080" y="2800142"/>
              <a:ext cx="1136850" cy="565343"/>
              <a:chOff x="4571763" y="2594088"/>
              <a:chExt cx="1136850" cy="565343"/>
            </a:xfrm>
          </p:grpSpPr>
          <p:sp>
            <p:nvSpPr>
              <p:cNvPr id="61" name="矩形 60"/>
              <p:cNvSpPr/>
              <p:nvPr/>
            </p:nvSpPr>
            <p:spPr>
              <a:xfrm>
                <a:off x="4623059" y="2594088"/>
                <a:ext cx="1085554" cy="369332"/>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7800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2" name="矩形 61"/>
              <p:cNvSpPr/>
              <p:nvPr/>
            </p:nvSpPr>
            <p:spPr>
              <a:xfrm>
                <a:off x="4571763" y="2905515"/>
                <a:ext cx="723275" cy="2539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申请量约</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4" name="组合 63"/>
            <p:cNvGrpSpPr/>
            <p:nvPr/>
          </p:nvGrpSpPr>
          <p:grpSpPr>
            <a:xfrm>
              <a:off x="6259148" y="2800142"/>
              <a:ext cx="1217000" cy="565343"/>
              <a:chOff x="4557335" y="2594088"/>
              <a:chExt cx="1217000" cy="565343"/>
            </a:xfrm>
          </p:grpSpPr>
          <p:sp>
            <p:nvSpPr>
              <p:cNvPr id="65" name="矩形 64"/>
              <p:cNvSpPr/>
              <p:nvPr/>
            </p:nvSpPr>
            <p:spPr>
              <a:xfrm>
                <a:off x="4557335" y="2594088"/>
                <a:ext cx="1217000" cy="369332"/>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16000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6" name="矩形 65"/>
              <p:cNvSpPr/>
              <p:nvPr/>
            </p:nvSpPr>
            <p:spPr>
              <a:xfrm>
                <a:off x="4571763" y="2905515"/>
                <a:ext cx="723275" cy="2539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公开量约</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67" name="图形  29"/>
            <p:cNvSpPr>
              <a:spLocks noChangeArrowheads="1"/>
            </p:cNvSpPr>
            <p:nvPr/>
          </p:nvSpPr>
          <p:spPr bwMode="auto">
            <a:xfrm>
              <a:off x="5691273" y="2595485"/>
              <a:ext cx="327262" cy="337651"/>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gradFill>
              <a:gsLst>
                <a:gs pos="0">
                  <a:schemeClr val="bg1"/>
                </a:gs>
                <a:gs pos="100000">
                  <a:schemeClr val="bg1">
                    <a:alpha val="0"/>
                  </a:schemeClr>
                </a:gs>
              </a:gsLst>
              <a:lin ang="5400000" scaled="1"/>
            </a:gradFill>
            <a:ln>
              <a:noFill/>
            </a:ln>
            <a:effectLst/>
          </p:spPr>
          <p:txBody>
            <a:bodyPr wrap="none" lIns="34290" tIns="17145" rIns="34290"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8" name="图形  29"/>
            <p:cNvSpPr>
              <a:spLocks noChangeArrowheads="1"/>
            </p:cNvSpPr>
            <p:nvPr/>
          </p:nvSpPr>
          <p:spPr bwMode="auto">
            <a:xfrm>
              <a:off x="7356968" y="2595485"/>
              <a:ext cx="327262" cy="337651"/>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gradFill>
              <a:gsLst>
                <a:gs pos="0">
                  <a:schemeClr val="bg1"/>
                </a:gs>
                <a:gs pos="100000">
                  <a:schemeClr val="bg1">
                    <a:alpha val="0"/>
                  </a:schemeClr>
                </a:gs>
              </a:gsLst>
              <a:lin ang="5400000" scaled="1"/>
            </a:gradFill>
            <a:ln>
              <a:noFill/>
            </a:ln>
            <a:effectLst/>
          </p:spPr>
          <p:txBody>
            <a:bodyPr wrap="none" lIns="34290" tIns="17145" rIns="34290"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70" name="组合 69"/>
          <p:cNvGrpSpPr/>
          <p:nvPr/>
        </p:nvGrpSpPr>
        <p:grpSpPr>
          <a:xfrm rot="10800000" flipV="1">
            <a:off x="8243446" y="2831447"/>
            <a:ext cx="3612993" cy="3612993"/>
            <a:chOff x="63026" y="793667"/>
            <a:chExt cx="5117117" cy="5117117"/>
          </a:xfrm>
        </p:grpSpPr>
        <p:sp>
          <p:nvSpPr>
            <p:cNvPr id="75" name="椭圆 74"/>
            <p:cNvSpPr/>
            <p:nvPr/>
          </p:nvSpPr>
          <p:spPr>
            <a:xfrm>
              <a:off x="63026" y="793667"/>
              <a:ext cx="5117117" cy="5117117"/>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6" name="椭圆 75"/>
            <p:cNvSpPr/>
            <p:nvPr/>
          </p:nvSpPr>
          <p:spPr>
            <a:xfrm>
              <a:off x="579051" y="1825718"/>
              <a:ext cx="4085066" cy="4085066"/>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7" name="椭圆 76"/>
            <p:cNvSpPr/>
            <p:nvPr/>
          </p:nvSpPr>
          <p:spPr>
            <a:xfrm>
              <a:off x="1233310" y="3134233"/>
              <a:ext cx="2776551" cy="277655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8" name="椭圆 77"/>
            <p:cNvSpPr/>
            <p:nvPr/>
          </p:nvSpPr>
          <p:spPr>
            <a:xfrm>
              <a:off x="1768436" y="4204486"/>
              <a:ext cx="1706298" cy="1706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71" name="文本框 70"/>
          <p:cNvSpPr txBox="1"/>
          <p:nvPr/>
        </p:nvSpPr>
        <p:spPr>
          <a:xfrm rot="10800000" flipH="1" flipV="1">
            <a:off x="9417066" y="5422297"/>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一线城市</a:t>
            </a:r>
            <a:endParaRPr kumimoji="0" lang="en-US" altLang="zh-CN"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200</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2" name="文本框 71"/>
          <p:cNvSpPr txBox="1"/>
          <p:nvPr/>
        </p:nvSpPr>
        <p:spPr>
          <a:xfrm rot="10800000" flipH="1" flipV="1">
            <a:off x="9417066" y="4541315"/>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二线城市</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350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3" name="文本框 72"/>
          <p:cNvSpPr txBox="1"/>
          <p:nvPr/>
        </p:nvSpPr>
        <p:spPr>
          <a:xfrm rot="10800000" flipH="1" flipV="1">
            <a:off x="9417066" y="3704233"/>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三线城市</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410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4" name="文本框 73"/>
          <p:cNvSpPr txBox="1"/>
          <p:nvPr/>
        </p:nvSpPr>
        <p:spPr>
          <a:xfrm rot="10800000" flipH="1" flipV="1">
            <a:off x="9417066" y="2905207"/>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四线及其他</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560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80" name="文本框 79"/>
          <p:cNvSpPr txBox="1"/>
          <p:nvPr/>
        </p:nvSpPr>
        <p:spPr>
          <a:xfrm>
            <a:off x="8188107" y="1561496"/>
            <a:ext cx="3655454" cy="1189621"/>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国家及各部委发布区块链相关政策已有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项，同比增长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各地方政府包括北京、上海、成都、重庆、西安、青岛、昆明、无锡等在内一二三线城市发布的区块链相关政策超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项。</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227013" y="1028665"/>
            <a:ext cx="6321894" cy="5563065"/>
          </a:xfrm>
          <a:prstGeom prst="rect">
            <a:avLst/>
          </a:prstGeom>
          <a:solidFill>
            <a:schemeClr val="bg1"/>
          </a:solidFill>
          <a:ln w="158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购买行为影响因素分析</a:t>
            </a:r>
          </a:p>
        </p:txBody>
      </p:sp>
      <p:graphicFrame>
        <p:nvGraphicFramePr>
          <p:cNvPr id="26" name="图表 25"/>
          <p:cNvGraphicFramePr/>
          <p:nvPr/>
        </p:nvGraphicFramePr>
        <p:xfrm>
          <a:off x="3370258" y="1123710"/>
          <a:ext cx="3429788" cy="54680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6" name="图表 35"/>
          <p:cNvGraphicFramePr/>
          <p:nvPr/>
        </p:nvGraphicFramePr>
        <p:xfrm>
          <a:off x="304281" y="1123710"/>
          <a:ext cx="3429788" cy="5468020"/>
        </p:xfrm>
        <a:graphic>
          <a:graphicData uri="http://schemas.openxmlformats.org/drawingml/2006/chart">
            <c:chart xmlns:c="http://schemas.openxmlformats.org/drawingml/2006/chart" xmlns:r="http://schemas.openxmlformats.org/officeDocument/2006/relationships" r:id="rId4"/>
          </a:graphicData>
        </a:graphic>
      </p:graphicFrame>
      <p:sp>
        <p:nvSpPr>
          <p:cNvPr id="40" name="矩形 39"/>
          <p:cNvSpPr/>
          <p:nvPr/>
        </p:nvSpPr>
        <p:spPr>
          <a:xfrm>
            <a:off x="6995841" y="1490154"/>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0" name="组合 29"/>
          <p:cNvGrpSpPr/>
          <p:nvPr/>
        </p:nvGrpSpPr>
        <p:grpSpPr>
          <a:xfrm>
            <a:off x="9410461" y="1516773"/>
            <a:ext cx="2496053" cy="1100332"/>
            <a:chOff x="6547801" y="1031463"/>
            <a:chExt cx="2496053" cy="1100332"/>
          </a:xfrm>
        </p:grpSpPr>
        <p:sp>
          <p:nvSpPr>
            <p:cNvPr id="27"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31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8"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世代阅读社交媒体上的正面评论后，受到影响而购买商品或服务。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1" name="矩形 30"/>
          <p:cNvSpPr/>
          <p:nvPr/>
        </p:nvSpPr>
        <p:spPr>
          <a:xfrm>
            <a:off x="6999668" y="944562"/>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4" name="组合 33"/>
          <p:cNvGrpSpPr/>
          <p:nvPr/>
        </p:nvGrpSpPr>
        <p:grpSpPr>
          <a:xfrm>
            <a:off x="7146670" y="944562"/>
            <a:ext cx="401832" cy="503187"/>
            <a:chOff x="7286838" y="926513"/>
            <a:chExt cx="639724" cy="554686"/>
          </a:xfrm>
        </p:grpSpPr>
        <p:sp>
          <p:nvSpPr>
            <p:cNvPr id="32" name="平行四边形 31"/>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3" name="平行四边形 32"/>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5" name="文本框 58"/>
          <p:cNvSpPr txBox="1"/>
          <p:nvPr/>
        </p:nvSpPr>
        <p:spPr>
          <a:xfrm>
            <a:off x="7657973" y="987830"/>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社交媒体广告对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7" name="组合 36"/>
          <p:cNvGrpSpPr/>
          <p:nvPr/>
        </p:nvGrpSpPr>
        <p:grpSpPr>
          <a:xfrm>
            <a:off x="7172426" y="1516773"/>
            <a:ext cx="2209833" cy="1100332"/>
            <a:chOff x="6547801" y="1031463"/>
            <a:chExt cx="2209833" cy="1100332"/>
          </a:xfrm>
        </p:grpSpPr>
        <p:sp>
          <p:nvSpPr>
            <p:cNvPr id="38"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37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9"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37%</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世代来说社交媒体广告对他们购买决策影响最大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3" name="矩形 42"/>
          <p:cNvSpPr/>
          <p:nvPr/>
        </p:nvSpPr>
        <p:spPr>
          <a:xfrm>
            <a:off x="6995841" y="3446659"/>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4" name="组合 43"/>
          <p:cNvGrpSpPr/>
          <p:nvPr/>
        </p:nvGrpSpPr>
        <p:grpSpPr>
          <a:xfrm>
            <a:off x="9410461" y="3473278"/>
            <a:ext cx="2496053" cy="1100332"/>
            <a:chOff x="6547801" y="1031463"/>
            <a:chExt cx="2496053" cy="1100332"/>
          </a:xfrm>
        </p:grpSpPr>
        <p:sp>
          <p:nvSpPr>
            <p:cNvPr id="53"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4"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世代阅读正面评论后，受到影响而购买商品或服务。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5" name="矩形 44"/>
          <p:cNvSpPr/>
          <p:nvPr/>
        </p:nvSpPr>
        <p:spPr>
          <a:xfrm>
            <a:off x="6999668" y="2901067"/>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6" name="组合 45"/>
          <p:cNvGrpSpPr/>
          <p:nvPr/>
        </p:nvGrpSpPr>
        <p:grpSpPr>
          <a:xfrm>
            <a:off x="7146670" y="2901067"/>
            <a:ext cx="401832" cy="503187"/>
            <a:chOff x="7286838" y="926513"/>
            <a:chExt cx="639724" cy="554686"/>
          </a:xfrm>
        </p:grpSpPr>
        <p:sp>
          <p:nvSpPr>
            <p:cNvPr id="51" name="平行四边形 50"/>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平行四边形 51"/>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7" name="文本框 58"/>
          <p:cNvSpPr txBox="1"/>
          <p:nvPr/>
        </p:nvSpPr>
        <p:spPr>
          <a:xfrm>
            <a:off x="7657973" y="2944335"/>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电视广告对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8" name="组合 47"/>
          <p:cNvGrpSpPr/>
          <p:nvPr/>
        </p:nvGrpSpPr>
        <p:grpSpPr>
          <a:xfrm>
            <a:off x="7172426" y="3473278"/>
            <a:ext cx="2209833" cy="1100332"/>
            <a:chOff x="6547801" y="1031463"/>
            <a:chExt cx="2209833" cy="1100332"/>
          </a:xfrm>
        </p:grpSpPr>
        <p:sp>
          <p:nvSpPr>
            <p:cNvPr id="49"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29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29%</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世代来说电视广告对他们购买决策影响最大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6" name="矩形 55"/>
          <p:cNvSpPr/>
          <p:nvPr/>
        </p:nvSpPr>
        <p:spPr>
          <a:xfrm>
            <a:off x="6995841" y="5403163"/>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57" name="组合 56"/>
          <p:cNvGrpSpPr/>
          <p:nvPr/>
        </p:nvGrpSpPr>
        <p:grpSpPr>
          <a:xfrm>
            <a:off x="9410461" y="5429782"/>
            <a:ext cx="2496053" cy="1100332"/>
            <a:chOff x="6547801" y="1031463"/>
            <a:chExt cx="2496053" cy="1100332"/>
          </a:xfrm>
        </p:grpSpPr>
        <p:sp>
          <p:nvSpPr>
            <p:cNvPr id="66"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18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世代在他人分享之后，受到影响而购买商品或服务。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8" name="矩形 57"/>
          <p:cNvSpPr/>
          <p:nvPr/>
        </p:nvSpPr>
        <p:spPr>
          <a:xfrm>
            <a:off x="6999668" y="4857571"/>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59" name="组合 58"/>
          <p:cNvGrpSpPr/>
          <p:nvPr/>
        </p:nvGrpSpPr>
        <p:grpSpPr>
          <a:xfrm>
            <a:off x="7146670" y="4857571"/>
            <a:ext cx="401832" cy="503187"/>
            <a:chOff x="7286838" y="926513"/>
            <a:chExt cx="639724" cy="554686"/>
          </a:xfrm>
        </p:grpSpPr>
        <p:sp>
          <p:nvSpPr>
            <p:cNvPr id="64" name="平行四边形 63"/>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平行四边形 64"/>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60" name="文本框 58"/>
          <p:cNvSpPr txBox="1"/>
          <p:nvPr/>
        </p:nvSpPr>
        <p:spPr>
          <a:xfrm>
            <a:off x="7657973" y="4900839"/>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电视广告对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61" name="组合 60"/>
          <p:cNvGrpSpPr/>
          <p:nvPr/>
        </p:nvGrpSpPr>
        <p:grpSpPr>
          <a:xfrm>
            <a:off x="7172426" y="5429782"/>
            <a:ext cx="2209833" cy="1100332"/>
            <a:chOff x="6547801" y="1031463"/>
            <a:chExt cx="2209833" cy="1100332"/>
          </a:xfrm>
        </p:grpSpPr>
        <p:sp>
          <p:nvSpPr>
            <p:cNvPr id="62"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41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3"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41%</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世代来说电视广告对他们购买决策影响最大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68" name="梯形 67"/>
          <p:cNvSpPr/>
          <p:nvPr/>
        </p:nvSpPr>
        <p:spPr>
          <a:xfrm rot="16200000">
            <a:off x="3909142" y="3625350"/>
            <a:ext cx="5724525" cy="362950"/>
          </a:xfrm>
          <a:prstGeom prst="trapezoid">
            <a:avLst>
              <a:gd name="adj" fmla="val 21349"/>
            </a:avLst>
          </a:prstGeom>
          <a:gradFill>
            <a:gsLst>
              <a:gs pos="0">
                <a:schemeClr val="accent2"/>
              </a:gs>
              <a:gs pos="10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矩形 88"/>
          <p:cNvSpPr/>
          <p:nvPr/>
        </p:nvSpPr>
        <p:spPr>
          <a:xfrm>
            <a:off x="488221" y="941729"/>
            <a:ext cx="11215559" cy="1893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玫瑰图：热门关键词搜索权重</a:t>
            </a:r>
          </a:p>
        </p:txBody>
      </p:sp>
      <p:grpSp>
        <p:nvGrpSpPr>
          <p:cNvPr id="125" name="组合 124"/>
          <p:cNvGrpSpPr/>
          <p:nvPr/>
        </p:nvGrpSpPr>
        <p:grpSpPr>
          <a:xfrm>
            <a:off x="613747" y="2089626"/>
            <a:ext cx="6098147" cy="6098147"/>
            <a:chOff x="5603383" y="749889"/>
            <a:chExt cx="6098147" cy="6098147"/>
          </a:xfrm>
        </p:grpSpPr>
        <p:sp>
          <p:nvSpPr>
            <p:cNvPr id="24" name="不完整圆 23"/>
            <p:cNvSpPr/>
            <p:nvPr/>
          </p:nvSpPr>
          <p:spPr>
            <a:xfrm>
              <a:off x="5603383" y="749889"/>
              <a:ext cx="6098147" cy="6098147"/>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5" name="不完整圆 24"/>
            <p:cNvSpPr/>
            <p:nvPr/>
          </p:nvSpPr>
          <p:spPr>
            <a:xfrm rot="1388089">
              <a:off x="6551235" y="1697741"/>
              <a:ext cx="4202443" cy="4202443"/>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6" name="不完整圆 25"/>
            <p:cNvSpPr/>
            <p:nvPr/>
          </p:nvSpPr>
          <p:spPr>
            <a:xfrm rot="2783324">
              <a:off x="6964846" y="2111352"/>
              <a:ext cx="3375220" cy="3375220"/>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7" name="不完整圆 26"/>
            <p:cNvSpPr/>
            <p:nvPr/>
          </p:nvSpPr>
          <p:spPr>
            <a:xfrm rot="4198784">
              <a:off x="7106198" y="2252704"/>
              <a:ext cx="3092517" cy="3092517"/>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8" name="不完整圆 27"/>
            <p:cNvSpPr/>
            <p:nvPr/>
          </p:nvSpPr>
          <p:spPr>
            <a:xfrm rot="5622637">
              <a:off x="7260699" y="2407205"/>
              <a:ext cx="2783514" cy="2783514"/>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不完整圆 28"/>
            <p:cNvSpPr/>
            <p:nvPr/>
          </p:nvSpPr>
          <p:spPr>
            <a:xfrm rot="7047882">
              <a:off x="7473764" y="2620270"/>
              <a:ext cx="2357384" cy="2357384"/>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0" name="不完整圆 29"/>
            <p:cNvSpPr/>
            <p:nvPr/>
          </p:nvSpPr>
          <p:spPr>
            <a:xfrm rot="8490228">
              <a:off x="7675445" y="2821951"/>
              <a:ext cx="1954022" cy="1954022"/>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1" name="不完整圆 30"/>
            <p:cNvSpPr/>
            <p:nvPr/>
          </p:nvSpPr>
          <p:spPr>
            <a:xfrm rot="9437484">
              <a:off x="7883066" y="3029572"/>
              <a:ext cx="1538781" cy="1538781"/>
            </a:xfrm>
            <a:prstGeom prst="pie">
              <a:avLst>
                <a:gd name="adj1" fmla="val 11316241"/>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3" name="组合 12"/>
            <p:cNvGrpSpPr/>
            <p:nvPr/>
          </p:nvGrpSpPr>
          <p:grpSpPr>
            <a:xfrm>
              <a:off x="6482185" y="1628693"/>
              <a:ext cx="4340543" cy="4340538"/>
              <a:chOff x="3442589" y="4252540"/>
              <a:chExt cx="3476890" cy="3476886"/>
            </a:xfrm>
          </p:grpSpPr>
          <p:sp>
            <p:nvSpPr>
              <p:cNvPr id="8" name="弧形 7"/>
              <p:cNvSpPr/>
              <p:nvPr/>
            </p:nvSpPr>
            <p:spPr>
              <a:xfrm>
                <a:off x="4227928" y="5037878"/>
                <a:ext cx="1906213" cy="1906211"/>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 name="弧形 8"/>
              <p:cNvSpPr/>
              <p:nvPr/>
            </p:nvSpPr>
            <p:spPr>
              <a:xfrm>
                <a:off x="3832682" y="4642632"/>
                <a:ext cx="2696705" cy="2696702"/>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0" name="弧形 9"/>
              <p:cNvSpPr/>
              <p:nvPr/>
            </p:nvSpPr>
            <p:spPr>
              <a:xfrm>
                <a:off x="3442589" y="4252540"/>
                <a:ext cx="3476890" cy="3476886"/>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14" name="任意多边形: 形状 13"/>
            <p:cNvSpPr/>
            <p:nvPr/>
          </p:nvSpPr>
          <p:spPr>
            <a:xfrm>
              <a:off x="6481656" y="3798962"/>
              <a:ext cx="4341600" cy="0"/>
            </a:xfrm>
            <a:custGeom>
              <a:avLst/>
              <a:gdLst>
                <a:gd name="connsiteX0" fmla="*/ 0 w 4353059"/>
                <a:gd name="connsiteY0" fmla="*/ 0 h 0"/>
                <a:gd name="connsiteX1" fmla="*/ 4353059 w 4353059"/>
                <a:gd name="connsiteY1" fmla="*/ 0 h 0"/>
              </a:gdLst>
              <a:ahLst/>
              <a:cxnLst>
                <a:cxn ang="0">
                  <a:pos x="connsiteX0" y="connsiteY0"/>
                </a:cxn>
                <a:cxn ang="0">
                  <a:pos x="connsiteX1" y="connsiteY1"/>
                </a:cxn>
              </a:cxnLst>
              <a:rect l="l" t="t" r="r" b="b"/>
              <a:pathLst>
                <a:path w="4353059">
                  <a:moveTo>
                    <a:pt x="0" y="0"/>
                  </a:moveTo>
                  <a:lnTo>
                    <a:pt x="4353059"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rot="16787439">
              <a:off x="6440921" y="3242426"/>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方法</a:t>
              </a:r>
            </a:p>
          </p:txBody>
        </p:sp>
        <p:sp>
          <p:nvSpPr>
            <p:cNvPr id="33" name="文本框 32"/>
            <p:cNvSpPr txBox="1"/>
            <p:nvPr/>
          </p:nvSpPr>
          <p:spPr>
            <a:xfrm rot="17767791">
              <a:off x="6741501" y="255642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印象</a:t>
              </a:r>
            </a:p>
          </p:txBody>
        </p:sp>
        <p:sp>
          <p:nvSpPr>
            <p:cNvPr id="34" name="文本框 33"/>
            <p:cNvSpPr txBox="1"/>
            <p:nvPr/>
          </p:nvSpPr>
          <p:spPr>
            <a:xfrm rot="19241004">
              <a:off x="7262244" y="202376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解决</a:t>
              </a:r>
            </a:p>
          </p:txBody>
        </p:sp>
        <p:sp>
          <p:nvSpPr>
            <p:cNvPr id="35" name="文本框 34"/>
            <p:cNvSpPr txBox="1"/>
            <p:nvPr/>
          </p:nvSpPr>
          <p:spPr>
            <a:xfrm rot="21078259">
              <a:off x="8001139" y="170382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快速</a:t>
              </a:r>
            </a:p>
          </p:txBody>
        </p:sp>
        <p:sp>
          <p:nvSpPr>
            <p:cNvPr id="39" name="文本框 38"/>
            <p:cNvSpPr txBox="1"/>
            <p:nvPr/>
          </p:nvSpPr>
          <p:spPr>
            <a:xfrm rot="4812561" flipH="1">
              <a:off x="10285236" y="3242426"/>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测评</a:t>
              </a:r>
            </a:p>
          </p:txBody>
        </p:sp>
        <p:sp>
          <p:nvSpPr>
            <p:cNvPr id="40" name="文本框 39"/>
            <p:cNvSpPr txBox="1"/>
            <p:nvPr/>
          </p:nvSpPr>
          <p:spPr>
            <a:xfrm rot="3832209" flipH="1">
              <a:off x="9984656" y="255642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拯救</a:t>
              </a:r>
            </a:p>
          </p:txBody>
        </p:sp>
        <p:sp>
          <p:nvSpPr>
            <p:cNvPr id="41" name="文本框 40"/>
            <p:cNvSpPr txBox="1"/>
            <p:nvPr/>
          </p:nvSpPr>
          <p:spPr>
            <a:xfrm rot="2358996" flipH="1">
              <a:off x="9463913" y="202376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皮肤</a:t>
              </a:r>
            </a:p>
          </p:txBody>
        </p:sp>
        <p:sp>
          <p:nvSpPr>
            <p:cNvPr id="42" name="文本框 41"/>
            <p:cNvSpPr txBox="1"/>
            <p:nvPr/>
          </p:nvSpPr>
          <p:spPr>
            <a:xfrm rot="521741" flipH="1">
              <a:off x="8725018" y="170382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护肤</a:t>
              </a:r>
            </a:p>
          </p:txBody>
        </p:sp>
      </p:grpSp>
      <p:grpSp>
        <p:nvGrpSpPr>
          <p:cNvPr id="96" name="组合 95"/>
          <p:cNvGrpSpPr/>
          <p:nvPr/>
        </p:nvGrpSpPr>
        <p:grpSpPr>
          <a:xfrm>
            <a:off x="227005" y="1079339"/>
            <a:ext cx="5627078" cy="711965"/>
            <a:chOff x="325391" y="2041856"/>
            <a:chExt cx="3486535" cy="441133"/>
          </a:xfrm>
        </p:grpSpPr>
        <p:sp>
          <p:nvSpPr>
            <p:cNvPr id="91" name="直角三角形 90"/>
            <p:cNvSpPr/>
            <p:nvPr/>
          </p:nvSpPr>
          <p:spPr>
            <a:xfrm rot="16200000" flipH="1">
              <a:off x="335303" y="2335176"/>
              <a:ext cx="137907" cy="157719"/>
            </a:xfrm>
            <a:prstGeom prst="rtTriangle">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92" name="组合 91"/>
            <p:cNvGrpSpPr/>
            <p:nvPr/>
          </p:nvGrpSpPr>
          <p:grpSpPr>
            <a:xfrm>
              <a:off x="325391" y="2041856"/>
              <a:ext cx="3486535" cy="303225"/>
              <a:chOff x="507706" y="2584336"/>
              <a:chExt cx="3486535" cy="303225"/>
            </a:xfrm>
          </p:grpSpPr>
          <p:sp>
            <p:nvSpPr>
              <p:cNvPr id="94" name="箭头: V 形 93"/>
              <p:cNvSpPr/>
              <p:nvPr/>
            </p:nvSpPr>
            <p:spPr>
              <a:xfrm flipH="1">
                <a:off x="507706" y="2584336"/>
                <a:ext cx="3486535" cy="303225"/>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祛痘去黑头热门关键词</a:t>
                </a:r>
              </a:p>
            </p:txBody>
          </p:sp>
          <p:sp>
            <p:nvSpPr>
              <p:cNvPr id="95" name="箭头: V 形 94"/>
              <p:cNvSpPr/>
              <p:nvPr/>
            </p:nvSpPr>
            <p:spPr>
              <a:xfrm flipH="1">
                <a:off x="567379" y="2584336"/>
                <a:ext cx="74958" cy="303225"/>
              </a:xfrm>
              <a:prstGeom prst="chevron">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grpSp>
        <p:nvGrpSpPr>
          <p:cNvPr id="103" name="组合 102"/>
          <p:cNvGrpSpPr/>
          <p:nvPr/>
        </p:nvGrpSpPr>
        <p:grpSpPr>
          <a:xfrm>
            <a:off x="773721" y="1730152"/>
            <a:ext cx="1645406" cy="850933"/>
            <a:chOff x="840217" y="1834644"/>
            <a:chExt cx="1645406" cy="850933"/>
          </a:xfrm>
        </p:grpSpPr>
        <p:sp>
          <p:nvSpPr>
            <p:cNvPr id="101" name="矩形: 圆角 100"/>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方法</a:t>
              </a:r>
            </a:p>
          </p:txBody>
        </p:sp>
        <p:sp>
          <p:nvSpPr>
            <p:cNvPr id="102"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30.2</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4" name="组合 103"/>
          <p:cNvGrpSpPr/>
          <p:nvPr/>
        </p:nvGrpSpPr>
        <p:grpSpPr>
          <a:xfrm>
            <a:off x="2312672" y="1730152"/>
            <a:ext cx="1645406" cy="850933"/>
            <a:chOff x="840217" y="1834644"/>
            <a:chExt cx="1645406" cy="850933"/>
          </a:xfrm>
        </p:grpSpPr>
        <p:sp>
          <p:nvSpPr>
            <p:cNvPr id="105" name="矩形: 圆角 104"/>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印象</a:t>
              </a:r>
            </a:p>
          </p:txBody>
        </p:sp>
        <p:sp>
          <p:nvSpPr>
            <p:cNvPr id="106"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21.4</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7" name="组合 106"/>
          <p:cNvGrpSpPr/>
          <p:nvPr/>
        </p:nvGrpSpPr>
        <p:grpSpPr>
          <a:xfrm>
            <a:off x="3851623" y="1730152"/>
            <a:ext cx="1645406" cy="850933"/>
            <a:chOff x="840217" y="1834644"/>
            <a:chExt cx="1645406" cy="850933"/>
          </a:xfrm>
        </p:grpSpPr>
        <p:sp>
          <p:nvSpPr>
            <p:cNvPr id="108" name="矩形: 圆角 107"/>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解决</a:t>
              </a:r>
            </a:p>
          </p:txBody>
        </p:sp>
        <p:sp>
          <p:nvSpPr>
            <p:cNvPr id="109"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19.7</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1" name="组合 110"/>
          <p:cNvGrpSpPr/>
          <p:nvPr/>
        </p:nvGrpSpPr>
        <p:grpSpPr>
          <a:xfrm flipH="1">
            <a:off x="6338373" y="1079339"/>
            <a:ext cx="5618158" cy="711965"/>
            <a:chOff x="325393" y="2041856"/>
            <a:chExt cx="3481008" cy="441133"/>
          </a:xfrm>
        </p:grpSpPr>
        <p:sp>
          <p:nvSpPr>
            <p:cNvPr id="112" name="直角三角形 111"/>
            <p:cNvSpPr/>
            <p:nvPr/>
          </p:nvSpPr>
          <p:spPr>
            <a:xfrm rot="16200000" flipH="1">
              <a:off x="335303" y="2335176"/>
              <a:ext cx="137907" cy="157719"/>
            </a:xfrm>
            <a:prstGeom prst="rtTriangle">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13" name="组合 112"/>
            <p:cNvGrpSpPr/>
            <p:nvPr/>
          </p:nvGrpSpPr>
          <p:grpSpPr>
            <a:xfrm>
              <a:off x="325393" y="2041856"/>
              <a:ext cx="3481008" cy="303225"/>
              <a:chOff x="507708" y="2584336"/>
              <a:chExt cx="3481008" cy="303225"/>
            </a:xfrm>
          </p:grpSpPr>
          <p:sp>
            <p:nvSpPr>
              <p:cNvPr id="114" name="箭头: V 形 113"/>
              <p:cNvSpPr/>
              <p:nvPr/>
            </p:nvSpPr>
            <p:spPr>
              <a:xfrm flipH="1">
                <a:off x="507708" y="2584336"/>
                <a:ext cx="3481008" cy="303225"/>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防脱发热门关键词</a:t>
                </a:r>
              </a:p>
            </p:txBody>
          </p:sp>
          <p:sp>
            <p:nvSpPr>
              <p:cNvPr id="115" name="箭头: V 形 114"/>
              <p:cNvSpPr/>
              <p:nvPr/>
            </p:nvSpPr>
            <p:spPr>
              <a:xfrm flipH="1">
                <a:off x="567379" y="2584336"/>
                <a:ext cx="74958" cy="303225"/>
              </a:xfrm>
              <a:prstGeom prst="chevron">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grpSp>
        <p:nvGrpSpPr>
          <p:cNvPr id="116" name="组合 115"/>
          <p:cNvGrpSpPr/>
          <p:nvPr/>
        </p:nvGrpSpPr>
        <p:grpSpPr>
          <a:xfrm>
            <a:off x="6673811" y="1730152"/>
            <a:ext cx="1645406" cy="850933"/>
            <a:chOff x="840217" y="1834644"/>
            <a:chExt cx="1645406" cy="850933"/>
          </a:xfrm>
        </p:grpSpPr>
        <p:sp>
          <p:nvSpPr>
            <p:cNvPr id="117" name="矩形: 圆角 116"/>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脱发</a:t>
              </a:r>
            </a:p>
          </p:txBody>
        </p:sp>
        <p:sp>
          <p:nvSpPr>
            <p:cNvPr id="118"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35.4</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9" name="组合 118"/>
          <p:cNvGrpSpPr/>
          <p:nvPr/>
        </p:nvGrpSpPr>
        <p:grpSpPr>
          <a:xfrm>
            <a:off x="8212762" y="1730152"/>
            <a:ext cx="1645406" cy="850933"/>
            <a:chOff x="840217" y="1834644"/>
            <a:chExt cx="1645406" cy="850933"/>
          </a:xfrm>
        </p:grpSpPr>
        <p:sp>
          <p:nvSpPr>
            <p:cNvPr id="120" name="矩形: 圆角 119"/>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洗发</a:t>
              </a:r>
            </a:p>
          </p:txBody>
        </p:sp>
        <p:sp>
          <p:nvSpPr>
            <p:cNvPr id="121"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27.3</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2" name="组合 121"/>
          <p:cNvGrpSpPr/>
          <p:nvPr/>
        </p:nvGrpSpPr>
        <p:grpSpPr>
          <a:xfrm>
            <a:off x="9751713" y="1730152"/>
            <a:ext cx="1645406" cy="850933"/>
            <a:chOff x="840217" y="1834644"/>
            <a:chExt cx="1645406" cy="850933"/>
          </a:xfrm>
        </p:grpSpPr>
        <p:sp>
          <p:nvSpPr>
            <p:cNvPr id="123" name="矩形: 圆角 122"/>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护发</a:t>
              </a:r>
            </a:p>
          </p:txBody>
        </p:sp>
        <p:sp>
          <p:nvSpPr>
            <p:cNvPr id="124"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21.9</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33" name="组合 132"/>
          <p:cNvGrpSpPr/>
          <p:nvPr/>
        </p:nvGrpSpPr>
        <p:grpSpPr>
          <a:xfrm rot="10800000">
            <a:off x="6319645" y="2078190"/>
            <a:ext cx="6098147" cy="6098147"/>
            <a:chOff x="5596943" y="835098"/>
            <a:chExt cx="6098147" cy="6098147"/>
          </a:xfrm>
        </p:grpSpPr>
        <p:sp>
          <p:nvSpPr>
            <p:cNvPr id="134" name="不完整圆 133"/>
            <p:cNvSpPr/>
            <p:nvPr/>
          </p:nvSpPr>
          <p:spPr>
            <a:xfrm rot="10800000">
              <a:off x="5596943" y="835098"/>
              <a:ext cx="6098147" cy="6098147"/>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5" name="不完整圆 134"/>
            <p:cNvSpPr/>
            <p:nvPr/>
          </p:nvSpPr>
          <p:spPr>
            <a:xfrm rot="12188089">
              <a:off x="6309933" y="1548088"/>
              <a:ext cx="4672167" cy="4672167"/>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6" name="不完整圆 135"/>
            <p:cNvSpPr/>
            <p:nvPr/>
          </p:nvSpPr>
          <p:spPr>
            <a:xfrm rot="13583324">
              <a:off x="6824021" y="2062176"/>
              <a:ext cx="3643991" cy="3643991"/>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7" name="不完整圆 136"/>
            <p:cNvSpPr/>
            <p:nvPr/>
          </p:nvSpPr>
          <p:spPr>
            <a:xfrm rot="14998784">
              <a:off x="6954491" y="2192646"/>
              <a:ext cx="3383050" cy="3383050"/>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8" name="不完整圆 137"/>
            <p:cNvSpPr/>
            <p:nvPr/>
          </p:nvSpPr>
          <p:spPr>
            <a:xfrm rot="16422637">
              <a:off x="7142403" y="2380558"/>
              <a:ext cx="3007226" cy="3007226"/>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9" name="不完整圆 138"/>
            <p:cNvSpPr/>
            <p:nvPr/>
          </p:nvSpPr>
          <p:spPr>
            <a:xfrm rot="17847882">
              <a:off x="7363801" y="2601956"/>
              <a:ext cx="2564430" cy="2564430"/>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0" name="不完整圆 139"/>
            <p:cNvSpPr/>
            <p:nvPr/>
          </p:nvSpPr>
          <p:spPr>
            <a:xfrm rot="19290228">
              <a:off x="7576773" y="2814928"/>
              <a:ext cx="2138486" cy="2138486"/>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1" name="不完整圆 140"/>
            <p:cNvSpPr/>
            <p:nvPr/>
          </p:nvSpPr>
          <p:spPr>
            <a:xfrm rot="20237484">
              <a:off x="7792871" y="3031026"/>
              <a:ext cx="1706290" cy="1706290"/>
            </a:xfrm>
            <a:prstGeom prst="pie">
              <a:avLst>
                <a:gd name="adj1" fmla="val 11316241"/>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42" name="组合 141"/>
            <p:cNvGrpSpPr/>
            <p:nvPr/>
          </p:nvGrpSpPr>
          <p:grpSpPr>
            <a:xfrm rot="10800000">
              <a:off x="6475745" y="1713902"/>
              <a:ext cx="4340543" cy="4340538"/>
              <a:chOff x="3442589" y="4252540"/>
              <a:chExt cx="3476890" cy="3476886"/>
            </a:xfrm>
          </p:grpSpPr>
          <p:sp>
            <p:nvSpPr>
              <p:cNvPr id="152" name="弧形 151"/>
              <p:cNvSpPr/>
              <p:nvPr/>
            </p:nvSpPr>
            <p:spPr>
              <a:xfrm>
                <a:off x="4227928" y="5037878"/>
                <a:ext cx="1906213" cy="1906211"/>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3" name="弧形 152"/>
              <p:cNvSpPr/>
              <p:nvPr/>
            </p:nvSpPr>
            <p:spPr>
              <a:xfrm>
                <a:off x="3832682" y="4642632"/>
                <a:ext cx="2696705" cy="2696702"/>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4" name="弧形 153"/>
              <p:cNvSpPr/>
              <p:nvPr/>
            </p:nvSpPr>
            <p:spPr>
              <a:xfrm>
                <a:off x="3442589" y="4252540"/>
                <a:ext cx="3476890" cy="3476886"/>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143" name="任意多边形: 形状 142"/>
            <p:cNvSpPr/>
            <p:nvPr/>
          </p:nvSpPr>
          <p:spPr>
            <a:xfrm rot="10800000">
              <a:off x="6475217" y="3884172"/>
              <a:ext cx="4341600" cy="0"/>
            </a:xfrm>
            <a:custGeom>
              <a:avLst/>
              <a:gdLst>
                <a:gd name="connsiteX0" fmla="*/ 0 w 4353059"/>
                <a:gd name="connsiteY0" fmla="*/ 0 h 0"/>
                <a:gd name="connsiteX1" fmla="*/ 4353059 w 4353059"/>
                <a:gd name="connsiteY1" fmla="*/ 0 h 0"/>
              </a:gdLst>
              <a:ahLst/>
              <a:cxnLst>
                <a:cxn ang="0">
                  <a:pos x="connsiteX0" y="connsiteY0"/>
                </a:cxn>
                <a:cxn ang="0">
                  <a:pos x="connsiteX1" y="connsiteY1"/>
                </a:cxn>
              </a:cxnLst>
              <a:rect l="l" t="t" r="r" b="b"/>
              <a:pathLst>
                <a:path w="4353059">
                  <a:moveTo>
                    <a:pt x="0" y="0"/>
                  </a:moveTo>
                  <a:lnTo>
                    <a:pt x="4353059"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4" name="文本框 143"/>
            <p:cNvSpPr txBox="1"/>
            <p:nvPr/>
          </p:nvSpPr>
          <p:spPr>
            <a:xfrm rot="15784795" flipH="1">
              <a:off x="6379784" y="4047130"/>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皮肤</a:t>
              </a:r>
            </a:p>
          </p:txBody>
        </p:sp>
        <p:sp>
          <p:nvSpPr>
            <p:cNvPr id="145" name="文本框 144"/>
            <p:cNvSpPr txBox="1"/>
            <p:nvPr/>
          </p:nvSpPr>
          <p:spPr>
            <a:xfrm rot="13928313" flipH="1">
              <a:off x="6680364" y="4733132"/>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防脱</a:t>
              </a:r>
            </a:p>
          </p:txBody>
        </p:sp>
        <p:sp>
          <p:nvSpPr>
            <p:cNvPr id="146" name="文本框 145"/>
            <p:cNvSpPr txBox="1"/>
            <p:nvPr/>
          </p:nvSpPr>
          <p:spPr>
            <a:xfrm rot="13069806" flipH="1">
              <a:off x="7201107" y="5265792"/>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洗头</a:t>
              </a:r>
            </a:p>
          </p:txBody>
        </p:sp>
        <p:sp>
          <p:nvSpPr>
            <p:cNvPr id="147" name="文本框 146"/>
            <p:cNvSpPr txBox="1"/>
            <p:nvPr/>
          </p:nvSpPr>
          <p:spPr>
            <a:xfrm rot="11671525" flipH="1">
              <a:off x="7940002" y="558573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发际</a:t>
              </a:r>
            </a:p>
          </p:txBody>
        </p:sp>
        <p:sp>
          <p:nvSpPr>
            <p:cNvPr id="148" name="文本框 147"/>
            <p:cNvSpPr txBox="1"/>
            <p:nvPr/>
          </p:nvSpPr>
          <p:spPr>
            <a:xfrm rot="6531864">
              <a:off x="10247049" y="4084520"/>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脱发</a:t>
              </a:r>
            </a:p>
          </p:txBody>
        </p:sp>
        <p:sp>
          <p:nvSpPr>
            <p:cNvPr id="149" name="文本框 148"/>
            <p:cNvSpPr txBox="1"/>
            <p:nvPr/>
          </p:nvSpPr>
          <p:spPr>
            <a:xfrm rot="7806016">
              <a:off x="9899460" y="4780445"/>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洗发</a:t>
              </a:r>
            </a:p>
          </p:txBody>
        </p:sp>
        <p:sp>
          <p:nvSpPr>
            <p:cNvPr id="150" name="文本框 149"/>
            <p:cNvSpPr txBox="1"/>
            <p:nvPr/>
          </p:nvSpPr>
          <p:spPr>
            <a:xfrm rot="8587678">
              <a:off x="9375425" y="5316735"/>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护发</a:t>
              </a:r>
            </a:p>
          </p:txBody>
        </p:sp>
        <p:sp>
          <p:nvSpPr>
            <p:cNvPr id="151" name="文本框 150"/>
            <p:cNvSpPr txBox="1"/>
            <p:nvPr/>
          </p:nvSpPr>
          <p:spPr>
            <a:xfrm rot="10090478">
              <a:off x="8704098" y="5582211"/>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秃头</a:t>
              </a:r>
            </a:p>
          </p:txBody>
        </p:sp>
      </p:grpSp>
      <p:sp>
        <p:nvSpPr>
          <p:cNvPr id="161" name="矩形 160"/>
          <p:cNvSpPr/>
          <p:nvPr/>
        </p:nvSpPr>
        <p:spPr>
          <a:xfrm>
            <a:off x="0" y="5749047"/>
            <a:ext cx="12192000" cy="1108951"/>
          </a:xfrm>
          <a:prstGeom prst="rect">
            <a:avLst/>
          </a:prstGeom>
          <a:solidFill>
            <a:schemeClr val="accent3"/>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3" name="矩形 162"/>
          <p:cNvSpPr/>
          <p:nvPr/>
        </p:nvSpPr>
        <p:spPr>
          <a:xfrm>
            <a:off x="0" y="5809106"/>
            <a:ext cx="12192000" cy="1048894"/>
          </a:xfrm>
          <a:prstGeom prst="rect">
            <a:avLst/>
          </a:prstGeom>
          <a:solidFill>
            <a:schemeClr val="accent1"/>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5" name="文本框 164"/>
          <p:cNvSpPr txBox="1"/>
          <p:nvPr/>
        </p:nvSpPr>
        <p:spPr>
          <a:xfrm>
            <a:off x="1042922" y="5973949"/>
            <a:ext cx="10106156" cy="690510"/>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在风向多变的护肤市场，作为美妆市场的大数据深耕者，任拓全域美妆洞察，凭借我们多年精洗的独有市场研究美妆标准数据库，可以在品类起飞之初，为品牌方带来更及时精确的“气象播报”。</a:t>
            </a:r>
          </a:p>
        </p:txBody>
      </p:sp>
      <p:sp>
        <p:nvSpPr>
          <p:cNvPr id="166" name="梯形 165"/>
          <p:cNvSpPr/>
          <p:nvPr/>
        </p:nvSpPr>
        <p:spPr>
          <a:xfrm>
            <a:off x="1" y="5295848"/>
            <a:ext cx="12192000" cy="418959"/>
          </a:xfrm>
          <a:prstGeom prst="trapezoid">
            <a:avLst>
              <a:gd name="adj" fmla="val 120844"/>
            </a:avLst>
          </a:prstGeom>
          <a:gradFill flip="none" rotWithShape="1">
            <a:gsLst>
              <a:gs pos="98000">
                <a:schemeClr val="bg1"/>
              </a:gs>
              <a:gs pos="0">
                <a:schemeClr val="tx2">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7" name="椭圆 166"/>
          <p:cNvSpPr/>
          <p:nvPr/>
        </p:nvSpPr>
        <p:spPr>
          <a:xfrm>
            <a:off x="3402093" y="4889123"/>
            <a:ext cx="577290" cy="577289"/>
          </a:xfrm>
          <a:prstGeom prst="ellipse">
            <a:avLst/>
          </a:prstGeom>
          <a:solidFill>
            <a:schemeClr val="accent1"/>
          </a:solidFill>
          <a:ln w="57150" cap="rnd">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1</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8" name="椭圆 167"/>
          <p:cNvSpPr/>
          <p:nvPr/>
        </p:nvSpPr>
        <p:spPr>
          <a:xfrm>
            <a:off x="9107991" y="4880495"/>
            <a:ext cx="577290" cy="577289"/>
          </a:xfrm>
          <a:prstGeom prst="ellipse">
            <a:avLst/>
          </a:prstGeom>
          <a:solidFill>
            <a:schemeClr val="accent4"/>
          </a:solidFill>
          <a:ln w="57150" cap="rnd">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箭头: V 形 38"/>
          <p:cNvSpPr/>
          <p:nvPr>
            <p:custDataLst>
              <p:tags r:id="rId2"/>
            </p:custDataLst>
          </p:nvPr>
        </p:nvSpPr>
        <p:spPr>
          <a:xfrm flipH="1">
            <a:off x="5808130" y="1012694"/>
            <a:ext cx="6153029" cy="5663439"/>
          </a:xfrm>
          <a:prstGeom prst="chevron">
            <a:avLst>
              <a:gd name="adj" fmla="val 0"/>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消费者购物动因分析</a:t>
            </a:r>
          </a:p>
        </p:txBody>
      </p:sp>
      <p:sp>
        <p:nvSpPr>
          <p:cNvPr id="57" name="梯形 56"/>
          <p:cNvSpPr/>
          <p:nvPr/>
        </p:nvSpPr>
        <p:spPr>
          <a:xfrm rot="16200000">
            <a:off x="1469147" y="2337148"/>
            <a:ext cx="5731569" cy="2946396"/>
          </a:xfrm>
          <a:prstGeom prst="trapezoid">
            <a:avLst>
              <a:gd name="adj" fmla="val 64064"/>
            </a:avLst>
          </a:prstGeom>
          <a:gradFill flip="none" rotWithShape="1">
            <a:gsLst>
              <a:gs pos="0">
                <a:schemeClr val="accent3">
                  <a:lumMod val="20000"/>
                  <a:lumOff val="80000"/>
                  <a:alpha val="0"/>
                </a:schemeClr>
              </a:gs>
              <a:gs pos="100000">
                <a:schemeClr val="accent1">
                  <a:lumMod val="20000"/>
                  <a:lumOff val="8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8" name="不完整圆 57"/>
          <p:cNvSpPr/>
          <p:nvPr/>
        </p:nvSpPr>
        <p:spPr>
          <a:xfrm>
            <a:off x="607166" y="1830815"/>
            <a:ext cx="4065687" cy="4065687"/>
          </a:xfrm>
          <a:prstGeom prst="pie">
            <a:avLst>
              <a:gd name="adj1" fmla="val 164482"/>
              <a:gd name="adj2" fmla="val 1620000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59" name="弧形 58"/>
          <p:cNvSpPr/>
          <p:nvPr/>
        </p:nvSpPr>
        <p:spPr>
          <a:xfrm>
            <a:off x="607166" y="1830815"/>
            <a:ext cx="4065687" cy="4065687"/>
          </a:xfrm>
          <a:prstGeom prst="arc">
            <a:avLst/>
          </a:prstGeom>
          <a:noFill/>
          <a:ln w="12700" cap="flat" cmpd="sng" algn="ctr">
            <a:solidFill>
              <a:schemeClr val="accent2"/>
            </a:solidFill>
            <a:prstDash val="lgDash"/>
            <a:miter lim="800000"/>
            <a:headEnd type="arrow"/>
            <a:tailEnd type="arrow"/>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aphicFrame>
        <p:nvGraphicFramePr>
          <p:cNvPr id="60" name="图表 59"/>
          <p:cNvGraphicFramePr/>
          <p:nvPr/>
        </p:nvGraphicFramePr>
        <p:xfrm>
          <a:off x="684210" y="1616299"/>
          <a:ext cx="3911600" cy="4877634"/>
        </p:xfrm>
        <a:graphic>
          <a:graphicData uri="http://schemas.openxmlformats.org/drawingml/2006/chart">
            <c:chart xmlns:c="http://schemas.openxmlformats.org/drawingml/2006/chart" xmlns:r="http://schemas.openxmlformats.org/officeDocument/2006/relationships" r:id="rId25"/>
          </a:graphicData>
        </a:graphic>
      </p:graphicFrame>
      <p:sp>
        <p:nvSpPr>
          <p:cNvPr id="61" name="等腰三角形 60"/>
          <p:cNvSpPr/>
          <p:nvPr>
            <p:custDataLst>
              <p:tags r:id="rId3"/>
            </p:custDataLst>
          </p:nvPr>
        </p:nvSpPr>
        <p:spPr>
          <a:xfrm rot="5400000">
            <a:off x="6350121" y="1464457"/>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2" name="等腰三角形 61"/>
          <p:cNvSpPr/>
          <p:nvPr>
            <p:custDataLst>
              <p:tags r:id="rId4"/>
            </p:custDataLst>
          </p:nvPr>
        </p:nvSpPr>
        <p:spPr>
          <a:xfrm rot="5400000">
            <a:off x="6350121" y="2892579"/>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3" name="等腰三角形 62"/>
          <p:cNvSpPr/>
          <p:nvPr>
            <p:custDataLst>
              <p:tags r:id="rId5"/>
            </p:custDataLst>
          </p:nvPr>
        </p:nvSpPr>
        <p:spPr>
          <a:xfrm rot="5400000">
            <a:off x="6350121" y="4339470"/>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4" name="等腰三角形 63"/>
          <p:cNvSpPr/>
          <p:nvPr>
            <p:custDataLst>
              <p:tags r:id="rId6"/>
            </p:custDataLst>
          </p:nvPr>
        </p:nvSpPr>
        <p:spPr>
          <a:xfrm rot="5400000">
            <a:off x="6350121" y="5767592"/>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65" name="组合 64"/>
          <p:cNvGrpSpPr/>
          <p:nvPr>
            <p:custDataLst>
              <p:tags r:id="rId7"/>
            </p:custDataLst>
          </p:nvPr>
        </p:nvGrpSpPr>
        <p:grpSpPr>
          <a:xfrm>
            <a:off x="5129711" y="1012695"/>
            <a:ext cx="1359991" cy="5621776"/>
            <a:chOff x="5023879" y="1046562"/>
            <a:chExt cx="1568505" cy="6483707"/>
          </a:xfrm>
        </p:grpSpPr>
        <p:grpSp>
          <p:nvGrpSpPr>
            <p:cNvPr id="66" name="组合 65"/>
            <p:cNvGrpSpPr/>
            <p:nvPr/>
          </p:nvGrpSpPr>
          <p:grpSpPr>
            <a:xfrm>
              <a:off x="5023879" y="1046562"/>
              <a:ext cx="1568505" cy="1568505"/>
              <a:chOff x="5023879" y="1185333"/>
              <a:chExt cx="1568505" cy="1568505"/>
            </a:xfrm>
          </p:grpSpPr>
          <p:sp>
            <p:nvSpPr>
              <p:cNvPr id="76" name="椭圆 75"/>
              <p:cNvSpPr/>
              <p:nvPr>
                <p:custDataLst>
                  <p:tags r:id="rId22"/>
                </p:custDataLst>
              </p:nvPr>
            </p:nvSpPr>
            <p:spPr>
              <a:xfrm>
                <a:off x="5023879" y="1185333"/>
                <a:ext cx="1568505" cy="1568505"/>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7" name="矩形 76"/>
              <p:cNvSpPr/>
              <p:nvPr>
                <p:custDataLst>
                  <p:tags r:id="rId23"/>
                </p:custDataLst>
              </p:nvPr>
            </p:nvSpPr>
            <p:spPr>
              <a:xfrm>
                <a:off x="5368694"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59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7" name="组合 66"/>
            <p:cNvGrpSpPr/>
            <p:nvPr/>
          </p:nvGrpSpPr>
          <p:grpSpPr>
            <a:xfrm>
              <a:off x="5023879" y="2684963"/>
              <a:ext cx="1568505" cy="1568505"/>
              <a:chOff x="5023879" y="1185333"/>
              <a:chExt cx="1568505" cy="1568505"/>
            </a:xfrm>
          </p:grpSpPr>
          <p:sp>
            <p:nvSpPr>
              <p:cNvPr id="74" name="椭圆 73"/>
              <p:cNvSpPr/>
              <p:nvPr>
                <p:custDataLst>
                  <p:tags r:id="rId20"/>
                </p:custDataLst>
              </p:nvPr>
            </p:nvSpPr>
            <p:spPr>
              <a:xfrm>
                <a:off x="5023879" y="1185333"/>
                <a:ext cx="1568505" cy="1568505"/>
              </a:xfrm>
              <a:prstGeom prst="ellipse">
                <a:avLst/>
              </a:prstGeom>
              <a:solidFill>
                <a:schemeClr val="accent3">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5" name="矩形 74"/>
              <p:cNvSpPr/>
              <p:nvPr>
                <p:custDataLst>
                  <p:tags r:id="rId21"/>
                </p:custDataLst>
              </p:nvPr>
            </p:nvSpPr>
            <p:spPr>
              <a:xfrm>
                <a:off x="5368695"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57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8" name="组合 67"/>
            <p:cNvGrpSpPr/>
            <p:nvPr/>
          </p:nvGrpSpPr>
          <p:grpSpPr>
            <a:xfrm>
              <a:off x="5023879" y="4323364"/>
              <a:ext cx="1568505" cy="1568505"/>
              <a:chOff x="5023879" y="1185333"/>
              <a:chExt cx="1568505" cy="1568505"/>
            </a:xfrm>
          </p:grpSpPr>
          <p:sp>
            <p:nvSpPr>
              <p:cNvPr id="72" name="椭圆 71"/>
              <p:cNvSpPr/>
              <p:nvPr>
                <p:custDataLst>
                  <p:tags r:id="rId18"/>
                </p:custDataLst>
              </p:nvPr>
            </p:nvSpPr>
            <p:spPr>
              <a:xfrm>
                <a:off x="5023879" y="1185333"/>
                <a:ext cx="1568505" cy="1568505"/>
              </a:xfrm>
              <a:prstGeom prst="ellipse">
                <a:avLst/>
              </a:prstGeom>
              <a:solidFill>
                <a:schemeClr val="accent4"/>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3" name="矩形 72"/>
              <p:cNvSpPr/>
              <p:nvPr>
                <p:custDataLst>
                  <p:tags r:id="rId19"/>
                </p:custDataLst>
              </p:nvPr>
            </p:nvSpPr>
            <p:spPr>
              <a:xfrm>
                <a:off x="5368694"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52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9" name="组合 68"/>
            <p:cNvGrpSpPr/>
            <p:nvPr/>
          </p:nvGrpSpPr>
          <p:grpSpPr>
            <a:xfrm>
              <a:off x="5023879" y="5961764"/>
              <a:ext cx="1568505" cy="1568505"/>
              <a:chOff x="5023879" y="1185333"/>
              <a:chExt cx="1568505" cy="1568505"/>
            </a:xfrm>
          </p:grpSpPr>
          <p:sp>
            <p:nvSpPr>
              <p:cNvPr id="70" name="椭圆 69"/>
              <p:cNvSpPr/>
              <p:nvPr>
                <p:custDataLst>
                  <p:tags r:id="rId16"/>
                </p:custDataLst>
              </p:nvPr>
            </p:nvSpPr>
            <p:spPr>
              <a:xfrm>
                <a:off x="5023879" y="1185333"/>
                <a:ext cx="1568505" cy="1568505"/>
              </a:xfrm>
              <a:prstGeom prst="ellipse">
                <a:avLst/>
              </a:prstGeom>
              <a:solidFill>
                <a:schemeClr val="accent5"/>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1" name="矩形 70"/>
              <p:cNvSpPr/>
              <p:nvPr>
                <p:custDataLst>
                  <p:tags r:id="rId17"/>
                </p:custDataLst>
              </p:nvPr>
            </p:nvSpPr>
            <p:spPr>
              <a:xfrm>
                <a:off x="5368695"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27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sp>
        <p:nvSpPr>
          <p:cNvPr id="78" name="矩形: 圆角 77"/>
          <p:cNvSpPr/>
          <p:nvPr>
            <p:custDataLst>
              <p:tags r:id="rId8"/>
            </p:custDataLst>
          </p:nvPr>
        </p:nvSpPr>
        <p:spPr>
          <a:xfrm>
            <a:off x="6883105" y="1215796"/>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9" name="矩形: 圆角 78"/>
          <p:cNvSpPr/>
          <p:nvPr>
            <p:custDataLst>
              <p:tags r:id="rId9"/>
            </p:custDataLst>
          </p:nvPr>
        </p:nvSpPr>
        <p:spPr>
          <a:xfrm>
            <a:off x="6883105" y="2648911"/>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0" name="矩形: 圆角 79"/>
          <p:cNvSpPr/>
          <p:nvPr>
            <p:custDataLst>
              <p:tags r:id="rId10"/>
            </p:custDataLst>
          </p:nvPr>
        </p:nvSpPr>
        <p:spPr>
          <a:xfrm>
            <a:off x="6883105" y="4082026"/>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1" name="矩形: 圆角 80"/>
          <p:cNvSpPr/>
          <p:nvPr>
            <p:custDataLst>
              <p:tags r:id="rId11"/>
            </p:custDataLst>
          </p:nvPr>
        </p:nvSpPr>
        <p:spPr>
          <a:xfrm>
            <a:off x="6883105" y="5515141"/>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2" name="文本框 81"/>
          <p:cNvSpPr txBox="1"/>
          <p:nvPr>
            <p:custDataLst>
              <p:tags r:id="rId12"/>
            </p:custDataLst>
          </p:nvPr>
        </p:nvSpPr>
        <p:spPr>
          <a:xfrm>
            <a:off x="7011012" y="1409784"/>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叠加功能带来的舒适体感，花样颜值提升可穿搭性，根据不同场景选择相应的搭配方案，是消费者购买多件防晒服的主要动因。</a:t>
            </a:r>
          </a:p>
        </p:txBody>
      </p:sp>
      <p:sp>
        <p:nvSpPr>
          <p:cNvPr id="83" name="文本框 82"/>
          <p:cNvSpPr txBox="1"/>
          <p:nvPr>
            <p:custDataLst>
              <p:tags r:id="rId13"/>
            </p:custDataLst>
          </p:nvPr>
        </p:nvSpPr>
        <p:spPr>
          <a:xfrm>
            <a:off x="7011012" y="2863017"/>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被颜值吸引，不同款式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色系防晒衣可以搭配不同日常服饰。款式白搭，非常适合出行穿搭。</a:t>
            </a:r>
          </a:p>
        </p:txBody>
      </p:sp>
      <p:sp>
        <p:nvSpPr>
          <p:cNvPr id="84" name="文本框 83"/>
          <p:cNvSpPr txBox="1"/>
          <p:nvPr>
            <p:custDataLst>
              <p:tags r:id="rId14"/>
            </p:custDataLst>
          </p:nvPr>
        </p:nvSpPr>
        <p:spPr>
          <a:xfrm>
            <a:off x="7011012" y="4293705"/>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针对不同防晒强度场景，选择不同防晒效果的防晒衣物。这样不用担心仅有一件衣物防晒不到位。</a:t>
            </a:r>
          </a:p>
        </p:txBody>
      </p:sp>
      <p:sp>
        <p:nvSpPr>
          <p:cNvPr id="85" name="文本框 84"/>
          <p:cNvSpPr txBox="1"/>
          <p:nvPr>
            <p:custDataLst>
              <p:tags r:id="rId15"/>
            </p:custDataLst>
          </p:nvPr>
        </p:nvSpPr>
        <p:spPr>
          <a:xfrm>
            <a:off x="7011012" y="5746938"/>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担心反复清洗防晒效果打折，多件换着穿，不容易弄坏衣物，还能长时间保持衣物效果。</a:t>
            </a:r>
          </a:p>
        </p:txBody>
      </p:sp>
      <p:sp>
        <p:nvSpPr>
          <p:cNvPr id="89" name="矩形 88"/>
          <p:cNvSpPr/>
          <p:nvPr/>
        </p:nvSpPr>
        <p:spPr>
          <a:xfrm>
            <a:off x="606089" y="1177266"/>
            <a:ext cx="406568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消费者购买数量占比</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PS">
  <a:themeElements>
    <a:clrScheme name="模板1">
      <a:dk1>
        <a:sysClr val="windowText" lastClr="000000"/>
      </a:dk1>
      <a:lt1>
        <a:sysClr val="window" lastClr="FFFFFF"/>
      </a:lt1>
      <a:dk2>
        <a:srgbClr val="44546A"/>
      </a:dk2>
      <a:lt2>
        <a:srgbClr val="E7E6E6"/>
      </a:lt2>
      <a:accent1>
        <a:srgbClr val="B51D25"/>
      </a:accent1>
      <a:accent2>
        <a:srgbClr val="0563C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5.深蓝+深红">
      <a:dk1>
        <a:sysClr val="windowText" lastClr="000000"/>
      </a:dk1>
      <a:lt1>
        <a:sysClr val="window" lastClr="FFFFFF"/>
      </a:lt1>
      <a:dk2>
        <a:srgbClr val="1C4273"/>
      </a:dk2>
      <a:lt2>
        <a:srgbClr val="E7E6E6"/>
      </a:lt2>
      <a:accent1>
        <a:srgbClr val="1C4273"/>
      </a:accent1>
      <a:accent2>
        <a:srgbClr val="748EAE"/>
      </a:accent2>
      <a:accent3>
        <a:srgbClr val="CDDAE9"/>
      </a:accent3>
      <a:accent4>
        <a:srgbClr val="9D3728"/>
      </a:accent4>
      <a:accent5>
        <a:srgbClr val="CB8378"/>
      </a:accent5>
      <a:accent6>
        <a:srgbClr val="FAD0C9"/>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2013 - 2022 主题">
  <a:themeElements>
    <a:clrScheme name="01-【经典蓝】配色">
      <a:dk1>
        <a:srgbClr val="000000"/>
      </a:dk1>
      <a:lt1>
        <a:srgbClr val="FFFFFF"/>
      </a:lt1>
      <a:dk2>
        <a:srgbClr val="000000"/>
      </a:dk2>
      <a:lt2>
        <a:srgbClr val="F8F8F8"/>
      </a:lt2>
      <a:accent1>
        <a:srgbClr val="00329D"/>
      </a:accent1>
      <a:accent2>
        <a:srgbClr val="00319B"/>
      </a:accent2>
      <a:accent3>
        <a:srgbClr val="00319E"/>
      </a:accent3>
      <a:accent4>
        <a:srgbClr val="808080"/>
      </a:accent4>
      <a:accent5>
        <a:srgbClr val="5F5F5F"/>
      </a:accent5>
      <a:accent6>
        <a:srgbClr val="4D4D4D"/>
      </a:accent6>
      <a:hlink>
        <a:srgbClr val="5F5F5F"/>
      </a:hlink>
      <a:folHlink>
        <a:srgbClr val="919191"/>
      </a:folHlink>
    </a:clrScheme>
    <a:fontScheme name="">
      <a:majorFont>
        <a:latin typeface="Roboto"/>
        <a:ea typeface="思源黑体 CN Bold"/>
        <a:cs typeface=""/>
      </a:majorFont>
      <a:minorFont>
        <a:latin typeface="Roboto"/>
        <a:ea typeface="思源黑体 CN Normal"/>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wrap="square" lIns="0" tIns="0" rIns="0" bIns="0" rtlCol="0" anchor="ctr">
        <a:noAutofit/>
      </a:bodyPr>
      <a:lstStyle>
        <a:defPPr algn="ctr" defTabSz="731520">
          <a:lnSpc>
            <a:spcPct val="130000"/>
          </a:lnSpc>
          <a:defRPr sz="1400" dirty="0" smtClean="0">
            <a:solidFill>
              <a:schemeClr val="bg1"/>
            </a:solidFill>
            <a:latin typeface="+mn-ea"/>
            <a:cs typeface="OPPOSans L" panose="00020600040101010101" pitchFamily="18" charset="-122"/>
          </a:defRPr>
        </a:defPPr>
      </a:lstStyle>
    </a:spDef>
    <a:txDef>
      <a:spPr>
        <a:noFill/>
      </a:spPr>
      <a:bodyPr wrap="none" lIns="0" tIns="0" rIns="0" bIns="0" rtlCol="0">
        <a:noAutofit/>
      </a:bodyPr>
      <a:lstStyle>
        <a:defPPr algn="l">
          <a:defRPr sz="14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Office 主题​​">
  <a:themeElements>
    <a:clrScheme name="深蓝配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游ゴシック"/>
        <a:font script="Hang" typeface="맑은 고딕"/>
        <a:font script="Hans" typeface="思源黑体 CN Normal"/>
        <a:font script="Hant" typeface="新細明體"/>
        <a:font script="Arab" typeface="Roboto"/>
        <a:font script="Hebr" typeface="Roboto"/>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ＭＳ Ｐゴシック"/>
        <a:font script="Hang" typeface="맑은 고딕"/>
        <a:font script="Hans" typeface="思源黑体 CN Normal"/>
        <a:font script="Hant" typeface="新細明體"/>
        <a:font script="Arab" typeface="Roboto"/>
        <a:font script="Hebr" typeface="Roboto"/>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11445</Words>
  <Application>Microsoft Macintosh PowerPoint</Application>
  <PresentationFormat>宽屏</PresentationFormat>
  <Paragraphs>1816</Paragraphs>
  <Slides>59</Slides>
  <Notes>2</Notes>
  <HiddenSlides>0</HiddenSlides>
  <MMClips>0</MMClips>
  <ScaleCrop>false</ScaleCrop>
  <HeadingPairs>
    <vt:vector size="6" baseType="variant">
      <vt:variant>
        <vt:lpstr>已用的字体</vt:lpstr>
      </vt:variant>
      <vt:variant>
        <vt:i4>4</vt:i4>
      </vt:variant>
      <vt:variant>
        <vt:lpstr>主题</vt:lpstr>
      </vt:variant>
      <vt:variant>
        <vt:i4>6</vt:i4>
      </vt:variant>
      <vt:variant>
        <vt:lpstr>幻灯片标题</vt:lpstr>
      </vt:variant>
      <vt:variant>
        <vt:i4>59</vt:i4>
      </vt:variant>
    </vt:vector>
  </HeadingPairs>
  <TitlesOfParts>
    <vt:vector size="69" baseType="lpstr">
      <vt:lpstr>Arial</vt:lpstr>
      <vt:lpstr>Roboto</vt:lpstr>
      <vt:lpstr>思源黑体 CN Normal</vt:lpstr>
      <vt:lpstr>思源黑体 CN Bold</vt:lpstr>
      <vt:lpstr>Office 主题​​</vt:lpstr>
      <vt:lpstr>Office 主题</vt:lpstr>
      <vt:lpstr>WPS</vt:lpstr>
      <vt:lpstr>1_Office 主题​​</vt:lpstr>
      <vt:lpstr>Office 2013 - 2022 主题</vt:lpstr>
      <vt:lpstr>2_Office 主题​​</vt:lpstr>
      <vt:lpstr>五大工作成果展示/上半年回顾</vt:lpstr>
      <vt:lpstr>上半年回顾/4大工作成果展示</vt:lpstr>
      <vt:lpstr>述职报告：个人工作成果展示</vt:lpstr>
      <vt:lpstr>上半年回顾/我做了多少项目？</vt:lpstr>
      <vt:lpstr>述职报告：我做了多少项目？</vt:lpstr>
      <vt:lpstr>工作汇报：主要工作亮点</vt:lpstr>
      <vt:lpstr>述职报告：工作创新亮点</vt:lpstr>
      <vt:lpstr>工作汇报：工作中的创新方法</vt:lpstr>
      <vt:lpstr>工作汇报：工作中的创新方法</vt:lpstr>
      <vt:lpstr>工作总结：各季度工作进度</vt:lpstr>
      <vt:lpstr>工作汇报：各季度工作进度</vt:lpstr>
      <vt:lpstr>述职报告：各季度工作进度</vt:lpstr>
      <vt:lpstr>重点工作完成情况/工作项目进度</vt:lpstr>
      <vt:lpstr>上半年工作回顾</vt:lpstr>
      <vt:lpstr>上半年工作回顾</vt:lpstr>
      <vt:lpstr>述职报告：工作不足与改进措施</vt:lpstr>
      <vt:lpstr>述职报告：不足之处与改进措施</vt:lpstr>
      <vt:lpstr>述职报告：核心问题与整改措施</vt:lpstr>
      <vt:lpstr>年度业绩对比</vt:lpstr>
      <vt:lpstr>季度业绩对比</vt:lpstr>
      <vt:lpstr>项目复盘反思</vt:lpstr>
      <vt:lpstr>项目复盘反思</vt:lpstr>
      <vt:lpstr>项目复盘反思</vt:lpstr>
      <vt:lpstr>工作总结：KISS复盘分析法</vt:lpstr>
      <vt:lpstr>工作总结：KISS复盘分析法</vt:lpstr>
      <vt:lpstr>PDCA循环工作法</vt:lpstr>
      <vt:lpstr>PDCA循环工作法</vt:lpstr>
      <vt:lpstr>个人成长规划（万里长征路线图）</vt:lpstr>
      <vt:lpstr>个人成长规划</vt:lpstr>
      <vt:lpstr>对未来工作的展望</vt:lpstr>
      <vt:lpstr>对未来工作的展望</vt:lpstr>
      <vt:lpstr>工作挑战与解决方法</vt:lpstr>
      <vt:lpstr>工作中的突出贡献</vt:lpstr>
      <vt:lpstr>工作总结：获得的技能与知识</vt:lpstr>
      <vt:lpstr>STAR法则结构化复盘</vt:lpstr>
      <vt:lpstr>房型图：多维解构用户价值</vt:lpstr>
      <vt:lpstr>架构图：终端提供实现路径</vt:lpstr>
      <vt:lpstr>OS+长效经营的本质与关键</vt:lpstr>
      <vt:lpstr>建设实施步骤分解</vt:lpstr>
      <vt:lpstr>提升五大维度能力</vt:lpstr>
      <vt:lpstr>漏斗图：跨境电商行业解决方案</vt:lpstr>
      <vt:lpstr>循环图：云计算与企业产业结合</vt:lpstr>
      <vt:lpstr>品牌心智指标构成说明</vt:lpstr>
      <vt:lpstr>层级结构：治理自动化解决方案</vt:lpstr>
      <vt:lpstr>促进用户消费规模稳定增长</vt:lpstr>
      <vt:lpstr>循环结构：业务循环链条</vt:lpstr>
      <vt:lpstr>漏斗图：营销渠道转化漏斗</vt:lpstr>
      <vt:lpstr>品牌力落地三界面升级</vt:lpstr>
      <vt:lpstr>层级结构：完整品牌力建设框架</vt:lpstr>
      <vt:lpstr>房型图：低空经济产业链</vt:lpstr>
      <vt:lpstr>对比结构：产品功能对比</vt:lpstr>
      <vt:lpstr>电商渠道商品销售数据分析</vt:lpstr>
      <vt:lpstr>气泡图：营销优势占比</vt:lpstr>
      <vt:lpstr>购物节营销数据分析</vt:lpstr>
      <vt:lpstr>财务数据分析看板</vt:lpstr>
      <vt:lpstr>公司产业数据综合分析</vt:lpstr>
      <vt:lpstr>购买行为影响因素分析</vt:lpstr>
      <vt:lpstr>玫瑰图：热门关键词搜索权重</vt:lpstr>
      <vt:lpstr>消费者购物动因分析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五大工作成果展示/上半年回顾</dc:title>
  <dc:creator>张 琳</dc:creator>
  <cp:lastModifiedBy>Sun guang</cp:lastModifiedBy>
  <cp:revision>47</cp:revision>
  <dcterms:created xsi:type="dcterms:W3CDTF">2025-08-13T07:51:00Z</dcterms:created>
  <dcterms:modified xsi:type="dcterms:W3CDTF">2026-05-27T07:18:52Z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A0368C97640E442CABFC6B833CA96CDF_12</vt:lpwstr>
  </property>
  <property fmtid="{D5CDD505-2E9C-101B-9397-08002B2CF9AE}" pid="3" name="KSOProductBuildVer">
    <vt:lpwstr>2052-11.1.0.11176</vt:lpwstr>
  </property>
</Properties>
</file>