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9.xml" ContentType="application/vnd.openxmlformats-officedocument.drawingml.chart+xml"/>
  <Override PartName="/ppt/charts/colors10.xml" ContentType="application/vnd.ms-office.chartcolorstyle+xml"/>
  <Override PartName="/ppt/charts/colors11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47.xml" ContentType="application/vnd.ms-office.chartcolorstyle+xml"/>
  <Override PartName="/ppt/charts/colors48.xml" ContentType="application/vnd.ms-office.chartcolorstyle+xml"/>
  <Override PartName="/ppt/charts/colors49.xml" ContentType="application/vnd.ms-office.chartcolorstyle+xml"/>
  <Override PartName="/ppt/charts/colors50.xml" ContentType="application/vnd.ms-office.chartcolorstyle+xml"/>
  <Override PartName="/ppt/charts/colors51.xml" ContentType="application/vnd.ms-office.chartcolorstyle+xml"/>
  <Override PartName="/ppt/charts/colors52.xml" ContentType="application/vnd.ms-office.chartcolorstyle+xml"/>
  <Override PartName="/ppt/charts/colors53.xml" ContentType="application/vnd.ms-office.chartcolorstyle+xml"/>
  <Override PartName="/ppt/charts/colors54.xml" ContentType="application/vnd.ms-office.chartcolorstyle+xml"/>
  <Override PartName="/ppt/charts/colors55.xml" ContentType="application/vnd.ms-office.chartcolorstyle+xml"/>
  <Override PartName="/ppt/charts/colors56.xml" ContentType="application/vnd.ms-office.chartcolorstyle+xml"/>
  <Override PartName="/ppt/charts/colors57.xml" ContentType="application/vnd.ms-office.chartcolorstyle+xml"/>
  <Override PartName="/ppt/charts/colors58.xml" ContentType="application/vnd.ms-office.chartcolorstyle+xml"/>
  <Override PartName="/ppt/charts/colors59.xml" ContentType="application/vnd.ms-office.chartcolorstyle+xml"/>
  <Override PartName="/ppt/charts/colors6.xml" ContentType="application/vnd.ms-office.chartcolorstyle+xml"/>
  <Override PartName="/ppt/charts/colors60.xml" ContentType="application/vnd.ms-office.chartcolorstyle+xml"/>
  <Override PartName="/ppt/charts/colors61.xml" ContentType="application/vnd.ms-office.chartcolorstyle+xml"/>
  <Override PartName="/ppt/charts/colors62.xml" ContentType="application/vnd.ms-office.chartcolorstyle+xml"/>
  <Override PartName="/ppt/charts/colors63.xml" ContentType="application/vnd.ms-office.chartcolorstyle+xml"/>
  <Override PartName="/ppt/charts/colors64.xml" ContentType="application/vnd.ms-office.chartcolorstyle+xml"/>
  <Override PartName="/ppt/charts/colors65.xml" ContentType="application/vnd.ms-office.chartcolorstyle+xml"/>
  <Override PartName="/ppt/charts/colors66.xml" ContentType="application/vnd.ms-office.chartcolorstyle+xml"/>
  <Override PartName="/ppt/charts/colors67.xml" ContentType="application/vnd.ms-office.chartcolorstyle+xml"/>
  <Override PartName="/ppt/charts/colors68.xml" ContentType="application/vnd.ms-office.chartcolorstyle+xml"/>
  <Override PartName="/ppt/charts/colors69.xml" ContentType="application/vnd.ms-office.chartcolorstyle+xml"/>
  <Override PartName="/ppt/charts/colors7.xml" ContentType="application/vnd.ms-office.chartcolorstyle+xml"/>
  <Override PartName="/ppt/charts/colors70.xml" ContentType="application/vnd.ms-office.chartcolorstyle+xml"/>
  <Override PartName="/ppt/charts/colors71.xml" ContentType="application/vnd.ms-office.chartcolorstyle+xml"/>
  <Override PartName="/ppt/charts/colors72.xml" ContentType="application/vnd.ms-office.chartcolorstyle+xml"/>
  <Override PartName="/ppt/charts/colors73.xml" ContentType="application/vnd.ms-office.chartcolorstyle+xml"/>
  <Override PartName="/ppt/charts/colors74.xml" ContentType="application/vnd.ms-office.chartcolorstyle+xml"/>
  <Override PartName="/ppt/charts/colors75.xml" ContentType="application/vnd.ms-office.chartcolorstyle+xml"/>
  <Override PartName="/ppt/charts/colors76.xml" ContentType="application/vnd.ms-office.chartcolorstyle+xml"/>
  <Override PartName="/ppt/charts/colors7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0.xml" ContentType="application/vnd.ms-office.chartstyle+xml"/>
  <Override PartName="/ppt/charts/style11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47.xml" ContentType="application/vnd.ms-office.chartstyle+xml"/>
  <Override PartName="/ppt/charts/style48.xml" ContentType="application/vnd.ms-office.chartstyle+xml"/>
  <Override PartName="/ppt/charts/style49.xml" ContentType="application/vnd.ms-office.chartstyle+xml"/>
  <Override PartName="/ppt/charts/style50.xml" ContentType="application/vnd.ms-office.chartstyle+xml"/>
  <Override PartName="/ppt/charts/style51.xml" ContentType="application/vnd.ms-office.chartstyle+xml"/>
  <Override PartName="/ppt/charts/style52.xml" ContentType="application/vnd.ms-office.chartstyle+xml"/>
  <Override PartName="/ppt/charts/style53.xml" ContentType="application/vnd.ms-office.chartstyle+xml"/>
  <Override PartName="/ppt/charts/style54.xml" ContentType="application/vnd.ms-office.chartstyle+xml"/>
  <Override PartName="/ppt/charts/style55.xml" ContentType="application/vnd.ms-office.chartstyle+xml"/>
  <Override PartName="/ppt/charts/style56.xml" ContentType="application/vnd.ms-office.chartstyle+xml"/>
  <Override PartName="/ppt/charts/style57.xml" ContentType="application/vnd.ms-office.chartstyle+xml"/>
  <Override PartName="/ppt/charts/style58.xml" ContentType="application/vnd.ms-office.chartstyle+xml"/>
  <Override PartName="/ppt/charts/style59.xml" ContentType="application/vnd.ms-office.chartstyle+xml"/>
  <Override PartName="/ppt/charts/style6.xml" ContentType="application/vnd.ms-office.chartstyle+xml"/>
  <Override PartName="/ppt/charts/style60.xml" ContentType="application/vnd.ms-office.chartstyle+xml"/>
  <Override PartName="/ppt/charts/style61.xml" ContentType="application/vnd.ms-office.chartstyle+xml"/>
  <Override PartName="/ppt/charts/style62.xml" ContentType="application/vnd.ms-office.chartstyle+xml"/>
  <Override PartName="/ppt/charts/style63.xml" ContentType="application/vnd.ms-office.chartstyle+xml"/>
  <Override PartName="/ppt/charts/style64.xml" ContentType="application/vnd.ms-office.chartstyle+xml"/>
  <Override PartName="/ppt/charts/style65.xml" ContentType="application/vnd.ms-office.chartstyle+xml"/>
  <Override PartName="/ppt/charts/style66.xml" ContentType="application/vnd.ms-office.chartstyle+xml"/>
  <Override PartName="/ppt/charts/style67.xml" ContentType="application/vnd.ms-office.chartstyle+xml"/>
  <Override PartName="/ppt/charts/style68.xml" ContentType="application/vnd.ms-office.chartstyle+xml"/>
  <Override PartName="/ppt/charts/style69.xml" ContentType="application/vnd.ms-office.chartstyle+xml"/>
  <Override PartName="/ppt/charts/style7.xml" ContentType="application/vnd.ms-office.chartstyle+xml"/>
  <Override PartName="/ppt/charts/style70.xml" ContentType="application/vnd.ms-office.chartstyle+xml"/>
  <Override PartName="/ppt/charts/style71.xml" ContentType="application/vnd.ms-office.chartstyle+xml"/>
  <Override PartName="/ppt/charts/style72.xml" ContentType="application/vnd.ms-office.chartstyle+xml"/>
  <Override PartName="/ppt/charts/style73.xml" ContentType="application/vnd.ms-office.chartstyle+xml"/>
  <Override PartName="/ppt/charts/style74.xml" ContentType="application/vnd.ms-office.chartstyle+xml"/>
  <Override PartName="/ppt/charts/style75.xml" ContentType="application/vnd.ms-office.chartstyle+xml"/>
  <Override PartName="/ppt/charts/style76.xml" ContentType="application/vnd.ms-office.chartstyle+xml"/>
  <Override PartName="/ppt/charts/style7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2"/>
    <p:sldMasterId id="2147483661" r:id="rId3"/>
    <p:sldMasterId id="2147483663" r:id="rId4"/>
    <p:sldMasterId id="2147483675" r:id="rId5"/>
    <p:sldMasterId id="2147483690" r:id="rId6"/>
    <p:sldMasterId id="2147483696" r:id="rId7"/>
  </p:sldMasterIdLst>
  <p:notesMasterIdLst>
    <p:notesMasterId r:id="rId49"/>
  </p:notesMasterIdLst>
  <p:handoutMasterIdLst>
    <p:handoutMasterId r:id="rId50"/>
  </p:handoutMasterIdLst>
  <p:sldIdLst>
    <p:sldId id="398" r:id="rId8"/>
    <p:sldId id="399" r:id="rId9"/>
    <p:sldId id="403" r:id="rId11"/>
    <p:sldId id="419" r:id="rId15"/>
    <p:sldId id="420" r:id="rId16"/>
    <p:sldId id="274" r:id="rId23"/>
    <p:sldId id="285" r:id="rId25"/>
    <p:sldId id="287" r:id="rId27"/>
    <p:sldId id="353" r:id="rId34"/>
    <p:sldId id="16669907" r:id="rId40"/>
    <p:sldId id="16669891" r:id="rId43"/>
    <p:sldId id="1666956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019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1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3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6.xml"/><Relationship Id="rId24" Type="http://schemas.openxmlformats.org/officeDocument/2006/relationships/slide" Target="slides/slide17.xml"/><Relationship Id="rId25" Type="http://schemas.openxmlformats.org/officeDocument/2006/relationships/slide" Target="slides/slide7.xml"/><Relationship Id="rId26" Type="http://schemas.openxmlformats.org/officeDocument/2006/relationships/slide" Target="slides/slide19.xml"/><Relationship Id="rId27" Type="http://schemas.openxmlformats.org/officeDocument/2006/relationships/slide" Target="slides/slide8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9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10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11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12.xml"/><Relationship Id="rId49" Type="http://schemas.openxmlformats.org/officeDocument/2006/relationships/notesMaster" Target="notesMasters/notesMaster1.xml"/><Relationship Id="rId50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___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___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___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___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___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___10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___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___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___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___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___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___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___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___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___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___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___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___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___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___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___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___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___29.xlsx"/></Relationships>
</file>

<file path=ppt/charts/_rels/chart31.xml.rels><?xml version='1.0' encoding='UTF-8' standalone='yes'?>
<Relationships xmlns="http://schemas.openxmlformats.org/package/2006/relationships"><Relationship Id="rId1" Type="http://schemas.microsoft.com/office/2011/relationships/chartStyle" Target="style31.xml"/><Relationship Id="rId2" Type="http://schemas.microsoft.com/office/2011/relationships/chartColorStyle" Target="colors31.xml"/><Relationship Id="rId3" Type="http://schemas.openxmlformats.org/officeDocument/2006/relationships/package" Target="../embeddings/Microsoft_Excel____30.xlsx"/></Relationships>
</file>

<file path=ppt/charts/_rels/chart32.xml.rels><?xml version='1.0' encoding='UTF-8' standalone='yes'?>
<Relationships xmlns="http://schemas.openxmlformats.org/package/2006/relationships"><Relationship Id="rId1" Type="http://schemas.microsoft.com/office/2011/relationships/chartStyle" Target="style32.xml"/><Relationship Id="rId2" Type="http://schemas.microsoft.com/office/2011/relationships/chartColorStyle" Target="colors32.xml"/><Relationship Id="rId3" Type="http://schemas.openxmlformats.org/officeDocument/2006/relationships/package" Target="../embeddings/Microsoft_Excel____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32.xlsx"/></Relationships>
</file>

<file path=ppt/charts/_rels/chart34.xml.rels><?xml version='1.0' encoding='UTF-8' standalone='yes'?>
<Relationships xmlns="http://schemas.openxmlformats.org/package/2006/relationships"><Relationship Id="rId1" Type="http://schemas.microsoft.com/office/2011/relationships/chartStyle" Target="style33.xml"/><Relationship Id="rId2" Type="http://schemas.microsoft.com/office/2011/relationships/chartColorStyle" Target="colors33.xml"/><Relationship Id="rId3" Type="http://schemas.openxmlformats.org/officeDocument/2006/relationships/package" Target="../embeddings/Microsoft_Excel____33.xlsx"/></Relationships>
</file>

<file path=ppt/charts/_rels/chart35.xml.rels><?xml version='1.0' encoding='UTF-8' standalone='yes'?>
<Relationships xmlns="http://schemas.openxmlformats.org/package/2006/relationships"><Relationship Id="rId1" Type="http://schemas.microsoft.com/office/2011/relationships/chartStyle" Target="style34.xml"/><Relationship Id="rId2" Type="http://schemas.microsoft.com/office/2011/relationships/chartColorStyle" Target="colors34.xml"/><Relationship Id="rId3" Type="http://schemas.openxmlformats.org/officeDocument/2006/relationships/package" Target="../embeddings/Microsoft_Excel____34.xlsx"/></Relationships>
</file>

<file path=ppt/charts/_rels/chart36.xml.rels><?xml version='1.0' encoding='UTF-8' standalone='yes'?>
<Relationships xmlns="http://schemas.openxmlformats.org/package/2006/relationships"><Relationship Id="rId1" Type="http://schemas.microsoft.com/office/2011/relationships/chartStyle" Target="style35.xml"/><Relationship Id="rId2" Type="http://schemas.microsoft.com/office/2011/relationships/chartColorStyle" Target="colors35.xml"/><Relationship Id="rId3" Type="http://schemas.openxmlformats.org/officeDocument/2006/relationships/package" Target="../embeddings/Microsoft_Excel____35.xlsx"/></Relationships>
</file>

<file path=ppt/charts/_rels/chart37.xml.rels><?xml version='1.0' encoding='UTF-8' standalone='yes'?>
<Relationships xmlns="http://schemas.openxmlformats.org/package/2006/relationships"><Relationship Id="rId1" Type="http://schemas.microsoft.com/office/2011/relationships/chartStyle" Target="style36.xml"/><Relationship Id="rId2" Type="http://schemas.microsoft.com/office/2011/relationships/chartColorStyle" Target="colors36.xml"/><Relationship Id="rId3" Type="http://schemas.openxmlformats.org/officeDocument/2006/relationships/package" Target="../embeddings/Microsoft_Excel____36.xlsx"/></Relationships>
</file>

<file path=ppt/charts/_rels/chart38.xml.rels><?xml version='1.0' encoding='UTF-8' standalone='yes'?>
<Relationships xmlns="http://schemas.openxmlformats.org/package/2006/relationships"><Relationship Id="rId1" Type="http://schemas.microsoft.com/office/2011/relationships/chartStyle" Target="style37.xml"/><Relationship Id="rId2" Type="http://schemas.microsoft.com/office/2011/relationships/chartColorStyle" Target="colors37.xml"/><Relationship Id="rId3" Type="http://schemas.openxmlformats.org/officeDocument/2006/relationships/package" Target="../embeddings/Microsoft_Excel____37.xlsx"/></Relationships>
</file>

<file path=ppt/charts/_rels/chart39.xml.rels><?xml version='1.0' encoding='UTF-8' standalone='yes'?>
<Relationships xmlns="http://schemas.openxmlformats.org/package/2006/relationships"><Relationship Id="rId1" Type="http://schemas.microsoft.com/office/2011/relationships/chartStyle" Target="style38.xml"/><Relationship Id="rId2" Type="http://schemas.microsoft.com/office/2011/relationships/chartColorStyle" Target="colors38.xml"/><Relationship Id="rId3" Type="http://schemas.openxmlformats.org/officeDocument/2006/relationships/package" Target="../embeddings/Microsoft_Excel____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39.xlsx"/></Relationships>
</file>

<file path=ppt/charts/_rels/chart41.xml.rels><?xml version='1.0' encoding='UTF-8' standalone='yes'?>
<Relationships xmlns="http://schemas.openxmlformats.org/package/2006/relationships"><Relationship Id="rId1" Type="http://schemas.microsoft.com/office/2011/relationships/chartStyle" Target="style39.xml"/><Relationship Id="rId2" Type="http://schemas.microsoft.com/office/2011/relationships/chartColorStyle" Target="colors39.xml"/><Relationship Id="rId3" Type="http://schemas.openxmlformats.org/officeDocument/2006/relationships/package" Target="../embeddings/Microsoft_Excel____40.xlsx"/></Relationships>
</file>

<file path=ppt/charts/_rels/chart42.xml.rels><?xml version='1.0' encoding='UTF-8' standalone='yes'?>
<Relationships xmlns="http://schemas.openxmlformats.org/package/2006/relationships"><Relationship Id="rId1" Type="http://schemas.microsoft.com/office/2011/relationships/chartStyle" Target="style40.xml"/><Relationship Id="rId2" Type="http://schemas.microsoft.com/office/2011/relationships/chartColorStyle" Target="colors40.xml"/><Relationship Id="rId3" Type="http://schemas.openxmlformats.org/officeDocument/2006/relationships/package" Target="../embeddings/Microsoft_Excel____41.xlsx"/></Relationships>
</file>

<file path=ppt/charts/_rels/chart43.xml.rels><?xml version='1.0' encoding='UTF-8' standalone='yes'?>
<Relationships xmlns="http://schemas.openxmlformats.org/package/2006/relationships"><Relationship Id="rId1" Type="http://schemas.microsoft.com/office/2011/relationships/chartStyle" Target="style41.xml"/><Relationship Id="rId2" Type="http://schemas.microsoft.com/office/2011/relationships/chartColorStyle" Target="colors41.xml"/><Relationship Id="rId3" Type="http://schemas.openxmlformats.org/officeDocument/2006/relationships/package" Target="../embeddings/Microsoft_Excel____42.xlsx"/></Relationships>
</file>

<file path=ppt/charts/_rels/chart44.xml.rels><?xml version='1.0' encoding='UTF-8' standalone='yes'?>
<Relationships xmlns="http://schemas.openxmlformats.org/package/2006/relationships"><Relationship Id="rId1" Type="http://schemas.microsoft.com/office/2011/relationships/chartStyle" Target="style42.xml"/><Relationship Id="rId2" Type="http://schemas.microsoft.com/office/2011/relationships/chartColorStyle" Target="colors42.xml"/><Relationship Id="rId3" Type="http://schemas.openxmlformats.org/officeDocument/2006/relationships/package" Target="../embeddings/Microsoft_Excel____43.xlsx"/></Relationships>
</file>

<file path=ppt/charts/_rels/chart45.xml.rels><?xml version='1.0' encoding='UTF-8' standalone='yes'?>
<Relationships xmlns="http://schemas.openxmlformats.org/package/2006/relationships"><Relationship Id="rId1" Type="http://schemas.microsoft.com/office/2011/relationships/chartStyle" Target="style43.xml"/><Relationship Id="rId2" Type="http://schemas.microsoft.com/office/2011/relationships/chartColorStyle" Target="colors43.xml"/><Relationship Id="rId3" Type="http://schemas.openxmlformats.org/officeDocument/2006/relationships/package" Target="../embeddings/Microsoft_Excel____44.xlsx"/></Relationships>
</file>

<file path=ppt/charts/_rels/chart46.xml.rels><?xml version='1.0' encoding='UTF-8' standalone='yes'?>
<Relationships xmlns="http://schemas.openxmlformats.org/package/2006/relationships"><Relationship Id="rId1" Type="http://schemas.microsoft.com/office/2011/relationships/chartStyle" Target="style44.xml"/><Relationship Id="rId2" Type="http://schemas.microsoft.com/office/2011/relationships/chartColorStyle" Target="colors44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___45.xlsx"/></Relationships>
</file>

<file path=ppt/charts/_rels/chart47.xml.rels><?xml version='1.0' encoding='UTF-8' standalone='yes'?>
<Relationships xmlns="http://schemas.openxmlformats.org/package/2006/relationships"><Relationship Id="rId1" Type="http://schemas.microsoft.com/office/2011/relationships/chartStyle" Target="style45.xml"/><Relationship Id="rId2" Type="http://schemas.microsoft.com/office/2011/relationships/chartColorStyle" Target="colors45.xml"/><Relationship Id="rId3" Type="http://schemas.openxmlformats.org/officeDocument/2006/relationships/package" Target="../embeddings/Microsoft_Excel____46.xlsx"/></Relationships>
</file>

<file path=ppt/charts/_rels/chart48.xml.rels><?xml version='1.0' encoding='UTF-8' standalone='yes'?>
<Relationships xmlns="http://schemas.openxmlformats.org/package/2006/relationships"><Relationship Id="rId1" Type="http://schemas.microsoft.com/office/2011/relationships/chartStyle" Target="style46.xml"/><Relationship Id="rId2" Type="http://schemas.microsoft.com/office/2011/relationships/chartColorStyle" Target="colors46.xml"/><Relationship Id="rId3" Type="http://schemas.openxmlformats.org/officeDocument/2006/relationships/package" Target="../embeddings/Microsoft_Excel____47.xlsx"/></Relationships>
</file>

<file path=ppt/charts/_rels/chart49.xml.rels><?xml version='1.0' encoding='UTF-8' standalone='yes'?>
<Relationships xmlns="http://schemas.openxmlformats.org/package/2006/relationships"><Relationship Id="rId1" Type="http://schemas.microsoft.com/office/2011/relationships/chartStyle" Target="style47.xml"/><Relationship Id="rId2" Type="http://schemas.microsoft.com/office/2011/relationships/chartColorStyle" Target="colors47.xml"/><Relationship Id="rId3" Type="http://schemas.openxmlformats.org/officeDocument/2006/relationships/package" Target="../embeddings/Microsoft_Excel____48.xlsx"/></Relationships>
</file>

<file path=ppt/charts/_rels/chart50.xml.rels><?xml version='1.0' encoding='UTF-8' standalone='yes'?>
<Relationships xmlns="http://schemas.openxmlformats.org/package/2006/relationships"><Relationship Id="rId1" Type="http://schemas.microsoft.com/office/2011/relationships/chartStyle" Target="style48.xml"/><Relationship Id="rId2" Type="http://schemas.microsoft.com/office/2011/relationships/chartColorStyle" Target="colors48.xml"/><Relationship Id="rId3" Type="http://schemas.openxmlformats.org/officeDocument/2006/relationships/package" Target="../embeddings/Microsoft_Excel____49.xlsx"/></Relationships>
</file>

<file path=ppt/charts/_rels/chart51.xml.rels><?xml version='1.0' encoding='UTF-8' standalone='yes'?>
<Relationships xmlns="http://schemas.openxmlformats.org/package/2006/relationships"><Relationship Id="rId1" Type="http://schemas.microsoft.com/office/2011/relationships/chartStyle" Target="style49.xml"/><Relationship Id="rId2" Type="http://schemas.microsoft.com/office/2011/relationships/chartColorStyle" Target="colors49.xml"/><Relationship Id="rId3" Type="http://schemas.openxmlformats.org/officeDocument/2006/relationships/package" Target="../embeddings/Microsoft_Excel____50.xlsx"/></Relationships>
</file>

<file path=ppt/charts/_rels/chart52.xml.rels><?xml version='1.0' encoding='UTF-8' standalone='yes'?>
<Relationships xmlns="http://schemas.openxmlformats.org/package/2006/relationships"><Relationship Id="rId1" Type="http://schemas.microsoft.com/office/2011/relationships/chartStyle" Target="style50.xml"/><Relationship Id="rId2" Type="http://schemas.microsoft.com/office/2011/relationships/chartColorStyle" Target="colors50.xml"/><Relationship Id="rId3" Type="http://schemas.openxmlformats.org/officeDocument/2006/relationships/package" Target="../embeddings/Microsoft_Excel____51.xlsx"/></Relationships>
</file>

<file path=ppt/charts/_rels/chart53.xml.rels><?xml version='1.0' encoding='UTF-8' standalone='yes'?>
<Relationships xmlns="http://schemas.openxmlformats.org/package/2006/relationships"><Relationship Id="rId1" Type="http://schemas.microsoft.com/office/2011/relationships/chartStyle" Target="style51.xml"/><Relationship Id="rId2" Type="http://schemas.microsoft.com/office/2011/relationships/chartColorStyle" Target="colors51.xml"/><Relationship Id="rId3" Type="http://schemas.openxmlformats.org/officeDocument/2006/relationships/package" Target="../embeddings/Microsoft_Excel____52.xlsx"/></Relationships>
</file>

<file path=ppt/charts/_rels/chart54.xml.rels><?xml version='1.0' encoding='UTF-8' standalone='yes'?>
<Relationships xmlns="http://schemas.openxmlformats.org/package/2006/relationships"><Relationship Id="rId1" Type="http://schemas.microsoft.com/office/2011/relationships/chartStyle" Target="style52.xml"/><Relationship Id="rId2" Type="http://schemas.microsoft.com/office/2011/relationships/chartColorStyle" Target="colors52.xml"/><Relationship Id="rId3" Type="http://schemas.openxmlformats.org/officeDocument/2006/relationships/package" Target="../embeddings/Microsoft_Excel____53.xlsx"/></Relationships>
</file>

<file path=ppt/charts/_rels/chart55.xml.rels><?xml version='1.0' encoding='UTF-8' standalone='yes'?>
<Relationships xmlns="http://schemas.openxmlformats.org/package/2006/relationships"><Relationship Id="rId1" Type="http://schemas.microsoft.com/office/2011/relationships/chartStyle" Target="style53.xml"/><Relationship Id="rId2" Type="http://schemas.microsoft.com/office/2011/relationships/chartColorStyle" Target="colors53.xml"/><Relationship Id="rId3" Type="http://schemas.openxmlformats.org/officeDocument/2006/relationships/package" Target="../embeddings/Microsoft_Excel____54.xlsx"/></Relationships>
</file>

<file path=ppt/charts/_rels/chart56.xml.rels><?xml version='1.0' encoding='UTF-8' standalone='yes'?>
<Relationships xmlns="http://schemas.openxmlformats.org/package/2006/relationships"><Relationship Id="rId1" Type="http://schemas.microsoft.com/office/2011/relationships/chartStyle" Target="style54.xml"/><Relationship Id="rId2" Type="http://schemas.microsoft.com/office/2011/relationships/chartColorStyle" Target="colors54.xml"/><Relationship Id="rId3" Type="http://schemas.openxmlformats.org/officeDocument/2006/relationships/package" Target="../embeddings/Microsoft_Excel____55.xlsx"/></Relationships>
</file>

<file path=ppt/charts/_rels/chart57.xml.rels><?xml version='1.0' encoding='UTF-8' standalone='yes'?>
<Relationships xmlns="http://schemas.openxmlformats.org/package/2006/relationships"><Relationship Id="rId1" Type="http://schemas.microsoft.com/office/2011/relationships/chartStyle" Target="style55.xml"/><Relationship Id="rId2" Type="http://schemas.microsoft.com/office/2011/relationships/chartColorStyle" Target="colors55.xml"/><Relationship Id="rId3" Type="http://schemas.openxmlformats.org/officeDocument/2006/relationships/package" Target="../embeddings/Microsoft_Excel____56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57.xlsx"/></Relationships>
</file>

<file path=ppt/charts/_rels/chart59.xml.rels><?xml version='1.0' encoding='UTF-8' standalone='yes'?>
<Relationships xmlns="http://schemas.openxmlformats.org/package/2006/relationships"><Relationship Id="rId1" Type="http://schemas.microsoft.com/office/2011/relationships/chartStyle" Target="style56.xml"/><Relationship Id="rId2" Type="http://schemas.microsoft.com/office/2011/relationships/chartColorStyle" Target="colors56.xml"/><Relationship Id="rId3" Type="http://schemas.openxmlformats.org/officeDocument/2006/relationships/package" Target="../embeddings/Microsoft_Excel____58.xlsx"/></Relationships>
</file>

<file path=ppt/charts/_rels/chart60.xml.rels><?xml version='1.0' encoding='UTF-8' standalone='yes'?>
<Relationships xmlns="http://schemas.openxmlformats.org/package/2006/relationships"><Relationship Id="rId1" Type="http://schemas.microsoft.com/office/2011/relationships/chartStyle" Target="style57.xml"/><Relationship Id="rId2" Type="http://schemas.microsoft.com/office/2011/relationships/chartColorStyle" Target="colors57.xml"/><Relationship Id="rId3" Type="http://schemas.openxmlformats.org/officeDocument/2006/relationships/package" Target="../embeddings/Microsoft_Excel____59.xlsx"/></Relationships>
</file>

<file path=ppt/charts/_rels/chart61.xml.rels><?xml version='1.0' encoding='UTF-8' standalone='yes'?>
<Relationships xmlns="http://schemas.openxmlformats.org/package/2006/relationships"><Relationship Id="rId1" Type="http://schemas.microsoft.com/office/2011/relationships/chartStyle" Target="style58.xml"/><Relationship Id="rId2" Type="http://schemas.microsoft.com/office/2011/relationships/chartColorStyle" Target="colors58.xml"/><Relationship Id="rId3" Type="http://schemas.openxmlformats.org/officeDocument/2006/relationships/package" Target="../embeddings/Microsoft_Excel____60.xlsx"/></Relationships>
</file>

<file path=ppt/charts/_rels/chart62.xml.rels><?xml version='1.0' encoding='UTF-8' standalone='yes'?>
<Relationships xmlns="http://schemas.openxmlformats.org/package/2006/relationships"><Relationship Id="rId1" Type="http://schemas.microsoft.com/office/2011/relationships/chartStyle" Target="style59.xml"/><Relationship Id="rId2" Type="http://schemas.microsoft.com/office/2011/relationships/chartColorStyle" Target="colors59.xml"/><Relationship Id="rId3" Type="http://schemas.openxmlformats.org/officeDocument/2006/relationships/package" Target="../embeddings/Microsoft_Excel____61.xlsx"/></Relationships>
</file>

<file path=ppt/charts/_rels/chart63.xml.rels><?xml version='1.0' encoding='UTF-8' standalone='yes'?>
<Relationships xmlns="http://schemas.openxmlformats.org/package/2006/relationships"><Relationship Id="rId1" Type="http://schemas.microsoft.com/office/2011/relationships/chartStyle" Target="style60.xml"/><Relationship Id="rId2" Type="http://schemas.microsoft.com/office/2011/relationships/chartColorStyle" Target="colors60.xml"/><Relationship Id="rId3" Type="http://schemas.openxmlformats.org/officeDocument/2006/relationships/package" Target="../embeddings/Microsoft_Excel____62.xlsx"/></Relationships>
</file>

<file path=ppt/charts/_rels/chart64.xml.rels><?xml version='1.0' encoding='UTF-8' standalone='yes'?>
<Relationships xmlns="http://schemas.openxmlformats.org/package/2006/relationships"><Relationship Id="rId1" Type="http://schemas.microsoft.com/office/2011/relationships/chartStyle" Target="style61.xml"/><Relationship Id="rId2" Type="http://schemas.microsoft.com/office/2011/relationships/chartColorStyle" Target="colors61.xml"/><Relationship Id="rId3" Type="http://schemas.openxmlformats.org/officeDocument/2006/relationships/package" Target="../embeddings/Microsoft_Excel____63.xlsx"/></Relationships>
</file>

<file path=ppt/charts/_rels/chart65.xml.rels><?xml version='1.0' encoding='UTF-8' standalone='yes'?>
<Relationships xmlns="http://schemas.openxmlformats.org/package/2006/relationships"><Relationship Id="rId1" Type="http://schemas.microsoft.com/office/2011/relationships/chartStyle" Target="style62.xml"/><Relationship Id="rId2" Type="http://schemas.microsoft.com/office/2011/relationships/chartColorStyle" Target="colors62.xml"/><Relationship Id="rId3" Type="http://schemas.openxmlformats.org/officeDocument/2006/relationships/package" Target="../embeddings/Microsoft_Excel____64.xlsx"/></Relationships>
</file>

<file path=ppt/charts/_rels/chart66.xml.rels><?xml version='1.0' encoding='UTF-8' standalone='yes'?>
<Relationships xmlns="http://schemas.openxmlformats.org/package/2006/relationships"><Relationship Id="rId1" Type="http://schemas.microsoft.com/office/2011/relationships/chartStyle" Target="style63.xml"/><Relationship Id="rId2" Type="http://schemas.microsoft.com/office/2011/relationships/chartColorStyle" Target="colors63.xml"/><Relationship Id="rId3" Type="http://schemas.openxmlformats.org/officeDocument/2006/relationships/package" Target="../embeddings/Microsoft_Excel____65.xlsx"/></Relationships>
</file>

<file path=ppt/charts/_rels/chart67.xml.rels><?xml version='1.0' encoding='UTF-8' standalone='yes'?>
<Relationships xmlns="http://schemas.openxmlformats.org/package/2006/relationships"><Relationship Id="rId1" Type="http://schemas.microsoft.com/office/2011/relationships/chartStyle" Target="style64.xml"/><Relationship Id="rId2" Type="http://schemas.microsoft.com/office/2011/relationships/chartColorStyle" Target="colors64.xml"/><Relationship Id="rId3" Type="http://schemas.openxmlformats.org/officeDocument/2006/relationships/package" Target="../embeddings/Microsoft_Excel____66.xlsx"/></Relationships>
</file>

<file path=ppt/charts/_rels/chart68.xml.rels><?xml version='1.0' encoding='UTF-8' standalone='yes'?>
<Relationships xmlns="http://schemas.openxmlformats.org/package/2006/relationships"><Relationship Id="rId1" Type="http://schemas.microsoft.com/office/2011/relationships/chartStyle" Target="style65.xml"/><Relationship Id="rId2" Type="http://schemas.microsoft.com/office/2011/relationships/chartColorStyle" Target="colors65.xml"/><Relationship Id="rId3" Type="http://schemas.openxmlformats.org/officeDocument/2006/relationships/package" Target="../embeddings/Microsoft_Excel____67.xlsx"/></Relationships>
</file>

<file path=ppt/charts/_rels/chart69.xml.rels><?xml version='1.0' encoding='UTF-8' standalone='yes'?>
<Relationships xmlns="http://schemas.openxmlformats.org/package/2006/relationships"><Relationship Id="rId1" Type="http://schemas.microsoft.com/office/2011/relationships/chartStyle" Target="style66.xml"/><Relationship Id="rId2" Type="http://schemas.microsoft.com/office/2011/relationships/chartColorStyle" Target="colors66.xml"/><Relationship Id="rId3" Type="http://schemas.openxmlformats.org/officeDocument/2006/relationships/package" Target="../embeddings/Microsoft_Excel____68.xlsx"/></Relationships>
</file>

<file path=ppt/charts/_rels/chart70.xml.rels><?xml version='1.0' encoding='UTF-8' standalone='yes'?>
<Relationships xmlns="http://schemas.openxmlformats.org/package/2006/relationships"><Relationship Id="rId1" Type="http://schemas.microsoft.com/office/2011/relationships/chartStyle" Target="style67.xml"/><Relationship Id="rId2" Type="http://schemas.microsoft.com/office/2011/relationships/chartColorStyle" Target="colors67.xml"/><Relationship Id="rId3" Type="http://schemas.openxmlformats.org/officeDocument/2006/relationships/package" Target="../embeddings/Microsoft_Excel____69.xlsx"/></Relationships>
</file>

<file path=ppt/charts/_rels/chart71.xml.rels><?xml version='1.0' encoding='UTF-8' standalone='yes'?>
<Relationships xmlns="http://schemas.openxmlformats.org/package/2006/relationships"><Relationship Id="rId1" Type="http://schemas.microsoft.com/office/2011/relationships/chartStyle" Target="style68.xml"/><Relationship Id="rId2" Type="http://schemas.microsoft.com/office/2011/relationships/chartColorStyle" Target="colors68.xml"/><Relationship Id="rId3" Type="http://schemas.openxmlformats.org/officeDocument/2006/relationships/package" Target="../embeddings/Microsoft_Excel____70.xlsx"/></Relationships>
</file>

<file path=ppt/charts/_rels/chart72.xml.rels><?xml version='1.0' encoding='UTF-8' standalone='yes'?>
<Relationships xmlns="http://schemas.openxmlformats.org/package/2006/relationships"><Relationship Id="rId1" Type="http://schemas.microsoft.com/office/2011/relationships/chartStyle" Target="style69.xml"/><Relationship Id="rId2" Type="http://schemas.microsoft.com/office/2011/relationships/chartColorStyle" Target="colors69.xml"/><Relationship Id="rId3" Type="http://schemas.openxmlformats.org/officeDocument/2006/relationships/package" Target="../embeddings/Microsoft_Excel____71.xlsx"/></Relationships>
</file>

<file path=ppt/charts/_rels/chart73.xml.rels><?xml version='1.0' encoding='UTF-8' standalone='yes'?>
<Relationships xmlns="http://schemas.openxmlformats.org/package/2006/relationships"><Relationship Id="rId1" Type="http://schemas.microsoft.com/office/2011/relationships/chartStyle" Target="style70.xml"/><Relationship Id="rId2" Type="http://schemas.microsoft.com/office/2011/relationships/chartColorStyle" Target="colors70.xml"/><Relationship Id="rId3" Type="http://schemas.openxmlformats.org/officeDocument/2006/relationships/package" Target="../embeddings/Microsoft_Excel____72.xlsx"/></Relationships>
</file>

<file path=ppt/charts/_rels/chart74.xml.rels><?xml version='1.0' encoding='UTF-8' standalone='yes'?>
<Relationships xmlns="http://schemas.openxmlformats.org/package/2006/relationships"><Relationship Id="rId1" Type="http://schemas.microsoft.com/office/2011/relationships/chartStyle" Target="style71.xml"/><Relationship Id="rId2" Type="http://schemas.microsoft.com/office/2011/relationships/chartColorStyle" Target="colors71.xml"/><Relationship Id="rId3" Type="http://schemas.openxmlformats.org/officeDocument/2006/relationships/package" Target="../embeddings/Microsoft_Excel____73.xlsx"/></Relationships>
</file>

<file path=ppt/charts/_rels/chart75.xml.rels><?xml version='1.0' encoding='UTF-8' standalone='yes'?>
<Relationships xmlns="http://schemas.openxmlformats.org/package/2006/relationships"><Relationship Id="rId1" Type="http://schemas.microsoft.com/office/2011/relationships/chartStyle" Target="style72.xml"/><Relationship Id="rId2" Type="http://schemas.microsoft.com/office/2011/relationships/chartColorStyle" Target="colors72.xml"/><Relationship Id="rId3" Type="http://schemas.openxmlformats.org/officeDocument/2006/relationships/package" Target="../embeddings/Microsoft_Excel____74.xlsx"/></Relationships>
</file>

<file path=ppt/charts/_rels/chart76.xml.rels><?xml version='1.0' encoding='UTF-8' standalone='yes'?>
<Relationships xmlns="http://schemas.openxmlformats.org/package/2006/relationships"><Relationship Id="rId1" Type="http://schemas.microsoft.com/office/2011/relationships/chartStyle" Target="style73.xml"/><Relationship Id="rId2" Type="http://schemas.microsoft.com/office/2011/relationships/chartColorStyle" Target="colors73.xml"/><Relationship Id="rId3" Type="http://schemas.openxmlformats.org/officeDocument/2006/relationships/package" Target="../embeddings/Microsoft_Excel____75.xlsx"/></Relationships>
</file>

<file path=ppt/charts/_rels/chart77.xml.rels><?xml version='1.0' encoding='UTF-8' standalone='yes'?>
<Relationships xmlns="http://schemas.openxmlformats.org/package/2006/relationships"><Relationship Id="rId1" Type="http://schemas.microsoft.com/office/2011/relationships/chartStyle" Target="style74.xml"/><Relationship Id="rId2" Type="http://schemas.microsoft.com/office/2011/relationships/chartColorStyle" Target="colors74.xml"/><Relationship Id="rId3" Type="http://schemas.openxmlformats.org/officeDocument/2006/relationships/package" Target="../embeddings/Microsoft_Excel____76.xlsx"/></Relationships>
</file>

<file path=ppt/charts/_rels/chart78.xml.rels><?xml version='1.0' encoding='UTF-8' standalone='yes'?>
<Relationships xmlns="http://schemas.openxmlformats.org/package/2006/relationships"><Relationship Id="rId1" Type="http://schemas.microsoft.com/office/2011/relationships/chartStyle" Target="style75.xml"/><Relationship Id="rId2" Type="http://schemas.microsoft.com/office/2011/relationships/chartColorStyle" Target="colors75.xml"/><Relationship Id="rId3" Type="http://schemas.openxmlformats.org/officeDocument/2006/relationships/package" Target="../embeddings/Microsoft_Excel____77.xlsx"/></Relationships>
</file>

<file path=ppt/charts/_rels/chart79.xml.rels><?xml version='1.0' encoding='UTF-8' standalone='yes'?>
<Relationships xmlns="http://schemas.openxmlformats.org/package/2006/relationships"><Relationship Id="rId1" Type="http://schemas.microsoft.com/office/2011/relationships/chartStyle" Target="style76.xml"/><Relationship Id="rId2" Type="http://schemas.microsoft.com/office/2011/relationships/chartColorStyle" Target="colors76.xml"/><Relationship Id="rId3" Type="http://schemas.openxmlformats.org/officeDocument/2006/relationships/package" Target="../embeddings/Microsoft_Excel____78.xlsx"/></Relationships>
</file>

<file path=ppt/charts/_rels/chart80.xml.rels><?xml version='1.0' encoding='UTF-8' standalone='yes'?>
<Relationships xmlns="http://schemas.openxmlformats.org/package/2006/relationships"><Relationship Id="rId1" Type="http://schemas.microsoft.com/office/2011/relationships/chartStyle" Target="style77.xml"/><Relationship Id="rId2" Type="http://schemas.microsoft.com/office/2011/relationships/chartColorStyle" Target="colors77.xml"/><Relationship Id="rId3" Type="http://schemas.openxmlformats.org/officeDocument/2006/relationships/package" Target="../embeddings/Microsoft_Excel____79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占离职总人数比例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1年以内 (新人期)</c:v>
                </c:pt>
                <c:pt idx="1">
                  <c:v>1-3年 (成长期)</c:v>
                </c:pt>
                <c:pt idx="2">
                  <c:v>3-5年 (稳定期)</c:v>
                </c:pt>
                <c:pt idx="3">
                  <c:v>5年以上 (资深期)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0.375</c:v>
                </c:pt>
                <c:pt idx="1">
                  <c:v>0.35</c:v>
                </c:pt>
                <c:pt idx="2">
                  <c:v>0.15</c:v>
                </c:pt>
                <c:pt idx="3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0-D244-97BF-C2ACDA331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5"/>
        <c:axId val="206717040"/>
        <c:axId val="206733264"/>
      </c:barChart>
      <c:catAx>
        <c:axId val="20671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6733264"/>
        <c:crosses val="autoZero"/>
        <c:auto val="1"/>
        <c:lblAlgn val="ctr"/>
        <c:lblOffset val="100"/>
        <c:noMultiLvlLbl val="0"/>
      </c:catAx>
      <c:valAx>
        <c:axId val="20673326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0671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岗位数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Python</c:v>
                </c:pt>
                <c:pt idx="1">
                  <c:v>SQL</c:v>
                </c:pt>
                <c:pt idx="2">
                  <c:v>Java</c:v>
                </c:pt>
                <c:pt idx="3">
                  <c:v>Kubernetes</c:v>
                </c:pt>
                <c:pt idx="4">
                  <c:v>Docker</c:v>
                </c:pt>
                <c:pt idx="5">
                  <c:v>Go</c:v>
                </c:pt>
                <c:pt idx="6">
                  <c:v>C++</c:v>
                </c:pt>
                <c:pt idx="7">
                  <c:v>Linux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164</c:v>
                </c:pt>
                <c:pt idx="1">
                  <c:v>83</c:v>
                </c:pt>
                <c:pt idx="2">
                  <c:v>53</c:v>
                </c:pt>
                <c:pt idx="3">
                  <c:v>51</c:v>
                </c:pt>
                <c:pt idx="4">
                  <c:v>47</c:v>
                </c:pt>
                <c:pt idx="5">
                  <c:v>42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1-BE45-BACE-A9ABAC5BF9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7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JD 数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jobicy</c:v>
                </c:pt>
                <c:pt idx="1">
                  <c:v>apify-lagou</c:v>
                </c:pt>
                <c:pt idx="2">
                  <c:v>seed-demo</c:v>
                </c:pt>
                <c:pt idx="3">
                  <c:v>remoteok</c:v>
                </c:pt>
                <c:pt idx="4">
                  <c:v>themuse</c:v>
                </c:pt>
                <c:pt idx="5">
                  <c:v>landingjobs</c:v>
                </c:pt>
                <c:pt idx="6">
                  <c:v>remotive</c:v>
                </c:pt>
                <c:pt idx="7">
                  <c:v>v2ex</c:v>
                </c:pt>
                <c:pt idx="8">
                  <c:v>juejin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</c:v>
                </c:pt>
                <c:pt idx="1">
                  <c:v>205</c:v>
                </c:pt>
                <c:pt idx="2">
                  <c:v>154</c:v>
                </c:pt>
                <c:pt idx="3">
                  <c:v>52</c:v>
                </c:pt>
                <c:pt idx="4">
                  <c:v>21</c:v>
                </c:pt>
                <c:pt idx="5">
                  <c:v>16</c:v>
                </c:pt>
                <c:pt idx="6">
                  <c:v>15</c:v>
                </c:pt>
                <c:pt idx="7">
                  <c:v>10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5-EB47-949C-B96681DAB9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得分 (%)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9649675223746001E-3"/>
                  <c:y val="-3.57696719112964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E7-C74A-8E6D-38E5E1E75FFF}"/>
                </c:ext>
              </c:extLst>
            </c:dLbl>
            <c:dLbl>
              <c:idx val="2"/>
              <c:layout>
                <c:manualLayout>
                  <c:x val="-7.9649675223745497E-3"/>
                  <c:y val="-6.8302524329226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E7-C74A-8E6D-38E5E1E75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JD 解析 F1</c:v>
                </c:pt>
                <c:pt idx="1">
                  <c:v>简历提取 F1</c:v>
                </c:pt>
                <c:pt idx="2">
                  <c:v>人岗匹配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96.22</c:v>
                </c:pt>
                <c:pt idx="1">
                  <c:v>91.58</c:v>
                </c:pt>
                <c:pt idx="2">
                  <c:v>97.45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E7-C74A-8E6D-38E5E1E75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89684128"/>
        <c:axId val="89684544"/>
      </c:barChart>
      <c:catAx>
        <c:axId val="896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89684544"/>
        <c:crosses val="autoZero"/>
        <c:auto val="1"/>
        <c:lblAlgn val="ctr"/>
        <c:lblOffset val="100"/>
        <c:noMultiLvlLbl val="0"/>
      </c:catAx>
      <c:valAx>
        <c:axId val="89684544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89684128"/>
        <c:crosses val="autoZero"/>
        <c:crossBetween val="between"/>
      </c:valAx>
      <c:catAx>
        <c:axId val="18117018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1706031"/>
        <c:crosses val="autoZero"/>
        <c:auto val="1"/>
        <c:lblAlgn val="ctr"/>
        <c:lblOffset val="100"/>
        <c:noMultiLvlLbl val="0"/>
      </c:catAx>
      <c:valAx>
        <c:axId val="1811706031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1170187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234331266035536"/>
          <c:y val="0.94299731068829395"/>
          <c:w val="0.61703705953036803"/>
          <c:h val="4.176432286458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岗位占比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gradFill>
                <a:gsLst>
                  <a:gs pos="30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E4-7741-BC6E-8D80A2EF6C69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E4-7741-BC6E-8D80A2EF6C69}"/>
              </c:ext>
            </c:extLst>
          </c:dPt>
          <c:dPt>
            <c:idx val="2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E4-7741-BC6E-8D80A2EF6C69}"/>
              </c:ext>
            </c:extLst>
          </c:dPt>
          <c:dPt>
            <c:idx val="3"/>
            <c:bubble3D val="0"/>
            <c:spPr>
              <a:gradFill>
                <a:gsLst>
                  <a:gs pos="30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E4-7741-BC6E-8D80A2EF6C69}"/>
              </c:ext>
            </c:extLst>
          </c:dPt>
          <c:dPt>
            <c:idx val="4"/>
            <c:bubble3D val="0"/>
            <c:spPr>
              <a:gradFill>
                <a:gsLst>
                  <a:gs pos="30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E4-7741-BC6E-8D80A2EF6C69}"/>
              </c:ext>
            </c:extLst>
          </c:dPt>
          <c:dLbls>
            <c:dLbl>
              <c:idx val="0"/>
              <c:layout>
                <c:manualLayout>
                  <c:x val="4.5831647260927699E-2"/>
                  <c:y val="0.1156546937897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E4-7741-BC6E-8D80A2EF6C69}"/>
                </c:ext>
              </c:extLst>
            </c:dLbl>
            <c:dLbl>
              <c:idx val="1"/>
              <c:layout>
                <c:manualLayout>
                  <c:x val="-1.15994655468601E-2"/>
                  <c:y val="-2.7717877149149302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E4-7741-BC6E-8D80A2EF6C69}"/>
                </c:ext>
              </c:extLst>
            </c:dLbl>
            <c:dLbl>
              <c:idx val="2"/>
              <c:layout>
                <c:manualLayout>
                  <c:x val="-2.8506203473945401E-2"/>
                  <c:y val="-5.315105714079169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E4-7741-BC6E-8D80A2EF6C69}"/>
                </c:ext>
              </c:extLst>
            </c:dLbl>
            <c:dLbl>
              <c:idx val="3"/>
              <c:layout>
                <c:manualLayout>
                  <c:x val="-7.8301966024050696E-3"/>
                  <c:y val="1.566932854676859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4E4-7741-BC6E-8D80A2EF6C69}"/>
                </c:ext>
              </c:extLst>
            </c:dLbl>
            <c:dLbl>
              <c:idx val="4"/>
              <c:layout>
                <c:manualLayout>
                  <c:x val="3.6586218744035101E-2"/>
                  <c:y val="-6.9867740587470904E-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4E4-7741-BC6E-8D80A2EF6C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互联网/IT</c:v>
                </c:pt>
                <c:pt idx="1">
                  <c:v>AI/机器学习</c:v>
                </c:pt>
                <c:pt idx="2">
                  <c:v>云计算/DevOps</c:v>
                </c:pt>
                <c:pt idx="3">
                  <c:v>数据科学</c:v>
                </c:pt>
                <c:pt idx="4">
                  <c:v>嵌入式与物联网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41</c:v>
                </c:pt>
                <c:pt idx="2">
                  <c:v>22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4E4-7741-BC6E-8D80A2EF6C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岗位数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互联网/IT</c:v>
                </c:pt>
                <c:pt idx="1">
                  <c:v>AI/机器学习</c:v>
                </c:pt>
                <c:pt idx="2">
                  <c:v>云计算/DevOps</c:v>
                </c:pt>
                <c:pt idx="3">
                  <c:v>数据科学</c:v>
                </c:pt>
                <c:pt idx="4">
                  <c:v>嵌入式与物联网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41</c:v>
                </c:pt>
                <c:pt idx="2">
                  <c:v>22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67-F647-9D1C-20CD04F97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high"/>
        <c:crossAx val="1600644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r>
              <a:rPr lang="zh-CN" altLang="en-US" sz="1600" dirty="0">
                <a:latin typeface="+mn-ea"/>
                <a:ea typeface="+mn-ea"/>
                <a:cs typeface="Roboto" panose="02000000000000000000" charset="0"/>
              </a:rPr>
              <a:t>销售额及花费分析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 alt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2.4</c:v>
                </c:pt>
                <c:pt idx="1">
                  <c:v>1.3</c:v>
                </c:pt>
                <c:pt idx="2">
                  <c:v>3.5</c:v>
                </c:pt>
                <c:pt idx="3">
                  <c:v>2.7</c:v>
                </c:pt>
                <c:pt idx="4">
                  <c:v>3.7</c:v>
                </c:pt>
                <c:pt idx="5">
                  <c:v>2.2999999999999998</c:v>
                </c:pt>
                <c:pt idx="6">
                  <c:v>2.9</c:v>
                </c:pt>
                <c:pt idx="7">
                  <c:v>3.1</c:v>
                </c:pt>
                <c:pt idx="8">
                  <c:v>2.7</c:v>
                </c:pt>
                <c:pt idx="9">
                  <c:v>1.9</c:v>
                </c:pt>
                <c:pt idx="10">
                  <c:v>2.5</c:v>
                </c:pt>
                <c:pt idx="11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3-F84F-B076-B340C91F39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利润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4.2</c:v>
                </c:pt>
                <c:pt idx="1">
                  <c:v>5.0999999999999996</c:v>
                </c:pt>
                <c:pt idx="2">
                  <c:v>4.8</c:v>
                </c:pt>
                <c:pt idx="3">
                  <c:v>4.5999999999999996</c:v>
                </c:pt>
                <c:pt idx="4">
                  <c:v>5.4</c:v>
                </c:pt>
                <c:pt idx="5">
                  <c:v>5.2</c:v>
                </c:pt>
                <c:pt idx="6">
                  <c:v>4.9000000000000004</c:v>
                </c:pt>
                <c:pt idx="7">
                  <c:v>5.2</c:v>
                </c:pt>
                <c:pt idx="8">
                  <c:v>4.8</c:v>
                </c:pt>
                <c:pt idx="9">
                  <c:v>4.5999999999999996</c:v>
                </c:pt>
                <c:pt idx="10">
                  <c:v>4.2</c:v>
                </c:pt>
                <c:pt idx="11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3-F84F-B076-B340C91F3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55920"/>
        <c:axId val="206149680"/>
      </c:areaChart>
      <c:catAx>
        <c:axId val="206155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149680"/>
        <c:crosses val="autoZero"/>
        <c:auto val="1"/>
        <c:lblAlgn val="ctr"/>
        <c:lblOffset val="100"/>
        <c:noMultiLvlLbl val="0"/>
      </c:catAx>
      <c:valAx>
        <c:axId val="206149680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61559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730182911477602E-2"/>
          <c:y val="0.114095966189994"/>
          <c:w val="0.12904469526096701"/>
          <c:h val="6.36783294935298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17-DD43-B035-7EE09067DCA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17-DD43-B035-7EE09067DCA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D17-DD43-B035-7EE09067DCAB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D17-DD43-B035-7EE09067DC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市场部</c:v>
                </c:pt>
                <c:pt idx="1">
                  <c:v>运营部</c:v>
                </c:pt>
                <c:pt idx="2">
                  <c:v>生产部</c:v>
                </c:pt>
                <c:pt idx="3">
                  <c:v>质检部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0.32</c:v>
                </c:pt>
                <c:pt idx="2">
                  <c:v>0.15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17-DD43-B035-7EE09067DC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7779203824989"/>
          <c:y val="0.83883182000596901"/>
          <c:w val="0.60889584163409105"/>
          <c:h val="6.88527743052217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8526</c:v>
                </c:pt>
                <c:pt idx="1">
                  <c:v>9876</c:v>
                </c:pt>
                <c:pt idx="2">
                  <c:v>15364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2-F740-82BA-D59D4659D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11289</c:v>
                </c:pt>
                <c:pt idx="1">
                  <c:v>12564</c:v>
                </c:pt>
                <c:pt idx="2">
                  <c:v>19635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2-F740-82BA-D59D4659D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70425055"/>
        <c:axId val="1170422655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增长率</c:v>
                </c:pt>
              </c:strCache>
            </c:strRef>
          </c:tx>
          <c:spPr>
            <a:ln w="38100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0.24</c:v>
                </c:pt>
                <c:pt idx="1">
                  <c:v>0.21</c:v>
                </c:pt>
                <c:pt idx="2">
                  <c:v>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D2-F740-82BA-D59D4659D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874928"/>
        <c:axId val="135892688"/>
      </c:lineChart>
      <c:catAx>
        <c:axId val="1170425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170422655"/>
        <c:crosses val="autoZero"/>
        <c:auto val="1"/>
        <c:lblAlgn val="ctr"/>
        <c:lblOffset val="100"/>
        <c:noMultiLvlLbl val="0"/>
      </c:catAx>
      <c:valAx>
        <c:axId val="11704226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170425055"/>
        <c:crosses val="autoZero"/>
        <c:crossBetween val="between"/>
      </c:valAx>
      <c:catAx>
        <c:axId val="1358749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5892688"/>
        <c:crosses val="autoZero"/>
        <c:auto val="1"/>
        <c:lblAlgn val="ctr"/>
        <c:lblOffset val="100"/>
        <c:noMultiLvlLbl val="0"/>
      </c:catAx>
      <c:valAx>
        <c:axId val="13589268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749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E-9A4C-B0DE-EB0FBF88C1B0}"/>
              </c:ext>
            </c:extLst>
          </c:dPt>
          <c:dPt>
            <c:idx val="8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E-9A4C-B0DE-EB0FBF88C1B0}"/>
              </c:ext>
            </c:extLst>
          </c:dPt>
          <c:dPt>
            <c:idx val="1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E5E-9A4C-B0DE-EB0FBF88C1B0}"/>
              </c:ext>
            </c:extLst>
          </c:dPt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2534</c:v>
                </c:pt>
                <c:pt idx="1">
                  <c:v>1986</c:v>
                </c:pt>
                <c:pt idx="2">
                  <c:v>2653</c:v>
                </c:pt>
                <c:pt idx="3">
                  <c:v>2057</c:v>
                </c:pt>
                <c:pt idx="4">
                  <c:v>1992</c:v>
                </c:pt>
                <c:pt idx="5">
                  <c:v>2453</c:v>
                </c:pt>
                <c:pt idx="6">
                  <c:v>2389</c:v>
                </c:pt>
                <c:pt idx="7">
                  <c:v>2458</c:v>
                </c:pt>
                <c:pt idx="8">
                  <c:v>2653</c:v>
                </c:pt>
                <c:pt idx="9">
                  <c:v>2536</c:v>
                </c:pt>
                <c:pt idx="10">
                  <c:v>2498</c:v>
                </c:pt>
                <c:pt idx="11">
                  <c:v>2696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5E-9A4C-B0DE-EB0FBF88C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59760"/>
        <c:axId val="206163600"/>
      </c:areaChart>
      <c:catAx>
        <c:axId val="20615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163600"/>
        <c:crosses val="autoZero"/>
        <c:auto val="1"/>
        <c:lblAlgn val="ctr"/>
        <c:lblOffset val="100"/>
        <c:noMultiLvlLbl val="0"/>
      </c:catAx>
      <c:valAx>
        <c:axId val="2061636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61597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F2B-EF4C-9329-13BF94041006}"/>
              </c:ext>
            </c:extLst>
          </c:dPt>
          <c:dPt>
            <c:idx val="1"/>
            <c:bubble3D val="0"/>
            <c:spPr>
              <a:solidFill>
                <a:schemeClr val="bg1"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2B-EF4C-9329-13BF94041006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0.69</c:v>
                </c:pt>
                <c:pt idx="1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2B-EF4C-9329-13BF940410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B4-4A4C-AA14-98864A35EF03}"/>
              </c:ext>
            </c:extLst>
          </c:dPt>
          <c:dPt>
            <c:idx val="1"/>
            <c:bubble3D val="0"/>
            <c:spPr>
              <a:solidFill>
                <a:schemeClr val="bg1"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B4-4A4C-AA14-98864A35EF03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0.78</c:v>
                </c:pt>
                <c:pt idx="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B4-4A4C-AA14-98864A35E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销售花费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0.62</c:v>
                </c:pt>
                <c:pt idx="1">
                  <c:v>0.71</c:v>
                </c:pt>
                <c:pt idx="2">
                  <c:v>0.82</c:v>
                </c:pt>
                <c:pt idx="3">
                  <c:v>0.85</c:v>
                </c:pt>
                <c:pt idx="4">
                  <c:v>0.59</c:v>
                </c:pt>
                <c:pt idx="5">
                  <c:v>0.52</c:v>
                </c:pt>
                <c:pt idx="6">
                  <c:v>0.63</c:v>
                </c:pt>
                <c:pt idx="7">
                  <c:v>0.86</c:v>
                </c:pt>
                <c:pt idx="8">
                  <c:v>0.92</c:v>
                </c:pt>
                <c:pt idx="9">
                  <c:v>0.85</c:v>
                </c:pt>
                <c:pt idx="10">
                  <c:v>0.67</c:v>
                </c:pt>
                <c:pt idx="11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0-404D-948A-4BF6DC2B0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35868208"/>
        <c:axId val="135880208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存货余额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38100" dist="88900" dir="5400000" algn="t" rotWithShape="0">
                <a:prstClr val="black">
                  <a:alpha val="2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25400">
                <a:solidFill>
                  <a:schemeClr val="accent2"/>
                </a:solidFill>
              </a:ln>
              <a:effectLst>
                <a:outerShdw blurRad="38100" dist="88900" dir="5400000" algn="t" rotWithShape="0">
                  <a:prstClr val="black">
                    <a:alpha val="20000"/>
                  </a:prstClr>
                </a:outerShdw>
              </a:effectLst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</c:v>
                </c:pt>
                <c:pt idx="1">
                  <c:v>49</c:v>
                </c:pt>
                <c:pt idx="2">
                  <c:v>62</c:v>
                </c:pt>
                <c:pt idx="3">
                  <c:v>68</c:v>
                </c:pt>
                <c:pt idx="4">
                  <c:v>47</c:v>
                </c:pt>
                <c:pt idx="5">
                  <c:v>45</c:v>
                </c:pt>
                <c:pt idx="6">
                  <c:v>40</c:v>
                </c:pt>
                <c:pt idx="7">
                  <c:v>69</c:v>
                </c:pt>
                <c:pt idx="8">
                  <c:v>72</c:v>
                </c:pt>
                <c:pt idx="9">
                  <c:v>70</c:v>
                </c:pt>
                <c:pt idx="10">
                  <c:v>59</c:v>
                </c:pt>
                <c:pt idx="11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70-404D-948A-4BF6DC2B0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534320"/>
        <c:axId val="206529040"/>
      </c:lineChart>
      <c:catAx>
        <c:axId val="13586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80208"/>
        <c:crosses val="autoZero"/>
        <c:auto val="1"/>
        <c:lblAlgn val="ctr"/>
        <c:lblOffset val="100"/>
        <c:noMultiLvlLbl val="0"/>
      </c:catAx>
      <c:valAx>
        <c:axId val="13588020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68208"/>
        <c:crosses val="autoZero"/>
        <c:crossBetween val="between"/>
      </c:valAx>
      <c:catAx>
        <c:axId val="206534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6529040"/>
        <c:crosses val="autoZero"/>
        <c:auto val="1"/>
        <c:lblAlgn val="ctr"/>
        <c:lblOffset val="100"/>
        <c:noMultiLvlLbl val="0"/>
      </c:catAx>
      <c:valAx>
        <c:axId val="20652904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534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53044851520099"/>
          <c:y val="0.141098426505092"/>
          <c:w val="0.82268276961735998"/>
          <c:h val="0.644390554788509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 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2E-D94E-822E-B35B1BF88CC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CN" sz="1000" b="0" i="0" u="none" strike="noStrike" kern="1200" baseline="0">
                    <a:solidFill>
                      <a:schemeClr val="accent1"/>
                    </a:solidFill>
                    <a:latin typeface="+mj-ea"/>
                    <a:ea typeface="+mj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Python</c:v>
                </c:pt>
                <c:pt idx="1">
                  <c:v>Kubernetes</c:v>
                </c:pt>
                <c:pt idx="2">
                  <c:v>大模型微调</c:v>
                </c:pt>
                <c:pt idx="3">
                  <c:v>RAG</c:v>
                </c:pt>
                <c:pt idx="4">
                  <c:v>MLOps</c:v>
                </c:pt>
                <c:pt idx="5">
                  <c:v>AI 治理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31.25</c:v>
                </c:pt>
                <c:pt idx="1">
                  <c:v>5.0</c:v>
                </c:pt>
                <c:pt idx="2">
                  <c:v>4.2</c:v>
                </c:pt>
                <c:pt idx="3">
                  <c:v>3.8</c:v>
                </c:pt>
                <c:pt idx="4">
                  <c:v>3.5</c:v>
                </c:pt>
                <c:pt idx="5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2E-D94E-822E-B35B1BF88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7"/>
        <c:overlap val="-100"/>
        <c:axId val="1819357151"/>
        <c:axId val="1819339391"/>
      </c:barChart>
      <c:catAx>
        <c:axId val="181935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19339391"/>
        <c:crosses val="autoZero"/>
        <c:auto val="1"/>
        <c:lblAlgn val="ctr"/>
        <c:lblOffset val="100"/>
        <c:noMultiLvlLbl val="0"/>
      </c:catAx>
      <c:valAx>
        <c:axId val="1819339391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819357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岗位数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AB-C244-838D-39EFA3E5C9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AB-C244-838D-39EFA3E5C9D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AB-C244-838D-39EFA3E5C9D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AB-C244-838D-39EFA3E5C9D9}"/>
              </c:ext>
            </c:extLst>
          </c:dPt>
          <c:cat>
            <c:strRef>
              <c:f>Sheet1!$A$2:$A$6</c:f>
              <c:strCache>
                <c:ptCount val="5"/>
                <c:pt idx="0">
                  <c:v>互联网/IT</c:v>
                </c:pt>
                <c:pt idx="1">
                  <c:v>AI/机器学习</c:v>
                </c:pt>
                <c:pt idx="2">
                  <c:v>云计算/DevOps</c:v>
                </c:pt>
                <c:pt idx="3">
                  <c:v>数据科学</c:v>
                </c:pt>
                <c:pt idx="4">
                  <c:v>嵌入式与物联网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41</c:v>
                </c:pt>
                <c:pt idx="2">
                  <c:v>22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AB-C244-838D-39EFA3E5C9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2524432"/>
        <c:axId val="1062522992"/>
      </c:barChart>
      <c:catAx>
        <c:axId val="10625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2522992"/>
        <c:crosses val="autoZero"/>
        <c:auto val="1"/>
        <c:lblAlgn val="ctr"/>
        <c:lblOffset val="100"/>
        <c:noMultiLvlLbl val="0"/>
      </c:catAx>
      <c:valAx>
        <c:axId val="106252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2524432"/>
        <c:crosses val="autoZero"/>
        <c:crossBetween val="between"/>
        <c:dispUnits>
          <c:builtInUnit val="millions"/>
        </c:dispUnits>
      </c:valAx>
      <c:catAx>
        <c:axId val="1058034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8033776"/>
        <c:crosses val="autoZero"/>
        <c:auto val="1"/>
        <c:lblAlgn val="ctr"/>
        <c:lblOffset val="100"/>
        <c:noMultiLvlLbl val="0"/>
      </c:catAx>
      <c:valAx>
        <c:axId val="1058033776"/>
        <c:scaling>
          <c:orientation val="minMax"/>
          <c:min val="0.01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5803425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20567685589519599"/>
          <c:y val="0.107937868601565"/>
          <c:w val="0.28296943231441002"/>
          <c:h val="8.2986919437812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岗位引用数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Python</c:v>
                </c:pt>
                <c:pt idx="1">
                  <c:v>SQL</c:v>
                </c:pt>
                <c:pt idx="2">
                  <c:v>Java</c:v>
                </c:pt>
                <c:pt idx="3">
                  <c:v>Kubernetes</c:v>
                </c:pt>
                <c:pt idx="4">
                  <c:v>Docker</c:v>
                </c:pt>
                <c:pt idx="5">
                  <c:v>Go</c:v>
                </c:pt>
                <c:pt idx="6">
                  <c:v>C++</c:v>
                </c:pt>
                <c:pt idx="7">
                  <c:v>Linux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164</c:v>
                </c:pt>
                <c:pt idx="1">
                  <c:v>83</c:v>
                </c:pt>
                <c:pt idx="2">
                  <c:v>53</c:v>
                </c:pt>
                <c:pt idx="3">
                  <c:v>51</c:v>
                </c:pt>
                <c:pt idx="4">
                  <c:v>47</c:v>
                </c:pt>
                <c:pt idx="5">
                  <c:v>42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6B-3744-95A2-4CF7D290C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68105040"/>
        <c:axId val="1068105520"/>
      </c:barChart>
      <c:catAx>
        <c:axId val="10681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8105520"/>
        <c:crosses val="autoZero"/>
        <c:auto val="1"/>
        <c:lblAlgn val="ctr"/>
        <c:lblOffset val="100"/>
        <c:noMultiLvlLbl val="0"/>
      </c:catAx>
      <c:valAx>
        <c:axId val="106810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8105040"/>
        <c:crosses val="autoZero"/>
        <c:crossBetween val="between"/>
        <c:dispUnits>
          <c:builtInUnit val="ten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E1-7B48-80CA-26B793D7A6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1-7B48-80CA-26B793D7A6B8}"/>
              </c:ext>
            </c:extLst>
          </c:dPt>
          <c:cat>
            <c:strRef>
              <c:f>Sheet1!$A$2:$A$5</c:f>
              <c:strCache>
                <c:ptCount val="4"/>
                <c:pt idx="0">
                  <c:v>新增技能</c:v>
                </c:pt>
                <c:pt idx="1">
                  <c:v>技能移除</c:v>
                </c:pt>
                <c:pt idx="2">
                  <c:v>技能升级</c:v>
                </c:pt>
                <c:pt idx="3">
                  <c:v>技能降级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</c:v>
                </c:pt>
                <c:pt idx="2">
                  <c:v>36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E1-7B48-80CA-26B793D7A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4B-3443-82EC-ED1226F489B7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4B-3443-82EC-ED1226F489B7}"/>
              </c:ext>
            </c:extLst>
          </c:dPt>
          <c:cat>
            <c:strRef>
              <c:f>Sheet1!$A$2:$A$3</c:f>
              <c:strCache>
                <c:ptCount val="2"/>
                <c:pt idx="0">
                  <c:v>涌现技能</c:v>
                </c:pt>
                <c:pt idx="1">
                  <c:v>其余技能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4B-3443-82EC-ED1226F48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C7-BF4A-8A5D-F2CDAE60D1A8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C7-BF4A-8A5D-F2CDAE60D1A8}"/>
              </c:ext>
            </c:extLst>
          </c:dPt>
          <c:cat>
            <c:strRef>
              <c:f>Sheet1!$A$2:$A$3</c:f>
              <c:strCache>
                <c:ptCount val="2"/>
                <c:pt idx="0">
                  <c:v>信任均值 0.639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0.639</c:v>
                </c:pt>
                <c:pt idx="1">
                  <c:v>0.361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BF4A-8A5D-F2CDAE60D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10-184C-B2F1-EC2772FED92B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10-184C-B2F1-EC2772FED92B}"/>
              </c:ext>
            </c:extLst>
          </c:dPt>
          <c:cat>
            <c:strRef>
              <c:f>Sheet1!$A$2:$A$3</c:f>
              <c:strCache>
                <c:ptCount val="2"/>
                <c:pt idx="0">
                  <c:v>CII 通胀均值 102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1.02</c:v>
                </c:pt>
                <c:pt idx="1">
                  <c:v>-0.020000000000000018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10-184C-B2F1-EC2772FED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AE-AA46-9A39-976B3169E04F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AE-AA46-9A39-976B3169E04F}"/>
              </c:ext>
            </c:extLst>
          </c:dPt>
          <c:cat>
            <c:strRef>
              <c:f>Sheet1!$A$2:$A$3</c:f>
              <c:strCache>
                <c:ptCount val="2"/>
                <c:pt idx="0">
                  <c:v>自动审核 90%</c:v>
                </c:pt>
                <c:pt idx="1">
                  <c:v>人工复核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AE-AA46-9A39-976B3169E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新增技能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3</c:v>
                </c:pt>
                <c:pt idx="9">
                  <c:v>4</c:v>
                </c:pt>
                <c:pt idx="10">
                  <c:v>2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B-FC49-BAB3-43E1D8556A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800"/>
        </c:scaling>
        <c:delete val="1"/>
        <c:axPos val="l"/>
        <c:numFmt formatCode="General" sourceLinked="1"/>
        <c:majorTickMark val="none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b"/>
        <c:majorTickMark val="out"/>
        <c:minorTickMark val="none"/>
        <c:tickLblPos val="nextTo"/>
        <c:crossAx val="1948413183"/>
        <c:crosses val="autoZero"/>
        <c:auto val="1"/>
        <c:lblAlgn val="ctr"/>
        <c:lblOffset val="100"/>
        <c:noMultiLvlLbl val="0"/>
      </c:catAx>
      <c:valAx>
        <c:axId val="1948413183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移除技能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C-B74E-99FC-96A6AC0E23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7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7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技能升级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5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5-004C-96E6-4298ED271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技能降级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2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9-464C-86F9-E222D0912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7D-8742-90F9-758D3ED9F0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7D-8742-90F9-758D3ED9F06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7D-8742-90F9-758D3ED9F0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7D-8742-90F9-758D3ED9F06E}"/>
              </c:ext>
            </c:extLst>
          </c:dPt>
          <c:cat>
            <c:strRef>
              <c:f>Sheet1!$A$2:$A$5</c:f>
              <c:strCache>
                <c:ptCount val="4"/>
                <c:pt idx="0">
                  <c:v>新增技能</c:v>
                </c:pt>
                <c:pt idx="1">
                  <c:v>技能移除</c:v>
                </c:pt>
                <c:pt idx="2">
                  <c:v>技能升级</c:v>
                </c:pt>
                <c:pt idx="3">
                  <c:v>技能降级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</c:v>
                </c:pt>
                <c:pt idx="2">
                  <c:v>36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7D-8742-90F9-758D3ED9F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841090229618402E-2"/>
          <c:y val="1.12733991079648E-2"/>
          <c:w val="0.94596739611129199"/>
          <c:h val="0.963267131320859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F5-8641-AB45-899BF1602A4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F5-8641-AB45-899BF1602A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F5-8641-AB45-899BF1602A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F5-8641-AB45-899BF1602A4B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服务收入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0.36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F5-8641-AB45-899BF1602A4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3"/>
        <c:holeSize val="4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429312560423001E-2"/>
          <c:y val="6.6878661782303894E-2"/>
          <c:w val="0.92169335113919004"/>
          <c:h val="0.667992077550662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核心业务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0.45</c:v>
                </c:pt>
                <c:pt idx="1">
                  <c:v>0.48</c:v>
                </c:pt>
                <c:pt idx="2">
                  <c:v>0.52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2-2D4D-9A5D-D915B804D0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新兴业务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0.25</c:v>
                </c:pt>
                <c:pt idx="1">
                  <c:v>0.28000000000000003</c:v>
                </c:pt>
                <c:pt idx="2">
                  <c:v>0.32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D2-2D4D-9A5D-D915B804D0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投资收入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D2-2D4D-9A5D-D915B804D0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其他收入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80703057276253E-3"/>
                  <c:y val="-2.46598815870146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D2-2D4D-9A5D-D915B804D0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D2-2D4D-9A5D-D915B804D0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4"/>
        <c:overlap val="100"/>
        <c:axId val="1805540784"/>
        <c:axId val="1805516304"/>
      </c:barChart>
      <c:catAx>
        <c:axId val="180554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05516304"/>
        <c:crosses val="autoZero"/>
        <c:auto val="1"/>
        <c:lblAlgn val="ctr"/>
        <c:lblOffset val="100"/>
        <c:noMultiLvlLbl val="0"/>
      </c:catAx>
      <c:valAx>
        <c:axId val="1805516304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80554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13526152020818899"/>
          <c:y val="0.84459675094826203"/>
          <c:w val="0.70702049397549305"/>
          <c:h val="0.110555864788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59</c:v>
                </c:pt>
                <c:pt idx="2">
                  <c:v>80</c:v>
                </c:pt>
                <c:pt idx="3">
                  <c:v>81</c:v>
                </c:pt>
                <c:pt idx="4">
                  <c:v>78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F0-9243-A3FB-7CAD7CB34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53583"/>
        <c:axId val="1624482592"/>
      </c:lineChart>
      <c:catAx>
        <c:axId val="103185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24482592"/>
        <c:crosses val="autoZero"/>
        <c:auto val="1"/>
        <c:lblAlgn val="ctr"/>
        <c:lblOffset val="100"/>
        <c:noMultiLvlLbl val="0"/>
      </c:catAx>
      <c:valAx>
        <c:axId val="1624482592"/>
        <c:scaling>
          <c:orientation val="minMax"/>
          <c:max val="100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31853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63073148126197E-3"/>
          <c:y val="7.8663778557031994E-2"/>
          <c:w val="0.971502712197163"/>
          <c:h val="0.73952445876500095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95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DD-5447-AD06-8050865E4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909889728"/>
        <c:axId val="909890688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营收金额（折现）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3023350167039497E-2"/>
                  <c:y val="-8.5719121646388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DD-5447-AD06-8050865E450F}"/>
                </c:ext>
              </c:extLst>
            </c:dLbl>
            <c:dLbl>
              <c:idx val="1"/>
              <c:layout>
                <c:manualLayout>
                  <c:x val="-4.8063377741222199E-2"/>
                  <c:y val="-9.89066788227561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4DD-5447-AD06-8050865E450F}"/>
                </c:ext>
              </c:extLst>
            </c:dLbl>
            <c:dLbl>
              <c:idx val="2"/>
              <c:layout>
                <c:manualLayout>
                  <c:x val="-5.9261391363161803E-2"/>
                  <c:y val="-8.5719121646388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DD-5447-AD06-8050865E450F}"/>
                </c:ext>
              </c:extLst>
            </c:dLbl>
            <c:dLbl>
              <c:idx val="3"/>
              <c:layout>
                <c:manualLayout>
                  <c:x val="-5.6142370765100702E-2"/>
                  <c:y val="-6.59377858818373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4DD-5447-AD06-8050865E45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4DD-5447-AD06-8050865E4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2543120"/>
        <c:axId val="892538320"/>
      </c:lineChart>
      <c:catAx>
        <c:axId val="90988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909890688"/>
        <c:crosses val="autoZero"/>
        <c:auto val="1"/>
        <c:lblAlgn val="ctr"/>
        <c:lblOffset val="100"/>
        <c:noMultiLvlLbl val="0"/>
      </c:catAx>
      <c:valAx>
        <c:axId val="909890688"/>
        <c:scaling>
          <c:orientation val="minMax"/>
          <c:max val="65"/>
          <c:min val="45"/>
        </c:scaling>
        <c:delete val="1"/>
        <c:axPos val="l"/>
        <c:numFmt formatCode="General" sourceLinked="1"/>
        <c:majorTickMark val="none"/>
        <c:minorTickMark val="none"/>
        <c:tickLblPos val="nextTo"/>
        <c:crossAx val="909889728"/>
        <c:crosses val="autoZero"/>
        <c:crossBetween val="between"/>
        <c:majorUnit val="5"/>
      </c:valAx>
      <c:catAx>
        <c:axId val="8925431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2538320"/>
        <c:crosses val="autoZero"/>
        <c:auto val="1"/>
        <c:lblAlgn val="ctr"/>
        <c:lblOffset val="100"/>
        <c:noMultiLvlLbl val="0"/>
      </c:catAx>
      <c:valAx>
        <c:axId val="892538320"/>
        <c:scaling>
          <c:orientation val="minMax"/>
          <c:max val="65"/>
          <c:min val="45"/>
        </c:scaling>
        <c:delete val="1"/>
        <c:axPos val="r"/>
        <c:numFmt formatCode="General" sourceLinked="1"/>
        <c:majorTickMark val="out"/>
        <c:minorTickMark val="none"/>
        <c:tickLblPos val="nextTo"/>
        <c:crossAx val="892543120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C-F548-A425-B77564D784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财务部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AC-F548-A425-B77564D784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C-F548-A425-B77564D784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生产部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Sheet1!$E$2</c:f>
              <c:numCache>
                <c:formatCode>#,##0</c:formatCode>
                <c:ptCount val="1"/>
                <c:pt idx="0">
                  <c:v>1256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C-F548-A425-B77564D784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市场部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632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C-F548-A425-B77564D7849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研发部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C-F548-A425-B77564D78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27748847"/>
        <c:axId val="1627752687"/>
      </c:barChart>
      <c:catAx>
        <c:axId val="1627748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7752687"/>
        <c:crosses val="autoZero"/>
        <c:auto val="1"/>
        <c:lblAlgn val="ctr"/>
        <c:lblOffset val="100"/>
        <c:noMultiLvlLbl val="0"/>
      </c:catAx>
      <c:valAx>
        <c:axId val="1627752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7748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FC-FB42-B1CE-3AFE251C28C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4FC-FB42-B1CE-3AFE251C28C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4FC-FB42-B1CE-3AFE251C28C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4FC-FB42-B1CE-3AFE251C28C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4FC-FB42-B1CE-3AFE251C28C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4FC-FB42-B1CE-3AFE251C28C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4FC-FB42-B1CE-3AFE251C28C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4FC-FB42-B1CE-3AFE251C28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1042</c:v>
                </c:pt>
                <c:pt idx="1">
                  <c:v>2150</c:v>
                </c:pt>
                <c:pt idx="2">
                  <c:v>1567</c:v>
                </c:pt>
                <c:pt idx="3">
                  <c:v>1300</c:v>
                </c:pt>
                <c:pt idx="4">
                  <c:v>987</c:v>
                </c:pt>
                <c:pt idx="5">
                  <c:v>801</c:v>
                </c:pt>
                <c:pt idx="6">
                  <c:v>654</c:v>
                </c:pt>
                <c:pt idx="7">
                  <c:v>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4FC-FB42-B1CE-3AFE251C28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overlap val="-27"/>
        <c:axId val="1118122719"/>
        <c:axId val="1118132799"/>
      </c:barChart>
      <c:catAx>
        <c:axId val="111812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118132799"/>
        <c:crosses val="autoZero"/>
        <c:auto val="1"/>
        <c:lblAlgn val="ctr"/>
        <c:lblOffset val="100"/>
        <c:noMultiLvlLbl val="0"/>
      </c:catAx>
      <c:valAx>
        <c:axId val="1118132799"/>
        <c:scaling>
          <c:orientation val="minMax"/>
        </c:scaling>
        <c:delete val="1"/>
        <c:axPos val="l"/>
        <c:numFmt formatCode="_ * #,##0_ ;_ * \-#,##0_ ;_ * &quot;-&quot;??_ ;_ @_ " sourceLinked="1"/>
        <c:majorTickMark val="none"/>
        <c:minorTickMark val="none"/>
        <c:tickLblPos val="nextTo"/>
        <c:crossAx val="1118122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691117956311995E-2"/>
          <c:y val="4.9627529040867702E-2"/>
          <c:w val="0.54969876897130598"/>
          <c:h val="0.7779677885950220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D3-204B-A39E-40D6693F31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D3-204B-A39E-40D6693F31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D3-204B-A39E-40D6693F310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ED3-204B-A39E-40D6693F3106}"/>
              </c:ext>
            </c:extLst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ED3-204B-A39E-40D6693F3106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ED3-204B-A39E-40D6693F310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ED3-204B-A39E-40D6693F3106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ED3-204B-A39E-40D6693F31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0A6CD34-4145-42A1-96C1-A0BDF299278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ED3-204B-A39E-40D6693F31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299363B-CD40-4CAA-9F69-97DC186BC63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ED3-204B-A39E-40D6693F31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1697958-87C6-4736-865E-1C8CD81A11C5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3ED3-204B-A39E-40D6693F31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2E7492B-42E0-4FC4-BFF4-C819FFAC6DA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3ED3-204B-A39E-40D6693F31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20A0B8A-32EC-4B91-9B03-0DB05883646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3ED3-204B-A39E-40D6693F31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3B5B4C7A-5FE3-478F-813A-4136B519ED81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3ED3-204B-A39E-40D6693F3106}"/>
                </c:ext>
              </c:extLst>
            </c:dLbl>
            <c:dLbl>
              <c:idx val="6"/>
              <c:layout>
                <c:manualLayout>
                  <c:x val="0"/>
                  <c:y val="-2.4338104176667801E-2"/>
                </c:manualLayout>
              </c:layout>
              <c:tx>
                <c:rich>
                  <a:bodyPr/>
                  <a:lstStyle/>
                  <a:p>
                    <a:fld id="{295F2F19-6A6F-4CC3-8752-869B764D4B7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3ED3-204B-A39E-40D6693F3106}"/>
                </c:ext>
              </c:extLst>
            </c:dLbl>
            <c:dLbl>
              <c:idx val="7"/>
              <c:layout>
                <c:manualLayout>
                  <c:x val="0.16576408104759999"/>
                  <c:y val="-8.9728892192775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2C7EFDF3-22A2-44E0-B86C-744B7874E89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3ED3-204B-A39E-40D6693F3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</c:v>
                </c:pt>
                <c:pt idx="1">
                  <c:v>167</c:v>
                </c:pt>
                <c:pt idx="2">
                  <c:v>98</c:v>
                </c:pt>
                <c:pt idx="3">
                  <c:v>75</c:v>
                </c:pt>
                <c:pt idx="4">
                  <c:v>45</c:v>
                </c:pt>
                <c:pt idx="5">
                  <c:v>31</c:v>
                </c:pt>
                <c:pt idx="6">
                  <c:v>24</c:v>
                </c:pt>
                <c:pt idx="7">
                  <c:v>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126</c:v>
                  </c:pt>
                  <c:pt idx="1">
                    <c:v>167</c:v>
                  </c:pt>
                  <c:pt idx="2">
                    <c:v>98</c:v>
                  </c:pt>
                  <c:pt idx="3">
                    <c:v>75</c:v>
                  </c:pt>
                  <c:pt idx="4">
                    <c:v>45</c:v>
                  </c:pt>
                  <c:pt idx="5">
                    <c:v>31</c:v>
                  </c:pt>
                  <c:pt idx="6">
                    <c:v>24</c:v>
                  </c:pt>
                  <c:pt idx="7">
                    <c:v>4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0-3ED3-204B-A39E-40D6693F310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1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2566578543934002"/>
          <c:y val="2.9836216057208001E-2"/>
          <c:w val="0.16062306094390999"/>
          <c:h val="0.8446951716478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043046085472"/>
          <c:y val="4.0032975061724999E-2"/>
          <c:w val="0.53586592274065803"/>
          <c:h val="0.8150884494703759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A3-1D47-9881-3450EA1415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A3-1D47-9881-3450EA1415E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A3-1D47-9881-3450EA1415E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A3-1D47-9881-3450EA1415E1}"/>
              </c:ext>
            </c:extLst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0A3-1D47-9881-3450EA1415E1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0A3-1D47-9881-3450EA1415E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0A3-1D47-9881-3450EA1415E1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0A3-1D47-9881-3450EA1415E1}"/>
              </c:ext>
            </c:extLst>
          </c:dPt>
          <c:dLbls>
            <c:dLbl>
              <c:idx val="5"/>
              <c:layout>
                <c:manualLayout>
                  <c:x val="9.4864904479465204E-2"/>
                  <c:y val="0.11937682358552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A3-1D47-9881-3450EA1415E1}"/>
                </c:ext>
              </c:extLst>
            </c:dLbl>
            <c:dLbl>
              <c:idx val="6"/>
              <c:layout>
                <c:manualLayout>
                  <c:x val="7.6233355094926597E-2"/>
                  <c:y val="6.178401452506650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A3-1D47-9881-3450EA1415E1}"/>
                </c:ext>
              </c:extLst>
            </c:dLbl>
            <c:dLbl>
              <c:idx val="7"/>
              <c:layout>
                <c:manualLayout>
                  <c:x val="0.215993763055017"/>
                  <c:y val="1.87224286439596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A3-1D47-9881-3450EA1415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 formatCode="General">
                  <c:v>856</c:v>
                </c:pt>
                <c:pt idx="1">
                  <c:v>1024</c:v>
                </c:pt>
                <c:pt idx="2" formatCode="General">
                  <c:v>732</c:v>
                </c:pt>
                <c:pt idx="3" formatCode="General">
                  <c:v>645</c:v>
                </c:pt>
                <c:pt idx="4" formatCode="General">
                  <c:v>432</c:v>
                </c:pt>
                <c:pt idx="5" formatCode="General">
                  <c:v>358</c:v>
                </c:pt>
                <c:pt idx="6" formatCode="General">
                  <c:v>298</c:v>
                </c:pt>
                <c:pt idx="7" formatCode="General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0A3-1D47-9881-3450EA1415E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4742660114411197"/>
          <c:y val="3.1748521517819899E-3"/>
          <c:w val="0.15743633958630199"/>
          <c:h val="0.889833691762189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0.16200000000000001</c:v>
                </c:pt>
                <c:pt idx="1">
                  <c:v>0.16800000000000001</c:v>
                </c:pt>
                <c:pt idx="2">
                  <c:v>0.17499999999999999</c:v>
                </c:pt>
                <c:pt idx="3">
                  <c:v>0.17899999999999999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68-3345-827C-99BFE1459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5347808"/>
        <c:axId val="1115333888"/>
      </c:lineChart>
      <c:catAx>
        <c:axId val="111534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115333888"/>
        <c:crosses val="autoZero"/>
        <c:auto val="1"/>
        <c:lblAlgn val="ctr"/>
        <c:lblOffset val="100"/>
        <c:noMultiLvlLbl val="0"/>
      </c:catAx>
      <c:valAx>
        <c:axId val="111533388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534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1847374369405"/>
          <c:y val="9.6304980696106296E-2"/>
          <c:w val="0.86014917457848405"/>
          <c:h val="0.643055804287254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单位（万）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CC7-CC4E-B2A7-550F84A911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C7-CC4E-B2A7-550F84A9111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CC7-CC4E-B2A7-550F84A9111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C7-CC4E-B2A7-550F84A911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156</c:v>
                </c:pt>
                <c:pt idx="1">
                  <c:v>220</c:v>
                </c:pt>
                <c:pt idx="2">
                  <c:v>360</c:v>
                </c:pt>
                <c:pt idx="3">
                  <c:v>560</c:v>
                </c:pt>
                <c:pt idx="4">
                  <c:v>480</c:v>
                </c:pt>
                <c:pt idx="5">
                  <c:v>724</c:v>
                </c:pt>
                <c:pt idx="6">
                  <c:v>560</c:v>
                </c:pt>
                <c:pt idx="7">
                  <c:v>620</c:v>
                </c:pt>
                <c:pt idx="8">
                  <c:v>510</c:v>
                </c:pt>
                <c:pt idx="9">
                  <c:v>840</c:v>
                </c:pt>
                <c:pt idx="10">
                  <c:v>640</c:v>
                </c:pt>
                <c:pt idx="11">
                  <c:v>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C7-CC4E-B2A7-550F84A911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100"/>
        <c:axId val="74092863"/>
        <c:axId val="2080601984"/>
      </c:barChart>
      <c:catAx>
        <c:axId val="7409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2080601984"/>
        <c:crosses val="autoZero"/>
        <c:auto val="1"/>
        <c:lblAlgn val="ctr"/>
        <c:lblOffset val="100"/>
        <c:noMultiLvlLbl val="0"/>
      </c:catAx>
      <c:valAx>
        <c:axId val="208060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4.6231319451625799E-2"/>
              <c:y val="0.551047097650137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4092863"/>
        <c:crossesAt val="1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065462753950296E-2"/>
          <c:y val="7.0818505338078305E-2"/>
          <c:w val="0.92238563339740098"/>
          <c:h val="0.382265867251073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D7A-2948-84E8-313F25D44FB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7A-2948-84E8-313F25D44FB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D7A-2948-84E8-313F25D44FB2}"/>
              </c:ext>
            </c:extLst>
          </c:dPt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7A-2948-84E8-313F25D44F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7A-2948-84E8-313F25D44F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D7A-2948-84E8-313F25D44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4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50372516481144702"/>
          <c:y val="1.28700128700129E-2"/>
          <c:w val="0.49106559747367201"/>
          <c:h val="0.110587698329539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>
          <a:solidFill>
            <a:schemeClr val="tx1">
              <a:lumMod val="85000"/>
              <a:lumOff val="1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598-BA40-9236-1F850AD112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98-BA40-9236-1F850AD112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598-BA40-9236-1F850AD112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598-BA40-9236-1F850AD112C7}"/>
              </c:ext>
            </c:extLst>
          </c:dPt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98-BA40-9236-1F850AD11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产品各平台售额</a:t>
            </a:r>
          </a:p>
        </c:rich>
      </c:tx>
      <c:layout>
        <c:manualLayout>
          <c:xMode val="edge"/>
          <c:yMode val="edge"/>
          <c:x val="0.82006290349279898"/>
          <c:y val="9.0105406324379501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61-134A-A54B-AD53925CE2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61-134A-A54B-AD53925CE2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61-134A-A54B-AD53925CE2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8.0178541907753406E-2"/>
              <c:y val="0.592043522611356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b="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制度趋势变化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JD 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jobicy</c:v>
                </c:pt>
                <c:pt idx="1">
                  <c:v>apify-lagou</c:v>
                </c:pt>
                <c:pt idx="2">
                  <c:v>seed-demo</c:v>
                </c:pt>
                <c:pt idx="3">
                  <c:v>remoteok</c:v>
                </c:pt>
                <c:pt idx="4">
                  <c:v>themuse</c:v>
                </c:pt>
                <c:pt idx="5">
                  <c:v>landingjobs</c:v>
                </c:pt>
                <c:pt idx="6">
                  <c:v>remotive</c:v>
                </c:pt>
                <c:pt idx="7">
                  <c:v>v2ex</c:v>
                </c:pt>
                <c:pt idx="8">
                  <c:v>juejin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</c:v>
                </c:pt>
                <c:pt idx="1">
                  <c:v>205</c:v>
                </c:pt>
                <c:pt idx="2">
                  <c:v>154</c:v>
                </c:pt>
                <c:pt idx="3">
                  <c:v>52</c:v>
                </c:pt>
                <c:pt idx="4">
                  <c:v>21</c:v>
                </c:pt>
                <c:pt idx="5">
                  <c:v>16</c:v>
                </c:pt>
                <c:pt idx="6">
                  <c:v>15</c:v>
                </c:pt>
                <c:pt idx="7">
                  <c:v>10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F-C04F-8281-8215304AB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640540"/>
        <c:axId val="153077648"/>
      </c:barChart>
      <c:catAx>
        <c:axId val="9376405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153077648"/>
        <c:crosses val="autoZero"/>
        <c:auto val="1"/>
        <c:lblAlgn val="ctr"/>
        <c:lblOffset val="100"/>
        <c:noMultiLvlLbl val="0"/>
      </c:catAx>
      <c:valAx>
        <c:axId val="15307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9376405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E957-BD4F-A0C6-6DEC5E661E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E957-BD4F-A0C6-6DEC5E661E7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E957-BD4F-A0C6-6DEC5E661E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0.64</c:v>
                </c:pt>
                <c:pt idx="1">
                  <c:v>0.82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57-BD4F-A0C6-6DEC5E661E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</c:v>
                </c:pt>
                <c:pt idx="1">
                  <c:v>0.12</c:v>
                </c:pt>
                <c:pt idx="2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957-BD4F-A0C6-6DEC5E661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Bold" panose="020B0800000000000000" pitchFamily="34" charset="-122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4F0C-8841-A338-3175A063CBD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4F0C-8841-A338-3175A063CB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4F0C-8841-A338-3175A063CB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0.34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0C-8841-A338-3175A063CB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0.62</c:v>
                </c:pt>
                <c:pt idx="1">
                  <c:v>0.66</c:v>
                </c:pt>
                <c:pt idx="2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F0C-8841-A338-3175A063CB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D2C8-8D44-B999-EB22B39804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D2C8-8D44-B999-EB22B39804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D2C8-8D44-B999-EB22B3980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C8-8D44-B999-EB22B39804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C8-8D44-B999-EB22B39804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E23C-EE4E-B13E-8029D58B573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E23C-EE4E-B13E-8029D58B573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E23C-EE4E-B13E-8029D58B57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</c:v>
                </c:pt>
                <c:pt idx="1">
                  <c:v>0.72</c:v>
                </c:pt>
                <c:pt idx="2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3C-EE4E-B13E-8029D58B57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0.28000000000000003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23C-EE4E-B13E-8029D58B5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A-FC4F-BB08-260AAE79E3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D3A-FC4F-BB08-260AAE79E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643391408"/>
        <c:crosses val="autoZero"/>
        <c:auto val="0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67-3249-B5D8-85C3DDBFB3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67-3249-B5D8-85C3DDBFB3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67-3249-B5D8-85C3DDBFB3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01"/>
          <c:y val="0.12802379148211701"/>
          <c:w val="0.50232461598815004"/>
          <c:h val="0.7534867647198699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14-E142-817A-E0C87102EF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14-E142-817A-E0C87102EF8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514-E142-817A-E0C87102EF8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14-E142-817A-E0C87102EF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14-E142-817A-E0C87102E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75-074C-84E6-E7EC96E4CB1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C75-074C-84E6-E7EC96E4CB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75-074C-84E6-E7EC96E4CB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56-4C42-BDEC-07E07844AAB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D56-4C42-BDEC-07E07844AA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56-4C42-BDEC-07E07844AA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D-BB41-977A-E0193E7608D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EBD-BB41-977A-E0193E7608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BD-BB41-977A-E0193E7608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4EA-4B43-A5FF-2A5BA037DB75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4EA-4B43-A5FF-2A5BA037DB75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4EA-4B43-A5FF-2A5BA037DB7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4EA-4B43-A5FF-2A5BA037DB75}"/>
              </c:ext>
            </c:extLst>
          </c:dPt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EA-4B43-A5FF-2A5BA037DB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94EA-4B43-A5FF-2A5BA037DB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94EA-4B43-A5FF-2A5BA037DB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94EA-4B43-A5FF-2A5BA037DB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94EA-4B43-A5FF-2A5BA037DB75}"/>
              </c:ext>
            </c:extLst>
          </c:dPt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4EA-4B43-A5FF-2A5BA037D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1.220879148345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6C-6C4B-B839-60DA39DD6C0D}"/>
                </c:ext>
              </c:extLst>
            </c:dLbl>
            <c:dLbl>
              <c:idx val="6"/>
              <c:layout>
                <c:manualLayout>
                  <c:x val="-6.8015912592905495E-17"/>
                  <c:y val="-3.66263744503641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6C-6C4B-B839-60DA39DD6C0D}"/>
                </c:ext>
              </c:extLst>
            </c:dLbl>
            <c:dLbl>
              <c:idx val="7"/>
              <c:layout>
                <c:manualLayout>
                  <c:x val="0"/>
                  <c:y val="3.052197870863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6C-6C4B-B839-60DA39DD6C0D}"/>
                </c:ext>
              </c:extLst>
            </c:dLbl>
            <c:dLbl>
              <c:idx val="11"/>
              <c:layout>
                <c:manualLayout>
                  <c:x val="0"/>
                  <c:y val="1.83131872251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6C-6C4B-B839-60DA39DD6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6C-6C4B-B839-60DA39DD6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26C-6C4B-B839-60DA39DD6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6193212687252799E-2"/>
                  <c:y val="0.1548382383194550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6C-6C4B-B839-60DA39DD6C0D}"/>
                </c:ext>
              </c:extLst>
            </c:dLbl>
            <c:dLbl>
              <c:idx val="3"/>
              <c:layout>
                <c:manualLayout>
                  <c:x val="-3.8134646211193099E-2"/>
                  <c:y val="7.54810936769994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6C-6C4B-B839-60DA39DD6C0D}"/>
                </c:ext>
              </c:extLst>
            </c:dLbl>
            <c:dLbl>
              <c:idx val="4"/>
              <c:layout>
                <c:manualLayout>
                  <c:x val="-4.1546677412322902E-2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26C-6C4B-B839-60DA39DD6C0D}"/>
                </c:ext>
              </c:extLst>
            </c:dLbl>
            <c:dLbl>
              <c:idx val="5"/>
              <c:layout>
                <c:manualLayout>
                  <c:x val="-3.5722376840501897E-2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6C-6C4B-B839-60DA39DD6C0D}"/>
                </c:ext>
              </c:extLst>
            </c:dLbl>
            <c:dLbl>
              <c:idx val="6"/>
              <c:layout>
                <c:manualLayout>
                  <c:x val="-3.7663810364442302E-2"/>
                  <c:y val="0.182765608507316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26C-6C4B-B839-60DA39DD6C0D}"/>
                </c:ext>
              </c:extLst>
            </c:dLbl>
            <c:dLbl>
              <c:idx val="7"/>
              <c:layout>
                <c:manualLayout>
                  <c:x val="-3.6193212687252799E-2"/>
                  <c:y val="0.191464612769818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26C-6C4B-B839-60DA39DD6C0D}"/>
                </c:ext>
              </c:extLst>
            </c:dLbl>
            <c:dLbl>
              <c:idx val="8"/>
              <c:layout>
                <c:manualLayout>
                  <c:x val="-3.6193212687252799E-2"/>
                  <c:y val="9.98986766439090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26C-6C4B-B839-60DA39DD6C0D}"/>
                </c:ext>
              </c:extLst>
            </c:dLbl>
            <c:dLbl>
              <c:idx val="10"/>
              <c:layout>
                <c:manualLayout>
                  <c:x val="-3.6193212687252903E-2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26C-6C4B-B839-60DA39DD6C0D}"/>
                </c:ext>
              </c:extLst>
            </c:dLbl>
            <c:dLbl>
              <c:idx val="11"/>
              <c:layout>
                <c:manualLayout>
                  <c:x val="-2.6831784139830301E-2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26C-6C4B-B839-60DA39DD6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0.10299999999999999</c:v>
                </c:pt>
                <c:pt idx="3">
                  <c:v>0.111</c:v>
                </c:pt>
                <c:pt idx="4">
                  <c:v>0.17299999999999999</c:v>
                </c:pt>
                <c:pt idx="5">
                  <c:v>0.188</c:v>
                </c:pt>
                <c:pt idx="6">
                  <c:v>0.2</c:v>
                </c:pt>
                <c:pt idx="7">
                  <c:v>0.19500000000000001</c:v>
                </c:pt>
                <c:pt idx="8">
                  <c:v>0.154</c:v>
                </c:pt>
                <c:pt idx="9">
                  <c:v>0.157</c:v>
                </c:pt>
                <c:pt idx="10">
                  <c:v>0.16500000000000001</c:v>
                </c:pt>
                <c:pt idx="11">
                  <c:v>0.23499999999999999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526C-6C4B-B839-60DA39DD6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  <a:endParaRPr lang="zh-CN"/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21096486628364999"/>
          <c:y val="8.5461540384182799E-2"/>
          <c:w val="0.56694026225330296"/>
          <c:h val="0.103103244077775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27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CD-4945-BC13-9689856AD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049839"/>
        <c:axId val="79505079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CD-4945-BC13-9689856AD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95049839"/>
        <c:axId val="795050799"/>
      </c:lineChart>
      <c:catAx>
        <c:axId val="795049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50799"/>
        <c:crosses val="autoZero"/>
        <c:auto val="1"/>
        <c:lblAlgn val="ctr"/>
        <c:lblOffset val="100"/>
        <c:noMultiLvlLbl val="0"/>
      </c:catAx>
      <c:valAx>
        <c:axId val="795050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49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700"/>
      </a:pPr>
      <a:endParaRPr lang="zh-CN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0.15</c:v>
                </c:pt>
                <c:pt idx="1">
                  <c:v>0.25</c:v>
                </c:pt>
                <c:pt idx="2">
                  <c:v>0.4</c:v>
                </c:pt>
                <c:pt idx="3">
                  <c:v>0.3</c:v>
                </c:pt>
                <c:pt idx="4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81-0D44-8422-99835D326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axId val="795079119"/>
        <c:axId val="795095919"/>
      </c:barChart>
      <c:catAx>
        <c:axId val="7950791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95919"/>
        <c:crosses val="autoZero"/>
        <c:auto val="1"/>
        <c:lblAlgn val="ctr"/>
        <c:lblOffset val="100"/>
        <c:noMultiLvlLbl val="0"/>
      </c:catAx>
      <c:valAx>
        <c:axId val="795095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79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/>
      </a:pPr>
      <a:endParaRPr lang="zh-CN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岗位</c:v>
                </c:pt>
                <c:pt idx="1">
                  <c:v>技能</c:v>
                </c:pt>
                <c:pt idx="2">
                  <c:v>关系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465</c:v>
                </c:pt>
                <c:pt idx="1">
                  <c:v>1275</c:v>
                </c:pt>
                <c:pt idx="2">
                  <c:v>2182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E6-D349-B2E0-42EDEDDF5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JD 解析</c:v>
                </c:pt>
                <c:pt idx="1">
                  <c:v>简历提取</c:v>
                </c:pt>
                <c:pt idx="2">
                  <c:v>人岗匹配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96.22</c:v>
                </c:pt>
                <c:pt idx="1">
                  <c:v>91.58</c:v>
                </c:pt>
                <c:pt idx="2">
                  <c:v>97.45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D-7240-962B-558963B21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1628827855477901E-3"/>
                  <c:y val="-8.470000889238940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DD-7046-822F-F52F75841E14}"/>
                </c:ext>
              </c:extLst>
            </c:dLbl>
            <c:dLbl>
              <c:idx val="4"/>
              <c:layout>
                <c:manualLayout>
                  <c:x val="9.7329725349650398E-4"/>
                  <c:y val="-3.98291708482068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DD-7046-822F-F52F75841E14}"/>
                </c:ext>
              </c:extLst>
            </c:dLbl>
            <c:dLbl>
              <c:idx val="5"/>
              <c:layout>
                <c:manualLayout>
                  <c:x val="0"/>
                  <c:y val="-4.48708380441825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DD-7046-822F-F52F75841E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涌现技能</c:v>
                </c:pt>
                <c:pt idx="1">
                  <c:v>信任均值</c:v>
                </c:pt>
                <c:pt idx="2">
                  <c:v>CII 通胀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0.639</c:v>
                </c:pt>
                <c:pt idx="2">
                  <c:v>1.02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DD-7046-822F-F52F75841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单测</c:v>
                </c:pt>
                <c:pt idx="1">
                  <c:v>覆盖率</c:v>
                </c:pt>
                <c:pt idx="2">
                  <c:v>测试数据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2676</c:v>
                </c:pt>
                <c:pt idx="1">
                  <c:v>75.36</c:v>
                </c:pt>
                <c:pt idx="2">
                  <c:v>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3F-1C41-B791-8C976B25A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面积图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8500</c:v>
                </c:pt>
                <c:pt idx="1">
                  <c:v>8200</c:v>
                </c:pt>
                <c:pt idx="2">
                  <c:v>8600</c:v>
                </c:pt>
                <c:pt idx="3">
                  <c:v>8400</c:v>
                </c:pt>
                <c:pt idx="4">
                  <c:v>9000</c:v>
                </c:pt>
                <c:pt idx="5">
                  <c:v>9200</c:v>
                </c:pt>
                <c:pt idx="6">
                  <c:v>8900</c:v>
                </c:pt>
                <c:pt idx="7">
                  <c:v>8700</c:v>
                </c:pt>
                <c:pt idx="8">
                  <c:v>8800</c:v>
                </c:pt>
                <c:pt idx="9">
                  <c:v>9100</c:v>
                </c:pt>
                <c:pt idx="10">
                  <c:v>9300</c:v>
                </c:pt>
                <c:pt idx="11">
                  <c:v>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0A-AE46-8E3D-C8BEB940A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4337599"/>
        <c:axId val="76433855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折线图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8500</c:v>
                </c:pt>
                <c:pt idx="1">
                  <c:v>8200</c:v>
                </c:pt>
                <c:pt idx="2">
                  <c:v>8600</c:v>
                </c:pt>
                <c:pt idx="3">
                  <c:v>8400</c:v>
                </c:pt>
                <c:pt idx="4">
                  <c:v>9000</c:v>
                </c:pt>
                <c:pt idx="5">
                  <c:v>9200</c:v>
                </c:pt>
                <c:pt idx="6">
                  <c:v>8900</c:v>
                </c:pt>
                <c:pt idx="7">
                  <c:v>8700</c:v>
                </c:pt>
                <c:pt idx="8">
                  <c:v>8800</c:v>
                </c:pt>
                <c:pt idx="9">
                  <c:v>9100</c:v>
                </c:pt>
                <c:pt idx="10">
                  <c:v>9300</c:v>
                </c:pt>
                <c:pt idx="11">
                  <c:v>9500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0A-AE46-8E3D-C8BEB940A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4337599"/>
        <c:axId val="764338559"/>
      </c:lineChart>
      <c:catAx>
        <c:axId val="764337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8559"/>
        <c:crosses val="autoZero"/>
        <c:auto val="1"/>
        <c:lblAlgn val="ctr"/>
        <c:lblOffset val="100"/>
        <c:noMultiLvlLbl val="0"/>
      </c:catAx>
      <c:valAx>
        <c:axId val="764338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276030980438497E-2"/>
          <c:y val="0.25464486648169399"/>
          <c:w val="0.89320691581355904"/>
          <c:h val="0.591753967850205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成本支出（万元）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75</c:v>
                </c:pt>
                <c:pt idx="2">
                  <c:v>82</c:v>
                </c:pt>
                <c:pt idx="3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73-EE47-94B1-5A369D2A31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64337599"/>
        <c:axId val="764338559"/>
      </c:lineChart>
      <c:catAx>
        <c:axId val="764337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8559"/>
        <c:crosses val="autoZero"/>
        <c:auto val="1"/>
        <c:lblAlgn val="ctr"/>
        <c:lblOffset val="100"/>
        <c:noMultiLvlLbl val="0"/>
      </c:catAx>
      <c:valAx>
        <c:axId val="764338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直接访问</c:v>
                </c:pt>
                <c:pt idx="1">
                  <c:v>付费搜索</c:v>
                </c:pt>
                <c:pt idx="2">
                  <c:v>自然搜索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0.88</c:v>
                </c:pt>
                <c:pt idx="1">
                  <c:v>0.77</c:v>
                </c:pt>
                <c:pt idx="2" formatCode="0%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46-B443-B666-435A6E9D00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07589967"/>
        <c:axId val="107590447"/>
      </c:barChart>
      <c:catAx>
        <c:axId val="107589967"/>
        <c:scaling>
          <c:orientation val="maxMin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07590447"/>
        <c:crosses val="autoZero"/>
        <c:auto val="1"/>
        <c:lblAlgn val="ctr"/>
        <c:lblOffset val="100"/>
        <c:noMultiLvlLbl val="0"/>
      </c:catAx>
      <c:valAx>
        <c:axId val="10759044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crossAx val="107589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53B-4540-83CA-8EDF11A330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53B-4540-83CA-8EDF11A3309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53B-4540-83CA-8EDF11A3309F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53B-4540-83CA-8EDF11A3309F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3B-4540-83CA-8EDF11A3309F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53B-4540-83CA-8EDF11A330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0.22</c:v>
                </c:pt>
                <c:pt idx="1">
                  <c:v>0.18</c:v>
                </c:pt>
                <c:pt idx="2">
                  <c:v>0.25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53B-4540-83CA-8EDF11A33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支出成本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5C-7846-9442-BE6E87298D8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5C-7846-9442-BE6E87298D8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5C-7846-9442-BE6E87298D8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5C-7846-9442-BE6E87298D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</c:v>
                </c:pt>
                <c:pt idx="1">
                  <c:v>850</c:v>
                </c:pt>
                <c:pt idx="2">
                  <c:v>830</c:v>
                </c:pt>
                <c:pt idx="3">
                  <c:v>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5C-7846-9442-BE6E87298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axId val="986049087"/>
        <c:axId val="986048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支出占比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4718246311922398E-2"/>
                  <c:y val="-7.37265804640921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5C-7846-9442-BE6E87298D84}"/>
                </c:ext>
              </c:extLst>
            </c:dLbl>
            <c:dLbl>
              <c:idx val="1"/>
              <c:layout>
                <c:manualLayout>
                  <c:x val="-6.4718246311922398E-2"/>
                  <c:y val="-5.36193312466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B5C-7846-9442-BE6E87298D84}"/>
                </c:ext>
              </c:extLst>
            </c:dLbl>
            <c:dLbl>
              <c:idx val="2"/>
              <c:layout>
                <c:manualLayout>
                  <c:x val="-6.4718246311922398E-2"/>
                  <c:y val="-6.03217476524390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B5C-7846-9442-BE6E87298D84}"/>
                </c:ext>
              </c:extLst>
            </c:dLbl>
            <c:dLbl>
              <c:idx val="3"/>
              <c:layout>
                <c:manualLayout>
                  <c:x val="-6.9696572951300995E-2"/>
                  <c:y val="-8.04289968699188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B5C-7846-9442-BE6E87298D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0.23</c:v>
                </c:pt>
                <c:pt idx="1">
                  <c:v>0.26</c:v>
                </c:pt>
                <c:pt idx="2">
                  <c:v>0.22</c:v>
                </c:pt>
                <c:pt idx="3">
                  <c:v>0.28999999999999998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B5C-7846-9442-BE6E87298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3017743"/>
        <c:axId val="1013019663"/>
      </c:lineChart>
      <c:catAx>
        <c:axId val="98604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986048607"/>
        <c:crosses val="autoZero"/>
        <c:auto val="1"/>
        <c:lblAlgn val="ctr"/>
        <c:lblOffset val="100"/>
        <c:noMultiLvlLbl val="0"/>
      </c:catAx>
      <c:valAx>
        <c:axId val="986048607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986049087"/>
        <c:crosses val="autoZero"/>
        <c:crossBetween val="between"/>
      </c:valAx>
      <c:catAx>
        <c:axId val="1013017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3019663"/>
        <c:crosses val="autoZero"/>
        <c:auto val="1"/>
        <c:lblAlgn val="ctr"/>
        <c:lblOffset val="100"/>
        <c:noMultiLvlLbl val="0"/>
      </c:catAx>
      <c:valAx>
        <c:axId val="101301966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01301774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1E-1742-B4FD-B7AF408E35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1E-1742-B4FD-B7AF408E35CC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21E-1742-B4FD-B7AF408E35CC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21E-1742-B4FD-B7AF408E35CC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1E-1742-B4FD-B7AF408E35CC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1E-1742-B4FD-B7AF408E35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0.23</c:v>
                </c:pt>
                <c:pt idx="1">
                  <c:v>0.2</c:v>
                </c:pt>
                <c:pt idx="2">
                  <c:v>0.26</c:v>
                </c:pt>
                <c:pt idx="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1E-1742-B4FD-B7AF408E3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92-9E45-81EE-46B44C4599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92-9E45-81EE-46B44C459903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92-9E45-81EE-46B44C459903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892-9E45-81EE-46B44C459903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92-9E45-81EE-46B44C459903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92-9E45-81EE-46B44C459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0.21</c:v>
                </c:pt>
                <c:pt idx="1">
                  <c:v>0.27</c:v>
                </c:pt>
                <c:pt idx="2">
                  <c:v>0.24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92-9E45-81EE-46B44C459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  <a:scene3d>
              <a:camera prst="orthographicFront"/>
              <a:lightRig rig="glow" dir="t"/>
            </a:scene3d>
          </c:spPr>
          <c:dPt>
            <c:idx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1-B27C-E149-8C3B-75C4CFE328C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3-B27C-E149-8C3B-75C4CFE328C9}"/>
              </c:ext>
            </c:extLst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5-B27C-E149-8C3B-75C4CFE328C9}"/>
              </c:ext>
            </c:extLst>
          </c:dPt>
          <c:dPt>
            <c:idx val="3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7-B27C-E149-8C3B-75C4CFE328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</c:v>
                </c:pt>
                <c:pt idx="1">
                  <c:v>0.28000000000000003</c:v>
                </c:pt>
                <c:pt idx="2">
                  <c:v>0.27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C-E149-8C3B-75C4CFE32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6048526981822"/>
          <c:y val="7.0759724257008202E-2"/>
          <c:w val="0.78790294603635702"/>
          <c:h val="6.12794460742282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成本支出（万元）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</c:v>
                </c:pt>
                <c:pt idx="1">
                  <c:v>4500</c:v>
                </c:pt>
                <c:pt idx="2">
                  <c:v>5100</c:v>
                </c:pt>
                <c:pt idx="3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4B-1845-95D9-538D8CB23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607279808"/>
        <c:axId val="33608144"/>
      </c:barChart>
      <c:catAx>
        <c:axId val="6072798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3608144"/>
        <c:crosses val="autoZero"/>
        <c:auto val="1"/>
        <c:lblAlgn val="ctr"/>
        <c:lblOffset val="100"/>
        <c:noMultiLvlLbl val="0"/>
      </c:catAx>
      <c:valAx>
        <c:axId val="33608144"/>
        <c:scaling>
          <c:orientation val="minMax"/>
        </c:scaling>
        <c:delete val="1"/>
        <c:axPos val="t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0727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月营收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 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2300</c:v>
                </c:pt>
                <c:pt idx="1">
                  <c:v>2300</c:v>
                </c:pt>
                <c:pt idx="2">
                  <c:v>2300</c:v>
                </c:pt>
                <c:pt idx="3">
                  <c:v>2800</c:v>
                </c:pt>
                <c:pt idx="4">
                  <c:v>2800</c:v>
                </c:pt>
                <c:pt idx="5">
                  <c:v>2800</c:v>
                </c:pt>
                <c:pt idx="6">
                  <c:v>3000</c:v>
                </c:pt>
                <c:pt idx="7">
                  <c:v>3200</c:v>
                </c:pt>
                <c:pt idx="8">
                  <c:v>3400</c:v>
                </c:pt>
                <c:pt idx="9">
                  <c:v>3690</c:v>
                </c:pt>
                <c:pt idx="10">
                  <c:v>3720</c:v>
                </c:pt>
                <c:pt idx="11">
                  <c:v>4120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27-4740-9EDE-25946531F4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 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1169</c:v>
                </c:pt>
                <c:pt idx="1">
                  <c:v>1138</c:v>
                </c:pt>
                <c:pt idx="2">
                  <c:v>1533</c:v>
                </c:pt>
                <c:pt idx="3">
                  <c:v>1763</c:v>
                </c:pt>
                <c:pt idx="4">
                  <c:v>2368</c:v>
                </c:pt>
                <c:pt idx="5">
                  <c:v>1775</c:v>
                </c:pt>
                <c:pt idx="6">
                  <c:v>2178</c:v>
                </c:pt>
                <c:pt idx="7">
                  <c:v>2018</c:v>
                </c:pt>
                <c:pt idx="8">
                  <c:v>2300</c:v>
                </c:pt>
                <c:pt idx="9">
                  <c:v>2103</c:v>
                </c:pt>
                <c:pt idx="10">
                  <c:v>2374</c:v>
                </c:pt>
                <c:pt idx="11">
                  <c:v>2778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7-4740-9EDE-25946531F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76216016"/>
        <c:axId val="376217936"/>
      </c:barChart>
      <c:catAx>
        <c:axId val="3762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7936"/>
        <c:crosses val="autoZero"/>
        <c:auto val="1"/>
        <c:lblAlgn val="ctr"/>
        <c:lblOffset val="100"/>
        <c:noMultiLvlLbl val="0"/>
      </c:catAx>
      <c:valAx>
        <c:axId val="37621793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最终成交数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2778</c:v>
                </c:pt>
                <c:pt idx="1">
                  <c:v>1069</c:v>
                </c:pt>
                <c:pt idx="2">
                  <c:v>1778</c:v>
                </c:pt>
                <c:pt idx="3">
                  <c:v>1314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3B-DA46-97CB-8401B6BFB0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实际成交数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2069</c:v>
                </c:pt>
                <c:pt idx="1">
                  <c:v>899</c:v>
                </c:pt>
                <c:pt idx="2">
                  <c:v>1234</c:v>
                </c:pt>
                <c:pt idx="3">
                  <c:v>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3B-DA46-97CB-8401B6BFB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216016"/>
        <c:axId val="376217936"/>
      </c:lineChart>
      <c:catAx>
        <c:axId val="3762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7936"/>
        <c:crosses val="autoZero"/>
        <c:auto val="1"/>
        <c:lblAlgn val="ctr"/>
        <c:lblOffset val="100"/>
        <c:noMultiLvlLbl val="0"/>
      </c:catAx>
      <c:valAx>
        <c:axId val="37621793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952161913523497E-2"/>
          <c:y val="0.12374323279195699"/>
          <c:w val="0.86517019319227195"/>
          <c:h val="0.7795823665893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</c:v>
                </c:pt>
                <c:pt idx="1">
                  <c:v>3600</c:v>
                </c:pt>
                <c:pt idx="2">
                  <c:v>3900</c:v>
                </c:pt>
                <c:pt idx="3">
                  <c:v>3400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2E-1841-9162-F505112B6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6000</c:v>
                </c:pt>
                <c:pt idx="2">
                  <c:v>2650</c:v>
                </c:pt>
                <c:pt idx="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2E-1841-9162-F505112B6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85936031"/>
        <c:axId val="1285944671"/>
      </c:barChart>
      <c:catAx>
        <c:axId val="128593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285944671"/>
        <c:crosses val="autoZero"/>
        <c:auto val="1"/>
        <c:lblAlgn val="ctr"/>
        <c:lblOffset val="100"/>
        <c:noMultiLvlLbl val="0"/>
      </c:catAx>
      <c:valAx>
        <c:axId val="1285944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285936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/>
      </a:pPr>
      <a:endParaRPr lang="zh-CN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316550443926"/>
          <c:y val="0.112243691566564"/>
          <c:w val="0.78767603356401905"/>
          <c:h val="0.7159753395333050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线上广告引流占比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0.57999999999999996</c:v>
                </c:pt>
                <c:pt idx="1">
                  <c:v>0.62</c:v>
                </c:pt>
                <c:pt idx="2">
                  <c:v>0.65</c:v>
                </c:pt>
                <c:pt idx="3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2-2C43-B136-2077B8E6EA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线下活动引流占比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0.48</c:v>
                </c:pt>
                <c:pt idx="1">
                  <c:v>0.4</c:v>
                </c:pt>
                <c:pt idx="2">
                  <c:v>0.35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A2-2C43-B136-2077B8E6E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31524191"/>
        <c:axId val="731512191"/>
      </c:barChart>
      <c:catAx>
        <c:axId val="7315241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31512191"/>
        <c:crosses val="autoZero"/>
        <c:auto val="1"/>
        <c:lblAlgn val="ctr"/>
        <c:lblOffset val="100"/>
        <c:noMultiLvlLbl val="0"/>
      </c:catAx>
      <c:valAx>
        <c:axId val="73151219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3152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488289963809497E-2"/>
          <c:y val="0.18855610943617401"/>
          <c:w val="0.87791042615943604"/>
          <c:h val="0.8070223420674580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识别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C3-1644-A7C2-E078720F25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涌现技能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C3-1644-A7C2-E078720F2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审核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涌现技能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C3-1644-A7C2-E078720F25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7927296"/>
        <c:axId val="827913376"/>
      </c:barChart>
      <c:catAx>
        <c:axId val="82792729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827913376"/>
        <c:crosses val="autoZero"/>
        <c:auto val="1"/>
        <c:lblAlgn val="ctr"/>
        <c:lblOffset val="100"/>
        <c:noMultiLvlLbl val="0"/>
      </c:catAx>
      <c:valAx>
        <c:axId val="827913376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82792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>
      <a:innerShdw blurRad="63500" dist="50800" dir="18900000">
        <a:prstClr val="black">
          <a:alpha val="50000"/>
        </a:prstClr>
      </a:innerShdw>
    </a:effectLst>
  </c:spPr>
  <c:txPr>
    <a:bodyPr/>
    <a:lstStyle/>
    <a:p>
      <a:pPr>
        <a:defRPr lang="zh-CN" sz="600"/>
      </a:pPr>
      <a:endParaRPr lang="zh-CN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58-A847-938E-CECB38DFB2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58-A847-938E-CECB38DFB251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358-A847-938E-CECB38DFB251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358-A847-938E-CECB38DFB251}"/>
              </c:ext>
            </c:extLst>
          </c:dPt>
          <c:dLbls>
            <c:dLbl>
              <c:idx val="3"/>
              <c:layout>
                <c:manualLayout>
                  <c:x val="5.7466217577605498E-2"/>
                  <c:y val="0.1417417760285840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58-A847-938E-CECB38DFB2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信任分 0.639</c:v>
                </c:pt>
                <c:pt idx="1">
                  <c:v>CII 1.02</c:v>
                </c:pt>
                <c:pt idx="2">
                  <c:v>审核即生效 90%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0.639</c:v>
                </c:pt>
                <c:pt idx="1">
                  <c:v>1.02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58-A847-938E-CECB38DFB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913473119579499"/>
          <c:y val="0.27579855467648101"/>
          <c:w val="0.17663893112815901"/>
          <c:h val="0.488875017047414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100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1011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1012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2026/5/27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‹#›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4EB165-D954-4E89-B5E4-60CDD91A3C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7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7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7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7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7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7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8ACF1-C2FA-4D89-A612-30F607EFFAD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D44C-221E-4448-960C-8AA9A47461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8BF2-F0E7-4509-84A4-913F97B359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DAD0-62D5-415E-8F4D-BC5C1043F9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37" name="稻壳儿原创设计师【幻雨工作室】_3"/>
          <p:cNvCxnSpPr/>
          <p:nvPr userDrawn="1">
            <p:custDataLst>
              <p:tags r:id="rId1"/>
            </p:custDataLst>
          </p:nvPr>
        </p:nvCxnSpPr>
        <p:spPr>
          <a:xfrm flipH="1">
            <a:off x="1241661" y="3410727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稻壳儿原创设计师【幻雨工作室】_4"/>
          <p:cNvCxnSpPr/>
          <p:nvPr userDrawn="1">
            <p:custDataLst>
              <p:tags r:id="rId2"/>
            </p:custDataLst>
          </p:nvPr>
        </p:nvCxnSpPr>
        <p:spPr>
          <a:xfrm flipH="1">
            <a:off x="1241661" y="363663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研究背景概述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研究意义阐述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国内外研究现状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研究目标与内容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研究方法与技术路线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研究创新点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3"/>
          <p:cNvSpPr/>
          <p:nvPr userDrawn="1"/>
        </p:nvSpPr>
        <p:spPr>
          <a:xfrm flipH="1">
            <a:off x="419100" y="419100"/>
            <a:ext cx="11353800" cy="601980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心圆 1"/>
          <p:cNvSpPr/>
          <p:nvPr userDrawn="1"/>
        </p:nvSpPr>
        <p:spPr>
          <a:xfrm>
            <a:off x="393290" y="557057"/>
            <a:ext cx="481781" cy="481781"/>
          </a:xfrm>
          <a:prstGeom prst="donu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cs typeface="思源黑体 CN Bold" panose="020B0800000000000000" pitchFamily="34" charset="-122"/>
            </a:endParaRP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612058" y="1018869"/>
            <a:ext cx="10906842" cy="9776"/>
          </a:xfrm>
          <a:prstGeom prst="line">
            <a:avLst/>
          </a:prstGeom>
          <a:ln w="28575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形状 12"/>
          <p:cNvSpPr/>
          <p:nvPr userDrawn="1"/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4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7838ACF1-C2FA-4D89-A612-30F607EFFAD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84F9D44C-221E-4448-960C-8AA9A47461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4F708BF2-F0E7-4509-84A4-913F97B359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DD0DDAD0-62D5-415E-8F4D-BC5C1043F9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Relationship Id="rId6" Type="http://schemas.openxmlformats.org/officeDocument/2006/relationships/tags" Target="../tags/tag50.xml"/><Relationship Id="rId7" Type="http://schemas.openxmlformats.org/officeDocument/2006/relationships/tags" Target="../tags/tag51.xml"/><Relationship Id="rId8" Type="http://schemas.openxmlformats.org/officeDocument/2006/relationships/tags" Target="../tags/tag52.xml"/><Relationship Id="rId9" Type="http://schemas.openxmlformats.org/officeDocument/2006/relationships/tags" Target="../tags/tag53.xml"/><Relationship Id="rId10" Type="http://schemas.openxmlformats.org/officeDocument/2006/relationships/slideLayout" Target="../slideLayouts/slideLayout12.xml"/><Relationship Id="rId11" Type="http://schemas.openxmlformats.org/officeDocument/2006/relationships/chart" Target="../charts/chart6.xml"/><Relationship Id="rId12" Type="http://schemas.openxmlformats.org/officeDocument/2006/relationships/chart" Target="../charts/chart7.xml"/><Relationship Id="rId13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slideLayout" Target="../slideLayouts/slideLayout12.xml"/><Relationship Id="rId11" Type="http://schemas.openxmlformats.org/officeDocument/2006/relationships/chart" Target="../charts/chart9.xml"/><Relationship Id="rId12" Type="http://schemas.openxmlformats.org/officeDocument/2006/relationships/chart" Target="../charts/chart10.xml"/><Relationship Id="rId13" Type="http://schemas.openxmlformats.org/officeDocument/2006/relationships/chart" Target="../charts/chart11.xml"/><Relationship Id="rId14" Type="http://schemas.openxmlformats.org/officeDocument/2006/relationships/image" Target="../media/image5.png"/><Relationship Id="rId15" Type="http://schemas.openxmlformats.org/officeDocument/2006/relationships/image" Target="../media/image6.svg"/><Relationship Id="rId16" Type="http://schemas.openxmlformats.org/officeDocument/2006/relationships/image" Target="../media/image7.png"/><Relationship Id="rId17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slideLayout" Target="../slideLayouts/slideLayout25.xml"/><Relationship Id="rId3" Type="http://schemas.openxmlformats.org/officeDocument/2006/relationships/chart" Target="../charts/chart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slideLayout" Target="../slideLayouts/slideLayout25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slideLayout" Target="../slideLayouts/slideLayout25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Relationship Id="rId5" Type="http://schemas.openxmlformats.org/officeDocument/2006/relationships/chart" Target="../charts/chart26.xml"/><Relationship Id="rId6" Type="http://schemas.openxmlformats.org/officeDocument/2006/relationships/chart" Target="../charts/chart27.xml"/><Relationship Id="rId7" Type="http://schemas.openxmlformats.org/officeDocument/2006/relationships/chart" Target="../charts/chart28.xml"/><Relationship Id="rId8" Type="http://schemas.openxmlformats.org/officeDocument/2006/relationships/chart" Target="../charts/chart29.xml"/><Relationship Id="rId9" Type="http://schemas.openxmlformats.org/officeDocument/2006/relationships/chart" Target="../charts/chart30.xml"/><Relationship Id="rId10" Type="http://schemas.openxmlformats.org/officeDocument/2006/relationships/chart" Target="../charts/chart31.xml"/><Relationship Id="rId11" Type="http://schemas.openxmlformats.org/officeDocument/2006/relationships/chart" Target="../charts/chart32.xml"/><Relationship Id="rId12" Type="http://schemas.openxmlformats.org/officeDocument/2006/relationships/chart" Target="../charts/char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7.xml"/><Relationship Id="rId2" Type="http://schemas.openxmlformats.org/officeDocument/2006/relationships/tags" Target="../tags/tag158.xml"/><Relationship Id="rId3" Type="http://schemas.openxmlformats.org/officeDocument/2006/relationships/tags" Target="../tags/tag159.xml"/><Relationship Id="rId4" Type="http://schemas.openxmlformats.org/officeDocument/2006/relationships/tags" Target="../tags/tag160.xml"/><Relationship Id="rId5" Type="http://schemas.openxmlformats.org/officeDocument/2006/relationships/tags" Target="../tags/tag161.xml"/><Relationship Id="rId6" Type="http://schemas.openxmlformats.org/officeDocument/2006/relationships/tags" Target="../tags/tag162.xml"/><Relationship Id="rId7" Type="http://schemas.openxmlformats.org/officeDocument/2006/relationships/tags" Target="../tags/tag163.xml"/><Relationship Id="rId8" Type="http://schemas.openxmlformats.org/officeDocument/2006/relationships/tags" Target="../tags/tag164.xml"/><Relationship Id="rId9" Type="http://schemas.openxmlformats.org/officeDocument/2006/relationships/tags" Target="../tags/tag165.xml"/><Relationship Id="rId10" Type="http://schemas.openxmlformats.org/officeDocument/2006/relationships/tags" Target="../tags/tag166.xml"/><Relationship Id="rId11" Type="http://schemas.openxmlformats.org/officeDocument/2006/relationships/tags" Target="../tags/tag167.xml"/><Relationship Id="rId12" Type="http://schemas.openxmlformats.org/officeDocument/2006/relationships/tags" Target="../tags/tag168.xml"/><Relationship Id="rId13" Type="http://schemas.openxmlformats.org/officeDocument/2006/relationships/tags" Target="../tags/tag169.xml"/><Relationship Id="rId14" Type="http://schemas.openxmlformats.org/officeDocument/2006/relationships/tags" Target="../tags/tag170.xml"/><Relationship Id="rId15" Type="http://schemas.openxmlformats.org/officeDocument/2006/relationships/tags" Target="../tags/tag171.xml"/><Relationship Id="rId16" Type="http://schemas.openxmlformats.org/officeDocument/2006/relationships/tags" Target="../tags/tag172.xml"/><Relationship Id="rId17" Type="http://schemas.openxmlformats.org/officeDocument/2006/relationships/tags" Target="../tags/tag173.xml"/><Relationship Id="rId18" Type="http://schemas.openxmlformats.org/officeDocument/2006/relationships/tags" Target="../tags/tag174.xml"/><Relationship Id="rId19" Type="http://schemas.openxmlformats.org/officeDocument/2006/relationships/tags" Target="../tags/tag175.xml"/><Relationship Id="rId20" Type="http://schemas.openxmlformats.org/officeDocument/2006/relationships/tags" Target="../tags/tag176.xml"/><Relationship Id="rId21" Type="http://schemas.openxmlformats.org/officeDocument/2006/relationships/tags" Target="../tags/tag177.xml"/><Relationship Id="rId22" Type="http://schemas.openxmlformats.org/officeDocument/2006/relationships/tags" Target="../tags/tag178.xml"/><Relationship Id="rId23" Type="http://schemas.openxmlformats.org/officeDocument/2006/relationships/tags" Target="../tags/tag179.xml"/><Relationship Id="rId24" Type="http://schemas.openxmlformats.org/officeDocument/2006/relationships/tags" Target="../tags/tag180.xml"/><Relationship Id="rId25" Type="http://schemas.openxmlformats.org/officeDocument/2006/relationships/tags" Target="../tags/tag181.xml"/><Relationship Id="rId26" Type="http://schemas.openxmlformats.org/officeDocument/2006/relationships/tags" Target="../tags/tag182.xml"/><Relationship Id="rId27" Type="http://schemas.openxmlformats.org/officeDocument/2006/relationships/tags" Target="../tags/tag183.xml"/><Relationship Id="rId28" Type="http://schemas.openxmlformats.org/officeDocument/2006/relationships/tags" Target="../tags/tag184.xml"/><Relationship Id="rId29" Type="http://schemas.openxmlformats.org/officeDocument/2006/relationships/tags" Target="../tags/tag185.xml"/><Relationship Id="rId30" Type="http://schemas.openxmlformats.org/officeDocument/2006/relationships/tags" Target="../tags/tag186.xml"/><Relationship Id="rId31" Type="http://schemas.openxmlformats.org/officeDocument/2006/relationships/tags" Target="../tags/tag187.xml"/><Relationship Id="rId32" Type="http://schemas.openxmlformats.org/officeDocument/2006/relationships/tags" Target="../tags/tag188.xml"/><Relationship Id="rId33" Type="http://schemas.openxmlformats.org/officeDocument/2006/relationships/tags" Target="../tags/tag189.xml"/><Relationship Id="rId34" Type="http://schemas.openxmlformats.org/officeDocument/2006/relationships/slideLayout" Target="../slideLayouts/slideLayout26.xml"/><Relationship Id="rId35" Type="http://schemas.openxmlformats.org/officeDocument/2006/relationships/notesSlide" Target="../notesSlides/notesSlide5.xml"/><Relationship Id="rId36" Type="http://schemas.openxmlformats.org/officeDocument/2006/relationships/chart" Target="../charts/chart4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98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1.xml"/><Relationship Id="rId4" Type="http://schemas.openxmlformats.org/officeDocument/2006/relationships/chart" Target="../charts/chart62.xml"/><Relationship Id="rId5" Type="http://schemas.openxmlformats.org/officeDocument/2006/relationships/chart" Target="../charts/chart63.xml"/><Relationship Id="rId6" Type="http://schemas.openxmlformats.org/officeDocument/2006/relationships/chart" Target="../charts/chart64.xml"/><Relationship Id="rId7" Type="http://schemas.openxmlformats.org/officeDocument/2006/relationships/chart" Target="../charts/chart6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slideLayout" Target="../slideLayouts/slideLayout11.xml"/><Relationship Id="rId18" Type="http://schemas.openxmlformats.org/officeDocument/2006/relationships/notesSlide" Target="../notesSlides/notesSlide16.xml"/><Relationship Id="rId19" Type="http://schemas.openxmlformats.org/officeDocument/2006/relationships/chart" Target="../charts/chart79.xml"/><Relationship Id="rId20" Type="http://schemas.openxmlformats.org/officeDocument/2006/relationships/chart" Target="../charts/chart8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Layout" Target="../slideLayouts/slideLayout18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chart" Target="../charts/chart14.xml"/><Relationship Id="rId6" Type="http://schemas.openxmlformats.org/officeDocument/2006/relationships/chart" Target="../charts/chart15.xml"/><Relationship Id="rId7" Type="http://schemas.openxmlformats.org/officeDocument/2006/relationships/chart" Target="../charts/char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Relationship Id="rId6" Type="http://schemas.openxmlformats.org/officeDocument/2006/relationships/chart" Target="../charts/chart19.xml"/><Relationship Id="rId7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slideLayout" Target="../slideLayouts/slideLayout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Layout" Target="../slideLayouts/slideLayou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slideLayout" Target="../slideLayouts/slideLayout2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slideLayout" Target="../slideLayouts/slideLayout25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chart" Target="../charts/chart34.xml"/><Relationship Id="rId6" Type="http://schemas.openxmlformats.org/officeDocument/2006/relationships/chart" Target="../charts/chart35.xml"/><Relationship Id="rId7" Type="http://schemas.openxmlformats.org/officeDocument/2006/relationships/chart" Target="../charts/chart36.xml"/><Relationship Id="rId8" Type="http://schemas.openxmlformats.org/officeDocument/2006/relationships/chart" Target="../charts/chart3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84.xml"/><Relationship Id="rId2" Type="http://schemas.openxmlformats.org/officeDocument/2006/relationships/slideLayout" Target="../slideLayouts/slideLayout25.xml"/><Relationship Id="rId3" Type="http://schemas.openxmlformats.org/officeDocument/2006/relationships/chart" Target="../charts/chart3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slideLayout" Target="../slideLayouts/slideLayout25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Relationship Id="rId5" Type="http://schemas.openxmlformats.org/officeDocument/2006/relationships/chart" Target="../charts/chart41.xml"/><Relationship Id="rId6" Type="http://schemas.openxmlformats.org/officeDocument/2006/relationships/chart" Target="../charts/chart4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86.x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tags" Target="../tags/tag94.xml"/><Relationship Id="rId10" Type="http://schemas.openxmlformats.org/officeDocument/2006/relationships/tags" Target="../tags/tag95.xml"/><Relationship Id="rId11" Type="http://schemas.openxmlformats.org/officeDocument/2006/relationships/tags" Target="../tags/tag96.xml"/><Relationship Id="rId12" Type="http://schemas.openxmlformats.org/officeDocument/2006/relationships/tags" Target="../tags/tag97.xml"/><Relationship Id="rId13" Type="http://schemas.openxmlformats.org/officeDocument/2006/relationships/tags" Target="../tags/tag98.xml"/><Relationship Id="rId14" Type="http://schemas.openxmlformats.org/officeDocument/2006/relationships/tags" Target="../tags/tag99.xml"/><Relationship Id="rId15" Type="http://schemas.openxmlformats.org/officeDocument/2006/relationships/tags" Target="../tags/tag100.xml"/><Relationship Id="rId16" Type="http://schemas.openxmlformats.org/officeDocument/2006/relationships/tags" Target="../tags/tag101.xml"/><Relationship Id="rId17" Type="http://schemas.openxmlformats.org/officeDocument/2006/relationships/tags" Target="../tags/tag102.xml"/><Relationship Id="rId18" Type="http://schemas.openxmlformats.org/officeDocument/2006/relationships/tags" Target="../tags/tag103.xml"/><Relationship Id="rId19" Type="http://schemas.openxmlformats.org/officeDocument/2006/relationships/tags" Target="../tags/tag104.xml"/><Relationship Id="rId20" Type="http://schemas.openxmlformats.org/officeDocument/2006/relationships/tags" Target="../tags/tag105.xml"/><Relationship Id="rId21" Type="http://schemas.openxmlformats.org/officeDocument/2006/relationships/tags" Target="../tags/tag106.xml"/><Relationship Id="rId22" Type="http://schemas.openxmlformats.org/officeDocument/2006/relationships/tags" Target="../tags/tag107.xml"/><Relationship Id="rId23" Type="http://schemas.openxmlformats.org/officeDocument/2006/relationships/tags" Target="../tags/tag108.xml"/><Relationship Id="rId24" Type="http://schemas.openxmlformats.org/officeDocument/2006/relationships/tags" Target="../tags/tag109.xml"/><Relationship Id="rId25" Type="http://schemas.openxmlformats.org/officeDocument/2006/relationships/tags" Target="../tags/tag110.xml"/><Relationship Id="rId26" Type="http://schemas.openxmlformats.org/officeDocument/2006/relationships/tags" Target="../tags/tag111.xml"/><Relationship Id="rId27" Type="http://schemas.openxmlformats.org/officeDocument/2006/relationships/tags" Target="../tags/tag112.xml"/><Relationship Id="rId28" Type="http://schemas.openxmlformats.org/officeDocument/2006/relationships/tags" Target="../tags/tag113.xml"/><Relationship Id="rId29" Type="http://schemas.openxmlformats.org/officeDocument/2006/relationships/tags" Target="../tags/tag114.xml"/><Relationship Id="rId30" Type="http://schemas.openxmlformats.org/officeDocument/2006/relationships/tags" Target="../tags/tag115.xml"/><Relationship Id="rId31" Type="http://schemas.openxmlformats.org/officeDocument/2006/relationships/tags" Target="../tags/tag116.xml"/><Relationship Id="rId32" Type="http://schemas.openxmlformats.org/officeDocument/2006/relationships/tags" Target="../tags/tag117.xml"/><Relationship Id="rId33" Type="http://schemas.openxmlformats.org/officeDocument/2006/relationships/slideLayout" Target="../slideLayouts/slideLayout26.xml"/><Relationship Id="rId34" Type="http://schemas.openxmlformats.org/officeDocument/2006/relationships/notesSlide" Target="../notesSlides/notesSlide2.xml"/><Relationship Id="rId35" Type="http://schemas.openxmlformats.org/officeDocument/2006/relationships/chart" Target="../charts/chart4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tags" Target="../tags/tag119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tags" Target="../tags/tag122.xml"/><Relationship Id="rId6" Type="http://schemas.openxmlformats.org/officeDocument/2006/relationships/tags" Target="../tags/tag123.xml"/><Relationship Id="rId7" Type="http://schemas.openxmlformats.org/officeDocument/2006/relationships/tags" Target="../tags/tag124.xml"/><Relationship Id="rId8" Type="http://schemas.openxmlformats.org/officeDocument/2006/relationships/tags" Target="../tags/tag125.xml"/><Relationship Id="rId9" Type="http://schemas.openxmlformats.org/officeDocument/2006/relationships/tags" Target="../tags/tag126.xml"/><Relationship Id="rId10" Type="http://schemas.openxmlformats.org/officeDocument/2006/relationships/tags" Target="../tags/tag127.xml"/><Relationship Id="rId11" Type="http://schemas.openxmlformats.org/officeDocument/2006/relationships/tags" Target="../tags/tag128.xml"/><Relationship Id="rId12" Type="http://schemas.openxmlformats.org/officeDocument/2006/relationships/tags" Target="../tags/tag129.xml"/><Relationship Id="rId13" Type="http://schemas.openxmlformats.org/officeDocument/2006/relationships/tags" Target="../tags/tag130.xml"/><Relationship Id="rId14" Type="http://schemas.openxmlformats.org/officeDocument/2006/relationships/tags" Target="../tags/tag131.xml"/><Relationship Id="rId15" Type="http://schemas.openxmlformats.org/officeDocument/2006/relationships/tags" Target="../tags/tag132.xml"/><Relationship Id="rId16" Type="http://schemas.openxmlformats.org/officeDocument/2006/relationships/tags" Target="../tags/tag133.xml"/><Relationship Id="rId17" Type="http://schemas.openxmlformats.org/officeDocument/2006/relationships/tags" Target="../tags/tag134.xml"/><Relationship Id="rId18" Type="http://schemas.openxmlformats.org/officeDocument/2006/relationships/tags" Target="../tags/tag135.xml"/><Relationship Id="rId19" Type="http://schemas.openxmlformats.org/officeDocument/2006/relationships/tags" Target="../tags/tag136.xml"/><Relationship Id="rId20" Type="http://schemas.openxmlformats.org/officeDocument/2006/relationships/tags" Target="../tags/tag137.xml"/><Relationship Id="rId21" Type="http://schemas.openxmlformats.org/officeDocument/2006/relationships/tags" Target="../tags/tag138.xml"/><Relationship Id="rId22" Type="http://schemas.openxmlformats.org/officeDocument/2006/relationships/tags" Target="../tags/tag139.xml"/><Relationship Id="rId23" Type="http://schemas.openxmlformats.org/officeDocument/2006/relationships/tags" Target="../tags/tag140.xml"/><Relationship Id="rId24" Type="http://schemas.openxmlformats.org/officeDocument/2006/relationships/tags" Target="../tags/tag141.xml"/><Relationship Id="rId25" Type="http://schemas.openxmlformats.org/officeDocument/2006/relationships/tags" Target="../tags/tag142.xml"/><Relationship Id="rId26" Type="http://schemas.openxmlformats.org/officeDocument/2006/relationships/tags" Target="../tags/tag143.xml"/><Relationship Id="rId27" Type="http://schemas.openxmlformats.org/officeDocument/2006/relationships/tags" Target="../tags/tag144.xml"/><Relationship Id="rId28" Type="http://schemas.openxmlformats.org/officeDocument/2006/relationships/tags" Target="../tags/tag145.xml"/><Relationship Id="rId29" Type="http://schemas.openxmlformats.org/officeDocument/2006/relationships/tags" Target="../tags/tag146.xml"/><Relationship Id="rId30" Type="http://schemas.openxmlformats.org/officeDocument/2006/relationships/tags" Target="../tags/tag147.xml"/><Relationship Id="rId31" Type="http://schemas.openxmlformats.org/officeDocument/2006/relationships/slideLayout" Target="../slideLayouts/slideLayout26.xml"/><Relationship Id="rId32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Relationship Id="rId10" Type="http://schemas.openxmlformats.org/officeDocument/2006/relationships/slideLayout" Target="../slideLayouts/slideLayout26.xml"/><Relationship Id="rId11" Type="http://schemas.openxmlformats.org/officeDocument/2006/relationships/notesSlide" Target="../notesSlides/notesSlide4.xml"/><Relationship Id="rId12" Type="http://schemas.openxmlformats.org/officeDocument/2006/relationships/chart" Target="../charts/chart44.xml"/><Relationship Id="rId13" Type="http://schemas.openxmlformats.org/officeDocument/2006/relationships/chart" Target="../charts/chart45.xml"/><Relationship Id="rId14" Type="http://schemas.openxmlformats.org/officeDocument/2006/relationships/chart" Target="../charts/chart4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190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chart" Target="../charts/chart48.xml"/><Relationship Id="rId5" Type="http://schemas.openxmlformats.org/officeDocument/2006/relationships/chart" Target="../charts/chart49.xml"/><Relationship Id="rId6" Type="http://schemas.openxmlformats.org/officeDocument/2006/relationships/chart" Target="../charts/chart50.xml"/><Relationship Id="rId7" Type="http://schemas.openxmlformats.org/officeDocument/2006/relationships/chart" Target="../charts/chart5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192.xml"/><Relationship Id="rId2" Type="http://schemas.openxmlformats.org/officeDocument/2006/relationships/slideLayout" Target="../slideLayouts/slideLayout6.xml"/><Relationship Id="rId3" Type="http://schemas.openxmlformats.org/officeDocument/2006/relationships/chart" Target="../charts/chart52.xml"/><Relationship Id="rId4" Type="http://schemas.openxmlformats.org/officeDocument/2006/relationships/chart" Target="../charts/chart53.xml"/><Relationship Id="rId5" Type="http://schemas.openxmlformats.org/officeDocument/2006/relationships/chart" Target="../charts/chart54.xml"/><Relationship Id="rId6" Type="http://schemas.openxmlformats.org/officeDocument/2006/relationships/image" Target="../media/image17.png"/><Relationship Id="rId7" Type="http://schemas.openxmlformats.org/officeDocument/2006/relationships/image" Target="../media/image18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193.xml"/><Relationship Id="rId2" Type="http://schemas.openxmlformats.org/officeDocument/2006/relationships/slideLayout" Target="../slideLayouts/slideLayout6.xml"/><Relationship Id="rId3" Type="http://schemas.openxmlformats.org/officeDocument/2006/relationships/chart" Target="../charts/chart55.xml"/><Relationship Id="rId4" Type="http://schemas.openxmlformats.org/officeDocument/2006/relationships/chart" Target="../charts/chart56.xml"/><Relationship Id="rId5" Type="http://schemas.openxmlformats.org/officeDocument/2006/relationships/chart" Target="../charts/chart57.xml"/><Relationship Id="rId6" Type="http://schemas.openxmlformats.org/officeDocument/2006/relationships/image" Target="../media/image17.png"/><Relationship Id="rId7" Type="http://schemas.openxmlformats.org/officeDocument/2006/relationships/image" Target="../media/image18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slideLayout" Target="../slideLayouts/slideLayout6.xml"/><Relationship Id="rId3" Type="http://schemas.openxmlformats.org/officeDocument/2006/relationships/chart" Target="../charts/chart58.xml"/><Relationship Id="rId4" Type="http://schemas.openxmlformats.org/officeDocument/2006/relationships/chart" Target="../charts/chart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196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197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Relationship Id="rId4" Type="http://schemas.openxmlformats.org/officeDocument/2006/relationships/chart" Target="../charts/chart60.xml"/><Relationship Id="rId5" Type="http://schemas.openxmlformats.org/officeDocument/2006/relationships/chart" Target="../charts/chart61.xml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image" Target="../media/image21.png"/><Relationship Id="rId9" Type="http://schemas.openxmlformats.org/officeDocument/2006/relationships/image" Target="../media/image22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199.xml"/><Relationship Id="rId2" Type="http://schemas.openxmlformats.org/officeDocument/2006/relationships/tags" Target="../tags/tag200.xml"/><Relationship Id="rId3" Type="http://schemas.openxmlformats.org/officeDocument/2006/relationships/tags" Target="../tags/tag201.xml"/><Relationship Id="rId4" Type="http://schemas.openxmlformats.org/officeDocument/2006/relationships/tags" Target="../tags/tag202.xml"/><Relationship Id="rId5" Type="http://schemas.openxmlformats.org/officeDocument/2006/relationships/tags" Target="../tags/tag203.xml"/><Relationship Id="rId6" Type="http://schemas.openxmlformats.org/officeDocument/2006/relationships/tags" Target="../tags/tag204.xml"/><Relationship Id="rId7" Type="http://schemas.openxmlformats.org/officeDocument/2006/relationships/tags" Target="../tags/tag205.xml"/><Relationship Id="rId8" Type="http://schemas.openxmlformats.org/officeDocument/2006/relationships/tags" Target="../tags/tag206.xml"/><Relationship Id="rId9" Type="http://schemas.openxmlformats.org/officeDocument/2006/relationships/tags" Target="../tags/tag207.xml"/><Relationship Id="rId10" Type="http://schemas.openxmlformats.org/officeDocument/2006/relationships/tags" Target="../tags/tag208.xml"/><Relationship Id="rId11" Type="http://schemas.openxmlformats.org/officeDocument/2006/relationships/tags" Target="../tags/tag209.xml"/><Relationship Id="rId12" Type="http://schemas.openxmlformats.org/officeDocument/2006/relationships/tags" Target="../tags/tag210.xml"/><Relationship Id="rId13" Type="http://schemas.openxmlformats.org/officeDocument/2006/relationships/tags" Target="../tags/tag211.xml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2.xml"/><Relationship Id="rId16" Type="http://schemas.openxmlformats.org/officeDocument/2006/relationships/chart" Target="../charts/chart66.xml"/><Relationship Id="rId17" Type="http://schemas.openxmlformats.org/officeDocument/2006/relationships/chart" Target="../charts/chart67.xml"/><Relationship Id="rId18" Type="http://schemas.openxmlformats.org/officeDocument/2006/relationships/chart" Target="../charts/chart6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212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3.xml"/><Relationship Id="rId4" Type="http://schemas.openxmlformats.org/officeDocument/2006/relationships/chart" Target="../charts/chart69.xml"/><Relationship Id="rId5" Type="http://schemas.openxmlformats.org/officeDocument/2006/relationships/chart" Target="../charts/chart70.xml"/><Relationship Id="rId6" Type="http://schemas.openxmlformats.org/officeDocument/2006/relationships/chart" Target="../charts/chart71.xml"/><Relationship Id="rId7" Type="http://schemas.openxmlformats.org/officeDocument/2006/relationships/chart" Target="../charts/chart7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213.xml"/><Relationship Id="rId2" Type="http://schemas.openxmlformats.org/officeDocument/2006/relationships/tags" Target="../tags/tag214.xml"/><Relationship Id="rId3" Type="http://schemas.openxmlformats.org/officeDocument/2006/relationships/tags" Target="../tags/tag215.xml"/><Relationship Id="rId4" Type="http://schemas.openxmlformats.org/officeDocument/2006/relationships/tags" Target="../tags/tag216.xml"/><Relationship Id="rId5" Type="http://schemas.openxmlformats.org/officeDocument/2006/relationships/tags" Target="../tags/tag217.xml"/><Relationship Id="rId6" Type="http://schemas.openxmlformats.org/officeDocument/2006/relationships/tags" Target="../tags/tag218.xml"/><Relationship Id="rId7" Type="http://schemas.openxmlformats.org/officeDocument/2006/relationships/tags" Target="../tags/tag219.xml"/><Relationship Id="rId8" Type="http://schemas.openxmlformats.org/officeDocument/2006/relationships/tags" Target="../tags/tag220.xml"/><Relationship Id="rId9" Type="http://schemas.openxmlformats.org/officeDocument/2006/relationships/tags" Target="../tags/tag221.xml"/><Relationship Id="rId10" Type="http://schemas.openxmlformats.org/officeDocument/2006/relationships/tags" Target="../tags/tag222.xml"/><Relationship Id="rId11" Type="http://schemas.openxmlformats.org/officeDocument/2006/relationships/tags" Target="../tags/tag223.xml"/><Relationship Id="rId12" Type="http://schemas.openxmlformats.org/officeDocument/2006/relationships/tags" Target="../tags/tag224.xml"/><Relationship Id="rId13" Type="http://schemas.openxmlformats.org/officeDocument/2006/relationships/tags" Target="../tags/tag225.xml"/><Relationship Id="rId14" Type="http://schemas.openxmlformats.org/officeDocument/2006/relationships/tags" Target="../tags/tag226.xml"/><Relationship Id="rId15" Type="http://schemas.openxmlformats.org/officeDocument/2006/relationships/tags" Target="../tags/tag227.xml"/><Relationship Id="rId16" Type="http://schemas.openxmlformats.org/officeDocument/2006/relationships/tags" Target="../tags/tag228.xml"/><Relationship Id="rId17" Type="http://schemas.openxmlformats.org/officeDocument/2006/relationships/tags" Target="../tags/tag229.xml"/><Relationship Id="rId18" Type="http://schemas.openxmlformats.org/officeDocument/2006/relationships/tags" Target="../tags/tag230.xml"/><Relationship Id="rId19" Type="http://schemas.openxmlformats.org/officeDocument/2006/relationships/tags" Target="../tags/tag231.xml"/><Relationship Id="rId20" Type="http://schemas.openxmlformats.org/officeDocument/2006/relationships/tags" Target="../tags/tag232.xml"/><Relationship Id="rId21" Type="http://schemas.openxmlformats.org/officeDocument/2006/relationships/tags" Target="../tags/tag233.xml"/><Relationship Id="rId22" Type="http://schemas.openxmlformats.org/officeDocument/2006/relationships/tags" Target="../tags/tag234.xml"/><Relationship Id="rId23" Type="http://schemas.openxmlformats.org/officeDocument/2006/relationships/tags" Target="../tags/tag235.xml"/><Relationship Id="rId24" Type="http://schemas.openxmlformats.org/officeDocument/2006/relationships/slideLayout" Target="../slideLayouts/slideLayout11.xml"/><Relationship Id="rId25" Type="http://schemas.openxmlformats.org/officeDocument/2006/relationships/notesSlide" Target="../notesSlides/notesSlide14.xml"/><Relationship Id="rId26" Type="http://schemas.openxmlformats.org/officeDocument/2006/relationships/chart" Target="../charts/chart73.xml"/><Relationship Id="rId27" Type="http://schemas.openxmlformats.org/officeDocument/2006/relationships/chart" Target="../charts/chart74.xml"/><Relationship Id="rId28" Type="http://schemas.openxmlformats.org/officeDocument/2006/relationships/chart" Target="../charts/chart7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236.x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5.xml"/><Relationship Id="rId4" Type="http://schemas.openxmlformats.org/officeDocument/2006/relationships/chart" Target="../charts/chart76.xml"/><Relationship Id="rId5" Type="http://schemas.openxmlformats.org/officeDocument/2006/relationships/chart" Target="../charts/chart77.xml"/><Relationship Id="rId6" Type="http://schemas.openxmlformats.org/officeDocument/2006/relationships/chart" Target="../charts/char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2" y="889024"/>
            <a:ext cx="11522076" cy="47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97" name="小红书平北职场PPT2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小红书平北职场PPT2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430887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星图 StarMap——人才能力星云导航系统</a:t>
              </a:r>
            </a:p>
          </p:txBody>
        </p:sp>
      </p:grpSp>
      <p:sp>
        <p:nvSpPr>
          <p:cNvPr id="5" name="小红书平北职场PPT4"/>
          <p:cNvSpPr txBox="1"/>
          <p:nvPr/>
        </p:nvSpPr>
        <p:spPr>
          <a:xfrm>
            <a:off x="491582" y="1108493"/>
            <a:ext cx="2552354" cy="561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rPr>
              <a:t>2026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" name="小红书平北职场PPT5"/>
          <p:cNvGrpSpPr/>
          <p:nvPr/>
        </p:nvGrpSpPr>
        <p:grpSpPr>
          <a:xfrm>
            <a:off x="1648691" y="1464255"/>
            <a:ext cx="10024857" cy="338258"/>
            <a:chOff x="2256898" y="2008619"/>
            <a:chExt cx="9360539" cy="291481"/>
          </a:xfrm>
        </p:grpSpPr>
        <p:sp>
          <p:nvSpPr>
            <p:cNvPr id="161" name="小红书平北职场PPT5-1"/>
            <p:cNvSpPr/>
            <p:nvPr/>
          </p:nvSpPr>
          <p:spPr>
            <a:xfrm>
              <a:off x="2256898" y="2008619"/>
              <a:ext cx="710195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2" name="小红书平北职场PPT5-2"/>
            <p:cNvSpPr txBox="1"/>
            <p:nvPr/>
          </p:nvSpPr>
          <p:spPr>
            <a:xfrm>
              <a:off x="2347953" y="2038215"/>
              <a:ext cx="528536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答辩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思源黑体 CN Normal" panose="020B0400000000000000" charset="-122"/>
              </a:endParaRPr>
            </a:p>
          </p:txBody>
        </p:sp>
        <p:sp>
          <p:nvSpPr>
            <p:cNvPr id="163" name="小红书平北职场PPT5-3"/>
            <p:cNvSpPr/>
            <p:nvPr/>
          </p:nvSpPr>
          <p:spPr>
            <a:xfrm>
              <a:off x="3043292" y="2008627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4" name="小红书平北职场PPT5-4"/>
            <p:cNvSpPr txBox="1"/>
            <p:nvPr/>
          </p:nvSpPr>
          <p:spPr>
            <a:xfrm>
              <a:off x="3134347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展示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65" name="小红书平北职场PPT5-5"/>
            <p:cNvSpPr/>
            <p:nvPr/>
          </p:nvSpPr>
          <p:spPr>
            <a:xfrm>
              <a:off x="3829688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6" name="小红书平北职场PPT5-6"/>
            <p:cNvSpPr txBox="1"/>
            <p:nvPr/>
          </p:nvSpPr>
          <p:spPr>
            <a:xfrm>
              <a:off x="3920743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数据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67" name="小红书平北职场PPT5-7"/>
            <p:cNvSpPr/>
            <p:nvPr/>
          </p:nvSpPr>
          <p:spPr>
            <a:xfrm>
              <a:off x="4616082" y="2008627"/>
              <a:ext cx="710195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8" name="小红书平北职场PPT5-8"/>
            <p:cNvSpPr txBox="1"/>
            <p:nvPr/>
          </p:nvSpPr>
          <p:spPr>
            <a:xfrm>
              <a:off x="4707137" y="2038208"/>
              <a:ext cx="528536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增强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69" name="小红书平北职场PPT5-9"/>
            <p:cNvSpPr/>
            <p:nvPr/>
          </p:nvSpPr>
          <p:spPr>
            <a:xfrm>
              <a:off x="5402477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小红书平北职场PPT5-10"/>
            <p:cNvSpPr txBox="1"/>
            <p:nvPr/>
          </p:nvSpPr>
          <p:spPr>
            <a:xfrm>
              <a:off x="5493532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版本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71" name="小红书平北职场PPT5-11"/>
            <p:cNvSpPr/>
            <p:nvPr/>
          </p:nvSpPr>
          <p:spPr>
            <a:xfrm>
              <a:off x="6188872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2" name="小红书平北职场PPT5-12"/>
            <p:cNvSpPr txBox="1"/>
            <p:nvPr/>
          </p:nvSpPr>
          <p:spPr>
            <a:xfrm>
              <a:off x="6279927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XH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73" name="小红书平北职场PPT5-13"/>
            <p:cNvSpPr/>
            <p:nvPr/>
          </p:nvSpPr>
          <p:spPr>
            <a:xfrm>
              <a:off x="6975267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4" name="小红书平北职场PPT5-14"/>
            <p:cNvSpPr txBox="1"/>
            <p:nvPr/>
          </p:nvSpPr>
          <p:spPr>
            <a:xfrm>
              <a:off x="7066322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621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75" name="小红书平北职场PPT5-15"/>
            <p:cNvSpPr/>
            <p:nvPr/>
          </p:nvSpPr>
          <p:spPr>
            <a:xfrm>
              <a:off x="7761661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小红书平北职场PPT5-16"/>
            <p:cNvSpPr txBox="1"/>
            <p:nvPr/>
          </p:nvSpPr>
          <p:spPr>
            <a:xfrm>
              <a:off x="7852716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揭榜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77" name="小红书平北职场PPT5-17"/>
            <p:cNvSpPr/>
            <p:nvPr/>
          </p:nvSpPr>
          <p:spPr>
            <a:xfrm>
              <a:off x="8548056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8" name="小红书平北职场PPT5-18"/>
            <p:cNvSpPr txBox="1"/>
            <p:nvPr/>
          </p:nvSpPr>
          <p:spPr>
            <a:xfrm>
              <a:off x="8639111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挂帅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79" name="小红书平北职场PPT5-19"/>
            <p:cNvSpPr/>
            <p:nvPr/>
          </p:nvSpPr>
          <p:spPr>
            <a:xfrm>
              <a:off x="9334451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0" name="小红书平北职场PPT5-20"/>
            <p:cNvSpPr txBox="1"/>
            <p:nvPr/>
          </p:nvSpPr>
          <p:spPr>
            <a:xfrm>
              <a:off x="9425506" y="2038215"/>
              <a:ext cx="528538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讯飞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81" name="小红书平北职场PPT5-21"/>
            <p:cNvSpPr/>
            <p:nvPr/>
          </p:nvSpPr>
          <p:spPr>
            <a:xfrm>
              <a:off x="10120846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小红书平北职场PPT5-22"/>
            <p:cNvSpPr txBox="1"/>
            <p:nvPr/>
          </p:nvSpPr>
          <p:spPr>
            <a:xfrm>
              <a:off x="10211901" y="2038215"/>
              <a:ext cx="528538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发榜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  <p:sp>
          <p:nvSpPr>
            <p:cNvPr id="183" name="小红书平北职场PPT5-23"/>
            <p:cNvSpPr/>
            <p:nvPr/>
          </p:nvSpPr>
          <p:spPr>
            <a:xfrm>
              <a:off x="10907240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4" name="小红书平北职场PPT5-24"/>
            <p:cNvSpPr txBox="1"/>
            <p:nvPr/>
          </p:nvSpPr>
          <p:spPr>
            <a:xfrm>
              <a:off x="10998295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星图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/>
              </a:r>
            </a:p>
          </p:txBody>
        </p:sp>
      </p:grpSp>
      <p:grpSp>
        <p:nvGrpSpPr>
          <p:cNvPr id="7" name="小红书平北职场PPT6"/>
          <p:cNvGrpSpPr/>
          <p:nvPr/>
        </p:nvGrpSpPr>
        <p:grpSpPr>
          <a:xfrm>
            <a:off x="1648734" y="1898822"/>
            <a:ext cx="10024772" cy="3602913"/>
            <a:chOff x="2313016" y="1681750"/>
            <a:chExt cx="9360460" cy="3841181"/>
          </a:xfrm>
        </p:grpSpPr>
        <p:sp>
          <p:nvSpPr>
            <p:cNvPr id="149" name="小红书平北职场PPT6-1"/>
            <p:cNvSpPr/>
            <p:nvPr/>
          </p:nvSpPr>
          <p:spPr>
            <a:xfrm>
              <a:off x="2313016" y="1681750"/>
              <a:ext cx="710116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0" name="小红书平北职场PPT6-2"/>
            <p:cNvSpPr/>
            <p:nvPr/>
          </p:nvSpPr>
          <p:spPr>
            <a:xfrm>
              <a:off x="3099410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小红书平北职场PPT6-3"/>
            <p:cNvSpPr/>
            <p:nvPr/>
          </p:nvSpPr>
          <p:spPr>
            <a:xfrm>
              <a:off x="3885806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小红书平北职场PPT6-4"/>
            <p:cNvSpPr/>
            <p:nvPr/>
          </p:nvSpPr>
          <p:spPr>
            <a:xfrm>
              <a:off x="4672200" y="1681750"/>
              <a:ext cx="710116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小红书平北职场PPT6-5"/>
            <p:cNvSpPr/>
            <p:nvPr/>
          </p:nvSpPr>
          <p:spPr>
            <a:xfrm>
              <a:off x="5458595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4" name="小红书平北职场PPT6-6"/>
            <p:cNvSpPr/>
            <p:nvPr/>
          </p:nvSpPr>
          <p:spPr>
            <a:xfrm>
              <a:off x="6244990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5" name="小红书平北职场PPT6-7"/>
            <p:cNvSpPr/>
            <p:nvPr/>
          </p:nvSpPr>
          <p:spPr>
            <a:xfrm>
              <a:off x="7031385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小红书平北职场PPT6-8"/>
            <p:cNvSpPr/>
            <p:nvPr/>
          </p:nvSpPr>
          <p:spPr>
            <a:xfrm>
              <a:off x="7817779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小红书平北职场PPT6-9"/>
            <p:cNvSpPr/>
            <p:nvPr/>
          </p:nvSpPr>
          <p:spPr>
            <a:xfrm>
              <a:off x="8604174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8" name="小红书平北职场PPT6-10"/>
            <p:cNvSpPr/>
            <p:nvPr/>
          </p:nvSpPr>
          <p:spPr>
            <a:xfrm>
              <a:off x="9390569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小红书平北职场PPT6-11"/>
            <p:cNvSpPr/>
            <p:nvPr/>
          </p:nvSpPr>
          <p:spPr>
            <a:xfrm>
              <a:off x="10176964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0" name="小红书平北职场PPT6-12"/>
            <p:cNvSpPr/>
            <p:nvPr/>
          </p:nvSpPr>
          <p:spPr>
            <a:xfrm>
              <a:off x="10963358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8" name="小红书平北职场PPT7"/>
          <p:cNvGrpSpPr/>
          <p:nvPr/>
        </p:nvGrpSpPr>
        <p:grpSpPr>
          <a:xfrm>
            <a:off x="1650040" y="1067056"/>
            <a:ext cx="10022160" cy="332829"/>
            <a:chOff x="2313009" y="985081"/>
            <a:chExt cx="9358020" cy="338530"/>
          </a:xfrm>
        </p:grpSpPr>
        <p:sp>
          <p:nvSpPr>
            <p:cNvPr id="112" name="小红书平北职场PPT7-1"/>
            <p:cNvSpPr/>
            <p:nvPr/>
          </p:nvSpPr>
          <p:spPr>
            <a:xfrm>
              <a:off x="2313009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3" name="小红书平北职场PPT7-2"/>
            <p:cNvSpPr/>
            <p:nvPr/>
          </p:nvSpPr>
          <p:spPr>
            <a:xfrm>
              <a:off x="4672193" y="985081"/>
              <a:ext cx="2266680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小红书平北职场PPT7-3"/>
            <p:cNvSpPr/>
            <p:nvPr/>
          </p:nvSpPr>
          <p:spPr>
            <a:xfrm>
              <a:off x="7031377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小红书平北职场PPT7-4"/>
            <p:cNvSpPr/>
            <p:nvPr/>
          </p:nvSpPr>
          <p:spPr>
            <a:xfrm>
              <a:off x="9404350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2468720" y="1043502"/>
              <a:ext cx="9046597" cy="213620"/>
              <a:chOff x="2468720" y="1038870"/>
              <a:chExt cx="9046597" cy="256352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2468720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42" name="小红书平北职场PPT7-5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小红书平北职场PPT7-6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组合 143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45" name="小红书平北职场PPT7-7"/>
                  <p:cNvSpPr txBox="1"/>
                  <p:nvPr/>
                </p:nvSpPr>
                <p:spPr>
                  <a:xfrm>
                    <a:off x="5214447" y="955679"/>
                    <a:ext cx="1207242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1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46" name="组合 145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47" name="小红书平北职场PPT7-8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小红书平北职场PPT7-9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8" name="组合 117"/>
              <p:cNvGrpSpPr/>
              <p:nvPr/>
            </p:nvGrpSpPr>
            <p:grpSpPr>
              <a:xfrm>
                <a:off x="4827905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35" name="小红书平北职场PPT7-10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小红书平北职场PPT7-11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7" name="组合 136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38" name="小红书平北职场PPT7-12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2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39" name="组合 138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40" name="小红书平北职场PPT7-13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" name="小红书平北职场PPT7-14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9" name="组合 118"/>
              <p:cNvGrpSpPr/>
              <p:nvPr/>
            </p:nvGrpSpPr>
            <p:grpSpPr>
              <a:xfrm>
                <a:off x="7187087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28" name="小红书平北职场PPT7-15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小红书平北职场PPT7-16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组合 129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31" name="小红书平北职场PPT7-17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32" name="组合 131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33" name="小红书平北职场PPT7-18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小红书平北职场PPT7-19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0" name="组合 119"/>
              <p:cNvGrpSpPr/>
              <p:nvPr/>
            </p:nvGrpSpPr>
            <p:grpSpPr>
              <a:xfrm>
                <a:off x="9560060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21" name="小红书平北职场PPT7-20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小红书平北职场PPT7-21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" name="组合 122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24" name="小红书平北职场PPT7-22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4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25" name="组合 124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26" name="小红书平北职场PPT7-23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小红书平北职场PPT7-24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9" name="小红书平北职场PPT8"/>
          <p:cNvGrpSpPr/>
          <p:nvPr/>
        </p:nvGrpSpPr>
        <p:grpSpPr>
          <a:xfrm>
            <a:off x="334962" y="5718160"/>
            <a:ext cx="11529268" cy="875264"/>
            <a:chOff x="334962" y="5718160"/>
            <a:chExt cx="11529268" cy="875264"/>
          </a:xfrm>
        </p:grpSpPr>
        <p:sp>
          <p:nvSpPr>
            <p:cNvPr id="110" name="小红书平北职场PPT8-1"/>
            <p:cNvSpPr/>
            <p:nvPr/>
          </p:nvSpPr>
          <p:spPr>
            <a:xfrm>
              <a:off x="334962" y="5718160"/>
              <a:ext cx="11529268" cy="8752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0" scaled="1"/>
              <a:tileRect/>
            </a:gra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1" name="小红书平北职场PPT8-2"/>
            <p:cNvSpPr/>
            <p:nvPr/>
          </p:nvSpPr>
          <p:spPr>
            <a:xfrm>
              <a:off x="435286" y="5814499"/>
              <a:ext cx="2069809" cy="6825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" name="小红书平北职场PPT9"/>
          <p:cNvGrpSpPr/>
          <p:nvPr/>
        </p:nvGrpSpPr>
        <p:grpSpPr>
          <a:xfrm>
            <a:off x="568654" y="5931795"/>
            <a:ext cx="463875" cy="451953"/>
            <a:chOff x="656083" y="5922234"/>
            <a:chExt cx="366188" cy="356776"/>
          </a:xfrm>
          <a:noFill/>
        </p:grpSpPr>
        <p:sp>
          <p:nvSpPr>
            <p:cNvPr id="97" name="小红书平北职场PPT9-1"/>
            <p:cNvSpPr/>
            <p:nvPr/>
          </p:nvSpPr>
          <p:spPr>
            <a:xfrm>
              <a:off x="701193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小红书平北职场PPT9-2"/>
            <p:cNvSpPr/>
            <p:nvPr/>
          </p:nvSpPr>
          <p:spPr>
            <a:xfrm>
              <a:off x="701193" y="60862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小红书平北职场PPT9-3"/>
            <p:cNvSpPr/>
            <p:nvPr/>
          </p:nvSpPr>
          <p:spPr>
            <a:xfrm>
              <a:off x="701193" y="6150725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小红书平北职场PPT9-4"/>
            <p:cNvSpPr/>
            <p:nvPr/>
          </p:nvSpPr>
          <p:spPr>
            <a:xfrm>
              <a:off x="760235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小红书平北职场PPT9-5"/>
            <p:cNvSpPr/>
            <p:nvPr/>
          </p:nvSpPr>
          <p:spPr>
            <a:xfrm>
              <a:off x="760235" y="60862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小红书平北职场PPT9-6"/>
            <p:cNvSpPr/>
            <p:nvPr/>
          </p:nvSpPr>
          <p:spPr>
            <a:xfrm>
              <a:off x="819939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小红书平北职场PPT9-7"/>
            <p:cNvSpPr/>
            <p:nvPr/>
          </p:nvSpPr>
          <p:spPr>
            <a:xfrm>
              <a:off x="878981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4" name="小红书平北职场PPT9-8"/>
            <p:cNvSpPr/>
            <p:nvPr/>
          </p:nvSpPr>
          <p:spPr>
            <a:xfrm>
              <a:off x="656083" y="5950955"/>
              <a:ext cx="301176" cy="291676"/>
            </a:xfrm>
            <a:custGeom>
              <a:avLst/>
              <a:gdLst>
                <a:gd name="connsiteX0" fmla="*/ 142628 w 301176"/>
                <a:gd name="connsiteY0" fmla="*/ 291676 h 291676"/>
                <a:gd name="connsiteX1" fmla="*/ 0 w 301176"/>
                <a:gd name="connsiteY1" fmla="*/ 291676 h 291676"/>
                <a:gd name="connsiteX2" fmla="*/ 0 w 301176"/>
                <a:gd name="connsiteY2" fmla="*/ 0 h 291676"/>
                <a:gd name="connsiteX3" fmla="*/ 301177 w 301176"/>
                <a:gd name="connsiteY3" fmla="*/ 0 h 291676"/>
                <a:gd name="connsiteX4" fmla="*/ 301177 w 301176"/>
                <a:gd name="connsiteY4" fmla="*/ 109139 h 29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176" h="291676">
                  <a:moveTo>
                    <a:pt x="142628" y="291676"/>
                  </a:moveTo>
                  <a:lnTo>
                    <a:pt x="0" y="291676"/>
                  </a:lnTo>
                  <a:lnTo>
                    <a:pt x="0" y="0"/>
                  </a:lnTo>
                  <a:lnTo>
                    <a:pt x="301177" y="0"/>
                  </a:lnTo>
                  <a:lnTo>
                    <a:pt x="301177" y="109139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5" name="小红书平北职场PPT9-9"/>
            <p:cNvSpPr/>
            <p:nvPr/>
          </p:nvSpPr>
          <p:spPr>
            <a:xfrm>
              <a:off x="816622" y="6081156"/>
              <a:ext cx="205649" cy="197854"/>
            </a:xfrm>
            <a:custGeom>
              <a:avLst/>
              <a:gdLst>
                <a:gd name="connsiteX0" fmla="*/ 205649 w 205649"/>
                <a:gd name="connsiteY0" fmla="*/ 98927 h 197854"/>
                <a:gd name="connsiteX1" fmla="*/ 102825 w 205649"/>
                <a:gd name="connsiteY1" fmla="*/ 197855 h 197854"/>
                <a:gd name="connsiteX2" fmla="*/ 0 w 205649"/>
                <a:gd name="connsiteY2" fmla="*/ 98927 h 197854"/>
                <a:gd name="connsiteX3" fmla="*/ 102825 w 205649"/>
                <a:gd name="connsiteY3" fmla="*/ 0 h 197854"/>
                <a:gd name="connsiteX4" fmla="*/ 205649 w 205649"/>
                <a:gd name="connsiteY4" fmla="*/ 98927 h 19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49" h="197854">
                  <a:moveTo>
                    <a:pt x="205649" y="98927"/>
                  </a:moveTo>
                  <a:cubicBezTo>
                    <a:pt x="205649" y="153564"/>
                    <a:pt x="159613" y="197855"/>
                    <a:pt x="102825" y="197855"/>
                  </a:cubicBezTo>
                  <a:cubicBezTo>
                    <a:pt x="46036" y="197855"/>
                    <a:pt x="0" y="153564"/>
                    <a:pt x="0" y="98927"/>
                  </a:cubicBezTo>
                  <a:cubicBezTo>
                    <a:pt x="0" y="44291"/>
                    <a:pt x="46036" y="0"/>
                    <a:pt x="102825" y="0"/>
                  </a:cubicBezTo>
                  <a:cubicBezTo>
                    <a:pt x="159613" y="0"/>
                    <a:pt x="205649" y="44291"/>
                    <a:pt x="205649" y="98927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6" name="小红书平北职场PPT9-10"/>
            <p:cNvSpPr/>
            <p:nvPr/>
          </p:nvSpPr>
          <p:spPr>
            <a:xfrm>
              <a:off x="919447" y="6099027"/>
              <a:ext cx="74299" cy="81056"/>
            </a:xfrm>
            <a:custGeom>
              <a:avLst/>
              <a:gdLst>
                <a:gd name="connsiteX0" fmla="*/ 0 w 74299"/>
                <a:gd name="connsiteY0" fmla="*/ 0 h 81056"/>
                <a:gd name="connsiteX1" fmla="*/ 0 w 74299"/>
                <a:gd name="connsiteY1" fmla="*/ 81057 h 81056"/>
                <a:gd name="connsiteX2" fmla="*/ 74299 w 74299"/>
                <a:gd name="connsiteY2" fmla="*/ 81057 h 8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99" h="81056">
                  <a:moveTo>
                    <a:pt x="0" y="0"/>
                  </a:moveTo>
                  <a:lnTo>
                    <a:pt x="0" y="81057"/>
                  </a:lnTo>
                  <a:lnTo>
                    <a:pt x="74299" y="81057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7" name="小红书平北职场PPT9-11"/>
            <p:cNvSpPr/>
            <p:nvPr/>
          </p:nvSpPr>
          <p:spPr>
            <a:xfrm>
              <a:off x="748294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8" name="小红书平北职场PPT9-12"/>
            <p:cNvSpPr/>
            <p:nvPr/>
          </p:nvSpPr>
          <p:spPr>
            <a:xfrm>
              <a:off x="807335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9" name="小红书平北职场PPT9-13"/>
            <p:cNvSpPr/>
            <p:nvPr/>
          </p:nvSpPr>
          <p:spPr>
            <a:xfrm>
              <a:off x="865713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" name="小红书平北职场PPT10"/>
          <p:cNvGrpSpPr/>
          <p:nvPr/>
        </p:nvGrpSpPr>
        <p:grpSpPr>
          <a:xfrm>
            <a:off x="1139059" y="5863676"/>
            <a:ext cx="1892140" cy="588807"/>
            <a:chOff x="1167656" y="5828653"/>
            <a:chExt cx="1892140" cy="588807"/>
          </a:xfrm>
        </p:grpSpPr>
        <p:sp>
          <p:nvSpPr>
            <p:cNvPr id="95" name="小红书平北职场PPT10-1"/>
            <p:cNvSpPr txBox="1"/>
            <p:nvPr/>
          </p:nvSpPr>
          <p:spPr>
            <a:xfrm>
              <a:off x="1167656" y="5828653"/>
              <a:ext cx="1404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图谱规模</a:t>
              </a:r>
            </a:p>
          </p:txBody>
        </p:sp>
        <p:sp>
          <p:nvSpPr>
            <p:cNvPr id="96" name="小红书平北职场PPT10-2"/>
            <p:cNvSpPr txBox="1"/>
            <p:nvPr/>
          </p:nvSpPr>
          <p:spPr>
            <a:xfrm>
              <a:off x="1167656" y="6155850"/>
              <a:ext cx="18921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总数据 620 条 JD 样本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" name="小红书平北职场PPT11"/>
          <p:cNvGrpSpPr/>
          <p:nvPr/>
        </p:nvGrpSpPr>
        <p:grpSpPr>
          <a:xfrm>
            <a:off x="2603912" y="5816328"/>
            <a:ext cx="9160922" cy="706366"/>
            <a:chOff x="2829218" y="5816328"/>
            <a:chExt cx="8920117" cy="706366"/>
          </a:xfrm>
        </p:grpSpPr>
        <p:grpSp>
          <p:nvGrpSpPr>
            <p:cNvPr id="63" name="组合 62"/>
            <p:cNvGrpSpPr/>
            <p:nvPr/>
          </p:nvGrpSpPr>
          <p:grpSpPr>
            <a:xfrm>
              <a:off x="2829218" y="5816328"/>
              <a:ext cx="1042647" cy="706366"/>
              <a:chOff x="2829218" y="5816328"/>
              <a:chExt cx="1042647" cy="706366"/>
            </a:xfrm>
          </p:grpSpPr>
          <p:sp>
            <p:nvSpPr>
              <p:cNvPr id="92" name="小红书平北职场PPT11-1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3" name="小红书平北职场PPT11-2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JD 解析</a:t>
                </a:r>
              </a:p>
            </p:txBody>
          </p:sp>
          <p:sp>
            <p:nvSpPr>
              <p:cNvPr id="94" name="小红书平北职场PPT11-3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96.2</a:t>
                </a: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3920078" y="5816328"/>
              <a:ext cx="1111634" cy="706366"/>
              <a:chOff x="2794725" y="5816328"/>
              <a:chExt cx="1111634" cy="706366"/>
            </a:xfrm>
          </p:grpSpPr>
          <p:sp>
            <p:nvSpPr>
              <p:cNvPr id="89" name="小红书平北职场PPT11-4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0" name="小红书平北职场PPT11-5"/>
              <p:cNvSpPr txBox="1"/>
              <p:nvPr/>
            </p:nvSpPr>
            <p:spPr>
              <a:xfrm>
                <a:off x="2794725" y="6222530"/>
                <a:ext cx="11116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简历提取</a:t>
                </a:r>
              </a:p>
            </p:txBody>
          </p:sp>
          <p:sp>
            <p:nvSpPr>
              <p:cNvPr id="91" name="小红书平北职场PPT11-6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91.6</a:t>
                </a: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5079924" y="5816328"/>
              <a:ext cx="1042647" cy="706366"/>
              <a:chOff x="2829218" y="5816328"/>
              <a:chExt cx="1042647" cy="706366"/>
            </a:xfrm>
          </p:grpSpPr>
          <p:sp>
            <p:nvSpPr>
              <p:cNvPr id="86" name="小红书平北职场PPT11-7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11-8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人岗匹配</a:t>
                </a:r>
              </a:p>
            </p:txBody>
          </p:sp>
          <p:sp>
            <p:nvSpPr>
              <p:cNvPr id="88" name="小红书平北职场PPT11-9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97.5</a:t>
                </a:r>
                <a:r>
                  <a:rPr kumimoji="0" lang="zh-CN" altLang="en-US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/>
                </a:r>
                <a:endParaRPr kumimoji="0" lang="en-US" altLang="zh-CN" sz="19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087714" y="5816328"/>
              <a:ext cx="1277774" cy="706366"/>
              <a:chOff x="2711655" y="5816328"/>
              <a:chExt cx="1277774" cy="706366"/>
            </a:xfrm>
          </p:grpSpPr>
          <p:sp>
            <p:nvSpPr>
              <p:cNvPr id="83" name="小红书平北职场PPT11-10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11-11"/>
              <p:cNvSpPr txBox="1"/>
              <p:nvPr/>
            </p:nvSpPr>
            <p:spPr>
              <a:xfrm>
                <a:off x="2711655" y="6222530"/>
                <a:ext cx="12777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图谱岗位</a:t>
                </a:r>
              </a:p>
            </p:txBody>
          </p:sp>
          <p:sp>
            <p:nvSpPr>
              <p:cNvPr id="85" name="小红书平北职场PPT11-12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465</a:t>
                </a: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7330630" y="5816328"/>
              <a:ext cx="1042647" cy="706366"/>
              <a:chOff x="2829218" y="5816328"/>
              <a:chExt cx="1042647" cy="706366"/>
            </a:xfrm>
          </p:grpSpPr>
          <p:sp>
            <p:nvSpPr>
              <p:cNvPr id="80" name="小红书平北职场PPT11-13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1" name="小红书平北职场PPT11-14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图谱技能</a:t>
                </a:r>
              </a:p>
            </p:txBody>
          </p:sp>
          <p:sp>
            <p:nvSpPr>
              <p:cNvPr id="82" name="小红书平北职场PPT11-15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1275</a:t>
                </a:r>
                <a:r>
                  <a:rPr kumimoji="0" lang="zh-CN" altLang="en-US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/>
                </a:r>
                <a:endParaRPr kumimoji="0" lang="en-US" altLang="zh-CN" sz="19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8455983" y="5816328"/>
              <a:ext cx="1042647" cy="706366"/>
              <a:chOff x="2829218" y="5816328"/>
              <a:chExt cx="1042647" cy="706366"/>
            </a:xfrm>
          </p:grpSpPr>
          <p:sp>
            <p:nvSpPr>
              <p:cNvPr id="77" name="小红书平北职场PPT11-16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8" name="小红书平北职场PPT11-17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图谱关系</a:t>
                </a:r>
              </a:p>
            </p:txBody>
          </p:sp>
          <p:sp>
            <p:nvSpPr>
              <p:cNvPr id="79" name="小红书平北职场PPT11-18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2182</a:t>
                </a: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9581336" y="5816328"/>
              <a:ext cx="1042647" cy="706366"/>
              <a:chOff x="2829218" y="5816328"/>
              <a:chExt cx="1042647" cy="706366"/>
            </a:xfrm>
          </p:grpSpPr>
          <p:sp>
            <p:nvSpPr>
              <p:cNvPr id="74" name="小红书平北职场PPT11-19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11-20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涌现技能</a:t>
                </a:r>
              </a:p>
            </p:txBody>
          </p:sp>
          <p:sp>
            <p:nvSpPr>
              <p:cNvPr id="76" name="小红书平北职场PPT11-21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21</a:t>
                </a: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10706688" y="5816328"/>
              <a:ext cx="1042647" cy="706366"/>
              <a:chOff x="2829218" y="5816328"/>
              <a:chExt cx="1042647" cy="706366"/>
            </a:xfrm>
          </p:grpSpPr>
          <p:sp>
            <p:nvSpPr>
              <p:cNvPr id="71" name="小红书平北职场PPT11-22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11-23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数据源</a:t>
                </a:r>
              </a:p>
            </p:txBody>
          </p:sp>
          <p:sp>
            <p:nvSpPr>
              <p:cNvPr id="73" name="小红书平北职场PPT11-24"/>
              <p:cNvSpPr txBox="1"/>
              <p:nvPr/>
            </p:nvSpPr>
            <p:spPr>
              <a:xfrm>
                <a:off x="2868232" y="5873468"/>
                <a:ext cx="995616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</a:t>
                </a:r>
              </a:p>
            </p:txBody>
          </p:sp>
        </p:grpSp>
      </p:grpSp>
      <p:grpSp>
        <p:nvGrpSpPr>
          <p:cNvPr id="13" name="小红书平北职场PPT12"/>
          <p:cNvGrpSpPr/>
          <p:nvPr/>
        </p:nvGrpSpPr>
        <p:grpSpPr>
          <a:xfrm>
            <a:off x="455957" y="1855765"/>
            <a:ext cx="1089134" cy="3661436"/>
            <a:chOff x="413227" y="1855765"/>
            <a:chExt cx="1089134" cy="3661436"/>
          </a:xfrm>
        </p:grpSpPr>
        <p:grpSp>
          <p:nvGrpSpPr>
            <p:cNvPr id="54" name="组合 53"/>
            <p:cNvGrpSpPr/>
            <p:nvPr/>
          </p:nvGrpSpPr>
          <p:grpSpPr>
            <a:xfrm>
              <a:off x="413227" y="1855765"/>
              <a:ext cx="1089134" cy="3661436"/>
              <a:chOff x="413227" y="1855765"/>
              <a:chExt cx="1089134" cy="3661436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413227" y="1855765"/>
                <a:ext cx="1089134" cy="3661436"/>
                <a:chOff x="442914" y="1295953"/>
                <a:chExt cx="617536" cy="5228673"/>
              </a:xfrm>
            </p:grpSpPr>
            <p:sp>
              <p:nvSpPr>
                <p:cNvPr id="61" name="小红书平北职场PPT12-1"/>
                <p:cNvSpPr/>
                <p:nvPr/>
              </p:nvSpPr>
              <p:spPr>
                <a:xfrm>
                  <a:off x="442914" y="1295953"/>
                  <a:ext cx="617536" cy="247037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2-2"/>
                <p:cNvSpPr/>
                <p:nvPr/>
              </p:nvSpPr>
              <p:spPr>
                <a:xfrm>
                  <a:off x="442914" y="3955680"/>
                  <a:ext cx="617536" cy="256894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469329" y="2796548"/>
                <a:ext cx="976930" cy="2457559"/>
                <a:chOff x="494306" y="2703560"/>
                <a:chExt cx="1548535" cy="2457559"/>
              </a:xfrm>
            </p:grpSpPr>
            <p:sp>
              <p:nvSpPr>
                <p:cNvPr id="59" name="小红书平北职场PPT12-3"/>
                <p:cNvSpPr txBox="1"/>
                <p:nvPr/>
              </p:nvSpPr>
              <p:spPr>
                <a:xfrm>
                  <a:off x="494306" y="2703560"/>
                  <a:ext cx="154853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JD 解析</a:t>
                  </a:r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F1</a:t>
                  </a:r>
                </a:p>
              </p:txBody>
            </p:sp>
            <p:sp>
              <p:nvSpPr>
                <p:cNvPr id="60" name="小红书平北职场PPT12-4"/>
                <p:cNvSpPr txBox="1"/>
                <p:nvPr/>
              </p:nvSpPr>
              <p:spPr>
                <a:xfrm>
                  <a:off x="494306" y="4453233"/>
                  <a:ext cx="154853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简历提取</a:t>
                  </a:r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F1</a:t>
                  </a:r>
                </a:p>
              </p:txBody>
            </p:sp>
          </p:grpSp>
        </p:grpSp>
        <p:pic>
          <p:nvPicPr>
            <p:cNvPr id="55" name="小红书平北职场PPT12-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985" y="2191479"/>
              <a:ext cx="509248" cy="509248"/>
            </a:xfrm>
            <a:prstGeom prst="rect">
              <a:avLst/>
            </a:prstGeom>
            <a:effectLst>
              <a:outerShdw blurRad="50800" dist="38100" dir="5400000" algn="t" rotWithShape="0">
                <a:srgbClr val="420003">
                  <a:alpha val="20000"/>
                </a:srgbClr>
              </a:outerShdw>
            </a:effectLst>
          </p:spPr>
        </p:pic>
        <p:pic>
          <p:nvPicPr>
            <p:cNvPr id="56" name="小红书平北职场PPT12-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1985" y="3949938"/>
              <a:ext cx="509248" cy="509248"/>
            </a:xfrm>
            <a:prstGeom prst="rect">
              <a:avLst/>
            </a:prstGeom>
            <a:effectLst>
              <a:outerShdw blurRad="50800" dist="38100" dir="5400000" algn="t" rotWithShape="0">
                <a:srgbClr val="420003">
                  <a:alpha val="20000"/>
                </a:srgbClr>
              </a:outerShdw>
            </a:effectLst>
          </p:spPr>
        </p:pic>
      </p:grpSp>
      <p:grpSp>
        <p:nvGrpSpPr>
          <p:cNvPr id="14" name="小红书平北职场PPT13"/>
          <p:cNvGrpSpPr/>
          <p:nvPr/>
        </p:nvGrpSpPr>
        <p:grpSpPr>
          <a:xfrm>
            <a:off x="2332819" y="2119275"/>
            <a:ext cx="4180444" cy="374119"/>
            <a:chOff x="1690107" y="2666752"/>
            <a:chExt cx="1867767" cy="259972"/>
          </a:xfrm>
        </p:grpSpPr>
        <p:sp>
          <p:nvSpPr>
            <p:cNvPr id="52" name="小红书平北职场PPT13-1"/>
            <p:cNvSpPr/>
            <p:nvPr/>
          </p:nvSpPr>
          <p:spPr>
            <a:xfrm>
              <a:off x="1690107" y="2666752"/>
              <a:ext cx="1867767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53" name="小红书平北职场PPT13-2"/>
            <p:cNvSpPr txBox="1"/>
            <p:nvPr/>
          </p:nvSpPr>
          <p:spPr>
            <a:xfrm>
              <a:off x="1781553" y="2695346"/>
              <a:ext cx="1686964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96.2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JD 解析 F1：110 样本实测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流程再造与指标库建设</a:t>
              </a:r>
            </a:p>
          </p:txBody>
        </p:sp>
      </p:grpSp>
      <p:grpSp>
        <p:nvGrpSpPr>
          <p:cNvPr id="15" name="小红书平北职场PPT14"/>
          <p:cNvGrpSpPr/>
          <p:nvPr/>
        </p:nvGrpSpPr>
        <p:grpSpPr>
          <a:xfrm>
            <a:off x="3810151" y="2950213"/>
            <a:ext cx="6919308" cy="374118"/>
            <a:chOff x="1688374" y="2658819"/>
            <a:chExt cx="3091454" cy="259972"/>
          </a:xfrm>
        </p:grpSpPr>
        <p:sp>
          <p:nvSpPr>
            <p:cNvPr id="50" name="小红书平北职场PPT14-1"/>
            <p:cNvSpPr/>
            <p:nvPr/>
          </p:nvSpPr>
          <p:spPr>
            <a:xfrm>
              <a:off x="1688374" y="2658819"/>
              <a:ext cx="3091454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51" name="小红书平北职场PPT14-2"/>
            <p:cNvSpPr txBox="1"/>
            <p:nvPr/>
          </p:nvSpPr>
          <p:spPr>
            <a:xfrm>
              <a:off x="1711021" y="2687406"/>
              <a:ext cx="1834874" cy="192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91.6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简历提取 F1：50 样本实测</a:t>
              </a:r>
            </a:p>
          </p:txBody>
        </p:sp>
      </p:grpSp>
      <p:grpSp>
        <p:nvGrpSpPr>
          <p:cNvPr id="16" name="小红书平北职场PPT15"/>
          <p:cNvGrpSpPr/>
          <p:nvPr/>
        </p:nvGrpSpPr>
        <p:grpSpPr>
          <a:xfrm>
            <a:off x="7189268" y="2345139"/>
            <a:ext cx="4315617" cy="374119"/>
            <a:chOff x="1688373" y="2634980"/>
            <a:chExt cx="1928160" cy="259972"/>
          </a:xfrm>
        </p:grpSpPr>
        <p:sp>
          <p:nvSpPr>
            <p:cNvPr id="48" name="小红书平北职场PPT15-1"/>
            <p:cNvSpPr/>
            <p:nvPr/>
          </p:nvSpPr>
          <p:spPr>
            <a:xfrm>
              <a:off x="1688373" y="2634980"/>
              <a:ext cx="1928160" cy="259972"/>
            </a:xfrm>
            <a:prstGeom prst="roundRect">
              <a:avLst>
                <a:gd name="adj" fmla="val 14096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9" name="小红书平北职场PPT15-2"/>
            <p:cNvSpPr txBox="1"/>
            <p:nvPr/>
          </p:nvSpPr>
          <p:spPr>
            <a:xfrm>
              <a:off x="1762089" y="2671517"/>
              <a:ext cx="1753140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97.5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人岗匹配 97.45：432 样本</a:t>
              </a:r>
            </a:p>
          </p:txBody>
        </p:sp>
      </p:grpSp>
      <p:grpSp>
        <p:nvGrpSpPr>
          <p:cNvPr id="17" name="小红书平北职场PPT16"/>
          <p:cNvGrpSpPr/>
          <p:nvPr/>
        </p:nvGrpSpPr>
        <p:grpSpPr>
          <a:xfrm>
            <a:off x="7710371" y="4903977"/>
            <a:ext cx="3866142" cy="374119"/>
            <a:chOff x="1690107" y="2666752"/>
            <a:chExt cx="1727341" cy="259972"/>
          </a:xfrm>
        </p:grpSpPr>
        <p:sp>
          <p:nvSpPr>
            <p:cNvPr id="46" name="小红书平北职场PPT16-1"/>
            <p:cNvSpPr/>
            <p:nvPr/>
          </p:nvSpPr>
          <p:spPr>
            <a:xfrm>
              <a:off x="1690107" y="2666752"/>
              <a:ext cx="1703169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7" name="小红书平北职场PPT16-2"/>
            <p:cNvSpPr txBox="1"/>
            <p:nvPr/>
          </p:nvSpPr>
          <p:spPr>
            <a:xfrm>
              <a:off x="1730484" y="2695346"/>
              <a:ext cx="1686964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465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图谱岗位 465 个</a:t>
              </a:r>
            </a:p>
          </p:txBody>
        </p:sp>
      </p:grpSp>
      <p:grpSp>
        <p:nvGrpSpPr>
          <p:cNvPr id="18" name="小红书平北职场PPT17"/>
          <p:cNvGrpSpPr/>
          <p:nvPr/>
        </p:nvGrpSpPr>
        <p:grpSpPr>
          <a:xfrm>
            <a:off x="1769068" y="3747861"/>
            <a:ext cx="3530772" cy="374119"/>
            <a:chOff x="1690107" y="2666752"/>
            <a:chExt cx="1577502" cy="259972"/>
          </a:xfrm>
        </p:grpSpPr>
        <p:sp>
          <p:nvSpPr>
            <p:cNvPr id="44" name="小红书平北职场PPT17-1"/>
            <p:cNvSpPr/>
            <p:nvPr/>
          </p:nvSpPr>
          <p:spPr>
            <a:xfrm>
              <a:off x="1690107" y="2666752"/>
              <a:ext cx="1577502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5" name="小红书平北职场PPT17-2"/>
            <p:cNvSpPr txBox="1"/>
            <p:nvPr/>
          </p:nvSpPr>
          <p:spPr>
            <a:xfrm>
              <a:off x="1715163" y="2703289"/>
              <a:ext cx="1537125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1275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图谱技能 1275 项</a:t>
              </a:r>
            </a:p>
          </p:txBody>
        </p:sp>
      </p:grpSp>
      <p:grpSp>
        <p:nvGrpSpPr>
          <p:cNvPr id="19" name="小红书平北职场PPT18"/>
          <p:cNvGrpSpPr/>
          <p:nvPr/>
        </p:nvGrpSpPr>
        <p:grpSpPr>
          <a:xfrm>
            <a:off x="5836221" y="4054261"/>
            <a:ext cx="5494054" cy="374119"/>
            <a:chOff x="1688373" y="2634980"/>
            <a:chExt cx="2454670" cy="259972"/>
          </a:xfrm>
        </p:grpSpPr>
        <p:sp>
          <p:nvSpPr>
            <p:cNvPr id="42" name="小红书平北职场PPT18-1"/>
            <p:cNvSpPr/>
            <p:nvPr/>
          </p:nvSpPr>
          <p:spPr>
            <a:xfrm>
              <a:off x="1688373" y="2634980"/>
              <a:ext cx="2454670" cy="259972"/>
            </a:xfrm>
            <a:prstGeom prst="roundRect">
              <a:avLst>
                <a:gd name="adj" fmla="val 14096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3" name="小红书平北职场PPT18-2"/>
            <p:cNvSpPr txBox="1"/>
            <p:nvPr/>
          </p:nvSpPr>
          <p:spPr>
            <a:xfrm>
              <a:off x="1762089" y="2671517"/>
              <a:ext cx="1753140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2182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图谱关系 2182 条</a:t>
              </a:r>
            </a:p>
          </p:txBody>
        </p:sp>
      </p:grpSp>
      <p:grpSp>
        <p:nvGrpSpPr>
          <p:cNvPr id="20" name="小红书平北职场PPT19"/>
          <p:cNvGrpSpPr/>
          <p:nvPr/>
        </p:nvGrpSpPr>
        <p:grpSpPr>
          <a:xfrm>
            <a:off x="2225798" y="4659006"/>
            <a:ext cx="4961945" cy="374119"/>
            <a:chOff x="1690107" y="2666752"/>
            <a:chExt cx="2216931" cy="259972"/>
          </a:xfrm>
        </p:grpSpPr>
        <p:sp>
          <p:nvSpPr>
            <p:cNvPr id="40" name="小红书平北职场PPT19-1"/>
            <p:cNvSpPr/>
            <p:nvPr/>
          </p:nvSpPr>
          <p:spPr>
            <a:xfrm>
              <a:off x="1690107" y="2666752"/>
              <a:ext cx="2216931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1" name="小红书平北职场PPT19-2"/>
            <p:cNvSpPr txBox="1"/>
            <p:nvPr/>
          </p:nvSpPr>
          <p:spPr>
            <a:xfrm>
              <a:off x="1715162" y="2703289"/>
              <a:ext cx="1641419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21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涌现技能 21 项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3" y="851921"/>
            <a:ext cx="11522075" cy="4168119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51686" y="5260184"/>
            <a:ext cx="11522075" cy="1170860"/>
            <a:chOff x="351687" y="5288547"/>
            <a:chExt cx="11488624" cy="1170860"/>
          </a:xfrm>
        </p:grpSpPr>
        <p:grpSp>
          <p:nvGrpSpPr>
            <p:cNvPr id="89" name="组合 88"/>
            <p:cNvGrpSpPr/>
            <p:nvPr/>
          </p:nvGrpSpPr>
          <p:grpSpPr>
            <a:xfrm>
              <a:off x="351687" y="5288547"/>
              <a:ext cx="11488624" cy="1170860"/>
              <a:chOff x="351687" y="5356639"/>
              <a:chExt cx="11488624" cy="1055144"/>
            </a:xfrm>
          </p:grpSpPr>
          <p:sp>
            <p:nvSpPr>
              <p:cNvPr id="114" name="小红书平北职场PPT2-1"/>
              <p:cNvSpPr/>
              <p:nvPr/>
            </p:nvSpPr>
            <p:spPr>
              <a:xfrm>
                <a:off x="351687" y="5356643"/>
                <a:ext cx="5657978" cy="1055140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小红书平北职场PPT2-2"/>
              <p:cNvSpPr/>
              <p:nvPr/>
            </p:nvSpPr>
            <p:spPr>
              <a:xfrm>
                <a:off x="6182333" y="5356639"/>
                <a:ext cx="5657978" cy="105514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527327" y="5406747"/>
              <a:ext cx="10975680" cy="389827"/>
              <a:chOff x="527327" y="5406747"/>
              <a:chExt cx="10975680" cy="389827"/>
            </a:xfrm>
          </p:grpSpPr>
          <p:sp>
            <p:nvSpPr>
              <p:cNvPr id="108" name="小红书平北职场PPT2-3"/>
              <p:cNvSpPr txBox="1"/>
              <p:nvPr/>
            </p:nvSpPr>
            <p:spPr>
              <a:xfrm>
                <a:off x="527327" y="5406747"/>
                <a:ext cx="1210589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现状痛点</a:t>
                </a: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08805" y="5406747"/>
                <a:ext cx="10894202" cy="389827"/>
                <a:chOff x="608805" y="5406747"/>
                <a:chExt cx="10894202" cy="389827"/>
              </a:xfrm>
            </p:grpSpPr>
            <p:cxnSp>
              <p:nvCxnSpPr>
                <p:cNvPr id="110" name="小红书平北职场PPT2-4"/>
                <p:cNvCxnSpPr/>
                <p:nvPr/>
              </p:nvCxnSpPr>
              <p:spPr>
                <a:xfrm>
                  <a:off x="608805" y="5796574"/>
                  <a:ext cx="4891042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1" name="组合 110"/>
                <p:cNvGrpSpPr/>
                <p:nvPr/>
              </p:nvGrpSpPr>
              <p:grpSpPr>
                <a:xfrm>
                  <a:off x="6515584" y="5406747"/>
                  <a:ext cx="4987423" cy="389827"/>
                  <a:chOff x="6152515" y="5406747"/>
                  <a:chExt cx="4987423" cy="389827"/>
                </a:xfrm>
              </p:grpSpPr>
              <p:cxnSp>
                <p:nvCxnSpPr>
                  <p:cNvPr id="112" name="小红书平北职场PPT2-5"/>
                  <p:cNvCxnSpPr/>
                  <p:nvPr/>
                </p:nvCxnSpPr>
                <p:spPr>
                  <a:xfrm>
                    <a:off x="6248896" y="5796574"/>
                    <a:ext cx="4891042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" name="小红书平北职场PPT2-6"/>
                  <p:cNvSpPr txBox="1"/>
                  <p:nvPr/>
                </p:nvSpPr>
                <p:spPr>
                  <a:xfrm>
                    <a:off x="6152515" y="5406747"/>
                    <a:ext cx="1210589" cy="33855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方案价值</a:t>
                    </a:r>
                  </a:p>
                </p:txBody>
              </p:sp>
            </p:grpSp>
          </p:grpSp>
        </p:grpSp>
        <p:grpSp>
          <p:nvGrpSpPr>
            <p:cNvPr id="91" name="组合 90"/>
            <p:cNvGrpSpPr/>
            <p:nvPr/>
          </p:nvGrpSpPr>
          <p:grpSpPr>
            <a:xfrm>
              <a:off x="1718389" y="5360838"/>
              <a:ext cx="3753695" cy="400110"/>
              <a:chOff x="1415161" y="5354421"/>
              <a:chExt cx="3985724" cy="379634"/>
            </a:xfrm>
          </p:grpSpPr>
          <p:sp>
            <p:nvSpPr>
              <p:cNvPr id="105" name="小红书平北职场PPT2-7"/>
              <p:cNvSpPr txBox="1"/>
              <p:nvPr/>
            </p:nvSpPr>
            <p:spPr>
              <a:xfrm>
                <a:off x="1415161" y="5354421"/>
                <a:ext cx="784423" cy="37963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90%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6" name="小红书平北职场PPT2-8"/>
              <p:cNvSpPr/>
              <p:nvPr/>
            </p:nvSpPr>
            <p:spPr>
              <a:xfrm>
                <a:off x="2296602" y="5498620"/>
                <a:ext cx="3104283" cy="1398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7" name="小红书平北职场PPT2-9"/>
              <p:cNvSpPr/>
              <p:nvPr/>
            </p:nvSpPr>
            <p:spPr>
              <a:xfrm>
                <a:off x="2341815" y="5526752"/>
                <a:ext cx="2793852" cy="8431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70000"/>
                    </a:schemeClr>
                  </a:gs>
                  <a:gs pos="54000">
                    <a:schemeClr val="accent2">
                      <a:alpha val="70000"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5826666" y="5643223"/>
              <a:ext cx="502538" cy="504000"/>
              <a:chOff x="5767998" y="5584561"/>
              <a:chExt cx="617037" cy="618833"/>
            </a:xfrm>
          </p:grpSpPr>
          <p:sp>
            <p:nvSpPr>
              <p:cNvPr id="101" name="小红书平北职场PPT2-10"/>
              <p:cNvSpPr/>
              <p:nvPr/>
            </p:nvSpPr>
            <p:spPr>
              <a:xfrm>
                <a:off x="5767998" y="5584561"/>
                <a:ext cx="617037" cy="61883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5952545" y="5779471"/>
                <a:ext cx="304129" cy="220622"/>
                <a:chOff x="5979579" y="5876585"/>
                <a:chExt cx="304129" cy="220622"/>
              </a:xfrm>
              <a:solidFill>
                <a:schemeClr val="bg1"/>
              </a:solidFill>
            </p:grpSpPr>
            <p:sp>
              <p:nvSpPr>
                <p:cNvPr id="103" name="小红书平北职场PPT2-11"/>
                <p:cNvSpPr/>
                <p:nvPr/>
              </p:nvSpPr>
              <p:spPr>
                <a:xfrm>
                  <a:off x="5979579" y="5876585"/>
                  <a:ext cx="152064" cy="220622"/>
                </a:xfrm>
                <a:custGeom>
                  <a:avLst/>
                  <a:gdLst>
                    <a:gd name="connsiteX0" fmla="*/ 49438 w 241228"/>
                    <a:gd name="connsiteY0" fmla="*/ 0 h 349986"/>
                    <a:gd name="connsiteX1" fmla="*/ 49438 w 241228"/>
                    <a:gd name="connsiteY1" fmla="*/ 0 h 349986"/>
                    <a:gd name="connsiteX2" fmla="*/ 16805 w 241228"/>
                    <a:gd name="connsiteY2" fmla="*/ 86344 h 349986"/>
                    <a:gd name="connsiteX3" fmla="*/ 75355 w 241228"/>
                    <a:gd name="connsiteY3" fmla="*/ 137989 h 349986"/>
                    <a:gd name="connsiteX4" fmla="*/ 75355 w 241228"/>
                    <a:gd name="connsiteY4" fmla="*/ 211998 h 349986"/>
                    <a:gd name="connsiteX5" fmla="*/ 16805 w 241228"/>
                    <a:gd name="connsiteY5" fmla="*/ 263642 h 349986"/>
                    <a:gd name="connsiteX6" fmla="*/ 49438 w 241228"/>
                    <a:gd name="connsiteY6" fmla="*/ 349987 h 349986"/>
                    <a:gd name="connsiteX7" fmla="*/ 49438 w 241228"/>
                    <a:gd name="connsiteY7" fmla="*/ 349987 h 349986"/>
                    <a:gd name="connsiteX8" fmla="*/ 82070 w 241228"/>
                    <a:gd name="connsiteY8" fmla="*/ 337652 h 349986"/>
                    <a:gd name="connsiteX9" fmla="*/ 224526 w 241228"/>
                    <a:gd name="connsiteY9" fmla="*/ 212008 h 349986"/>
                    <a:gd name="connsiteX10" fmla="*/ 224526 w 241228"/>
                    <a:gd name="connsiteY10" fmla="*/ 137998 h 349986"/>
                    <a:gd name="connsiteX11" fmla="*/ 82070 w 241228"/>
                    <a:gd name="connsiteY11" fmla="*/ 12354 h 349986"/>
                    <a:gd name="connsiteX12" fmla="*/ 49438 w 241228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28" h="349986">
                      <a:moveTo>
                        <a:pt x="49438" y="0"/>
                      </a:moveTo>
                      <a:lnTo>
                        <a:pt x="49438" y="0"/>
                      </a:lnTo>
                      <a:cubicBezTo>
                        <a:pt x="3975" y="0"/>
                        <a:pt x="-17295" y="56274"/>
                        <a:pt x="16805" y="86344"/>
                      </a:cubicBezTo>
                      <a:lnTo>
                        <a:pt x="75355" y="137989"/>
                      </a:lnTo>
                      <a:cubicBezTo>
                        <a:pt x="97625" y="157629"/>
                        <a:pt x="97625" y="192348"/>
                        <a:pt x="75355" y="211998"/>
                      </a:cubicBezTo>
                      <a:lnTo>
                        <a:pt x="16805" y="263642"/>
                      </a:lnTo>
                      <a:cubicBezTo>
                        <a:pt x="-17285" y="293713"/>
                        <a:pt x="3984" y="349987"/>
                        <a:pt x="49438" y="349987"/>
                      </a:cubicBezTo>
                      <a:lnTo>
                        <a:pt x="49438" y="349987"/>
                      </a:lnTo>
                      <a:cubicBezTo>
                        <a:pt x="61458" y="349987"/>
                        <a:pt x="73060" y="345605"/>
                        <a:pt x="82070" y="337652"/>
                      </a:cubicBezTo>
                      <a:lnTo>
                        <a:pt x="224526" y="212008"/>
                      </a:lnTo>
                      <a:cubicBezTo>
                        <a:pt x="246796" y="192367"/>
                        <a:pt x="246796" y="157648"/>
                        <a:pt x="224526" y="137998"/>
                      </a:cubicBezTo>
                      <a:lnTo>
                        <a:pt x="82070" y="12354"/>
                      </a:lnTo>
                      <a:cubicBezTo>
                        <a:pt x="73060" y="4391"/>
                        <a:pt x="61458" y="0"/>
                        <a:pt x="49438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2-12"/>
                <p:cNvSpPr/>
                <p:nvPr/>
              </p:nvSpPr>
              <p:spPr>
                <a:xfrm>
                  <a:off x="6131643" y="5876585"/>
                  <a:ext cx="152065" cy="220622"/>
                </a:xfrm>
                <a:custGeom>
                  <a:avLst/>
                  <a:gdLst>
                    <a:gd name="connsiteX0" fmla="*/ 49440 w 241230"/>
                    <a:gd name="connsiteY0" fmla="*/ 0 h 349986"/>
                    <a:gd name="connsiteX1" fmla="*/ 49440 w 241230"/>
                    <a:gd name="connsiteY1" fmla="*/ 0 h 349986"/>
                    <a:gd name="connsiteX2" fmla="*/ 16798 w 241230"/>
                    <a:gd name="connsiteY2" fmla="*/ 86344 h 349986"/>
                    <a:gd name="connsiteX3" fmla="*/ 75348 w 241230"/>
                    <a:gd name="connsiteY3" fmla="*/ 137989 h 349986"/>
                    <a:gd name="connsiteX4" fmla="*/ 75348 w 241230"/>
                    <a:gd name="connsiteY4" fmla="*/ 211998 h 349986"/>
                    <a:gd name="connsiteX5" fmla="*/ 16798 w 241230"/>
                    <a:gd name="connsiteY5" fmla="*/ 263642 h 349986"/>
                    <a:gd name="connsiteX6" fmla="*/ 49440 w 241230"/>
                    <a:gd name="connsiteY6" fmla="*/ 349987 h 349986"/>
                    <a:gd name="connsiteX7" fmla="*/ 49440 w 241230"/>
                    <a:gd name="connsiteY7" fmla="*/ 349987 h 349986"/>
                    <a:gd name="connsiteX8" fmla="*/ 82073 w 241230"/>
                    <a:gd name="connsiteY8" fmla="*/ 337652 h 349986"/>
                    <a:gd name="connsiteX9" fmla="*/ 224529 w 241230"/>
                    <a:gd name="connsiteY9" fmla="*/ 212008 h 349986"/>
                    <a:gd name="connsiteX10" fmla="*/ 224529 w 241230"/>
                    <a:gd name="connsiteY10" fmla="*/ 137998 h 349986"/>
                    <a:gd name="connsiteX11" fmla="*/ 82073 w 241230"/>
                    <a:gd name="connsiteY11" fmla="*/ 12354 h 349986"/>
                    <a:gd name="connsiteX12" fmla="*/ 49440 w 241230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30" h="349986">
                      <a:moveTo>
                        <a:pt x="49440" y="0"/>
                      </a:moveTo>
                      <a:lnTo>
                        <a:pt x="49440" y="0"/>
                      </a:lnTo>
                      <a:cubicBezTo>
                        <a:pt x="3978" y="0"/>
                        <a:pt x="-17292" y="56274"/>
                        <a:pt x="16798" y="86344"/>
                      </a:cubicBezTo>
                      <a:lnTo>
                        <a:pt x="75348" y="137989"/>
                      </a:lnTo>
                      <a:cubicBezTo>
                        <a:pt x="97618" y="157629"/>
                        <a:pt x="97618" y="192348"/>
                        <a:pt x="75348" y="211998"/>
                      </a:cubicBezTo>
                      <a:lnTo>
                        <a:pt x="16798" y="263642"/>
                      </a:lnTo>
                      <a:cubicBezTo>
                        <a:pt x="-17292" y="293713"/>
                        <a:pt x="3978" y="349987"/>
                        <a:pt x="49440" y="349987"/>
                      </a:cubicBezTo>
                      <a:lnTo>
                        <a:pt x="49440" y="349987"/>
                      </a:lnTo>
                      <a:cubicBezTo>
                        <a:pt x="61461" y="349987"/>
                        <a:pt x="73062" y="345605"/>
                        <a:pt x="82073" y="337652"/>
                      </a:cubicBezTo>
                      <a:lnTo>
                        <a:pt x="224529" y="212008"/>
                      </a:lnTo>
                      <a:cubicBezTo>
                        <a:pt x="246798" y="192367"/>
                        <a:pt x="246798" y="157648"/>
                        <a:pt x="224529" y="137998"/>
                      </a:cubicBezTo>
                      <a:lnTo>
                        <a:pt x="82073" y="12354"/>
                      </a:lnTo>
                      <a:cubicBezTo>
                        <a:pt x="73062" y="4391"/>
                        <a:pt x="61461" y="0"/>
                        <a:pt x="49440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3" name="小红书平北职场PPT2-13"/>
            <p:cNvSpPr txBox="1"/>
            <p:nvPr/>
          </p:nvSpPr>
          <p:spPr>
            <a:xfrm>
              <a:off x="6547546" y="5863391"/>
              <a:ext cx="51157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星图系统已公网部署运行，动态演化、数据可追溯；465 岗位 / 1275 技能 / 2182 关系构成可检索、可推理的能力星云。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</a:p>
          </p:txBody>
        </p:sp>
        <p:sp>
          <p:nvSpPr>
            <p:cNvPr id="94" name="小红书平北职场PPT2-14"/>
            <p:cNvSpPr txBox="1"/>
            <p:nvPr/>
          </p:nvSpPr>
          <p:spPr>
            <a:xfrm>
              <a:off x="528684" y="5863391"/>
              <a:ext cx="52173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企业招不到合适的人：新兴岗位识别难、人岗匹配度低、招聘成本高；青年职业路径模糊：技能需求动态性强、发展路径不清晰。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7758052" y="5479498"/>
              <a:ext cx="3605662" cy="268022"/>
              <a:chOff x="3699190" y="8111677"/>
              <a:chExt cx="7040985" cy="268022"/>
            </a:xfrm>
          </p:grpSpPr>
          <p:sp>
            <p:nvSpPr>
              <p:cNvPr id="96" name="小红书平北职场PPT2-15"/>
              <p:cNvSpPr txBox="1"/>
              <p:nvPr/>
            </p:nvSpPr>
            <p:spPr>
              <a:xfrm>
                <a:off x="3699190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新兴岗位</a:t>
                </a:r>
              </a:p>
            </p:txBody>
          </p:sp>
          <p:sp>
            <p:nvSpPr>
              <p:cNvPr id="97" name="小红书平北职场PPT2-16"/>
              <p:cNvSpPr txBox="1"/>
              <p:nvPr/>
            </p:nvSpPr>
            <p:spPr>
              <a:xfrm>
                <a:off x="5107387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人岗匹配</a:t>
                </a:r>
              </a:p>
            </p:txBody>
          </p:sp>
          <p:sp>
            <p:nvSpPr>
              <p:cNvPr id="98" name="小红书平北职场PPT2-17"/>
              <p:cNvSpPr txBox="1"/>
              <p:nvPr/>
            </p:nvSpPr>
            <p:spPr>
              <a:xfrm>
                <a:off x="6515586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路径模糊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9" name="小红书平北职场PPT2-18"/>
              <p:cNvSpPr txBox="1"/>
              <p:nvPr/>
            </p:nvSpPr>
            <p:spPr>
              <a:xfrm>
                <a:off x="7923779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数据失联</a:t>
                </a:r>
              </a:p>
            </p:txBody>
          </p:sp>
          <p:sp>
            <p:nvSpPr>
              <p:cNvPr id="100" name="小红书平北职场PPT2-19"/>
              <p:cNvSpPr txBox="1"/>
              <p:nvPr/>
            </p:nvSpPr>
            <p:spPr>
              <a:xfrm>
                <a:off x="9331978" y="8111677"/>
                <a:ext cx="1408197" cy="268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动态演化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/>
                </a:r>
              </a:p>
            </p:txBody>
          </p:sp>
        </p:grpSp>
      </p:grpSp>
      <p:grpSp>
        <p:nvGrpSpPr>
          <p:cNvPr id="5" name="小红书平北职场PPT3"/>
          <p:cNvGrpSpPr/>
          <p:nvPr/>
        </p:nvGrpSpPr>
        <p:grpSpPr>
          <a:xfrm>
            <a:off x="534273" y="976953"/>
            <a:ext cx="11123455" cy="469236"/>
            <a:chOff x="534273" y="1124453"/>
            <a:chExt cx="11123455" cy="469236"/>
          </a:xfrm>
        </p:grpSpPr>
        <p:sp>
          <p:nvSpPr>
            <p:cNvPr id="78" name="小红书平北职场PPT3-1"/>
            <p:cNvSpPr/>
            <p:nvPr/>
          </p:nvSpPr>
          <p:spPr>
            <a:xfrm>
              <a:off x="534273" y="1124453"/>
              <a:ext cx="11123455" cy="469236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2273541" y="1240913"/>
              <a:ext cx="8144200" cy="234357"/>
              <a:chOff x="8217402" y="1655595"/>
              <a:chExt cx="3203081" cy="311694"/>
            </a:xfr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0" scaled="1"/>
            </a:gradFill>
          </p:grpSpPr>
          <p:sp>
            <p:nvSpPr>
              <p:cNvPr id="83" name="小红书平北职场PPT3-2"/>
              <p:cNvSpPr/>
              <p:nvPr/>
            </p:nvSpPr>
            <p:spPr>
              <a:xfrm>
                <a:off x="8217402" y="1655598"/>
                <a:ext cx="482319" cy="311688"/>
              </a:xfrm>
              <a:prstGeom prst="homePlate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3-3"/>
              <p:cNvSpPr/>
              <p:nvPr/>
            </p:nvSpPr>
            <p:spPr>
              <a:xfrm>
                <a:off x="8761551" y="1655598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5" name="小红书平北职场PPT3-4"/>
              <p:cNvSpPr/>
              <p:nvPr/>
            </p:nvSpPr>
            <p:spPr>
              <a:xfrm>
                <a:off x="9305701" y="1655595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6" name="小红书平北职场PPT3-5"/>
              <p:cNvSpPr/>
              <p:nvPr/>
            </p:nvSpPr>
            <p:spPr>
              <a:xfrm>
                <a:off x="9849853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4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3-6"/>
              <p:cNvSpPr/>
              <p:nvPr/>
            </p:nvSpPr>
            <p:spPr>
              <a:xfrm>
                <a:off x="10394008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5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3-7"/>
              <p:cNvSpPr/>
              <p:nvPr/>
            </p:nvSpPr>
            <p:spPr>
              <a:xfrm>
                <a:off x="10938164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6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815354" y="1203599"/>
              <a:ext cx="10771417" cy="338298"/>
              <a:chOff x="805080" y="1305013"/>
              <a:chExt cx="10771417" cy="338298"/>
            </a:xfrm>
          </p:grpSpPr>
          <p:sp>
            <p:nvSpPr>
              <p:cNvPr id="81" name="小红书平北职场PPT3-8"/>
              <p:cNvSpPr txBox="1"/>
              <p:nvPr/>
            </p:nvSpPr>
            <p:spPr>
              <a:xfrm>
                <a:off x="805080" y="1305013"/>
                <a:ext cx="902811" cy="33829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任务名称</a:t>
                </a:r>
              </a:p>
            </p:txBody>
          </p:sp>
          <p:sp>
            <p:nvSpPr>
              <p:cNvPr id="82" name="小红书平北职场PPT3-9"/>
              <p:cNvSpPr txBox="1"/>
              <p:nvPr/>
            </p:nvSpPr>
            <p:spPr>
              <a:xfrm>
                <a:off x="10673686" y="1305013"/>
                <a:ext cx="902811" cy="32893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完成情况</a:t>
                </a:r>
              </a:p>
            </p:txBody>
          </p:sp>
        </p:grpSp>
      </p:grpSp>
      <p:grpSp>
        <p:nvGrpSpPr>
          <p:cNvPr id="6" name="小红书平北职场PPT4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6" name="小红书平北职场PPT4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小红书平北职场PPT4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4924425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背景与核心痛点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/>
              </a:r>
            </a:p>
          </p:txBody>
        </p:sp>
      </p:grpSp>
      <p:grpSp>
        <p:nvGrpSpPr>
          <p:cNvPr id="7" name="小红书平北职场PPT5"/>
          <p:cNvGrpSpPr/>
          <p:nvPr/>
        </p:nvGrpSpPr>
        <p:grpSpPr>
          <a:xfrm>
            <a:off x="534273" y="1532536"/>
            <a:ext cx="11144884" cy="3365754"/>
            <a:chOff x="534273" y="1760440"/>
            <a:chExt cx="11144884" cy="3137849"/>
          </a:xfrm>
        </p:grpSpPr>
        <p:sp>
          <p:nvSpPr>
            <p:cNvPr id="27" name="小红书平北职场PPT5-1"/>
            <p:cNvSpPr/>
            <p:nvPr/>
          </p:nvSpPr>
          <p:spPr>
            <a:xfrm>
              <a:off x="534273" y="1760440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小红书平北职场PPT5-2"/>
            <p:cNvSpPr/>
            <p:nvPr/>
          </p:nvSpPr>
          <p:spPr>
            <a:xfrm>
              <a:off x="534273" y="221360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5-3"/>
            <p:cNvSpPr/>
            <p:nvPr/>
          </p:nvSpPr>
          <p:spPr>
            <a:xfrm>
              <a:off x="534273" y="266676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5-4"/>
            <p:cNvSpPr/>
            <p:nvPr/>
          </p:nvSpPr>
          <p:spPr>
            <a:xfrm>
              <a:off x="534273" y="311993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5-5"/>
            <p:cNvSpPr/>
            <p:nvPr/>
          </p:nvSpPr>
          <p:spPr>
            <a:xfrm>
              <a:off x="534273" y="357309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小红书平北职场PPT5-6"/>
            <p:cNvSpPr/>
            <p:nvPr/>
          </p:nvSpPr>
          <p:spPr>
            <a:xfrm>
              <a:off x="534273" y="4026264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5-7"/>
            <p:cNvSpPr/>
            <p:nvPr/>
          </p:nvSpPr>
          <p:spPr>
            <a:xfrm>
              <a:off x="534273" y="4479428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小红书平北职场PPT5-8"/>
            <p:cNvSpPr txBox="1"/>
            <p:nvPr/>
          </p:nvSpPr>
          <p:spPr>
            <a:xfrm>
              <a:off x="805080" y="1871689"/>
              <a:ext cx="1047594" cy="2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痛点调研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/>
              </a:r>
            </a:p>
          </p:txBody>
        </p:sp>
        <p:sp>
          <p:nvSpPr>
            <p:cNvPr id="35" name="小红书平北职场PPT5-9"/>
            <p:cNvSpPr txBox="1"/>
            <p:nvPr/>
          </p:nvSpPr>
          <p:spPr>
            <a:xfrm>
              <a:off x="805080" y="2324854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数据采集</a:t>
              </a:r>
            </a:p>
          </p:txBody>
        </p:sp>
        <p:sp>
          <p:nvSpPr>
            <p:cNvPr id="36" name="小红书平北职场PPT5-10"/>
            <p:cNvSpPr txBox="1"/>
            <p:nvPr/>
          </p:nvSpPr>
          <p:spPr>
            <a:xfrm>
              <a:off x="805080" y="2778018"/>
              <a:ext cx="77288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图谱构建</a:t>
              </a:r>
            </a:p>
          </p:txBody>
        </p:sp>
        <p:sp>
          <p:nvSpPr>
            <p:cNvPr id="37" name="小红书平北职场PPT5-11"/>
            <p:cNvSpPr txBox="1"/>
            <p:nvPr/>
          </p:nvSpPr>
          <p:spPr>
            <a:xfrm>
              <a:off x="805080" y="3231182"/>
              <a:ext cx="1373928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匹配诊断</a:t>
              </a:r>
            </a:p>
          </p:txBody>
        </p:sp>
        <p:sp>
          <p:nvSpPr>
            <p:cNvPr id="38" name="小红书平北职场PPT5-12"/>
            <p:cNvSpPr txBox="1"/>
            <p:nvPr/>
          </p:nvSpPr>
          <p:spPr>
            <a:xfrm>
              <a:off x="805080" y="3684348"/>
              <a:ext cx="1053123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演化检测</a:t>
              </a:r>
            </a:p>
          </p:txBody>
        </p:sp>
        <p:sp>
          <p:nvSpPr>
            <p:cNvPr id="39" name="小红书平北职场PPT5-13"/>
            <p:cNvSpPr txBox="1"/>
            <p:nvPr/>
          </p:nvSpPr>
          <p:spPr>
            <a:xfrm>
              <a:off x="805080" y="4137512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公网部署</a:t>
              </a:r>
            </a:p>
          </p:txBody>
        </p:sp>
        <p:sp>
          <p:nvSpPr>
            <p:cNvPr id="40" name="小红书平北职场PPT5-14"/>
            <p:cNvSpPr txBox="1"/>
            <p:nvPr/>
          </p:nvSpPr>
          <p:spPr>
            <a:xfrm>
              <a:off x="805080" y="4590678"/>
              <a:ext cx="124487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动态演化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1061882" y="1881530"/>
              <a:ext cx="216000" cy="2501975"/>
              <a:chOff x="11164622" y="1881530"/>
              <a:chExt cx="216000" cy="2501975"/>
            </a:xfrm>
          </p:grpSpPr>
          <p:sp>
            <p:nvSpPr>
              <p:cNvPr id="71" name="小红书平北职场PPT5-15"/>
              <p:cNvSpPr/>
              <p:nvPr/>
            </p:nvSpPr>
            <p:spPr>
              <a:xfrm>
                <a:off x="11164622" y="1881530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5-16"/>
              <p:cNvSpPr/>
              <p:nvPr/>
            </p:nvSpPr>
            <p:spPr>
              <a:xfrm>
                <a:off x="11164622" y="232456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3" name="小红书平北职场PPT5-17"/>
              <p:cNvSpPr/>
              <p:nvPr/>
            </p:nvSpPr>
            <p:spPr>
              <a:xfrm>
                <a:off x="11164622" y="3268102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小红书平北职场PPT5-18"/>
              <p:cNvSpPr/>
              <p:nvPr/>
            </p:nvSpPr>
            <p:spPr>
              <a:xfrm>
                <a:off x="11164622" y="3730079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5-19"/>
              <p:cNvSpPr/>
              <p:nvPr/>
            </p:nvSpPr>
            <p:spPr>
              <a:xfrm>
                <a:off x="11164622" y="418213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242368" y="1827363"/>
              <a:ext cx="9436789" cy="3014625"/>
              <a:chOff x="2242368" y="1827363"/>
              <a:chExt cx="9436789" cy="3014625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5052223" y="3197478"/>
                <a:ext cx="3984039" cy="285015"/>
                <a:chOff x="3206951" y="3108447"/>
                <a:chExt cx="4550190" cy="285015"/>
              </a:xfrm>
            </p:grpSpPr>
            <p:sp>
              <p:nvSpPr>
                <p:cNvPr id="68" name="小红书平北职场PPT5-20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9" name="小红书平北职场PPT5-21"/>
                <p:cNvSpPr txBox="1"/>
                <p:nvPr/>
              </p:nvSpPr>
              <p:spPr>
                <a:xfrm>
                  <a:off x="6365044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匹配度低</a:t>
                  </a:r>
                </a:p>
              </p:txBody>
            </p:sp>
            <p:sp>
              <p:nvSpPr>
                <p:cNvPr id="70" name="小红书平北职场PPT5-22"/>
                <p:cNvSpPr/>
                <p:nvPr/>
              </p:nvSpPr>
              <p:spPr>
                <a:xfrm>
                  <a:off x="3206951" y="3108447"/>
                  <a:ext cx="3014910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关键词匹配无法理解语义与技能迁移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7807812" y="4556973"/>
                <a:ext cx="3871345" cy="285015"/>
                <a:chOff x="3977733" y="3108447"/>
                <a:chExt cx="2936029" cy="285015"/>
              </a:xfrm>
            </p:grpSpPr>
            <p:sp>
              <p:nvSpPr>
                <p:cNvPr id="65" name="小红书平北职场PPT5-23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6" name="小红书平北职场PPT5-24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成本高企</a:t>
                  </a:r>
                </a:p>
              </p:txBody>
            </p:sp>
            <p:sp>
              <p:nvSpPr>
                <p:cNvPr id="67" name="小红书平北职场PPT5-25"/>
                <p:cNvSpPr/>
                <p:nvPr/>
              </p:nvSpPr>
              <p:spPr>
                <a:xfrm>
                  <a:off x="3977733" y="3108447"/>
                  <a:ext cx="1979371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招聘成本高、周期长，错配频发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242368" y="1827363"/>
                <a:ext cx="4387823" cy="285015"/>
                <a:chOff x="2986854" y="3108447"/>
                <a:chExt cx="5074445" cy="285015"/>
              </a:xfrm>
            </p:grpSpPr>
            <p:sp>
              <p:nvSpPr>
                <p:cNvPr id="62" name="小红书平北职场PPT5-26"/>
                <p:cNvSpPr/>
                <p:nvPr/>
              </p:nvSpPr>
              <p:spPr>
                <a:xfrm>
                  <a:off x="5591155" y="3108447"/>
                  <a:ext cx="2470144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3" name="小红书平北职场PPT5-27"/>
                <p:cNvSpPr txBox="1"/>
                <p:nvPr/>
              </p:nvSpPr>
              <p:spPr>
                <a:xfrm>
                  <a:off x="6154263" y="3158621"/>
                  <a:ext cx="14237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识别困难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4" name="小红书平北职场PPT5-28"/>
                <p:cNvSpPr/>
                <p:nvPr/>
              </p:nvSpPr>
              <p:spPr>
                <a:xfrm>
                  <a:off x="2986854" y="3108447"/>
                  <a:ext cx="305437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新兴岗位缺乏标准定义与技能画像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657101" y="4103807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9" name="小红书平北职场PPT5-29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5-30"/>
                <p:cNvSpPr txBox="1"/>
                <p:nvPr/>
              </p:nvSpPr>
              <p:spPr>
                <a:xfrm>
                  <a:off x="6251868" y="3158621"/>
                  <a:ext cx="1054540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路径模糊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1" name="小红书平北职场PPT5-31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技能需求动态变化，职业路径不清晰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3657101" y="2280528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6" name="小红书平北职场PPT5-32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5-33"/>
                <p:cNvSpPr txBox="1"/>
                <p:nvPr/>
              </p:nvSpPr>
              <p:spPr>
                <a:xfrm>
                  <a:off x="6251867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数据失联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8" name="小红书平北职场PPT5-34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岗位数据与人才能力数据在两端失联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424235" y="2708445"/>
                <a:ext cx="5254922" cy="285015"/>
                <a:chOff x="2928428" y="3108447"/>
                <a:chExt cx="3985334" cy="285015"/>
              </a:xfrm>
            </p:grpSpPr>
            <p:sp>
              <p:nvSpPr>
                <p:cNvPr id="53" name="小红书平北职场PPT5-35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4" name="小红书平北职场PPT5-36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传统局限</a:t>
                  </a:r>
                </a:p>
              </p:txBody>
            </p:sp>
            <p:sp>
              <p:nvSpPr>
                <p:cNvPr id="55" name="小红书平北职场PPT5-37"/>
                <p:cNvSpPr/>
                <p:nvPr/>
              </p:nvSpPr>
              <p:spPr>
                <a:xfrm>
                  <a:off x="2928428" y="3108447"/>
                  <a:ext cx="3028677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无法回答技术爆发后岗位新增哪些技能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5052223" y="3659523"/>
                <a:ext cx="6009659" cy="285015"/>
                <a:chOff x="3206951" y="3108447"/>
                <a:chExt cx="4550190" cy="285015"/>
              </a:xfrm>
            </p:grpSpPr>
            <p:sp>
              <p:nvSpPr>
                <p:cNvPr id="50" name="小红书平北职场PPT5-38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1" name="小红书平北职场PPT5-39"/>
                <p:cNvSpPr txBox="1"/>
                <p:nvPr/>
              </p:nvSpPr>
              <p:spPr>
                <a:xfrm>
                  <a:off x="6242107" y="3158621"/>
                  <a:ext cx="6990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核心矛盾</a:t>
                  </a:r>
                </a:p>
              </p:txBody>
            </p:sp>
            <p:sp>
              <p:nvSpPr>
                <p:cNvPr id="52" name="小红书平北职场PPT5-40"/>
                <p:cNvSpPr/>
                <p:nvPr/>
              </p:nvSpPr>
              <p:spPr>
                <a:xfrm>
                  <a:off x="3206951" y="3108447"/>
                  <a:ext cx="296760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人才结构性矛盾：需求侧与供给侧错配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/>
                  </a: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小红书平北职场PPT1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5" name="小红书平北职场PPT1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小红书平北职场PPT1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574516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系统总体架构（五层）</a:t>
              </a:r>
            </a:p>
          </p:txBody>
        </p:sp>
      </p:grpSp>
      <p:grpSp>
        <p:nvGrpSpPr>
          <p:cNvPr id="4" name="小红书平北职场PPT2"/>
          <p:cNvGrpSpPr/>
          <p:nvPr/>
        </p:nvGrpSpPr>
        <p:grpSpPr>
          <a:xfrm>
            <a:off x="4450714" y="1137710"/>
            <a:ext cx="3197584" cy="5171746"/>
            <a:chOff x="4642436" y="1197236"/>
            <a:chExt cx="2907128" cy="4701965"/>
          </a:xfrm>
        </p:grpSpPr>
        <p:sp>
          <p:nvSpPr>
            <p:cNvPr id="73" name="小红书平北职场PPT2-1"/>
            <p:cNvSpPr/>
            <p:nvPr/>
          </p:nvSpPr>
          <p:spPr bwMode="auto">
            <a:xfrm rot="16200000" flipV="1">
              <a:off x="3745017" y="2094655"/>
              <a:ext cx="4701965" cy="2907128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8547">
                  <a:schemeClr val="accent1"/>
                </a:gs>
                <a:gs pos="6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65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小红书平北职场PPT2-2"/>
            <p:cNvSpPr/>
            <p:nvPr/>
          </p:nvSpPr>
          <p:spPr bwMode="auto">
            <a:xfrm rot="16200000" flipV="1">
              <a:off x="4817176" y="3382053"/>
              <a:ext cx="2543522" cy="1393084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" name="小红书平北职场PPT3"/>
          <p:cNvGrpSpPr/>
          <p:nvPr/>
        </p:nvGrpSpPr>
        <p:grpSpPr>
          <a:xfrm>
            <a:off x="19050" y="4896450"/>
            <a:ext cx="12153900" cy="1880054"/>
            <a:chOff x="19050" y="5196918"/>
            <a:chExt cx="12153900" cy="2381250"/>
          </a:xfrm>
        </p:grpSpPr>
        <p:sp>
          <p:nvSpPr>
            <p:cNvPr id="71" name="小红书平北职场PPT3-1"/>
            <p:cNvSpPr/>
            <p:nvPr/>
          </p:nvSpPr>
          <p:spPr>
            <a:xfrm>
              <a:off x="19050" y="5196918"/>
              <a:ext cx="12153900" cy="2381250"/>
            </a:xfrm>
            <a:custGeom>
              <a:avLst/>
              <a:gdLst>
                <a:gd name="connsiteX0" fmla="*/ 6076950 w 12153900"/>
                <a:gd name="connsiteY0" fmla="*/ 190500 h 2381250"/>
                <a:gd name="connsiteX1" fmla="*/ 972312 w 12153900"/>
                <a:gd name="connsiteY1" fmla="*/ 1123950 h 2381250"/>
                <a:gd name="connsiteX2" fmla="*/ 6076950 w 12153900"/>
                <a:gd name="connsiteY2" fmla="*/ 2057400 h 2381250"/>
                <a:gd name="connsiteX3" fmla="*/ 11181588 w 12153900"/>
                <a:gd name="connsiteY3" fmla="*/ 1123950 h 2381250"/>
                <a:gd name="connsiteX4" fmla="*/ 6076950 w 12153900"/>
                <a:gd name="connsiteY4" fmla="*/ 190500 h 2381250"/>
                <a:gd name="connsiteX5" fmla="*/ 6076950 w 12153900"/>
                <a:gd name="connsiteY5" fmla="*/ 0 h 2381250"/>
                <a:gd name="connsiteX6" fmla="*/ 12153900 w 12153900"/>
                <a:gd name="connsiteY6" fmla="*/ 1190625 h 2381250"/>
                <a:gd name="connsiteX7" fmla="*/ 6076950 w 12153900"/>
                <a:gd name="connsiteY7" fmla="*/ 2381250 h 2381250"/>
                <a:gd name="connsiteX8" fmla="*/ 0 w 12153900"/>
                <a:gd name="connsiteY8" fmla="*/ 1190625 h 2381250"/>
                <a:gd name="connsiteX9" fmla="*/ 6076950 w 12153900"/>
                <a:gd name="connsiteY9" fmla="*/ 0 h 238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53900" h="2381250">
                  <a:moveTo>
                    <a:pt x="6076950" y="190500"/>
                  </a:moveTo>
                  <a:cubicBezTo>
                    <a:pt x="3257736" y="190500"/>
                    <a:pt x="972312" y="608420"/>
                    <a:pt x="972312" y="1123950"/>
                  </a:cubicBezTo>
                  <a:cubicBezTo>
                    <a:pt x="972312" y="1639480"/>
                    <a:pt x="3257736" y="2057400"/>
                    <a:pt x="6076950" y="2057400"/>
                  </a:cubicBezTo>
                  <a:cubicBezTo>
                    <a:pt x="8896164" y="2057400"/>
                    <a:pt x="11181588" y="1639480"/>
                    <a:pt x="11181588" y="1123950"/>
                  </a:cubicBezTo>
                  <a:cubicBezTo>
                    <a:pt x="11181588" y="608420"/>
                    <a:pt x="8896164" y="190500"/>
                    <a:pt x="6076950" y="190500"/>
                  </a:cubicBezTo>
                  <a:close/>
                  <a:moveTo>
                    <a:pt x="6076950" y="0"/>
                  </a:moveTo>
                  <a:cubicBezTo>
                    <a:pt x="9433157" y="0"/>
                    <a:pt x="12153900" y="533061"/>
                    <a:pt x="12153900" y="1190625"/>
                  </a:cubicBezTo>
                  <a:cubicBezTo>
                    <a:pt x="12153900" y="1848189"/>
                    <a:pt x="9433157" y="2381250"/>
                    <a:pt x="6076950" y="2381250"/>
                  </a:cubicBezTo>
                  <a:cubicBezTo>
                    <a:pt x="2720743" y="2381250"/>
                    <a:pt x="0" y="1848189"/>
                    <a:pt x="0" y="1190625"/>
                  </a:cubicBezTo>
                  <a:cubicBezTo>
                    <a:pt x="0" y="533061"/>
                    <a:pt x="2720743" y="0"/>
                    <a:pt x="6076950" y="0"/>
                  </a:cubicBezTo>
                  <a:close/>
                </a:path>
              </a:pathLst>
            </a:custGeom>
            <a:gradFill>
              <a:gsLst>
                <a:gs pos="1500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小红书平北职场PPT3-2"/>
            <p:cNvSpPr/>
            <p:nvPr/>
          </p:nvSpPr>
          <p:spPr>
            <a:xfrm>
              <a:off x="991362" y="5387418"/>
              <a:ext cx="10209276" cy="1866900"/>
            </a:xfrm>
            <a:custGeom>
              <a:avLst/>
              <a:gdLst>
                <a:gd name="connsiteX0" fmla="*/ 5104638 w 10209276"/>
                <a:gd name="connsiteY0" fmla="*/ 170284 h 1866900"/>
                <a:gd name="connsiteX1" fmla="*/ 951738 w 10209276"/>
                <a:gd name="connsiteY1" fmla="*/ 863471 h 1866900"/>
                <a:gd name="connsiteX2" fmla="*/ 5104638 w 10209276"/>
                <a:gd name="connsiteY2" fmla="*/ 1556658 h 1866900"/>
                <a:gd name="connsiteX3" fmla="*/ 9257538 w 10209276"/>
                <a:gd name="connsiteY3" fmla="*/ 863471 h 1866900"/>
                <a:gd name="connsiteX4" fmla="*/ 5104638 w 10209276"/>
                <a:gd name="connsiteY4" fmla="*/ 170284 h 1866900"/>
                <a:gd name="connsiteX5" fmla="*/ 5104638 w 10209276"/>
                <a:gd name="connsiteY5" fmla="*/ 0 h 1866900"/>
                <a:gd name="connsiteX6" fmla="*/ 10209276 w 10209276"/>
                <a:gd name="connsiteY6" fmla="*/ 933450 h 1866900"/>
                <a:gd name="connsiteX7" fmla="*/ 5104638 w 10209276"/>
                <a:gd name="connsiteY7" fmla="*/ 1866900 h 1866900"/>
                <a:gd name="connsiteX8" fmla="*/ 0 w 10209276"/>
                <a:gd name="connsiteY8" fmla="*/ 933450 h 1866900"/>
                <a:gd name="connsiteX9" fmla="*/ 5104638 w 10209276"/>
                <a:gd name="connsiteY9" fmla="*/ 0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09276" h="1866900">
                  <a:moveTo>
                    <a:pt x="5104638" y="170284"/>
                  </a:moveTo>
                  <a:cubicBezTo>
                    <a:pt x="2811055" y="170284"/>
                    <a:pt x="951738" y="480634"/>
                    <a:pt x="951738" y="863471"/>
                  </a:cubicBezTo>
                  <a:cubicBezTo>
                    <a:pt x="951738" y="1246308"/>
                    <a:pt x="2811055" y="1556658"/>
                    <a:pt x="5104638" y="1556658"/>
                  </a:cubicBezTo>
                  <a:cubicBezTo>
                    <a:pt x="7398221" y="1556658"/>
                    <a:pt x="9257538" y="1246308"/>
                    <a:pt x="9257538" y="863471"/>
                  </a:cubicBezTo>
                  <a:cubicBezTo>
                    <a:pt x="9257538" y="480634"/>
                    <a:pt x="7398221" y="170284"/>
                    <a:pt x="5104638" y="170284"/>
                  </a:cubicBezTo>
                  <a:close/>
                  <a:moveTo>
                    <a:pt x="5104638" y="0"/>
                  </a:moveTo>
                  <a:cubicBezTo>
                    <a:pt x="7923852" y="0"/>
                    <a:pt x="10209276" y="417920"/>
                    <a:pt x="10209276" y="933450"/>
                  </a:cubicBezTo>
                  <a:cubicBezTo>
                    <a:pt x="10209276" y="1448980"/>
                    <a:pt x="7923852" y="1866900"/>
                    <a:pt x="5104638" y="1866900"/>
                  </a:cubicBezTo>
                  <a:cubicBezTo>
                    <a:pt x="2285424" y="1866900"/>
                    <a:pt x="0" y="1448980"/>
                    <a:pt x="0" y="933450"/>
                  </a:cubicBezTo>
                  <a:cubicBezTo>
                    <a:pt x="0" y="417920"/>
                    <a:pt x="2285424" y="0"/>
                    <a:pt x="5104638" y="0"/>
                  </a:cubicBezTo>
                  <a:close/>
                </a:path>
              </a:pathLst>
            </a:custGeom>
            <a:gradFill>
              <a:gsLst>
                <a:gs pos="23000">
                  <a:schemeClr val="accent1">
                    <a:alpha val="0"/>
                  </a:schemeClr>
                </a:gs>
                <a:gs pos="8600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gradFill>
                <a:gsLst>
                  <a:gs pos="37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" name="小红书平北职场PPT4"/>
          <p:cNvGrpSpPr/>
          <p:nvPr/>
        </p:nvGrpSpPr>
        <p:grpSpPr>
          <a:xfrm flipH="1">
            <a:off x="619720" y="3059766"/>
            <a:ext cx="2810433" cy="618392"/>
            <a:chOff x="1995247" y="1288988"/>
            <a:chExt cx="2810433" cy="618392"/>
          </a:xfrm>
        </p:grpSpPr>
        <p:sp>
          <p:nvSpPr>
            <p:cNvPr id="69" name="小红书平北职场PPT4-1"/>
            <p:cNvSpPr/>
            <p:nvPr/>
          </p:nvSpPr>
          <p:spPr>
            <a:xfrm>
              <a:off x="2200275" y="1356879"/>
              <a:ext cx="2605405" cy="4814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gradFill>
                <a:gsLst>
                  <a:gs pos="19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0"/>
              </a:gradFill>
            </a:ln>
            <a:effectLst>
              <a:outerShdw blurRad="165100" dist="762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小红书平北职场PPT4-2"/>
            <p:cNvSpPr/>
            <p:nvPr/>
          </p:nvSpPr>
          <p:spPr>
            <a:xfrm flipH="1">
              <a:off x="1995247" y="1288988"/>
              <a:ext cx="618390" cy="61839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100000" b="100000"/>
              </a:path>
              <a:tileRect t="-100000" r="-100000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" name="小红书平北职场PPT5"/>
          <p:cNvSpPr txBox="1"/>
          <p:nvPr/>
        </p:nvSpPr>
        <p:spPr>
          <a:xfrm>
            <a:off x="558043" y="3751750"/>
            <a:ext cx="2403211" cy="55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</a:rPr>
              <a:t>采集层：FastAPI 定时采集 9 类活跃数据源，PostgreSQL 持久化，中/英/德多语言原始 JD 620 条。</a:t>
            </a:r>
          </a:p>
        </p:txBody>
      </p:sp>
      <p:sp>
        <p:nvSpPr>
          <p:cNvPr id="8" name="小红书平北职场PPT6"/>
          <p:cNvSpPr txBox="1"/>
          <p:nvPr/>
        </p:nvSpPr>
        <p:spPr>
          <a:xfrm>
            <a:off x="2871530" y="3175038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小红书平北职场PPT7"/>
          <p:cNvSpPr txBox="1"/>
          <p:nvPr/>
        </p:nvSpPr>
        <p:spPr>
          <a:xfrm>
            <a:off x="9380238" y="3751750"/>
            <a:ext cx="225371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清洗层：字符级 SimHash 去重，四因子信任评分治理 JD 时滞 / 噪音 / 抄袭，Redis 缓存加速。</a:t>
            </a:r>
          </a:p>
        </p:txBody>
      </p:sp>
      <p:sp>
        <p:nvSpPr>
          <p:cNvPr id="10" name="小红书平北职场PPT8"/>
          <p:cNvSpPr/>
          <p:nvPr/>
        </p:nvSpPr>
        <p:spPr>
          <a:xfrm>
            <a:off x="8944730" y="312765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" name="小红书平北职场PPT9"/>
          <p:cNvSpPr/>
          <p:nvPr/>
        </p:nvSpPr>
        <p:spPr>
          <a:xfrm flipH="1">
            <a:off x="8739702" y="305976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" name="小红书平北职场PPT10"/>
          <p:cNvSpPr txBox="1"/>
          <p:nvPr/>
        </p:nvSpPr>
        <p:spPr>
          <a:xfrm>
            <a:off x="8799056" y="317503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" name="小红书平北职场PPT11"/>
          <p:cNvSpPr txBox="1"/>
          <p:nvPr/>
        </p:nvSpPr>
        <p:spPr>
          <a:xfrm>
            <a:off x="8217956" y="5155280"/>
            <a:ext cx="225371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图谱层：Neo4j 构建岗位 ↔ 能力 ↔ 技术图谱，465 岗位 / 1275 技能 / 2182 关系。</a:t>
            </a:r>
          </a:p>
        </p:txBody>
      </p:sp>
      <p:sp>
        <p:nvSpPr>
          <p:cNvPr id="14" name="小红书平北职场PPT12"/>
          <p:cNvSpPr/>
          <p:nvPr/>
        </p:nvSpPr>
        <p:spPr>
          <a:xfrm>
            <a:off x="7782448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3">
                    <a:lumMod val="60000"/>
                    <a:lumOff val="4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5" name="小红书平北职场PPT13"/>
          <p:cNvGrpSpPr/>
          <p:nvPr/>
        </p:nvGrpSpPr>
        <p:grpSpPr>
          <a:xfrm>
            <a:off x="8406641" y="3190427"/>
            <a:ext cx="3456481" cy="1772862"/>
            <a:chOff x="8217955" y="3190427"/>
            <a:chExt cx="3456481" cy="1772862"/>
          </a:xfrm>
        </p:grpSpPr>
        <p:sp>
          <p:nvSpPr>
            <p:cNvPr id="67" name="小红书平北职场PPT13-1"/>
            <p:cNvSpPr txBox="1"/>
            <p:nvPr/>
          </p:nvSpPr>
          <p:spPr>
            <a:xfrm>
              <a:off x="9380237" y="319042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采集层</a:t>
              </a:r>
            </a:p>
          </p:txBody>
        </p:sp>
        <p:sp>
          <p:nvSpPr>
            <p:cNvPr id="68" name="小红书平北职场PPT13-2"/>
            <p:cNvSpPr txBox="1"/>
            <p:nvPr/>
          </p:nvSpPr>
          <p:spPr>
            <a:xfrm>
              <a:off x="8217955" y="459395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清洗层</a:t>
              </a:r>
            </a:p>
          </p:txBody>
        </p:sp>
      </p:grpSp>
      <p:sp>
        <p:nvSpPr>
          <p:cNvPr id="16" name="小红书平北职场PPT14"/>
          <p:cNvSpPr/>
          <p:nvPr/>
        </p:nvSpPr>
        <p:spPr>
          <a:xfrm flipH="1">
            <a:off x="7577420" y="446329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15"/>
          <p:cNvSpPr txBox="1"/>
          <p:nvPr/>
        </p:nvSpPr>
        <p:spPr>
          <a:xfrm>
            <a:off x="7637187" y="456317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16"/>
          <p:cNvSpPr/>
          <p:nvPr/>
        </p:nvSpPr>
        <p:spPr>
          <a:xfrm flipH="1">
            <a:off x="1782003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01600" dist="38100" dir="2700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17"/>
          <p:cNvSpPr/>
          <p:nvPr/>
        </p:nvSpPr>
        <p:spPr>
          <a:xfrm>
            <a:off x="3974046" y="4463296"/>
            <a:ext cx="618390" cy="618392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77800" dist="76200" dir="3600000" algn="tr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18"/>
          <p:cNvSpPr txBox="1"/>
          <p:nvPr/>
        </p:nvSpPr>
        <p:spPr>
          <a:xfrm>
            <a:off x="2061029" y="5155280"/>
            <a:ext cx="1913015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应用层：Vue3 实现图谱展示、人岗匹配、岗位定义与数据追溯四大能力。</a:t>
            </a:r>
          </a:p>
        </p:txBody>
      </p:sp>
      <p:grpSp>
        <p:nvGrpSpPr>
          <p:cNvPr id="21" name="小红书平北职场PPT19"/>
          <p:cNvGrpSpPr/>
          <p:nvPr/>
        </p:nvGrpSpPr>
        <p:grpSpPr>
          <a:xfrm>
            <a:off x="285334" y="3190427"/>
            <a:ext cx="3456482" cy="1772862"/>
            <a:chOff x="517563" y="3190427"/>
            <a:chExt cx="3456482" cy="1772862"/>
          </a:xfrm>
        </p:grpSpPr>
        <p:sp>
          <p:nvSpPr>
            <p:cNvPr id="65" name="小红书平北职场PPT19-1"/>
            <p:cNvSpPr txBox="1"/>
            <p:nvPr/>
          </p:nvSpPr>
          <p:spPr>
            <a:xfrm>
              <a:off x="517563" y="319042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图谱层</a:t>
              </a:r>
            </a:p>
          </p:txBody>
        </p:sp>
        <p:sp>
          <p:nvSpPr>
            <p:cNvPr id="66" name="小红书平北职场PPT19-2"/>
            <p:cNvSpPr txBox="1"/>
            <p:nvPr/>
          </p:nvSpPr>
          <p:spPr>
            <a:xfrm>
              <a:off x="1679846" y="459395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应用层</a:t>
              </a:r>
            </a:p>
          </p:txBody>
        </p:sp>
      </p:grpSp>
      <p:sp>
        <p:nvSpPr>
          <p:cNvPr id="22" name="小红书平北职场PPT20"/>
          <p:cNvSpPr txBox="1"/>
          <p:nvPr/>
        </p:nvSpPr>
        <p:spPr>
          <a:xfrm>
            <a:off x="4033814" y="4566043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7" name="任意多边形: 形状 76"/>
          <p:cNvSpPr/>
          <p:nvPr/>
        </p:nvSpPr>
        <p:spPr>
          <a:xfrm>
            <a:off x="0" y="1132090"/>
            <a:ext cx="4235303" cy="1060710"/>
          </a:xfrm>
          <a:custGeom>
            <a:avLst/>
            <a:gdLst>
              <a:gd name="connsiteX0" fmla="*/ 12589 w 4235303"/>
              <a:gd name="connsiteY0" fmla="*/ 0 h 1060710"/>
              <a:gd name="connsiteX1" fmla="*/ 3704948 w 4235303"/>
              <a:gd name="connsiteY1" fmla="*/ 0 h 1060710"/>
              <a:gd name="connsiteX2" fmla="*/ 4235303 w 4235303"/>
              <a:gd name="connsiteY2" fmla="*/ 530355 h 1060710"/>
              <a:gd name="connsiteX3" fmla="*/ 3704948 w 4235303"/>
              <a:gd name="connsiteY3" fmla="*/ 1060710 h 1060710"/>
              <a:gd name="connsiteX4" fmla="*/ 12589 w 4235303"/>
              <a:gd name="connsiteY4" fmla="*/ 1060710 h 1060710"/>
              <a:gd name="connsiteX5" fmla="*/ 0 w 4235303"/>
              <a:gd name="connsiteY5" fmla="*/ 1059441 h 1060710"/>
              <a:gd name="connsiteX6" fmla="*/ 0 w 4235303"/>
              <a:gd name="connsiteY6" fmla="*/ 1269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5303" h="1060710">
                <a:moveTo>
                  <a:pt x="12589" y="0"/>
                </a:moveTo>
                <a:lnTo>
                  <a:pt x="3704948" y="0"/>
                </a:lnTo>
                <a:cubicBezTo>
                  <a:pt x="3997855" y="0"/>
                  <a:pt x="4235303" y="237448"/>
                  <a:pt x="4235303" y="530355"/>
                </a:cubicBezTo>
                <a:cubicBezTo>
                  <a:pt x="4235303" y="823262"/>
                  <a:pt x="3997855" y="1060710"/>
                  <a:pt x="3704948" y="1060710"/>
                </a:cubicBezTo>
                <a:lnTo>
                  <a:pt x="12589" y="1060710"/>
                </a:lnTo>
                <a:lnTo>
                  <a:pt x="0" y="1059441"/>
                </a:lnTo>
                <a:lnTo>
                  <a:pt x="0" y="126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8" name="任意多边形: 形状 77"/>
          <p:cNvSpPr/>
          <p:nvPr/>
        </p:nvSpPr>
        <p:spPr>
          <a:xfrm flipH="1">
            <a:off x="7956697" y="1132090"/>
            <a:ext cx="4235303" cy="1060710"/>
          </a:xfrm>
          <a:custGeom>
            <a:avLst/>
            <a:gdLst>
              <a:gd name="connsiteX0" fmla="*/ 3704948 w 4235303"/>
              <a:gd name="connsiteY0" fmla="*/ 0 h 1060710"/>
              <a:gd name="connsiteX1" fmla="*/ 12589 w 4235303"/>
              <a:gd name="connsiteY1" fmla="*/ 0 h 1060710"/>
              <a:gd name="connsiteX2" fmla="*/ 0 w 4235303"/>
              <a:gd name="connsiteY2" fmla="*/ 1269 h 1060710"/>
              <a:gd name="connsiteX3" fmla="*/ 0 w 4235303"/>
              <a:gd name="connsiteY3" fmla="*/ 1059441 h 1060710"/>
              <a:gd name="connsiteX4" fmla="*/ 12589 w 4235303"/>
              <a:gd name="connsiteY4" fmla="*/ 1060710 h 1060710"/>
              <a:gd name="connsiteX5" fmla="*/ 3704948 w 4235303"/>
              <a:gd name="connsiteY5" fmla="*/ 1060710 h 1060710"/>
              <a:gd name="connsiteX6" fmla="*/ 4235303 w 4235303"/>
              <a:gd name="connsiteY6" fmla="*/ 530355 h 1060710"/>
              <a:gd name="connsiteX7" fmla="*/ 3704948 w 4235303"/>
              <a:gd name="connsiteY7" fmla="*/ 0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5303" h="1060710">
                <a:moveTo>
                  <a:pt x="3704948" y="0"/>
                </a:moveTo>
                <a:lnTo>
                  <a:pt x="12589" y="0"/>
                </a:lnTo>
                <a:lnTo>
                  <a:pt x="0" y="1269"/>
                </a:lnTo>
                <a:lnTo>
                  <a:pt x="0" y="1059441"/>
                </a:lnTo>
                <a:lnTo>
                  <a:pt x="12589" y="1060710"/>
                </a:lnTo>
                <a:lnTo>
                  <a:pt x="3704948" y="1060710"/>
                </a:lnTo>
                <a:cubicBezTo>
                  <a:pt x="3997855" y="1060710"/>
                  <a:pt x="4235303" y="823262"/>
                  <a:pt x="4235303" y="530355"/>
                </a:cubicBezTo>
                <a:cubicBezTo>
                  <a:pt x="4235303" y="237448"/>
                  <a:pt x="3997855" y="0"/>
                  <a:pt x="370494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小红书平北职场PPT22"/>
          <p:cNvSpPr/>
          <p:nvPr/>
        </p:nvSpPr>
        <p:spPr>
          <a:xfrm>
            <a:off x="4138555" y="1590445"/>
            <a:ext cx="144000" cy="144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" name="小红书平北职场PPT23"/>
          <p:cNvSpPr/>
          <p:nvPr/>
        </p:nvSpPr>
        <p:spPr>
          <a:xfrm>
            <a:off x="7910454" y="1590445"/>
            <a:ext cx="144000" cy="144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6" name="小红书平北职场PPT24"/>
          <p:cNvGrpSpPr/>
          <p:nvPr/>
        </p:nvGrpSpPr>
        <p:grpSpPr>
          <a:xfrm>
            <a:off x="4482753" y="1318254"/>
            <a:ext cx="3257489" cy="657386"/>
            <a:chOff x="4480051" y="1333752"/>
            <a:chExt cx="3257489" cy="657386"/>
          </a:xfrm>
        </p:grpSpPr>
        <p:grpSp>
          <p:nvGrpSpPr>
            <p:cNvPr id="57" name="组合 56"/>
            <p:cNvGrpSpPr/>
            <p:nvPr/>
          </p:nvGrpSpPr>
          <p:grpSpPr>
            <a:xfrm>
              <a:off x="4480051" y="1333752"/>
              <a:ext cx="1080082" cy="657386"/>
              <a:chOff x="4286619" y="1229708"/>
              <a:chExt cx="2261447" cy="1376424"/>
            </a:xfrm>
          </p:grpSpPr>
          <p:sp>
            <p:nvSpPr>
              <p:cNvPr id="61" name="小红书平北职场PPT24-1"/>
              <p:cNvSpPr txBox="1"/>
              <p:nvPr/>
            </p:nvSpPr>
            <p:spPr>
              <a:xfrm>
                <a:off x="4286619" y="1229708"/>
                <a:ext cx="2261447" cy="1376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34925">
                      <a:solidFill>
                        <a:srgbClr val="1D4273"/>
                      </a:solidFill>
                    </a:ln>
                    <a:solidFill>
                      <a:prstClr val="white"/>
                    </a:solidFill>
                    <a:effectLst>
                      <a:outerShdw blurRad="228600" sx="102000" sy="102000" algn="ctr" rotWithShape="0">
                        <a:srgbClr val="1D4273">
                          <a:lumMod val="60000"/>
                          <a:lumOff val="40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采集</a:t>
                </a:r>
              </a:p>
            </p:txBody>
          </p:sp>
          <p:sp>
            <p:nvSpPr>
              <p:cNvPr id="62" name="小红书平北职场PPT24-2"/>
              <p:cNvSpPr txBox="1"/>
              <p:nvPr/>
            </p:nvSpPr>
            <p:spPr>
              <a:xfrm>
                <a:off x="4286619" y="1229708"/>
                <a:ext cx="2261447" cy="137642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22225"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清洗</a:t>
                </a: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657458" y="1333752"/>
              <a:ext cx="1080082" cy="657386"/>
              <a:chOff x="4286618" y="1229708"/>
              <a:chExt cx="2261449" cy="1376424"/>
            </a:xfrm>
          </p:grpSpPr>
          <p:sp>
            <p:nvSpPr>
              <p:cNvPr id="59" name="小红书平北职场PPT24-3"/>
              <p:cNvSpPr txBox="1"/>
              <p:nvPr/>
            </p:nvSpPr>
            <p:spPr>
              <a:xfrm>
                <a:off x="4286618" y="1229708"/>
                <a:ext cx="2261449" cy="1376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34925">
                      <a:solidFill>
                        <a:srgbClr val="1D4273"/>
                      </a:solidFill>
                    </a:ln>
                    <a:solidFill>
                      <a:prstClr val="white"/>
                    </a:solidFill>
                    <a:effectLst>
                      <a:outerShdw blurRad="228600" sx="102000" sy="102000" algn="ctr" rotWithShape="0">
                        <a:srgbClr val="1D4273">
                          <a:lumMod val="60000"/>
                          <a:lumOff val="40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图谱</a:t>
                </a:r>
              </a:p>
            </p:txBody>
          </p:sp>
          <p:sp>
            <p:nvSpPr>
              <p:cNvPr id="60" name="小红书平北职场PPT24-4"/>
              <p:cNvSpPr txBox="1"/>
              <p:nvPr/>
            </p:nvSpPr>
            <p:spPr>
              <a:xfrm>
                <a:off x="4286618" y="1229708"/>
                <a:ext cx="2261449" cy="137642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22225"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应用</a:t>
                </a:r>
              </a:p>
            </p:txBody>
          </p:sp>
        </p:grpSp>
      </p:grpSp>
      <p:grpSp>
        <p:nvGrpSpPr>
          <p:cNvPr id="27" name="小红书平北职场PPT25"/>
          <p:cNvGrpSpPr/>
          <p:nvPr/>
        </p:nvGrpSpPr>
        <p:grpSpPr>
          <a:xfrm>
            <a:off x="861040" y="1266407"/>
            <a:ext cx="10489217" cy="792076"/>
            <a:chOff x="861040" y="1197223"/>
            <a:chExt cx="10489217" cy="792076"/>
          </a:xfrm>
        </p:grpSpPr>
        <p:sp>
          <p:nvSpPr>
            <p:cNvPr id="55" name="小红书平北职场PPT25-1"/>
            <p:cNvSpPr txBox="1"/>
            <p:nvPr/>
          </p:nvSpPr>
          <p:spPr>
            <a:xfrm>
              <a:off x="861040" y="1197223"/>
              <a:ext cx="3080140" cy="792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抽取层：大模型 LLM 抽取能力谱系、检测技能涌现（qwen-plus），技能写入前置四重门禁防幻觉。</a:t>
              </a:r>
            </a:p>
          </p:txBody>
        </p:sp>
        <p:sp>
          <p:nvSpPr>
            <p:cNvPr id="56" name="小红书平北职场PPT25-2"/>
            <p:cNvSpPr txBox="1"/>
            <p:nvPr/>
          </p:nvSpPr>
          <p:spPr>
            <a:xfrm flipH="1">
              <a:off x="8270117" y="1197223"/>
              <a:ext cx="3080140" cy="792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技术栈：FastAPI · PostgreSQL · Neo4j · Redis · Vue3 · 大模型，全链路容器化一键部署。</a:t>
              </a:r>
            </a:p>
          </p:txBody>
        </p:sp>
      </p:grpSp>
      <p:grpSp>
        <p:nvGrpSpPr>
          <p:cNvPr id="28" name="小红书平北职场PPT26"/>
          <p:cNvGrpSpPr/>
          <p:nvPr/>
        </p:nvGrpSpPr>
        <p:grpSpPr>
          <a:xfrm>
            <a:off x="697800" y="2433487"/>
            <a:ext cx="10796400" cy="400110"/>
            <a:chOff x="716460" y="2273830"/>
            <a:chExt cx="10796400" cy="400110"/>
          </a:xfrm>
        </p:grpSpPr>
        <p:sp>
          <p:nvSpPr>
            <p:cNvPr id="53" name="小红书平北职场PPT26-1"/>
            <p:cNvSpPr txBox="1"/>
            <p:nvPr/>
          </p:nvSpPr>
          <p:spPr>
            <a:xfrm>
              <a:off x="716460" y="2273830"/>
              <a:ext cx="403187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五层解耦：采集 → 清洗 → 图谱 → 抽取 → 应用</a:t>
              </a:r>
            </a:p>
          </p:txBody>
        </p:sp>
        <p:sp>
          <p:nvSpPr>
            <p:cNvPr id="54" name="小红书平北职场PPT26-2"/>
            <p:cNvSpPr txBox="1"/>
            <p:nvPr/>
          </p:nvSpPr>
          <p:spPr>
            <a:xfrm>
              <a:off x="7224507" y="2273830"/>
              <a:ext cx="428835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数据驱动：真实 JD 驱动图谱构建与动态演化</a:t>
              </a:r>
            </a:p>
          </p:txBody>
        </p:sp>
      </p:grpSp>
      <p:grpSp>
        <p:nvGrpSpPr>
          <p:cNvPr id="29" name="小红书平北职场PPT27"/>
          <p:cNvGrpSpPr/>
          <p:nvPr/>
        </p:nvGrpSpPr>
        <p:grpSpPr>
          <a:xfrm>
            <a:off x="4005007" y="3069561"/>
            <a:ext cx="4259123" cy="961788"/>
            <a:chOff x="3989509" y="3038564"/>
            <a:chExt cx="4259123" cy="961788"/>
          </a:xfrm>
        </p:grpSpPr>
        <p:sp>
          <p:nvSpPr>
            <p:cNvPr id="49" name="小红书平北职场PPT27-1"/>
            <p:cNvSpPr/>
            <p:nvPr/>
          </p:nvSpPr>
          <p:spPr>
            <a:xfrm>
              <a:off x="7471112" y="3038564"/>
              <a:ext cx="777520" cy="961788"/>
            </a:xfrm>
            <a:custGeom>
              <a:avLst/>
              <a:gdLst>
                <a:gd name="connsiteX0" fmla="*/ 527796 w 852198"/>
                <a:gd name="connsiteY0" fmla="*/ 442762 h 1054164"/>
                <a:gd name="connsiteX1" fmla="*/ 542514 w 852198"/>
                <a:gd name="connsiteY1" fmla="*/ 398782 h 1054164"/>
                <a:gd name="connsiteX2" fmla="*/ 530740 w 852198"/>
                <a:gd name="connsiteY2" fmla="*/ 360663 h 1054164"/>
                <a:gd name="connsiteX3" fmla="*/ 501296 w 852198"/>
                <a:gd name="connsiteY3" fmla="*/ 337210 h 1054164"/>
                <a:gd name="connsiteX4" fmla="*/ 427689 w 852198"/>
                <a:gd name="connsiteY4" fmla="*/ 328416 h 1054164"/>
                <a:gd name="connsiteX5" fmla="*/ 330530 w 852198"/>
                <a:gd name="connsiteY5" fmla="*/ 328416 h 1054164"/>
                <a:gd name="connsiteX6" fmla="*/ 330530 w 852198"/>
                <a:gd name="connsiteY6" fmla="*/ 472083 h 1054164"/>
                <a:gd name="connsiteX7" fmla="*/ 424747 w 852198"/>
                <a:gd name="connsiteY7" fmla="*/ 472083 h 1054164"/>
                <a:gd name="connsiteX8" fmla="*/ 489518 w 852198"/>
                <a:gd name="connsiteY8" fmla="*/ 466215 h 1054164"/>
                <a:gd name="connsiteX9" fmla="*/ 527796 w 852198"/>
                <a:gd name="connsiteY9" fmla="*/ 442762 h 1054164"/>
                <a:gd name="connsiteX10" fmla="*/ 527796 w 852198"/>
                <a:gd name="connsiteY10" fmla="*/ 442762 h 1054164"/>
                <a:gd name="connsiteX11" fmla="*/ 426099 w 852198"/>
                <a:gd name="connsiteY11" fmla="*/ 0 h 1054164"/>
                <a:gd name="connsiteX12" fmla="*/ 0 w 852198"/>
                <a:gd name="connsiteY12" fmla="*/ 137920 h 1054164"/>
                <a:gd name="connsiteX13" fmla="*/ 2158 w 852198"/>
                <a:gd name="connsiteY13" fmla="*/ 675000 h 1054164"/>
                <a:gd name="connsiteX14" fmla="*/ 2640 w 852198"/>
                <a:gd name="connsiteY14" fmla="*/ 680817 h 1054164"/>
                <a:gd name="connsiteX15" fmla="*/ 101792 w 852198"/>
                <a:gd name="connsiteY15" fmla="*/ 851865 h 1054164"/>
                <a:gd name="connsiteX16" fmla="*/ 385386 w 852198"/>
                <a:gd name="connsiteY16" fmla="*/ 1033319 h 1054164"/>
                <a:gd name="connsiteX17" fmla="*/ 407919 w 852198"/>
                <a:gd name="connsiteY17" fmla="*/ 1045511 h 1054164"/>
                <a:gd name="connsiteX18" fmla="*/ 423577 w 852198"/>
                <a:gd name="connsiteY18" fmla="*/ 1054164 h 1054164"/>
                <a:gd name="connsiteX19" fmla="*/ 442808 w 852198"/>
                <a:gd name="connsiteY19" fmla="*/ 1044213 h 1054164"/>
                <a:gd name="connsiteX20" fmla="*/ 750353 w 852198"/>
                <a:gd name="connsiteY20" fmla="*/ 851985 h 1054164"/>
                <a:gd name="connsiteX21" fmla="*/ 849511 w 852198"/>
                <a:gd name="connsiteY21" fmla="*/ 680857 h 1054164"/>
                <a:gd name="connsiteX22" fmla="*/ 852198 w 852198"/>
                <a:gd name="connsiteY22" fmla="*/ 137961 h 1054164"/>
                <a:gd name="connsiteX23" fmla="*/ 426099 w 852198"/>
                <a:gd name="connsiteY23" fmla="*/ 0 h 1054164"/>
                <a:gd name="connsiteX24" fmla="*/ 426099 w 852198"/>
                <a:gd name="connsiteY24" fmla="*/ 0 h 1054164"/>
                <a:gd name="connsiteX25" fmla="*/ 654386 w 852198"/>
                <a:gd name="connsiteY25" fmla="*/ 762343 h 1054164"/>
                <a:gd name="connsiteX26" fmla="*/ 636719 w 852198"/>
                <a:gd name="connsiteY26" fmla="*/ 777005 h 1054164"/>
                <a:gd name="connsiteX27" fmla="*/ 610224 w 852198"/>
                <a:gd name="connsiteY27" fmla="*/ 782867 h 1054164"/>
                <a:gd name="connsiteX28" fmla="*/ 580785 w 852198"/>
                <a:gd name="connsiteY28" fmla="*/ 774073 h 1054164"/>
                <a:gd name="connsiteX29" fmla="*/ 560171 w 852198"/>
                <a:gd name="connsiteY29" fmla="*/ 753549 h 1054164"/>
                <a:gd name="connsiteX30" fmla="*/ 536621 w 852198"/>
                <a:gd name="connsiteY30" fmla="*/ 715434 h 1054164"/>
                <a:gd name="connsiteX31" fmla="*/ 495403 w 852198"/>
                <a:gd name="connsiteY31" fmla="*/ 645067 h 1054164"/>
                <a:gd name="connsiteX32" fmla="*/ 454185 w 852198"/>
                <a:gd name="connsiteY32" fmla="*/ 586425 h 1054164"/>
                <a:gd name="connsiteX33" fmla="*/ 418853 w 852198"/>
                <a:gd name="connsiteY33" fmla="*/ 560044 h 1054164"/>
                <a:gd name="connsiteX34" fmla="*/ 371743 w 852198"/>
                <a:gd name="connsiteY34" fmla="*/ 551249 h 1054164"/>
                <a:gd name="connsiteX35" fmla="*/ 333472 w 852198"/>
                <a:gd name="connsiteY35" fmla="*/ 551249 h 1054164"/>
                <a:gd name="connsiteX36" fmla="*/ 333472 w 852198"/>
                <a:gd name="connsiteY36" fmla="*/ 718368 h 1054164"/>
                <a:gd name="connsiteX37" fmla="*/ 318749 w 852198"/>
                <a:gd name="connsiteY37" fmla="*/ 765277 h 1054164"/>
                <a:gd name="connsiteX38" fmla="*/ 280475 w 852198"/>
                <a:gd name="connsiteY38" fmla="*/ 779941 h 1054164"/>
                <a:gd name="connsiteX39" fmla="*/ 242204 w 852198"/>
                <a:gd name="connsiteY39" fmla="*/ 762355 h 1054164"/>
                <a:gd name="connsiteX40" fmla="*/ 227481 w 852198"/>
                <a:gd name="connsiteY40" fmla="*/ 715436 h 1054164"/>
                <a:gd name="connsiteX41" fmla="*/ 227481 w 852198"/>
                <a:gd name="connsiteY41" fmla="*/ 316682 h 1054164"/>
                <a:gd name="connsiteX42" fmla="*/ 242204 w 852198"/>
                <a:gd name="connsiteY42" fmla="*/ 266839 h 1054164"/>
                <a:gd name="connsiteX43" fmla="*/ 292254 w 852198"/>
                <a:gd name="connsiteY43" fmla="*/ 252171 h 1054164"/>
                <a:gd name="connsiteX44" fmla="*/ 463020 w 852198"/>
                <a:gd name="connsiteY44" fmla="*/ 252171 h 1054164"/>
                <a:gd name="connsiteX45" fmla="*/ 512308 w 852198"/>
                <a:gd name="connsiteY45" fmla="*/ 253525 h 1054164"/>
                <a:gd name="connsiteX46" fmla="*/ 524847 w 852198"/>
                <a:gd name="connsiteY46" fmla="*/ 255106 h 1054164"/>
                <a:gd name="connsiteX47" fmla="*/ 569004 w 852198"/>
                <a:gd name="connsiteY47" fmla="*/ 266839 h 1054164"/>
                <a:gd name="connsiteX48" fmla="*/ 613171 w 852198"/>
                <a:gd name="connsiteY48" fmla="*/ 296158 h 1054164"/>
                <a:gd name="connsiteX49" fmla="*/ 642615 w 852198"/>
                <a:gd name="connsiteY49" fmla="*/ 340133 h 1054164"/>
                <a:gd name="connsiteX50" fmla="*/ 651446 w 852198"/>
                <a:gd name="connsiteY50" fmla="*/ 392909 h 1054164"/>
                <a:gd name="connsiteX51" fmla="*/ 619064 w 852198"/>
                <a:gd name="connsiteY51" fmla="*/ 486734 h 1054164"/>
                <a:gd name="connsiteX52" fmla="*/ 518956 w 852198"/>
                <a:gd name="connsiteY52" fmla="*/ 536582 h 1054164"/>
                <a:gd name="connsiteX53" fmla="*/ 571958 w 852198"/>
                <a:gd name="connsiteY53" fmla="*/ 580558 h 1054164"/>
                <a:gd name="connsiteX54" fmla="*/ 616115 w 852198"/>
                <a:gd name="connsiteY54" fmla="*/ 642133 h 1054164"/>
                <a:gd name="connsiteX55" fmla="*/ 648498 w 852198"/>
                <a:gd name="connsiteY55" fmla="*/ 706638 h 1054164"/>
                <a:gd name="connsiteX56" fmla="*/ 660277 w 852198"/>
                <a:gd name="connsiteY56" fmla="*/ 741819 h 1054164"/>
                <a:gd name="connsiteX57" fmla="*/ 654386 w 852198"/>
                <a:gd name="connsiteY57" fmla="*/ 762343 h 1054164"/>
                <a:gd name="connsiteX58" fmla="*/ 654386 w 852198"/>
                <a:gd name="connsiteY58" fmla="*/ 762343 h 1054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852198" h="1054164">
                  <a:moveTo>
                    <a:pt x="527796" y="442762"/>
                  </a:moveTo>
                  <a:cubicBezTo>
                    <a:pt x="536628" y="431034"/>
                    <a:pt x="542514" y="416371"/>
                    <a:pt x="542514" y="398782"/>
                  </a:cubicBezTo>
                  <a:cubicBezTo>
                    <a:pt x="542514" y="384120"/>
                    <a:pt x="536628" y="372390"/>
                    <a:pt x="530740" y="360663"/>
                  </a:cubicBezTo>
                  <a:cubicBezTo>
                    <a:pt x="524854" y="351869"/>
                    <a:pt x="513068" y="343074"/>
                    <a:pt x="501296" y="337210"/>
                  </a:cubicBezTo>
                  <a:cubicBezTo>
                    <a:pt x="489517" y="331344"/>
                    <a:pt x="463021" y="328416"/>
                    <a:pt x="427689" y="328416"/>
                  </a:cubicBezTo>
                  <a:lnTo>
                    <a:pt x="330530" y="328416"/>
                  </a:lnTo>
                  <a:lnTo>
                    <a:pt x="330530" y="472083"/>
                  </a:lnTo>
                  <a:lnTo>
                    <a:pt x="424747" y="472083"/>
                  </a:lnTo>
                  <a:cubicBezTo>
                    <a:pt x="451244" y="472083"/>
                    <a:pt x="471853" y="469150"/>
                    <a:pt x="489518" y="466215"/>
                  </a:cubicBezTo>
                  <a:cubicBezTo>
                    <a:pt x="504244" y="463287"/>
                    <a:pt x="518962" y="454492"/>
                    <a:pt x="527796" y="442762"/>
                  </a:cubicBezTo>
                  <a:lnTo>
                    <a:pt x="527796" y="442762"/>
                  </a:lnTo>
                  <a:close/>
                  <a:moveTo>
                    <a:pt x="426099" y="0"/>
                  </a:moveTo>
                  <a:lnTo>
                    <a:pt x="0" y="137920"/>
                  </a:lnTo>
                  <a:lnTo>
                    <a:pt x="2158" y="675000"/>
                  </a:lnTo>
                  <a:lnTo>
                    <a:pt x="2640" y="680817"/>
                  </a:lnTo>
                  <a:cubicBezTo>
                    <a:pt x="3415" y="684349"/>
                    <a:pt x="19802" y="769675"/>
                    <a:pt x="101792" y="851865"/>
                  </a:cubicBezTo>
                  <a:cubicBezTo>
                    <a:pt x="164833" y="915232"/>
                    <a:pt x="319417" y="997992"/>
                    <a:pt x="385386" y="1033319"/>
                  </a:cubicBezTo>
                  <a:cubicBezTo>
                    <a:pt x="395753" y="1038883"/>
                    <a:pt x="403480" y="1042991"/>
                    <a:pt x="407919" y="1045511"/>
                  </a:cubicBezTo>
                  <a:lnTo>
                    <a:pt x="423577" y="1054164"/>
                  </a:lnTo>
                  <a:lnTo>
                    <a:pt x="442808" y="1044213"/>
                  </a:lnTo>
                  <a:cubicBezTo>
                    <a:pt x="481369" y="1024941"/>
                    <a:pt x="677476" y="925116"/>
                    <a:pt x="750353" y="851985"/>
                  </a:cubicBezTo>
                  <a:cubicBezTo>
                    <a:pt x="832428" y="769714"/>
                    <a:pt x="848816" y="684393"/>
                    <a:pt x="849511" y="680857"/>
                  </a:cubicBezTo>
                  <a:lnTo>
                    <a:pt x="852198" y="137961"/>
                  </a:lnTo>
                  <a:lnTo>
                    <a:pt x="426099" y="0"/>
                  </a:lnTo>
                  <a:lnTo>
                    <a:pt x="426099" y="0"/>
                  </a:lnTo>
                  <a:close/>
                  <a:moveTo>
                    <a:pt x="654386" y="762343"/>
                  </a:moveTo>
                  <a:cubicBezTo>
                    <a:pt x="651447" y="768210"/>
                    <a:pt x="645556" y="774071"/>
                    <a:pt x="636719" y="777005"/>
                  </a:cubicBezTo>
                  <a:cubicBezTo>
                    <a:pt x="627889" y="779934"/>
                    <a:pt x="619059" y="782867"/>
                    <a:pt x="610224" y="782867"/>
                  </a:cubicBezTo>
                  <a:cubicBezTo>
                    <a:pt x="598450" y="782867"/>
                    <a:pt x="589615" y="779939"/>
                    <a:pt x="580785" y="774073"/>
                  </a:cubicBezTo>
                  <a:cubicBezTo>
                    <a:pt x="571950" y="768211"/>
                    <a:pt x="566062" y="762345"/>
                    <a:pt x="560171" y="753549"/>
                  </a:cubicBezTo>
                  <a:cubicBezTo>
                    <a:pt x="554288" y="744758"/>
                    <a:pt x="545448" y="733024"/>
                    <a:pt x="536621" y="715434"/>
                  </a:cubicBezTo>
                  <a:lnTo>
                    <a:pt x="495403" y="645067"/>
                  </a:lnTo>
                  <a:cubicBezTo>
                    <a:pt x="480680" y="618677"/>
                    <a:pt x="465964" y="598158"/>
                    <a:pt x="454185" y="586425"/>
                  </a:cubicBezTo>
                  <a:cubicBezTo>
                    <a:pt x="442406" y="574700"/>
                    <a:pt x="430628" y="565906"/>
                    <a:pt x="418853" y="560044"/>
                  </a:cubicBezTo>
                  <a:cubicBezTo>
                    <a:pt x="407074" y="554178"/>
                    <a:pt x="389408" y="551249"/>
                    <a:pt x="371743" y="551249"/>
                  </a:cubicBezTo>
                  <a:lnTo>
                    <a:pt x="333472" y="551249"/>
                  </a:lnTo>
                  <a:lnTo>
                    <a:pt x="333472" y="718368"/>
                  </a:lnTo>
                  <a:cubicBezTo>
                    <a:pt x="333472" y="738892"/>
                    <a:pt x="327584" y="753554"/>
                    <a:pt x="318749" y="765277"/>
                  </a:cubicBezTo>
                  <a:cubicBezTo>
                    <a:pt x="309919" y="774078"/>
                    <a:pt x="295196" y="779941"/>
                    <a:pt x="280475" y="779941"/>
                  </a:cubicBezTo>
                  <a:cubicBezTo>
                    <a:pt x="265757" y="779941"/>
                    <a:pt x="251036" y="774079"/>
                    <a:pt x="242204" y="762355"/>
                  </a:cubicBezTo>
                  <a:cubicBezTo>
                    <a:pt x="233369" y="753556"/>
                    <a:pt x="227481" y="735964"/>
                    <a:pt x="227481" y="715436"/>
                  </a:cubicBezTo>
                  <a:lnTo>
                    <a:pt x="227481" y="316682"/>
                  </a:lnTo>
                  <a:cubicBezTo>
                    <a:pt x="227481" y="293226"/>
                    <a:pt x="233367" y="275629"/>
                    <a:pt x="242204" y="266839"/>
                  </a:cubicBezTo>
                  <a:cubicBezTo>
                    <a:pt x="253978" y="258038"/>
                    <a:pt x="268699" y="252171"/>
                    <a:pt x="292254" y="252171"/>
                  </a:cubicBezTo>
                  <a:lnTo>
                    <a:pt x="463020" y="252171"/>
                  </a:lnTo>
                  <a:cubicBezTo>
                    <a:pt x="481203" y="252171"/>
                    <a:pt x="497636" y="252171"/>
                    <a:pt x="512308" y="253525"/>
                  </a:cubicBezTo>
                  <a:cubicBezTo>
                    <a:pt x="516640" y="253924"/>
                    <a:pt x="520822" y="254436"/>
                    <a:pt x="524847" y="255106"/>
                  </a:cubicBezTo>
                  <a:cubicBezTo>
                    <a:pt x="539570" y="258038"/>
                    <a:pt x="554286" y="260972"/>
                    <a:pt x="569004" y="266839"/>
                  </a:cubicBezTo>
                  <a:cubicBezTo>
                    <a:pt x="586676" y="272700"/>
                    <a:pt x="601397" y="284428"/>
                    <a:pt x="613171" y="296158"/>
                  </a:cubicBezTo>
                  <a:cubicBezTo>
                    <a:pt x="627894" y="307881"/>
                    <a:pt x="636729" y="322543"/>
                    <a:pt x="642615" y="340133"/>
                  </a:cubicBezTo>
                  <a:cubicBezTo>
                    <a:pt x="648503" y="354795"/>
                    <a:pt x="651446" y="375319"/>
                    <a:pt x="651446" y="392909"/>
                  </a:cubicBezTo>
                  <a:cubicBezTo>
                    <a:pt x="651446" y="433961"/>
                    <a:pt x="639671" y="463281"/>
                    <a:pt x="619064" y="486734"/>
                  </a:cubicBezTo>
                  <a:cubicBezTo>
                    <a:pt x="595509" y="510191"/>
                    <a:pt x="563118" y="527788"/>
                    <a:pt x="518956" y="536582"/>
                  </a:cubicBezTo>
                  <a:cubicBezTo>
                    <a:pt x="536628" y="545376"/>
                    <a:pt x="554291" y="560040"/>
                    <a:pt x="571958" y="580558"/>
                  </a:cubicBezTo>
                  <a:cubicBezTo>
                    <a:pt x="586676" y="601087"/>
                    <a:pt x="601397" y="621606"/>
                    <a:pt x="616115" y="642133"/>
                  </a:cubicBezTo>
                  <a:cubicBezTo>
                    <a:pt x="627894" y="662663"/>
                    <a:pt x="639671" y="683187"/>
                    <a:pt x="648498" y="706638"/>
                  </a:cubicBezTo>
                  <a:cubicBezTo>
                    <a:pt x="657328" y="724230"/>
                    <a:pt x="660277" y="735953"/>
                    <a:pt x="660277" y="741819"/>
                  </a:cubicBezTo>
                  <a:cubicBezTo>
                    <a:pt x="660279" y="747683"/>
                    <a:pt x="657330" y="756477"/>
                    <a:pt x="654386" y="762343"/>
                  </a:cubicBezTo>
                  <a:lnTo>
                    <a:pt x="654386" y="762343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89509" y="3088899"/>
              <a:ext cx="861122" cy="861120"/>
              <a:chOff x="4079905" y="2309639"/>
              <a:chExt cx="680330" cy="680329"/>
            </a:xfrm>
          </p:grpSpPr>
          <p:sp>
            <p:nvSpPr>
              <p:cNvPr id="51" name="小红书平北职场PPT27-2"/>
              <p:cNvSpPr/>
              <p:nvPr/>
            </p:nvSpPr>
            <p:spPr>
              <a:xfrm>
                <a:off x="4249987" y="2309639"/>
                <a:ext cx="340165" cy="340165"/>
              </a:xfrm>
              <a:custGeom>
                <a:avLst/>
                <a:gdLst>
                  <a:gd name="connsiteX0" fmla="*/ 0 w 340165"/>
                  <a:gd name="connsiteY0" fmla="*/ 170083 h 340165"/>
                  <a:gd name="connsiteX1" fmla="*/ 170083 w 340165"/>
                  <a:gd name="connsiteY1" fmla="*/ 340165 h 340165"/>
                  <a:gd name="connsiteX2" fmla="*/ 340165 w 340165"/>
                  <a:gd name="connsiteY2" fmla="*/ 170083 h 340165"/>
                  <a:gd name="connsiteX3" fmla="*/ 170083 w 340165"/>
                  <a:gd name="connsiteY3" fmla="*/ 0 h 340165"/>
                  <a:gd name="connsiteX4" fmla="*/ 0 w 340165"/>
                  <a:gd name="connsiteY4" fmla="*/ 170083 h 34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165" h="340165">
                    <a:moveTo>
                      <a:pt x="0" y="170083"/>
                    </a:moveTo>
                    <a:cubicBezTo>
                      <a:pt x="0" y="264016"/>
                      <a:pt x="76149" y="340165"/>
                      <a:pt x="170083" y="340165"/>
                    </a:cubicBezTo>
                    <a:cubicBezTo>
                      <a:pt x="264016" y="340165"/>
                      <a:pt x="340165" y="264016"/>
                      <a:pt x="340165" y="170083"/>
                    </a:cubicBezTo>
                    <a:cubicBezTo>
                      <a:pt x="340165" y="76149"/>
                      <a:pt x="264016" y="0"/>
                      <a:pt x="170083" y="0"/>
                    </a:cubicBezTo>
                    <a:cubicBezTo>
                      <a:pt x="76149" y="0"/>
                      <a:pt x="0" y="76149"/>
                      <a:pt x="0" y="1700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2" name="小红书平北职场PPT27-3"/>
              <p:cNvSpPr/>
              <p:nvPr/>
            </p:nvSpPr>
            <p:spPr>
              <a:xfrm>
                <a:off x="4079905" y="2654056"/>
                <a:ext cx="680330" cy="335912"/>
              </a:xfrm>
              <a:custGeom>
                <a:avLst/>
                <a:gdLst>
                  <a:gd name="connsiteX0" fmla="*/ 394151 w 680330"/>
                  <a:gd name="connsiteY0" fmla="*/ 0 h 335912"/>
                  <a:gd name="connsiteX1" fmla="*/ 340165 w 680330"/>
                  <a:gd name="connsiteY1" fmla="*/ 53986 h 335912"/>
                  <a:gd name="connsiteX2" fmla="*/ 286179 w 680330"/>
                  <a:gd name="connsiteY2" fmla="*/ 0 h 335912"/>
                  <a:gd name="connsiteX3" fmla="*/ 0 w 680330"/>
                  <a:gd name="connsiteY3" fmla="*/ 335913 h 335912"/>
                  <a:gd name="connsiteX4" fmla="*/ 680330 w 680330"/>
                  <a:gd name="connsiteY4" fmla="*/ 335913 h 335912"/>
                  <a:gd name="connsiteX5" fmla="*/ 394151 w 680330"/>
                  <a:gd name="connsiteY5" fmla="*/ 0 h 335912"/>
                  <a:gd name="connsiteX6" fmla="*/ 340165 w 680330"/>
                  <a:gd name="connsiteY6" fmla="*/ 287318 h 335912"/>
                  <a:gd name="connsiteX7" fmla="*/ 281927 w 680330"/>
                  <a:gd name="connsiteY7" fmla="*/ 229080 h 335912"/>
                  <a:gd name="connsiteX8" fmla="*/ 340165 w 680330"/>
                  <a:gd name="connsiteY8" fmla="*/ 54214 h 335912"/>
                  <a:gd name="connsiteX9" fmla="*/ 398403 w 680330"/>
                  <a:gd name="connsiteY9" fmla="*/ 229156 h 335912"/>
                  <a:gd name="connsiteX10" fmla="*/ 340165 w 680330"/>
                  <a:gd name="connsiteY10" fmla="*/ 287318 h 33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80330" h="335912">
                    <a:moveTo>
                      <a:pt x="394151" y="0"/>
                    </a:moveTo>
                    <a:lnTo>
                      <a:pt x="340165" y="53986"/>
                    </a:lnTo>
                    <a:lnTo>
                      <a:pt x="286179" y="0"/>
                    </a:lnTo>
                    <a:cubicBezTo>
                      <a:pt x="123993" y="25892"/>
                      <a:pt x="0" y="166438"/>
                      <a:pt x="0" y="335913"/>
                    </a:cubicBezTo>
                    <a:lnTo>
                      <a:pt x="680330" y="335913"/>
                    </a:lnTo>
                    <a:cubicBezTo>
                      <a:pt x="680330" y="166438"/>
                      <a:pt x="556337" y="25892"/>
                      <a:pt x="394151" y="0"/>
                    </a:cubicBezTo>
                    <a:close/>
                    <a:moveTo>
                      <a:pt x="340165" y="287318"/>
                    </a:moveTo>
                    <a:lnTo>
                      <a:pt x="281927" y="229080"/>
                    </a:lnTo>
                    <a:lnTo>
                      <a:pt x="340165" y="54214"/>
                    </a:lnTo>
                    <a:lnTo>
                      <a:pt x="398403" y="229156"/>
                    </a:lnTo>
                    <a:lnTo>
                      <a:pt x="340165" y="28731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422815" y="2262174"/>
            <a:ext cx="2964507" cy="42902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" name="小红书平北职场PPT2"/>
          <p:cNvSpPr/>
          <p:nvPr/>
        </p:nvSpPr>
        <p:spPr>
          <a:xfrm>
            <a:off x="8332872" y="2262174"/>
            <a:ext cx="3558305" cy="1781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3"/>
          <p:cNvSpPr/>
          <p:nvPr/>
        </p:nvSpPr>
        <p:spPr>
          <a:xfrm>
            <a:off x="8332872" y="4185592"/>
            <a:ext cx="3558305" cy="23668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4"/>
          <p:cNvSpPr/>
          <p:nvPr/>
        </p:nvSpPr>
        <p:spPr>
          <a:xfrm>
            <a:off x="419164" y="4171510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5"/>
          <p:cNvSpPr/>
          <p:nvPr/>
        </p:nvSpPr>
        <p:spPr>
          <a:xfrm>
            <a:off x="419164" y="5398949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" name="小红书平北职场PPT6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8" name="小红书平北职场PPT6-1"/>
            <p:cNvCxnSpPr/>
            <p:nvPr>
              <p:custDataLst>
                <p:tags r:id="rId8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小红书平北职场PPT6-2"/>
            <p:cNvSpPr txBox="1"/>
            <p:nvPr>
              <p:custDataLst>
                <p:tags r:id="rId9"/>
              </p:custDataLst>
            </p:nvPr>
          </p:nvSpPr>
          <p:spPr>
            <a:xfrm>
              <a:off x="334963" y="184318"/>
              <a:ext cx="5834931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多源异构数据与技能热度全景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/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/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/>
              </a:r>
            </a:p>
          </p:txBody>
        </p:sp>
      </p:grpSp>
      <p:grpSp>
        <p:nvGrpSpPr>
          <p:cNvPr id="10" name="小红书平北职场PPT7"/>
          <p:cNvGrpSpPr/>
          <p:nvPr/>
        </p:nvGrpSpPr>
        <p:grpSpPr>
          <a:xfrm>
            <a:off x="329227" y="919265"/>
            <a:ext cx="11719772" cy="1089289"/>
            <a:chOff x="329227" y="949245"/>
            <a:chExt cx="11719772" cy="1089289"/>
          </a:xfrm>
        </p:grpSpPr>
        <p:sp>
          <p:nvSpPr>
            <p:cNvPr id="11" name="小红书平北职场PPT7-1"/>
            <p:cNvSpPr/>
            <p:nvPr/>
          </p:nvSpPr>
          <p:spPr>
            <a:xfrm>
              <a:off x="329227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2" name="小红书平北职场PPT7-2"/>
            <p:cNvSpPr/>
            <p:nvPr/>
          </p:nvSpPr>
          <p:spPr>
            <a:xfrm>
              <a:off x="455466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小红书平北职场PPT7-3"/>
            <p:cNvSpPr txBox="1"/>
            <p:nvPr/>
          </p:nvSpPr>
          <p:spPr>
            <a:xfrm>
              <a:off x="400006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岗位总量</a:t>
              </a:r>
            </a:p>
          </p:txBody>
        </p:sp>
        <p:sp>
          <p:nvSpPr>
            <p:cNvPr id="14" name="小红书平北职场PPT7-4"/>
            <p:cNvSpPr/>
            <p:nvPr/>
          </p:nvSpPr>
          <p:spPr>
            <a:xfrm>
              <a:off x="2092866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" name="小红书平北职场PPT7-5"/>
            <p:cNvSpPr txBox="1"/>
            <p:nvPr/>
          </p:nvSpPr>
          <p:spPr>
            <a:xfrm>
              <a:off x="469271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465</a:t>
              </a:r>
            </a:p>
          </p:txBody>
        </p:sp>
        <p:sp>
          <p:nvSpPr>
            <p:cNvPr id="16" name="小红书平北职场PPT7-6"/>
            <p:cNvSpPr txBox="1"/>
            <p:nvPr/>
          </p:nvSpPr>
          <p:spPr>
            <a:xfrm>
              <a:off x="1132902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个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小红书平北职场PPT7-7"/>
            <p:cNvSpPr/>
            <p:nvPr/>
          </p:nvSpPr>
          <p:spPr>
            <a:xfrm>
              <a:off x="2685188" y="949245"/>
              <a:ext cx="2138108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" name="小红书平北职场PPT7-8"/>
            <p:cNvSpPr/>
            <p:nvPr/>
          </p:nvSpPr>
          <p:spPr>
            <a:xfrm>
              <a:off x="2811427" y="1316411"/>
              <a:ext cx="1885632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" name="小红书平北职场PPT7-9"/>
            <p:cNvSpPr txBox="1"/>
            <p:nvPr/>
          </p:nvSpPr>
          <p:spPr>
            <a:xfrm>
              <a:off x="2755967" y="1010299"/>
              <a:ext cx="1258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技能总量</a:t>
              </a:r>
            </a:p>
          </p:txBody>
        </p:sp>
        <p:sp>
          <p:nvSpPr>
            <p:cNvPr id="20" name="小红书平北职场PPT7-10"/>
            <p:cNvSpPr/>
            <p:nvPr/>
          </p:nvSpPr>
          <p:spPr>
            <a:xfrm>
              <a:off x="4448828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小红书平北职场PPT7-11"/>
            <p:cNvSpPr txBox="1"/>
            <p:nvPr/>
          </p:nvSpPr>
          <p:spPr>
            <a:xfrm>
              <a:off x="2825232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1275</a:t>
              </a:r>
            </a:p>
          </p:txBody>
        </p:sp>
        <p:sp>
          <p:nvSpPr>
            <p:cNvPr id="22" name="小红书平北职场PPT7-12"/>
            <p:cNvSpPr txBox="1"/>
            <p:nvPr/>
          </p:nvSpPr>
          <p:spPr>
            <a:xfrm>
              <a:off x="3405734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3" name="小红书平北职场PPT7-13"/>
            <p:cNvSpPr/>
            <p:nvPr/>
          </p:nvSpPr>
          <p:spPr>
            <a:xfrm>
              <a:off x="5041149" y="949245"/>
              <a:ext cx="2138108" cy="108928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小红书平北职场PPT7-14"/>
            <p:cNvSpPr/>
            <p:nvPr/>
          </p:nvSpPr>
          <p:spPr>
            <a:xfrm>
              <a:off x="5167386" y="1316411"/>
              <a:ext cx="1885632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小红书平北职场PPT7-15"/>
            <p:cNvSpPr txBox="1"/>
            <p:nvPr/>
          </p:nvSpPr>
          <p:spPr>
            <a:xfrm>
              <a:off x="5111928" y="1010299"/>
              <a:ext cx="1258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关系总量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6" name="小红书平北职场PPT7-16"/>
            <p:cNvSpPr/>
            <p:nvPr/>
          </p:nvSpPr>
          <p:spPr>
            <a:xfrm>
              <a:off x="6804789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小红书平北职场PPT7-17"/>
            <p:cNvSpPr txBox="1"/>
            <p:nvPr/>
          </p:nvSpPr>
          <p:spPr>
            <a:xfrm>
              <a:off x="5181193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2182</a:t>
              </a:r>
            </a:p>
          </p:txBody>
        </p:sp>
        <p:sp>
          <p:nvSpPr>
            <p:cNvPr id="28" name="小红书平北职场PPT7-18"/>
            <p:cNvSpPr txBox="1"/>
            <p:nvPr/>
          </p:nvSpPr>
          <p:spPr>
            <a:xfrm>
              <a:off x="5664712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条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7-19"/>
            <p:cNvSpPr/>
            <p:nvPr/>
          </p:nvSpPr>
          <p:spPr>
            <a:xfrm>
              <a:off x="7397110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7-20"/>
            <p:cNvSpPr/>
            <p:nvPr/>
          </p:nvSpPr>
          <p:spPr>
            <a:xfrm>
              <a:off x="7523349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7-21"/>
            <p:cNvSpPr txBox="1"/>
            <p:nvPr/>
          </p:nvSpPr>
          <p:spPr>
            <a:xfrm>
              <a:off x="7467889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活跃数据源</a:t>
              </a:r>
            </a:p>
          </p:txBody>
        </p:sp>
        <p:sp>
          <p:nvSpPr>
            <p:cNvPr id="32" name="小红书平北职场PPT7-22"/>
            <p:cNvSpPr/>
            <p:nvPr/>
          </p:nvSpPr>
          <p:spPr>
            <a:xfrm>
              <a:off x="9160748" y="1070111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7-23"/>
            <p:cNvSpPr txBox="1"/>
            <p:nvPr/>
          </p:nvSpPr>
          <p:spPr>
            <a:xfrm>
              <a:off x="7537154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9</a:t>
              </a:r>
            </a:p>
          </p:txBody>
        </p:sp>
        <p:sp>
          <p:nvSpPr>
            <p:cNvPr id="34" name="小红书平北职场PPT7-24"/>
            <p:cNvSpPr txBox="1"/>
            <p:nvPr/>
          </p:nvSpPr>
          <p:spPr>
            <a:xfrm>
              <a:off x="8200785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类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小红书平北职场PPT7-25"/>
            <p:cNvSpPr/>
            <p:nvPr/>
          </p:nvSpPr>
          <p:spPr>
            <a:xfrm>
              <a:off x="9753071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小红书平北职场PPT7-26"/>
            <p:cNvSpPr/>
            <p:nvPr/>
          </p:nvSpPr>
          <p:spPr>
            <a:xfrm>
              <a:off x="9879308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7" name="小红书平北职场PPT7-27"/>
            <p:cNvSpPr txBox="1"/>
            <p:nvPr/>
          </p:nvSpPr>
          <p:spPr>
            <a:xfrm>
              <a:off x="9823850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JD 样本</a:t>
              </a:r>
            </a:p>
          </p:txBody>
        </p:sp>
        <p:sp>
          <p:nvSpPr>
            <p:cNvPr id="38" name="小红书平北职场PPT7-28"/>
            <p:cNvSpPr/>
            <p:nvPr/>
          </p:nvSpPr>
          <p:spPr>
            <a:xfrm>
              <a:off x="11516709" y="1070111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小红书平北职场PPT7-29"/>
            <p:cNvSpPr txBox="1"/>
            <p:nvPr/>
          </p:nvSpPr>
          <p:spPr>
            <a:xfrm>
              <a:off x="9893115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620</a:t>
              </a:r>
            </a:p>
          </p:txBody>
        </p:sp>
        <p:sp>
          <p:nvSpPr>
            <p:cNvPr id="40" name="小红书平北职场PPT7-30"/>
            <p:cNvSpPr txBox="1"/>
            <p:nvPr/>
          </p:nvSpPr>
          <p:spPr>
            <a:xfrm>
              <a:off x="10640566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条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649765" y="1490539"/>
              <a:ext cx="10399234" cy="376288"/>
              <a:chOff x="1649765" y="1475041"/>
              <a:chExt cx="10399234" cy="376288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1649765" y="1475041"/>
                <a:ext cx="934552" cy="376288"/>
                <a:chOff x="1538927" y="1475041"/>
                <a:chExt cx="934552" cy="376288"/>
              </a:xfrm>
            </p:grpSpPr>
            <p:sp>
              <p:nvSpPr>
                <p:cNvPr id="60" name="小红书平北职场PPT7-31"/>
                <p:cNvSpPr txBox="1"/>
                <p:nvPr/>
              </p:nvSpPr>
              <p:spPr>
                <a:xfrm>
                  <a:off x="1538927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36.6</a:t>
                  </a:r>
                </a:p>
              </p:txBody>
            </p:sp>
            <p:sp>
              <p:nvSpPr>
                <p:cNvPr id="61" name="小红书平北职场PPT7-32"/>
                <p:cNvSpPr txBox="1"/>
                <p:nvPr/>
              </p:nvSpPr>
              <p:spPr>
                <a:xfrm>
                  <a:off x="1893823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3881034" y="1475041"/>
                <a:ext cx="1060396" cy="376288"/>
                <a:chOff x="3881034" y="1475041"/>
                <a:chExt cx="1060396" cy="376288"/>
              </a:xfrm>
            </p:grpSpPr>
            <p:sp>
              <p:nvSpPr>
                <p:cNvPr id="58" name="小红书平北职场PPT7-33"/>
                <p:cNvSpPr txBox="1"/>
                <p:nvPr/>
              </p:nvSpPr>
              <p:spPr>
                <a:xfrm>
                  <a:off x="3881034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26.2</a:t>
                  </a:r>
                </a:p>
              </p:txBody>
            </p:sp>
            <p:sp>
              <p:nvSpPr>
                <p:cNvPr id="59" name="小红书平北职场PPT7-34"/>
                <p:cNvSpPr txBox="1"/>
                <p:nvPr/>
              </p:nvSpPr>
              <p:spPr>
                <a:xfrm>
                  <a:off x="4416039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6262882" y="1475041"/>
                <a:ext cx="1018834" cy="376288"/>
                <a:chOff x="6250850" y="1475041"/>
                <a:chExt cx="1018834" cy="376288"/>
              </a:xfrm>
            </p:grpSpPr>
            <p:sp>
              <p:nvSpPr>
                <p:cNvPr id="56" name="小红书平北职场PPT7-35"/>
                <p:cNvSpPr txBox="1"/>
                <p:nvPr/>
              </p:nvSpPr>
              <p:spPr>
                <a:xfrm>
                  <a:off x="6250850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14.9</a:t>
                  </a:r>
                </a:p>
              </p:txBody>
            </p:sp>
            <p:sp>
              <p:nvSpPr>
                <p:cNvPr id="57" name="小红书平北职场PPT7-36"/>
                <p:cNvSpPr txBox="1"/>
                <p:nvPr/>
              </p:nvSpPr>
              <p:spPr>
                <a:xfrm>
                  <a:off x="6744293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8715096" y="1475041"/>
                <a:ext cx="904351" cy="376288"/>
                <a:chOff x="8618842" y="1475041"/>
                <a:chExt cx="904351" cy="376288"/>
              </a:xfrm>
            </p:grpSpPr>
            <p:sp>
              <p:nvSpPr>
                <p:cNvPr id="54" name="小红书平北职场PPT7-37"/>
                <p:cNvSpPr txBox="1"/>
                <p:nvPr/>
              </p:nvSpPr>
              <p:spPr>
                <a:xfrm>
                  <a:off x="8618842" y="1475041"/>
                  <a:ext cx="673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8.5</a:t>
                  </a:r>
                </a:p>
              </p:txBody>
            </p:sp>
            <p:sp>
              <p:nvSpPr>
                <p:cNvPr id="55" name="小红书平北职场PPT7-38"/>
                <p:cNvSpPr txBox="1"/>
                <p:nvPr/>
              </p:nvSpPr>
              <p:spPr>
                <a:xfrm>
                  <a:off x="8997802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1114447" y="1475041"/>
                <a:ext cx="934552" cy="376288"/>
                <a:chOff x="11018191" y="1475041"/>
                <a:chExt cx="934552" cy="376288"/>
              </a:xfrm>
            </p:grpSpPr>
            <p:sp>
              <p:nvSpPr>
                <p:cNvPr id="52" name="小红书平北职场PPT7-39"/>
                <p:cNvSpPr txBox="1"/>
                <p:nvPr/>
              </p:nvSpPr>
              <p:spPr>
                <a:xfrm>
                  <a:off x="11018191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3.4</a:t>
                  </a:r>
                </a:p>
              </p:txBody>
            </p:sp>
            <p:sp>
              <p:nvSpPr>
                <p:cNvPr id="53" name="小红书平北职场PPT7-40"/>
                <p:cNvSpPr txBox="1"/>
                <p:nvPr/>
              </p:nvSpPr>
              <p:spPr>
                <a:xfrm>
                  <a:off x="11355767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</p:grpSp>
        <p:sp>
          <p:nvSpPr>
            <p:cNvPr id="42" name="小红书平北职场PPT7-41"/>
            <p:cNvSpPr/>
            <p:nvPr/>
          </p:nvSpPr>
          <p:spPr>
            <a:xfrm>
              <a:off x="1492258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小红书平北职场PPT7-42"/>
            <p:cNvSpPr/>
            <p:nvPr/>
          </p:nvSpPr>
          <p:spPr>
            <a:xfrm>
              <a:off x="3730395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4" name="小红书平北职场PPT7-43"/>
            <p:cNvSpPr/>
            <p:nvPr/>
          </p:nvSpPr>
          <p:spPr>
            <a:xfrm>
              <a:off x="6049155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小红书平北职场PPT7-44"/>
            <p:cNvSpPr/>
            <p:nvPr/>
          </p:nvSpPr>
          <p:spPr>
            <a:xfrm>
              <a:off x="8539101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小红书平北职场PPT7-45"/>
            <p:cNvSpPr/>
            <p:nvPr/>
          </p:nvSpPr>
          <p:spPr>
            <a:xfrm>
              <a:off x="10883530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62" name="小红书平北职场PPT8"/>
          <p:cNvGraphicFramePr>
            <a:graphicFrameLocks noGrp="1"/>
          </p:cNvGraphicFramePr>
          <p:nvPr/>
        </p:nvGraphicFramePr>
        <p:xfrm>
          <a:off x="430181" y="2887247"/>
          <a:ext cx="2957141" cy="3692480"/>
        </p:xfrm>
        <a:graphic>
          <a:graphicData uri="http://schemas.openxmlformats.org/drawingml/2006/table">
            <a:tbl>
              <a:tblPr/>
              <a:tblGrid>
                <a:gridCol w="756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离职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总人数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离职率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22.7%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技术部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客服部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12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市场部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17.8%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行政部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12.5%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3" name="小红书平北职场PPT10"/>
          <p:cNvGrpSpPr/>
          <p:nvPr/>
        </p:nvGrpSpPr>
        <p:grpSpPr>
          <a:xfrm>
            <a:off x="8586858" y="2906606"/>
            <a:ext cx="3009490" cy="968310"/>
            <a:chOff x="8278569" y="2766363"/>
            <a:chExt cx="3102800" cy="1417094"/>
          </a:xfrm>
        </p:grpSpPr>
        <p:sp>
          <p:nvSpPr>
            <p:cNvPr id="64" name="小红书平北职场PPT10-1"/>
            <p:cNvSpPr txBox="1"/>
            <p:nvPr/>
          </p:nvSpPr>
          <p:spPr>
            <a:xfrm>
              <a:off x="9184196" y="3095944"/>
              <a:ext cx="1960438" cy="47134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jobicy 采集</a:t>
              </a:r>
            </a:p>
          </p:txBody>
        </p:sp>
        <p:sp>
          <p:nvSpPr>
            <p:cNvPr id="65" name="小红书平北职场PPT10-2"/>
            <p:cNvSpPr txBox="1"/>
            <p:nvPr/>
          </p:nvSpPr>
          <p:spPr>
            <a:xfrm>
              <a:off x="8278569" y="3143238"/>
              <a:ext cx="904360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其他来源</a:t>
              </a:r>
            </a:p>
          </p:txBody>
        </p:sp>
        <p:sp>
          <p:nvSpPr>
            <p:cNvPr id="66" name="小红书平北职场PPT10-3"/>
            <p:cNvSpPr txBox="1"/>
            <p:nvPr/>
          </p:nvSpPr>
          <p:spPr>
            <a:xfrm>
              <a:off x="8514934" y="2785414"/>
              <a:ext cx="1162182" cy="37047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apify-lagou</a:t>
              </a:r>
            </a:p>
          </p:txBody>
        </p:sp>
        <p:sp>
          <p:nvSpPr>
            <p:cNvPr id="67" name="小红书平北职场PPT10-4"/>
            <p:cNvSpPr txBox="1"/>
            <p:nvPr/>
          </p:nvSpPr>
          <p:spPr>
            <a:xfrm>
              <a:off x="9764159" y="3812985"/>
              <a:ext cx="1023354" cy="37047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seed-demo</a:t>
              </a:r>
            </a:p>
          </p:txBody>
        </p:sp>
        <p:sp>
          <p:nvSpPr>
            <p:cNvPr id="68" name="小红书平北职场PPT10-5"/>
            <p:cNvSpPr txBox="1"/>
            <p:nvPr/>
          </p:nvSpPr>
          <p:spPr>
            <a:xfrm>
              <a:off x="10033085" y="3502761"/>
              <a:ext cx="1261344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2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remoteok</a:t>
              </a:r>
            </a:p>
          </p:txBody>
        </p:sp>
        <p:sp>
          <p:nvSpPr>
            <p:cNvPr id="69" name="小红书平北职场PPT10-6"/>
            <p:cNvSpPr txBox="1"/>
            <p:nvPr/>
          </p:nvSpPr>
          <p:spPr>
            <a:xfrm>
              <a:off x="8482200" y="3473543"/>
              <a:ext cx="1446447" cy="40378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themuse 等</a:t>
              </a:r>
            </a:p>
          </p:txBody>
        </p:sp>
        <p:sp>
          <p:nvSpPr>
            <p:cNvPr id="70" name="小红书平北职场PPT10-7"/>
            <p:cNvSpPr txBox="1"/>
            <p:nvPr/>
          </p:nvSpPr>
          <p:spPr>
            <a:xfrm>
              <a:off x="9777914" y="2766363"/>
              <a:ext cx="1603455" cy="40378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6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 源合计 684 条</a:t>
              </a:r>
            </a:p>
          </p:txBody>
        </p:sp>
        <p:sp>
          <p:nvSpPr>
            <p:cNvPr id="71" name="小红书平北职场PPT10-8"/>
            <p:cNvSpPr txBox="1"/>
            <p:nvPr/>
          </p:nvSpPr>
          <p:spPr>
            <a:xfrm>
              <a:off x="8379316" y="3837520"/>
              <a:ext cx="1142350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2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多语言 JD</a:t>
              </a:r>
            </a:p>
          </p:txBody>
        </p:sp>
      </p:grpSp>
      <p:grpSp>
        <p:nvGrpSpPr>
          <p:cNvPr id="72" name="小红书平北职场PPT11"/>
          <p:cNvGrpSpPr/>
          <p:nvPr/>
        </p:nvGrpSpPr>
        <p:grpSpPr>
          <a:xfrm>
            <a:off x="8435346" y="4715063"/>
            <a:ext cx="3343216" cy="1874431"/>
            <a:chOff x="8435346" y="4676963"/>
            <a:chExt cx="3343216" cy="1988766"/>
          </a:xfrm>
        </p:grpSpPr>
        <p:graphicFrame>
          <p:nvGraphicFramePr>
            <p:cNvPr id="73" name="小红书平北职场PPT11-1"/>
            <p:cNvGraphicFramePr/>
            <p:nvPr/>
          </p:nvGraphicFramePr>
          <p:xfrm>
            <a:off x="8435346" y="4676963"/>
            <a:ext cx="3009906" cy="198876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pSp>
          <p:nvGrpSpPr>
            <p:cNvPr id="74" name="组合 73"/>
            <p:cNvGrpSpPr/>
            <p:nvPr/>
          </p:nvGrpSpPr>
          <p:grpSpPr>
            <a:xfrm>
              <a:off x="9334564" y="4894010"/>
              <a:ext cx="2442395" cy="246219"/>
              <a:chOff x="8914377" y="5055379"/>
              <a:chExt cx="2442395" cy="246219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8948507" y="5055379"/>
                <a:ext cx="2408265" cy="246219"/>
                <a:chOff x="8948507" y="5055379"/>
                <a:chExt cx="2408265" cy="246219"/>
              </a:xfrm>
            </p:grpSpPr>
            <p:sp>
              <p:nvSpPr>
                <p:cNvPr id="92" name="小红书平北职场PPT11-2"/>
                <p:cNvSpPr txBox="1"/>
                <p:nvPr/>
              </p:nvSpPr>
              <p:spPr>
                <a:xfrm>
                  <a:off x="10848299" y="5070767"/>
                  <a:ext cx="508473" cy="228585"/>
                </a:xfrm>
                <a:prstGeom prst="rect">
                  <a:avLst/>
                </a:prstGeom>
                <a:noFill/>
              </p:spPr>
              <p:txBody>
                <a:bodyPr vert="horz"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12.5%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93" name="小红书平北职场PPT11-3"/>
                <p:cNvSpPr/>
                <p:nvPr/>
              </p:nvSpPr>
              <p:spPr>
                <a:xfrm rot="5400000">
                  <a:off x="9034459" y="4976046"/>
                  <a:ext cx="246219" cy="404885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54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94" name="小红书平北职场PPT11-4"/>
                <p:cNvSpPr txBox="1"/>
                <p:nvPr/>
              </p:nvSpPr>
              <p:spPr>
                <a:xfrm>
                  <a:off x="8948507" y="5070767"/>
                  <a:ext cx="412292" cy="228585"/>
                </a:xfrm>
                <a:prstGeom prst="rect">
                  <a:avLst/>
                </a:prstGeom>
                <a:noFill/>
              </p:spPr>
              <p:txBody>
                <a:bodyPr vert="horz"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10</a:t>
                  </a: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人</a:t>
                  </a:r>
                </a:p>
              </p:txBody>
            </p:sp>
          </p:grpSp>
          <p:sp>
            <p:nvSpPr>
              <p:cNvPr id="91" name="小红书平北职场PPT11-5"/>
              <p:cNvSpPr/>
              <p:nvPr/>
            </p:nvSpPr>
            <p:spPr>
              <a:xfrm flipH="1">
                <a:off x="8914377" y="5141624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9334564" y="5338885"/>
              <a:ext cx="2443998" cy="246219"/>
              <a:chOff x="8914377" y="5419568"/>
              <a:chExt cx="2443998" cy="246219"/>
            </a:xfrm>
          </p:grpSpPr>
          <p:sp>
            <p:nvSpPr>
              <p:cNvPr id="86" name="小红书平北职场PPT11-6"/>
              <p:cNvSpPr txBox="1"/>
              <p:nvPr/>
            </p:nvSpPr>
            <p:spPr>
              <a:xfrm>
                <a:off x="10849902" y="5434955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15.0%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11-7"/>
              <p:cNvSpPr/>
              <p:nvPr/>
            </p:nvSpPr>
            <p:spPr>
              <a:xfrm rot="5400000">
                <a:off x="9034466" y="5340235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11-8"/>
              <p:cNvSpPr txBox="1"/>
              <p:nvPr/>
            </p:nvSpPr>
            <p:spPr>
              <a:xfrm>
                <a:off x="8958656" y="5434955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12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9" name="小红书平北职场PPT11-9"/>
              <p:cNvSpPr/>
              <p:nvPr/>
            </p:nvSpPr>
            <p:spPr>
              <a:xfrm flipH="1">
                <a:off x="8914377" y="5505813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9334564" y="5760505"/>
              <a:ext cx="2419952" cy="246219"/>
              <a:chOff x="8914377" y="5800847"/>
              <a:chExt cx="2419952" cy="246219"/>
            </a:xfrm>
          </p:grpSpPr>
          <p:sp>
            <p:nvSpPr>
              <p:cNvPr id="82" name="小红书平北职场PPT11-10"/>
              <p:cNvSpPr txBox="1"/>
              <p:nvPr/>
            </p:nvSpPr>
            <p:spPr>
              <a:xfrm>
                <a:off x="10825856" y="5816234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35.0%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3" name="小红书平北职场PPT11-11"/>
              <p:cNvSpPr/>
              <p:nvPr/>
            </p:nvSpPr>
            <p:spPr>
              <a:xfrm rot="5400000">
                <a:off x="9034472" y="5721514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11-12"/>
              <p:cNvSpPr txBox="1"/>
              <p:nvPr/>
            </p:nvSpPr>
            <p:spPr>
              <a:xfrm>
                <a:off x="8934610" y="5816234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28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5" name="小红书平北职场PPT11-13"/>
              <p:cNvSpPr/>
              <p:nvPr/>
            </p:nvSpPr>
            <p:spPr>
              <a:xfrm flipH="1">
                <a:off x="8914377" y="5887092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9334564" y="6193551"/>
              <a:ext cx="2421556" cy="246219"/>
              <a:chOff x="8914377" y="6173379"/>
              <a:chExt cx="2421556" cy="246219"/>
            </a:xfrm>
          </p:grpSpPr>
          <p:sp>
            <p:nvSpPr>
              <p:cNvPr id="78" name="小红书平北职场PPT11-14"/>
              <p:cNvSpPr txBox="1"/>
              <p:nvPr/>
            </p:nvSpPr>
            <p:spPr>
              <a:xfrm>
                <a:off x="10827460" y="6188767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37.5%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9" name="小红书平北职场PPT11-15"/>
              <p:cNvSpPr/>
              <p:nvPr/>
            </p:nvSpPr>
            <p:spPr>
              <a:xfrm rot="5400000">
                <a:off x="9034463" y="6094046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0" name="小红书平北职场PPT11-16"/>
              <p:cNvSpPr txBox="1"/>
              <p:nvPr/>
            </p:nvSpPr>
            <p:spPr>
              <a:xfrm>
                <a:off x="8936214" y="6188767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1" name="小红书平北职场PPT11-17"/>
              <p:cNvSpPr/>
              <p:nvPr/>
            </p:nvSpPr>
            <p:spPr>
              <a:xfrm flipH="1">
                <a:off x="8914377" y="6259625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95" name="小红书平北职场PPT12"/>
          <p:cNvGrpSpPr/>
          <p:nvPr/>
        </p:nvGrpSpPr>
        <p:grpSpPr>
          <a:xfrm>
            <a:off x="284267" y="2336301"/>
            <a:ext cx="10543400" cy="2363306"/>
            <a:chOff x="284267" y="2336301"/>
            <a:chExt cx="10543400" cy="2363306"/>
          </a:xfrm>
        </p:grpSpPr>
        <p:grpSp>
          <p:nvGrpSpPr>
            <p:cNvPr id="96" name="组合 95"/>
            <p:cNvGrpSpPr/>
            <p:nvPr/>
          </p:nvGrpSpPr>
          <p:grpSpPr>
            <a:xfrm>
              <a:off x="284267" y="2336301"/>
              <a:ext cx="10543400" cy="2363306"/>
              <a:chOff x="284267" y="2336301"/>
              <a:chExt cx="10543400" cy="2363306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284267" y="2336301"/>
                <a:ext cx="2964510" cy="431815"/>
                <a:chOff x="194327" y="2319972"/>
                <a:chExt cx="2964510" cy="431815"/>
              </a:xfrm>
            </p:grpSpPr>
            <p:grpSp>
              <p:nvGrpSpPr>
                <p:cNvPr id="105" name="组合 104"/>
                <p:cNvGrpSpPr/>
                <p:nvPr/>
              </p:nvGrpSpPr>
              <p:grpSpPr>
                <a:xfrm>
                  <a:off x="194327" y="2319972"/>
                  <a:ext cx="2964510" cy="431815"/>
                  <a:chOff x="194327" y="2319972"/>
                  <a:chExt cx="2964510" cy="431815"/>
                </a:xfrm>
              </p:grpSpPr>
              <p:sp>
                <p:nvSpPr>
                  <p:cNvPr id="107" name="小红书平北职场PPT12-1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94330" y="2391681"/>
                    <a:ext cx="2964507" cy="36010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42619" dist="65824" dir="5400000" algn="ctr" rotWithShape="0">
                      <a:schemeClr val="accent2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08" name="小红书平北职场PPT12-2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 flipH="1">
                    <a:off x="194327" y="2319972"/>
                    <a:ext cx="134897" cy="75261"/>
                  </a:xfrm>
                  <a:prstGeom prst="rtTriangl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9525">
                    <a:noFill/>
                    <a:round/>
                  </a:ln>
                  <a:effectLst>
                    <a:outerShdw blurRad="142619" dist="65824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06" name="小红书平北职场PPT12-3"/>
                <p:cNvSpPr txBox="1"/>
                <p:nvPr/>
              </p:nvSpPr>
              <p:spPr>
                <a:xfrm>
                  <a:off x="302896" y="2421217"/>
                  <a:ext cx="27994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技能热度 Top8（岗位引用数）</a:t>
                  </a:r>
                  <a:r>
                    <a:rPr kumimoji="0" lang="zh-CN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/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8209131" y="4267792"/>
                <a:ext cx="2618536" cy="431815"/>
                <a:chOff x="194327" y="2319972"/>
                <a:chExt cx="2618536" cy="431815"/>
              </a:xfrm>
            </p:grpSpPr>
            <p:sp>
              <p:nvSpPr>
                <p:cNvPr id="103" name="小红书平北职场PPT12-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94330" y="2391681"/>
                  <a:ext cx="2618533" cy="36010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12-5"/>
                <p:cNvSpPr/>
                <p:nvPr>
                  <p:custDataLst>
                    <p:tags r:id="rId5"/>
                  </p:custDataLst>
                </p:nvPr>
              </p:nvSpPr>
              <p:spPr>
                <a:xfrm flipH="1">
                  <a:off x="194327" y="2319972"/>
                  <a:ext cx="134897" cy="75261"/>
                </a:xfrm>
                <a:prstGeom prst="rtTriangle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8209131" y="2336301"/>
                <a:ext cx="2618536" cy="431815"/>
                <a:chOff x="194327" y="2319972"/>
                <a:chExt cx="2618536" cy="431815"/>
              </a:xfrm>
            </p:grpSpPr>
            <p:sp>
              <p:nvSpPr>
                <p:cNvPr id="101" name="小红书平北职场PPT12-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94330" y="2391681"/>
                  <a:ext cx="2618533" cy="36010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2" name="小红书平北职场PPT12-7"/>
                <p:cNvSpPr/>
                <p:nvPr>
                  <p:custDataLst>
                    <p:tags r:id="rId3"/>
                  </p:custDataLst>
                </p:nvPr>
              </p:nvSpPr>
              <p:spPr>
                <a:xfrm flipH="1">
                  <a:off x="194327" y="2319972"/>
                  <a:ext cx="134897" cy="75261"/>
                </a:xfrm>
                <a:prstGeom prst="rtTriangle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7" name="小红书平北职场PPT12-8"/>
            <p:cNvSpPr txBox="1"/>
            <p:nvPr/>
          </p:nvSpPr>
          <p:spPr>
            <a:xfrm>
              <a:off x="8346554" y="2437546"/>
              <a:ext cx="221019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数据源分布（JD 条数）</a:t>
              </a:r>
            </a:p>
          </p:txBody>
        </p:sp>
      </p:grpSp>
      <p:sp>
        <p:nvSpPr>
          <p:cNvPr id="109" name="小红书平北职场PPT13"/>
          <p:cNvSpPr txBox="1"/>
          <p:nvPr/>
        </p:nvSpPr>
        <p:spPr>
          <a:xfrm>
            <a:off x="8346554" y="4355601"/>
            <a:ext cx="270538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图谱规模核心指标</a:t>
            </a:r>
          </a:p>
        </p:txBody>
      </p:sp>
      <p:sp>
        <p:nvSpPr>
          <p:cNvPr id="110" name="小红书平北职场PPT14"/>
          <p:cNvSpPr/>
          <p:nvPr/>
        </p:nvSpPr>
        <p:spPr>
          <a:xfrm>
            <a:off x="3539344" y="2262174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1" name="小红书平北职场PPT15"/>
          <p:cNvSpPr/>
          <p:nvPr/>
        </p:nvSpPr>
        <p:spPr>
          <a:xfrm>
            <a:off x="3539344" y="4494080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2" name="小红书平北职场PPT16"/>
          <p:cNvGrpSpPr/>
          <p:nvPr/>
        </p:nvGrpSpPr>
        <p:grpSpPr>
          <a:xfrm>
            <a:off x="4884117" y="2399037"/>
            <a:ext cx="2932213" cy="307777"/>
            <a:chOff x="4718366" y="2428917"/>
            <a:chExt cx="2932213" cy="307777"/>
          </a:xfrm>
        </p:grpSpPr>
        <p:sp>
          <p:nvSpPr>
            <p:cNvPr id="113" name="小红书平北职场PPT16-1"/>
            <p:cNvSpPr/>
            <p:nvPr/>
          </p:nvSpPr>
          <p:spPr>
            <a:xfrm>
              <a:off x="4810183" y="2630252"/>
              <a:ext cx="2700000" cy="7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小红书平北职场PPT16-2"/>
            <p:cNvSpPr txBox="1"/>
            <p:nvPr/>
          </p:nvSpPr>
          <p:spPr>
            <a:xfrm>
              <a:off x="4718366" y="2428917"/>
              <a:ext cx="293221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数据源采集覆盖：9 类活跃源实时汇聚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</a:p>
          </p:txBody>
        </p:sp>
      </p:grpSp>
      <p:grpSp>
        <p:nvGrpSpPr>
          <p:cNvPr id="115" name="小红书平北职场PPT17"/>
          <p:cNvGrpSpPr/>
          <p:nvPr/>
        </p:nvGrpSpPr>
        <p:grpSpPr>
          <a:xfrm>
            <a:off x="4884117" y="4652188"/>
            <a:ext cx="2932213" cy="307777"/>
            <a:chOff x="4718366" y="2428917"/>
            <a:chExt cx="2932213" cy="307777"/>
          </a:xfrm>
        </p:grpSpPr>
        <p:sp>
          <p:nvSpPr>
            <p:cNvPr id="116" name="小红书平北职场PPT17-1"/>
            <p:cNvSpPr/>
            <p:nvPr/>
          </p:nvSpPr>
          <p:spPr>
            <a:xfrm>
              <a:off x="4810183" y="2630252"/>
              <a:ext cx="2700000" cy="7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7" name="小红书平北职场PPT17-2"/>
            <p:cNvSpPr txBox="1"/>
            <p:nvPr/>
          </p:nvSpPr>
          <p:spPr>
            <a:xfrm>
              <a:off x="4718366" y="2428917"/>
              <a:ext cx="293221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多语言样本：中 / 英 / 德 620 条真实 JD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</a:p>
          </p:txBody>
        </p:sp>
      </p:grpSp>
      <p:sp>
        <p:nvSpPr>
          <p:cNvPr id="118" name="小红书平北职场PPT18"/>
          <p:cNvSpPr txBox="1"/>
          <p:nvPr/>
        </p:nvSpPr>
        <p:spPr>
          <a:xfrm flipH="1">
            <a:off x="3625662" y="2560355"/>
            <a:ext cx="3214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rPr>
              <a:t>01</a:t>
            </a:r>
          </a:p>
        </p:txBody>
      </p:sp>
      <p:sp>
        <p:nvSpPr>
          <p:cNvPr id="119" name="小红书平北职场PPT19"/>
          <p:cNvSpPr txBox="1"/>
          <p:nvPr/>
        </p:nvSpPr>
        <p:spPr>
          <a:xfrm flipH="1">
            <a:off x="3625662" y="4783492"/>
            <a:ext cx="3214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rPr>
              <a:t>02</a:t>
            </a:r>
          </a:p>
        </p:txBody>
      </p:sp>
      <p:graphicFrame>
        <p:nvGraphicFramePr>
          <p:cNvPr id="120" name="小红书平北职场PPT20"/>
          <p:cNvGraphicFramePr/>
          <p:nvPr/>
        </p:nvGraphicFramePr>
        <p:xfrm>
          <a:off x="3510598" y="2622860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21" name="小红书平北职场PPT21"/>
          <p:cNvGraphicFramePr/>
          <p:nvPr/>
        </p:nvGraphicFramePr>
        <p:xfrm>
          <a:off x="3510598" y="4845133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5054871" y="4222907"/>
            <a:ext cx="3108643" cy="23487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" name="小红书平北职场PPT2"/>
          <p:cNvGrpSpPr/>
          <p:nvPr/>
        </p:nvGrpSpPr>
        <p:grpSpPr>
          <a:xfrm>
            <a:off x="4919974" y="4297033"/>
            <a:ext cx="2830183" cy="431815"/>
            <a:chOff x="194327" y="2319972"/>
            <a:chExt cx="2830183" cy="431815"/>
          </a:xfrm>
        </p:grpSpPr>
        <p:sp>
          <p:nvSpPr>
            <p:cNvPr id="4" name="小红书平北职场PPT2-1"/>
            <p:cNvSpPr/>
            <p:nvPr>
              <p:custDataLst>
                <p:tags r:id="rId8"/>
              </p:custDataLst>
            </p:nvPr>
          </p:nvSpPr>
          <p:spPr>
            <a:xfrm>
              <a:off x="194330" y="2391681"/>
              <a:ext cx="2830180" cy="36010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42619" dist="65824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5" name="小红书平北职场PPT2-2"/>
            <p:cNvSpPr/>
            <p:nvPr>
              <p:custDataLst>
                <p:tags r:id="rId9"/>
              </p:custDataLst>
            </p:nvPr>
          </p:nvSpPr>
          <p:spPr>
            <a:xfrm flipH="1">
              <a:off x="194327" y="2319972"/>
              <a:ext cx="134897" cy="75261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142619" dist="65824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" name="小红书平北职场PPT3"/>
          <p:cNvSpPr txBox="1"/>
          <p:nvPr/>
        </p:nvSpPr>
        <p:spPr>
          <a:xfrm>
            <a:off x="5019997" y="4410615"/>
            <a:ext cx="2730160" cy="31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核心指标验证</a:t>
            </a:r>
          </a:p>
        </p:txBody>
      </p:sp>
      <p:sp>
        <p:nvSpPr>
          <p:cNvPr id="7" name="小红书平北职场PPT4"/>
          <p:cNvSpPr/>
          <p:nvPr/>
        </p:nvSpPr>
        <p:spPr>
          <a:xfrm>
            <a:off x="5054871" y="925554"/>
            <a:ext cx="6772182" cy="30087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8" name="小红书平北职场PPT5"/>
          <p:cNvGrpSpPr/>
          <p:nvPr/>
        </p:nvGrpSpPr>
        <p:grpSpPr>
          <a:xfrm>
            <a:off x="4919974" y="999680"/>
            <a:ext cx="6487079" cy="431815"/>
            <a:chOff x="194327" y="2319972"/>
            <a:chExt cx="6487079" cy="431815"/>
          </a:xfrm>
        </p:grpSpPr>
        <p:grpSp>
          <p:nvGrpSpPr>
            <p:cNvPr id="9" name="组合 8"/>
            <p:cNvGrpSpPr/>
            <p:nvPr/>
          </p:nvGrpSpPr>
          <p:grpSpPr>
            <a:xfrm>
              <a:off x="194327" y="2319972"/>
              <a:ext cx="6487079" cy="431815"/>
              <a:chOff x="194327" y="2319972"/>
              <a:chExt cx="6487079" cy="431815"/>
            </a:xfrm>
          </p:grpSpPr>
          <p:sp>
            <p:nvSpPr>
              <p:cNvPr id="11" name="小红书平北职场PPT5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4329" y="2391681"/>
                <a:ext cx="6487077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" name="小红书平北职场PPT5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0" name="小红书平北职场PPT5-3"/>
            <p:cNvSpPr txBox="1"/>
            <p:nvPr/>
          </p:nvSpPr>
          <p:spPr>
            <a:xfrm>
              <a:off x="294349" y="2433554"/>
              <a:ext cx="53882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人岗匹配 97.45%：432 样本，区间 + 方向双重判定，准确可靠。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</a:p>
          </p:txBody>
        </p:sp>
      </p:grpSp>
      <p:grpSp>
        <p:nvGrpSpPr>
          <p:cNvPr id="13" name="小红书平北职场PPT6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4" name="小红书平北职场PPT6-1"/>
            <p:cNvCxnSpPr/>
            <p:nvPr>
              <p:custDataLst>
                <p:tags r:id="rId4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小红书平北职场PPT6-2"/>
            <p:cNvSpPr txBox="1"/>
            <p:nvPr>
              <p:custDataLst>
                <p:tags r:id="rId5"/>
              </p:custDataLst>
            </p:nvPr>
          </p:nvSpPr>
          <p:spPr>
            <a:xfrm>
              <a:off x="334963" y="184318"/>
              <a:ext cx="3590727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系统验证三指标</a:t>
              </a:r>
            </a:p>
          </p:txBody>
        </p:sp>
      </p:grpSp>
      <p:sp>
        <p:nvSpPr>
          <p:cNvPr id="16" name="小红书平北职场PPT8"/>
          <p:cNvSpPr/>
          <p:nvPr/>
        </p:nvSpPr>
        <p:spPr>
          <a:xfrm>
            <a:off x="473512" y="925553"/>
            <a:ext cx="4283292" cy="56268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" name="小红书平北职场PPT9"/>
          <p:cNvGrpSpPr/>
          <p:nvPr/>
        </p:nvGrpSpPr>
        <p:grpSpPr>
          <a:xfrm>
            <a:off x="334963" y="999680"/>
            <a:ext cx="4149188" cy="431815"/>
            <a:chOff x="194327" y="2319972"/>
            <a:chExt cx="4149188" cy="431815"/>
          </a:xfrm>
        </p:grpSpPr>
        <p:grpSp>
          <p:nvGrpSpPr>
            <p:cNvPr id="18" name="组合 17"/>
            <p:cNvGrpSpPr/>
            <p:nvPr/>
          </p:nvGrpSpPr>
          <p:grpSpPr>
            <a:xfrm>
              <a:off x="194327" y="2319972"/>
              <a:ext cx="4149188" cy="431815"/>
              <a:chOff x="194327" y="2319972"/>
              <a:chExt cx="4149188" cy="431815"/>
            </a:xfrm>
          </p:grpSpPr>
          <p:sp>
            <p:nvSpPr>
              <p:cNvPr id="20" name="小红书平北职场PPT9-1"/>
              <p:cNvSpPr/>
              <p:nvPr>
                <p:custDataLst>
                  <p:tags r:id="rId2"/>
                </p:custDataLst>
              </p:nvPr>
            </p:nvSpPr>
            <p:spPr>
              <a:xfrm>
                <a:off x="194331" y="2391681"/>
                <a:ext cx="4149184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1" name="小红书平北职场PPT9-2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9" name="小红书平北职场PPT9-3"/>
            <p:cNvSpPr txBox="1"/>
            <p:nvPr/>
          </p:nvSpPr>
          <p:spPr>
            <a:xfrm>
              <a:off x="294350" y="2433554"/>
              <a:ext cx="3914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三指标全部达标：JD 解析 F1 96.22%、简历提取 F1 91.58%、人岗匹配 97.45%。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/>
              </a:r>
            </a:p>
          </p:txBody>
        </p:sp>
      </p:grpSp>
      <p:graphicFrame>
        <p:nvGraphicFramePr>
          <p:cNvPr id="22" name="小红书平北职场PPT10"/>
          <p:cNvGraphicFramePr/>
          <p:nvPr/>
        </p:nvGraphicFramePr>
        <p:xfrm>
          <a:off x="495868" y="1536902"/>
          <a:ext cx="4179576" cy="5000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pSp>
        <p:nvGrpSpPr>
          <p:cNvPr id="23" name="小红书平北职场PPT11"/>
          <p:cNvGrpSpPr/>
          <p:nvPr/>
        </p:nvGrpSpPr>
        <p:grpSpPr>
          <a:xfrm>
            <a:off x="1410448" y="4597509"/>
            <a:ext cx="501183" cy="409180"/>
            <a:chOff x="1514563" y="2740836"/>
            <a:chExt cx="391286" cy="336633"/>
          </a:xfrm>
        </p:grpSpPr>
        <p:sp>
          <p:nvSpPr>
            <p:cNvPr id="24" name="小红书平北职场PPT11-1"/>
            <p:cNvSpPr/>
            <p:nvPr/>
          </p:nvSpPr>
          <p:spPr>
            <a:xfrm flipH="1">
              <a:off x="1514563" y="2740836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 flipV="1">
              <a:off x="1514563" y="2824186"/>
              <a:ext cx="391286" cy="253283"/>
              <a:chOff x="4661020" y="2619222"/>
              <a:chExt cx="499390" cy="323261"/>
            </a:xfrm>
          </p:grpSpPr>
          <p:sp>
            <p:nvSpPr>
              <p:cNvPr id="26" name="小红书平北职场PPT11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7" name="小红书平北职场PPT11-3"/>
              <p:cNvSpPr txBox="1"/>
              <p:nvPr/>
            </p:nvSpPr>
            <p:spPr>
              <a:xfrm flipV="1">
                <a:off x="4661020" y="2619222"/>
                <a:ext cx="499390" cy="264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96.2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28" name="小红书平北职场PPT12"/>
          <p:cNvGrpSpPr/>
          <p:nvPr/>
        </p:nvGrpSpPr>
        <p:grpSpPr>
          <a:xfrm>
            <a:off x="2460883" y="2442001"/>
            <a:ext cx="551557" cy="407043"/>
            <a:chOff x="2823856" y="1945739"/>
            <a:chExt cx="430614" cy="334876"/>
          </a:xfrm>
        </p:grpSpPr>
        <p:sp>
          <p:nvSpPr>
            <p:cNvPr id="29" name="小红书平北职场PPT12-1"/>
            <p:cNvSpPr/>
            <p:nvPr/>
          </p:nvSpPr>
          <p:spPr>
            <a:xfrm flipH="1">
              <a:off x="2840702" y="1945739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 flipV="1">
              <a:off x="2823856" y="2018653"/>
              <a:ext cx="430614" cy="261962"/>
              <a:chOff x="4644083" y="2608144"/>
              <a:chExt cx="549583" cy="334339"/>
            </a:xfrm>
          </p:grpSpPr>
          <p:sp>
            <p:nvSpPr>
              <p:cNvPr id="31" name="小红书平北职场PPT12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2" name="小红书平北职场PPT12-3"/>
              <p:cNvSpPr txBox="1"/>
              <p:nvPr/>
            </p:nvSpPr>
            <p:spPr>
              <a:xfrm flipV="1">
                <a:off x="4644083" y="2608144"/>
                <a:ext cx="549583" cy="26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91.6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3" name="小红书平北职场PPT13"/>
          <p:cNvGrpSpPr/>
          <p:nvPr/>
        </p:nvGrpSpPr>
        <p:grpSpPr>
          <a:xfrm>
            <a:off x="3505327" y="1895989"/>
            <a:ext cx="551557" cy="391308"/>
            <a:chOff x="4078802" y="1768356"/>
            <a:chExt cx="430614" cy="321930"/>
          </a:xfrm>
        </p:grpSpPr>
        <p:sp>
          <p:nvSpPr>
            <p:cNvPr id="34" name="小红书平北职场PPT13-1"/>
            <p:cNvSpPr/>
            <p:nvPr/>
          </p:nvSpPr>
          <p:spPr>
            <a:xfrm flipH="1">
              <a:off x="4106423" y="1768356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 flipV="1">
              <a:off x="4078802" y="1838772"/>
              <a:ext cx="430614" cy="251514"/>
              <a:chOff x="4644083" y="2621479"/>
              <a:chExt cx="549583" cy="321004"/>
            </a:xfrm>
          </p:grpSpPr>
          <p:sp>
            <p:nvSpPr>
              <p:cNvPr id="36" name="小红书平北职场PPT13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7" name="小红书平北职场PPT13-3"/>
              <p:cNvSpPr txBox="1"/>
              <p:nvPr/>
            </p:nvSpPr>
            <p:spPr>
              <a:xfrm flipV="1">
                <a:off x="4644083" y="2621479"/>
                <a:ext cx="549583" cy="264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97.5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sp>
        <p:nvSpPr>
          <p:cNvPr id="38" name="小红书平北职场PPT14"/>
          <p:cNvSpPr txBox="1"/>
          <p:nvPr/>
        </p:nvSpPr>
        <p:spPr>
          <a:xfrm>
            <a:off x="600722" y="6257764"/>
            <a:ext cx="9914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</a:rPr>
              <a:t>（单位：%）</a:t>
            </a:r>
          </a:p>
        </p:txBody>
      </p:sp>
      <p:graphicFrame>
        <p:nvGraphicFramePr>
          <p:cNvPr id="39" name="小红书平北职场PPT15"/>
          <p:cNvGraphicFramePr/>
          <p:nvPr/>
        </p:nvGraphicFramePr>
        <p:xfrm>
          <a:off x="4714976" y="1531303"/>
          <a:ext cx="3415979" cy="2422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0" name="小红书平北职场PPT16"/>
          <p:cNvSpPr/>
          <p:nvPr/>
        </p:nvSpPr>
        <p:spPr>
          <a:xfrm>
            <a:off x="5983160" y="2069621"/>
            <a:ext cx="872752" cy="872752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41" name="小红书平北职场PPT17"/>
          <p:cNvGraphicFramePr/>
          <p:nvPr/>
        </p:nvGraphicFramePr>
        <p:xfrm>
          <a:off x="7750157" y="1525969"/>
          <a:ext cx="3556130" cy="2422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pSp>
        <p:nvGrpSpPr>
          <p:cNvPr id="42" name="小红书平北职场PPT18"/>
          <p:cNvGrpSpPr/>
          <p:nvPr/>
        </p:nvGrpSpPr>
        <p:grpSpPr>
          <a:xfrm>
            <a:off x="9552791" y="1689851"/>
            <a:ext cx="1972550" cy="2037270"/>
            <a:chOff x="9552791" y="1689851"/>
            <a:chExt cx="1972550" cy="203727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165978" y="1689851"/>
              <a:ext cx="1359363" cy="310077"/>
              <a:chOff x="10165978" y="1689851"/>
              <a:chExt cx="1359363" cy="310077"/>
            </a:xfrm>
          </p:grpSpPr>
          <p:cxnSp>
            <p:nvCxnSpPr>
              <p:cNvPr id="68" name="小红书平北职场PPT18-1"/>
              <p:cNvCxnSpPr/>
              <p:nvPr/>
            </p:nvCxnSpPr>
            <p:spPr>
              <a:xfrm>
                <a:off x="10165978" y="1850316"/>
                <a:ext cx="116182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小红书平北职场PPT18-2"/>
              <p:cNvSpPr/>
              <p:nvPr/>
            </p:nvSpPr>
            <p:spPr>
              <a:xfrm>
                <a:off x="11151891" y="168985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70" name="组合 69"/>
              <p:cNvGrpSpPr/>
              <p:nvPr/>
            </p:nvGrpSpPr>
            <p:grpSpPr>
              <a:xfrm>
                <a:off x="11101827" y="1737984"/>
                <a:ext cx="423514" cy="248111"/>
                <a:chOff x="11101827" y="1729047"/>
                <a:chExt cx="423514" cy="248111"/>
              </a:xfrm>
            </p:grpSpPr>
            <p:sp>
              <p:nvSpPr>
                <p:cNvPr id="71" name="小红书平北职场PPT18-3"/>
                <p:cNvSpPr txBox="1"/>
                <p:nvPr/>
              </p:nvSpPr>
              <p:spPr>
                <a:xfrm>
                  <a:off x="11101827" y="1761714"/>
                  <a:ext cx="42351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96.2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2" name="小红书平北职场PPT18-4"/>
                <p:cNvSpPr/>
                <p:nvPr/>
              </p:nvSpPr>
              <p:spPr>
                <a:xfrm>
                  <a:off x="11280424" y="1729047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4" name="组合 43"/>
            <p:cNvGrpSpPr/>
            <p:nvPr/>
          </p:nvGrpSpPr>
          <p:grpSpPr>
            <a:xfrm>
              <a:off x="10381130" y="2121649"/>
              <a:ext cx="1131387" cy="310077"/>
              <a:chOff x="10381130" y="2095711"/>
              <a:chExt cx="1131387" cy="310077"/>
            </a:xfrm>
          </p:grpSpPr>
          <p:cxnSp>
            <p:nvCxnSpPr>
              <p:cNvPr id="63" name="小红书平北职场PPT18-5"/>
              <p:cNvCxnSpPr/>
              <p:nvPr/>
            </p:nvCxnSpPr>
            <p:spPr>
              <a:xfrm>
                <a:off x="10381130" y="2253538"/>
                <a:ext cx="946674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小红书平北职场PPT18-6"/>
              <p:cNvSpPr/>
              <p:nvPr/>
            </p:nvSpPr>
            <p:spPr>
              <a:xfrm>
                <a:off x="11151891" y="209571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11114651" y="2142987"/>
                <a:ext cx="397866" cy="248112"/>
                <a:chOff x="11114651" y="1729046"/>
                <a:chExt cx="397866" cy="248112"/>
              </a:xfrm>
            </p:grpSpPr>
            <p:sp>
              <p:nvSpPr>
                <p:cNvPr id="66" name="小红书平北职场PPT18-7"/>
                <p:cNvSpPr txBox="1"/>
                <p:nvPr/>
              </p:nvSpPr>
              <p:spPr>
                <a:xfrm>
                  <a:off x="11114651" y="1761714"/>
                  <a:ext cx="397866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91.6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7" name="小红书平北职场PPT18-8"/>
                <p:cNvSpPr/>
                <p:nvPr/>
              </p:nvSpPr>
              <p:spPr>
                <a:xfrm>
                  <a:off x="11280424" y="1729046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5" name="组合 44"/>
            <p:cNvGrpSpPr/>
            <p:nvPr/>
          </p:nvGrpSpPr>
          <p:grpSpPr>
            <a:xfrm>
              <a:off x="10800678" y="2553448"/>
              <a:ext cx="692603" cy="310077"/>
              <a:chOff x="10800678" y="2484394"/>
              <a:chExt cx="692603" cy="310077"/>
            </a:xfrm>
          </p:grpSpPr>
          <p:cxnSp>
            <p:nvCxnSpPr>
              <p:cNvPr id="58" name="小红书平北职场PPT18-9"/>
              <p:cNvCxnSpPr/>
              <p:nvPr/>
            </p:nvCxnSpPr>
            <p:spPr>
              <a:xfrm>
                <a:off x="10800678" y="2656760"/>
                <a:ext cx="52712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小红书平北职场PPT18-10"/>
              <p:cNvSpPr/>
              <p:nvPr/>
            </p:nvSpPr>
            <p:spPr>
              <a:xfrm>
                <a:off x="11151891" y="2484394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11133887" y="2538200"/>
                <a:ext cx="359394" cy="239972"/>
                <a:chOff x="11133887" y="1740598"/>
                <a:chExt cx="359394" cy="239972"/>
              </a:xfrm>
            </p:grpSpPr>
            <p:sp>
              <p:nvSpPr>
                <p:cNvPr id="61" name="小红书平北职场PPT18-11"/>
                <p:cNvSpPr txBox="1"/>
                <p:nvPr/>
              </p:nvSpPr>
              <p:spPr>
                <a:xfrm>
                  <a:off x="11133887" y="1765126"/>
                  <a:ext cx="35939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97.5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8-12"/>
                <p:cNvSpPr/>
                <p:nvPr/>
              </p:nvSpPr>
              <p:spPr>
                <a:xfrm flipV="1">
                  <a:off x="11280424" y="1740598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9628095" y="2985245"/>
              <a:ext cx="1884422" cy="310077"/>
              <a:chOff x="9628095" y="2899517"/>
              <a:chExt cx="1884422" cy="310077"/>
            </a:xfrm>
          </p:grpSpPr>
          <p:cxnSp>
            <p:nvCxnSpPr>
              <p:cNvPr id="53" name="小红书平北职场PPT18-13"/>
              <p:cNvCxnSpPr/>
              <p:nvPr/>
            </p:nvCxnSpPr>
            <p:spPr>
              <a:xfrm>
                <a:off x="9628095" y="3059982"/>
                <a:ext cx="169970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小红书平北职场PPT18-14"/>
              <p:cNvSpPr/>
              <p:nvPr/>
            </p:nvSpPr>
            <p:spPr>
              <a:xfrm>
                <a:off x="11151891" y="2899517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11114651" y="2944545"/>
                <a:ext cx="397866" cy="239973"/>
                <a:chOff x="11114651" y="1740597"/>
                <a:chExt cx="397866" cy="239973"/>
              </a:xfrm>
            </p:grpSpPr>
            <p:sp>
              <p:nvSpPr>
                <p:cNvPr id="56" name="小红书平北职场PPT18-15"/>
                <p:cNvSpPr txBox="1"/>
                <p:nvPr/>
              </p:nvSpPr>
              <p:spPr>
                <a:xfrm>
                  <a:off x="11114651" y="1765126"/>
                  <a:ext cx="397866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75.4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18-16"/>
                <p:cNvSpPr/>
                <p:nvPr/>
              </p:nvSpPr>
              <p:spPr>
                <a:xfrm flipV="1">
                  <a:off x="11280424" y="1740597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/>
          </p:nvGrpSpPr>
          <p:grpSpPr>
            <a:xfrm>
              <a:off x="9552791" y="3417044"/>
              <a:ext cx="1972550" cy="310077"/>
              <a:chOff x="9552791" y="3302741"/>
              <a:chExt cx="1972550" cy="310077"/>
            </a:xfrm>
          </p:grpSpPr>
          <p:cxnSp>
            <p:nvCxnSpPr>
              <p:cNvPr id="48" name="小红书平北职场PPT18-17"/>
              <p:cNvCxnSpPr/>
              <p:nvPr/>
            </p:nvCxnSpPr>
            <p:spPr>
              <a:xfrm>
                <a:off x="9552791" y="3463205"/>
                <a:ext cx="1775012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小红书平北职场PPT18-18"/>
              <p:cNvSpPr/>
              <p:nvPr/>
            </p:nvSpPr>
            <p:spPr>
              <a:xfrm>
                <a:off x="11151891" y="330274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11101827" y="3343651"/>
                <a:ext cx="423514" cy="239974"/>
                <a:chOff x="11101827" y="1740596"/>
                <a:chExt cx="423514" cy="239974"/>
              </a:xfrm>
            </p:grpSpPr>
            <p:sp>
              <p:nvSpPr>
                <p:cNvPr id="51" name="小红书平北职场PPT18-19"/>
                <p:cNvSpPr txBox="1"/>
                <p:nvPr/>
              </p:nvSpPr>
              <p:spPr>
                <a:xfrm>
                  <a:off x="11101827" y="1765126"/>
                  <a:ext cx="42351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2676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项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2" name="小红书平北职场PPT18-20"/>
                <p:cNvSpPr/>
                <p:nvPr/>
              </p:nvSpPr>
              <p:spPr>
                <a:xfrm flipV="1">
                  <a:off x="11280424" y="1740596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</p:grpSp>
      <p:sp>
        <p:nvSpPr>
          <p:cNvPr id="73" name="小红书平北职场PPT19"/>
          <p:cNvSpPr/>
          <p:nvPr/>
        </p:nvSpPr>
        <p:spPr>
          <a:xfrm>
            <a:off x="8533771" y="4222204"/>
            <a:ext cx="3293282" cy="233022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4" name="小红书平北职场PPT20"/>
          <p:cNvGrpSpPr/>
          <p:nvPr/>
        </p:nvGrpSpPr>
        <p:grpSpPr>
          <a:xfrm>
            <a:off x="8678350" y="4738553"/>
            <a:ext cx="2964344" cy="1673273"/>
            <a:chOff x="8704476" y="4829994"/>
            <a:chExt cx="2964344" cy="1673273"/>
          </a:xfrm>
        </p:grpSpPr>
        <p:sp>
          <p:nvSpPr>
            <p:cNvPr id="75" name="小红书平北职场PPT20-1"/>
            <p:cNvSpPr txBox="1"/>
            <p:nvPr/>
          </p:nvSpPr>
          <p:spPr>
            <a:xfrm>
              <a:off x="9098321" y="4829994"/>
              <a:ext cx="2570499" cy="16469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解析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：JD 解析 F1=96.22%，110 样本，真实 LLM qwen-plus</a:t>
              </a: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提取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：简历提取 F1=91.58%，50 样本，与线上生产同路径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匹配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：人岗匹配 97.45%，432 样本，区间 + 方向判定</a:t>
              </a: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8704477" y="5403754"/>
              <a:ext cx="2951280" cy="540027"/>
              <a:chOff x="8751194" y="5358565"/>
              <a:chExt cx="2859110" cy="490542"/>
            </a:xfrm>
          </p:grpSpPr>
          <p:cxnSp>
            <p:nvCxnSpPr>
              <p:cNvPr id="80" name="小红书平北职场PPT20-2"/>
              <p:cNvCxnSpPr/>
              <p:nvPr/>
            </p:nvCxnSpPr>
            <p:spPr>
              <a:xfrm>
                <a:off x="8751194" y="5358565"/>
                <a:ext cx="2859110" cy="0"/>
              </a:xfrm>
              <a:prstGeom prst="line">
                <a:avLst/>
              </a:prstGeom>
              <a:ln w="8639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小红书平北职场PPT20-3"/>
              <p:cNvCxnSpPr/>
              <p:nvPr/>
            </p:nvCxnSpPr>
            <p:spPr>
              <a:xfrm>
                <a:off x="8751194" y="5849107"/>
                <a:ext cx="2859110" cy="0"/>
              </a:xfrm>
              <a:prstGeom prst="line">
                <a:avLst/>
              </a:prstGeom>
              <a:ln w="8639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小红书平北职场PPT20-4"/>
            <p:cNvSpPr/>
            <p:nvPr/>
          </p:nvSpPr>
          <p:spPr>
            <a:xfrm>
              <a:off x="8749112" y="4938342"/>
              <a:ext cx="273669" cy="273669"/>
            </a:xfrm>
            <a:custGeom>
              <a:avLst/>
              <a:gdLst>
                <a:gd name="connsiteX0" fmla="*/ 1027416 w 1668178"/>
                <a:gd name="connsiteY0" fmla="*/ 455358 h 1668177"/>
                <a:gd name="connsiteX1" fmla="*/ 944463 w 1668178"/>
                <a:gd name="connsiteY1" fmla="*/ 538311 h 1668177"/>
                <a:gd name="connsiteX2" fmla="*/ 944463 w 1668178"/>
                <a:gd name="connsiteY2" fmla="*/ 1129866 h 1668177"/>
                <a:gd name="connsiteX3" fmla="*/ 1027416 w 1668178"/>
                <a:gd name="connsiteY3" fmla="*/ 1212819 h 1668177"/>
                <a:gd name="connsiteX4" fmla="*/ 1110369 w 1668178"/>
                <a:gd name="connsiteY4" fmla="*/ 1129866 h 1668177"/>
                <a:gd name="connsiteX5" fmla="*/ 1110369 w 1668178"/>
                <a:gd name="connsiteY5" fmla="*/ 538311 h 1668177"/>
                <a:gd name="connsiteX6" fmla="*/ 1027416 w 1668178"/>
                <a:gd name="connsiteY6" fmla="*/ 455358 h 1668177"/>
                <a:gd name="connsiteX7" fmla="*/ 640742 w 1668178"/>
                <a:gd name="connsiteY7" fmla="*/ 455358 h 1668177"/>
                <a:gd name="connsiteX8" fmla="*/ 557789 w 1668178"/>
                <a:gd name="connsiteY8" fmla="*/ 538311 h 1668177"/>
                <a:gd name="connsiteX9" fmla="*/ 557789 w 1668178"/>
                <a:gd name="connsiteY9" fmla="*/ 1129866 h 1668177"/>
                <a:gd name="connsiteX10" fmla="*/ 640742 w 1668178"/>
                <a:gd name="connsiteY10" fmla="*/ 1212819 h 1668177"/>
                <a:gd name="connsiteX11" fmla="*/ 723695 w 1668178"/>
                <a:gd name="connsiteY11" fmla="*/ 1129866 h 1668177"/>
                <a:gd name="connsiteX12" fmla="*/ 723695 w 1668178"/>
                <a:gd name="connsiteY12" fmla="*/ 538311 h 1668177"/>
                <a:gd name="connsiteX13" fmla="*/ 640742 w 1668178"/>
                <a:gd name="connsiteY13" fmla="*/ 455358 h 1668177"/>
                <a:gd name="connsiteX14" fmla="*/ 834089 w 1668178"/>
                <a:gd name="connsiteY14" fmla="*/ 0 h 1668177"/>
                <a:gd name="connsiteX15" fmla="*/ 1476003 w 1668178"/>
                <a:gd name="connsiteY15" fmla="*/ 192193 h 1668177"/>
                <a:gd name="connsiteX16" fmla="*/ 1668178 w 1668178"/>
                <a:gd name="connsiteY16" fmla="*/ 834089 h 1668177"/>
                <a:gd name="connsiteX17" fmla="*/ 1475985 w 1668178"/>
                <a:gd name="connsiteY17" fmla="*/ 1476003 h 1668177"/>
                <a:gd name="connsiteX18" fmla="*/ 834089 w 1668178"/>
                <a:gd name="connsiteY18" fmla="*/ 1668177 h 1668177"/>
                <a:gd name="connsiteX19" fmla="*/ 192175 w 1668178"/>
                <a:gd name="connsiteY19" fmla="*/ 1475984 h 1668177"/>
                <a:gd name="connsiteX20" fmla="*/ 0 w 1668178"/>
                <a:gd name="connsiteY20" fmla="*/ 834089 h 1668177"/>
                <a:gd name="connsiteX21" fmla="*/ 192193 w 1668178"/>
                <a:gd name="connsiteY21" fmla="*/ 192174 h 1668177"/>
                <a:gd name="connsiteX22" fmla="*/ 834089 w 1668178"/>
                <a:gd name="connsiteY22" fmla="*/ 0 h 16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68178" h="1668177">
                  <a:moveTo>
                    <a:pt x="1027416" y="455358"/>
                  </a:moveTo>
                  <a:cubicBezTo>
                    <a:pt x="981782" y="455358"/>
                    <a:pt x="944463" y="492695"/>
                    <a:pt x="944463" y="538311"/>
                  </a:cubicBezTo>
                  <a:lnTo>
                    <a:pt x="944463" y="1129866"/>
                  </a:lnTo>
                  <a:cubicBezTo>
                    <a:pt x="944463" y="1175500"/>
                    <a:pt x="981800" y="1212819"/>
                    <a:pt x="1027416" y="1212819"/>
                  </a:cubicBezTo>
                  <a:cubicBezTo>
                    <a:pt x="1073051" y="1212819"/>
                    <a:pt x="1110369" y="1175482"/>
                    <a:pt x="1110369" y="1129866"/>
                  </a:cubicBezTo>
                  <a:lnTo>
                    <a:pt x="1110369" y="538311"/>
                  </a:lnTo>
                  <a:cubicBezTo>
                    <a:pt x="1110369" y="492695"/>
                    <a:pt x="1073032" y="455358"/>
                    <a:pt x="1027416" y="455358"/>
                  </a:cubicBezTo>
                  <a:close/>
                  <a:moveTo>
                    <a:pt x="640742" y="455358"/>
                  </a:moveTo>
                  <a:cubicBezTo>
                    <a:pt x="595108" y="455358"/>
                    <a:pt x="557789" y="492695"/>
                    <a:pt x="557789" y="538311"/>
                  </a:cubicBezTo>
                  <a:lnTo>
                    <a:pt x="557789" y="1129866"/>
                  </a:lnTo>
                  <a:cubicBezTo>
                    <a:pt x="557789" y="1175500"/>
                    <a:pt x="595126" y="1212819"/>
                    <a:pt x="640742" y="1212819"/>
                  </a:cubicBezTo>
                  <a:cubicBezTo>
                    <a:pt x="686376" y="1212819"/>
                    <a:pt x="723695" y="1175482"/>
                    <a:pt x="723695" y="1129866"/>
                  </a:cubicBezTo>
                  <a:lnTo>
                    <a:pt x="723695" y="538311"/>
                  </a:lnTo>
                  <a:cubicBezTo>
                    <a:pt x="723695" y="492695"/>
                    <a:pt x="686376" y="455358"/>
                    <a:pt x="640742" y="455358"/>
                  </a:cubicBezTo>
                  <a:close/>
                  <a:moveTo>
                    <a:pt x="834089" y="0"/>
                  </a:moveTo>
                  <a:cubicBezTo>
                    <a:pt x="1110556" y="3795"/>
                    <a:pt x="1339472" y="51792"/>
                    <a:pt x="1476003" y="192193"/>
                  </a:cubicBezTo>
                  <a:cubicBezTo>
                    <a:pt x="1616385" y="328706"/>
                    <a:pt x="1664401" y="557622"/>
                    <a:pt x="1668178" y="834089"/>
                  </a:cubicBezTo>
                  <a:cubicBezTo>
                    <a:pt x="1664382" y="1110556"/>
                    <a:pt x="1616367" y="1339472"/>
                    <a:pt x="1475985" y="1476003"/>
                  </a:cubicBezTo>
                  <a:cubicBezTo>
                    <a:pt x="1339472" y="1616385"/>
                    <a:pt x="1110556" y="1664401"/>
                    <a:pt x="834089" y="1668177"/>
                  </a:cubicBezTo>
                  <a:cubicBezTo>
                    <a:pt x="557622" y="1664382"/>
                    <a:pt x="328706" y="1616385"/>
                    <a:pt x="192175" y="1475984"/>
                  </a:cubicBezTo>
                  <a:cubicBezTo>
                    <a:pt x="51792" y="1339472"/>
                    <a:pt x="3777" y="1110556"/>
                    <a:pt x="0" y="834089"/>
                  </a:cubicBezTo>
                  <a:cubicBezTo>
                    <a:pt x="3795" y="557622"/>
                    <a:pt x="51792" y="328706"/>
                    <a:pt x="192193" y="192174"/>
                  </a:cubicBezTo>
                  <a:cubicBezTo>
                    <a:pt x="328706" y="51792"/>
                    <a:pt x="557622" y="3777"/>
                    <a:pt x="83408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902" cap="flat">
              <a:noFill/>
              <a:prstDash val="solid"/>
              <a:miter/>
            </a:ln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pic>
          <p:nvPicPr>
            <p:cNvPr id="78" name="小红书平北职场PPT20-5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41973" y="5528598"/>
              <a:ext cx="287946" cy="287946"/>
            </a:xfrm>
            <a:prstGeom prst="rect">
              <a:avLst/>
            </a:prstGeom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</p:pic>
        <p:pic>
          <p:nvPicPr>
            <p:cNvPr id="79" name="小红书平北职场PPT20-6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04476" y="6093063"/>
              <a:ext cx="410204" cy="410204"/>
            </a:xfrm>
            <a:prstGeom prst="rect">
              <a:avLst/>
            </a:prstGeom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</p:pic>
      </p:grpSp>
      <p:grpSp>
        <p:nvGrpSpPr>
          <p:cNvPr id="82" name="小红书平北职场PPT21"/>
          <p:cNvGrpSpPr/>
          <p:nvPr/>
        </p:nvGrpSpPr>
        <p:grpSpPr>
          <a:xfrm>
            <a:off x="8533771" y="4332465"/>
            <a:ext cx="3232659" cy="333006"/>
            <a:chOff x="8247669" y="1104057"/>
            <a:chExt cx="3232659" cy="265153"/>
          </a:xfrm>
        </p:grpSpPr>
        <p:sp>
          <p:nvSpPr>
            <p:cNvPr id="83" name="小红书平北职场PPT21-1"/>
            <p:cNvSpPr/>
            <p:nvPr/>
          </p:nvSpPr>
          <p:spPr>
            <a:xfrm>
              <a:off x="8985737" y="1104057"/>
              <a:ext cx="2494591" cy="2651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工程保障：2676 单测 / 覆盖率 75.36% / 602 条测试数据</a:t>
              </a:r>
            </a:p>
          </p:txBody>
        </p:sp>
        <p:sp>
          <p:nvSpPr>
            <p:cNvPr id="84" name="小红书平北职场PPT21-2"/>
            <p:cNvSpPr/>
            <p:nvPr/>
          </p:nvSpPr>
          <p:spPr>
            <a:xfrm>
              <a:off x="8247669" y="1104057"/>
              <a:ext cx="738068" cy="26515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⭐</a:t>
              </a:r>
            </a:p>
          </p:txBody>
        </p:sp>
      </p:grpSp>
      <p:sp>
        <p:nvSpPr>
          <p:cNvPr id="85" name="小红书平北职场PPT22"/>
          <p:cNvSpPr/>
          <p:nvPr/>
        </p:nvSpPr>
        <p:spPr>
          <a:xfrm>
            <a:off x="5090576" y="551058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6" name="小红书平北职场PPT23"/>
          <p:cNvSpPr/>
          <p:nvPr/>
        </p:nvSpPr>
        <p:spPr>
          <a:xfrm>
            <a:off x="5090576" y="616135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87" name="小红书平北职场PPT24"/>
          <p:cNvGraphicFramePr>
            <a:graphicFrameLocks noGrp="1"/>
          </p:cNvGraphicFramePr>
          <p:nvPr/>
        </p:nvGraphicFramePr>
        <p:xfrm>
          <a:off x="5136246" y="4813088"/>
          <a:ext cx="2951211" cy="1667135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预算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支出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超支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执行率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4,700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-700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117.5%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市场部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2,200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-200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2,350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+150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94.0%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行政部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1,250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+250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83.3%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8" name="小红书平北职场PPT25"/>
          <p:cNvCxnSpPr/>
          <p:nvPr/>
        </p:nvCxnSpPr>
        <p:spPr>
          <a:xfrm>
            <a:off x="5136246" y="5120570"/>
            <a:ext cx="292248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47+"/>
          <p:cNvSpPr/>
          <p:nvPr/>
        </p:nvSpPr>
        <p:spPr>
          <a:xfrm>
            <a:off x="725714" y="3466766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Rectangle 147++"/>
          <p:cNvSpPr/>
          <p:nvPr/>
        </p:nvSpPr>
        <p:spPr>
          <a:xfrm>
            <a:off x="725714" y="4608349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4" name="Rectangle 147+++"/>
          <p:cNvSpPr/>
          <p:nvPr/>
        </p:nvSpPr>
        <p:spPr>
          <a:xfrm>
            <a:off x="725714" y="5749933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403207" y="5507216"/>
            <a:ext cx="1872343" cy="3788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236293" y="4333664"/>
            <a:ext cx="2206171" cy="429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25714" y="2204880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725714" y="1102889"/>
            <a:ext cx="1959430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468770" y="873125"/>
            <a:ext cx="3741216" cy="4656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96273" y="2074164"/>
            <a:ext cx="3086211" cy="4061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069378" y="3214070"/>
            <a:ext cx="2540000" cy="414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45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新岗位发现与定义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核心功能一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346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梯形 10"/>
          <p:cNvSpPr/>
          <p:nvPr/>
        </p:nvSpPr>
        <p:spPr>
          <a:xfrm flipV="1">
            <a:off x="2839135" y="843189"/>
            <a:ext cx="3000486" cy="5485040"/>
          </a:xfrm>
          <a:prstGeom prst="trapezoid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  <a:gs pos="17000">
                <a:srgbClr val="D7D7D7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2468770" y="1120011"/>
            <a:ext cx="3741216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2796273" y="2261594"/>
            <a:ext cx="308621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3069378" y="3403177"/>
            <a:ext cx="2540000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3236293" y="4544760"/>
            <a:ext cx="220617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3403207" y="5686344"/>
            <a:ext cx="1872343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783519" y="1473786"/>
            <a:ext cx="1111718" cy="369332"/>
            <a:chOff x="3927406" y="1473786"/>
            <a:chExt cx="1111718" cy="369332"/>
          </a:xfrm>
        </p:grpSpPr>
        <p:sp>
          <p:nvSpPr>
            <p:cNvPr id="73" name="文本框 72"/>
            <p:cNvSpPr txBox="1"/>
            <p:nvPr/>
          </p:nvSpPr>
          <p:spPr>
            <a:xfrm>
              <a:off x="3927406" y="1473786"/>
              <a:ext cx="82394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206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个</a:t>
              </a:r>
            </a:p>
          </p:txBody>
        </p:sp>
      </p:grpSp>
      <p:grpSp>
        <p:nvGrpSpPr>
          <p:cNvPr id="78" name="Group 75+"/>
          <p:cNvGrpSpPr/>
          <p:nvPr/>
        </p:nvGrpSpPr>
        <p:grpSpPr>
          <a:xfrm>
            <a:off x="3783519" y="2584297"/>
            <a:ext cx="1111718" cy="369332"/>
            <a:chOff x="3927406" y="1473786"/>
            <a:chExt cx="1111718" cy="369332"/>
          </a:xfrm>
        </p:grpSpPr>
        <p:sp>
          <p:nvSpPr>
            <p:cNvPr id="79" name="文本框 78"/>
            <p:cNvSpPr txBox="1"/>
            <p:nvPr/>
          </p:nvSpPr>
          <p:spPr>
            <a:xfrm>
              <a:off x="3927406" y="1473786"/>
              <a:ext cx="82394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个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936183" y="3778368"/>
            <a:ext cx="806390" cy="369332"/>
            <a:chOff x="3923783" y="3778368"/>
            <a:chExt cx="806390" cy="369332"/>
          </a:xfrm>
        </p:grpSpPr>
        <p:sp>
          <p:nvSpPr>
            <p:cNvPr id="86" name="文本框 85"/>
            <p:cNvSpPr txBox="1"/>
            <p:nvPr/>
          </p:nvSpPr>
          <p:spPr>
            <a:xfrm>
              <a:off x="3923783" y="3778368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31.25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TextBox 72+"/>
            <p:cNvSpPr txBox="1"/>
            <p:nvPr/>
          </p:nvSpPr>
          <p:spPr>
            <a:xfrm>
              <a:off x="4524989" y="3865780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z</a:t>
              </a: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018392" y="4870036"/>
            <a:ext cx="641973" cy="369332"/>
            <a:chOff x="4026753" y="4870036"/>
            <a:chExt cx="641973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5.0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z</a:t>
              </a:r>
            </a:p>
          </p:txBody>
        </p:sp>
      </p:grpSp>
      <p:grpSp>
        <p:nvGrpSpPr>
          <p:cNvPr id="113" name="Group 111+"/>
          <p:cNvGrpSpPr/>
          <p:nvPr/>
        </p:nvGrpSpPr>
        <p:grpSpPr>
          <a:xfrm>
            <a:off x="4018392" y="6045945"/>
            <a:ext cx="641973" cy="369332"/>
            <a:chOff x="4026753" y="4870036"/>
            <a:chExt cx="641973" cy="369332"/>
          </a:xfrm>
        </p:grpSpPr>
        <p:sp>
          <p:nvSpPr>
            <p:cNvPr id="116" name="文本框 115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1.0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比</a:t>
              </a: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310399" y="1316654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候选岗位</a:t>
            </a:r>
          </a:p>
        </p:txBody>
      </p:sp>
      <p:sp>
        <p:nvSpPr>
          <p:cNvPr id="135" name="TextBox 124+"/>
          <p:cNvSpPr txBox="1"/>
          <p:nvPr/>
        </p:nvSpPr>
        <p:spPr>
          <a:xfrm>
            <a:off x="1310399" y="241864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涌现技能</a:t>
            </a:r>
          </a:p>
        </p:txBody>
      </p:sp>
      <p:sp>
        <p:nvSpPr>
          <p:cNvPr id="151" name="矩形 150"/>
          <p:cNvSpPr/>
          <p:nvPr/>
        </p:nvSpPr>
        <p:spPr>
          <a:xfrm>
            <a:off x="442912" y="1102889"/>
            <a:ext cx="282606" cy="541516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2" name="图形 2169"/>
          <p:cNvGrpSpPr/>
          <p:nvPr/>
        </p:nvGrpSpPr>
        <p:grpSpPr>
          <a:xfrm rot="5400000">
            <a:off x="345015" y="1351311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55" name="任意多边形: 形状 15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8" name="TextBox 124++"/>
          <p:cNvSpPr txBox="1"/>
          <p:nvPr/>
        </p:nvSpPr>
        <p:spPr>
          <a:xfrm>
            <a:off x="1310399" y="368053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Python</a:t>
            </a:r>
          </a:p>
        </p:txBody>
      </p:sp>
      <p:sp>
        <p:nvSpPr>
          <p:cNvPr id="170" name="TextBox 124+++"/>
          <p:cNvSpPr txBox="1"/>
          <p:nvPr/>
        </p:nvSpPr>
        <p:spPr>
          <a:xfrm>
            <a:off x="1310399" y="482211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K8s</a:t>
            </a:r>
          </a:p>
        </p:txBody>
      </p:sp>
      <p:sp>
        <p:nvSpPr>
          <p:cNvPr id="172" name="TextBox 124++++"/>
          <p:cNvSpPr txBox="1"/>
          <p:nvPr/>
        </p:nvSpPr>
        <p:spPr>
          <a:xfrm>
            <a:off x="1310399" y="5963698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ratio</a:t>
            </a:r>
          </a:p>
        </p:txBody>
      </p:sp>
      <p:grpSp>
        <p:nvGrpSpPr>
          <p:cNvPr id="173" name="图形 2169+"/>
          <p:cNvGrpSpPr/>
          <p:nvPr/>
        </p:nvGrpSpPr>
        <p:grpSpPr>
          <a:xfrm rot="5400000">
            <a:off x="345015" y="243467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74" name="任意多边形: 形状 173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6" name="图形 2169++"/>
          <p:cNvGrpSpPr/>
          <p:nvPr/>
        </p:nvGrpSpPr>
        <p:grpSpPr>
          <a:xfrm rot="5400000">
            <a:off x="345015" y="3696557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0" name="任意多边形: 形状 189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4" name="图形 2169+++"/>
          <p:cNvGrpSpPr/>
          <p:nvPr/>
        </p:nvGrpSpPr>
        <p:grpSpPr>
          <a:xfrm rot="5400000">
            <a:off x="345015" y="483814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5" name="任意多边形: 形状 19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9" name="图形 2169++++"/>
          <p:cNvGrpSpPr/>
          <p:nvPr/>
        </p:nvGrpSpPr>
        <p:grpSpPr>
          <a:xfrm rot="5400000">
            <a:off x="345015" y="5979724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201" name="任意多边形: 形状 200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2" name="图形 210"/>
          <p:cNvSpPr/>
          <p:nvPr/>
        </p:nvSpPr>
        <p:spPr>
          <a:xfrm>
            <a:off x="845375" y="1281494"/>
            <a:ext cx="335699" cy="384582"/>
          </a:xfrm>
          <a:custGeom>
            <a:avLst/>
            <a:gdLst>
              <a:gd name="connsiteX0" fmla="*/ 1234925 w 1662859"/>
              <a:gd name="connsiteY0" fmla="*/ 1230313 h 1904997"/>
              <a:gd name="connsiteX1" fmla="*/ 1280427 w 1662859"/>
              <a:gd name="connsiteY1" fmla="*/ 1248559 h 1904997"/>
              <a:gd name="connsiteX2" fmla="*/ 1451758 w 1662859"/>
              <a:gd name="connsiteY2" fmla="*/ 1397308 h 1904997"/>
              <a:gd name="connsiteX3" fmla="*/ 1462176 w 1662859"/>
              <a:gd name="connsiteY3" fmla="*/ 1406039 h 1904997"/>
              <a:gd name="connsiteX4" fmla="*/ 1650721 w 1662859"/>
              <a:gd name="connsiteY4" fmla="*/ 1560106 h 1904997"/>
              <a:gd name="connsiteX5" fmla="*/ 1651545 w 1662859"/>
              <a:gd name="connsiteY5" fmla="*/ 1602105 h 1904997"/>
              <a:gd name="connsiteX6" fmla="*/ 1650860 w 1662859"/>
              <a:gd name="connsiteY6" fmla="*/ 1602780 h 1904997"/>
              <a:gd name="connsiteX7" fmla="*/ 1650721 w 1662859"/>
              <a:gd name="connsiteY7" fmla="*/ 1602919 h 1904997"/>
              <a:gd name="connsiteX8" fmla="*/ 1371916 w 1662859"/>
              <a:gd name="connsiteY8" fmla="*/ 1889026 h 1904997"/>
              <a:gd name="connsiteX9" fmla="*/ 1294992 w 1662859"/>
              <a:gd name="connsiteY9" fmla="*/ 1889026 h 1904997"/>
              <a:gd name="connsiteX10" fmla="*/ 1173112 w 1662859"/>
              <a:gd name="connsiteY10" fmla="*/ 1789847 h 1904997"/>
              <a:gd name="connsiteX11" fmla="*/ 1091683 w 1662859"/>
              <a:gd name="connsiteY11" fmla="*/ 1758474 h 1904997"/>
              <a:gd name="connsiteX12" fmla="*/ 467091 w 1662859"/>
              <a:gd name="connsiteY12" fmla="*/ 1758474 h 1904997"/>
              <a:gd name="connsiteX13" fmla="*/ 417472 w 1662859"/>
              <a:gd name="connsiteY13" fmla="*/ 1749346 h 1904997"/>
              <a:gd name="connsiteX14" fmla="*/ 8105 w 1662859"/>
              <a:gd name="connsiteY14" fmla="*/ 1406376 h 1904997"/>
              <a:gd name="connsiteX15" fmla="*/ 8105 w 1662859"/>
              <a:gd name="connsiteY15" fmla="*/ 1347688 h 1904997"/>
              <a:gd name="connsiteX16" fmla="*/ 224600 w 1662859"/>
              <a:gd name="connsiteY16" fmla="*/ 1347688 h 1904997"/>
              <a:gd name="connsiteX17" fmla="*/ 289182 w 1662859"/>
              <a:gd name="connsiteY17" fmla="*/ 1393914 h 1904997"/>
              <a:gd name="connsiteX18" fmla="*/ 295691 w 1662859"/>
              <a:gd name="connsiteY18" fmla="*/ 1398528 h 1904997"/>
              <a:gd name="connsiteX19" fmla="*/ 334852 w 1662859"/>
              <a:gd name="connsiteY19" fmla="*/ 1426210 h 1904997"/>
              <a:gd name="connsiteX20" fmla="*/ 341301 w 1662859"/>
              <a:gd name="connsiteY20" fmla="*/ 1430754 h 1904997"/>
              <a:gd name="connsiteX21" fmla="*/ 468401 w 1662859"/>
              <a:gd name="connsiteY21" fmla="*/ 1519625 h 1904997"/>
              <a:gd name="connsiteX22" fmla="*/ 829636 w 1662859"/>
              <a:gd name="connsiteY22" fmla="*/ 1519625 h 1904997"/>
              <a:gd name="connsiteX23" fmla="*/ 933379 w 1662859"/>
              <a:gd name="connsiteY23" fmla="*/ 1451818 h 1904997"/>
              <a:gd name="connsiteX24" fmla="*/ 933379 w 1662859"/>
              <a:gd name="connsiteY24" fmla="*/ 1433681 h 1904997"/>
              <a:gd name="connsiteX25" fmla="*/ 694074 w 1662859"/>
              <a:gd name="connsiteY25" fmla="*/ 1410940 h 1904997"/>
              <a:gd name="connsiteX26" fmla="*/ 608081 w 1662859"/>
              <a:gd name="connsiteY26" fmla="*/ 1311751 h 1904997"/>
              <a:gd name="connsiteX27" fmla="*/ 694074 w 1662859"/>
              <a:gd name="connsiteY27" fmla="*/ 1230323 h 1904997"/>
              <a:gd name="connsiteX28" fmla="*/ 1428749 w 1662859"/>
              <a:gd name="connsiteY28" fmla="*/ 0 h 1904997"/>
              <a:gd name="connsiteX29" fmla="*/ 1597421 w 1662859"/>
              <a:gd name="connsiteY29" fmla="*/ 168672 h 1904997"/>
              <a:gd name="connsiteX30" fmla="*/ 1597421 w 1662859"/>
              <a:gd name="connsiteY30" fmla="*/ 1398984 h 1904997"/>
              <a:gd name="connsiteX31" fmla="*/ 1594345 w 1662859"/>
              <a:gd name="connsiteY31" fmla="*/ 1431211 h 1904997"/>
              <a:gd name="connsiteX32" fmla="*/ 1486504 w 1662859"/>
              <a:gd name="connsiteY32" fmla="*/ 1339731 h 1904997"/>
              <a:gd name="connsiteX33" fmla="*/ 1476920 w 1662859"/>
              <a:gd name="connsiteY33" fmla="*/ 1331496 h 1904997"/>
              <a:gd name="connsiteX34" fmla="*/ 1349176 w 1662859"/>
              <a:gd name="connsiteY34" fmla="*/ 1219924 h 1904997"/>
              <a:gd name="connsiteX35" fmla="*/ 1342925 w 1662859"/>
              <a:gd name="connsiteY35" fmla="*/ 1214299 h 1904997"/>
              <a:gd name="connsiteX36" fmla="*/ 1309210 w 1662859"/>
              <a:gd name="connsiteY36" fmla="*/ 1182261 h 1904997"/>
              <a:gd name="connsiteX37" fmla="*/ 1229905 w 1662859"/>
              <a:gd name="connsiteY37" fmla="*/ 1170851 h 1904997"/>
              <a:gd name="connsiteX38" fmla="*/ 675361 w 1662859"/>
              <a:gd name="connsiteY38" fmla="*/ 1170851 h 1904997"/>
              <a:gd name="connsiteX39" fmla="*/ 552776 w 1662859"/>
              <a:gd name="connsiteY39" fmla="*/ 1296422 h 1904997"/>
              <a:gd name="connsiteX40" fmla="*/ 627240 w 1662859"/>
              <a:gd name="connsiteY40" fmla="*/ 1429613 h 1904997"/>
              <a:gd name="connsiteX41" fmla="*/ 707111 w 1662859"/>
              <a:gd name="connsiteY41" fmla="*/ 1455609 h 1904997"/>
              <a:gd name="connsiteX42" fmla="*/ 490874 w 1662859"/>
              <a:gd name="connsiteY42" fmla="*/ 1455609 h 1904997"/>
              <a:gd name="connsiteX43" fmla="*/ 451037 w 1662859"/>
              <a:gd name="connsiteY43" fmla="*/ 1429187 h 1904997"/>
              <a:gd name="connsiteX44" fmla="*/ 446384 w 1662859"/>
              <a:gd name="connsiteY44" fmla="*/ 1426091 h 1904997"/>
              <a:gd name="connsiteX45" fmla="*/ 329574 w 1662859"/>
              <a:gd name="connsiteY45" fmla="*/ 1347063 h 1904997"/>
              <a:gd name="connsiteX46" fmla="*/ 319692 w 1662859"/>
              <a:gd name="connsiteY46" fmla="*/ 1340257 h 1904997"/>
              <a:gd name="connsiteX47" fmla="*/ 245049 w 1662859"/>
              <a:gd name="connsiteY47" fmla="*/ 1287681 h 1904997"/>
              <a:gd name="connsiteX48" fmla="*/ 109140 w 1662859"/>
              <a:gd name="connsiteY48" fmla="*/ 1241752 h 1904997"/>
              <a:gd name="connsiteX49" fmla="*/ 109140 w 1662859"/>
              <a:gd name="connsiteY49" fmla="*/ 168672 h 1904997"/>
              <a:gd name="connsiteX50" fmla="*/ 277811 w 1662859"/>
              <a:gd name="connsiteY50" fmla="*/ 0 h 1904997"/>
              <a:gd name="connsiteX51" fmla="*/ 1428749 w 1662859"/>
              <a:gd name="connsiteY51" fmla="*/ 0 h 1904997"/>
              <a:gd name="connsiteX52" fmla="*/ 1374179 w 1662859"/>
              <a:gd name="connsiteY52" fmla="*/ 922734 h 1904997"/>
              <a:gd name="connsiteX53" fmla="*/ 332382 w 1662859"/>
              <a:gd name="connsiteY53" fmla="*/ 922734 h 1904997"/>
              <a:gd name="connsiteX54" fmla="*/ 277811 w 1662859"/>
              <a:gd name="connsiteY54" fmla="*/ 977305 h 1904997"/>
              <a:gd name="connsiteX55" fmla="*/ 332382 w 1662859"/>
              <a:gd name="connsiteY55" fmla="*/ 1031875 h 1904997"/>
              <a:gd name="connsiteX56" fmla="*/ 1374179 w 1662859"/>
              <a:gd name="connsiteY56" fmla="*/ 1031875 h 1904997"/>
              <a:gd name="connsiteX57" fmla="*/ 1428749 w 1662859"/>
              <a:gd name="connsiteY57" fmla="*/ 977305 h 1904997"/>
              <a:gd name="connsiteX58" fmla="*/ 1374179 w 1662859"/>
              <a:gd name="connsiteY58" fmla="*/ 922734 h 1904997"/>
              <a:gd name="connsiteX59" fmla="*/ 524013 w 1662859"/>
              <a:gd name="connsiteY59" fmla="*/ 168672 h 1904997"/>
              <a:gd name="connsiteX60" fmla="*/ 520292 w 1662859"/>
              <a:gd name="connsiteY60" fmla="*/ 168731 h 1904997"/>
              <a:gd name="connsiteX61" fmla="*/ 347265 w 1662859"/>
              <a:gd name="connsiteY61" fmla="*/ 346402 h 1904997"/>
              <a:gd name="connsiteX62" fmla="*/ 483889 w 1662859"/>
              <a:gd name="connsiteY62" fmla="*/ 519341 h 1904997"/>
              <a:gd name="connsiteX63" fmla="*/ 277811 w 1662859"/>
              <a:gd name="connsiteY63" fmla="*/ 738803 h 1904997"/>
              <a:gd name="connsiteX64" fmla="*/ 337217 w 1662859"/>
              <a:gd name="connsiteY64" fmla="*/ 790771 h 1904997"/>
              <a:gd name="connsiteX65" fmla="*/ 389184 w 1662859"/>
              <a:gd name="connsiteY65" fmla="*/ 738803 h 1904997"/>
              <a:gd name="connsiteX66" fmla="*/ 527476 w 1662859"/>
              <a:gd name="connsiteY66" fmla="*/ 627301 h 1904997"/>
              <a:gd name="connsiteX67" fmla="*/ 665638 w 1662859"/>
              <a:gd name="connsiteY67" fmla="*/ 738803 h 1904997"/>
              <a:gd name="connsiteX68" fmla="*/ 724066 w 1662859"/>
              <a:gd name="connsiteY68" fmla="*/ 791866 h 1904997"/>
              <a:gd name="connsiteX69" fmla="*/ 777130 w 1662859"/>
              <a:gd name="connsiteY69" fmla="*/ 738803 h 1904997"/>
              <a:gd name="connsiteX70" fmla="*/ 567927 w 1662859"/>
              <a:gd name="connsiteY70" fmla="*/ 518855 h 1904997"/>
              <a:gd name="connsiteX71" fmla="*/ 697443 w 1662859"/>
              <a:gd name="connsiteY71" fmla="*/ 303444 h 1904997"/>
              <a:gd name="connsiteX72" fmla="*/ 527734 w 1662859"/>
              <a:gd name="connsiteY72" fmla="*/ 168682 h 1904997"/>
              <a:gd name="connsiteX73" fmla="*/ 524013 w 1662859"/>
              <a:gd name="connsiteY73" fmla="*/ 168672 h 1904997"/>
              <a:gd name="connsiteX74" fmla="*/ 1374179 w 1662859"/>
              <a:gd name="connsiteY74" fmla="*/ 635000 h 1904997"/>
              <a:gd name="connsiteX75" fmla="*/ 977304 w 1662859"/>
              <a:gd name="connsiteY75" fmla="*/ 635000 h 1904997"/>
              <a:gd name="connsiteX76" fmla="*/ 922733 w 1662859"/>
              <a:gd name="connsiteY76" fmla="*/ 689570 h 1904997"/>
              <a:gd name="connsiteX77" fmla="*/ 977304 w 1662859"/>
              <a:gd name="connsiteY77" fmla="*/ 744141 h 1904997"/>
              <a:gd name="connsiteX78" fmla="*/ 1374179 w 1662859"/>
              <a:gd name="connsiteY78" fmla="*/ 744141 h 1904997"/>
              <a:gd name="connsiteX79" fmla="*/ 1428749 w 1662859"/>
              <a:gd name="connsiteY79" fmla="*/ 689570 h 1904997"/>
              <a:gd name="connsiteX80" fmla="*/ 1374179 w 1662859"/>
              <a:gd name="connsiteY80" fmla="*/ 635000 h 1904997"/>
              <a:gd name="connsiteX81" fmla="*/ 1374179 w 1662859"/>
              <a:gd name="connsiteY81" fmla="*/ 396875 h 1904997"/>
              <a:gd name="connsiteX82" fmla="*/ 977304 w 1662859"/>
              <a:gd name="connsiteY82" fmla="*/ 396875 h 1904997"/>
              <a:gd name="connsiteX83" fmla="*/ 922733 w 1662859"/>
              <a:gd name="connsiteY83" fmla="*/ 451445 h 1904997"/>
              <a:gd name="connsiteX84" fmla="*/ 977304 w 1662859"/>
              <a:gd name="connsiteY84" fmla="*/ 506016 h 1904997"/>
              <a:gd name="connsiteX85" fmla="*/ 1374179 w 1662859"/>
              <a:gd name="connsiteY85" fmla="*/ 506016 h 1904997"/>
              <a:gd name="connsiteX86" fmla="*/ 1428749 w 1662859"/>
              <a:gd name="connsiteY86" fmla="*/ 451445 h 1904997"/>
              <a:gd name="connsiteX87" fmla="*/ 1374179 w 1662859"/>
              <a:gd name="connsiteY87" fmla="*/ 396875 h 1904997"/>
              <a:gd name="connsiteX88" fmla="*/ 526851 w 1662859"/>
              <a:gd name="connsiteY88" fmla="*/ 267891 h 1904997"/>
              <a:gd name="connsiteX89" fmla="*/ 607218 w 1662859"/>
              <a:gd name="connsiteY89" fmla="*/ 348258 h 1904997"/>
              <a:gd name="connsiteX90" fmla="*/ 526851 w 1662859"/>
              <a:gd name="connsiteY90" fmla="*/ 428625 h 1904997"/>
              <a:gd name="connsiteX91" fmla="*/ 446483 w 1662859"/>
              <a:gd name="connsiteY91" fmla="*/ 348258 h 1904997"/>
              <a:gd name="connsiteX92" fmla="*/ 526851 w 1662859"/>
              <a:gd name="connsiteY92" fmla="*/ 267891 h 19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662859" h="1904997">
                <a:moveTo>
                  <a:pt x="1234925" y="1230313"/>
                </a:moveTo>
                <a:cubicBezTo>
                  <a:pt x="1251642" y="1231424"/>
                  <a:pt x="1267574" y="1237813"/>
                  <a:pt x="1280427" y="1248559"/>
                </a:cubicBezTo>
                <a:cubicBezTo>
                  <a:pt x="1289158" y="1259453"/>
                  <a:pt x="1368533" y="1327487"/>
                  <a:pt x="1451758" y="1397308"/>
                </a:cubicBezTo>
                <a:lnTo>
                  <a:pt x="1462176" y="1406039"/>
                </a:lnTo>
                <a:cubicBezTo>
                  <a:pt x="1549071" y="1478826"/>
                  <a:pt x="1637098" y="1551047"/>
                  <a:pt x="1650721" y="1560106"/>
                </a:cubicBezTo>
                <a:cubicBezTo>
                  <a:pt x="1675129" y="1575971"/>
                  <a:pt x="1655910" y="1597670"/>
                  <a:pt x="1651545" y="1602105"/>
                </a:cubicBezTo>
                <a:lnTo>
                  <a:pt x="1650860" y="1602780"/>
                </a:lnTo>
                <a:lnTo>
                  <a:pt x="1650721" y="1602919"/>
                </a:lnTo>
                <a:lnTo>
                  <a:pt x="1371916" y="1889026"/>
                </a:lnTo>
                <a:cubicBezTo>
                  <a:pt x="1371916" y="1889026"/>
                  <a:pt x="1344602" y="1924963"/>
                  <a:pt x="1294992" y="1889026"/>
                </a:cubicBezTo>
                <a:lnTo>
                  <a:pt x="1173112" y="1789847"/>
                </a:lnTo>
                <a:cubicBezTo>
                  <a:pt x="1149505" y="1771858"/>
                  <a:pt x="1121257" y="1760975"/>
                  <a:pt x="1091683" y="1758474"/>
                </a:cubicBezTo>
                <a:lnTo>
                  <a:pt x="467091" y="1758474"/>
                </a:lnTo>
                <a:cubicBezTo>
                  <a:pt x="450036" y="1763402"/>
                  <a:pt x="431656" y="1760021"/>
                  <a:pt x="417472" y="1749346"/>
                </a:cubicBezTo>
                <a:cubicBezTo>
                  <a:pt x="396080" y="1731169"/>
                  <a:pt x="94048" y="1478687"/>
                  <a:pt x="8105" y="1406376"/>
                </a:cubicBezTo>
                <a:cubicBezTo>
                  <a:pt x="-10131" y="1383625"/>
                  <a:pt x="8105" y="1347688"/>
                  <a:pt x="8105" y="1347688"/>
                </a:cubicBezTo>
                <a:cubicBezTo>
                  <a:pt x="8105" y="1347688"/>
                  <a:pt x="66743" y="1243945"/>
                  <a:pt x="224600" y="1347688"/>
                </a:cubicBezTo>
                <a:cubicBezTo>
                  <a:pt x="246059" y="1363193"/>
                  <a:pt x="267586" y="1378602"/>
                  <a:pt x="289182" y="1393914"/>
                </a:cubicBezTo>
                <a:lnTo>
                  <a:pt x="295691" y="1398528"/>
                </a:lnTo>
                <a:cubicBezTo>
                  <a:pt x="308738" y="1407785"/>
                  <a:pt x="321904" y="1417082"/>
                  <a:pt x="334852" y="1426210"/>
                </a:cubicBezTo>
                <a:lnTo>
                  <a:pt x="341301" y="1430754"/>
                </a:lnTo>
                <a:cubicBezTo>
                  <a:pt x="408820" y="1478300"/>
                  <a:pt x="468401" y="1519625"/>
                  <a:pt x="468401" y="1519625"/>
                </a:cubicBezTo>
                <a:lnTo>
                  <a:pt x="829636" y="1519625"/>
                </a:lnTo>
                <a:lnTo>
                  <a:pt x="933379" y="1451818"/>
                </a:lnTo>
                <a:cubicBezTo>
                  <a:pt x="933379" y="1451818"/>
                  <a:pt x="960625" y="1433681"/>
                  <a:pt x="933379" y="1433681"/>
                </a:cubicBezTo>
                <a:cubicBezTo>
                  <a:pt x="851941" y="1429117"/>
                  <a:pt x="739575" y="1419999"/>
                  <a:pt x="694074" y="1410940"/>
                </a:cubicBezTo>
                <a:cubicBezTo>
                  <a:pt x="644902" y="1403551"/>
                  <a:pt x="608423" y="1361474"/>
                  <a:pt x="608081" y="1311751"/>
                </a:cubicBezTo>
                <a:cubicBezTo>
                  <a:pt x="608081" y="1239441"/>
                  <a:pt x="653583" y="1230323"/>
                  <a:pt x="694074" y="1230323"/>
                </a:cubicBezTo>
                <a:close/>
                <a:moveTo>
                  <a:pt x="1428749" y="0"/>
                </a:moveTo>
                <a:cubicBezTo>
                  <a:pt x="1521905" y="0"/>
                  <a:pt x="1597421" y="75515"/>
                  <a:pt x="1597421" y="168672"/>
                </a:cubicBezTo>
                <a:lnTo>
                  <a:pt x="1597421" y="1398984"/>
                </a:lnTo>
                <a:cubicBezTo>
                  <a:pt x="1597421" y="1409998"/>
                  <a:pt x="1596359" y="1420783"/>
                  <a:pt x="1594345" y="1431211"/>
                </a:cubicBezTo>
                <a:cubicBezTo>
                  <a:pt x="1564103" y="1405960"/>
                  <a:pt x="1525487" y="1373188"/>
                  <a:pt x="1486504" y="1339731"/>
                </a:cubicBezTo>
                <a:lnTo>
                  <a:pt x="1476920" y="1331496"/>
                </a:lnTo>
                <a:cubicBezTo>
                  <a:pt x="1428997" y="1290300"/>
                  <a:pt x="1381471" y="1248906"/>
                  <a:pt x="1349176" y="1219924"/>
                </a:cubicBezTo>
                <a:lnTo>
                  <a:pt x="1342925" y="1214299"/>
                </a:lnTo>
                <a:cubicBezTo>
                  <a:pt x="1324788" y="1197928"/>
                  <a:pt x="1312484" y="1186349"/>
                  <a:pt x="1309210" y="1182261"/>
                </a:cubicBezTo>
                <a:cubicBezTo>
                  <a:pt x="1293305" y="1166217"/>
                  <a:pt x="1246623" y="1171952"/>
                  <a:pt x="1229905" y="1170851"/>
                </a:cubicBezTo>
                <a:lnTo>
                  <a:pt x="675361" y="1170851"/>
                </a:lnTo>
                <a:cubicBezTo>
                  <a:pt x="601195" y="1178927"/>
                  <a:pt x="560902" y="1224191"/>
                  <a:pt x="552776" y="1296422"/>
                </a:cubicBezTo>
                <a:cubicBezTo>
                  <a:pt x="547260" y="1345506"/>
                  <a:pt x="560674" y="1393289"/>
                  <a:pt x="627240" y="1429613"/>
                </a:cubicBezTo>
                <a:cubicBezTo>
                  <a:pt x="654595" y="1445210"/>
                  <a:pt x="681215" y="1453872"/>
                  <a:pt x="707111" y="1455609"/>
                </a:cubicBezTo>
                <a:lnTo>
                  <a:pt x="490874" y="1455609"/>
                </a:lnTo>
                <a:cubicBezTo>
                  <a:pt x="490874" y="1455609"/>
                  <a:pt x="475296" y="1445349"/>
                  <a:pt x="451037" y="1429187"/>
                </a:cubicBezTo>
                <a:lnTo>
                  <a:pt x="446384" y="1426091"/>
                </a:lnTo>
                <a:cubicBezTo>
                  <a:pt x="407265" y="1400018"/>
                  <a:pt x="368328" y="1373675"/>
                  <a:pt x="329574" y="1347063"/>
                </a:cubicBezTo>
                <a:lnTo>
                  <a:pt x="319692" y="1340257"/>
                </a:lnTo>
                <a:cubicBezTo>
                  <a:pt x="294623" y="1323000"/>
                  <a:pt x="269741" y="1305474"/>
                  <a:pt x="245049" y="1287681"/>
                </a:cubicBezTo>
                <a:cubicBezTo>
                  <a:pt x="188594" y="1250593"/>
                  <a:pt x="143628" y="1240026"/>
                  <a:pt x="109140" y="1241752"/>
                </a:cubicBezTo>
                <a:lnTo>
                  <a:pt x="109140" y="168672"/>
                </a:lnTo>
                <a:cubicBezTo>
                  <a:pt x="109140" y="75515"/>
                  <a:pt x="184655" y="0"/>
                  <a:pt x="277811" y="0"/>
                </a:cubicBezTo>
                <a:lnTo>
                  <a:pt x="1428749" y="0"/>
                </a:lnTo>
                <a:close/>
                <a:moveTo>
                  <a:pt x="1374179" y="922734"/>
                </a:moveTo>
                <a:lnTo>
                  <a:pt x="332382" y="922734"/>
                </a:lnTo>
                <a:cubicBezTo>
                  <a:pt x="302243" y="922734"/>
                  <a:pt x="277811" y="947166"/>
                  <a:pt x="277811" y="977305"/>
                </a:cubicBezTo>
                <a:cubicBezTo>
                  <a:pt x="277811" y="1007443"/>
                  <a:pt x="302243" y="1031875"/>
                  <a:pt x="332382" y="1031875"/>
                </a:cubicBezTo>
                <a:lnTo>
                  <a:pt x="1374179" y="1031875"/>
                </a:lnTo>
                <a:cubicBezTo>
                  <a:pt x="1404317" y="1031875"/>
                  <a:pt x="1428749" y="1007443"/>
                  <a:pt x="1428749" y="977305"/>
                </a:cubicBezTo>
                <a:cubicBezTo>
                  <a:pt x="1428749" y="947166"/>
                  <a:pt x="1404317" y="922734"/>
                  <a:pt x="1374179" y="922734"/>
                </a:cubicBezTo>
                <a:close/>
                <a:moveTo>
                  <a:pt x="524013" y="168672"/>
                </a:moveTo>
                <a:lnTo>
                  <a:pt x="520292" y="168731"/>
                </a:lnTo>
                <a:cubicBezTo>
                  <a:pt x="424000" y="171281"/>
                  <a:pt x="347265" y="250071"/>
                  <a:pt x="347265" y="346402"/>
                </a:cubicBezTo>
                <a:cubicBezTo>
                  <a:pt x="347265" y="430213"/>
                  <a:pt x="405367" y="500757"/>
                  <a:pt x="483889" y="519341"/>
                </a:cubicBezTo>
                <a:cubicBezTo>
                  <a:pt x="366930" y="537766"/>
                  <a:pt x="277811" y="629047"/>
                  <a:pt x="277811" y="738803"/>
                </a:cubicBezTo>
                <a:cubicBezTo>
                  <a:pt x="279865" y="769558"/>
                  <a:pt x="306462" y="792824"/>
                  <a:pt x="337217" y="790771"/>
                </a:cubicBezTo>
                <a:cubicBezTo>
                  <a:pt x="365110" y="788908"/>
                  <a:pt x="387322" y="766696"/>
                  <a:pt x="389184" y="738803"/>
                </a:cubicBezTo>
                <a:cubicBezTo>
                  <a:pt x="389184" y="678527"/>
                  <a:pt x="452555" y="627301"/>
                  <a:pt x="527476" y="627301"/>
                </a:cubicBezTo>
                <a:cubicBezTo>
                  <a:pt x="602386" y="627301"/>
                  <a:pt x="665638" y="678527"/>
                  <a:pt x="665638" y="738803"/>
                </a:cubicBezTo>
                <a:cubicBezTo>
                  <a:pt x="667119" y="769590"/>
                  <a:pt x="693278" y="793348"/>
                  <a:pt x="724066" y="791866"/>
                </a:cubicBezTo>
                <a:cubicBezTo>
                  <a:pt x="752781" y="790485"/>
                  <a:pt x="775748" y="767517"/>
                  <a:pt x="777130" y="738803"/>
                </a:cubicBezTo>
                <a:cubicBezTo>
                  <a:pt x="777130" y="628303"/>
                  <a:pt x="686424" y="536178"/>
                  <a:pt x="567927" y="518855"/>
                </a:cubicBezTo>
                <a:cubicBezTo>
                  <a:pt x="663176" y="495135"/>
                  <a:pt x="721162" y="398693"/>
                  <a:pt x="697443" y="303444"/>
                </a:cubicBezTo>
                <a:cubicBezTo>
                  <a:pt x="677969" y="225242"/>
                  <a:pt x="608314" y="169931"/>
                  <a:pt x="527734" y="168682"/>
                </a:cubicBezTo>
                <a:lnTo>
                  <a:pt x="524013" y="168672"/>
                </a:lnTo>
                <a:close/>
                <a:moveTo>
                  <a:pt x="1374179" y="635000"/>
                </a:moveTo>
                <a:lnTo>
                  <a:pt x="977304" y="635000"/>
                </a:lnTo>
                <a:cubicBezTo>
                  <a:pt x="947165" y="635000"/>
                  <a:pt x="922733" y="659432"/>
                  <a:pt x="922733" y="689570"/>
                </a:cubicBezTo>
                <a:cubicBezTo>
                  <a:pt x="922733" y="719709"/>
                  <a:pt x="947165" y="744141"/>
                  <a:pt x="977304" y="744141"/>
                </a:cubicBezTo>
                <a:lnTo>
                  <a:pt x="1374179" y="744141"/>
                </a:lnTo>
                <a:cubicBezTo>
                  <a:pt x="1404317" y="744141"/>
                  <a:pt x="1428749" y="719709"/>
                  <a:pt x="1428749" y="689570"/>
                </a:cubicBezTo>
                <a:cubicBezTo>
                  <a:pt x="1428749" y="659432"/>
                  <a:pt x="1404317" y="635000"/>
                  <a:pt x="1374179" y="635000"/>
                </a:cubicBezTo>
                <a:close/>
                <a:moveTo>
                  <a:pt x="1374179" y="396875"/>
                </a:moveTo>
                <a:lnTo>
                  <a:pt x="977304" y="396875"/>
                </a:lnTo>
                <a:cubicBezTo>
                  <a:pt x="947165" y="396875"/>
                  <a:pt x="922733" y="421307"/>
                  <a:pt x="922733" y="451445"/>
                </a:cubicBezTo>
                <a:cubicBezTo>
                  <a:pt x="922733" y="481584"/>
                  <a:pt x="947165" y="506016"/>
                  <a:pt x="977304" y="506016"/>
                </a:cubicBezTo>
                <a:lnTo>
                  <a:pt x="1374179" y="506016"/>
                </a:lnTo>
                <a:cubicBezTo>
                  <a:pt x="1404317" y="506016"/>
                  <a:pt x="1428749" y="481584"/>
                  <a:pt x="1428749" y="451445"/>
                </a:cubicBezTo>
                <a:cubicBezTo>
                  <a:pt x="1428749" y="421307"/>
                  <a:pt x="1404317" y="396875"/>
                  <a:pt x="1374179" y="396875"/>
                </a:cubicBezTo>
                <a:close/>
                <a:moveTo>
                  <a:pt x="526851" y="267891"/>
                </a:moveTo>
                <a:cubicBezTo>
                  <a:pt x="571236" y="267891"/>
                  <a:pt x="607218" y="303872"/>
                  <a:pt x="607218" y="348258"/>
                </a:cubicBezTo>
                <a:cubicBezTo>
                  <a:pt x="607218" y="392643"/>
                  <a:pt x="571236" y="428625"/>
                  <a:pt x="526851" y="428625"/>
                </a:cubicBezTo>
                <a:cubicBezTo>
                  <a:pt x="482465" y="428625"/>
                  <a:pt x="446483" y="392643"/>
                  <a:pt x="446483" y="348258"/>
                </a:cubicBezTo>
                <a:cubicBezTo>
                  <a:pt x="446483" y="303872"/>
                  <a:pt x="482465" y="267891"/>
                  <a:pt x="526851" y="267891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822387" y="2371123"/>
            <a:ext cx="381675" cy="381675"/>
            <a:chOff x="0" y="0"/>
            <a:chExt cx="1905000" cy="1905000"/>
          </a:xfrm>
          <a:solidFill>
            <a:schemeClr val="accent3"/>
          </a:solidFill>
        </p:grpSpPr>
        <p:sp>
          <p:nvSpPr>
            <p:cNvPr id="219" name="任意多边形: 形状 218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381000 w 1905000"/>
                <a:gd name="connsiteY1" fmla="*/ 762000 h 1905000"/>
                <a:gd name="connsiteX2" fmla="*/ 381000 w 1905000"/>
                <a:gd name="connsiteY2" fmla="*/ 1714500 h 1905000"/>
                <a:gd name="connsiteX3" fmla="*/ 952500 w 1905000"/>
                <a:gd name="connsiteY3" fmla="*/ 1905000 h 1905000"/>
                <a:gd name="connsiteX4" fmla="*/ 952500 w 1905000"/>
                <a:gd name="connsiteY4" fmla="*/ 762000 h 1905000"/>
                <a:gd name="connsiteX5" fmla="*/ 1333500 w 1905000"/>
                <a:gd name="connsiteY5" fmla="*/ 0 h 1905000"/>
                <a:gd name="connsiteX6" fmla="*/ 0 w 1905000"/>
                <a:gd name="connsiteY6" fmla="*/ 0 h 1905000"/>
                <a:gd name="connsiteX7" fmla="*/ 1143000 w 1905000"/>
                <a:gd name="connsiteY7" fmla="*/ 1524000 h 1905000"/>
                <a:gd name="connsiteX8" fmla="*/ 1905000 w 1905000"/>
                <a:gd name="connsiteY8" fmla="*/ 1524000 h 1905000"/>
                <a:gd name="connsiteX9" fmla="*/ 1905000 w 1905000"/>
                <a:gd name="connsiteY9" fmla="*/ 1714500 h 1905000"/>
                <a:gd name="connsiteX10" fmla="*/ 1143000 w 1905000"/>
                <a:gd name="connsiteY10" fmla="*/ 1714500 h 1905000"/>
                <a:gd name="connsiteX11" fmla="*/ 1143000 w 1905000"/>
                <a:gd name="connsiteY11" fmla="*/ 1143000 h 1905000"/>
                <a:gd name="connsiteX12" fmla="*/ 1905000 w 1905000"/>
                <a:gd name="connsiteY12" fmla="*/ 1143000 h 1905000"/>
                <a:gd name="connsiteX13" fmla="*/ 1905000 w 1905000"/>
                <a:gd name="connsiteY13" fmla="*/ 1333500 h 1905000"/>
                <a:gd name="connsiteX14" fmla="*/ 1143000 w 1905000"/>
                <a:gd name="connsiteY14" fmla="*/ 13335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381000" y="762000"/>
                  </a:lnTo>
                  <a:lnTo>
                    <a:pt x="381000" y="1714500"/>
                  </a:lnTo>
                  <a:lnTo>
                    <a:pt x="952500" y="1905000"/>
                  </a:lnTo>
                  <a:lnTo>
                    <a:pt x="952500" y="762000"/>
                  </a:lnTo>
                  <a:lnTo>
                    <a:pt x="1333500" y="0"/>
                  </a:lnTo>
                  <a:lnTo>
                    <a:pt x="0" y="0"/>
                  </a:lnTo>
                  <a:close/>
                  <a:moveTo>
                    <a:pt x="1143000" y="1524000"/>
                  </a:moveTo>
                  <a:lnTo>
                    <a:pt x="1905000" y="1524000"/>
                  </a:lnTo>
                  <a:lnTo>
                    <a:pt x="1905000" y="1714500"/>
                  </a:lnTo>
                  <a:lnTo>
                    <a:pt x="1143000" y="1714500"/>
                  </a:lnTo>
                  <a:close/>
                  <a:moveTo>
                    <a:pt x="1143000" y="1143000"/>
                  </a:moveTo>
                  <a:lnTo>
                    <a:pt x="1905000" y="1143000"/>
                  </a:lnTo>
                  <a:lnTo>
                    <a:pt x="1905000" y="1333500"/>
                  </a:lnTo>
                  <a:lnTo>
                    <a:pt x="1143000" y="1333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143000" y="762000"/>
              <a:ext cx="761999" cy="190499"/>
            </a:xfrm>
            <a:custGeom>
              <a:avLst/>
              <a:gdLst>
                <a:gd name="connsiteX0" fmla="*/ 0 w 761999"/>
                <a:gd name="connsiteY0" fmla="*/ 0 h 190499"/>
                <a:gd name="connsiteX1" fmla="*/ 762000 w 761999"/>
                <a:gd name="connsiteY1" fmla="*/ 0 h 190499"/>
                <a:gd name="connsiteX2" fmla="*/ 762000 w 761999"/>
                <a:gd name="connsiteY2" fmla="*/ 190500 h 190499"/>
                <a:gd name="connsiteX3" fmla="*/ 0 w 761999"/>
                <a:gd name="connsiteY3" fmla="*/ 190500 h 1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999" h="190499">
                  <a:moveTo>
                    <a:pt x="0" y="0"/>
                  </a:moveTo>
                  <a:lnTo>
                    <a:pt x="762000" y="0"/>
                  </a:lnTo>
                  <a:lnTo>
                    <a:pt x="762000" y="190500"/>
                  </a:lnTo>
                  <a:lnTo>
                    <a:pt x="0" y="190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6" name="图形 224"/>
          <p:cNvSpPr>
            <a:spLocks noChangeAspect="1"/>
          </p:cNvSpPr>
          <p:nvPr/>
        </p:nvSpPr>
        <p:spPr>
          <a:xfrm>
            <a:off x="846125" y="3618010"/>
            <a:ext cx="391490" cy="360000"/>
          </a:xfrm>
          <a:custGeom>
            <a:avLst/>
            <a:gdLst>
              <a:gd name="connsiteX0" fmla="*/ 1248195 w 1796498"/>
              <a:gd name="connsiteY0" fmla="*/ 0 h 1651992"/>
              <a:gd name="connsiteX1" fmla="*/ 1444565 w 1796498"/>
              <a:gd name="connsiteY1" fmla="*/ 205383 h 1651992"/>
              <a:gd name="connsiteX2" fmla="*/ 1444568 w 1796498"/>
              <a:gd name="connsiteY2" fmla="*/ 718044 h 1651992"/>
              <a:gd name="connsiteX3" fmla="*/ 1389320 w 1796498"/>
              <a:gd name="connsiteY3" fmla="*/ 714717 h 1651992"/>
              <a:gd name="connsiteX4" fmla="*/ 916664 w 1796498"/>
              <a:gd name="connsiteY4" fmla="*/ 1206886 h 1651992"/>
              <a:gd name="connsiteX5" fmla="*/ 1187358 w 1796498"/>
              <a:gd name="connsiteY5" fmla="*/ 1651992 h 1651992"/>
              <a:gd name="connsiteX6" fmla="*/ 196370 w 1796498"/>
              <a:gd name="connsiteY6" fmla="*/ 1651979 h 1651992"/>
              <a:gd name="connsiteX7" fmla="*/ 0 w 1796498"/>
              <a:gd name="connsiteY7" fmla="*/ 1446596 h 1651992"/>
              <a:gd name="connsiteX8" fmla="*/ 0 w 1796498"/>
              <a:gd name="connsiteY8" fmla="*/ 205383 h 1651992"/>
              <a:gd name="connsiteX9" fmla="*/ 196370 w 1796498"/>
              <a:gd name="connsiteY9" fmla="*/ 0 h 1651992"/>
              <a:gd name="connsiteX10" fmla="*/ 1248195 w 1796498"/>
              <a:gd name="connsiteY10" fmla="*/ 0 h 1651992"/>
              <a:gd name="connsiteX11" fmla="*/ 1389320 w 1796498"/>
              <a:gd name="connsiteY11" fmla="*/ 778913 h 1651992"/>
              <a:gd name="connsiteX12" fmla="*/ 1796499 w 1796498"/>
              <a:gd name="connsiteY12" fmla="*/ 1204747 h 1651992"/>
              <a:gd name="connsiteX13" fmla="*/ 1389320 w 1796498"/>
              <a:gd name="connsiteY13" fmla="*/ 1630582 h 1651992"/>
              <a:gd name="connsiteX14" fmla="*/ 982140 w 1796498"/>
              <a:gd name="connsiteY14" fmla="*/ 1204747 h 1651992"/>
              <a:gd name="connsiteX15" fmla="*/ 1389320 w 1796498"/>
              <a:gd name="connsiteY15" fmla="*/ 778913 h 1651992"/>
              <a:gd name="connsiteX16" fmla="*/ 1560569 w 1796498"/>
              <a:gd name="connsiteY16" fmla="*/ 1055100 h 1651992"/>
              <a:gd name="connsiteX17" fmla="*/ 1560042 w 1796498"/>
              <a:gd name="connsiteY17" fmla="*/ 1055603 h 1651992"/>
              <a:gd name="connsiteX18" fmla="*/ 1301857 w 1796498"/>
              <a:gd name="connsiteY18" fmla="*/ 1304763 h 1651992"/>
              <a:gd name="connsiteX19" fmla="*/ 1208538 w 1796498"/>
              <a:gd name="connsiteY19" fmla="*/ 1225090 h 1651992"/>
              <a:gd name="connsiteX20" fmla="*/ 1207594 w 1796498"/>
              <a:gd name="connsiteY20" fmla="*/ 1224305 h 1651992"/>
              <a:gd name="connsiteX21" fmla="*/ 1150960 w 1796498"/>
              <a:gd name="connsiteY21" fmla="*/ 1231175 h 1651992"/>
              <a:gd name="connsiteX22" fmla="*/ 1156243 w 1796498"/>
              <a:gd name="connsiteY22" fmla="*/ 1290928 h 1651992"/>
              <a:gd name="connsiteX23" fmla="*/ 1156780 w 1796498"/>
              <a:gd name="connsiteY23" fmla="*/ 1291393 h 1651992"/>
              <a:gd name="connsiteX24" fmla="*/ 1275455 w 1796498"/>
              <a:gd name="connsiteY24" fmla="*/ 1392719 h 1651992"/>
              <a:gd name="connsiteX25" fmla="*/ 1276400 w 1796498"/>
              <a:gd name="connsiteY25" fmla="*/ 1393504 h 1651992"/>
              <a:gd name="connsiteX26" fmla="*/ 1303504 w 1796498"/>
              <a:gd name="connsiteY26" fmla="*/ 1402303 h 1651992"/>
              <a:gd name="connsiteX27" fmla="*/ 1332547 w 1796498"/>
              <a:gd name="connsiteY27" fmla="*/ 1391606 h 1651992"/>
              <a:gd name="connsiteX28" fmla="*/ 1333178 w 1796498"/>
              <a:gd name="connsiteY28" fmla="*/ 1391007 h 1651992"/>
              <a:gd name="connsiteX29" fmla="*/ 1615545 w 1796498"/>
              <a:gd name="connsiteY29" fmla="*/ 1118503 h 1651992"/>
              <a:gd name="connsiteX30" fmla="*/ 1616434 w 1796498"/>
              <a:gd name="connsiteY30" fmla="*/ 1117619 h 1651992"/>
              <a:gd name="connsiteX31" fmla="*/ 1617866 w 1796498"/>
              <a:gd name="connsiteY31" fmla="*/ 1058028 h 1651992"/>
              <a:gd name="connsiteX32" fmla="*/ 1560567 w 1796498"/>
              <a:gd name="connsiteY32" fmla="*/ 1055098 h 1651992"/>
              <a:gd name="connsiteX33" fmla="*/ 771303 w 1796498"/>
              <a:gd name="connsiteY33" fmla="*/ 864394 h 1651992"/>
              <a:gd name="connsiteX34" fmla="*/ 278272 w 1796498"/>
              <a:gd name="connsiteY34" fmla="*/ 864394 h 1651992"/>
              <a:gd name="connsiteX35" fmla="*/ 277017 w 1796498"/>
              <a:gd name="connsiteY35" fmla="*/ 864409 h 1651992"/>
              <a:gd name="connsiteX36" fmla="*/ 225075 w 1796498"/>
              <a:gd name="connsiteY36" fmla="*/ 920029 h 1651992"/>
              <a:gd name="connsiteX37" fmla="*/ 277394 w 1796498"/>
              <a:gd name="connsiteY37" fmla="*/ 975660 h 1651992"/>
              <a:gd name="connsiteX38" fmla="*/ 278272 w 1796498"/>
              <a:gd name="connsiteY38" fmla="*/ 975667 h 1651992"/>
              <a:gd name="connsiteX39" fmla="*/ 771303 w 1796498"/>
              <a:gd name="connsiteY39" fmla="*/ 975667 h 1651992"/>
              <a:gd name="connsiteX40" fmla="*/ 772558 w 1796498"/>
              <a:gd name="connsiteY40" fmla="*/ 975652 h 1651992"/>
              <a:gd name="connsiteX41" fmla="*/ 824502 w 1796498"/>
              <a:gd name="connsiteY41" fmla="*/ 920029 h 1651992"/>
              <a:gd name="connsiteX42" fmla="*/ 771303 w 1796498"/>
              <a:gd name="connsiteY42" fmla="*/ 864394 h 1651992"/>
              <a:gd name="connsiteX43" fmla="*/ 1044911 w 1796498"/>
              <a:gd name="connsiteY43" fmla="*/ 430113 h 1651992"/>
              <a:gd name="connsiteX44" fmla="*/ 278272 w 1796498"/>
              <a:gd name="connsiteY44" fmla="*/ 430113 h 1651992"/>
              <a:gd name="connsiteX45" fmla="*/ 277017 w 1796498"/>
              <a:gd name="connsiteY45" fmla="*/ 430128 h 1651992"/>
              <a:gd name="connsiteX46" fmla="*/ 225075 w 1796498"/>
              <a:gd name="connsiteY46" fmla="*/ 485751 h 1651992"/>
              <a:gd name="connsiteX47" fmla="*/ 277394 w 1796498"/>
              <a:gd name="connsiteY47" fmla="*/ 541379 h 1651992"/>
              <a:gd name="connsiteX48" fmla="*/ 278272 w 1796498"/>
              <a:gd name="connsiteY48" fmla="*/ 541387 h 1651992"/>
              <a:gd name="connsiteX49" fmla="*/ 1044911 w 1796498"/>
              <a:gd name="connsiteY49" fmla="*/ 541387 h 1651992"/>
              <a:gd name="connsiteX50" fmla="*/ 1046167 w 1796498"/>
              <a:gd name="connsiteY50" fmla="*/ 541372 h 1651992"/>
              <a:gd name="connsiteX51" fmla="*/ 1098111 w 1796498"/>
              <a:gd name="connsiteY51" fmla="*/ 485751 h 1651992"/>
              <a:gd name="connsiteX52" fmla="*/ 1044909 w 1796498"/>
              <a:gd name="connsiteY52" fmla="*/ 430113 h 165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96498" h="1651992">
                <a:moveTo>
                  <a:pt x="1248195" y="0"/>
                </a:moveTo>
                <a:cubicBezTo>
                  <a:pt x="1356646" y="0"/>
                  <a:pt x="1444565" y="91953"/>
                  <a:pt x="1444565" y="205383"/>
                </a:cubicBezTo>
                <a:lnTo>
                  <a:pt x="1444568" y="718044"/>
                </a:lnTo>
                <a:cubicBezTo>
                  <a:pt x="1426229" y="715824"/>
                  <a:pt x="1407782" y="714713"/>
                  <a:pt x="1389320" y="714717"/>
                </a:cubicBezTo>
                <a:cubicBezTo>
                  <a:pt x="1128279" y="714717"/>
                  <a:pt x="916664" y="935069"/>
                  <a:pt x="916664" y="1206886"/>
                </a:cubicBezTo>
                <a:cubicBezTo>
                  <a:pt x="916664" y="1403468"/>
                  <a:pt x="1027345" y="1573130"/>
                  <a:pt x="1187358" y="1651992"/>
                </a:cubicBezTo>
                <a:lnTo>
                  <a:pt x="196370" y="1651979"/>
                </a:lnTo>
                <a:cubicBezTo>
                  <a:pt x="87918" y="1651979"/>
                  <a:pt x="0" y="1560026"/>
                  <a:pt x="0" y="1446596"/>
                </a:cubicBezTo>
                <a:lnTo>
                  <a:pt x="0" y="205383"/>
                </a:lnTo>
                <a:cubicBezTo>
                  <a:pt x="0" y="91953"/>
                  <a:pt x="87918" y="0"/>
                  <a:pt x="196370" y="0"/>
                </a:cubicBezTo>
                <a:lnTo>
                  <a:pt x="1248195" y="0"/>
                </a:lnTo>
                <a:close/>
                <a:moveTo>
                  <a:pt x="1389320" y="778913"/>
                </a:moveTo>
                <a:cubicBezTo>
                  <a:pt x="1614199" y="778913"/>
                  <a:pt x="1796499" y="969565"/>
                  <a:pt x="1796499" y="1204747"/>
                </a:cubicBezTo>
                <a:cubicBezTo>
                  <a:pt x="1796499" y="1439929"/>
                  <a:pt x="1614199" y="1630582"/>
                  <a:pt x="1389320" y="1630582"/>
                </a:cubicBezTo>
                <a:cubicBezTo>
                  <a:pt x="1164441" y="1630582"/>
                  <a:pt x="982140" y="1439929"/>
                  <a:pt x="982140" y="1204747"/>
                </a:cubicBezTo>
                <a:cubicBezTo>
                  <a:pt x="982140" y="969565"/>
                  <a:pt x="1164441" y="778913"/>
                  <a:pt x="1389320" y="778913"/>
                </a:cubicBezTo>
                <a:close/>
                <a:moveTo>
                  <a:pt x="1560569" y="1055100"/>
                </a:moveTo>
                <a:lnTo>
                  <a:pt x="1560042" y="1055603"/>
                </a:lnTo>
                <a:lnTo>
                  <a:pt x="1301857" y="1304763"/>
                </a:lnTo>
                <a:lnTo>
                  <a:pt x="1208538" y="1225090"/>
                </a:lnTo>
                <a:lnTo>
                  <a:pt x="1207594" y="1224305"/>
                </a:lnTo>
                <a:cubicBezTo>
                  <a:pt x="1190115" y="1210244"/>
                  <a:pt x="1164997" y="1213193"/>
                  <a:pt x="1150960" y="1231175"/>
                </a:cubicBezTo>
                <a:cubicBezTo>
                  <a:pt x="1136814" y="1249295"/>
                  <a:pt x="1139220" y="1275891"/>
                  <a:pt x="1156243" y="1290928"/>
                </a:cubicBezTo>
                <a:lnTo>
                  <a:pt x="1156780" y="1291393"/>
                </a:lnTo>
                <a:lnTo>
                  <a:pt x="1275455" y="1392719"/>
                </a:lnTo>
                <a:lnTo>
                  <a:pt x="1276400" y="1393504"/>
                </a:lnTo>
                <a:cubicBezTo>
                  <a:pt x="1284135" y="1399737"/>
                  <a:pt x="1293753" y="1402860"/>
                  <a:pt x="1303504" y="1402303"/>
                </a:cubicBezTo>
                <a:cubicBezTo>
                  <a:pt x="1314149" y="1402842"/>
                  <a:pt x="1324573" y="1399003"/>
                  <a:pt x="1332547" y="1391606"/>
                </a:cubicBezTo>
                <a:lnTo>
                  <a:pt x="1333178" y="1391007"/>
                </a:lnTo>
                <a:lnTo>
                  <a:pt x="1615545" y="1118503"/>
                </a:lnTo>
                <a:lnTo>
                  <a:pt x="1616434" y="1117619"/>
                </a:lnTo>
                <a:cubicBezTo>
                  <a:pt x="1632187" y="1101494"/>
                  <a:pt x="1632914" y="1075082"/>
                  <a:pt x="1617866" y="1058028"/>
                </a:cubicBezTo>
                <a:cubicBezTo>
                  <a:pt x="1602701" y="1040839"/>
                  <a:pt x="1577192" y="1039594"/>
                  <a:pt x="1560567" y="1055098"/>
                </a:cubicBezTo>
                <a:close/>
                <a:moveTo>
                  <a:pt x="771303" y="864394"/>
                </a:moveTo>
                <a:lnTo>
                  <a:pt x="278272" y="864394"/>
                </a:lnTo>
                <a:lnTo>
                  <a:pt x="277017" y="864409"/>
                </a:lnTo>
                <a:cubicBezTo>
                  <a:pt x="248216" y="865106"/>
                  <a:pt x="225075" y="889741"/>
                  <a:pt x="225075" y="920029"/>
                </a:cubicBezTo>
                <a:cubicBezTo>
                  <a:pt x="225075" y="950450"/>
                  <a:pt x="248418" y="975168"/>
                  <a:pt x="277394" y="975660"/>
                </a:cubicBezTo>
                <a:lnTo>
                  <a:pt x="278272" y="975667"/>
                </a:lnTo>
                <a:lnTo>
                  <a:pt x="771303" y="975667"/>
                </a:lnTo>
                <a:lnTo>
                  <a:pt x="772558" y="975652"/>
                </a:lnTo>
                <a:cubicBezTo>
                  <a:pt x="801359" y="974954"/>
                  <a:pt x="824502" y="950318"/>
                  <a:pt x="824502" y="920029"/>
                </a:cubicBezTo>
                <a:cubicBezTo>
                  <a:pt x="824502" y="889304"/>
                  <a:pt x="800685" y="864394"/>
                  <a:pt x="771303" y="864394"/>
                </a:cubicBezTo>
                <a:close/>
                <a:moveTo>
                  <a:pt x="1044911" y="430113"/>
                </a:moveTo>
                <a:lnTo>
                  <a:pt x="278272" y="430113"/>
                </a:lnTo>
                <a:lnTo>
                  <a:pt x="277017" y="430128"/>
                </a:lnTo>
                <a:cubicBezTo>
                  <a:pt x="248216" y="430826"/>
                  <a:pt x="225075" y="455462"/>
                  <a:pt x="225075" y="485751"/>
                </a:cubicBezTo>
                <a:cubicBezTo>
                  <a:pt x="225075" y="516169"/>
                  <a:pt x="248418" y="540888"/>
                  <a:pt x="277394" y="541379"/>
                </a:cubicBezTo>
                <a:lnTo>
                  <a:pt x="278272" y="541387"/>
                </a:lnTo>
                <a:lnTo>
                  <a:pt x="1044911" y="541387"/>
                </a:lnTo>
                <a:lnTo>
                  <a:pt x="1046167" y="541372"/>
                </a:lnTo>
                <a:cubicBezTo>
                  <a:pt x="1074968" y="540674"/>
                  <a:pt x="1098111" y="516039"/>
                  <a:pt x="1098111" y="485751"/>
                </a:cubicBezTo>
                <a:cubicBezTo>
                  <a:pt x="1098111" y="455023"/>
                  <a:pt x="1074292" y="430113"/>
                  <a:pt x="1044909" y="430113"/>
                </a:cubicBezTo>
                <a:close/>
              </a:path>
            </a:pathLst>
          </a:custGeom>
          <a:solidFill>
            <a:schemeClr val="accent2"/>
          </a:solidFill>
          <a:ln w="17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图形 231"/>
          <p:cNvSpPr>
            <a:spLocks noChangeAspect="1"/>
          </p:cNvSpPr>
          <p:nvPr/>
        </p:nvSpPr>
        <p:spPr>
          <a:xfrm>
            <a:off x="861549" y="4777450"/>
            <a:ext cx="360000" cy="359996"/>
          </a:xfrm>
          <a:custGeom>
            <a:avLst/>
            <a:gdLst>
              <a:gd name="connsiteX0" fmla="*/ 816786 w 1905016"/>
              <a:gd name="connsiteY0" fmla="*/ 0 h 1905000"/>
              <a:gd name="connsiteX1" fmla="*/ 1225219 w 1905016"/>
              <a:gd name="connsiteY1" fmla="*/ 408336 h 1905000"/>
              <a:gd name="connsiteX2" fmla="*/ 1179926 w 1905016"/>
              <a:gd name="connsiteY2" fmla="*/ 595313 h 1905000"/>
              <a:gd name="connsiteX3" fmla="*/ 1088248 w 1905016"/>
              <a:gd name="connsiteY3" fmla="*/ 595313 h 1905000"/>
              <a:gd name="connsiteX4" fmla="*/ 940611 w 1905016"/>
              <a:gd name="connsiteY4" fmla="*/ 656034 h 1905000"/>
              <a:gd name="connsiteX5" fmla="*/ 878698 w 1905016"/>
              <a:gd name="connsiteY5" fmla="*/ 804863 h 1905000"/>
              <a:gd name="connsiteX6" fmla="*/ 878698 w 1905016"/>
              <a:gd name="connsiteY6" fmla="*/ 810816 h 1905000"/>
              <a:gd name="connsiteX7" fmla="*/ 816786 w 1905016"/>
              <a:gd name="connsiteY7" fmla="*/ 816769 h 1905000"/>
              <a:gd name="connsiteX8" fmla="*/ 408401 w 1905016"/>
              <a:gd name="connsiteY8" fmla="*/ 408384 h 1905000"/>
              <a:gd name="connsiteX9" fmla="*/ 816786 w 1905016"/>
              <a:gd name="connsiteY9" fmla="*/ 0 h 1905000"/>
              <a:gd name="connsiteX10" fmla="*/ 1638317 w 1905016"/>
              <a:gd name="connsiteY10" fmla="*/ 916781 h 1905000"/>
              <a:gd name="connsiteX11" fmla="*/ 1264461 w 1905016"/>
              <a:gd name="connsiteY11" fmla="*/ 916781 h 1905000"/>
              <a:gd name="connsiteX12" fmla="*/ 1210883 w 1905016"/>
              <a:gd name="connsiteY12" fmla="*/ 970359 h 1905000"/>
              <a:gd name="connsiteX13" fmla="*/ 1264461 w 1905016"/>
              <a:gd name="connsiteY13" fmla="*/ 1023938 h 1905000"/>
              <a:gd name="connsiteX14" fmla="*/ 1638317 w 1905016"/>
              <a:gd name="connsiteY14" fmla="*/ 1023938 h 1905000"/>
              <a:gd name="connsiteX15" fmla="*/ 1676417 w 1905016"/>
              <a:gd name="connsiteY15" fmla="*/ 1008459 h 1905000"/>
              <a:gd name="connsiteX16" fmla="*/ 1691895 w 1905016"/>
              <a:gd name="connsiteY16" fmla="*/ 970359 h 1905000"/>
              <a:gd name="connsiteX17" fmla="*/ 1638317 w 1905016"/>
              <a:gd name="connsiteY17" fmla="*/ 916781 h 1905000"/>
              <a:gd name="connsiteX18" fmla="*/ 1424005 w 1905016"/>
              <a:gd name="connsiteY18" fmla="*/ 1131094 h 1905000"/>
              <a:gd name="connsiteX19" fmla="*/ 1264461 w 1905016"/>
              <a:gd name="connsiteY19" fmla="*/ 1131094 h 1905000"/>
              <a:gd name="connsiteX20" fmla="*/ 1210883 w 1905016"/>
              <a:gd name="connsiteY20" fmla="*/ 1184672 h 1905000"/>
              <a:gd name="connsiteX21" fmla="*/ 1264461 w 1905016"/>
              <a:gd name="connsiteY21" fmla="*/ 1238250 h 1905000"/>
              <a:gd name="connsiteX22" fmla="*/ 1424005 w 1905016"/>
              <a:gd name="connsiteY22" fmla="*/ 1238250 h 1905000"/>
              <a:gd name="connsiteX23" fmla="*/ 1477583 w 1905016"/>
              <a:gd name="connsiteY23" fmla="*/ 1184672 h 1905000"/>
              <a:gd name="connsiteX24" fmla="*/ 1424005 w 1905016"/>
              <a:gd name="connsiteY24" fmla="*/ 1131094 h 1905000"/>
              <a:gd name="connsiteX25" fmla="*/ 478648 w 1905016"/>
              <a:gd name="connsiteY25" fmla="*/ 1382316 h 1905000"/>
              <a:gd name="connsiteX26" fmla="*/ 282195 w 1905016"/>
              <a:gd name="connsiteY26" fmla="*/ 1382316 h 1905000"/>
              <a:gd name="connsiteX27" fmla="*/ 216711 w 1905016"/>
              <a:gd name="connsiteY27" fmla="*/ 1447800 h 1905000"/>
              <a:gd name="connsiteX28" fmla="*/ 282195 w 1905016"/>
              <a:gd name="connsiteY28" fmla="*/ 1513284 h 1905000"/>
              <a:gd name="connsiteX29" fmla="*/ 478648 w 1905016"/>
              <a:gd name="connsiteY29" fmla="*/ 1513284 h 1905000"/>
              <a:gd name="connsiteX30" fmla="*/ 544133 w 1905016"/>
              <a:gd name="connsiteY30" fmla="*/ 1447800 h 1905000"/>
              <a:gd name="connsiteX31" fmla="*/ 482027 w 1905016"/>
              <a:gd name="connsiteY31" fmla="*/ 1382316 h 1905000"/>
              <a:gd name="connsiteX32" fmla="*/ 478648 w 1905016"/>
              <a:gd name="connsiteY32" fmla="*/ 1382316 h 1905000"/>
              <a:gd name="connsiteX33" fmla="*/ 1813339 w 1905016"/>
              <a:gd name="connsiteY33" fmla="*/ 714375 h 1905000"/>
              <a:gd name="connsiteX34" fmla="*/ 1877633 w 1905016"/>
              <a:gd name="connsiteY34" fmla="*/ 740569 h 1905000"/>
              <a:gd name="connsiteX35" fmla="*/ 1905017 w 1905016"/>
              <a:gd name="connsiteY35" fmla="*/ 804863 h 1905000"/>
              <a:gd name="connsiteX36" fmla="*/ 1905017 w 1905016"/>
              <a:gd name="connsiteY36" fmla="*/ 1372791 h 1905000"/>
              <a:gd name="connsiteX37" fmla="*/ 1878823 w 1905016"/>
              <a:gd name="connsiteY37" fmla="*/ 1437084 h 1905000"/>
              <a:gd name="connsiteX38" fmla="*/ 1814530 w 1905016"/>
              <a:gd name="connsiteY38" fmla="*/ 1463278 h 1905000"/>
              <a:gd name="connsiteX39" fmla="*/ 1326373 w 1905016"/>
              <a:gd name="connsiteY39" fmla="*/ 1463278 h 1905000"/>
              <a:gd name="connsiteX40" fmla="*/ 1237076 w 1905016"/>
              <a:gd name="connsiteY40" fmla="*/ 1487091 h 1905000"/>
              <a:gd name="connsiteX41" fmla="*/ 1057292 w 1905016"/>
              <a:gd name="connsiteY41" fmla="*/ 1588294 h 1905000"/>
              <a:gd name="connsiteX42" fmla="*/ 1027526 w 1905016"/>
              <a:gd name="connsiteY42" fmla="*/ 1591866 h 1905000"/>
              <a:gd name="connsiteX43" fmla="*/ 1006095 w 1905016"/>
              <a:gd name="connsiteY43" fmla="*/ 1576388 h 1905000"/>
              <a:gd name="connsiteX44" fmla="*/ 1003714 w 1905016"/>
              <a:gd name="connsiteY44" fmla="*/ 1566863 h 1905000"/>
              <a:gd name="connsiteX45" fmla="*/ 998951 w 1905016"/>
              <a:gd name="connsiteY45" fmla="*/ 804863 h 1905000"/>
              <a:gd name="connsiteX46" fmla="*/ 1088244 w 1905016"/>
              <a:gd name="connsiteY46" fmla="*/ 714375 h 1905000"/>
              <a:gd name="connsiteX47" fmla="*/ 1088248 w 1905016"/>
              <a:gd name="connsiteY47" fmla="*/ 714375 h 1905000"/>
              <a:gd name="connsiteX48" fmla="*/ 1813339 w 1905016"/>
              <a:gd name="connsiteY48" fmla="*/ 714375 h 1905000"/>
              <a:gd name="connsiteX49" fmla="*/ 586995 w 1905016"/>
              <a:gd name="connsiteY49" fmla="*/ 952500 h 1905000"/>
              <a:gd name="connsiteX50" fmla="*/ 648908 w 1905016"/>
              <a:gd name="connsiteY50" fmla="*/ 979884 h 1905000"/>
              <a:gd name="connsiteX51" fmla="*/ 814405 w 1905016"/>
              <a:gd name="connsiteY51" fmla="*/ 1184672 h 1905000"/>
              <a:gd name="connsiteX52" fmla="*/ 879889 w 1905016"/>
              <a:gd name="connsiteY52" fmla="*/ 1107281 h 1905000"/>
              <a:gd name="connsiteX53" fmla="*/ 883461 w 1905016"/>
              <a:gd name="connsiteY53" fmla="*/ 1584722 h 1905000"/>
              <a:gd name="connsiteX54" fmla="*/ 896558 w 1905016"/>
              <a:gd name="connsiteY54" fmla="*/ 1631156 h 1905000"/>
              <a:gd name="connsiteX55" fmla="*/ 909655 w 1905016"/>
              <a:gd name="connsiteY55" fmla="*/ 1649016 h 1905000"/>
              <a:gd name="connsiteX56" fmla="*/ 994189 w 1905016"/>
              <a:gd name="connsiteY56" fmla="*/ 1707356 h 1905000"/>
              <a:gd name="connsiteX57" fmla="*/ 1114442 w 1905016"/>
              <a:gd name="connsiteY57" fmla="*/ 1694259 h 1905000"/>
              <a:gd name="connsiteX58" fmla="*/ 1295417 w 1905016"/>
              <a:gd name="connsiteY58" fmla="*/ 1591866 h 1905000"/>
              <a:gd name="connsiteX59" fmla="*/ 1326373 w 1905016"/>
              <a:gd name="connsiteY59" fmla="*/ 1583531 h 1905000"/>
              <a:gd name="connsiteX60" fmla="*/ 1632364 w 1905016"/>
              <a:gd name="connsiteY60" fmla="*/ 1583531 h 1905000"/>
              <a:gd name="connsiteX61" fmla="*/ 1632364 w 1905016"/>
              <a:gd name="connsiteY61" fmla="*/ 1841897 h 1905000"/>
              <a:gd name="connsiteX62" fmla="*/ 1569261 w 1905016"/>
              <a:gd name="connsiteY62" fmla="*/ 1905000 h 1905000"/>
              <a:gd name="connsiteX63" fmla="*/ 75026 w 1905016"/>
              <a:gd name="connsiteY63" fmla="*/ 1905000 h 1905000"/>
              <a:gd name="connsiteX64" fmla="*/ 17 w 1905016"/>
              <a:gd name="connsiteY64" fmla="*/ 1840706 h 1905000"/>
              <a:gd name="connsiteX65" fmla="*/ 17 w 1905016"/>
              <a:gd name="connsiteY65" fmla="*/ 1432322 h 1905000"/>
              <a:gd name="connsiteX66" fmla="*/ 553658 w 1905016"/>
              <a:gd name="connsiteY66" fmla="*/ 952500 h 1905000"/>
              <a:gd name="connsiteX67" fmla="*/ 586995 w 1905016"/>
              <a:gd name="connsiteY67" fmla="*/ 9525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905016" h="1905000">
                <a:moveTo>
                  <a:pt x="816786" y="0"/>
                </a:moveTo>
                <a:cubicBezTo>
                  <a:pt x="1042330" y="-27"/>
                  <a:pt x="1225192" y="182791"/>
                  <a:pt x="1225219" y="408336"/>
                </a:cubicBezTo>
                <a:cubicBezTo>
                  <a:pt x="1225227" y="473379"/>
                  <a:pt x="1209698" y="537483"/>
                  <a:pt x="1179926" y="595313"/>
                </a:cubicBezTo>
                <a:lnTo>
                  <a:pt x="1088248" y="595313"/>
                </a:lnTo>
                <a:cubicBezTo>
                  <a:pt x="1032289" y="595313"/>
                  <a:pt x="979901" y="616744"/>
                  <a:pt x="940611" y="656034"/>
                </a:cubicBezTo>
                <a:cubicBezTo>
                  <a:pt x="900130" y="696516"/>
                  <a:pt x="878698" y="748903"/>
                  <a:pt x="878698" y="804863"/>
                </a:cubicBezTo>
                <a:lnTo>
                  <a:pt x="878698" y="810816"/>
                </a:lnTo>
                <a:cubicBezTo>
                  <a:pt x="858458" y="814388"/>
                  <a:pt x="837026" y="816769"/>
                  <a:pt x="816786" y="816769"/>
                </a:cubicBezTo>
                <a:cubicBezTo>
                  <a:pt x="591241" y="816769"/>
                  <a:pt x="408401" y="633929"/>
                  <a:pt x="408401" y="408384"/>
                </a:cubicBezTo>
                <a:cubicBezTo>
                  <a:pt x="408401" y="182166"/>
                  <a:pt x="590567" y="0"/>
                  <a:pt x="816786" y="0"/>
                </a:cubicBezTo>
                <a:close/>
                <a:moveTo>
                  <a:pt x="1638317" y="916781"/>
                </a:moveTo>
                <a:lnTo>
                  <a:pt x="1264461" y="916781"/>
                </a:lnTo>
                <a:cubicBezTo>
                  <a:pt x="1234695" y="916781"/>
                  <a:pt x="1210883" y="940594"/>
                  <a:pt x="1210883" y="970359"/>
                </a:cubicBezTo>
                <a:cubicBezTo>
                  <a:pt x="1210883" y="1000125"/>
                  <a:pt x="1234695" y="1023938"/>
                  <a:pt x="1264461" y="1023938"/>
                </a:cubicBezTo>
                <a:lnTo>
                  <a:pt x="1638317" y="1023938"/>
                </a:lnTo>
                <a:cubicBezTo>
                  <a:pt x="1652605" y="1023938"/>
                  <a:pt x="1665701" y="1017984"/>
                  <a:pt x="1676417" y="1008459"/>
                </a:cubicBezTo>
                <a:cubicBezTo>
                  <a:pt x="1687133" y="998934"/>
                  <a:pt x="1691895" y="984647"/>
                  <a:pt x="1691895" y="970359"/>
                </a:cubicBezTo>
                <a:cubicBezTo>
                  <a:pt x="1691204" y="941060"/>
                  <a:pt x="1667616" y="917472"/>
                  <a:pt x="1638317" y="916781"/>
                </a:cubicBezTo>
                <a:close/>
                <a:moveTo>
                  <a:pt x="1424005" y="1131094"/>
                </a:moveTo>
                <a:lnTo>
                  <a:pt x="1264461" y="1131094"/>
                </a:lnTo>
                <a:cubicBezTo>
                  <a:pt x="1234695" y="1131094"/>
                  <a:pt x="1210883" y="1154906"/>
                  <a:pt x="1210883" y="1184672"/>
                </a:cubicBezTo>
                <a:cubicBezTo>
                  <a:pt x="1210883" y="1214438"/>
                  <a:pt x="1234695" y="1238250"/>
                  <a:pt x="1264461" y="1238250"/>
                </a:cubicBezTo>
                <a:lnTo>
                  <a:pt x="1424005" y="1238250"/>
                </a:lnTo>
                <a:cubicBezTo>
                  <a:pt x="1453770" y="1238250"/>
                  <a:pt x="1477583" y="1214438"/>
                  <a:pt x="1477583" y="1184672"/>
                </a:cubicBezTo>
                <a:cubicBezTo>
                  <a:pt x="1477583" y="1154906"/>
                  <a:pt x="1453770" y="1131094"/>
                  <a:pt x="1424005" y="1131094"/>
                </a:cubicBezTo>
                <a:close/>
                <a:moveTo>
                  <a:pt x="478648" y="1382316"/>
                </a:moveTo>
                <a:lnTo>
                  <a:pt x="282195" y="1382316"/>
                </a:lnTo>
                <a:cubicBezTo>
                  <a:pt x="245286" y="1382316"/>
                  <a:pt x="216711" y="1412081"/>
                  <a:pt x="216711" y="1447800"/>
                </a:cubicBezTo>
                <a:cubicBezTo>
                  <a:pt x="216711" y="1484709"/>
                  <a:pt x="246476" y="1513284"/>
                  <a:pt x="282195" y="1513284"/>
                </a:cubicBezTo>
                <a:lnTo>
                  <a:pt x="478648" y="1513284"/>
                </a:lnTo>
                <a:cubicBezTo>
                  <a:pt x="514367" y="1513284"/>
                  <a:pt x="544133" y="1484709"/>
                  <a:pt x="544133" y="1447800"/>
                </a:cubicBezTo>
                <a:cubicBezTo>
                  <a:pt x="545066" y="1412567"/>
                  <a:pt x="517260" y="1383249"/>
                  <a:pt x="482027" y="1382316"/>
                </a:cubicBezTo>
                <a:cubicBezTo>
                  <a:pt x="480901" y="1382286"/>
                  <a:pt x="479774" y="1382286"/>
                  <a:pt x="478648" y="1382316"/>
                </a:cubicBezTo>
                <a:close/>
                <a:moveTo>
                  <a:pt x="1813339" y="714375"/>
                </a:moveTo>
                <a:cubicBezTo>
                  <a:pt x="1837151" y="714375"/>
                  <a:pt x="1860964" y="723900"/>
                  <a:pt x="1877633" y="740569"/>
                </a:cubicBezTo>
                <a:cubicBezTo>
                  <a:pt x="1895492" y="758428"/>
                  <a:pt x="1905017" y="781050"/>
                  <a:pt x="1905017" y="804863"/>
                </a:cubicBezTo>
                <a:lnTo>
                  <a:pt x="1905017" y="1372791"/>
                </a:lnTo>
                <a:cubicBezTo>
                  <a:pt x="1905017" y="1397794"/>
                  <a:pt x="1895492" y="1420416"/>
                  <a:pt x="1878823" y="1437084"/>
                </a:cubicBezTo>
                <a:cubicBezTo>
                  <a:pt x="1862155" y="1453753"/>
                  <a:pt x="1838342" y="1463278"/>
                  <a:pt x="1814530" y="1463278"/>
                </a:cubicBezTo>
                <a:lnTo>
                  <a:pt x="1326373" y="1463278"/>
                </a:lnTo>
                <a:cubicBezTo>
                  <a:pt x="1295417" y="1463278"/>
                  <a:pt x="1264461" y="1471613"/>
                  <a:pt x="1237076" y="1487091"/>
                </a:cubicBezTo>
                <a:lnTo>
                  <a:pt x="1057292" y="1588294"/>
                </a:lnTo>
                <a:cubicBezTo>
                  <a:pt x="1047767" y="1593056"/>
                  <a:pt x="1037051" y="1594247"/>
                  <a:pt x="1027526" y="1591866"/>
                </a:cubicBezTo>
                <a:cubicBezTo>
                  <a:pt x="1018487" y="1590033"/>
                  <a:pt x="1010677" y="1584392"/>
                  <a:pt x="1006095" y="1576388"/>
                </a:cubicBezTo>
                <a:lnTo>
                  <a:pt x="1003714" y="1566863"/>
                </a:lnTo>
                <a:lnTo>
                  <a:pt x="998951" y="804863"/>
                </a:lnTo>
                <a:cubicBezTo>
                  <a:pt x="998622" y="755218"/>
                  <a:pt x="1038599" y="714705"/>
                  <a:pt x="1088244" y="714375"/>
                </a:cubicBezTo>
                <a:cubicBezTo>
                  <a:pt x="1088246" y="714375"/>
                  <a:pt x="1088247" y="714375"/>
                  <a:pt x="1088248" y="714375"/>
                </a:cubicBezTo>
                <a:lnTo>
                  <a:pt x="1813339" y="714375"/>
                </a:lnTo>
                <a:close/>
                <a:moveTo>
                  <a:pt x="586995" y="952500"/>
                </a:moveTo>
                <a:cubicBezTo>
                  <a:pt x="611998" y="952500"/>
                  <a:pt x="634620" y="962025"/>
                  <a:pt x="648908" y="979884"/>
                </a:cubicBezTo>
                <a:lnTo>
                  <a:pt x="814405" y="1184672"/>
                </a:lnTo>
                <a:lnTo>
                  <a:pt x="879889" y="1107281"/>
                </a:lnTo>
                <a:lnTo>
                  <a:pt x="883461" y="1584722"/>
                </a:lnTo>
                <a:lnTo>
                  <a:pt x="896558" y="1631156"/>
                </a:lnTo>
                <a:lnTo>
                  <a:pt x="909655" y="1649016"/>
                </a:lnTo>
                <a:cubicBezTo>
                  <a:pt x="931086" y="1677591"/>
                  <a:pt x="959661" y="1697831"/>
                  <a:pt x="994189" y="1707356"/>
                </a:cubicBezTo>
                <a:cubicBezTo>
                  <a:pt x="1035861" y="1718072"/>
                  <a:pt x="1077533" y="1713309"/>
                  <a:pt x="1114442" y="1694259"/>
                </a:cubicBezTo>
                <a:lnTo>
                  <a:pt x="1295417" y="1591866"/>
                </a:lnTo>
                <a:cubicBezTo>
                  <a:pt x="1304942" y="1585913"/>
                  <a:pt x="1315658" y="1583531"/>
                  <a:pt x="1326373" y="1583531"/>
                </a:cubicBezTo>
                <a:lnTo>
                  <a:pt x="1632364" y="1583531"/>
                </a:lnTo>
                <a:lnTo>
                  <a:pt x="1632364" y="1841897"/>
                </a:lnTo>
                <a:cubicBezTo>
                  <a:pt x="1632364" y="1874044"/>
                  <a:pt x="1604980" y="1900238"/>
                  <a:pt x="1569261" y="1905000"/>
                </a:cubicBezTo>
                <a:lnTo>
                  <a:pt x="75026" y="1905000"/>
                </a:lnTo>
                <a:cubicBezTo>
                  <a:pt x="33355" y="1905000"/>
                  <a:pt x="17" y="1875234"/>
                  <a:pt x="17" y="1840706"/>
                </a:cubicBezTo>
                <a:lnTo>
                  <a:pt x="17" y="1432322"/>
                </a:lnTo>
                <a:cubicBezTo>
                  <a:pt x="-2364" y="1169194"/>
                  <a:pt x="245286" y="954881"/>
                  <a:pt x="553658" y="952500"/>
                </a:cubicBezTo>
                <a:lnTo>
                  <a:pt x="586995" y="9525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图形 238"/>
          <p:cNvSpPr>
            <a:spLocks noChangeAspect="1"/>
          </p:cNvSpPr>
          <p:nvPr/>
        </p:nvSpPr>
        <p:spPr>
          <a:xfrm>
            <a:off x="885208" y="5876367"/>
            <a:ext cx="360000" cy="360000"/>
          </a:xfrm>
          <a:custGeom>
            <a:avLst/>
            <a:gdLst>
              <a:gd name="connsiteX0" fmla="*/ 920750 w 1651000"/>
              <a:gd name="connsiteY0" fmla="*/ 444500 h 1651000"/>
              <a:gd name="connsiteX1" fmla="*/ 1589310 w 1651000"/>
              <a:gd name="connsiteY1" fmla="*/ 444500 h 1651000"/>
              <a:gd name="connsiteX2" fmla="*/ 1621063 w 1651000"/>
              <a:gd name="connsiteY2" fmla="*/ 412753 h 1651000"/>
              <a:gd name="connsiteX3" fmla="*/ 1615154 w 1651000"/>
              <a:gd name="connsiteY3" fmla="*/ 394303 h 1651000"/>
              <a:gd name="connsiteX4" fmla="*/ 1371473 w 1651000"/>
              <a:gd name="connsiteY4" fmla="*/ 53181 h 1651000"/>
              <a:gd name="connsiteX5" fmla="*/ 1268159 w 1651000"/>
              <a:gd name="connsiteY5" fmla="*/ 0 h 1651000"/>
              <a:gd name="connsiteX6" fmla="*/ 920750 w 1651000"/>
              <a:gd name="connsiteY6" fmla="*/ 0 h 1651000"/>
              <a:gd name="connsiteX7" fmla="*/ 889000 w 1651000"/>
              <a:gd name="connsiteY7" fmla="*/ 31750 h 1651000"/>
              <a:gd name="connsiteX8" fmla="*/ 889000 w 1651000"/>
              <a:gd name="connsiteY8" fmla="*/ 412750 h 1651000"/>
              <a:gd name="connsiteX9" fmla="*/ 920750 w 1651000"/>
              <a:gd name="connsiteY9" fmla="*/ 444500 h 1651000"/>
              <a:gd name="connsiteX10" fmla="*/ 61690 w 1651000"/>
              <a:gd name="connsiteY10" fmla="*/ 444500 h 1651000"/>
              <a:gd name="connsiteX11" fmla="*/ 730250 w 1651000"/>
              <a:gd name="connsiteY11" fmla="*/ 444500 h 1651000"/>
              <a:gd name="connsiteX12" fmla="*/ 762000 w 1651000"/>
              <a:gd name="connsiteY12" fmla="*/ 412750 h 1651000"/>
              <a:gd name="connsiteX13" fmla="*/ 762000 w 1651000"/>
              <a:gd name="connsiteY13" fmla="*/ 31750 h 1651000"/>
              <a:gd name="connsiteX14" fmla="*/ 730250 w 1651000"/>
              <a:gd name="connsiteY14" fmla="*/ 0 h 1651000"/>
              <a:gd name="connsiteX15" fmla="*/ 382841 w 1651000"/>
              <a:gd name="connsiteY15" fmla="*/ 0 h 1651000"/>
              <a:gd name="connsiteX16" fmla="*/ 279495 w 1651000"/>
              <a:gd name="connsiteY16" fmla="*/ 53181 h 1651000"/>
              <a:gd name="connsiteX17" fmla="*/ 35846 w 1651000"/>
              <a:gd name="connsiteY17" fmla="*/ 394303 h 1651000"/>
              <a:gd name="connsiteX18" fmla="*/ 43240 w 1651000"/>
              <a:gd name="connsiteY18" fmla="*/ 438591 h 1651000"/>
              <a:gd name="connsiteX19" fmla="*/ 61690 w 1651000"/>
              <a:gd name="connsiteY19" fmla="*/ 444500 h 1651000"/>
              <a:gd name="connsiteX20" fmla="*/ 1619250 w 1651000"/>
              <a:gd name="connsiteY20" fmla="*/ 571500 h 1651000"/>
              <a:gd name="connsiteX21" fmla="*/ 31750 w 1651000"/>
              <a:gd name="connsiteY21" fmla="*/ 571500 h 1651000"/>
              <a:gd name="connsiteX22" fmla="*/ 0 w 1651000"/>
              <a:gd name="connsiteY22" fmla="*/ 603250 h 1651000"/>
              <a:gd name="connsiteX23" fmla="*/ 0 w 1651000"/>
              <a:gd name="connsiteY23" fmla="*/ 1524000 h 1651000"/>
              <a:gd name="connsiteX24" fmla="*/ 127000 w 1651000"/>
              <a:gd name="connsiteY24" fmla="*/ 1651000 h 1651000"/>
              <a:gd name="connsiteX25" fmla="*/ 1524000 w 1651000"/>
              <a:gd name="connsiteY25" fmla="*/ 1651000 h 1651000"/>
              <a:gd name="connsiteX26" fmla="*/ 1651000 w 1651000"/>
              <a:gd name="connsiteY26" fmla="*/ 1524000 h 1651000"/>
              <a:gd name="connsiteX27" fmla="*/ 1651000 w 1651000"/>
              <a:gd name="connsiteY27" fmla="*/ 603250 h 1651000"/>
              <a:gd name="connsiteX28" fmla="*/ 1619250 w 1651000"/>
              <a:gd name="connsiteY28" fmla="*/ 571500 h 1651000"/>
              <a:gd name="connsiteX29" fmla="*/ 1124395 w 1651000"/>
              <a:gd name="connsiteY29" fmla="*/ 984695 h 1651000"/>
              <a:gd name="connsiteX30" fmla="*/ 794195 w 1651000"/>
              <a:gd name="connsiteY30" fmla="*/ 1314895 h 1651000"/>
              <a:gd name="connsiteX31" fmla="*/ 749300 w 1651000"/>
              <a:gd name="connsiteY31" fmla="*/ 1333500 h 1651000"/>
              <a:gd name="connsiteX32" fmla="*/ 704406 w 1651000"/>
              <a:gd name="connsiteY32" fmla="*/ 1314895 h 1651000"/>
              <a:gd name="connsiteX33" fmla="*/ 526606 w 1651000"/>
              <a:gd name="connsiteY33" fmla="*/ 1137095 h 1651000"/>
              <a:gd name="connsiteX34" fmla="*/ 525045 w 1651000"/>
              <a:gd name="connsiteY34" fmla="*/ 1047306 h 1651000"/>
              <a:gd name="connsiteX35" fmla="*/ 614834 w 1651000"/>
              <a:gd name="connsiteY35" fmla="*/ 1045745 h 1651000"/>
              <a:gd name="connsiteX36" fmla="*/ 616395 w 1651000"/>
              <a:gd name="connsiteY36" fmla="*/ 1047306 h 1651000"/>
              <a:gd name="connsiteX37" fmla="*/ 749300 w 1651000"/>
              <a:gd name="connsiteY37" fmla="*/ 1180211 h 1651000"/>
              <a:gd name="connsiteX38" fmla="*/ 1034606 w 1651000"/>
              <a:gd name="connsiteY38" fmla="*/ 894906 h 1651000"/>
              <a:gd name="connsiteX39" fmla="*/ 1124395 w 1651000"/>
              <a:gd name="connsiteY39" fmla="*/ 893345 h 1651000"/>
              <a:gd name="connsiteX40" fmla="*/ 1125955 w 1651000"/>
              <a:gd name="connsiteY40" fmla="*/ 983134 h 1651000"/>
              <a:gd name="connsiteX41" fmla="*/ 1124395 w 1651000"/>
              <a:gd name="connsiteY41" fmla="*/ 984695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651000" h="1651000">
                <a:moveTo>
                  <a:pt x="920750" y="444500"/>
                </a:moveTo>
                <a:lnTo>
                  <a:pt x="1589310" y="444500"/>
                </a:lnTo>
                <a:cubicBezTo>
                  <a:pt x="1606845" y="444502"/>
                  <a:pt x="1621061" y="430288"/>
                  <a:pt x="1621063" y="412753"/>
                </a:cubicBezTo>
                <a:cubicBezTo>
                  <a:pt x="1621064" y="406138"/>
                  <a:pt x="1618998" y="399687"/>
                  <a:pt x="1615154" y="394303"/>
                </a:cubicBezTo>
                <a:lnTo>
                  <a:pt x="1371473" y="53181"/>
                </a:lnTo>
                <a:cubicBezTo>
                  <a:pt x="1347643" y="19811"/>
                  <a:pt x="1309164" y="4"/>
                  <a:pt x="1268159" y="0"/>
                </a:cubicBezTo>
                <a:lnTo>
                  <a:pt x="920750" y="0"/>
                </a:lnTo>
                <a:cubicBezTo>
                  <a:pt x="903215" y="0"/>
                  <a:pt x="889000" y="14215"/>
                  <a:pt x="889000" y="31750"/>
                </a:cubicBezTo>
                <a:lnTo>
                  <a:pt x="889000" y="412750"/>
                </a:lnTo>
                <a:cubicBezTo>
                  <a:pt x="889000" y="430285"/>
                  <a:pt x="903215" y="444500"/>
                  <a:pt x="920750" y="444500"/>
                </a:cubicBezTo>
                <a:close/>
                <a:moveTo>
                  <a:pt x="61690" y="444500"/>
                </a:moveTo>
                <a:lnTo>
                  <a:pt x="730250" y="444500"/>
                </a:lnTo>
                <a:cubicBezTo>
                  <a:pt x="747785" y="444500"/>
                  <a:pt x="762000" y="430285"/>
                  <a:pt x="762000" y="412750"/>
                </a:cubicBezTo>
                <a:lnTo>
                  <a:pt x="762000" y="31750"/>
                </a:lnTo>
                <a:cubicBezTo>
                  <a:pt x="762000" y="14215"/>
                  <a:pt x="747785" y="0"/>
                  <a:pt x="730250" y="0"/>
                </a:cubicBezTo>
                <a:lnTo>
                  <a:pt x="382841" y="0"/>
                </a:lnTo>
                <a:cubicBezTo>
                  <a:pt x="341826" y="-1"/>
                  <a:pt x="303335" y="19806"/>
                  <a:pt x="279495" y="53181"/>
                </a:cubicBezTo>
                <a:lnTo>
                  <a:pt x="35846" y="394303"/>
                </a:lnTo>
                <a:cubicBezTo>
                  <a:pt x="25658" y="408575"/>
                  <a:pt x="28969" y="428404"/>
                  <a:pt x="43240" y="438591"/>
                </a:cubicBezTo>
                <a:cubicBezTo>
                  <a:pt x="48625" y="442435"/>
                  <a:pt x="55075" y="444501"/>
                  <a:pt x="61690" y="444500"/>
                </a:cubicBezTo>
                <a:close/>
                <a:moveTo>
                  <a:pt x="1619250" y="571500"/>
                </a:moveTo>
                <a:lnTo>
                  <a:pt x="31750" y="571500"/>
                </a:lnTo>
                <a:cubicBezTo>
                  <a:pt x="14215" y="571500"/>
                  <a:pt x="0" y="585715"/>
                  <a:pt x="0" y="603250"/>
                </a:cubicBezTo>
                <a:lnTo>
                  <a:pt x="0" y="1524000"/>
                </a:lnTo>
                <a:cubicBezTo>
                  <a:pt x="0" y="1594140"/>
                  <a:pt x="56860" y="1651000"/>
                  <a:pt x="127000" y="1651000"/>
                </a:cubicBezTo>
                <a:lnTo>
                  <a:pt x="1524000" y="1651000"/>
                </a:lnTo>
                <a:cubicBezTo>
                  <a:pt x="1594140" y="1651000"/>
                  <a:pt x="1651000" y="1594140"/>
                  <a:pt x="1651000" y="1524000"/>
                </a:cubicBezTo>
                <a:lnTo>
                  <a:pt x="1651000" y="603250"/>
                </a:lnTo>
                <a:cubicBezTo>
                  <a:pt x="1651000" y="585715"/>
                  <a:pt x="1636785" y="571500"/>
                  <a:pt x="1619250" y="571500"/>
                </a:cubicBezTo>
                <a:close/>
                <a:moveTo>
                  <a:pt x="1124395" y="984695"/>
                </a:moveTo>
                <a:lnTo>
                  <a:pt x="794195" y="1314895"/>
                </a:lnTo>
                <a:cubicBezTo>
                  <a:pt x="781812" y="1327309"/>
                  <a:pt x="765556" y="1333500"/>
                  <a:pt x="749300" y="1333500"/>
                </a:cubicBezTo>
                <a:cubicBezTo>
                  <a:pt x="733044" y="1333500"/>
                  <a:pt x="716820" y="1327309"/>
                  <a:pt x="704406" y="1314895"/>
                </a:cubicBezTo>
                <a:lnTo>
                  <a:pt x="526606" y="1137095"/>
                </a:lnTo>
                <a:cubicBezTo>
                  <a:pt x="501380" y="1112731"/>
                  <a:pt x="500681" y="1072531"/>
                  <a:pt x="525045" y="1047306"/>
                </a:cubicBezTo>
                <a:cubicBezTo>
                  <a:pt x="549409" y="1022080"/>
                  <a:pt x="589609" y="1021381"/>
                  <a:pt x="614834" y="1045745"/>
                </a:cubicBezTo>
                <a:cubicBezTo>
                  <a:pt x="615363" y="1046256"/>
                  <a:pt x="615883" y="1046776"/>
                  <a:pt x="616395" y="1047306"/>
                </a:cubicBezTo>
                <a:lnTo>
                  <a:pt x="749300" y="1180211"/>
                </a:lnTo>
                <a:lnTo>
                  <a:pt x="1034606" y="894906"/>
                </a:lnTo>
                <a:cubicBezTo>
                  <a:pt x="1058969" y="869680"/>
                  <a:pt x="1099169" y="868981"/>
                  <a:pt x="1124395" y="893345"/>
                </a:cubicBezTo>
                <a:cubicBezTo>
                  <a:pt x="1149620" y="917709"/>
                  <a:pt x="1150319" y="957908"/>
                  <a:pt x="1125955" y="983134"/>
                </a:cubicBezTo>
                <a:cubicBezTo>
                  <a:pt x="1125444" y="983663"/>
                  <a:pt x="1124924" y="984183"/>
                  <a:pt x="1124395" y="9846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392128" y="1016391"/>
            <a:ext cx="1610402" cy="58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Z-score 检测技能涌现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反查岗位画像自动生成定义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206 个新兴候选岗位实测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8055430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首席卡车</a:t>
            </a:r>
          </a:p>
        </p:txBody>
      </p:sp>
      <p:sp>
        <p:nvSpPr>
          <p:cNvPr id="264" name="文本框 263"/>
          <p:cNvSpPr txBox="1"/>
          <p:nvPr/>
        </p:nvSpPr>
        <p:spPr>
          <a:xfrm>
            <a:off x="8097108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自动驾驶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74" name="矩形 273"/>
          <p:cNvSpPr/>
          <p:nvPr/>
        </p:nvSpPr>
        <p:spPr>
          <a:xfrm>
            <a:off x="8002530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007097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数据科学家</a:t>
            </a:r>
          </a:p>
        </p:txBody>
      </p:sp>
      <p:sp>
        <p:nvSpPr>
          <p:cNvPr id="267" name="TextBox 263+"/>
          <p:cNvSpPr txBox="1"/>
          <p:nvPr/>
        </p:nvSpPr>
        <p:spPr>
          <a:xfrm>
            <a:off x="9048775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MLOps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77" name="Rectangle 273+"/>
          <p:cNvSpPr/>
          <p:nvPr/>
        </p:nvSpPr>
        <p:spPr>
          <a:xfrm>
            <a:off x="8965419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975597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咨询顾问</a:t>
            </a:r>
          </a:p>
        </p:txBody>
      </p:sp>
      <p:sp>
        <p:nvSpPr>
          <p:cNvPr id="270" name="TextBox 263++"/>
          <p:cNvSpPr txBox="1"/>
          <p:nvPr/>
        </p:nvSpPr>
        <p:spPr>
          <a:xfrm>
            <a:off x="10077387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AI 治理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80" name="Rectangle 273++"/>
          <p:cNvSpPr/>
          <p:nvPr/>
        </p:nvSpPr>
        <p:spPr>
          <a:xfrm>
            <a:off x="9928308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0938486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岗位定义</a:t>
            </a:r>
          </a:p>
        </p:txBody>
      </p:sp>
      <p:sp>
        <p:nvSpPr>
          <p:cNvPr id="272" name="TextBox 263+++"/>
          <p:cNvSpPr txBox="1"/>
          <p:nvPr/>
        </p:nvSpPr>
        <p:spPr>
          <a:xfrm>
            <a:off x="11040276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自动生成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81" name="Rectangle 273+++"/>
          <p:cNvSpPr/>
          <p:nvPr/>
        </p:nvSpPr>
        <p:spPr>
          <a:xfrm>
            <a:off x="10891197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8" name="箭头: 右 287"/>
          <p:cNvSpPr/>
          <p:nvPr/>
        </p:nvSpPr>
        <p:spPr>
          <a:xfrm rot="5400000">
            <a:off x="5618614" y="2210565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585490" y="1959434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31.25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606329" y="2372478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Python z 值</a:t>
            </a:r>
          </a:p>
        </p:txBody>
      </p:sp>
      <p:sp>
        <p:nvSpPr>
          <p:cNvPr id="295" name="Right Arrow 287+"/>
          <p:cNvSpPr/>
          <p:nvPr/>
        </p:nvSpPr>
        <p:spPr>
          <a:xfrm rot="5400000">
            <a:off x="5618614" y="335515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6" name="TextBox 289+"/>
          <p:cNvSpPr txBox="1"/>
          <p:nvPr/>
        </p:nvSpPr>
        <p:spPr>
          <a:xfrm>
            <a:off x="6585490" y="3124236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5.0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7" name="TextBox 291+"/>
          <p:cNvSpPr txBox="1"/>
          <p:nvPr/>
        </p:nvSpPr>
        <p:spPr>
          <a:xfrm>
            <a:off x="6606329" y="3537280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K8s z 值</a:t>
            </a:r>
          </a:p>
        </p:txBody>
      </p:sp>
      <p:sp>
        <p:nvSpPr>
          <p:cNvPr id="299" name="文本框 298"/>
          <p:cNvSpPr txBox="1"/>
          <p:nvPr/>
        </p:nvSpPr>
        <p:spPr>
          <a:xfrm>
            <a:off x="7960168" y="3240648"/>
            <a:ext cx="33631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候选岗位：首席自主卡车工程师、Applied Data Scientist/ML Engineer、高级咨询顾问（AI 治理）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cxnSp>
        <p:nvCxnSpPr>
          <p:cNvPr id="301" name="直接连接符 300"/>
          <p:cNvCxnSpPr>
            <a:stCxn id="44" idx="5"/>
          </p:cNvCxnSpPr>
          <p:nvPr/>
        </p:nvCxnSpPr>
        <p:spPr>
          <a:xfrm>
            <a:off x="6122042" y="1699493"/>
            <a:ext cx="5624871" cy="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0+"/>
          <p:cNvCxnSpPr/>
          <p:nvPr/>
        </p:nvCxnSpPr>
        <p:spPr>
          <a:xfrm>
            <a:off x="5797088" y="2834603"/>
            <a:ext cx="595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0++"/>
          <p:cNvCxnSpPr/>
          <p:nvPr/>
        </p:nvCxnSpPr>
        <p:spPr>
          <a:xfrm>
            <a:off x="5532769" y="3972044"/>
            <a:ext cx="62746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0+++"/>
          <p:cNvCxnSpPr/>
          <p:nvPr/>
        </p:nvCxnSpPr>
        <p:spPr>
          <a:xfrm>
            <a:off x="5388474" y="5137446"/>
            <a:ext cx="636061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文本框 308"/>
          <p:cNvSpPr txBox="1"/>
          <p:nvPr/>
        </p:nvSpPr>
        <p:spPr>
          <a:xfrm>
            <a:off x="8187803" y="2927805"/>
            <a:ext cx="341119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流程闭环：涌现 → 画像 → 定义</a:t>
            </a:r>
          </a:p>
        </p:txBody>
      </p:sp>
      <p:sp>
        <p:nvSpPr>
          <p:cNvPr id="311" name="文本框 310"/>
          <p:cNvSpPr txBox="1"/>
          <p:nvPr/>
        </p:nvSpPr>
        <p:spPr>
          <a:xfrm>
            <a:off x="8300591" y="346640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Top 候选</a:t>
            </a:r>
          </a:p>
        </p:txBody>
      </p:sp>
      <p:sp>
        <p:nvSpPr>
          <p:cNvPr id="313" name="文本框 312"/>
          <p:cNvSpPr txBox="1"/>
          <p:nvPr/>
        </p:nvSpPr>
        <p:spPr>
          <a:xfrm>
            <a:off x="7960168" y="3711276"/>
            <a:ext cx="3462486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首席自主卡车工程师（自动驾驶 · 车路协同）</a:t>
            </a:r>
          </a:p>
        </p:txBody>
      </p:sp>
      <p:sp>
        <p:nvSpPr>
          <p:cNvPr id="314" name="Right Arrow 287++"/>
          <p:cNvSpPr/>
          <p:nvPr/>
        </p:nvSpPr>
        <p:spPr>
          <a:xfrm rot="5400000">
            <a:off x="5618614" y="450512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5" name="TextBox 291++"/>
          <p:cNvSpPr txBox="1"/>
          <p:nvPr/>
        </p:nvSpPr>
        <p:spPr>
          <a:xfrm>
            <a:off x="6606329" y="4674721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来源支撑</a:t>
            </a:r>
          </a:p>
        </p:txBody>
      </p:sp>
      <p:sp>
        <p:nvSpPr>
          <p:cNvPr id="316" name="TextBox 289++"/>
          <p:cNvSpPr txBox="1"/>
          <p:nvPr/>
        </p:nvSpPr>
        <p:spPr>
          <a:xfrm>
            <a:off x="6585490" y="4261677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8300591" y="4054646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数据源</a:t>
            </a:r>
          </a:p>
        </p:txBody>
      </p:sp>
      <p:sp>
        <p:nvSpPr>
          <p:cNvPr id="320" name="文本框 319"/>
          <p:cNvSpPr txBox="1"/>
          <p:nvPr/>
        </p:nvSpPr>
        <p:spPr>
          <a:xfrm>
            <a:off x="7877618" y="4322659"/>
            <a:ext cx="3917739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Python 在 12 个数据源同时涌现（z=31.25），Kubernetes z=5.0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22" name="文本框 321"/>
          <p:cNvSpPr txBox="1"/>
          <p:nvPr/>
        </p:nvSpPr>
        <p:spPr>
          <a:xfrm>
            <a:off x="8299474" y="458406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价值</a:t>
            </a:r>
          </a:p>
        </p:txBody>
      </p:sp>
      <p:sp>
        <p:nvSpPr>
          <p:cNvPr id="324" name="文本框 323"/>
          <p:cNvSpPr txBox="1"/>
          <p:nvPr/>
        </p:nvSpPr>
        <p:spPr>
          <a:xfrm>
            <a:off x="7960168" y="4841578"/>
            <a:ext cx="3844001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从技术爆发到岗位定义的全自动闭环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25" name="Right Arrow 287+++"/>
          <p:cNvSpPr/>
          <p:nvPr/>
        </p:nvSpPr>
        <p:spPr>
          <a:xfrm rot="5400000">
            <a:off x="5618614" y="5808798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6" name="TextBox 289+++"/>
          <p:cNvSpPr txBox="1"/>
          <p:nvPr/>
        </p:nvSpPr>
        <p:spPr>
          <a:xfrm>
            <a:off x="6585490" y="5520852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0.92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7" name="TextBox 291+++"/>
          <p:cNvSpPr txBox="1"/>
          <p:nvPr/>
        </p:nvSpPr>
        <p:spPr>
          <a:xfrm>
            <a:off x="6606329" y="593389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信任分</a:t>
            </a:r>
          </a:p>
        </p:txBody>
      </p:sp>
      <p:sp>
        <p:nvSpPr>
          <p:cNvPr id="328" name="文本框 327"/>
          <p:cNvSpPr txBox="1"/>
          <p:nvPr/>
        </p:nvSpPr>
        <p:spPr>
          <a:xfrm>
            <a:off x="7966518" y="1961303"/>
            <a:ext cx="2055050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新增技能经四重门禁校验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966518" y="2205373"/>
            <a:ext cx="2991203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LLM 交叉验证 + 技能词典双重校验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30" name="文本框 329"/>
          <p:cNvSpPr txBox="1"/>
          <p:nvPr/>
        </p:nvSpPr>
        <p:spPr>
          <a:xfrm>
            <a:off x="7966518" y="2449442"/>
            <a:ext cx="1519647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杜绝幻觉入图</a:t>
            </a:r>
          </a:p>
        </p:txBody>
      </p:sp>
      <p:graphicFrame>
        <p:nvGraphicFramePr>
          <p:cNvPr id="333" name="图表 332"/>
          <p:cNvGraphicFramePr/>
          <p:nvPr/>
        </p:nvGraphicFramePr>
        <p:xfrm>
          <a:off x="7865015" y="5191299"/>
          <a:ext cx="3667568" cy="99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5" name="文本框 334"/>
          <p:cNvSpPr txBox="1"/>
          <p:nvPr/>
        </p:nvSpPr>
        <p:spPr>
          <a:xfrm>
            <a:off x="7960168" y="6049279"/>
            <a:ext cx="40883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ratio=1.0 的候选岗位已具备完整技能画像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自动生成岗位定义与能力模型</a:t>
            </a:r>
          </a:p>
        </p:txBody>
      </p:sp>
      <p:sp>
        <p:nvSpPr>
          <p:cNvPr id="344" name="图形 342"/>
          <p:cNvSpPr>
            <a:spLocks noChangeAspect="1"/>
          </p:cNvSpPr>
          <p:nvPr/>
        </p:nvSpPr>
        <p:spPr>
          <a:xfrm>
            <a:off x="7971108" y="4565834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5" name="图形 342+"/>
          <p:cNvSpPr>
            <a:spLocks noChangeAspect="1"/>
          </p:cNvSpPr>
          <p:nvPr/>
        </p:nvSpPr>
        <p:spPr>
          <a:xfrm>
            <a:off x="7971108" y="3448177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8" name="图形 346"/>
          <p:cNvSpPr>
            <a:spLocks noChangeAspect="1"/>
          </p:cNvSpPr>
          <p:nvPr/>
        </p:nvSpPr>
        <p:spPr>
          <a:xfrm>
            <a:off x="7953042" y="2909527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9" name="图形 346+"/>
          <p:cNvSpPr>
            <a:spLocks noChangeAspect="1"/>
          </p:cNvSpPr>
          <p:nvPr/>
        </p:nvSpPr>
        <p:spPr>
          <a:xfrm>
            <a:off x="7953042" y="4036368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2129065"/>
            <a:ext cx="6440487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13594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岗位全景图谱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核心功能三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91841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2913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8+"/>
          <p:cNvSpPr/>
          <p:nvPr/>
        </p:nvSpPr>
        <p:spPr>
          <a:xfrm>
            <a:off x="3364997" y="879250"/>
            <a:ext cx="2539923" cy="1046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8++"/>
          <p:cNvSpPr/>
          <p:nvPr/>
        </p:nvSpPr>
        <p:spPr>
          <a:xfrm>
            <a:off x="6287081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Rectangle 18+++"/>
          <p:cNvSpPr/>
          <p:nvPr/>
        </p:nvSpPr>
        <p:spPr>
          <a:xfrm>
            <a:off x="9209165" y="879250"/>
            <a:ext cx="2539923" cy="10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5983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独立岗位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5983" y="1270112"/>
            <a:ext cx="124072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465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5983" y="1609785"/>
            <a:ext cx="1221401" cy="215444"/>
            <a:chOff x="655983" y="1708519"/>
            <a:chExt cx="1221401" cy="215444"/>
          </a:xfrm>
        </p:grpSpPr>
        <p:sp>
          <p:nvSpPr>
            <p:cNvPr id="19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图谱技能</a:t>
              </a:r>
            </a:p>
          </p:txBody>
        </p:sp>
        <p:sp>
          <p:nvSpPr>
            <p:cNvPr id="20" name="TextBox 23++"/>
            <p:cNvSpPr txBox="1"/>
            <p:nvPr/>
          </p:nvSpPr>
          <p:spPr>
            <a:xfrm>
              <a:off x="1117739" y="1708519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1275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等腰三角形 20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图形 31"/>
          <p:cNvSpPr/>
          <p:nvPr/>
        </p:nvSpPr>
        <p:spPr>
          <a:xfrm>
            <a:off x="2220270" y="1029731"/>
            <a:ext cx="637230" cy="686294"/>
          </a:xfrm>
          <a:custGeom>
            <a:avLst/>
            <a:gdLst>
              <a:gd name="connsiteX0" fmla="*/ 103837 w 1768814"/>
              <a:gd name="connsiteY0" fmla="*/ 211455 h 1905000"/>
              <a:gd name="connsiteX1" fmla="*/ 1456387 w 1768814"/>
              <a:gd name="connsiteY1" fmla="*/ 211455 h 1905000"/>
              <a:gd name="connsiteX2" fmla="*/ 1560209 w 1768814"/>
              <a:gd name="connsiteY2" fmla="*/ 317183 h 1905000"/>
              <a:gd name="connsiteX3" fmla="*/ 1560209 w 1768814"/>
              <a:gd name="connsiteY3" fmla="*/ 1799273 h 1905000"/>
              <a:gd name="connsiteX4" fmla="*/ 1456387 w 1768814"/>
              <a:gd name="connsiteY4" fmla="*/ 1905000 h 1905000"/>
              <a:gd name="connsiteX5" fmla="*/ 103837 w 1768814"/>
              <a:gd name="connsiteY5" fmla="*/ 1905000 h 1905000"/>
              <a:gd name="connsiteX6" fmla="*/ 14 w 1768814"/>
              <a:gd name="connsiteY6" fmla="*/ 1799273 h 1905000"/>
              <a:gd name="connsiteX7" fmla="*/ 14 w 1768814"/>
              <a:gd name="connsiteY7" fmla="*/ 317183 h 1905000"/>
              <a:gd name="connsiteX8" fmla="*/ 103837 w 1768814"/>
              <a:gd name="connsiteY8" fmla="*/ 211455 h 1905000"/>
              <a:gd name="connsiteX9" fmla="*/ 311482 w 1768814"/>
              <a:gd name="connsiteY9" fmla="*/ 1216343 h 1905000"/>
              <a:gd name="connsiteX10" fmla="*/ 311482 w 1768814"/>
              <a:gd name="connsiteY10" fmla="*/ 1533525 h 1905000"/>
              <a:gd name="connsiteX11" fmla="*/ 364822 w 1768814"/>
              <a:gd name="connsiteY11" fmla="*/ 1586865 h 1905000"/>
              <a:gd name="connsiteX12" fmla="*/ 415304 w 1768814"/>
              <a:gd name="connsiteY12" fmla="*/ 1536383 h 1905000"/>
              <a:gd name="connsiteX13" fmla="*/ 415304 w 1768814"/>
              <a:gd name="connsiteY13" fmla="*/ 1215390 h 1905000"/>
              <a:gd name="connsiteX14" fmla="*/ 363869 w 1768814"/>
              <a:gd name="connsiteY14" fmla="*/ 1163955 h 1905000"/>
              <a:gd name="connsiteX15" fmla="*/ 311482 w 1768814"/>
              <a:gd name="connsiteY15" fmla="*/ 1216343 h 1905000"/>
              <a:gd name="connsiteX16" fmla="*/ 727724 w 1768814"/>
              <a:gd name="connsiteY16" fmla="*/ 1323975 h 1905000"/>
              <a:gd name="connsiteX17" fmla="*/ 727724 w 1768814"/>
              <a:gd name="connsiteY17" fmla="*/ 1532573 h 1905000"/>
              <a:gd name="connsiteX18" fmla="*/ 782017 w 1768814"/>
              <a:gd name="connsiteY18" fmla="*/ 1586865 h 1905000"/>
              <a:gd name="connsiteX19" fmla="*/ 831547 w 1768814"/>
              <a:gd name="connsiteY19" fmla="*/ 1537335 h 1905000"/>
              <a:gd name="connsiteX20" fmla="*/ 831547 w 1768814"/>
              <a:gd name="connsiteY20" fmla="*/ 1319213 h 1905000"/>
              <a:gd name="connsiteX21" fmla="*/ 782017 w 1768814"/>
              <a:gd name="connsiteY21" fmla="*/ 1269683 h 1905000"/>
              <a:gd name="connsiteX22" fmla="*/ 727724 w 1768814"/>
              <a:gd name="connsiteY22" fmla="*/ 1323975 h 1905000"/>
              <a:gd name="connsiteX23" fmla="*/ 1143967 w 1768814"/>
              <a:gd name="connsiteY23" fmla="*/ 1006793 h 1905000"/>
              <a:gd name="connsiteX24" fmla="*/ 1143967 w 1768814"/>
              <a:gd name="connsiteY24" fmla="*/ 1531620 h 1905000"/>
              <a:gd name="connsiteX25" fmla="*/ 1200164 w 1768814"/>
              <a:gd name="connsiteY25" fmla="*/ 1587818 h 1905000"/>
              <a:gd name="connsiteX26" fmla="*/ 1247789 w 1768814"/>
              <a:gd name="connsiteY26" fmla="*/ 1540193 h 1905000"/>
              <a:gd name="connsiteX27" fmla="*/ 1247789 w 1768814"/>
              <a:gd name="connsiteY27" fmla="*/ 1002030 h 1905000"/>
              <a:gd name="connsiteX28" fmla="*/ 1198259 w 1768814"/>
              <a:gd name="connsiteY28" fmla="*/ 952500 h 1905000"/>
              <a:gd name="connsiteX29" fmla="*/ 1143967 w 1768814"/>
              <a:gd name="connsiteY29" fmla="*/ 1006793 h 1905000"/>
              <a:gd name="connsiteX30" fmla="*/ 802019 w 1768814"/>
              <a:gd name="connsiteY30" fmla="*/ 959168 h 1905000"/>
              <a:gd name="connsiteX31" fmla="*/ 1247789 w 1768814"/>
              <a:gd name="connsiteY31" fmla="*/ 690563 h 1905000"/>
              <a:gd name="connsiteX32" fmla="*/ 1264934 w 1768814"/>
              <a:gd name="connsiteY32" fmla="*/ 621983 h 1905000"/>
              <a:gd name="connsiteX33" fmla="*/ 1189687 w 1768814"/>
              <a:gd name="connsiteY33" fmla="*/ 602933 h 1905000"/>
              <a:gd name="connsiteX34" fmla="*/ 816307 w 1768814"/>
              <a:gd name="connsiteY34" fmla="*/ 828675 h 1905000"/>
              <a:gd name="connsiteX35" fmla="*/ 785827 w 1768814"/>
              <a:gd name="connsiteY35" fmla="*/ 824865 h 1905000"/>
              <a:gd name="connsiteX36" fmla="*/ 586754 w 1768814"/>
              <a:gd name="connsiteY36" fmla="*/ 618173 h 1905000"/>
              <a:gd name="connsiteX37" fmla="*/ 547702 w 1768814"/>
              <a:gd name="connsiteY37" fmla="*/ 614363 h 1905000"/>
              <a:gd name="connsiteX38" fmla="*/ 297194 w 1768814"/>
              <a:gd name="connsiteY38" fmla="*/ 782955 h 1905000"/>
              <a:gd name="connsiteX39" fmla="*/ 281954 w 1768814"/>
              <a:gd name="connsiteY39" fmla="*/ 860108 h 1905000"/>
              <a:gd name="connsiteX40" fmla="*/ 351487 w 1768814"/>
              <a:gd name="connsiteY40" fmla="*/ 874395 h 1905000"/>
              <a:gd name="connsiteX41" fmla="*/ 536272 w 1768814"/>
              <a:gd name="connsiteY41" fmla="*/ 748665 h 1905000"/>
              <a:gd name="connsiteX42" fmla="*/ 569609 w 1768814"/>
              <a:gd name="connsiteY42" fmla="*/ 752475 h 1905000"/>
              <a:gd name="connsiteX43" fmla="*/ 765824 w 1768814"/>
              <a:gd name="connsiteY43" fmla="*/ 956310 h 1905000"/>
              <a:gd name="connsiteX44" fmla="*/ 802019 w 1768814"/>
              <a:gd name="connsiteY44" fmla="*/ 959168 h 1905000"/>
              <a:gd name="connsiteX45" fmla="*/ 1716419 w 1768814"/>
              <a:gd name="connsiteY45" fmla="*/ 1692593 h 1905000"/>
              <a:gd name="connsiteX46" fmla="*/ 1664032 w 1768814"/>
              <a:gd name="connsiteY46" fmla="*/ 1640205 h 1905000"/>
              <a:gd name="connsiteX47" fmla="*/ 1664032 w 1768814"/>
              <a:gd name="connsiteY47" fmla="*/ 211455 h 1905000"/>
              <a:gd name="connsiteX48" fmla="*/ 1560209 w 1768814"/>
              <a:gd name="connsiteY48" fmla="*/ 105728 h 1905000"/>
              <a:gd name="connsiteX49" fmla="*/ 257189 w 1768814"/>
              <a:gd name="connsiteY49" fmla="*/ 105728 h 1905000"/>
              <a:gd name="connsiteX50" fmla="*/ 207659 w 1768814"/>
              <a:gd name="connsiteY50" fmla="*/ 56198 h 1905000"/>
              <a:gd name="connsiteX51" fmla="*/ 263857 w 1768814"/>
              <a:gd name="connsiteY51" fmla="*/ 0 h 1905000"/>
              <a:gd name="connsiteX52" fmla="*/ 1560209 w 1768814"/>
              <a:gd name="connsiteY52" fmla="*/ 0 h 1905000"/>
              <a:gd name="connsiteX53" fmla="*/ 1768807 w 1768814"/>
              <a:gd name="connsiteY53" fmla="*/ 211455 h 1905000"/>
              <a:gd name="connsiteX54" fmla="*/ 1768807 w 1768814"/>
              <a:gd name="connsiteY54" fmla="*/ 1641158 h 1905000"/>
              <a:gd name="connsiteX55" fmla="*/ 1716419 w 1768814"/>
              <a:gd name="connsiteY55" fmla="*/ 169259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8814" h="1905000">
                <a:moveTo>
                  <a:pt x="103837" y="211455"/>
                </a:moveTo>
                <a:lnTo>
                  <a:pt x="1456387" y="211455"/>
                </a:lnTo>
                <a:cubicBezTo>
                  <a:pt x="1514489" y="211455"/>
                  <a:pt x="1561162" y="259080"/>
                  <a:pt x="1560209" y="317183"/>
                </a:cubicBezTo>
                <a:lnTo>
                  <a:pt x="1560209" y="1799273"/>
                </a:lnTo>
                <a:cubicBezTo>
                  <a:pt x="1561162" y="1857375"/>
                  <a:pt x="1514489" y="1905000"/>
                  <a:pt x="1456387" y="1905000"/>
                </a:cubicBezTo>
                <a:lnTo>
                  <a:pt x="103837" y="1905000"/>
                </a:lnTo>
                <a:cubicBezTo>
                  <a:pt x="45734" y="1905000"/>
                  <a:pt x="-938" y="1857375"/>
                  <a:pt x="14" y="1799273"/>
                </a:cubicBezTo>
                <a:lnTo>
                  <a:pt x="14" y="317183"/>
                </a:lnTo>
                <a:cubicBezTo>
                  <a:pt x="-938" y="259080"/>
                  <a:pt x="45734" y="212408"/>
                  <a:pt x="103837" y="211455"/>
                </a:cubicBezTo>
                <a:close/>
                <a:moveTo>
                  <a:pt x="311482" y="1216343"/>
                </a:moveTo>
                <a:lnTo>
                  <a:pt x="311482" y="1533525"/>
                </a:lnTo>
                <a:cubicBezTo>
                  <a:pt x="311482" y="1563053"/>
                  <a:pt x="335294" y="1586865"/>
                  <a:pt x="364822" y="1586865"/>
                </a:cubicBezTo>
                <a:cubicBezTo>
                  <a:pt x="392444" y="1586865"/>
                  <a:pt x="415304" y="1564005"/>
                  <a:pt x="415304" y="1536383"/>
                </a:cubicBezTo>
                <a:lnTo>
                  <a:pt x="415304" y="1215390"/>
                </a:lnTo>
                <a:cubicBezTo>
                  <a:pt x="415304" y="1186815"/>
                  <a:pt x="392444" y="1163955"/>
                  <a:pt x="363869" y="1163955"/>
                </a:cubicBezTo>
                <a:cubicBezTo>
                  <a:pt x="335294" y="1163955"/>
                  <a:pt x="311482" y="1187768"/>
                  <a:pt x="311482" y="1216343"/>
                </a:cubicBezTo>
                <a:close/>
                <a:moveTo>
                  <a:pt x="727724" y="1323975"/>
                </a:moveTo>
                <a:lnTo>
                  <a:pt x="727724" y="1532573"/>
                </a:lnTo>
                <a:cubicBezTo>
                  <a:pt x="727724" y="1562100"/>
                  <a:pt x="751537" y="1586865"/>
                  <a:pt x="782017" y="1586865"/>
                </a:cubicBezTo>
                <a:cubicBezTo>
                  <a:pt x="809639" y="1586865"/>
                  <a:pt x="831547" y="1564958"/>
                  <a:pt x="831547" y="1537335"/>
                </a:cubicBezTo>
                <a:lnTo>
                  <a:pt x="831547" y="1319213"/>
                </a:lnTo>
                <a:cubicBezTo>
                  <a:pt x="831547" y="1291590"/>
                  <a:pt x="809639" y="1269683"/>
                  <a:pt x="782017" y="1269683"/>
                </a:cubicBezTo>
                <a:cubicBezTo>
                  <a:pt x="752489" y="1269683"/>
                  <a:pt x="727724" y="1294448"/>
                  <a:pt x="727724" y="1323975"/>
                </a:cubicBezTo>
                <a:close/>
                <a:moveTo>
                  <a:pt x="1143967" y="1006793"/>
                </a:moveTo>
                <a:lnTo>
                  <a:pt x="1143967" y="1531620"/>
                </a:lnTo>
                <a:cubicBezTo>
                  <a:pt x="1143967" y="1562100"/>
                  <a:pt x="1168732" y="1587818"/>
                  <a:pt x="1200164" y="1587818"/>
                </a:cubicBezTo>
                <a:cubicBezTo>
                  <a:pt x="1226834" y="1587818"/>
                  <a:pt x="1247789" y="1565910"/>
                  <a:pt x="1247789" y="1540193"/>
                </a:cubicBezTo>
                <a:lnTo>
                  <a:pt x="1247789" y="1002030"/>
                </a:lnTo>
                <a:cubicBezTo>
                  <a:pt x="1247789" y="974408"/>
                  <a:pt x="1225882" y="952500"/>
                  <a:pt x="1198259" y="952500"/>
                </a:cubicBezTo>
                <a:cubicBezTo>
                  <a:pt x="1168732" y="952500"/>
                  <a:pt x="1143967" y="977265"/>
                  <a:pt x="1143967" y="1006793"/>
                </a:cubicBezTo>
                <a:close/>
                <a:moveTo>
                  <a:pt x="802019" y="959168"/>
                </a:moveTo>
                <a:lnTo>
                  <a:pt x="1247789" y="690563"/>
                </a:lnTo>
                <a:cubicBezTo>
                  <a:pt x="1271602" y="676275"/>
                  <a:pt x="1279222" y="645795"/>
                  <a:pt x="1264934" y="621983"/>
                </a:cubicBezTo>
                <a:cubicBezTo>
                  <a:pt x="1249694" y="596265"/>
                  <a:pt x="1215404" y="587693"/>
                  <a:pt x="1189687" y="602933"/>
                </a:cubicBezTo>
                <a:lnTo>
                  <a:pt x="816307" y="828675"/>
                </a:lnTo>
                <a:cubicBezTo>
                  <a:pt x="806782" y="834390"/>
                  <a:pt x="793447" y="833438"/>
                  <a:pt x="785827" y="824865"/>
                </a:cubicBezTo>
                <a:lnTo>
                  <a:pt x="586754" y="618173"/>
                </a:lnTo>
                <a:cubicBezTo>
                  <a:pt x="576277" y="607695"/>
                  <a:pt x="560084" y="605790"/>
                  <a:pt x="547702" y="614363"/>
                </a:cubicBezTo>
                <a:lnTo>
                  <a:pt x="297194" y="782955"/>
                </a:lnTo>
                <a:cubicBezTo>
                  <a:pt x="271477" y="800100"/>
                  <a:pt x="264809" y="834390"/>
                  <a:pt x="281954" y="860108"/>
                </a:cubicBezTo>
                <a:cubicBezTo>
                  <a:pt x="297194" y="882968"/>
                  <a:pt x="328627" y="889635"/>
                  <a:pt x="351487" y="874395"/>
                </a:cubicBezTo>
                <a:lnTo>
                  <a:pt x="536272" y="748665"/>
                </a:lnTo>
                <a:cubicBezTo>
                  <a:pt x="546749" y="741998"/>
                  <a:pt x="560084" y="742950"/>
                  <a:pt x="569609" y="752475"/>
                </a:cubicBezTo>
                <a:lnTo>
                  <a:pt x="765824" y="956310"/>
                </a:lnTo>
                <a:cubicBezTo>
                  <a:pt x="775349" y="964883"/>
                  <a:pt x="790589" y="966788"/>
                  <a:pt x="802019" y="959168"/>
                </a:cubicBezTo>
                <a:close/>
                <a:moveTo>
                  <a:pt x="1716419" y="1692593"/>
                </a:moveTo>
                <a:cubicBezTo>
                  <a:pt x="1687844" y="1692593"/>
                  <a:pt x="1664032" y="1668780"/>
                  <a:pt x="1664032" y="1640205"/>
                </a:cubicBezTo>
                <a:lnTo>
                  <a:pt x="1664032" y="211455"/>
                </a:lnTo>
                <a:cubicBezTo>
                  <a:pt x="1664984" y="153353"/>
                  <a:pt x="1618312" y="105728"/>
                  <a:pt x="1560209" y="105728"/>
                </a:cubicBezTo>
                <a:lnTo>
                  <a:pt x="257189" y="105728"/>
                </a:lnTo>
                <a:cubicBezTo>
                  <a:pt x="229567" y="105728"/>
                  <a:pt x="207659" y="83820"/>
                  <a:pt x="207659" y="56198"/>
                </a:cubicBezTo>
                <a:cubicBezTo>
                  <a:pt x="207659" y="24765"/>
                  <a:pt x="232424" y="0"/>
                  <a:pt x="263857" y="0"/>
                </a:cubicBezTo>
                <a:lnTo>
                  <a:pt x="1560209" y="0"/>
                </a:lnTo>
                <a:cubicBezTo>
                  <a:pt x="1676414" y="953"/>
                  <a:pt x="1769759" y="95250"/>
                  <a:pt x="1768807" y="211455"/>
                </a:cubicBezTo>
                <a:lnTo>
                  <a:pt x="1768807" y="1641158"/>
                </a:lnTo>
                <a:cubicBezTo>
                  <a:pt x="1768807" y="1669733"/>
                  <a:pt x="1744994" y="1693545"/>
                  <a:pt x="1716419" y="169259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15260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图谱关系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615260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5" name="Group 29+"/>
          <p:cNvGrpSpPr/>
          <p:nvPr/>
        </p:nvGrpSpPr>
        <p:grpSpPr>
          <a:xfrm>
            <a:off x="3615260" y="1609785"/>
            <a:ext cx="1221401" cy="215444"/>
            <a:chOff x="655983" y="1708519"/>
            <a:chExt cx="1221401" cy="215444"/>
          </a:xfrm>
        </p:grpSpPr>
        <p:sp>
          <p:nvSpPr>
            <p:cNvPr id="26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岗位总量</a:t>
              </a:r>
            </a:p>
          </p:txBody>
        </p:sp>
        <p:sp>
          <p:nvSpPr>
            <p:cNvPr id="27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938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等腰三角形 27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图形 42"/>
          <p:cNvSpPr/>
          <p:nvPr/>
        </p:nvSpPr>
        <p:spPr>
          <a:xfrm>
            <a:off x="4974608" y="1007234"/>
            <a:ext cx="743804" cy="743226"/>
          </a:xfrm>
          <a:custGeom>
            <a:avLst/>
            <a:gdLst>
              <a:gd name="connsiteX0" fmla="*/ 1543800 w 1906394"/>
              <a:gd name="connsiteY0" fmla="*/ 1632505 h 1904911"/>
              <a:gd name="connsiteX1" fmla="*/ 1410412 w 1906394"/>
              <a:gd name="connsiteY1" fmla="*/ 1767803 h 1904911"/>
              <a:gd name="connsiteX2" fmla="*/ 1543800 w 1906394"/>
              <a:gd name="connsiteY2" fmla="*/ 1903078 h 1904911"/>
              <a:gd name="connsiteX3" fmla="*/ 1677242 w 1906394"/>
              <a:gd name="connsiteY3" fmla="*/ 1767803 h 1904911"/>
              <a:gd name="connsiteX4" fmla="*/ 1543800 w 1906394"/>
              <a:gd name="connsiteY4" fmla="*/ 1632505 h 1904911"/>
              <a:gd name="connsiteX5" fmla="*/ 605982 w 1906394"/>
              <a:gd name="connsiteY5" fmla="*/ 1630650 h 1904911"/>
              <a:gd name="connsiteX6" fmla="*/ 470831 w 1906394"/>
              <a:gd name="connsiteY6" fmla="*/ 1767803 h 1904911"/>
              <a:gd name="connsiteX7" fmla="*/ 605982 w 1906394"/>
              <a:gd name="connsiteY7" fmla="*/ 1904912 h 1904911"/>
              <a:gd name="connsiteX8" fmla="*/ 741220 w 1906394"/>
              <a:gd name="connsiteY8" fmla="*/ 1767803 h 1904911"/>
              <a:gd name="connsiteX9" fmla="*/ 605982 w 1906394"/>
              <a:gd name="connsiteY9" fmla="*/ 1630650 h 1904911"/>
              <a:gd name="connsiteX10" fmla="*/ 1852316 w 1906394"/>
              <a:gd name="connsiteY10" fmla="*/ 269192 h 1904911"/>
              <a:gd name="connsiteX11" fmla="*/ 1710785 w 1906394"/>
              <a:gd name="connsiteY11" fmla="*/ 204261 h 1904911"/>
              <a:gd name="connsiteX12" fmla="*/ 363670 w 1906394"/>
              <a:gd name="connsiteY12" fmla="*/ 204261 h 1904911"/>
              <a:gd name="connsiteX13" fmla="*/ 353164 w 1906394"/>
              <a:gd name="connsiteY13" fmla="*/ 205056 h 1904911"/>
              <a:gd name="connsiteX14" fmla="*/ 350017 w 1906394"/>
              <a:gd name="connsiteY14" fmla="*/ 186641 h 1904911"/>
              <a:gd name="connsiteX15" fmla="*/ 164427 w 1906394"/>
              <a:gd name="connsiteY15" fmla="*/ 0 h 1904911"/>
              <a:gd name="connsiteX16" fmla="*/ 78909 w 1906394"/>
              <a:gd name="connsiteY16" fmla="*/ 0 h 1904911"/>
              <a:gd name="connsiteX17" fmla="*/ 0 w 1906394"/>
              <a:gd name="connsiteY17" fmla="*/ 80043 h 1904911"/>
              <a:gd name="connsiteX18" fmla="*/ 78909 w 1906394"/>
              <a:gd name="connsiteY18" fmla="*/ 160130 h 1904911"/>
              <a:gd name="connsiteX19" fmla="*/ 164427 w 1906394"/>
              <a:gd name="connsiteY19" fmla="*/ 160130 h 1904911"/>
              <a:gd name="connsiteX20" fmla="*/ 215574 w 1906394"/>
              <a:gd name="connsiteY20" fmla="*/ 209629 h 1904911"/>
              <a:gd name="connsiteX21" fmla="*/ 280493 w 1906394"/>
              <a:gd name="connsiteY21" fmla="*/ 590512 h 1904911"/>
              <a:gd name="connsiteX22" fmla="*/ 394284 w 1906394"/>
              <a:gd name="connsiteY22" fmla="*/ 1403026 h 1904911"/>
              <a:gd name="connsiteX23" fmla="*/ 599548 w 1906394"/>
              <a:gd name="connsiteY23" fmla="*/ 1579118 h 1904911"/>
              <a:gd name="connsiteX24" fmla="*/ 609052 w 1906394"/>
              <a:gd name="connsiteY24" fmla="*/ 1579073 h 1904911"/>
              <a:gd name="connsiteX25" fmla="*/ 1689719 w 1906394"/>
              <a:gd name="connsiteY25" fmla="*/ 1579073 h 1904911"/>
              <a:gd name="connsiteX26" fmla="*/ 1768606 w 1906394"/>
              <a:gd name="connsiteY26" fmla="*/ 1510165 h 1904911"/>
              <a:gd name="connsiteX27" fmla="*/ 1689719 w 1906394"/>
              <a:gd name="connsiteY27" fmla="*/ 1441081 h 1904911"/>
              <a:gd name="connsiteX28" fmla="*/ 588661 w 1906394"/>
              <a:gd name="connsiteY28" fmla="*/ 1441081 h 1904911"/>
              <a:gd name="connsiteX29" fmla="*/ 529076 w 1906394"/>
              <a:gd name="connsiteY29" fmla="*/ 1382446 h 1904911"/>
              <a:gd name="connsiteX30" fmla="*/ 523077 w 1906394"/>
              <a:gd name="connsiteY30" fmla="*/ 1339552 h 1904911"/>
              <a:gd name="connsiteX31" fmla="*/ 525745 w 1906394"/>
              <a:gd name="connsiteY31" fmla="*/ 1328672 h 1904911"/>
              <a:gd name="connsiteX32" fmla="*/ 1662980 w 1906394"/>
              <a:gd name="connsiteY32" fmla="*/ 1241537 h 1904911"/>
              <a:gd name="connsiteX33" fmla="*/ 1741203 w 1906394"/>
              <a:gd name="connsiteY33" fmla="*/ 1196014 h 1904911"/>
              <a:gd name="connsiteX34" fmla="*/ 1798676 w 1906394"/>
              <a:gd name="connsiteY34" fmla="*/ 1065997 h 1904911"/>
              <a:gd name="connsiteX35" fmla="*/ 1904400 w 1906394"/>
              <a:gd name="connsiteY35" fmla="*/ 452762 h 1904911"/>
              <a:gd name="connsiteX36" fmla="*/ 1904487 w 1906394"/>
              <a:gd name="connsiteY36" fmla="*/ 452276 h 1904911"/>
              <a:gd name="connsiteX37" fmla="*/ 1852316 w 1906394"/>
              <a:gd name="connsiteY37" fmla="*/ 269192 h 190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06394" h="1904911">
                <a:moveTo>
                  <a:pt x="1543800" y="1632505"/>
                </a:moveTo>
                <a:cubicBezTo>
                  <a:pt x="1470247" y="1632505"/>
                  <a:pt x="1410412" y="1693195"/>
                  <a:pt x="1410412" y="1767803"/>
                </a:cubicBezTo>
                <a:cubicBezTo>
                  <a:pt x="1410412" y="1842389"/>
                  <a:pt x="1470247" y="1903078"/>
                  <a:pt x="1543800" y="1903078"/>
                </a:cubicBezTo>
                <a:cubicBezTo>
                  <a:pt x="1617385" y="1903078"/>
                  <a:pt x="1677242" y="1842389"/>
                  <a:pt x="1677242" y="1767803"/>
                </a:cubicBezTo>
                <a:cubicBezTo>
                  <a:pt x="1677242" y="1693195"/>
                  <a:pt x="1617385" y="1632505"/>
                  <a:pt x="1543800" y="1632505"/>
                </a:cubicBezTo>
                <a:close/>
                <a:moveTo>
                  <a:pt x="605982" y="1630650"/>
                </a:moveTo>
                <a:cubicBezTo>
                  <a:pt x="531471" y="1630650"/>
                  <a:pt x="470831" y="1692178"/>
                  <a:pt x="470831" y="1767803"/>
                </a:cubicBezTo>
                <a:cubicBezTo>
                  <a:pt x="470831" y="1843416"/>
                  <a:pt x="531460" y="1904912"/>
                  <a:pt x="605982" y="1904912"/>
                </a:cubicBezTo>
                <a:cubicBezTo>
                  <a:pt x="680558" y="1904912"/>
                  <a:pt x="741220" y="1843416"/>
                  <a:pt x="741220" y="1767803"/>
                </a:cubicBezTo>
                <a:cubicBezTo>
                  <a:pt x="741220" y="1692178"/>
                  <a:pt x="680558" y="1630650"/>
                  <a:pt x="605982" y="1630650"/>
                </a:cubicBezTo>
                <a:close/>
                <a:moveTo>
                  <a:pt x="1852316" y="269192"/>
                </a:moveTo>
                <a:cubicBezTo>
                  <a:pt x="1815757" y="227326"/>
                  <a:pt x="1765459" y="204261"/>
                  <a:pt x="1710785" y="204261"/>
                </a:cubicBezTo>
                <a:lnTo>
                  <a:pt x="363670" y="204261"/>
                </a:lnTo>
                <a:cubicBezTo>
                  <a:pt x="360154" y="204285"/>
                  <a:pt x="356644" y="204550"/>
                  <a:pt x="353164" y="205056"/>
                </a:cubicBezTo>
                <a:lnTo>
                  <a:pt x="350017" y="186641"/>
                </a:lnTo>
                <a:cubicBezTo>
                  <a:pt x="337236" y="81987"/>
                  <a:pt x="267962" y="0"/>
                  <a:pt x="164427" y="0"/>
                </a:cubicBezTo>
                <a:lnTo>
                  <a:pt x="78909" y="0"/>
                </a:lnTo>
                <a:cubicBezTo>
                  <a:pt x="35405" y="0"/>
                  <a:pt x="0" y="35901"/>
                  <a:pt x="0" y="80043"/>
                </a:cubicBezTo>
                <a:cubicBezTo>
                  <a:pt x="0" y="124207"/>
                  <a:pt x="35405" y="160130"/>
                  <a:pt x="78909" y="160130"/>
                </a:cubicBezTo>
                <a:lnTo>
                  <a:pt x="164427" y="160130"/>
                </a:lnTo>
                <a:cubicBezTo>
                  <a:pt x="188095" y="160130"/>
                  <a:pt x="212471" y="183725"/>
                  <a:pt x="215574" y="209629"/>
                </a:cubicBezTo>
                <a:lnTo>
                  <a:pt x="280493" y="590512"/>
                </a:lnTo>
                <a:lnTo>
                  <a:pt x="394284" y="1403026"/>
                </a:lnTo>
                <a:cubicBezTo>
                  <a:pt x="406826" y="1507967"/>
                  <a:pt x="496992" y="1579118"/>
                  <a:pt x="599548" y="1579118"/>
                </a:cubicBezTo>
                <a:lnTo>
                  <a:pt x="609052" y="1579073"/>
                </a:lnTo>
                <a:lnTo>
                  <a:pt x="1689719" y="1579073"/>
                </a:lnTo>
                <a:cubicBezTo>
                  <a:pt x="1733223" y="1579073"/>
                  <a:pt x="1768606" y="1554263"/>
                  <a:pt x="1768606" y="1510165"/>
                </a:cubicBezTo>
                <a:cubicBezTo>
                  <a:pt x="1768606" y="1465979"/>
                  <a:pt x="1733223" y="1441081"/>
                  <a:pt x="1689719" y="1441081"/>
                </a:cubicBezTo>
                <a:lnTo>
                  <a:pt x="588661" y="1441081"/>
                </a:lnTo>
                <a:cubicBezTo>
                  <a:pt x="566103" y="1441081"/>
                  <a:pt x="532016" y="1407466"/>
                  <a:pt x="529076" y="1382446"/>
                </a:cubicBezTo>
                <a:lnTo>
                  <a:pt x="523077" y="1339552"/>
                </a:lnTo>
                <a:lnTo>
                  <a:pt x="525745" y="1328672"/>
                </a:lnTo>
                <a:lnTo>
                  <a:pt x="1662980" y="1241537"/>
                </a:lnTo>
                <a:cubicBezTo>
                  <a:pt x="1662980" y="1241537"/>
                  <a:pt x="1705864" y="1236875"/>
                  <a:pt x="1741203" y="1196014"/>
                </a:cubicBezTo>
                <a:cubicBezTo>
                  <a:pt x="1779199" y="1161594"/>
                  <a:pt x="1792612" y="1115408"/>
                  <a:pt x="1798676" y="1065997"/>
                </a:cubicBezTo>
                <a:lnTo>
                  <a:pt x="1904400" y="452762"/>
                </a:lnTo>
                <a:lnTo>
                  <a:pt x="1904487" y="452276"/>
                </a:lnTo>
                <a:cubicBezTo>
                  <a:pt x="1912783" y="383357"/>
                  <a:pt x="1893774" y="316614"/>
                  <a:pt x="1852316" y="2691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50926" y="99199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视图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550926" y="1270112"/>
            <a:ext cx="7566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2" name="Group 29++"/>
          <p:cNvGrpSpPr/>
          <p:nvPr/>
        </p:nvGrpSpPr>
        <p:grpSpPr>
          <a:xfrm>
            <a:off x="6550926" y="1609785"/>
            <a:ext cx="1221401" cy="215444"/>
            <a:chOff x="655983" y="1708519"/>
            <a:chExt cx="1221401" cy="215444"/>
          </a:xfrm>
        </p:grpSpPr>
        <p:sp>
          <p:nvSpPr>
            <p:cNvPr id="33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四视图</a:t>
              </a:r>
            </a:p>
          </p:txBody>
        </p:sp>
        <p:sp>
          <p:nvSpPr>
            <p:cNvPr id="34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分析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等腰三角形 34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026023" y="1023995"/>
            <a:ext cx="674424" cy="757476"/>
            <a:chOff x="160972" y="63499"/>
            <a:chExt cx="1583055" cy="1777999"/>
          </a:xfrm>
        </p:grpSpPr>
        <p:sp>
          <p:nvSpPr>
            <p:cNvPr id="37" name="任意多边形: 形状 36"/>
            <p:cNvSpPr/>
            <p:nvPr/>
          </p:nvSpPr>
          <p:spPr>
            <a:xfrm>
              <a:off x="160972" y="63499"/>
              <a:ext cx="1532255" cy="1751329"/>
            </a:xfrm>
            <a:custGeom>
              <a:avLst/>
              <a:gdLst>
                <a:gd name="connsiteX0" fmla="*/ 1151255 w 1532255"/>
                <a:gd name="connsiteY0" fmla="*/ 1741488 h 1751329"/>
                <a:gd name="connsiteX1" fmla="*/ 1133475 w 1532255"/>
                <a:gd name="connsiteY1" fmla="*/ 1741488 h 1751329"/>
                <a:gd name="connsiteX2" fmla="*/ 953452 w 1532255"/>
                <a:gd name="connsiteY2" fmla="*/ 1568768 h 1751329"/>
                <a:gd name="connsiteX3" fmla="*/ 997267 w 1532255"/>
                <a:gd name="connsiteY3" fmla="*/ 1455103 h 1751329"/>
                <a:gd name="connsiteX4" fmla="*/ 953452 w 1532255"/>
                <a:gd name="connsiteY4" fmla="*/ 1340803 h 1751329"/>
                <a:gd name="connsiteX5" fmla="*/ 1013460 w 1532255"/>
                <a:gd name="connsiteY5" fmla="*/ 1210310 h 1751329"/>
                <a:gd name="connsiteX6" fmla="*/ 1009015 w 1532255"/>
                <a:gd name="connsiteY6" fmla="*/ 1205865 h 1751329"/>
                <a:gd name="connsiteX7" fmla="*/ 992505 w 1532255"/>
                <a:gd name="connsiteY7" fmla="*/ 969963 h 1751329"/>
                <a:gd name="connsiteX8" fmla="*/ 1234718 w 1532255"/>
                <a:gd name="connsiteY8" fmla="*/ 946310 h 1751329"/>
                <a:gd name="connsiteX9" fmla="*/ 1247140 w 1532255"/>
                <a:gd name="connsiteY9" fmla="*/ 957580 h 1751329"/>
                <a:gd name="connsiteX10" fmla="*/ 1323023 w 1532255"/>
                <a:gd name="connsiteY10" fmla="*/ 1033463 h 1751329"/>
                <a:gd name="connsiteX11" fmla="*/ 1398905 w 1532255"/>
                <a:gd name="connsiteY11" fmla="*/ 957580 h 1751329"/>
                <a:gd name="connsiteX12" fmla="*/ 1532255 w 1532255"/>
                <a:gd name="connsiteY12" fmla="*/ 908368 h 1751329"/>
                <a:gd name="connsiteX13" fmla="*/ 1532255 w 1532255"/>
                <a:gd name="connsiteY13" fmla="*/ 127000 h 1751329"/>
                <a:gd name="connsiteX14" fmla="*/ 1405255 w 1532255"/>
                <a:gd name="connsiteY14" fmla="*/ 0 h 1751329"/>
                <a:gd name="connsiteX15" fmla="*/ 127000 w 1532255"/>
                <a:gd name="connsiteY15" fmla="*/ 0 h 1751329"/>
                <a:gd name="connsiteX16" fmla="*/ 0 w 1532255"/>
                <a:gd name="connsiteY16" fmla="*/ 127000 h 1751329"/>
                <a:gd name="connsiteX17" fmla="*/ 0 w 1532255"/>
                <a:gd name="connsiteY17" fmla="*/ 1624330 h 1751329"/>
                <a:gd name="connsiteX18" fmla="*/ 127000 w 1532255"/>
                <a:gd name="connsiteY18" fmla="*/ 1751330 h 1751329"/>
                <a:gd name="connsiteX19" fmla="*/ 1151255 w 1532255"/>
                <a:gd name="connsiteY19" fmla="*/ 1751330 h 1751329"/>
                <a:gd name="connsiteX20" fmla="*/ 1151255 w 1532255"/>
                <a:gd name="connsiteY20" fmla="*/ 1741488 h 1751329"/>
                <a:gd name="connsiteX21" fmla="*/ 593408 w 1532255"/>
                <a:gd name="connsiteY21" fmla="*/ 1027430 h 1751329"/>
                <a:gd name="connsiteX22" fmla="*/ 526733 w 1532255"/>
                <a:gd name="connsiteY22" fmla="*/ 1001395 h 1751329"/>
                <a:gd name="connsiteX23" fmla="*/ 323850 w 1532255"/>
                <a:gd name="connsiteY23" fmla="*/ 816928 h 1751329"/>
                <a:gd name="connsiteX24" fmla="*/ 319723 w 1532255"/>
                <a:gd name="connsiteY24" fmla="*/ 728663 h 1751329"/>
                <a:gd name="connsiteX25" fmla="*/ 407987 w 1532255"/>
                <a:gd name="connsiteY25" fmla="*/ 724535 h 1751329"/>
                <a:gd name="connsiteX26" fmla="*/ 593090 w 1532255"/>
                <a:gd name="connsiteY26" fmla="*/ 892810 h 1751329"/>
                <a:gd name="connsiteX27" fmla="*/ 1123633 w 1532255"/>
                <a:gd name="connsiteY27" fmla="*/ 400685 h 1751329"/>
                <a:gd name="connsiteX28" fmla="*/ 1211898 w 1532255"/>
                <a:gd name="connsiteY28" fmla="*/ 403860 h 1751329"/>
                <a:gd name="connsiteX29" fmla="*/ 1208723 w 1532255"/>
                <a:gd name="connsiteY29" fmla="*/ 492125 h 1751329"/>
                <a:gd name="connsiteX30" fmla="*/ 660718 w 1532255"/>
                <a:gd name="connsiteY30" fmla="*/ 1000760 h 1751329"/>
                <a:gd name="connsiteX31" fmla="*/ 593408 w 1532255"/>
                <a:gd name="connsiteY31" fmla="*/ 1027430 h 17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2255" h="1751329">
                  <a:moveTo>
                    <a:pt x="1151255" y="1741488"/>
                  </a:moveTo>
                  <a:lnTo>
                    <a:pt x="1133475" y="1741488"/>
                  </a:lnTo>
                  <a:cubicBezTo>
                    <a:pt x="1038225" y="1741488"/>
                    <a:pt x="953135" y="1663700"/>
                    <a:pt x="953452" y="1568768"/>
                  </a:cubicBezTo>
                  <a:cubicBezTo>
                    <a:pt x="953770" y="1524953"/>
                    <a:pt x="970280" y="1485265"/>
                    <a:pt x="997267" y="1455103"/>
                  </a:cubicBezTo>
                  <a:cubicBezTo>
                    <a:pt x="969030" y="1423732"/>
                    <a:pt x="953420" y="1383010"/>
                    <a:pt x="953452" y="1340803"/>
                  </a:cubicBezTo>
                  <a:cubicBezTo>
                    <a:pt x="953452" y="1288733"/>
                    <a:pt x="976947" y="1242060"/>
                    <a:pt x="1013460" y="1210310"/>
                  </a:cubicBezTo>
                  <a:lnTo>
                    <a:pt x="1009015" y="1205865"/>
                  </a:lnTo>
                  <a:cubicBezTo>
                    <a:pt x="945515" y="1142365"/>
                    <a:pt x="935355" y="1039178"/>
                    <a:pt x="992505" y="969963"/>
                  </a:cubicBezTo>
                  <a:cubicBezTo>
                    <a:pt x="1052859" y="896546"/>
                    <a:pt x="1161301" y="885956"/>
                    <a:pt x="1234718" y="946310"/>
                  </a:cubicBezTo>
                  <a:cubicBezTo>
                    <a:pt x="1239039" y="949863"/>
                    <a:pt x="1243185" y="953624"/>
                    <a:pt x="1247140" y="957580"/>
                  </a:cubicBezTo>
                  <a:lnTo>
                    <a:pt x="1323023" y="1033463"/>
                  </a:lnTo>
                  <a:lnTo>
                    <a:pt x="1398905" y="957580"/>
                  </a:lnTo>
                  <a:cubicBezTo>
                    <a:pt x="1434072" y="922546"/>
                    <a:pt x="1482760" y="904578"/>
                    <a:pt x="1532255" y="908368"/>
                  </a:cubicBezTo>
                  <a:lnTo>
                    <a:pt x="1532255" y="127000"/>
                  </a:lnTo>
                  <a:cubicBezTo>
                    <a:pt x="1532255" y="56833"/>
                    <a:pt x="1475423" y="0"/>
                    <a:pt x="1405255" y="0"/>
                  </a:cubicBezTo>
                  <a:lnTo>
                    <a:pt x="127000" y="0"/>
                  </a:lnTo>
                  <a:cubicBezTo>
                    <a:pt x="56832" y="0"/>
                    <a:pt x="0" y="56832"/>
                    <a:pt x="0" y="127000"/>
                  </a:cubicBezTo>
                  <a:lnTo>
                    <a:pt x="0" y="1624330"/>
                  </a:lnTo>
                  <a:cubicBezTo>
                    <a:pt x="0" y="1694498"/>
                    <a:pt x="56832" y="1751330"/>
                    <a:pt x="127000" y="1751330"/>
                  </a:cubicBezTo>
                  <a:lnTo>
                    <a:pt x="1151255" y="1751330"/>
                  </a:lnTo>
                  <a:lnTo>
                    <a:pt x="1151255" y="1741488"/>
                  </a:lnTo>
                  <a:close/>
                  <a:moveTo>
                    <a:pt x="593408" y="1027430"/>
                  </a:moveTo>
                  <a:cubicBezTo>
                    <a:pt x="569595" y="1027430"/>
                    <a:pt x="545783" y="1018858"/>
                    <a:pt x="526733" y="1001395"/>
                  </a:cubicBezTo>
                  <a:lnTo>
                    <a:pt x="323850" y="816928"/>
                  </a:lnTo>
                  <a:cubicBezTo>
                    <a:pt x="298133" y="793750"/>
                    <a:pt x="296545" y="754063"/>
                    <a:pt x="319723" y="728663"/>
                  </a:cubicBezTo>
                  <a:cubicBezTo>
                    <a:pt x="342900" y="703263"/>
                    <a:pt x="382588" y="701358"/>
                    <a:pt x="407987" y="724535"/>
                  </a:cubicBezTo>
                  <a:lnTo>
                    <a:pt x="593090" y="892810"/>
                  </a:lnTo>
                  <a:lnTo>
                    <a:pt x="1123633" y="400685"/>
                  </a:lnTo>
                  <a:cubicBezTo>
                    <a:pt x="1149033" y="377190"/>
                    <a:pt x="1188720" y="378778"/>
                    <a:pt x="1211898" y="403860"/>
                  </a:cubicBezTo>
                  <a:cubicBezTo>
                    <a:pt x="1235393" y="429260"/>
                    <a:pt x="1233805" y="468630"/>
                    <a:pt x="1208723" y="492125"/>
                  </a:cubicBezTo>
                  <a:lnTo>
                    <a:pt x="660718" y="1000760"/>
                  </a:lnTo>
                  <a:cubicBezTo>
                    <a:pt x="641668" y="1018540"/>
                    <a:pt x="617538" y="1027430"/>
                    <a:pt x="593408" y="102743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223962" y="1092170"/>
              <a:ext cx="520065" cy="749328"/>
            </a:xfrm>
            <a:custGeom>
              <a:avLst/>
              <a:gdLst>
                <a:gd name="connsiteX0" fmla="*/ 457518 w 520065"/>
                <a:gd name="connsiteY0" fmla="*/ 354359 h 749328"/>
                <a:gd name="connsiteX1" fmla="*/ 520065 w 520065"/>
                <a:gd name="connsiteY1" fmla="*/ 291811 h 749328"/>
                <a:gd name="connsiteX2" fmla="*/ 457518 w 520065"/>
                <a:gd name="connsiteY2" fmla="*/ 229264 h 749328"/>
                <a:gd name="connsiteX3" fmla="*/ 378143 w 520065"/>
                <a:gd name="connsiteY3" fmla="*/ 229264 h 749328"/>
                <a:gd name="connsiteX4" fmla="*/ 501968 w 520065"/>
                <a:gd name="connsiteY4" fmla="*/ 105439 h 749328"/>
                <a:gd name="connsiteX5" fmla="*/ 498914 w 520065"/>
                <a:gd name="connsiteY5" fmla="*/ 16856 h 749328"/>
                <a:gd name="connsiteX6" fmla="*/ 413385 w 520065"/>
                <a:gd name="connsiteY6" fmla="*/ 16856 h 749328"/>
                <a:gd name="connsiteX7" fmla="*/ 260033 w 520065"/>
                <a:gd name="connsiteY7" fmla="*/ 170209 h 749328"/>
                <a:gd name="connsiteX8" fmla="*/ 106680 w 520065"/>
                <a:gd name="connsiteY8" fmla="*/ 16857 h 749328"/>
                <a:gd name="connsiteX9" fmla="*/ 18097 w 520065"/>
                <a:gd name="connsiteY9" fmla="*/ 19910 h 749328"/>
                <a:gd name="connsiteX10" fmla="*/ 18097 w 520065"/>
                <a:gd name="connsiteY10" fmla="*/ 105439 h 749328"/>
                <a:gd name="connsiteX11" fmla="*/ 141923 w 520065"/>
                <a:gd name="connsiteY11" fmla="*/ 229264 h 749328"/>
                <a:gd name="connsiteX12" fmla="*/ 62548 w 520065"/>
                <a:gd name="connsiteY12" fmla="*/ 229264 h 749328"/>
                <a:gd name="connsiteX13" fmla="*/ 0 w 520065"/>
                <a:gd name="connsiteY13" fmla="*/ 291811 h 749328"/>
                <a:gd name="connsiteX14" fmla="*/ 62548 w 520065"/>
                <a:gd name="connsiteY14" fmla="*/ 354359 h 749328"/>
                <a:gd name="connsiteX15" fmla="*/ 197803 w 520065"/>
                <a:gd name="connsiteY15" fmla="*/ 354359 h 749328"/>
                <a:gd name="connsiteX16" fmla="*/ 197803 w 520065"/>
                <a:gd name="connsiteY16" fmla="*/ 426749 h 749328"/>
                <a:gd name="connsiteX17" fmla="*/ 62548 w 520065"/>
                <a:gd name="connsiteY17" fmla="*/ 426749 h 749328"/>
                <a:gd name="connsiteX18" fmla="*/ 0 w 520065"/>
                <a:gd name="connsiteY18" fmla="*/ 489296 h 749328"/>
                <a:gd name="connsiteX19" fmla="*/ 62548 w 520065"/>
                <a:gd name="connsiteY19" fmla="*/ 551844 h 749328"/>
                <a:gd name="connsiteX20" fmla="*/ 197803 w 520065"/>
                <a:gd name="connsiteY20" fmla="*/ 551844 h 749328"/>
                <a:gd name="connsiteX21" fmla="*/ 197803 w 520065"/>
                <a:gd name="connsiteY21" fmla="*/ 686782 h 749328"/>
                <a:gd name="connsiteX22" fmla="*/ 260350 w 520065"/>
                <a:gd name="connsiteY22" fmla="*/ 749329 h 749328"/>
                <a:gd name="connsiteX23" fmla="*/ 322898 w 520065"/>
                <a:gd name="connsiteY23" fmla="*/ 686782 h 749328"/>
                <a:gd name="connsiteX24" fmla="*/ 322898 w 520065"/>
                <a:gd name="connsiteY24" fmla="*/ 551844 h 749328"/>
                <a:gd name="connsiteX25" fmla="*/ 457518 w 520065"/>
                <a:gd name="connsiteY25" fmla="*/ 551844 h 749328"/>
                <a:gd name="connsiteX26" fmla="*/ 520065 w 520065"/>
                <a:gd name="connsiteY26" fmla="*/ 489296 h 749328"/>
                <a:gd name="connsiteX27" fmla="*/ 457518 w 520065"/>
                <a:gd name="connsiteY27" fmla="*/ 426749 h 749328"/>
                <a:gd name="connsiteX28" fmla="*/ 322898 w 520065"/>
                <a:gd name="connsiteY28" fmla="*/ 426749 h 749328"/>
                <a:gd name="connsiteX29" fmla="*/ 322898 w 520065"/>
                <a:gd name="connsiteY29" fmla="*/ 354359 h 749328"/>
                <a:gd name="connsiteX30" fmla="*/ 457518 w 520065"/>
                <a:gd name="connsiteY30" fmla="*/ 354359 h 74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065" h="749328">
                  <a:moveTo>
                    <a:pt x="457518" y="354359"/>
                  </a:moveTo>
                  <a:cubicBezTo>
                    <a:pt x="492125" y="354359"/>
                    <a:pt x="520065" y="326419"/>
                    <a:pt x="520065" y="291811"/>
                  </a:cubicBezTo>
                  <a:cubicBezTo>
                    <a:pt x="520065" y="257204"/>
                    <a:pt x="492125" y="229264"/>
                    <a:pt x="457518" y="229264"/>
                  </a:cubicBezTo>
                  <a:lnTo>
                    <a:pt x="378143" y="229264"/>
                  </a:lnTo>
                  <a:lnTo>
                    <a:pt x="501968" y="105439"/>
                  </a:lnTo>
                  <a:cubicBezTo>
                    <a:pt x="525586" y="80134"/>
                    <a:pt x="524218" y="40474"/>
                    <a:pt x="498914" y="16856"/>
                  </a:cubicBezTo>
                  <a:cubicBezTo>
                    <a:pt x="474834" y="-5619"/>
                    <a:pt x="437465" y="-5619"/>
                    <a:pt x="413385" y="16856"/>
                  </a:cubicBezTo>
                  <a:lnTo>
                    <a:pt x="260033" y="170209"/>
                  </a:lnTo>
                  <a:lnTo>
                    <a:pt x="106680" y="16857"/>
                  </a:lnTo>
                  <a:cubicBezTo>
                    <a:pt x="81375" y="-6762"/>
                    <a:pt x="41716" y="-5394"/>
                    <a:pt x="18097" y="19910"/>
                  </a:cubicBezTo>
                  <a:cubicBezTo>
                    <a:pt x="-4378" y="43991"/>
                    <a:pt x="-4378" y="81359"/>
                    <a:pt x="18097" y="105439"/>
                  </a:cubicBezTo>
                  <a:lnTo>
                    <a:pt x="141923" y="229264"/>
                  </a:lnTo>
                  <a:lnTo>
                    <a:pt x="62548" y="229264"/>
                  </a:lnTo>
                  <a:cubicBezTo>
                    <a:pt x="27940" y="229264"/>
                    <a:pt x="0" y="257204"/>
                    <a:pt x="0" y="291811"/>
                  </a:cubicBezTo>
                  <a:cubicBezTo>
                    <a:pt x="0" y="326419"/>
                    <a:pt x="27940" y="354359"/>
                    <a:pt x="62548" y="354359"/>
                  </a:cubicBezTo>
                  <a:lnTo>
                    <a:pt x="197803" y="354359"/>
                  </a:lnTo>
                  <a:lnTo>
                    <a:pt x="197803" y="426749"/>
                  </a:lnTo>
                  <a:lnTo>
                    <a:pt x="62548" y="426749"/>
                  </a:lnTo>
                  <a:cubicBezTo>
                    <a:pt x="27940" y="426749"/>
                    <a:pt x="0" y="454689"/>
                    <a:pt x="0" y="489296"/>
                  </a:cubicBezTo>
                  <a:cubicBezTo>
                    <a:pt x="0" y="523904"/>
                    <a:pt x="27940" y="551844"/>
                    <a:pt x="62548" y="551844"/>
                  </a:cubicBezTo>
                  <a:lnTo>
                    <a:pt x="197803" y="551844"/>
                  </a:lnTo>
                  <a:lnTo>
                    <a:pt x="197803" y="686782"/>
                  </a:lnTo>
                  <a:cubicBezTo>
                    <a:pt x="197803" y="721389"/>
                    <a:pt x="225742" y="749329"/>
                    <a:pt x="260350" y="749329"/>
                  </a:cubicBezTo>
                  <a:cubicBezTo>
                    <a:pt x="294958" y="749329"/>
                    <a:pt x="322898" y="721389"/>
                    <a:pt x="322898" y="686782"/>
                  </a:cubicBezTo>
                  <a:lnTo>
                    <a:pt x="322898" y="551844"/>
                  </a:lnTo>
                  <a:lnTo>
                    <a:pt x="457518" y="551844"/>
                  </a:lnTo>
                  <a:cubicBezTo>
                    <a:pt x="492125" y="551844"/>
                    <a:pt x="520065" y="523904"/>
                    <a:pt x="520065" y="489296"/>
                  </a:cubicBezTo>
                  <a:cubicBezTo>
                    <a:pt x="520065" y="454689"/>
                    <a:pt x="492125" y="426749"/>
                    <a:pt x="457518" y="426749"/>
                  </a:cubicBezTo>
                  <a:lnTo>
                    <a:pt x="322898" y="426749"/>
                  </a:lnTo>
                  <a:lnTo>
                    <a:pt x="322898" y="354359"/>
                  </a:lnTo>
                  <a:lnTo>
                    <a:pt x="457518" y="354359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471547" y="1026229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数据源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9471547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23+"/>
          <p:cNvSpPr txBox="1"/>
          <p:nvPr/>
        </p:nvSpPr>
        <p:spPr>
          <a:xfrm>
            <a:off x="9471547" y="160978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覆盖</a:t>
            </a:r>
          </a:p>
        </p:txBody>
      </p:sp>
      <p:sp>
        <p:nvSpPr>
          <p:cNvPr id="42" name="TextBox 23++"/>
          <p:cNvSpPr txBox="1"/>
          <p:nvPr/>
        </p:nvSpPr>
        <p:spPr>
          <a:xfrm>
            <a:off x="9933303" y="160978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等腰三角形 42"/>
          <p:cNvSpPr>
            <a:spLocks noChangeAspect="1"/>
          </p:cNvSpPr>
          <p:nvPr/>
        </p:nvSpPr>
        <p:spPr>
          <a:xfrm flipV="1">
            <a:off x="10548948" y="1655438"/>
            <a:ext cx="144000" cy="12413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0851343" y="959936"/>
            <a:ext cx="785845" cy="786616"/>
            <a:chOff x="8230387" y="4036308"/>
            <a:chExt cx="1455128" cy="145655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45" name="任意多边形: 形状 44"/>
            <p:cNvSpPr/>
            <p:nvPr/>
          </p:nvSpPr>
          <p:spPr>
            <a:xfrm>
              <a:off x="8230387" y="4154545"/>
              <a:ext cx="1330814" cy="1338320"/>
            </a:xfrm>
            <a:custGeom>
              <a:avLst/>
              <a:gdLst>
                <a:gd name="connsiteX0" fmla="*/ 1253566 w 1330815"/>
                <a:gd name="connsiteY0" fmla="*/ 1338320 h 1338320"/>
                <a:gd name="connsiteX1" fmla="*/ 77283 w 1330815"/>
                <a:gd name="connsiteY1" fmla="*/ 1338320 h 1338320"/>
                <a:gd name="connsiteX2" fmla="*/ 0 w 1330815"/>
                <a:gd name="connsiteY2" fmla="*/ 1338320 h 1338320"/>
                <a:gd name="connsiteX3" fmla="*/ 1377 w 1330815"/>
                <a:gd name="connsiteY3" fmla="*/ 1325465 h 1338320"/>
                <a:gd name="connsiteX4" fmla="*/ 435447 w 1330815"/>
                <a:gd name="connsiteY4" fmla="*/ 768989 h 1338320"/>
                <a:gd name="connsiteX5" fmla="*/ 442550 w 1330815"/>
                <a:gd name="connsiteY5" fmla="*/ 766404 h 1338320"/>
                <a:gd name="connsiteX6" fmla="*/ 436191 w 1330815"/>
                <a:gd name="connsiteY6" fmla="*/ 762320 h 1338320"/>
                <a:gd name="connsiteX7" fmla="*/ 246050 w 1330815"/>
                <a:gd name="connsiteY7" fmla="*/ 422536 h 1338320"/>
                <a:gd name="connsiteX8" fmla="*/ 665418 w 1330815"/>
                <a:gd name="connsiteY8" fmla="*/ 0 h 1338320"/>
                <a:gd name="connsiteX9" fmla="*/ 1084786 w 1330815"/>
                <a:gd name="connsiteY9" fmla="*/ 422583 h 1338320"/>
                <a:gd name="connsiteX10" fmla="*/ 894649 w 1330815"/>
                <a:gd name="connsiteY10" fmla="*/ 762385 h 1338320"/>
                <a:gd name="connsiteX11" fmla="*/ 888286 w 1330815"/>
                <a:gd name="connsiteY11" fmla="*/ 766441 h 1338320"/>
                <a:gd name="connsiteX12" fmla="*/ 895374 w 1330815"/>
                <a:gd name="connsiteY12" fmla="*/ 769054 h 1338320"/>
                <a:gd name="connsiteX13" fmla="*/ 1329430 w 1330815"/>
                <a:gd name="connsiteY13" fmla="*/ 1325540 h 1338320"/>
                <a:gd name="connsiteX14" fmla="*/ 1330816 w 1330815"/>
                <a:gd name="connsiteY14" fmla="*/ 1338320 h 1338320"/>
                <a:gd name="connsiteX15" fmla="*/ 1253566 w 1330815"/>
                <a:gd name="connsiteY15" fmla="*/ 1338320 h 1338320"/>
                <a:gd name="connsiteX16" fmla="*/ 1253566 w 1330815"/>
                <a:gd name="connsiteY16" fmla="*/ 1338320 h 133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15" h="1338320">
                  <a:moveTo>
                    <a:pt x="1253566" y="1338320"/>
                  </a:moveTo>
                  <a:lnTo>
                    <a:pt x="77283" y="1338320"/>
                  </a:lnTo>
                  <a:lnTo>
                    <a:pt x="0" y="1338320"/>
                  </a:lnTo>
                  <a:lnTo>
                    <a:pt x="1377" y="1325465"/>
                  </a:lnTo>
                  <a:cubicBezTo>
                    <a:pt x="28119" y="1077341"/>
                    <a:pt x="202555" y="853663"/>
                    <a:pt x="435447" y="768989"/>
                  </a:cubicBezTo>
                  <a:lnTo>
                    <a:pt x="442550" y="766404"/>
                  </a:lnTo>
                  <a:lnTo>
                    <a:pt x="436191" y="762320"/>
                  </a:lnTo>
                  <a:cubicBezTo>
                    <a:pt x="317125" y="686074"/>
                    <a:pt x="246050" y="559077"/>
                    <a:pt x="246050" y="422536"/>
                  </a:cubicBezTo>
                  <a:cubicBezTo>
                    <a:pt x="246050" y="197448"/>
                    <a:pt x="442033" y="0"/>
                    <a:pt x="665418" y="0"/>
                  </a:cubicBezTo>
                  <a:cubicBezTo>
                    <a:pt x="888828" y="0"/>
                    <a:pt x="1084786" y="197448"/>
                    <a:pt x="1084786" y="422583"/>
                  </a:cubicBezTo>
                  <a:cubicBezTo>
                    <a:pt x="1084786" y="559123"/>
                    <a:pt x="1013693" y="686111"/>
                    <a:pt x="894649" y="762385"/>
                  </a:cubicBezTo>
                  <a:lnTo>
                    <a:pt x="888286" y="766441"/>
                  </a:lnTo>
                  <a:lnTo>
                    <a:pt x="895374" y="769054"/>
                  </a:lnTo>
                  <a:cubicBezTo>
                    <a:pt x="1128272" y="853756"/>
                    <a:pt x="1302706" y="1077380"/>
                    <a:pt x="1329430" y="1325540"/>
                  </a:cubicBezTo>
                  <a:lnTo>
                    <a:pt x="1330816" y="1338320"/>
                  </a:lnTo>
                  <a:lnTo>
                    <a:pt x="1253566" y="1338320"/>
                  </a:lnTo>
                  <a:lnTo>
                    <a:pt x="1253566" y="133832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148545" y="4036308"/>
              <a:ext cx="536970" cy="531097"/>
            </a:xfrm>
            <a:custGeom>
              <a:avLst/>
              <a:gdLst>
                <a:gd name="connsiteX0" fmla="*/ 494593 w 536971"/>
                <a:gd name="connsiteY0" fmla="*/ 223622 h 531098"/>
                <a:gd name="connsiteX1" fmla="*/ 310874 w 536971"/>
                <a:gd name="connsiteY1" fmla="*/ 223622 h 531098"/>
                <a:gd name="connsiteX2" fmla="*/ 310874 w 536971"/>
                <a:gd name="connsiteY2" fmla="*/ 41927 h 531098"/>
                <a:gd name="connsiteX3" fmla="*/ 268486 w 536971"/>
                <a:gd name="connsiteY3" fmla="*/ 0 h 531098"/>
                <a:gd name="connsiteX4" fmla="*/ 226089 w 536971"/>
                <a:gd name="connsiteY4" fmla="*/ 41927 h 531098"/>
                <a:gd name="connsiteX5" fmla="*/ 226089 w 536971"/>
                <a:gd name="connsiteY5" fmla="*/ 223622 h 531098"/>
                <a:gd name="connsiteX6" fmla="*/ 42388 w 536971"/>
                <a:gd name="connsiteY6" fmla="*/ 223622 h 531098"/>
                <a:gd name="connsiteX7" fmla="*/ 0 w 536971"/>
                <a:gd name="connsiteY7" fmla="*/ 265548 h 531098"/>
                <a:gd name="connsiteX8" fmla="*/ 42388 w 536971"/>
                <a:gd name="connsiteY8" fmla="*/ 307475 h 531098"/>
                <a:gd name="connsiteX9" fmla="*/ 226089 w 536971"/>
                <a:gd name="connsiteY9" fmla="*/ 307475 h 531098"/>
                <a:gd name="connsiteX10" fmla="*/ 226089 w 536971"/>
                <a:gd name="connsiteY10" fmla="*/ 489176 h 531098"/>
                <a:gd name="connsiteX11" fmla="*/ 268486 w 536971"/>
                <a:gd name="connsiteY11" fmla="*/ 531099 h 531098"/>
                <a:gd name="connsiteX12" fmla="*/ 310865 w 536971"/>
                <a:gd name="connsiteY12" fmla="*/ 489176 h 531098"/>
                <a:gd name="connsiteX13" fmla="*/ 310865 w 536971"/>
                <a:gd name="connsiteY13" fmla="*/ 307475 h 531098"/>
                <a:gd name="connsiteX14" fmla="*/ 494575 w 536971"/>
                <a:gd name="connsiteY14" fmla="*/ 307475 h 531098"/>
                <a:gd name="connsiteX15" fmla="*/ 536972 w 536971"/>
                <a:gd name="connsiteY15" fmla="*/ 265548 h 531098"/>
                <a:gd name="connsiteX16" fmla="*/ 494593 w 536971"/>
                <a:gd name="connsiteY16" fmla="*/ 223622 h 53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6971" h="531098">
                  <a:moveTo>
                    <a:pt x="494593" y="223622"/>
                  </a:moveTo>
                  <a:lnTo>
                    <a:pt x="310874" y="223622"/>
                  </a:lnTo>
                  <a:lnTo>
                    <a:pt x="310874" y="41927"/>
                  </a:lnTo>
                  <a:cubicBezTo>
                    <a:pt x="310874" y="18780"/>
                    <a:pt x="291899" y="0"/>
                    <a:pt x="268486" y="0"/>
                  </a:cubicBezTo>
                  <a:cubicBezTo>
                    <a:pt x="245064" y="0"/>
                    <a:pt x="226089" y="18780"/>
                    <a:pt x="226089" y="41927"/>
                  </a:cubicBezTo>
                  <a:lnTo>
                    <a:pt x="226089" y="223622"/>
                  </a:lnTo>
                  <a:lnTo>
                    <a:pt x="42388" y="223622"/>
                  </a:lnTo>
                  <a:cubicBezTo>
                    <a:pt x="18976" y="223622"/>
                    <a:pt x="0" y="242402"/>
                    <a:pt x="0" y="265548"/>
                  </a:cubicBezTo>
                  <a:cubicBezTo>
                    <a:pt x="0" y="288704"/>
                    <a:pt x="18976" y="307475"/>
                    <a:pt x="42388" y="307475"/>
                  </a:cubicBezTo>
                  <a:lnTo>
                    <a:pt x="226089" y="307475"/>
                  </a:lnTo>
                  <a:lnTo>
                    <a:pt x="226089" y="489176"/>
                  </a:lnTo>
                  <a:cubicBezTo>
                    <a:pt x="226089" y="512322"/>
                    <a:pt x="245064" y="531099"/>
                    <a:pt x="268486" y="531099"/>
                  </a:cubicBezTo>
                  <a:cubicBezTo>
                    <a:pt x="291899" y="531099"/>
                    <a:pt x="310865" y="512324"/>
                    <a:pt x="310865" y="489176"/>
                  </a:cubicBezTo>
                  <a:lnTo>
                    <a:pt x="310865" y="307475"/>
                  </a:lnTo>
                  <a:lnTo>
                    <a:pt x="494575" y="307475"/>
                  </a:lnTo>
                  <a:cubicBezTo>
                    <a:pt x="517987" y="307475"/>
                    <a:pt x="536972" y="288704"/>
                    <a:pt x="536972" y="265548"/>
                  </a:cubicBezTo>
                  <a:cubicBezTo>
                    <a:pt x="536972" y="242400"/>
                    <a:pt x="517996" y="223622"/>
                    <a:pt x="494593" y="22362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7" name="图表 46"/>
          <p:cNvGraphicFramePr/>
          <p:nvPr/>
        </p:nvGraphicFramePr>
        <p:xfrm>
          <a:off x="720726" y="2657020"/>
          <a:ext cx="5816600" cy="3018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Rectangle 79+"/>
          <p:cNvSpPr/>
          <p:nvPr/>
        </p:nvSpPr>
        <p:spPr>
          <a:xfrm>
            <a:off x="442913" y="2129065"/>
            <a:ext cx="64404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034" y="2257266"/>
            <a:ext cx="29062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领域分布（岗位数）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50" name="Rectangle 79+"/>
          <p:cNvSpPr/>
          <p:nvPr/>
        </p:nvSpPr>
        <p:spPr>
          <a:xfrm>
            <a:off x="7112000" y="2129065"/>
            <a:ext cx="4637088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Rectangle 79++"/>
          <p:cNvSpPr/>
          <p:nvPr/>
        </p:nvSpPr>
        <p:spPr>
          <a:xfrm>
            <a:off x="7112000" y="2129065"/>
            <a:ext cx="4637088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7329714" y="2816981"/>
          <a:ext cx="4197577" cy="25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627137" y="5080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单位：个</a:t>
            </a:r>
          </a:p>
        </p:txBody>
      </p:sp>
      <p:sp>
        <p:nvSpPr>
          <p:cNvPr id="54" name="TextBox 82+"/>
          <p:cNvSpPr txBox="1"/>
          <p:nvPr/>
        </p:nvSpPr>
        <p:spPr>
          <a:xfrm>
            <a:off x="8350120" y="2257266"/>
            <a:ext cx="21608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技能热度 Top8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458913" y="6284396"/>
            <a:ext cx="466473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互联网/IT 363 个岗位领跑，AI/机器学习 41 个、云计算/DevOps 22 个紧随其后。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00474" y="5842340"/>
            <a:ext cx="39562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Python 164 岗位引用居首，SQL 83、Java 53、Kubernetes 51 次之。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400474" y="6298165"/>
            <a:ext cx="43377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四视图覆盖领域 / 技术栈 / 职级 / 热度四个维度。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42913" y="5725887"/>
            <a:ext cx="943429" cy="326570"/>
            <a:chOff x="442913" y="5725887"/>
            <a:chExt cx="943429" cy="326570"/>
          </a:xfrm>
        </p:grpSpPr>
        <p:sp>
          <p:nvSpPr>
            <p:cNvPr id="59" name="箭头: 五边形 5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互联网IT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458913" y="5812228"/>
            <a:ext cx="472565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互联网/IT 领域 363 个岗位，占比 78%，是绝对主体。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62" name="Group 102+"/>
          <p:cNvGrpSpPr/>
          <p:nvPr/>
        </p:nvGrpSpPr>
        <p:grpSpPr>
          <a:xfrm>
            <a:off x="442913" y="6198055"/>
            <a:ext cx="943429" cy="326570"/>
            <a:chOff x="442913" y="5725887"/>
            <a:chExt cx="943429" cy="326570"/>
          </a:xfrm>
        </p:grpSpPr>
        <p:sp>
          <p:nvSpPr>
            <p:cNvPr id="63" name="箭头: 五边形 62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AI/ML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5" name="Group 102+"/>
          <p:cNvGrpSpPr/>
          <p:nvPr/>
        </p:nvGrpSpPr>
        <p:grpSpPr>
          <a:xfrm>
            <a:off x="6364742" y="5725887"/>
            <a:ext cx="943429" cy="326570"/>
            <a:chOff x="442913" y="5725887"/>
            <a:chExt cx="943429" cy="326570"/>
          </a:xfrm>
        </p:grpSpPr>
        <p:sp>
          <p:nvSpPr>
            <p:cNvPr id="66" name="箭头: 五边形 65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云计算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8" name="Group 102++"/>
          <p:cNvGrpSpPr/>
          <p:nvPr/>
        </p:nvGrpSpPr>
        <p:grpSpPr>
          <a:xfrm>
            <a:off x="6364742" y="6198055"/>
            <a:ext cx="943429" cy="326570"/>
            <a:chOff x="442913" y="5725887"/>
            <a:chExt cx="943429" cy="326570"/>
          </a:xfrm>
        </p:grpSpPr>
        <p:sp>
          <p:nvSpPr>
            <p:cNvPr id="69" name="箭头: 五边形 6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数据科学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13" y="3222399"/>
            <a:ext cx="413202" cy="413202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7750856" y="2859315"/>
            <a:ext cx="6395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465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73" name="TextBox 88+"/>
          <p:cNvSpPr txBox="1"/>
          <p:nvPr/>
        </p:nvSpPr>
        <p:spPr>
          <a:xfrm>
            <a:off x="7276569" y="5080001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岗位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8810172" y="2900272"/>
            <a:ext cx="1124857" cy="42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技能 Top8 覆盖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核心技能栈全貌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8429825" y="2830286"/>
            <a:ext cx="1621318" cy="598714"/>
          </a:xfrm>
          <a:custGeom>
            <a:avLst/>
            <a:gdLst>
              <a:gd name="connsiteX0" fmla="*/ 249717 w 1969660"/>
              <a:gd name="connsiteY0" fmla="*/ 0 h 598714"/>
              <a:gd name="connsiteX1" fmla="*/ 1969660 w 1969660"/>
              <a:gd name="connsiteY1" fmla="*/ 0 h 598714"/>
              <a:gd name="connsiteX2" fmla="*/ 1969660 w 1969660"/>
              <a:gd name="connsiteY2" fmla="*/ 598714 h 598714"/>
              <a:gd name="connsiteX3" fmla="*/ 249717 w 1969660"/>
              <a:gd name="connsiteY3" fmla="*/ 598714 h 598714"/>
              <a:gd name="connsiteX4" fmla="*/ 249717 w 1969660"/>
              <a:gd name="connsiteY4" fmla="*/ 398077 h 598714"/>
              <a:gd name="connsiteX5" fmla="*/ 0 w 1969660"/>
              <a:gd name="connsiteY5" fmla="*/ 352809 h 598714"/>
              <a:gd name="connsiteX6" fmla="*/ 249717 w 1969660"/>
              <a:gd name="connsiteY6" fmla="*/ 65998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9660" h="598714">
                <a:moveTo>
                  <a:pt x="249717" y="0"/>
                </a:moveTo>
                <a:lnTo>
                  <a:pt x="1969660" y="0"/>
                </a:lnTo>
                <a:lnTo>
                  <a:pt x="1969660" y="598714"/>
                </a:lnTo>
                <a:lnTo>
                  <a:pt x="249717" y="598714"/>
                </a:lnTo>
                <a:lnTo>
                  <a:pt x="249717" y="398077"/>
                </a:lnTo>
                <a:lnTo>
                  <a:pt x="0" y="352809"/>
                </a:lnTo>
                <a:lnTo>
                  <a:pt x="249717" y="6599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7+"/>
          <p:cNvSpPr/>
          <p:nvPr/>
        </p:nvSpPr>
        <p:spPr>
          <a:xfrm>
            <a:off x="8766629" y="4989443"/>
            <a:ext cx="2982459" cy="1535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0297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动态演化机制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7302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核心功能二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907795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>
            <a:off x="442912" y="873124"/>
            <a:ext cx="709931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42913" y="975581"/>
          <a:ext cx="1802296" cy="12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任意多边形: 形状 13"/>
          <p:cNvSpPr/>
          <p:nvPr/>
        </p:nvSpPr>
        <p:spPr>
          <a:xfrm>
            <a:off x="442913" y="873124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129074" y="836204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03288" y="1365092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02326" y="1104900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涌现技能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图形 52"/>
          <p:cNvSpPr/>
          <p:nvPr/>
        </p:nvSpPr>
        <p:spPr>
          <a:xfrm>
            <a:off x="2007052" y="1108076"/>
            <a:ext cx="238124" cy="238124"/>
          </a:xfrm>
          <a:custGeom>
            <a:avLst/>
            <a:gdLst>
              <a:gd name="connsiteX0" fmla="*/ 1542574 w 1746249"/>
              <a:gd name="connsiteY0" fmla="*/ 793750 h 1746249"/>
              <a:gd name="connsiteX1" fmla="*/ 1309688 w 1746249"/>
              <a:gd name="connsiteY1" fmla="*/ 635000 h 1746249"/>
              <a:gd name="connsiteX2" fmla="*/ 1076881 w 1746249"/>
              <a:gd name="connsiteY2" fmla="*/ 793750 h 1746249"/>
              <a:gd name="connsiteX3" fmla="*/ 873125 w 1746249"/>
              <a:gd name="connsiteY3" fmla="*/ 635000 h 1746249"/>
              <a:gd name="connsiteX4" fmla="*/ 669449 w 1746249"/>
              <a:gd name="connsiteY4" fmla="*/ 793750 h 1746249"/>
              <a:gd name="connsiteX5" fmla="*/ 436563 w 1746249"/>
              <a:gd name="connsiteY5" fmla="*/ 635000 h 1746249"/>
              <a:gd name="connsiteX6" fmla="*/ 232886 w 1746249"/>
              <a:gd name="connsiteY6" fmla="*/ 793750 h 1746249"/>
              <a:gd name="connsiteX7" fmla="*/ 79375 w 1746249"/>
              <a:gd name="connsiteY7" fmla="*/ 755968 h 1746249"/>
              <a:gd name="connsiteX8" fmla="*/ 79375 w 1746249"/>
              <a:gd name="connsiteY8" fmla="*/ 1666319 h 1746249"/>
              <a:gd name="connsiteX9" fmla="*/ 158031 w 1746249"/>
              <a:gd name="connsiteY9" fmla="*/ 1746249 h 1746249"/>
              <a:gd name="connsiteX10" fmla="*/ 158115 w 1746249"/>
              <a:gd name="connsiteY10" fmla="*/ 1746250 h 1746249"/>
              <a:gd name="connsiteX11" fmla="*/ 952500 w 1746249"/>
              <a:gd name="connsiteY11" fmla="*/ 1746250 h 1746249"/>
              <a:gd name="connsiteX12" fmla="*/ 952500 w 1746249"/>
              <a:gd name="connsiteY12" fmla="*/ 1270238 h 1746249"/>
              <a:gd name="connsiteX13" fmla="*/ 1031637 w 1746249"/>
              <a:gd name="connsiteY13" fmla="*/ 1190625 h 1746249"/>
              <a:gd name="connsiteX14" fmla="*/ 1031875 w 1746249"/>
              <a:gd name="connsiteY14" fmla="*/ 1190625 h 1746249"/>
              <a:gd name="connsiteX15" fmla="*/ 1270000 w 1746249"/>
              <a:gd name="connsiteY15" fmla="*/ 1190625 h 1746249"/>
              <a:gd name="connsiteX16" fmla="*/ 1349375 w 1746249"/>
              <a:gd name="connsiteY16" fmla="*/ 1270238 h 1746249"/>
              <a:gd name="connsiteX17" fmla="*/ 1349375 w 1746249"/>
              <a:gd name="connsiteY17" fmla="*/ 1746250 h 1746249"/>
              <a:gd name="connsiteX18" fmla="*/ 1588214 w 1746249"/>
              <a:gd name="connsiteY18" fmla="*/ 1746250 h 1746249"/>
              <a:gd name="connsiteX19" fmla="*/ 1666796 w 1746249"/>
              <a:gd name="connsiteY19" fmla="*/ 1666319 h 1746249"/>
              <a:gd name="connsiteX20" fmla="*/ 1666796 w 1746249"/>
              <a:gd name="connsiteY20" fmla="*/ 759063 h 1746249"/>
              <a:gd name="connsiteX21" fmla="*/ 1542574 w 1746249"/>
              <a:gd name="connsiteY21" fmla="*/ 793750 h 1746249"/>
              <a:gd name="connsiteX22" fmla="*/ 1484313 w 1746249"/>
              <a:gd name="connsiteY22" fmla="*/ 59531 h 1746249"/>
              <a:gd name="connsiteX23" fmla="*/ 1367869 w 1746249"/>
              <a:gd name="connsiteY23" fmla="*/ 0 h 1746249"/>
              <a:gd name="connsiteX24" fmla="*/ 378301 w 1746249"/>
              <a:gd name="connsiteY24" fmla="*/ 0 h 1746249"/>
              <a:gd name="connsiteX25" fmla="*/ 261937 w 1746249"/>
              <a:gd name="connsiteY25" fmla="*/ 59531 h 1746249"/>
              <a:gd name="connsiteX26" fmla="*/ 0 w 1746249"/>
              <a:gd name="connsiteY26" fmla="*/ 476250 h 1746249"/>
              <a:gd name="connsiteX27" fmla="*/ 232807 w 1746249"/>
              <a:gd name="connsiteY27" fmla="*/ 635000 h 1746249"/>
              <a:gd name="connsiteX28" fmla="*/ 436563 w 1746249"/>
              <a:gd name="connsiteY28" fmla="*/ 476250 h 1746249"/>
              <a:gd name="connsiteX29" fmla="*/ 669369 w 1746249"/>
              <a:gd name="connsiteY29" fmla="*/ 635000 h 1746249"/>
              <a:gd name="connsiteX30" fmla="*/ 873125 w 1746249"/>
              <a:gd name="connsiteY30" fmla="*/ 476250 h 1746249"/>
              <a:gd name="connsiteX31" fmla="*/ 1076801 w 1746249"/>
              <a:gd name="connsiteY31" fmla="*/ 635000 h 1746249"/>
              <a:gd name="connsiteX32" fmla="*/ 1309688 w 1746249"/>
              <a:gd name="connsiteY32" fmla="*/ 476250 h 1746249"/>
              <a:gd name="connsiteX33" fmla="*/ 1542494 w 1746249"/>
              <a:gd name="connsiteY33" fmla="*/ 635000 h 1746249"/>
              <a:gd name="connsiteX34" fmla="*/ 1746250 w 1746249"/>
              <a:gd name="connsiteY34" fmla="*/ 476250 h 1746249"/>
              <a:gd name="connsiteX35" fmla="*/ 1484313 w 1746249"/>
              <a:gd name="connsiteY35" fmla="*/ 59531 h 174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49" h="1746249">
                <a:moveTo>
                  <a:pt x="1542574" y="793750"/>
                </a:moveTo>
                <a:cubicBezTo>
                  <a:pt x="1407478" y="793750"/>
                  <a:pt x="1309688" y="722709"/>
                  <a:pt x="1309688" y="635000"/>
                </a:cubicBezTo>
                <a:cubicBezTo>
                  <a:pt x="1309688" y="722709"/>
                  <a:pt x="1211739" y="793750"/>
                  <a:pt x="1076881" y="793750"/>
                </a:cubicBezTo>
                <a:cubicBezTo>
                  <a:pt x="970915" y="793750"/>
                  <a:pt x="873125" y="722709"/>
                  <a:pt x="873125" y="635000"/>
                </a:cubicBezTo>
                <a:cubicBezTo>
                  <a:pt x="873125" y="722789"/>
                  <a:pt x="775176" y="793750"/>
                  <a:pt x="669449" y="793750"/>
                </a:cubicBezTo>
                <a:cubicBezTo>
                  <a:pt x="534353" y="793750"/>
                  <a:pt x="436563" y="722709"/>
                  <a:pt x="436563" y="635000"/>
                </a:cubicBezTo>
                <a:cubicBezTo>
                  <a:pt x="436563" y="722630"/>
                  <a:pt x="338614" y="793750"/>
                  <a:pt x="232886" y="793750"/>
                </a:cubicBezTo>
                <a:cubicBezTo>
                  <a:pt x="172403" y="793750"/>
                  <a:pt x="119380" y="779542"/>
                  <a:pt x="79375" y="755968"/>
                </a:cubicBezTo>
                <a:lnTo>
                  <a:pt x="79375" y="1666319"/>
                </a:lnTo>
                <a:cubicBezTo>
                  <a:pt x="79023" y="1710112"/>
                  <a:pt x="114239" y="1745898"/>
                  <a:pt x="158031" y="1746249"/>
                </a:cubicBezTo>
                <a:cubicBezTo>
                  <a:pt x="158059" y="1746250"/>
                  <a:pt x="158087" y="1746250"/>
                  <a:pt x="158115" y="1746250"/>
                </a:cubicBezTo>
                <a:lnTo>
                  <a:pt x="952500" y="1746250"/>
                </a:lnTo>
                <a:lnTo>
                  <a:pt x="952500" y="1270238"/>
                </a:lnTo>
                <a:cubicBezTo>
                  <a:pt x="952369" y="1226401"/>
                  <a:pt x="987799" y="1190757"/>
                  <a:pt x="1031637" y="1190625"/>
                </a:cubicBezTo>
                <a:cubicBezTo>
                  <a:pt x="1031716" y="1190625"/>
                  <a:pt x="1031796" y="1190625"/>
                  <a:pt x="1031875" y="1190625"/>
                </a:cubicBezTo>
                <a:lnTo>
                  <a:pt x="1270000" y="1190625"/>
                </a:lnTo>
                <a:cubicBezTo>
                  <a:pt x="1313894" y="1190625"/>
                  <a:pt x="1349375" y="1225391"/>
                  <a:pt x="1349375" y="1270238"/>
                </a:cubicBezTo>
                <a:lnTo>
                  <a:pt x="1349375" y="1746250"/>
                </a:lnTo>
                <a:lnTo>
                  <a:pt x="1588214" y="1746250"/>
                </a:lnTo>
                <a:cubicBezTo>
                  <a:pt x="1630759" y="1746250"/>
                  <a:pt x="1666796" y="1710452"/>
                  <a:pt x="1666796" y="1666319"/>
                </a:cubicBezTo>
                <a:lnTo>
                  <a:pt x="1666796" y="759063"/>
                </a:lnTo>
                <a:cubicBezTo>
                  <a:pt x="1629322" y="781727"/>
                  <a:pt x="1586368" y="793721"/>
                  <a:pt x="1542574" y="793750"/>
                </a:cubicBezTo>
                <a:moveTo>
                  <a:pt x="1484313" y="59531"/>
                </a:moveTo>
                <a:cubicBezTo>
                  <a:pt x="1473835" y="30242"/>
                  <a:pt x="1419463" y="0"/>
                  <a:pt x="1367869" y="0"/>
                </a:cubicBezTo>
                <a:lnTo>
                  <a:pt x="378301" y="0"/>
                </a:lnTo>
                <a:cubicBezTo>
                  <a:pt x="326311" y="0"/>
                  <a:pt x="272177" y="30242"/>
                  <a:pt x="261937" y="59531"/>
                </a:cubicBezTo>
                <a:lnTo>
                  <a:pt x="0" y="476250"/>
                </a:lnTo>
                <a:cubicBezTo>
                  <a:pt x="0" y="564039"/>
                  <a:pt x="97711" y="635000"/>
                  <a:pt x="232807" y="635000"/>
                </a:cubicBezTo>
                <a:cubicBezTo>
                  <a:pt x="338534" y="635000"/>
                  <a:pt x="436563" y="563880"/>
                  <a:pt x="436563" y="476250"/>
                </a:cubicBezTo>
                <a:cubicBezTo>
                  <a:pt x="436563" y="563959"/>
                  <a:pt x="534273" y="635000"/>
                  <a:pt x="669369" y="635000"/>
                </a:cubicBezTo>
                <a:cubicBezTo>
                  <a:pt x="775097" y="635000"/>
                  <a:pt x="873125" y="564039"/>
                  <a:pt x="873125" y="476250"/>
                </a:cubicBezTo>
                <a:cubicBezTo>
                  <a:pt x="873125" y="563959"/>
                  <a:pt x="970836" y="635000"/>
                  <a:pt x="1076801" y="635000"/>
                </a:cubicBezTo>
                <a:cubicBezTo>
                  <a:pt x="1211739" y="635000"/>
                  <a:pt x="1309688" y="563959"/>
                  <a:pt x="1309688" y="476250"/>
                </a:cubicBezTo>
                <a:cubicBezTo>
                  <a:pt x="1309688" y="563959"/>
                  <a:pt x="1407398" y="635000"/>
                  <a:pt x="1542494" y="635000"/>
                </a:cubicBezTo>
                <a:cubicBezTo>
                  <a:pt x="1648222" y="635000"/>
                  <a:pt x="1746250" y="563880"/>
                  <a:pt x="1746250" y="476250"/>
                </a:cubicBezTo>
                <a:lnTo>
                  <a:pt x="1484313" y="59531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22926" y="1453356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0.639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97526" y="1801813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信任均值</a:t>
            </a:r>
          </a:p>
        </p:txBody>
      </p:sp>
      <p:sp>
        <p:nvSpPr>
          <p:cNvPr id="21" name="TextBox 55+"/>
          <p:cNvSpPr txBox="1"/>
          <p:nvPr/>
        </p:nvSpPr>
        <p:spPr>
          <a:xfrm>
            <a:off x="985041" y="1592491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KPI</a:t>
            </a:r>
          </a:p>
        </p:txBody>
      </p:sp>
      <p:sp>
        <p:nvSpPr>
          <p:cNvPr id="22" name="Freeform 46+"/>
          <p:cNvSpPr/>
          <p:nvPr/>
        </p:nvSpPr>
        <p:spPr>
          <a:xfrm>
            <a:off x="442913" y="2298896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Freeform 46++"/>
          <p:cNvSpPr/>
          <p:nvPr/>
        </p:nvSpPr>
        <p:spPr>
          <a:xfrm>
            <a:off x="442913" y="3724668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Freeform 46+++"/>
          <p:cNvSpPr/>
          <p:nvPr/>
        </p:nvSpPr>
        <p:spPr>
          <a:xfrm>
            <a:off x="442913" y="5150441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25" name="Chart 47+"/>
          <p:cNvGraphicFramePr/>
          <p:nvPr/>
        </p:nvGraphicFramePr>
        <p:xfrm>
          <a:off x="129074" y="2264896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49+"/>
          <p:cNvSpPr txBox="1"/>
          <p:nvPr/>
        </p:nvSpPr>
        <p:spPr>
          <a:xfrm>
            <a:off x="903288" y="28020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TextBox 55++"/>
          <p:cNvSpPr txBox="1"/>
          <p:nvPr/>
        </p:nvSpPr>
        <p:spPr>
          <a:xfrm>
            <a:off x="985041" y="30294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CII 通胀</a:t>
            </a:r>
          </a:p>
        </p:txBody>
      </p:sp>
      <p:sp>
        <p:nvSpPr>
          <p:cNvPr id="28" name="TextBox 50+"/>
          <p:cNvSpPr txBox="1"/>
          <p:nvPr/>
        </p:nvSpPr>
        <p:spPr>
          <a:xfrm>
            <a:off x="2302326" y="2516643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技能更新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TextBox 54+"/>
          <p:cNvSpPr txBox="1"/>
          <p:nvPr/>
        </p:nvSpPr>
        <p:spPr>
          <a:xfrm>
            <a:off x="2022926" y="2865100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6 类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0" name="TextBox 55+"/>
          <p:cNvSpPr txBox="1"/>
          <p:nvPr/>
        </p:nvSpPr>
        <p:spPr>
          <a:xfrm>
            <a:off x="1997526" y="3213556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变更</a:t>
            </a:r>
          </a:p>
        </p:txBody>
      </p:sp>
      <p:sp>
        <p:nvSpPr>
          <p:cNvPr id="31" name="图形 68"/>
          <p:cNvSpPr>
            <a:spLocks noChangeAspect="1"/>
          </p:cNvSpPr>
          <p:nvPr/>
        </p:nvSpPr>
        <p:spPr>
          <a:xfrm>
            <a:off x="2000114" y="2531834"/>
            <a:ext cx="252000" cy="234024"/>
          </a:xfrm>
          <a:custGeom>
            <a:avLst/>
            <a:gdLst>
              <a:gd name="connsiteX0" fmla="*/ 298452 w 1709438"/>
              <a:gd name="connsiteY0" fmla="*/ 0 h 1587500"/>
              <a:gd name="connsiteX1" fmla="*/ 1410972 w 1709438"/>
              <a:gd name="connsiteY1" fmla="*/ 0 h 1587500"/>
              <a:gd name="connsiteX2" fmla="*/ 1568770 w 1709438"/>
              <a:gd name="connsiteY2" fmla="*/ 141367 h 1587500"/>
              <a:gd name="connsiteX3" fmla="*/ 1708470 w 1709438"/>
              <a:gd name="connsiteY3" fmla="*/ 1411367 h 1587500"/>
              <a:gd name="connsiteX4" fmla="*/ 1568057 w 1709438"/>
              <a:gd name="connsiteY4" fmla="*/ 1586545 h 1587500"/>
              <a:gd name="connsiteX5" fmla="*/ 1550672 w 1709438"/>
              <a:gd name="connsiteY5" fmla="*/ 1587500 h 1587500"/>
              <a:gd name="connsiteX6" fmla="*/ 158752 w 1709438"/>
              <a:gd name="connsiteY6" fmla="*/ 1587500 h 1587500"/>
              <a:gd name="connsiteX7" fmla="*/ 0 w 1709438"/>
              <a:gd name="connsiteY7" fmla="*/ 1428752 h 1587500"/>
              <a:gd name="connsiteX8" fmla="*/ 955 w 1709438"/>
              <a:gd name="connsiteY8" fmla="*/ 1411367 h 1587500"/>
              <a:gd name="connsiteX9" fmla="*/ 140655 w 1709438"/>
              <a:gd name="connsiteY9" fmla="*/ 141367 h 1587500"/>
              <a:gd name="connsiteX10" fmla="*/ 298452 w 1709438"/>
              <a:gd name="connsiteY10" fmla="*/ 0 h 1587500"/>
              <a:gd name="connsiteX11" fmla="*/ 457837 w 1709438"/>
              <a:gd name="connsiteY11" fmla="*/ 476250 h 1587500"/>
              <a:gd name="connsiteX12" fmla="*/ 854712 w 1709438"/>
              <a:gd name="connsiteY12" fmla="*/ 873125 h 1587500"/>
              <a:gd name="connsiteX13" fmla="*/ 1251587 w 1709438"/>
              <a:gd name="connsiteY13" fmla="*/ 476250 h 1587500"/>
              <a:gd name="connsiteX14" fmla="*/ 1172200 w 1709438"/>
              <a:gd name="connsiteY14" fmla="*/ 396887 h 1587500"/>
              <a:gd name="connsiteX15" fmla="*/ 1092837 w 1709438"/>
              <a:gd name="connsiteY15" fmla="*/ 476250 h 1587500"/>
              <a:gd name="connsiteX16" fmla="*/ 854712 w 1709438"/>
              <a:gd name="connsiteY16" fmla="*/ 714375 h 1587500"/>
              <a:gd name="connsiteX17" fmla="*/ 616587 w 1709438"/>
              <a:gd name="connsiteY17" fmla="*/ 476250 h 1587500"/>
              <a:gd name="connsiteX18" fmla="*/ 537224 w 1709438"/>
              <a:gd name="connsiteY18" fmla="*/ 396863 h 1587500"/>
              <a:gd name="connsiteX19" fmla="*/ 457837 w 1709438"/>
              <a:gd name="connsiteY19" fmla="*/ 476226 h 1587500"/>
              <a:gd name="connsiteX20" fmla="*/ 457837 w 1709438"/>
              <a:gd name="connsiteY20" fmla="*/ 47625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9438" h="1587500">
                <a:moveTo>
                  <a:pt x="298452" y="0"/>
                </a:moveTo>
                <a:lnTo>
                  <a:pt x="1410972" y="0"/>
                </a:lnTo>
                <a:cubicBezTo>
                  <a:pt x="1491921" y="-1"/>
                  <a:pt x="1559906" y="60905"/>
                  <a:pt x="1568770" y="141367"/>
                </a:cubicBezTo>
                <a:lnTo>
                  <a:pt x="1708470" y="1411367"/>
                </a:lnTo>
                <a:cubicBezTo>
                  <a:pt x="1718070" y="1498515"/>
                  <a:pt x="1655205" y="1576945"/>
                  <a:pt x="1568057" y="1586545"/>
                </a:cubicBezTo>
                <a:cubicBezTo>
                  <a:pt x="1562284" y="1587181"/>
                  <a:pt x="1556480" y="1587500"/>
                  <a:pt x="1550672" y="1587500"/>
                </a:cubicBezTo>
                <a:lnTo>
                  <a:pt x="158752" y="1587500"/>
                </a:lnTo>
                <a:cubicBezTo>
                  <a:pt x="71077" y="1587501"/>
                  <a:pt x="1" y="1516427"/>
                  <a:pt x="0" y="1428752"/>
                </a:cubicBezTo>
                <a:cubicBezTo>
                  <a:pt x="0" y="1422944"/>
                  <a:pt x="319" y="1417140"/>
                  <a:pt x="955" y="1411367"/>
                </a:cubicBezTo>
                <a:lnTo>
                  <a:pt x="140655" y="141367"/>
                </a:lnTo>
                <a:cubicBezTo>
                  <a:pt x="149518" y="60905"/>
                  <a:pt x="217504" y="-1"/>
                  <a:pt x="298452" y="0"/>
                </a:cubicBezTo>
                <a:close/>
                <a:moveTo>
                  <a:pt x="457837" y="476250"/>
                </a:moveTo>
                <a:cubicBezTo>
                  <a:pt x="457837" y="695438"/>
                  <a:pt x="635524" y="873125"/>
                  <a:pt x="854712" y="873125"/>
                </a:cubicBezTo>
                <a:cubicBezTo>
                  <a:pt x="1073900" y="873125"/>
                  <a:pt x="1251587" y="695438"/>
                  <a:pt x="1251587" y="476250"/>
                </a:cubicBezTo>
                <a:cubicBezTo>
                  <a:pt x="1251580" y="432412"/>
                  <a:pt x="1216038" y="396881"/>
                  <a:pt x="1172200" y="396887"/>
                </a:cubicBezTo>
                <a:cubicBezTo>
                  <a:pt x="1128372" y="396894"/>
                  <a:pt x="1092844" y="432422"/>
                  <a:pt x="1092837" y="476250"/>
                </a:cubicBezTo>
                <a:cubicBezTo>
                  <a:pt x="1092837" y="607763"/>
                  <a:pt x="986225" y="714375"/>
                  <a:pt x="854712" y="714375"/>
                </a:cubicBezTo>
                <a:cubicBezTo>
                  <a:pt x="723199" y="714375"/>
                  <a:pt x="616587" y="607763"/>
                  <a:pt x="616587" y="476250"/>
                </a:cubicBezTo>
                <a:cubicBezTo>
                  <a:pt x="616594" y="432412"/>
                  <a:pt x="581062" y="396870"/>
                  <a:pt x="537224" y="396863"/>
                </a:cubicBezTo>
                <a:cubicBezTo>
                  <a:pt x="493387" y="396856"/>
                  <a:pt x="457844" y="432388"/>
                  <a:pt x="457837" y="476226"/>
                </a:cubicBezTo>
                <a:cubicBezTo>
                  <a:pt x="457837" y="476234"/>
                  <a:pt x="457837" y="476242"/>
                  <a:pt x="457837" y="47625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2" name="Chart 47++"/>
          <p:cNvGraphicFramePr/>
          <p:nvPr/>
        </p:nvGraphicFramePr>
        <p:xfrm>
          <a:off x="129074" y="3690668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TextBox 49++"/>
          <p:cNvSpPr txBox="1"/>
          <p:nvPr/>
        </p:nvSpPr>
        <p:spPr>
          <a:xfrm>
            <a:off x="903288" y="42244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TextBox 55+++"/>
          <p:cNvSpPr txBox="1"/>
          <p:nvPr/>
        </p:nvSpPr>
        <p:spPr>
          <a:xfrm>
            <a:off x="985041" y="44518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自动审核</a:t>
            </a:r>
          </a:p>
        </p:txBody>
      </p:sp>
      <p:sp>
        <p:nvSpPr>
          <p:cNvPr id="35" name="TextBox 50++"/>
          <p:cNvSpPr txBox="1"/>
          <p:nvPr/>
        </p:nvSpPr>
        <p:spPr>
          <a:xfrm>
            <a:off x="2302326" y="396807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审核生效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TextBox 54++"/>
          <p:cNvSpPr txBox="1"/>
          <p:nvPr/>
        </p:nvSpPr>
        <p:spPr>
          <a:xfrm>
            <a:off x="2022926" y="4316528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即效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7" name="TextBox 55++"/>
          <p:cNvSpPr txBox="1"/>
          <p:nvPr/>
        </p:nvSpPr>
        <p:spPr>
          <a:xfrm>
            <a:off x="1997526" y="466498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机制</a:t>
            </a:r>
          </a:p>
        </p:txBody>
      </p:sp>
      <p:sp>
        <p:nvSpPr>
          <p:cNvPr id="38" name="图形 77"/>
          <p:cNvSpPr>
            <a:spLocks noChangeAspect="1"/>
          </p:cNvSpPr>
          <p:nvPr/>
        </p:nvSpPr>
        <p:spPr>
          <a:xfrm>
            <a:off x="2023380" y="3936319"/>
            <a:ext cx="252000" cy="280729"/>
          </a:xfrm>
          <a:custGeom>
            <a:avLst/>
            <a:gdLst>
              <a:gd name="connsiteX0" fmla="*/ 1134815 w 1501303"/>
              <a:gd name="connsiteY0" fmla="*/ 939478 h 1672456"/>
              <a:gd name="connsiteX1" fmla="*/ 1501304 w 1501303"/>
              <a:gd name="connsiteY1" fmla="*/ 1305967 h 1672456"/>
              <a:gd name="connsiteX2" fmla="*/ 1134815 w 1501303"/>
              <a:gd name="connsiteY2" fmla="*/ 1672456 h 1672456"/>
              <a:gd name="connsiteX3" fmla="*/ 768325 w 1501303"/>
              <a:gd name="connsiteY3" fmla="*/ 1305967 h 1672456"/>
              <a:gd name="connsiteX4" fmla="*/ 1134815 w 1501303"/>
              <a:gd name="connsiteY4" fmla="*/ 939478 h 1672456"/>
              <a:gd name="connsiteX5" fmla="*/ 740978 w 1501303"/>
              <a:gd name="connsiteY5" fmla="*/ 997148 h 1672456"/>
              <a:gd name="connsiteX6" fmla="*/ 634380 w 1501303"/>
              <a:gd name="connsiteY6" fmla="*/ 1305967 h 1672456"/>
              <a:gd name="connsiteX7" fmla="*/ 788231 w 1501303"/>
              <a:gd name="connsiteY7" fmla="*/ 1666875 h 1672456"/>
              <a:gd name="connsiteX8" fmla="*/ 148828 w 1501303"/>
              <a:gd name="connsiteY8" fmla="*/ 1666875 h 1672456"/>
              <a:gd name="connsiteX9" fmla="*/ 0 w 1501303"/>
              <a:gd name="connsiteY9" fmla="*/ 1518047 h 1672456"/>
              <a:gd name="connsiteX10" fmla="*/ 0 w 1501303"/>
              <a:gd name="connsiteY10" fmla="*/ 1313408 h 1672456"/>
              <a:gd name="connsiteX11" fmla="*/ 316260 w 1501303"/>
              <a:gd name="connsiteY11" fmla="*/ 997148 h 1672456"/>
              <a:gd name="connsiteX12" fmla="*/ 740978 w 1501303"/>
              <a:gd name="connsiteY12" fmla="*/ 997148 h 1672456"/>
              <a:gd name="connsiteX13" fmla="*/ 1019473 w 1501303"/>
              <a:gd name="connsiteY13" fmla="*/ 1137605 h 1672456"/>
              <a:gd name="connsiteX14" fmla="*/ 1000683 w 1501303"/>
              <a:gd name="connsiteY14" fmla="*/ 1135559 h 1672456"/>
              <a:gd name="connsiteX15" fmla="*/ 977615 w 1501303"/>
              <a:gd name="connsiteY15" fmla="*/ 1170347 h 1672456"/>
              <a:gd name="connsiteX16" fmla="*/ 977801 w 1501303"/>
              <a:gd name="connsiteY16" fmla="*/ 1170905 h 1672456"/>
              <a:gd name="connsiteX17" fmla="*/ 1000869 w 1501303"/>
              <a:gd name="connsiteY17" fmla="*/ 1279922 h 1672456"/>
              <a:gd name="connsiteX18" fmla="*/ 1195834 w 1501303"/>
              <a:gd name="connsiteY18" fmla="*/ 1309688 h 1672456"/>
              <a:gd name="connsiteX19" fmla="*/ 1000869 w 1501303"/>
              <a:gd name="connsiteY19" fmla="*/ 1339639 h 1672456"/>
              <a:gd name="connsiteX20" fmla="*/ 977801 w 1501303"/>
              <a:gd name="connsiteY20" fmla="*/ 1448656 h 1672456"/>
              <a:gd name="connsiteX21" fmla="*/ 979847 w 1501303"/>
              <a:gd name="connsiteY21" fmla="*/ 1467445 h 1672456"/>
              <a:gd name="connsiteX22" fmla="*/ 1018915 w 1501303"/>
              <a:gd name="connsiteY22" fmla="*/ 1482142 h 1672456"/>
              <a:gd name="connsiteX23" fmla="*/ 1019473 w 1501303"/>
              <a:gd name="connsiteY23" fmla="*/ 1481956 h 1672456"/>
              <a:gd name="connsiteX24" fmla="*/ 1331454 w 1501303"/>
              <a:gd name="connsiteY24" fmla="*/ 1336849 h 1672456"/>
              <a:gd name="connsiteX25" fmla="*/ 1345964 w 1501303"/>
              <a:gd name="connsiteY25" fmla="*/ 1322338 h 1672456"/>
              <a:gd name="connsiteX26" fmla="*/ 1332012 w 1501303"/>
              <a:gd name="connsiteY26" fmla="*/ 1283085 h 1672456"/>
              <a:gd name="connsiteX27" fmla="*/ 1331454 w 1501303"/>
              <a:gd name="connsiteY27" fmla="*/ 1282898 h 1672456"/>
              <a:gd name="connsiteX28" fmla="*/ 1019473 w 1501303"/>
              <a:gd name="connsiteY28" fmla="*/ 1137605 h 1672456"/>
              <a:gd name="connsiteX29" fmla="*/ 677168 w 1501303"/>
              <a:gd name="connsiteY29" fmla="*/ 0 h 1672456"/>
              <a:gd name="connsiteX30" fmla="*/ 1114351 w 1501303"/>
              <a:gd name="connsiteY30" fmla="*/ 437183 h 1672456"/>
              <a:gd name="connsiteX31" fmla="*/ 684423 w 1501303"/>
              <a:gd name="connsiteY31" fmla="*/ 874365 h 1672456"/>
              <a:gd name="connsiteX32" fmla="*/ 677168 w 1501303"/>
              <a:gd name="connsiteY32" fmla="*/ 874365 h 1672456"/>
              <a:gd name="connsiteX33" fmla="*/ 239985 w 1501303"/>
              <a:gd name="connsiteY33" fmla="*/ 437183 h 1672456"/>
              <a:gd name="connsiteX34" fmla="*/ 669913 w 1501303"/>
              <a:gd name="connsiteY34" fmla="*/ 0 h 1672456"/>
              <a:gd name="connsiteX35" fmla="*/ 677168 w 1501303"/>
              <a:gd name="connsiteY35" fmla="*/ 0 h 167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1303" h="1672456">
                <a:moveTo>
                  <a:pt x="1134815" y="939478"/>
                </a:moveTo>
                <a:cubicBezTo>
                  <a:pt x="1337221" y="939478"/>
                  <a:pt x="1501304" y="1103561"/>
                  <a:pt x="1501304" y="1305967"/>
                </a:cubicBezTo>
                <a:cubicBezTo>
                  <a:pt x="1501304" y="1508373"/>
                  <a:pt x="1337221" y="1672456"/>
                  <a:pt x="1134815" y="1672456"/>
                </a:cubicBezTo>
                <a:cubicBezTo>
                  <a:pt x="932408" y="1672456"/>
                  <a:pt x="768325" y="1508373"/>
                  <a:pt x="768325" y="1305967"/>
                </a:cubicBezTo>
                <a:cubicBezTo>
                  <a:pt x="768325" y="1103561"/>
                  <a:pt x="932408" y="939478"/>
                  <a:pt x="1134815" y="939478"/>
                </a:cubicBezTo>
                <a:close/>
                <a:moveTo>
                  <a:pt x="740978" y="997148"/>
                </a:moveTo>
                <a:cubicBezTo>
                  <a:pt x="674191" y="1082167"/>
                  <a:pt x="634380" y="1189509"/>
                  <a:pt x="634380" y="1305967"/>
                </a:cubicBezTo>
                <a:cubicBezTo>
                  <a:pt x="634380" y="1447726"/>
                  <a:pt x="693353" y="1575904"/>
                  <a:pt x="788231" y="1666875"/>
                </a:cubicBezTo>
                <a:lnTo>
                  <a:pt x="148828" y="1666875"/>
                </a:lnTo>
                <a:cubicBezTo>
                  <a:pt x="66601" y="1666875"/>
                  <a:pt x="0" y="1600274"/>
                  <a:pt x="0" y="1518047"/>
                </a:cubicBezTo>
                <a:lnTo>
                  <a:pt x="0" y="1313408"/>
                </a:lnTo>
                <a:cubicBezTo>
                  <a:pt x="0" y="1138721"/>
                  <a:pt x="141573" y="997148"/>
                  <a:pt x="316260" y="997148"/>
                </a:cubicBezTo>
                <a:lnTo>
                  <a:pt x="740978" y="997148"/>
                </a:lnTo>
                <a:close/>
                <a:moveTo>
                  <a:pt x="1019473" y="1137605"/>
                </a:moveTo>
                <a:cubicBezTo>
                  <a:pt x="1013706" y="1134815"/>
                  <a:pt x="1007008" y="1134070"/>
                  <a:pt x="1000683" y="1135559"/>
                </a:cubicBezTo>
                <a:cubicBezTo>
                  <a:pt x="984870" y="1138907"/>
                  <a:pt x="974638" y="1154348"/>
                  <a:pt x="977615" y="1170347"/>
                </a:cubicBezTo>
                <a:lnTo>
                  <a:pt x="977801" y="1170905"/>
                </a:lnTo>
                <a:lnTo>
                  <a:pt x="1000869" y="1279922"/>
                </a:lnTo>
                <a:lnTo>
                  <a:pt x="1195834" y="1309688"/>
                </a:lnTo>
                <a:lnTo>
                  <a:pt x="1000869" y="1339639"/>
                </a:lnTo>
                <a:lnTo>
                  <a:pt x="977801" y="1448656"/>
                </a:lnTo>
                <a:cubicBezTo>
                  <a:pt x="976499" y="1454981"/>
                  <a:pt x="977243" y="1461492"/>
                  <a:pt x="979847" y="1467445"/>
                </a:cubicBezTo>
                <a:cubicBezTo>
                  <a:pt x="986731" y="1482142"/>
                  <a:pt x="1004032" y="1488653"/>
                  <a:pt x="1018915" y="1482142"/>
                </a:cubicBezTo>
                <a:lnTo>
                  <a:pt x="1019473" y="1481956"/>
                </a:lnTo>
                <a:lnTo>
                  <a:pt x="1331454" y="1336849"/>
                </a:lnTo>
                <a:cubicBezTo>
                  <a:pt x="1337779" y="1333872"/>
                  <a:pt x="1342988" y="1328849"/>
                  <a:pt x="1345964" y="1322338"/>
                </a:cubicBezTo>
                <a:cubicBezTo>
                  <a:pt x="1352848" y="1307641"/>
                  <a:pt x="1346523" y="1290154"/>
                  <a:pt x="1332012" y="1283085"/>
                </a:cubicBezTo>
                <a:lnTo>
                  <a:pt x="1331454" y="1282898"/>
                </a:lnTo>
                <a:lnTo>
                  <a:pt x="1019473" y="1137605"/>
                </a:lnTo>
                <a:close/>
                <a:moveTo>
                  <a:pt x="677168" y="0"/>
                </a:moveTo>
                <a:cubicBezTo>
                  <a:pt x="918642" y="0"/>
                  <a:pt x="1114351" y="195709"/>
                  <a:pt x="1114351" y="437183"/>
                </a:cubicBezTo>
                <a:cubicBezTo>
                  <a:pt x="1114351" y="676238"/>
                  <a:pt x="922548" y="870459"/>
                  <a:pt x="684423" y="874365"/>
                </a:cubicBezTo>
                <a:lnTo>
                  <a:pt x="677168" y="874365"/>
                </a:lnTo>
                <a:cubicBezTo>
                  <a:pt x="435694" y="874365"/>
                  <a:pt x="239985" y="678656"/>
                  <a:pt x="239985" y="437183"/>
                </a:cubicBezTo>
                <a:cubicBezTo>
                  <a:pt x="239985" y="198127"/>
                  <a:pt x="431788" y="3907"/>
                  <a:pt x="669913" y="0"/>
                </a:cubicBezTo>
                <a:lnTo>
                  <a:pt x="6771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9" name="Chart 47+++"/>
          <p:cNvGraphicFramePr/>
          <p:nvPr/>
        </p:nvGraphicFramePr>
        <p:xfrm>
          <a:off x="129074" y="5116441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TextBox 49+++"/>
          <p:cNvSpPr txBox="1"/>
          <p:nvPr/>
        </p:nvSpPr>
        <p:spPr>
          <a:xfrm>
            <a:off x="903288" y="5654063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快照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55++++"/>
          <p:cNvSpPr txBox="1"/>
          <p:nvPr/>
        </p:nvSpPr>
        <p:spPr>
          <a:xfrm>
            <a:off x="985041" y="5881462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按月</a:t>
            </a:r>
          </a:p>
        </p:txBody>
      </p:sp>
      <p:sp>
        <p:nvSpPr>
          <p:cNvPr id="42" name="TextBox 50+++"/>
          <p:cNvSpPr txBox="1"/>
          <p:nvPr/>
        </p:nvSpPr>
        <p:spPr>
          <a:xfrm>
            <a:off x="2302326" y="5426757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双库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3" name="TextBox 54+++"/>
          <p:cNvSpPr txBox="1"/>
          <p:nvPr/>
        </p:nvSpPr>
        <p:spPr>
          <a:xfrm>
            <a:off x="2022926" y="5775214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对账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44" name="TextBox 55+++"/>
          <p:cNvSpPr txBox="1"/>
          <p:nvPr/>
        </p:nvSpPr>
        <p:spPr>
          <a:xfrm>
            <a:off x="1997526" y="612367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闭环</a:t>
            </a:r>
          </a:p>
        </p:txBody>
      </p: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053770" y="5442858"/>
            <a:ext cx="216000" cy="215176"/>
            <a:chOff x="0" y="0"/>
            <a:chExt cx="1905465" cy="1898196"/>
          </a:xfrm>
          <a:solidFill>
            <a:schemeClr val="accent1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0" y="0"/>
              <a:ext cx="1548190" cy="1768928"/>
            </a:xfrm>
            <a:custGeom>
              <a:avLst/>
              <a:gdLst>
                <a:gd name="connsiteX0" fmla="*/ 1024188 w 1548190"/>
                <a:gd name="connsiteY0" fmla="*/ 663348 h 1768928"/>
                <a:gd name="connsiteX1" fmla="*/ 952733 w 1548190"/>
                <a:gd name="connsiteY1" fmla="*/ 884464 h 1768928"/>
                <a:gd name="connsiteX2" fmla="*/ 1024188 w 1548190"/>
                <a:gd name="connsiteY2" fmla="*/ 1105580 h 1768928"/>
                <a:gd name="connsiteX3" fmla="*/ 96821 w 1548190"/>
                <a:gd name="connsiteY3" fmla="*/ 1105580 h 1768928"/>
                <a:gd name="connsiteX4" fmla="*/ 0 w 1548190"/>
                <a:gd name="connsiteY4" fmla="*/ 994954 h 1768928"/>
                <a:gd name="connsiteX5" fmla="*/ 0 w 1548190"/>
                <a:gd name="connsiteY5" fmla="*/ 773974 h 1768928"/>
                <a:gd name="connsiteX6" fmla="*/ 96821 w 1548190"/>
                <a:gd name="connsiteY6" fmla="*/ 663484 h 1768928"/>
                <a:gd name="connsiteX7" fmla="*/ 1024188 w 1548190"/>
                <a:gd name="connsiteY7" fmla="*/ 663484 h 1768928"/>
                <a:gd name="connsiteX8" fmla="*/ 1479475 w 1548190"/>
                <a:gd name="connsiteY8" fmla="*/ 1101770 h 1768928"/>
                <a:gd name="connsiteX9" fmla="*/ 1548190 w 1548190"/>
                <a:gd name="connsiteY9" fmla="*/ 884464 h 1768928"/>
                <a:gd name="connsiteX10" fmla="*/ 1479475 w 1548190"/>
                <a:gd name="connsiteY10" fmla="*/ 667158 h 1768928"/>
                <a:gd name="connsiteX11" fmla="*/ 1548190 w 1548190"/>
                <a:gd name="connsiteY11" fmla="*/ 773974 h 1768928"/>
                <a:gd name="connsiteX12" fmla="*/ 1548190 w 1548190"/>
                <a:gd name="connsiteY12" fmla="*/ 995090 h 1768928"/>
                <a:gd name="connsiteX13" fmla="*/ 1479475 w 1548190"/>
                <a:gd name="connsiteY13" fmla="*/ 1101770 h 1768928"/>
                <a:gd name="connsiteX14" fmla="*/ 815420 w 1548190"/>
                <a:gd name="connsiteY14" fmla="*/ 1326697 h 1768928"/>
                <a:gd name="connsiteX15" fmla="*/ 714549 w 1548190"/>
                <a:gd name="connsiteY15" fmla="*/ 1661024 h 1768928"/>
                <a:gd name="connsiteX16" fmla="*/ 764806 w 1548190"/>
                <a:gd name="connsiteY16" fmla="*/ 1768929 h 1768928"/>
                <a:gd name="connsiteX17" fmla="*/ 96702 w 1548190"/>
                <a:gd name="connsiteY17" fmla="*/ 1768929 h 1768928"/>
                <a:gd name="connsiteX18" fmla="*/ 0 w 1548190"/>
                <a:gd name="connsiteY18" fmla="*/ 1658303 h 1768928"/>
                <a:gd name="connsiteX19" fmla="*/ 0 w 1548190"/>
                <a:gd name="connsiteY19" fmla="*/ 1437323 h 1768928"/>
                <a:gd name="connsiteX20" fmla="*/ 96821 w 1548190"/>
                <a:gd name="connsiteY20" fmla="*/ 1326697 h 1768928"/>
                <a:gd name="connsiteX21" fmla="*/ 815420 w 1548190"/>
                <a:gd name="connsiteY21" fmla="*/ 1326697 h 1768928"/>
                <a:gd name="connsiteX22" fmla="*/ 1451369 w 1548190"/>
                <a:gd name="connsiteY22" fmla="*/ 0 h 1768928"/>
                <a:gd name="connsiteX23" fmla="*/ 1548190 w 1548190"/>
                <a:gd name="connsiteY23" fmla="*/ 110626 h 1768928"/>
                <a:gd name="connsiteX24" fmla="*/ 1548190 w 1548190"/>
                <a:gd name="connsiteY24" fmla="*/ 331742 h 1768928"/>
                <a:gd name="connsiteX25" fmla="*/ 1451369 w 1548190"/>
                <a:gd name="connsiteY25" fmla="*/ 442232 h 1768928"/>
                <a:gd name="connsiteX26" fmla="*/ 96821 w 1548190"/>
                <a:gd name="connsiteY26" fmla="*/ 442232 h 1768928"/>
                <a:gd name="connsiteX27" fmla="*/ 0 w 1548190"/>
                <a:gd name="connsiteY27" fmla="*/ 331742 h 1768928"/>
                <a:gd name="connsiteX28" fmla="*/ 0 w 1548190"/>
                <a:gd name="connsiteY28" fmla="*/ 110626 h 1768928"/>
                <a:gd name="connsiteX29" fmla="*/ 96821 w 1548190"/>
                <a:gd name="connsiteY29" fmla="*/ 0 h 1768928"/>
                <a:gd name="connsiteX30" fmla="*/ 1451369 w 1548190"/>
                <a:gd name="connsiteY30" fmla="*/ 0 h 1768928"/>
                <a:gd name="connsiteX31" fmla="*/ 1354667 w 1548190"/>
                <a:gd name="connsiteY31" fmla="*/ 331742 h 1768928"/>
                <a:gd name="connsiteX32" fmla="*/ 1354667 w 1548190"/>
                <a:gd name="connsiteY32" fmla="*/ 221116 h 1768928"/>
                <a:gd name="connsiteX33" fmla="*/ 1064441 w 1548190"/>
                <a:gd name="connsiteY33" fmla="*/ 221116 h 1768928"/>
                <a:gd name="connsiteX34" fmla="*/ 1064441 w 1548190"/>
                <a:gd name="connsiteY34" fmla="*/ 331742 h 1768928"/>
                <a:gd name="connsiteX35" fmla="*/ 1354667 w 1548190"/>
                <a:gd name="connsiteY35" fmla="*/ 331742 h 176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48190" h="1768928">
                  <a:moveTo>
                    <a:pt x="1024188" y="663348"/>
                  </a:moveTo>
                  <a:cubicBezTo>
                    <a:pt x="977975" y="724907"/>
                    <a:pt x="952622" y="803363"/>
                    <a:pt x="952733" y="884464"/>
                  </a:cubicBezTo>
                  <a:cubicBezTo>
                    <a:pt x="952733" y="968829"/>
                    <a:pt x="979647" y="1046117"/>
                    <a:pt x="1024188" y="1105580"/>
                  </a:cubicBezTo>
                  <a:lnTo>
                    <a:pt x="96821" y="1105580"/>
                  </a:lnTo>
                  <a:cubicBezTo>
                    <a:pt x="38705" y="1105580"/>
                    <a:pt x="0" y="1061357"/>
                    <a:pt x="0" y="994954"/>
                  </a:cubicBezTo>
                  <a:lnTo>
                    <a:pt x="0" y="773974"/>
                  </a:lnTo>
                  <a:cubicBezTo>
                    <a:pt x="0" y="707708"/>
                    <a:pt x="38705" y="663484"/>
                    <a:pt x="96821" y="663484"/>
                  </a:cubicBezTo>
                  <a:lnTo>
                    <a:pt x="1024188" y="663484"/>
                  </a:lnTo>
                  <a:close/>
                  <a:moveTo>
                    <a:pt x="1479475" y="1101770"/>
                  </a:moveTo>
                  <a:cubicBezTo>
                    <a:pt x="1522348" y="1042851"/>
                    <a:pt x="1548190" y="967060"/>
                    <a:pt x="1548190" y="884464"/>
                  </a:cubicBezTo>
                  <a:cubicBezTo>
                    <a:pt x="1548277" y="805067"/>
                    <a:pt x="1523957" y="728157"/>
                    <a:pt x="1479475" y="667158"/>
                  </a:cubicBezTo>
                  <a:cubicBezTo>
                    <a:pt x="1521633" y="679133"/>
                    <a:pt x="1548190" y="718865"/>
                    <a:pt x="1548190" y="773974"/>
                  </a:cubicBezTo>
                  <a:lnTo>
                    <a:pt x="1548190" y="995090"/>
                  </a:lnTo>
                  <a:cubicBezTo>
                    <a:pt x="1548190" y="1049927"/>
                    <a:pt x="1521633" y="1089796"/>
                    <a:pt x="1479475" y="1101770"/>
                  </a:cubicBezTo>
                  <a:close/>
                  <a:moveTo>
                    <a:pt x="815420" y="1326697"/>
                  </a:moveTo>
                  <a:cubicBezTo>
                    <a:pt x="750221" y="1422239"/>
                    <a:pt x="714730" y="1539872"/>
                    <a:pt x="714549" y="1661024"/>
                  </a:cubicBezTo>
                  <a:cubicBezTo>
                    <a:pt x="714549" y="1702390"/>
                    <a:pt x="732890" y="1738449"/>
                    <a:pt x="764806" y="1768929"/>
                  </a:cubicBezTo>
                  <a:lnTo>
                    <a:pt x="96702" y="1768929"/>
                  </a:lnTo>
                  <a:cubicBezTo>
                    <a:pt x="38824" y="1768929"/>
                    <a:pt x="0" y="1724705"/>
                    <a:pt x="0" y="1658303"/>
                  </a:cubicBezTo>
                  <a:lnTo>
                    <a:pt x="0" y="1437323"/>
                  </a:lnTo>
                  <a:cubicBezTo>
                    <a:pt x="0" y="1370920"/>
                    <a:pt x="38705" y="1326697"/>
                    <a:pt x="96821" y="1326697"/>
                  </a:cubicBezTo>
                  <a:lnTo>
                    <a:pt x="815420" y="1326697"/>
                  </a:lnTo>
                  <a:close/>
                  <a:moveTo>
                    <a:pt x="1451369" y="0"/>
                  </a:moveTo>
                  <a:cubicBezTo>
                    <a:pt x="1509486" y="0"/>
                    <a:pt x="1548190" y="44223"/>
                    <a:pt x="1548190" y="110626"/>
                  </a:cubicBezTo>
                  <a:lnTo>
                    <a:pt x="1548190" y="331742"/>
                  </a:lnTo>
                  <a:cubicBezTo>
                    <a:pt x="1548190" y="398009"/>
                    <a:pt x="1509486" y="442232"/>
                    <a:pt x="1451369" y="442232"/>
                  </a:cubicBezTo>
                  <a:lnTo>
                    <a:pt x="96821" y="442232"/>
                  </a:lnTo>
                  <a:cubicBezTo>
                    <a:pt x="38705" y="442232"/>
                    <a:pt x="0" y="398009"/>
                    <a:pt x="0" y="331742"/>
                  </a:cubicBezTo>
                  <a:lnTo>
                    <a:pt x="0" y="110626"/>
                  </a:lnTo>
                  <a:cubicBezTo>
                    <a:pt x="0" y="44223"/>
                    <a:pt x="38705" y="0"/>
                    <a:pt x="96821" y="0"/>
                  </a:cubicBezTo>
                  <a:lnTo>
                    <a:pt x="1451369" y="0"/>
                  </a:lnTo>
                  <a:close/>
                  <a:moveTo>
                    <a:pt x="1354667" y="331742"/>
                  </a:moveTo>
                  <a:lnTo>
                    <a:pt x="1354667" y="221116"/>
                  </a:lnTo>
                  <a:lnTo>
                    <a:pt x="1064441" y="221116"/>
                  </a:lnTo>
                  <a:lnTo>
                    <a:pt x="1064441" y="331742"/>
                  </a:lnTo>
                  <a:lnTo>
                    <a:pt x="1354667" y="331742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33641" y="544269"/>
              <a:ext cx="1071824" cy="1353927"/>
            </a:xfrm>
            <a:custGeom>
              <a:avLst/>
              <a:gdLst>
                <a:gd name="connsiteX0" fmla="*/ 331432 w 1071824"/>
                <a:gd name="connsiteY0" fmla="*/ 587437 h 1353927"/>
                <a:gd name="connsiteX1" fmla="*/ 319509 w 1071824"/>
                <a:gd name="connsiteY1" fmla="*/ 106545 h 1353927"/>
                <a:gd name="connsiteX2" fmla="*/ 740392 w 1071824"/>
                <a:gd name="connsiteY2" fmla="*/ 92922 h 1353927"/>
                <a:gd name="connsiteX3" fmla="*/ 752315 w 1071824"/>
                <a:gd name="connsiteY3" fmla="*/ 573814 h 1353927"/>
                <a:gd name="connsiteX4" fmla="*/ 740392 w 1071824"/>
                <a:gd name="connsiteY4" fmla="*/ 587437 h 1353927"/>
                <a:gd name="connsiteX5" fmla="*/ 1071824 w 1071824"/>
                <a:gd name="connsiteY5" fmla="*/ 1116755 h 1353927"/>
                <a:gd name="connsiteX6" fmla="*/ 0 w 1071824"/>
                <a:gd name="connsiteY6" fmla="*/ 1116755 h 1353927"/>
                <a:gd name="connsiteX7" fmla="*/ 331432 w 1071824"/>
                <a:gd name="connsiteY7" fmla="*/ 587437 h 1353927"/>
                <a:gd name="connsiteX8" fmla="*/ 531863 w 1071824"/>
                <a:gd name="connsiteY8" fmla="*/ 680374 h 1353927"/>
                <a:gd name="connsiteX9" fmla="*/ 357275 w 1071824"/>
                <a:gd name="connsiteY9" fmla="*/ 957143 h 1353927"/>
                <a:gd name="connsiteX10" fmla="*/ 531863 w 1071824"/>
                <a:gd name="connsiteY10" fmla="*/ 1166013 h 1353927"/>
                <a:gd name="connsiteX11" fmla="*/ 714549 w 1071824"/>
                <a:gd name="connsiteY11" fmla="*/ 957143 h 1353927"/>
                <a:gd name="connsiteX12" fmla="*/ 531863 w 1071824"/>
                <a:gd name="connsiteY12" fmla="*/ 680374 h 135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1824" h="1353927">
                  <a:moveTo>
                    <a:pt x="331432" y="587437"/>
                  </a:moveTo>
                  <a:cubicBezTo>
                    <a:pt x="211916" y="458404"/>
                    <a:pt x="206578" y="243101"/>
                    <a:pt x="319509" y="106545"/>
                  </a:cubicBezTo>
                  <a:cubicBezTo>
                    <a:pt x="432440" y="-30012"/>
                    <a:pt x="620876" y="-36111"/>
                    <a:pt x="740392" y="92922"/>
                  </a:cubicBezTo>
                  <a:cubicBezTo>
                    <a:pt x="859909" y="221955"/>
                    <a:pt x="865247" y="437257"/>
                    <a:pt x="752315" y="573814"/>
                  </a:cubicBezTo>
                  <a:cubicBezTo>
                    <a:pt x="748454" y="578483"/>
                    <a:pt x="744478" y="583026"/>
                    <a:pt x="740392" y="587437"/>
                  </a:cubicBezTo>
                  <a:cubicBezTo>
                    <a:pt x="934988" y="673298"/>
                    <a:pt x="1071824" y="877950"/>
                    <a:pt x="1071824" y="1116755"/>
                  </a:cubicBezTo>
                  <a:cubicBezTo>
                    <a:pt x="1071824" y="1432985"/>
                    <a:pt x="0" y="1432985"/>
                    <a:pt x="0" y="1116755"/>
                  </a:cubicBezTo>
                  <a:cubicBezTo>
                    <a:pt x="0" y="877950"/>
                    <a:pt x="136955" y="673298"/>
                    <a:pt x="331432" y="587437"/>
                  </a:cubicBezTo>
                  <a:close/>
                  <a:moveTo>
                    <a:pt x="531863" y="680374"/>
                  </a:moveTo>
                  <a:lnTo>
                    <a:pt x="357275" y="957143"/>
                  </a:lnTo>
                  <a:lnTo>
                    <a:pt x="531863" y="1166013"/>
                  </a:lnTo>
                  <a:lnTo>
                    <a:pt x="714549" y="957143"/>
                  </a:lnTo>
                  <a:lnTo>
                    <a:pt x="531863" y="680374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8" name="图表 47"/>
          <p:cNvGraphicFramePr/>
          <p:nvPr/>
        </p:nvGraphicFramePr>
        <p:xfrm>
          <a:off x="3359147" y="943429"/>
          <a:ext cx="5087257" cy="139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9" name="Chart 93+"/>
          <p:cNvGraphicFramePr/>
          <p:nvPr/>
        </p:nvGraphicFramePr>
        <p:xfrm>
          <a:off x="3359147" y="2402114"/>
          <a:ext cx="5087257" cy="132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50" name="Chart 93++"/>
          <p:cNvGraphicFramePr/>
          <p:nvPr/>
        </p:nvGraphicFramePr>
        <p:xfrm>
          <a:off x="3359147" y="3817257"/>
          <a:ext cx="5087257" cy="1344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51" name="Chart 93+++"/>
          <p:cNvGraphicFramePr/>
          <p:nvPr/>
        </p:nvGraphicFramePr>
        <p:xfrm>
          <a:off x="3359147" y="5341257"/>
          <a:ext cx="5087257" cy="1257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2" name="矩形 51"/>
          <p:cNvSpPr/>
          <p:nvPr/>
        </p:nvSpPr>
        <p:spPr>
          <a:xfrm>
            <a:off x="8766629" y="873125"/>
            <a:ext cx="2982459" cy="4032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101+"/>
          <p:cNvSpPr/>
          <p:nvPr/>
        </p:nvSpPr>
        <p:spPr>
          <a:xfrm flipV="1">
            <a:off x="89770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101++"/>
          <p:cNvSpPr/>
          <p:nvPr/>
        </p:nvSpPr>
        <p:spPr>
          <a:xfrm flipH="1" flipV="1">
            <a:off x="108566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TextBox 104+"/>
          <p:cNvSpPr txBox="1"/>
          <p:nvPr/>
        </p:nvSpPr>
        <p:spPr>
          <a:xfrm>
            <a:off x="9165928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新增技能</a:t>
            </a:r>
          </a:p>
        </p:txBody>
      </p:sp>
      <p:sp>
        <p:nvSpPr>
          <p:cNvPr id="56" name="Rounded Rectangle 102+"/>
          <p:cNvSpPr/>
          <p:nvPr/>
        </p:nvSpPr>
        <p:spPr>
          <a:xfrm>
            <a:off x="9020629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TextBox 104++"/>
          <p:cNvSpPr txBox="1"/>
          <p:nvPr/>
        </p:nvSpPr>
        <p:spPr>
          <a:xfrm>
            <a:off x="10559300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技能移除</a:t>
            </a:r>
          </a:p>
        </p:txBody>
      </p:sp>
      <p:sp>
        <p:nvSpPr>
          <p:cNvPr id="58" name="Rounded Rectangle 102++"/>
          <p:cNvSpPr/>
          <p:nvPr/>
        </p:nvSpPr>
        <p:spPr>
          <a:xfrm>
            <a:off x="10414001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9698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9020629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55696" y="170135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升级</a:t>
            </a:r>
          </a:p>
        </p:txBody>
      </p:sp>
      <p:sp>
        <p:nvSpPr>
          <p:cNvPr id="62" name="TextBox 104+"/>
          <p:cNvSpPr txBox="1"/>
          <p:nvPr/>
        </p:nvSpPr>
        <p:spPr>
          <a:xfrm>
            <a:off x="9306366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Freeform 101+"/>
          <p:cNvSpPr/>
          <p:nvPr/>
        </p:nvSpPr>
        <p:spPr>
          <a:xfrm flipH="1">
            <a:off x="108494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TextBox 104+"/>
          <p:cNvSpPr txBox="1"/>
          <p:nvPr/>
        </p:nvSpPr>
        <p:spPr>
          <a:xfrm>
            <a:off x="10579469" y="1701350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降级</a:t>
            </a:r>
          </a:p>
        </p:txBody>
      </p:sp>
      <p:sp>
        <p:nvSpPr>
          <p:cNvPr id="65" name="Rounded Rectangle 102+"/>
          <p:cNvSpPr/>
          <p:nvPr/>
        </p:nvSpPr>
        <p:spPr>
          <a:xfrm>
            <a:off x="10434170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TextBox 104++"/>
          <p:cNvSpPr txBox="1"/>
          <p:nvPr/>
        </p:nvSpPr>
        <p:spPr>
          <a:xfrm>
            <a:off x="10719907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104+++"/>
          <p:cNvSpPr txBox="1"/>
          <p:nvPr/>
        </p:nvSpPr>
        <p:spPr>
          <a:xfrm>
            <a:off x="10719907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104++"/>
          <p:cNvSpPr txBox="1"/>
          <p:nvPr/>
        </p:nvSpPr>
        <p:spPr>
          <a:xfrm>
            <a:off x="9306366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8715829" y="2018697"/>
          <a:ext cx="3164114" cy="238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0" name="任意多边形: 形状 69"/>
          <p:cNvSpPr/>
          <p:nvPr/>
        </p:nvSpPr>
        <p:spPr>
          <a:xfrm>
            <a:off x="9055357" y="873125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50+"/>
          <p:cNvSpPr txBox="1"/>
          <p:nvPr/>
        </p:nvSpPr>
        <p:spPr>
          <a:xfrm>
            <a:off x="9449946" y="1013680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能力变更类型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4597" y="5637809"/>
            <a:ext cx="257762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 / 移除：Z-score 涌现检测 + 四重门禁防幻觉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924597" y="5842279"/>
            <a:ext cx="25680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升级 / 降级：按信任分与引用强度动态调整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/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924597" y="6046749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中文更新说明 + 数据源追溯，全流程可审计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924597" y="6251220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「机器学习工程师」新增：大模型微调 · RAG（信任分 0.92）</a:t>
            </a:r>
          </a:p>
        </p:txBody>
      </p:sp>
      <p:sp>
        <p:nvSpPr>
          <p:cNvPr id="76" name="Freeform 129+"/>
          <p:cNvSpPr/>
          <p:nvPr/>
        </p:nvSpPr>
        <p:spPr>
          <a:xfrm>
            <a:off x="9055357" y="4989662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TextBox 50++"/>
          <p:cNvSpPr txBox="1"/>
          <p:nvPr/>
        </p:nvSpPr>
        <p:spPr>
          <a:xfrm>
            <a:off x="9334530" y="51302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演化闭环机制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9989308" y="2915479"/>
            <a:ext cx="625682" cy="627515"/>
            <a:chOff x="3795" y="0"/>
            <a:chExt cx="1899435" cy="1905000"/>
          </a:xfrm>
          <a:solidFill>
            <a:schemeClr val="accent1"/>
          </a:solidFill>
        </p:grpSpPr>
        <p:sp>
          <p:nvSpPr>
            <p:cNvPr id="79" name="任意多边形: 形状 78"/>
            <p:cNvSpPr/>
            <p:nvPr/>
          </p:nvSpPr>
          <p:spPr>
            <a:xfrm>
              <a:off x="495257" y="899213"/>
              <a:ext cx="688806" cy="651810"/>
            </a:xfrm>
            <a:custGeom>
              <a:avLst/>
              <a:gdLst>
                <a:gd name="connsiteX0" fmla="*/ 635675 w 688806"/>
                <a:gd name="connsiteY0" fmla="*/ 155102 h 651810"/>
                <a:gd name="connsiteX1" fmla="*/ 582544 w 688806"/>
                <a:gd name="connsiteY1" fmla="*/ 208389 h 651810"/>
                <a:gd name="connsiteX2" fmla="*/ 582544 w 688806"/>
                <a:gd name="connsiteY2" fmla="*/ 597572 h 651810"/>
                <a:gd name="connsiteX3" fmla="*/ 635675 w 688806"/>
                <a:gd name="connsiteY3" fmla="*/ 650859 h 651810"/>
                <a:gd name="connsiteX4" fmla="*/ 688806 w 688806"/>
                <a:gd name="connsiteY4" fmla="*/ 597572 h 651810"/>
                <a:gd name="connsiteX5" fmla="*/ 688806 w 688806"/>
                <a:gd name="connsiteY5" fmla="*/ 208389 h 651810"/>
                <a:gd name="connsiteX6" fmla="*/ 635675 w 688806"/>
                <a:gd name="connsiteY6" fmla="*/ 155102 h 651810"/>
                <a:gd name="connsiteX7" fmla="*/ 53131 w 688806"/>
                <a:gd name="connsiteY7" fmla="*/ 233129 h 651810"/>
                <a:gd name="connsiteX8" fmla="*/ 0 w 688806"/>
                <a:gd name="connsiteY8" fmla="*/ 286416 h 651810"/>
                <a:gd name="connsiteX9" fmla="*/ 0 w 688806"/>
                <a:gd name="connsiteY9" fmla="*/ 597572 h 651810"/>
                <a:gd name="connsiteX10" fmla="*/ 53131 w 688806"/>
                <a:gd name="connsiteY10" fmla="*/ 650859 h 651810"/>
                <a:gd name="connsiteX11" fmla="*/ 106262 w 688806"/>
                <a:gd name="connsiteY11" fmla="*/ 597572 h 651810"/>
                <a:gd name="connsiteX12" fmla="*/ 106262 w 688806"/>
                <a:gd name="connsiteY12" fmla="*/ 286416 h 651810"/>
                <a:gd name="connsiteX13" fmla="*/ 53131 w 688806"/>
                <a:gd name="connsiteY13" fmla="*/ 233129 h 651810"/>
                <a:gd name="connsiteX14" fmla="*/ 344403 w 688806"/>
                <a:gd name="connsiteY14" fmla="*/ 0 h 651810"/>
                <a:gd name="connsiteX15" fmla="*/ 291272 w 688806"/>
                <a:gd name="connsiteY15" fmla="*/ 53287 h 651810"/>
                <a:gd name="connsiteX16" fmla="*/ 291272 w 688806"/>
                <a:gd name="connsiteY16" fmla="*/ 598524 h 651810"/>
                <a:gd name="connsiteX17" fmla="*/ 344403 w 688806"/>
                <a:gd name="connsiteY17" fmla="*/ 651811 h 651810"/>
                <a:gd name="connsiteX18" fmla="*/ 397534 w 688806"/>
                <a:gd name="connsiteY18" fmla="*/ 598524 h 651810"/>
                <a:gd name="connsiteX19" fmla="*/ 397534 w 688806"/>
                <a:gd name="connsiteY19" fmla="*/ 53287 h 651810"/>
                <a:gd name="connsiteX20" fmla="*/ 344403 w 688806"/>
                <a:gd name="connsiteY20" fmla="*/ 0 h 65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88806" h="651810">
                  <a:moveTo>
                    <a:pt x="635675" y="155102"/>
                  </a:moveTo>
                  <a:cubicBezTo>
                    <a:pt x="608161" y="155102"/>
                    <a:pt x="582544" y="180794"/>
                    <a:pt x="582544" y="208389"/>
                  </a:cubicBezTo>
                  <a:lnTo>
                    <a:pt x="582544" y="597572"/>
                  </a:lnTo>
                  <a:cubicBezTo>
                    <a:pt x="582544" y="625167"/>
                    <a:pt x="608161" y="650859"/>
                    <a:pt x="635675" y="650859"/>
                  </a:cubicBezTo>
                  <a:cubicBezTo>
                    <a:pt x="663189" y="650859"/>
                    <a:pt x="688806" y="625167"/>
                    <a:pt x="688806" y="597572"/>
                  </a:cubicBezTo>
                  <a:lnTo>
                    <a:pt x="688806" y="208389"/>
                  </a:lnTo>
                  <a:cubicBezTo>
                    <a:pt x="688806" y="181746"/>
                    <a:pt x="662241" y="155102"/>
                    <a:pt x="635675" y="155102"/>
                  </a:cubicBezTo>
                  <a:close/>
                  <a:moveTo>
                    <a:pt x="53131" y="233129"/>
                  </a:moveTo>
                  <a:cubicBezTo>
                    <a:pt x="25617" y="233129"/>
                    <a:pt x="0" y="258821"/>
                    <a:pt x="0" y="286416"/>
                  </a:cubicBezTo>
                  <a:lnTo>
                    <a:pt x="0" y="597572"/>
                  </a:lnTo>
                  <a:cubicBezTo>
                    <a:pt x="0" y="625167"/>
                    <a:pt x="25617" y="650859"/>
                    <a:pt x="53131" y="650859"/>
                  </a:cubicBezTo>
                  <a:cubicBezTo>
                    <a:pt x="80645" y="650859"/>
                    <a:pt x="106262" y="625167"/>
                    <a:pt x="106262" y="597572"/>
                  </a:cubicBezTo>
                  <a:lnTo>
                    <a:pt x="106262" y="286416"/>
                  </a:lnTo>
                  <a:cubicBezTo>
                    <a:pt x="106262" y="258821"/>
                    <a:pt x="80645" y="233129"/>
                    <a:pt x="53131" y="233129"/>
                  </a:cubicBezTo>
                  <a:close/>
                  <a:moveTo>
                    <a:pt x="344403" y="0"/>
                  </a:moveTo>
                  <a:cubicBezTo>
                    <a:pt x="316889" y="0"/>
                    <a:pt x="291272" y="25692"/>
                    <a:pt x="291272" y="53287"/>
                  </a:cubicBezTo>
                  <a:lnTo>
                    <a:pt x="291272" y="598524"/>
                  </a:lnTo>
                  <a:cubicBezTo>
                    <a:pt x="291272" y="626119"/>
                    <a:pt x="316889" y="651811"/>
                    <a:pt x="344403" y="651811"/>
                  </a:cubicBezTo>
                  <a:cubicBezTo>
                    <a:pt x="371917" y="651811"/>
                    <a:pt x="397534" y="626119"/>
                    <a:pt x="397534" y="598524"/>
                  </a:cubicBezTo>
                  <a:lnTo>
                    <a:pt x="397534" y="53287"/>
                  </a:lnTo>
                  <a:cubicBezTo>
                    <a:pt x="397534" y="25692"/>
                    <a:pt x="371917" y="0"/>
                    <a:pt x="344403" y="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55885" y="355992"/>
              <a:ext cx="1189714" cy="1195031"/>
            </a:xfrm>
            <a:custGeom>
              <a:avLst/>
              <a:gdLst>
                <a:gd name="connsiteX0" fmla="*/ 1158350 w 1189714"/>
                <a:gd name="connsiteY0" fmla="*/ 7499 h 1195031"/>
                <a:gd name="connsiteX1" fmla="*/ 1121348 w 1189714"/>
                <a:gd name="connsiteY1" fmla="*/ 4644 h 1195031"/>
                <a:gd name="connsiteX2" fmla="*/ 918311 w 1189714"/>
                <a:gd name="connsiteY2" fmla="*/ 4644 h 1195031"/>
                <a:gd name="connsiteX3" fmla="*/ 865180 w 1189714"/>
                <a:gd name="connsiteY3" fmla="*/ 57931 h 1195031"/>
                <a:gd name="connsiteX4" fmla="*/ 918311 w 1189714"/>
                <a:gd name="connsiteY4" fmla="*/ 111217 h 1195031"/>
                <a:gd name="connsiteX5" fmla="*/ 1008444 w 1189714"/>
                <a:gd name="connsiteY5" fmla="*/ 111217 h 1195031"/>
                <a:gd name="connsiteX6" fmla="*/ 697248 w 1189714"/>
                <a:gd name="connsiteY6" fmla="*/ 445211 h 1195031"/>
                <a:gd name="connsiteX7" fmla="*/ 442978 w 1189714"/>
                <a:gd name="connsiteY7" fmla="*/ 176874 h 1195031"/>
                <a:gd name="connsiteX8" fmla="*/ 389847 w 1189714"/>
                <a:gd name="connsiteY8" fmla="*/ 166407 h 1195031"/>
                <a:gd name="connsiteX9" fmla="*/ 369923 w 1189714"/>
                <a:gd name="connsiteY9" fmla="*/ 176874 h 1195031"/>
                <a:gd name="connsiteX10" fmla="*/ 14135 w 1189714"/>
                <a:gd name="connsiteY10" fmla="*/ 559397 h 1195031"/>
                <a:gd name="connsiteX11" fmla="*/ 12237 w 1189714"/>
                <a:gd name="connsiteY11" fmla="*/ 635521 h 1195031"/>
                <a:gd name="connsiteX12" fmla="*/ 14135 w 1189714"/>
                <a:gd name="connsiteY12" fmla="*/ 637424 h 1195031"/>
                <a:gd name="connsiteX13" fmla="*/ 50188 w 1189714"/>
                <a:gd name="connsiteY13" fmla="*/ 651697 h 1195031"/>
                <a:gd name="connsiteX14" fmla="*/ 86241 w 1189714"/>
                <a:gd name="connsiteY14" fmla="*/ 637424 h 1195031"/>
                <a:gd name="connsiteX15" fmla="*/ 412618 w 1189714"/>
                <a:gd name="connsiteY15" fmla="*/ 286302 h 1195031"/>
                <a:gd name="connsiteX16" fmla="*/ 666888 w 1189714"/>
                <a:gd name="connsiteY16" fmla="*/ 561300 h 1195031"/>
                <a:gd name="connsiteX17" fmla="*/ 702941 w 1189714"/>
                <a:gd name="connsiteY17" fmla="*/ 575573 h 1195031"/>
                <a:gd name="connsiteX18" fmla="*/ 738994 w 1189714"/>
                <a:gd name="connsiteY18" fmla="*/ 561300 h 1195031"/>
                <a:gd name="connsiteX19" fmla="*/ 1083397 w 1189714"/>
                <a:gd name="connsiteY19" fmla="*/ 192099 h 1195031"/>
                <a:gd name="connsiteX20" fmla="*/ 1083397 w 1189714"/>
                <a:gd name="connsiteY20" fmla="*/ 298672 h 1195031"/>
                <a:gd name="connsiteX21" fmla="*/ 1136528 w 1189714"/>
                <a:gd name="connsiteY21" fmla="*/ 351959 h 1195031"/>
                <a:gd name="connsiteX22" fmla="*/ 1189659 w 1189714"/>
                <a:gd name="connsiteY22" fmla="*/ 298672 h 1195031"/>
                <a:gd name="connsiteX23" fmla="*/ 1189659 w 1189714"/>
                <a:gd name="connsiteY23" fmla="*/ 64592 h 1195031"/>
                <a:gd name="connsiteX24" fmla="*/ 1158350 w 1189714"/>
                <a:gd name="connsiteY24" fmla="*/ 7499 h 1195031"/>
                <a:gd name="connsiteX25" fmla="*/ 1066319 w 1189714"/>
                <a:gd name="connsiteY25" fmla="*/ 543220 h 1195031"/>
                <a:gd name="connsiteX26" fmla="*/ 1013188 w 1189714"/>
                <a:gd name="connsiteY26" fmla="*/ 596507 h 1195031"/>
                <a:gd name="connsiteX27" fmla="*/ 1013188 w 1189714"/>
                <a:gd name="connsiteY27" fmla="*/ 1141745 h 1195031"/>
                <a:gd name="connsiteX28" fmla="*/ 1066319 w 1189714"/>
                <a:gd name="connsiteY28" fmla="*/ 1195031 h 1195031"/>
                <a:gd name="connsiteX29" fmla="*/ 1119450 w 1189714"/>
                <a:gd name="connsiteY29" fmla="*/ 1141745 h 1195031"/>
                <a:gd name="connsiteX30" fmla="*/ 1119450 w 1189714"/>
                <a:gd name="connsiteY30" fmla="*/ 596507 h 1195031"/>
                <a:gd name="connsiteX31" fmla="*/ 1066319 w 1189714"/>
                <a:gd name="connsiteY31" fmla="*/ 543220 h 1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89714" h="1195031">
                  <a:moveTo>
                    <a:pt x="1158350" y="7499"/>
                  </a:moveTo>
                  <a:cubicBezTo>
                    <a:pt x="1146016" y="-3920"/>
                    <a:pt x="1131784" y="-114"/>
                    <a:pt x="1121348" y="4644"/>
                  </a:cubicBezTo>
                  <a:lnTo>
                    <a:pt x="918311" y="4644"/>
                  </a:lnTo>
                  <a:cubicBezTo>
                    <a:pt x="890797" y="4644"/>
                    <a:pt x="865180" y="30336"/>
                    <a:pt x="865180" y="57931"/>
                  </a:cubicBezTo>
                  <a:cubicBezTo>
                    <a:pt x="865180" y="85526"/>
                    <a:pt x="890797" y="111217"/>
                    <a:pt x="918311" y="111217"/>
                  </a:cubicBezTo>
                  <a:lnTo>
                    <a:pt x="1008444" y="111217"/>
                  </a:lnTo>
                  <a:lnTo>
                    <a:pt x="697248" y="445211"/>
                  </a:lnTo>
                  <a:lnTo>
                    <a:pt x="442978" y="176874"/>
                  </a:lnTo>
                  <a:cubicBezTo>
                    <a:pt x="426849" y="160698"/>
                    <a:pt x="409771" y="157843"/>
                    <a:pt x="389847" y="166407"/>
                  </a:cubicBezTo>
                  <a:cubicBezTo>
                    <a:pt x="379411" y="168310"/>
                    <a:pt x="371820" y="174971"/>
                    <a:pt x="369923" y="176874"/>
                  </a:cubicBezTo>
                  <a:lnTo>
                    <a:pt x="14135" y="559397"/>
                  </a:lnTo>
                  <a:cubicBezTo>
                    <a:pt x="-3892" y="577476"/>
                    <a:pt x="-4841" y="610780"/>
                    <a:pt x="12237" y="635521"/>
                  </a:cubicBezTo>
                  <a:lnTo>
                    <a:pt x="14135" y="637424"/>
                  </a:lnTo>
                  <a:cubicBezTo>
                    <a:pt x="22674" y="645988"/>
                    <a:pt x="35956" y="651697"/>
                    <a:pt x="50188" y="651697"/>
                  </a:cubicBezTo>
                  <a:cubicBezTo>
                    <a:pt x="64419" y="651697"/>
                    <a:pt x="77702" y="646939"/>
                    <a:pt x="86241" y="637424"/>
                  </a:cubicBezTo>
                  <a:lnTo>
                    <a:pt x="412618" y="286302"/>
                  </a:lnTo>
                  <a:lnTo>
                    <a:pt x="666888" y="561300"/>
                  </a:lnTo>
                  <a:cubicBezTo>
                    <a:pt x="675427" y="569864"/>
                    <a:pt x="688709" y="575573"/>
                    <a:pt x="702941" y="575573"/>
                  </a:cubicBezTo>
                  <a:cubicBezTo>
                    <a:pt x="717172" y="575573"/>
                    <a:pt x="730455" y="570815"/>
                    <a:pt x="738994" y="561300"/>
                  </a:cubicBezTo>
                  <a:lnTo>
                    <a:pt x="1083397" y="192099"/>
                  </a:lnTo>
                  <a:lnTo>
                    <a:pt x="1083397" y="298672"/>
                  </a:lnTo>
                  <a:cubicBezTo>
                    <a:pt x="1083397" y="326267"/>
                    <a:pt x="1109014" y="351959"/>
                    <a:pt x="1136528" y="351959"/>
                  </a:cubicBezTo>
                  <a:cubicBezTo>
                    <a:pt x="1164042" y="351959"/>
                    <a:pt x="1189659" y="326267"/>
                    <a:pt x="1189659" y="298672"/>
                  </a:cubicBezTo>
                  <a:lnTo>
                    <a:pt x="1189659" y="64592"/>
                  </a:lnTo>
                  <a:cubicBezTo>
                    <a:pt x="1190608" y="38900"/>
                    <a:pt x="1179223" y="18917"/>
                    <a:pt x="1158350" y="7499"/>
                  </a:cubicBezTo>
                  <a:close/>
                  <a:moveTo>
                    <a:pt x="1066319" y="543220"/>
                  </a:moveTo>
                  <a:cubicBezTo>
                    <a:pt x="1038805" y="543220"/>
                    <a:pt x="1013188" y="568912"/>
                    <a:pt x="1013188" y="596507"/>
                  </a:cubicBezTo>
                  <a:lnTo>
                    <a:pt x="1013188" y="1141745"/>
                  </a:lnTo>
                  <a:cubicBezTo>
                    <a:pt x="1013188" y="1169339"/>
                    <a:pt x="1038805" y="1195031"/>
                    <a:pt x="1066319" y="1195031"/>
                  </a:cubicBezTo>
                  <a:cubicBezTo>
                    <a:pt x="1093834" y="1195031"/>
                    <a:pt x="1119450" y="1169339"/>
                    <a:pt x="1119450" y="1141745"/>
                  </a:cubicBezTo>
                  <a:lnTo>
                    <a:pt x="1119450" y="596507"/>
                  </a:lnTo>
                  <a:cubicBezTo>
                    <a:pt x="1119450" y="568912"/>
                    <a:pt x="1093834" y="543220"/>
                    <a:pt x="1066319" y="54322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795" y="0"/>
              <a:ext cx="1899435" cy="1905000"/>
            </a:xfrm>
            <a:custGeom>
              <a:avLst/>
              <a:gdLst>
                <a:gd name="connsiteX0" fmla="*/ 949718 w 1899435"/>
                <a:gd name="connsiteY0" fmla="*/ 1905000 h 1905000"/>
                <a:gd name="connsiteX1" fmla="*/ 0 w 1899435"/>
                <a:gd name="connsiteY1" fmla="*/ 952500 h 1905000"/>
                <a:gd name="connsiteX2" fmla="*/ 949718 w 1899435"/>
                <a:gd name="connsiteY2" fmla="*/ 0 h 1905000"/>
                <a:gd name="connsiteX3" fmla="*/ 1899435 w 1899435"/>
                <a:gd name="connsiteY3" fmla="*/ 952500 h 1905000"/>
                <a:gd name="connsiteX4" fmla="*/ 949718 w 1899435"/>
                <a:gd name="connsiteY4" fmla="*/ 1905000 h 1905000"/>
                <a:gd name="connsiteX5" fmla="*/ 949718 w 1899435"/>
                <a:gd name="connsiteY5" fmla="*/ 105622 h 1905000"/>
                <a:gd name="connsiteX6" fmla="*/ 105313 w 1899435"/>
                <a:gd name="connsiteY6" fmla="*/ 952500 h 1905000"/>
                <a:gd name="connsiteX7" fmla="*/ 949718 w 1899435"/>
                <a:gd name="connsiteY7" fmla="*/ 1799378 h 1905000"/>
                <a:gd name="connsiteX8" fmla="*/ 1794122 w 1899435"/>
                <a:gd name="connsiteY8" fmla="*/ 952500 h 1905000"/>
                <a:gd name="connsiteX9" fmla="*/ 949718 w 1899435"/>
                <a:gd name="connsiteY9" fmla="*/ 10562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435" h="1905000">
                  <a:moveTo>
                    <a:pt x="949718" y="1905000"/>
                  </a:moveTo>
                  <a:cubicBezTo>
                    <a:pt x="425997" y="1905000"/>
                    <a:pt x="0" y="1477755"/>
                    <a:pt x="0" y="952500"/>
                  </a:cubicBezTo>
                  <a:cubicBezTo>
                    <a:pt x="0" y="427245"/>
                    <a:pt x="425997" y="0"/>
                    <a:pt x="949718" y="0"/>
                  </a:cubicBezTo>
                  <a:cubicBezTo>
                    <a:pt x="1473438" y="0"/>
                    <a:pt x="1899435" y="427245"/>
                    <a:pt x="1899435" y="952500"/>
                  </a:cubicBezTo>
                  <a:cubicBezTo>
                    <a:pt x="1899435" y="1477755"/>
                    <a:pt x="1473438" y="1905000"/>
                    <a:pt x="949718" y="1905000"/>
                  </a:cubicBezTo>
                  <a:close/>
                  <a:moveTo>
                    <a:pt x="949718" y="105622"/>
                  </a:moveTo>
                  <a:cubicBezTo>
                    <a:pt x="483872" y="105622"/>
                    <a:pt x="105313" y="485290"/>
                    <a:pt x="105313" y="952500"/>
                  </a:cubicBezTo>
                  <a:cubicBezTo>
                    <a:pt x="105313" y="1419710"/>
                    <a:pt x="483872" y="1799378"/>
                    <a:pt x="949718" y="1799378"/>
                  </a:cubicBezTo>
                  <a:cubicBezTo>
                    <a:pt x="1415563" y="1799378"/>
                    <a:pt x="1794122" y="1419710"/>
                    <a:pt x="1794122" y="952500"/>
                  </a:cubicBezTo>
                  <a:cubicBezTo>
                    <a:pt x="1794122" y="485290"/>
                    <a:pt x="1415563" y="105622"/>
                    <a:pt x="949718" y="105622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685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部署运维与数据工程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/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/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/>
            </a:r>
          </a:p>
        </p:txBody>
      </p:sp>
      <p:grpSp>
        <p:nvGrpSpPr>
          <p:cNvPr id="66" name="组合 65"/>
          <p:cNvGrpSpPr/>
          <p:nvPr>
            <p:custDataLst>
              <p:tags r:id="rId2"/>
            </p:custDataLst>
          </p:nvPr>
        </p:nvGrpSpPr>
        <p:grpSpPr>
          <a:xfrm>
            <a:off x="9072245" y="4850448"/>
            <a:ext cx="2721610" cy="1815465"/>
            <a:chOff x="930" y="5560"/>
            <a:chExt cx="4286" cy="2859"/>
          </a:xfrm>
        </p:grpSpPr>
        <p:sp>
          <p:nvSpPr>
            <p:cNvPr id="68" name="圆角矩形 67"/>
            <p:cNvSpPr/>
            <p:nvPr>
              <p:custDataLst>
                <p:tags r:id="rId30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9" name="圆角矩形 68"/>
            <p:cNvSpPr/>
            <p:nvPr>
              <p:custDataLst>
                <p:tags r:id="rId31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32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部署架构</a:t>
              </a:r>
            </a:p>
          </p:txBody>
        </p:sp>
        <p:sp>
          <p:nvSpPr>
            <p:cNvPr id="73" name="文本框 72"/>
            <p:cNvSpPr txBox="1"/>
            <p:nvPr>
              <p:custDataLst>
                <p:tags r:id="rId33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2c4G 阿里云容器化部署，应用与依赖容器打包，镜像一键构建发布。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</p:grpSp>
      <p:grpSp>
        <p:nvGrpSpPr>
          <p:cNvPr id="127" name="组合 126"/>
          <p:cNvGrpSpPr/>
          <p:nvPr>
            <p:custDataLst>
              <p:tags r:id="rId3"/>
            </p:custDataLst>
          </p:nvPr>
        </p:nvGrpSpPr>
        <p:grpSpPr>
          <a:xfrm>
            <a:off x="414020" y="4850448"/>
            <a:ext cx="2721610" cy="1815465"/>
            <a:chOff x="930" y="5560"/>
            <a:chExt cx="4286" cy="2859"/>
          </a:xfrm>
        </p:grpSpPr>
        <p:sp>
          <p:nvSpPr>
            <p:cNvPr id="128" name="圆角矩形 127"/>
            <p:cNvSpPr/>
            <p:nvPr>
              <p:custDataLst>
                <p:tags r:id="rId26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29" name="圆角矩形 128"/>
            <p:cNvSpPr/>
            <p:nvPr>
              <p:custDataLst>
                <p:tags r:id="rId27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28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一键部署</a:t>
              </a:r>
            </a:p>
          </p:txBody>
        </p:sp>
        <p:sp>
          <p:nvSpPr>
            <p:cNvPr id="131" name="文本框 130"/>
            <p:cNvSpPr txBox="1"/>
            <p:nvPr>
              <p:custDataLst>
                <p:tags r:id="rId29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脚本化发布流程，降低交付门槛，新环境分钟级拉起。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4"/>
            </p:custDataLst>
          </p:nvPr>
        </p:nvGrpSpPr>
        <p:grpSpPr>
          <a:xfrm>
            <a:off x="414020" y="2876550"/>
            <a:ext cx="2721610" cy="1815465"/>
            <a:chOff x="930" y="5560"/>
            <a:chExt cx="4286" cy="2859"/>
          </a:xfrm>
        </p:grpSpPr>
        <p:sp>
          <p:nvSpPr>
            <p:cNvPr id="53" name="圆角矩形 52"/>
            <p:cNvSpPr/>
            <p:nvPr>
              <p:custDataLst>
                <p:tags r:id="rId22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23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24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一键回滚</a:t>
              </a:r>
            </a:p>
          </p:txBody>
        </p:sp>
        <p:sp>
          <p:nvSpPr>
            <p:cNvPr id="58" name="文本框 57"/>
            <p:cNvSpPr txBox="1"/>
            <p:nvPr>
              <p:custDataLst>
                <p:tags r:id="rId25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异常时快速回退至上一稳定版本，保障服务可用性。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</p:grpSp>
      <p:grpSp>
        <p:nvGrpSpPr>
          <p:cNvPr id="74" name="组合 73"/>
          <p:cNvGrpSpPr/>
          <p:nvPr>
            <p:custDataLst>
              <p:tags r:id="rId5"/>
            </p:custDataLst>
          </p:nvPr>
        </p:nvGrpSpPr>
        <p:grpSpPr>
          <a:xfrm>
            <a:off x="6186170" y="4850448"/>
            <a:ext cx="2721610" cy="1815465"/>
            <a:chOff x="930" y="5560"/>
            <a:chExt cx="4286" cy="2859"/>
          </a:xfrm>
        </p:grpSpPr>
        <p:sp>
          <p:nvSpPr>
            <p:cNvPr id="75" name="圆角矩形 74"/>
            <p:cNvSpPr/>
            <p:nvPr>
              <p:custDataLst>
                <p:tags r:id="rId1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自动巡检</a:t>
              </a:r>
            </a:p>
          </p:txBody>
        </p:sp>
        <p:sp>
          <p:nvSpPr>
            <p:cNvPr id="78" name="文本框 77"/>
            <p:cNvSpPr txBox="1"/>
            <p:nvPr>
              <p:custDataLst>
                <p:tags r:id="rId2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每日定时巡检服务健康状态与数据一致性，异常自动告警。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</p:grpSp>
      <p:grpSp>
        <p:nvGrpSpPr>
          <p:cNvPr id="132" name="组合 131"/>
          <p:cNvGrpSpPr/>
          <p:nvPr>
            <p:custDataLst>
              <p:tags r:id="rId6"/>
            </p:custDataLst>
          </p:nvPr>
        </p:nvGrpSpPr>
        <p:grpSpPr>
          <a:xfrm>
            <a:off x="3300095" y="4850448"/>
            <a:ext cx="2721610" cy="1815465"/>
            <a:chOff x="930" y="5560"/>
            <a:chExt cx="4286" cy="2859"/>
          </a:xfrm>
        </p:grpSpPr>
        <p:sp>
          <p:nvSpPr>
            <p:cNvPr id="133" name="圆角矩形 132"/>
            <p:cNvSpPr/>
            <p:nvPr>
              <p:custDataLst>
                <p:tags r:id="rId14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4" name="圆角矩形 133"/>
            <p:cNvSpPr/>
            <p:nvPr>
              <p:custDataLst>
                <p:tags r:id="rId15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>
              <p:custDataLst>
                <p:tags r:id="rId16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数据工程</a:t>
              </a:r>
            </a:p>
          </p:txBody>
        </p:sp>
        <p:sp>
          <p:nvSpPr>
            <p:cNvPr id="136" name="文本框 135"/>
            <p:cNvSpPr txBox="1"/>
            <p:nvPr>
              <p:custDataLst>
                <p:tags r:id="rId17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字符级 SimHash 去重 + 四因子信任评分，治理 JD 时滞 / 噪音 / 抄袭。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</p:grpSp>
      <p:grpSp>
        <p:nvGrpSpPr>
          <p:cNvPr id="142" name="组合 141"/>
          <p:cNvGrpSpPr/>
          <p:nvPr>
            <p:custDataLst>
              <p:tags r:id="rId7"/>
            </p:custDataLst>
          </p:nvPr>
        </p:nvGrpSpPr>
        <p:grpSpPr>
          <a:xfrm>
            <a:off x="414020" y="920750"/>
            <a:ext cx="2721610" cy="1815465"/>
            <a:chOff x="930" y="5560"/>
            <a:chExt cx="4286" cy="2859"/>
          </a:xfrm>
        </p:grpSpPr>
        <p:sp>
          <p:nvSpPr>
            <p:cNvPr id="143" name="圆角矩形 142"/>
            <p:cNvSpPr/>
            <p:nvPr>
              <p:custDataLst>
                <p:tags r:id="rId10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11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12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公网运行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  <p:sp>
          <p:nvSpPr>
            <p:cNvPr id="146" name="文本框 145"/>
            <p:cNvSpPr txBox="1"/>
            <p:nvPr>
              <p:custDataLst>
                <p:tags r:id="rId13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https://47.120.60.10 已部署运行，支持动态演化与数据追溯。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/>
              </a:r>
            </a:p>
          </p:txBody>
        </p:sp>
      </p:grpSp>
      <p:graphicFrame>
        <p:nvGraphicFramePr>
          <p:cNvPr id="148" name="图表 147" descr="7b0a202020202263686172745265734964223a20223530303533343237220a7d0a"/>
          <p:cNvGraphicFramePr/>
          <p:nvPr>
            <p:custDataLst>
              <p:tags r:id="rId8"/>
            </p:custDataLst>
          </p:nvPr>
        </p:nvGraphicFramePr>
        <p:xfrm>
          <a:off x="3300095" y="920750"/>
          <a:ext cx="5671185" cy="374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155" name="文本框 154"/>
          <p:cNvSpPr txBox="1"/>
          <p:nvPr>
            <p:custDataLst>
              <p:tags r:id="rId9"/>
            </p:custDataLst>
          </p:nvPr>
        </p:nvSpPr>
        <p:spPr>
          <a:xfrm>
            <a:off x="9135745" y="2835275"/>
            <a:ext cx="2744470" cy="1675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jobicy 207 条为最大来源，apify-lagou 205 条、seed-demo 154 条次之。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数据源总量 684 条，覆盖海外远程、国内招聘等多类渠道。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多源异构数据支撑图谱构建与演化分析。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65" name="直线连接符 37"/>
          <p:cNvCxnSpPr/>
          <p:nvPr/>
        </p:nvCxnSpPr>
        <p:spPr>
          <a:xfrm>
            <a:off x="9311526" y="1303760"/>
            <a:ext cx="0" cy="1191213"/>
          </a:xfrm>
          <a:prstGeom prst="line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9660072" y="1303760"/>
            <a:ext cx="1899274" cy="284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采集汇聚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</a:p>
        </p:txBody>
      </p:sp>
      <p:sp>
        <p:nvSpPr>
          <p:cNvPr id="167" name="矩形 166"/>
          <p:cNvSpPr/>
          <p:nvPr/>
        </p:nvSpPr>
        <p:spPr>
          <a:xfrm>
            <a:off x="9660072" y="1706716"/>
            <a:ext cx="1899269" cy="28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清洗治理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</a:p>
        </p:txBody>
      </p:sp>
      <p:sp>
        <p:nvSpPr>
          <p:cNvPr id="168" name="矩形 167"/>
          <p:cNvSpPr/>
          <p:nvPr/>
        </p:nvSpPr>
        <p:spPr>
          <a:xfrm>
            <a:off x="9660072" y="2109672"/>
            <a:ext cx="1899264" cy="284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持续演化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/>
            </a:r>
          </a:p>
        </p:txBody>
      </p:sp>
      <p:sp>
        <p:nvSpPr>
          <p:cNvPr id="169" name="任意形状 22"/>
          <p:cNvSpPr/>
          <p:nvPr/>
        </p:nvSpPr>
        <p:spPr>
          <a:xfrm>
            <a:off x="9259034" y="1408507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0" name="任意形状 23"/>
          <p:cNvSpPr/>
          <p:nvPr/>
        </p:nvSpPr>
        <p:spPr>
          <a:xfrm>
            <a:off x="9259034" y="1807228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1" name="任意形状 24"/>
          <p:cNvSpPr/>
          <p:nvPr/>
        </p:nvSpPr>
        <p:spPr>
          <a:xfrm>
            <a:off x="9259034" y="2211265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里程碑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工作规划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项目情况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项目进度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当前进度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需求调研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数据接入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图谱构建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匹配诊断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演化部署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第一季度</a:t>
              </a: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第二季度</a:t>
              </a: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第三季度</a:t>
              </a: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第四季度</a:t>
              </a: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完成需求调研与赛题分析，明确揭榜任务边界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1月 - 2月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接入 9 类数据源，完成 620 条多语言 JD 采集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2月 - 4月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构建 465 岗位 / 1275 技能 / 2182 关系图谱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4月 - 6月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完成人岗匹配、新岗位发现与演化检测能力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6月 - 8月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系统公网部署，自动巡检与一键回滚上线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8月 - 10月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持续动态演化：技能涌现检测与图谱自更新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10月 - 12月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输出核心交付物：岗位定义 / 图谱 / 匹配报告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贯穿全年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测试保障：2676 单测，覆盖率 75.36%</a:t>
            </a: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贯穿全年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成果沉淀：论文、专利与开源能力沉淀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/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12月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/>
            </a: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567" y="95194"/>
            <a:ext cx="499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核心数据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全景一览</a:t>
            </a:r>
          </a:p>
        </p:txBody>
      </p:sp>
      <p:sp>
        <p:nvSpPr>
          <p:cNvPr id="5" name="矩形 4"/>
          <p:cNvSpPr/>
          <p:nvPr/>
        </p:nvSpPr>
        <p:spPr>
          <a:xfrm>
            <a:off x="394998" y="825789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4998" y="2302064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7013" y="825789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7013" y="2302063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934" y="1690398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图谱规模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9934" y="3177903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质量指标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04977" y="1089707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04977" y="2558339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59" name="矩形 958"/>
          <p:cNvSpPr/>
          <p:nvPr/>
        </p:nvSpPr>
        <p:spPr>
          <a:xfrm>
            <a:off x="394998" y="3789847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6" name="矩形 975"/>
          <p:cNvSpPr/>
          <p:nvPr/>
        </p:nvSpPr>
        <p:spPr>
          <a:xfrm>
            <a:off x="394998" y="5266122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7" name="矩形 976"/>
          <p:cNvSpPr/>
          <p:nvPr/>
        </p:nvSpPr>
        <p:spPr>
          <a:xfrm>
            <a:off x="227013" y="3789847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8" name="矩形 977"/>
          <p:cNvSpPr/>
          <p:nvPr/>
        </p:nvSpPr>
        <p:spPr>
          <a:xfrm>
            <a:off x="227013" y="5266121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9" name="文本框 978"/>
          <p:cNvSpPr txBox="1"/>
          <p:nvPr/>
        </p:nvSpPr>
        <p:spPr>
          <a:xfrm>
            <a:off x="319934" y="4654456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演化能力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0" name="文本框 979"/>
          <p:cNvSpPr txBox="1"/>
          <p:nvPr/>
        </p:nvSpPr>
        <p:spPr>
          <a:xfrm>
            <a:off x="319934" y="6141961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工程保障</a:t>
            </a:r>
          </a:p>
        </p:txBody>
      </p:sp>
      <p:sp>
        <p:nvSpPr>
          <p:cNvPr id="981" name="椭圆 980"/>
          <p:cNvSpPr/>
          <p:nvPr/>
        </p:nvSpPr>
        <p:spPr>
          <a:xfrm>
            <a:off x="604977" y="4053765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2" name="椭圆 981"/>
          <p:cNvSpPr/>
          <p:nvPr/>
        </p:nvSpPr>
        <p:spPr>
          <a:xfrm>
            <a:off x="604977" y="5522397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001" name="文本框 1000"/>
          <p:cNvSpPr txBox="1"/>
          <p:nvPr/>
        </p:nvSpPr>
        <p:spPr>
          <a:xfrm>
            <a:off x="1836839" y="1173234"/>
            <a:ext cx="355797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核心图谱数据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2" name="文本框 1001"/>
          <p:cNvSpPr txBox="1"/>
          <p:nvPr/>
        </p:nvSpPr>
        <p:spPr>
          <a:xfrm>
            <a:off x="1836839" y="1501817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465 岗位 / 1275 技能 / 2182 关系；岗位库总量 938（含审核中）。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</a:p>
        </p:txBody>
      </p:sp>
      <p:sp>
        <p:nvSpPr>
          <p:cNvPr id="1003" name="文本框 1002"/>
          <p:cNvSpPr txBox="1"/>
          <p:nvPr/>
        </p:nvSpPr>
        <p:spPr>
          <a:xfrm>
            <a:off x="1836839" y="2589448"/>
            <a:ext cx="3769354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核心质量指标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4" name="文本框 1003"/>
          <p:cNvSpPr txBox="1"/>
          <p:nvPr/>
        </p:nvSpPr>
        <p:spPr>
          <a:xfrm>
            <a:off x="1836841" y="2918031"/>
            <a:ext cx="3787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JD 解析 96.22 / 简历提取 91.58 / 人岗匹配 97.45。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</a:p>
        </p:txBody>
      </p:sp>
      <p:sp>
        <p:nvSpPr>
          <p:cNvPr id="1005" name="文本框 1004"/>
          <p:cNvSpPr txBox="1"/>
          <p:nvPr/>
        </p:nvSpPr>
        <p:spPr>
          <a:xfrm>
            <a:off x="1836839" y="4043762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演化核心能力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6" name="文本框 1005"/>
          <p:cNvSpPr txBox="1"/>
          <p:nvPr/>
        </p:nvSpPr>
        <p:spPr>
          <a:xfrm>
            <a:off x="1836839" y="4372345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21 涌现技能 / 信任均值 0.639 / CII 通胀均值 102。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</a:p>
        </p:txBody>
      </p:sp>
      <p:sp>
        <p:nvSpPr>
          <p:cNvPr id="1007" name="文本框 1006"/>
          <p:cNvSpPr txBox="1"/>
          <p:nvPr/>
        </p:nvSpPr>
        <p:spPr>
          <a:xfrm>
            <a:off x="1836839" y="5498077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工程保障数据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1836841" y="5826660"/>
            <a:ext cx="3787406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2676 单测 / 覆盖率 75.36% / 602 条测试数据。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/>
            </a:r>
            <a:endParaRPr kumimoji="0" lang="en-US" altLang="ja-JP" sz="14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graphicFrame>
        <p:nvGraphicFramePr>
          <p:cNvPr id="1009" name="图表 1008"/>
          <p:cNvGraphicFramePr/>
          <p:nvPr/>
        </p:nvGraphicFramePr>
        <p:xfrm>
          <a:off x="5886459" y="89099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10" name="图表 1009"/>
          <p:cNvGraphicFramePr/>
          <p:nvPr/>
        </p:nvGraphicFramePr>
        <p:xfrm>
          <a:off x="5886459" y="2368671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11" name="图表 1010"/>
          <p:cNvGraphicFramePr/>
          <p:nvPr/>
        </p:nvGraphicFramePr>
        <p:xfrm>
          <a:off x="5886459" y="384634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12" name="图表 1011"/>
          <p:cNvGraphicFramePr/>
          <p:nvPr/>
        </p:nvGraphicFramePr>
        <p:xfrm>
          <a:off x="5886459" y="5324020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任意多边形: 形状 1"/>
          <p:cNvSpPr/>
          <p:nvPr/>
        </p:nvSpPr>
        <p:spPr>
          <a:xfrm>
            <a:off x="731987" y="5641451"/>
            <a:ext cx="294399" cy="310311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8"/>
          <p:cNvSpPr/>
          <p:nvPr/>
        </p:nvSpPr>
        <p:spPr>
          <a:xfrm>
            <a:off x="724598" y="4173387"/>
            <a:ext cx="309176" cy="309175"/>
          </a:xfrm>
          <a:custGeom>
            <a:avLst/>
            <a:gdLst>
              <a:gd name="connsiteX0" fmla="*/ 353878 w 1542145"/>
              <a:gd name="connsiteY0" fmla="*/ 1164908 h 1542142"/>
              <a:gd name="connsiteX1" fmla="*/ 638585 w 1542145"/>
              <a:gd name="connsiteY1" fmla="*/ 1535838 h 1542142"/>
              <a:gd name="connsiteX2" fmla="*/ 623798 w 1542145"/>
              <a:gd name="connsiteY2" fmla="*/ 1542143 h 1542142"/>
              <a:gd name="connsiteX3" fmla="*/ 193814 w 1542145"/>
              <a:gd name="connsiteY3" fmla="*/ 1291771 h 1542142"/>
              <a:gd name="connsiteX4" fmla="*/ 346984 w 1542145"/>
              <a:gd name="connsiteY4" fmla="*/ 1169125 h 1542142"/>
              <a:gd name="connsiteX5" fmla="*/ 1188268 w 1542145"/>
              <a:gd name="connsiteY5" fmla="*/ 1164908 h 1542142"/>
              <a:gd name="connsiteX6" fmla="*/ 1348288 w 1542145"/>
              <a:gd name="connsiteY6" fmla="*/ 1291771 h 1542142"/>
              <a:gd name="connsiteX7" fmla="*/ 918348 w 1542145"/>
              <a:gd name="connsiteY7" fmla="*/ 1542143 h 1542142"/>
              <a:gd name="connsiteX8" fmla="*/ 903562 w 1542145"/>
              <a:gd name="connsiteY8" fmla="*/ 1535884 h 1542142"/>
              <a:gd name="connsiteX9" fmla="*/ 1183188 w 1542145"/>
              <a:gd name="connsiteY9" fmla="*/ 1176338 h 1542142"/>
              <a:gd name="connsiteX10" fmla="*/ 771073 w 1542145"/>
              <a:gd name="connsiteY10" fmla="*/ 1048204 h 1542142"/>
              <a:gd name="connsiteX11" fmla="*/ 1065803 w 1542145"/>
              <a:gd name="connsiteY11" fmla="*/ 1104084 h 1542142"/>
              <a:gd name="connsiteX12" fmla="*/ 771073 w 1542145"/>
              <a:gd name="connsiteY12" fmla="*/ 1462586 h 1542142"/>
              <a:gd name="connsiteX13" fmla="*/ 476343 w 1542145"/>
              <a:gd name="connsiteY13" fmla="*/ 1104084 h 1542142"/>
              <a:gd name="connsiteX14" fmla="*/ 771073 w 1542145"/>
              <a:gd name="connsiteY14" fmla="*/ 1048294 h 1542142"/>
              <a:gd name="connsiteX15" fmla="*/ 112170 w 1542145"/>
              <a:gd name="connsiteY15" fmla="*/ 362903 h 1542142"/>
              <a:gd name="connsiteX16" fmla="*/ 307070 w 1542145"/>
              <a:gd name="connsiteY16" fmla="*/ 509768 h 1542142"/>
              <a:gd name="connsiteX17" fmla="*/ 272146 w 1542145"/>
              <a:gd name="connsiteY17" fmla="*/ 771071 h 1542142"/>
              <a:gd name="connsiteX18" fmla="*/ 307070 w 1542145"/>
              <a:gd name="connsiteY18" fmla="*/ 1032328 h 1542142"/>
              <a:gd name="connsiteX19" fmla="*/ 112215 w 1542145"/>
              <a:gd name="connsiteY19" fmla="*/ 1179287 h 1542142"/>
              <a:gd name="connsiteX20" fmla="*/ 2 w 1542145"/>
              <a:gd name="connsiteY20" fmla="*/ 771071 h 1542142"/>
              <a:gd name="connsiteX21" fmla="*/ 105276 w 1542145"/>
              <a:gd name="connsiteY21" fmla="*/ 374649 h 1542142"/>
              <a:gd name="connsiteX22" fmla="*/ 1542144 w 1542145"/>
              <a:gd name="connsiteY22" fmla="*/ 771071 h 1542142"/>
              <a:gd name="connsiteX23" fmla="*/ 1429976 w 1542145"/>
              <a:gd name="connsiteY23" fmla="*/ 1179287 h 1542142"/>
              <a:gd name="connsiteX24" fmla="*/ 1235077 w 1542145"/>
              <a:gd name="connsiteY24" fmla="*/ 1032328 h 1542142"/>
              <a:gd name="connsiteX25" fmla="*/ 1270001 w 1542145"/>
              <a:gd name="connsiteY25" fmla="*/ 771071 h 1542142"/>
              <a:gd name="connsiteX26" fmla="*/ 1235077 w 1542145"/>
              <a:gd name="connsiteY26" fmla="*/ 509815 h 1542142"/>
              <a:gd name="connsiteX27" fmla="*/ 1429932 w 1542145"/>
              <a:gd name="connsiteY27" fmla="*/ 362856 h 1542142"/>
              <a:gd name="connsiteX28" fmla="*/ 1542144 w 1542145"/>
              <a:gd name="connsiteY28" fmla="*/ 771071 h 1542142"/>
              <a:gd name="connsiteX29" fmla="*/ 1109756 w 1542145"/>
              <a:gd name="connsiteY29" fmla="*/ 569324 h 1542142"/>
              <a:gd name="connsiteX30" fmla="*/ 1133931 w 1542145"/>
              <a:gd name="connsiteY30" fmla="*/ 771071 h 1542142"/>
              <a:gd name="connsiteX31" fmla="*/ 1109756 w 1542145"/>
              <a:gd name="connsiteY31" fmla="*/ 972775 h 1542142"/>
              <a:gd name="connsiteX32" fmla="*/ 771073 w 1542145"/>
              <a:gd name="connsiteY32" fmla="*/ 909683 h 1542142"/>
              <a:gd name="connsiteX33" fmla="*/ 432391 w 1542145"/>
              <a:gd name="connsiteY33" fmla="*/ 972819 h 1542142"/>
              <a:gd name="connsiteX34" fmla="*/ 408215 w 1542145"/>
              <a:gd name="connsiteY34" fmla="*/ 771071 h 1542142"/>
              <a:gd name="connsiteX35" fmla="*/ 432391 w 1542145"/>
              <a:gd name="connsiteY35" fmla="*/ 569368 h 1542142"/>
              <a:gd name="connsiteX36" fmla="*/ 771073 w 1542145"/>
              <a:gd name="connsiteY36" fmla="*/ 632460 h 1542142"/>
              <a:gd name="connsiteX37" fmla="*/ 1100367 w 1542145"/>
              <a:gd name="connsiteY37" fmla="*/ 572951 h 1542142"/>
              <a:gd name="connsiteX38" fmla="*/ 771073 w 1542145"/>
              <a:gd name="connsiteY38" fmla="*/ 79556 h 1542142"/>
              <a:gd name="connsiteX39" fmla="*/ 1065759 w 1542145"/>
              <a:gd name="connsiteY39" fmla="*/ 438059 h 1542142"/>
              <a:gd name="connsiteX40" fmla="*/ 771073 w 1542145"/>
              <a:gd name="connsiteY40" fmla="*/ 493849 h 1542142"/>
              <a:gd name="connsiteX41" fmla="*/ 476343 w 1542145"/>
              <a:gd name="connsiteY41" fmla="*/ 438015 h 1542142"/>
              <a:gd name="connsiteX42" fmla="*/ 765267 w 1542145"/>
              <a:gd name="connsiteY42" fmla="*/ 83549 h 1542142"/>
              <a:gd name="connsiteX43" fmla="*/ 623663 w 1542145"/>
              <a:gd name="connsiteY43" fmla="*/ 45 h 1542142"/>
              <a:gd name="connsiteX44" fmla="*/ 638493 w 1542145"/>
              <a:gd name="connsiteY44" fmla="*/ 6305 h 1542142"/>
              <a:gd name="connsiteX45" fmla="*/ 353878 w 1542145"/>
              <a:gd name="connsiteY45" fmla="*/ 377326 h 1542142"/>
              <a:gd name="connsiteX46" fmla="*/ 193767 w 1542145"/>
              <a:gd name="connsiteY46" fmla="*/ 250372 h 1542142"/>
              <a:gd name="connsiteX47" fmla="*/ 623754 w 1542145"/>
              <a:gd name="connsiteY47" fmla="*/ 0 h 1542142"/>
              <a:gd name="connsiteX48" fmla="*/ 1348244 w 1542145"/>
              <a:gd name="connsiteY48" fmla="*/ 250326 h 1542142"/>
              <a:gd name="connsiteX49" fmla="*/ 1342482 w 1542145"/>
              <a:gd name="connsiteY49" fmla="*/ 256223 h 1542142"/>
              <a:gd name="connsiteX50" fmla="*/ 1188224 w 1542145"/>
              <a:gd name="connsiteY50" fmla="*/ 377235 h 1542142"/>
              <a:gd name="connsiteX51" fmla="*/ 903562 w 1542145"/>
              <a:gd name="connsiteY51" fmla="*/ 6259 h 1542142"/>
              <a:gd name="connsiteX52" fmla="*/ 918348 w 1542145"/>
              <a:gd name="connsiteY52" fmla="*/ 0 h 1542142"/>
              <a:gd name="connsiteX53" fmla="*/ 1348244 w 1542145"/>
              <a:gd name="connsiteY53" fmla="*/ 250372 h 15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42145" h="1542142">
                <a:moveTo>
                  <a:pt x="353878" y="1164908"/>
                </a:moveTo>
                <a:cubicBezTo>
                  <a:pt x="417139" y="1309902"/>
                  <a:pt x="514877" y="1437239"/>
                  <a:pt x="638585" y="1535838"/>
                </a:cubicBezTo>
                <a:cubicBezTo>
                  <a:pt x="633686" y="1537970"/>
                  <a:pt x="628743" y="1540102"/>
                  <a:pt x="623798" y="1542143"/>
                </a:cubicBezTo>
                <a:cubicBezTo>
                  <a:pt x="454026" y="1508669"/>
                  <a:pt x="304121" y="1418545"/>
                  <a:pt x="193814" y="1291771"/>
                </a:cubicBezTo>
                <a:cubicBezTo>
                  <a:pt x="239777" y="1244907"/>
                  <a:pt x="291203" y="1203730"/>
                  <a:pt x="346984" y="1169125"/>
                </a:cubicBezTo>
                <a:close/>
                <a:moveTo>
                  <a:pt x="1188268" y="1164908"/>
                </a:moveTo>
                <a:cubicBezTo>
                  <a:pt x="1246674" y="1200379"/>
                  <a:pt x="1300429" y="1242996"/>
                  <a:pt x="1348288" y="1291771"/>
                </a:cubicBezTo>
                <a:cubicBezTo>
                  <a:pt x="1238025" y="1418545"/>
                  <a:pt x="1088120" y="1508669"/>
                  <a:pt x="918348" y="1542143"/>
                </a:cubicBezTo>
                <a:lnTo>
                  <a:pt x="903562" y="1535884"/>
                </a:lnTo>
                <a:cubicBezTo>
                  <a:pt x="1023958" y="1439900"/>
                  <a:pt x="1119804" y="1316660"/>
                  <a:pt x="1183188" y="1176338"/>
                </a:cubicBezTo>
                <a:close/>
                <a:moveTo>
                  <a:pt x="771073" y="1048204"/>
                </a:moveTo>
                <a:cubicBezTo>
                  <a:pt x="874987" y="1048204"/>
                  <a:pt x="974363" y="1067980"/>
                  <a:pt x="1065803" y="1104084"/>
                </a:cubicBezTo>
                <a:cubicBezTo>
                  <a:pt x="1003589" y="1249143"/>
                  <a:pt x="901361" y="1373491"/>
                  <a:pt x="771073" y="1462586"/>
                </a:cubicBezTo>
                <a:cubicBezTo>
                  <a:pt x="640782" y="1373496"/>
                  <a:pt x="538552" y="1249147"/>
                  <a:pt x="476343" y="1104084"/>
                </a:cubicBezTo>
                <a:cubicBezTo>
                  <a:pt x="570198" y="1067102"/>
                  <a:pt x="670194" y="1048175"/>
                  <a:pt x="771073" y="1048294"/>
                </a:cubicBezTo>
                <a:close/>
                <a:moveTo>
                  <a:pt x="112170" y="362903"/>
                </a:moveTo>
                <a:cubicBezTo>
                  <a:pt x="170602" y="419977"/>
                  <a:pt x="236101" y="469334"/>
                  <a:pt x="307070" y="509768"/>
                </a:cubicBezTo>
                <a:cubicBezTo>
                  <a:pt x="283806" y="594919"/>
                  <a:pt x="272060" y="682802"/>
                  <a:pt x="272146" y="771071"/>
                </a:cubicBezTo>
                <a:cubicBezTo>
                  <a:pt x="272146" y="861604"/>
                  <a:pt x="284301" y="949234"/>
                  <a:pt x="307070" y="1032328"/>
                </a:cubicBezTo>
                <a:cubicBezTo>
                  <a:pt x="236112" y="1072798"/>
                  <a:pt x="170630" y="1122185"/>
                  <a:pt x="112215" y="1179287"/>
                </a:cubicBezTo>
                <a:cubicBezTo>
                  <a:pt x="38489" y="1055906"/>
                  <a:pt x="-300" y="914800"/>
                  <a:pt x="2" y="771071"/>
                </a:cubicBezTo>
                <a:cubicBezTo>
                  <a:pt x="2" y="626474"/>
                  <a:pt x="38374" y="491036"/>
                  <a:pt x="105276" y="374649"/>
                </a:cubicBezTo>
                <a:close/>
                <a:moveTo>
                  <a:pt x="1542144" y="771071"/>
                </a:moveTo>
                <a:cubicBezTo>
                  <a:pt x="1542144" y="920569"/>
                  <a:pt x="1501142" y="1060313"/>
                  <a:pt x="1429976" y="1179287"/>
                </a:cubicBezTo>
                <a:cubicBezTo>
                  <a:pt x="1371556" y="1122174"/>
                  <a:pt x="1306055" y="1072787"/>
                  <a:pt x="1235077" y="1032328"/>
                </a:cubicBezTo>
                <a:cubicBezTo>
                  <a:pt x="1258336" y="947195"/>
                  <a:pt x="1270083" y="859327"/>
                  <a:pt x="1270001" y="771071"/>
                </a:cubicBezTo>
                <a:cubicBezTo>
                  <a:pt x="1270001" y="680539"/>
                  <a:pt x="1257845" y="592909"/>
                  <a:pt x="1235077" y="509815"/>
                </a:cubicBezTo>
                <a:cubicBezTo>
                  <a:pt x="1306034" y="469345"/>
                  <a:pt x="1371517" y="419958"/>
                  <a:pt x="1429932" y="362856"/>
                </a:cubicBezTo>
                <a:cubicBezTo>
                  <a:pt x="1503644" y="486242"/>
                  <a:pt x="1542433" y="627344"/>
                  <a:pt x="1542144" y="771071"/>
                </a:cubicBezTo>
                <a:close/>
                <a:moveTo>
                  <a:pt x="1109756" y="569324"/>
                </a:moveTo>
                <a:cubicBezTo>
                  <a:pt x="1125539" y="633911"/>
                  <a:pt x="1133931" y="701494"/>
                  <a:pt x="1133931" y="771071"/>
                </a:cubicBezTo>
                <a:cubicBezTo>
                  <a:pt x="1133931" y="840649"/>
                  <a:pt x="1125539" y="908232"/>
                  <a:pt x="1109756" y="972775"/>
                </a:cubicBezTo>
                <a:cubicBezTo>
                  <a:pt x="1001744" y="930948"/>
                  <a:pt x="886901" y="909554"/>
                  <a:pt x="771073" y="909683"/>
                </a:cubicBezTo>
                <a:cubicBezTo>
                  <a:pt x="651784" y="909683"/>
                  <a:pt x="537620" y="931999"/>
                  <a:pt x="432391" y="972819"/>
                </a:cubicBezTo>
                <a:cubicBezTo>
                  <a:pt x="416276" y="906782"/>
                  <a:pt x="408160" y="839047"/>
                  <a:pt x="408215" y="771071"/>
                </a:cubicBezTo>
                <a:cubicBezTo>
                  <a:pt x="408215" y="701494"/>
                  <a:pt x="416607" y="633911"/>
                  <a:pt x="432391" y="569368"/>
                </a:cubicBezTo>
                <a:cubicBezTo>
                  <a:pt x="537620" y="610190"/>
                  <a:pt x="651784" y="632460"/>
                  <a:pt x="771073" y="632460"/>
                </a:cubicBezTo>
                <a:cubicBezTo>
                  <a:pt x="886824" y="632460"/>
                  <a:pt x="997724" y="611459"/>
                  <a:pt x="1100367" y="572951"/>
                </a:cubicBezTo>
                <a:close/>
                <a:moveTo>
                  <a:pt x="771073" y="79556"/>
                </a:moveTo>
                <a:cubicBezTo>
                  <a:pt x="901348" y="168652"/>
                  <a:pt x="1003561" y="293002"/>
                  <a:pt x="1065759" y="438059"/>
                </a:cubicBezTo>
                <a:cubicBezTo>
                  <a:pt x="971917" y="475036"/>
                  <a:pt x="871938" y="493963"/>
                  <a:pt x="771073" y="493849"/>
                </a:cubicBezTo>
                <a:cubicBezTo>
                  <a:pt x="667160" y="493849"/>
                  <a:pt x="567783" y="474118"/>
                  <a:pt x="476343" y="438015"/>
                </a:cubicBezTo>
                <a:cubicBezTo>
                  <a:pt x="537623" y="295175"/>
                  <a:pt x="637719" y="172373"/>
                  <a:pt x="765267" y="83549"/>
                </a:cubicBezTo>
                <a:close/>
                <a:moveTo>
                  <a:pt x="623663" y="45"/>
                </a:moveTo>
                <a:lnTo>
                  <a:pt x="638493" y="6305"/>
                </a:lnTo>
                <a:cubicBezTo>
                  <a:pt x="514802" y="104935"/>
                  <a:pt x="417095" y="232304"/>
                  <a:pt x="353878" y="377326"/>
                </a:cubicBezTo>
                <a:cubicBezTo>
                  <a:pt x="295435" y="341833"/>
                  <a:pt x="241649" y="299186"/>
                  <a:pt x="193767" y="250372"/>
                </a:cubicBezTo>
                <a:cubicBezTo>
                  <a:pt x="304121" y="123643"/>
                  <a:pt x="454026" y="33474"/>
                  <a:pt x="623754" y="0"/>
                </a:cubicBezTo>
                <a:close/>
                <a:moveTo>
                  <a:pt x="1348244" y="250326"/>
                </a:moveTo>
                <a:lnTo>
                  <a:pt x="1342482" y="256223"/>
                </a:lnTo>
                <a:cubicBezTo>
                  <a:pt x="1296079" y="302575"/>
                  <a:pt x="1244291" y="343204"/>
                  <a:pt x="1188224" y="377235"/>
                </a:cubicBezTo>
                <a:cubicBezTo>
                  <a:pt x="1124959" y="232241"/>
                  <a:pt x="1027242" y="104894"/>
                  <a:pt x="903562" y="6259"/>
                </a:cubicBezTo>
                <a:cubicBezTo>
                  <a:pt x="908460" y="4128"/>
                  <a:pt x="913403" y="2041"/>
                  <a:pt x="918348" y="0"/>
                </a:cubicBezTo>
                <a:cubicBezTo>
                  <a:pt x="1088073" y="33474"/>
                  <a:pt x="1237981" y="123643"/>
                  <a:pt x="1348244" y="250372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图形 30"/>
          <p:cNvSpPr/>
          <p:nvPr/>
        </p:nvSpPr>
        <p:spPr>
          <a:xfrm>
            <a:off x="724599" y="2687054"/>
            <a:ext cx="309175" cy="290988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24030" y="1208760"/>
            <a:ext cx="310312" cy="310312"/>
            <a:chOff x="178593" y="287674"/>
            <a:chExt cx="1547813" cy="1547813"/>
          </a:xfrm>
          <a:solidFill>
            <a:schemeClr val="bg1"/>
          </a:solidFill>
        </p:grpSpPr>
        <p:sp>
          <p:nvSpPr>
            <p:cNvPr id="11" name="任意多边形: 形状 10"/>
            <p:cNvSpPr/>
            <p:nvPr/>
          </p:nvSpPr>
          <p:spPr>
            <a:xfrm>
              <a:off x="178593" y="287674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12031" y="1121112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069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演化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结语</a:t>
            </a:r>
          </a:p>
        </p:txBody>
      </p:sp>
      <p:sp>
        <p:nvSpPr>
          <p:cNvPr id="140" name="任意多边形 1"/>
          <p:cNvSpPr/>
          <p:nvPr>
            <p:custDataLst>
              <p:tags r:id="rId2"/>
            </p:custDataLst>
          </p:nvPr>
        </p:nvSpPr>
        <p:spPr>
          <a:xfrm>
            <a:off x="722058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1" name="任意多边形 26"/>
          <p:cNvSpPr/>
          <p:nvPr>
            <p:custDataLst>
              <p:tags r:id="rId3"/>
            </p:custDataLst>
          </p:nvPr>
        </p:nvSpPr>
        <p:spPr>
          <a:xfrm>
            <a:off x="215900" y="772795"/>
            <a:ext cx="3256915" cy="449580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29" h="708">
                <a:moveTo>
                  <a:pt x="0" y="0"/>
                </a:moveTo>
                <a:lnTo>
                  <a:pt x="4892" y="0"/>
                </a:lnTo>
                <a:lnTo>
                  <a:pt x="5129" y="357"/>
                </a:lnTo>
                <a:lnTo>
                  <a:pt x="4896" y="707"/>
                </a:lnTo>
                <a:lnTo>
                  <a:pt x="707" y="707"/>
                </a:lnTo>
                <a:lnTo>
                  <a:pt x="707" y="708"/>
                </a:lnTo>
                <a:lnTo>
                  <a:pt x="0" y="7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2" name="任意多边形 44"/>
          <p:cNvSpPr/>
          <p:nvPr>
            <p:custDataLst>
              <p:tags r:id="rId4"/>
            </p:custDataLst>
          </p:nvPr>
        </p:nvSpPr>
        <p:spPr>
          <a:xfrm>
            <a:off x="3510830" y="772795"/>
            <a:ext cx="370975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3" name="任意多边形 48"/>
          <p:cNvSpPr/>
          <p:nvPr>
            <p:custDataLst>
              <p:tags r:id="rId5"/>
            </p:custDataLst>
          </p:nvPr>
        </p:nvSpPr>
        <p:spPr>
          <a:xfrm>
            <a:off x="7258599" y="772795"/>
            <a:ext cx="3709756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4" name="任意多边形 52"/>
          <p:cNvSpPr/>
          <p:nvPr/>
        </p:nvSpPr>
        <p:spPr>
          <a:xfrm>
            <a:off x="11006369" y="772795"/>
            <a:ext cx="945531" cy="246729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9" h="3886">
                <a:moveTo>
                  <a:pt x="0" y="0"/>
                </a:moveTo>
                <a:lnTo>
                  <a:pt x="1489" y="0"/>
                </a:lnTo>
                <a:lnTo>
                  <a:pt x="1489" y="3630"/>
                </a:lnTo>
                <a:lnTo>
                  <a:pt x="1105" y="3886"/>
                </a:lnTo>
                <a:lnTo>
                  <a:pt x="782" y="3670"/>
                </a:lnTo>
                <a:lnTo>
                  <a:pt x="782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5" name="任意多边形 56"/>
          <p:cNvSpPr/>
          <p:nvPr/>
        </p:nvSpPr>
        <p:spPr>
          <a:xfrm>
            <a:off x="10968355" y="3266533"/>
            <a:ext cx="983546" cy="1099727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49" h="1732">
                <a:moveTo>
                  <a:pt x="1549" y="0"/>
                </a:moveTo>
                <a:lnTo>
                  <a:pt x="1549" y="1732"/>
                </a:lnTo>
                <a:lnTo>
                  <a:pt x="241" y="1732"/>
                </a:lnTo>
                <a:lnTo>
                  <a:pt x="0" y="1369"/>
                </a:lnTo>
                <a:lnTo>
                  <a:pt x="229" y="1024"/>
                </a:lnTo>
                <a:lnTo>
                  <a:pt x="842" y="1024"/>
                </a:lnTo>
                <a:lnTo>
                  <a:pt x="842" y="40"/>
                </a:lnTo>
                <a:lnTo>
                  <a:pt x="1165" y="255"/>
                </a:lnTo>
                <a:lnTo>
                  <a:pt x="154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6" name="任意多边形 60"/>
          <p:cNvSpPr/>
          <p:nvPr>
            <p:custDataLst>
              <p:tags r:id="rId6"/>
            </p:custDataLst>
          </p:nvPr>
        </p:nvSpPr>
        <p:spPr>
          <a:xfrm>
            <a:off x="347281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7" name="任意多边形 64"/>
          <p:cNvSpPr/>
          <p:nvPr>
            <p:custDataLst>
              <p:tags r:id="rId7"/>
            </p:custDataLst>
          </p:nvPr>
        </p:nvSpPr>
        <p:spPr>
          <a:xfrm>
            <a:off x="215900" y="3917077"/>
            <a:ext cx="322143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73" h="707">
                <a:moveTo>
                  <a:pt x="1820" y="0"/>
                </a:moveTo>
                <a:lnTo>
                  <a:pt x="5061" y="0"/>
                </a:lnTo>
                <a:lnTo>
                  <a:pt x="4832" y="345"/>
                </a:lnTo>
                <a:lnTo>
                  <a:pt x="5073" y="707"/>
                </a:lnTo>
                <a:lnTo>
                  <a:pt x="3032" y="707"/>
                </a:lnTo>
                <a:lnTo>
                  <a:pt x="930" y="707"/>
                </a:lnTo>
                <a:lnTo>
                  <a:pt x="354" y="707"/>
                </a:lnTo>
                <a:lnTo>
                  <a:pt x="0" y="354"/>
                </a:lnTo>
                <a:lnTo>
                  <a:pt x="354" y="0"/>
                </a:lnTo>
                <a:lnTo>
                  <a:pt x="1820" y="0"/>
                </a:lnTo>
                <a:lnTo>
                  <a:pt x="182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8" name="矩形 147"/>
          <p:cNvSpPr/>
          <p:nvPr>
            <p:custDataLst>
              <p:tags r:id="rId8"/>
            </p:custDataLst>
          </p:nvPr>
        </p:nvSpPr>
        <p:spPr>
          <a:xfrm>
            <a:off x="7268845" y="1306830"/>
            <a:ext cx="415036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49" name="表格 148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7292023" y="1708150"/>
          <a:ext cx="41040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对比维度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Q1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Q2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Q3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Q4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年度</a:t>
                      </a:r>
                    </a:p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总和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主动离职人数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35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主动离职率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7.5%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9.2%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5.8%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6.7%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7.3%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储备干部人数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28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30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32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晋升人数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26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晋升率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20.0%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21.4%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23.3%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25.0%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22.6%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文本框 149"/>
          <p:cNvSpPr txBox="1"/>
          <p:nvPr>
            <p:custDataLst>
              <p:tags r:id="rId10"/>
            </p:custDataLst>
          </p:nvPr>
        </p:nvSpPr>
        <p:spPr>
          <a:xfrm>
            <a:off x="7806373" y="1387475"/>
            <a:ext cx="307530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动态演化核心指标</a:t>
            </a:r>
          </a:p>
        </p:txBody>
      </p:sp>
      <p:sp>
        <p:nvSpPr>
          <p:cNvPr id="151" name="矩形 150"/>
          <p:cNvSpPr/>
          <p:nvPr>
            <p:custDataLst>
              <p:tags r:id="rId11"/>
            </p:custDataLst>
          </p:nvPr>
        </p:nvSpPr>
        <p:spPr>
          <a:xfrm>
            <a:off x="21590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>
            <p:custDataLst>
              <p:tags r:id="rId12"/>
            </p:custDataLst>
          </p:nvPr>
        </p:nvSpPr>
        <p:spPr>
          <a:xfrm>
            <a:off x="374777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53" name="图表 152"/>
          <p:cNvGraphicFramePr/>
          <p:nvPr>
            <p:custDataLst>
              <p:tags r:id="rId13"/>
            </p:custDataLst>
          </p:nvPr>
        </p:nvGraphicFramePr>
        <p:xfrm>
          <a:off x="226060" y="1707515"/>
          <a:ext cx="3283585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54" name="文本框 153"/>
          <p:cNvSpPr txBox="1"/>
          <p:nvPr>
            <p:custDataLst>
              <p:tags r:id="rId14"/>
            </p:custDataLst>
          </p:nvPr>
        </p:nvSpPr>
        <p:spPr>
          <a:xfrm>
            <a:off x="851163" y="1387475"/>
            <a:ext cx="214947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涌现技能占比（%）</a:t>
            </a:r>
          </a:p>
        </p:txBody>
      </p:sp>
      <p:graphicFrame>
        <p:nvGraphicFramePr>
          <p:cNvPr id="155" name="图表 154"/>
          <p:cNvGraphicFramePr/>
          <p:nvPr>
            <p:custDataLst>
              <p:tags r:id="rId15"/>
            </p:custDataLst>
          </p:nvPr>
        </p:nvGraphicFramePr>
        <p:xfrm>
          <a:off x="3947740" y="1707515"/>
          <a:ext cx="3020060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56" name="文本框 155"/>
          <p:cNvSpPr txBox="1"/>
          <p:nvPr>
            <p:custDataLst>
              <p:tags r:id="rId16"/>
            </p:custDataLst>
          </p:nvPr>
        </p:nvSpPr>
        <p:spPr>
          <a:xfrm>
            <a:off x="4198248" y="1387475"/>
            <a:ext cx="251904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信任分与 CII 通胀（%）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949325" y="828993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涌现技能 21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438721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信任均值 0.639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21844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CII 通胀 102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37922" y="3973830"/>
            <a:ext cx="19773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自动审核 90%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387215" y="397331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审核即生效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943850" y="3973195"/>
            <a:ext cx="23590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月度快照对账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22606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1465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从静态画像到动态感知的跨越：岗位与能力摆脱静态描述，随技术演进持续演化。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86296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动态演化</a:t>
            </a:r>
          </a:p>
        </p:txBody>
      </p:sp>
      <p:sp>
        <p:nvSpPr>
          <p:cNvPr id="167" name="矩形: 圆角 115"/>
          <p:cNvSpPr/>
          <p:nvPr/>
        </p:nvSpPr>
        <p:spPr>
          <a:xfrm>
            <a:off x="51435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53784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数据追溯</a:t>
            </a:r>
          </a:p>
        </p:txBody>
      </p:sp>
      <p:sp>
        <p:nvSpPr>
          <p:cNvPr id="170" name="矩形: 圆角 115"/>
          <p:cNvSpPr/>
          <p:nvPr/>
        </p:nvSpPr>
        <p:spPr>
          <a:xfrm>
            <a:off x="160210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62560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可对账</a:t>
            </a:r>
          </a:p>
        </p:txBody>
      </p:sp>
      <p:sp>
        <p:nvSpPr>
          <p:cNvPr id="172" name="矩形 171"/>
          <p:cNvSpPr/>
          <p:nvPr/>
        </p:nvSpPr>
        <p:spPr>
          <a:xfrm>
            <a:off x="320167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39026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公网已部署运行（https://47.120.60.10），支持动态演化与数据追溯。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3838575" y="4771390"/>
            <a:ext cx="18522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公网运行</a:t>
            </a:r>
          </a:p>
        </p:txBody>
      </p:sp>
      <p:sp>
        <p:nvSpPr>
          <p:cNvPr id="176" name="矩形: 圆角 115"/>
          <p:cNvSpPr/>
          <p:nvPr/>
        </p:nvSpPr>
        <p:spPr>
          <a:xfrm>
            <a:off x="348996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51345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持续演化</a:t>
            </a:r>
          </a:p>
        </p:txBody>
      </p:sp>
      <p:sp>
        <p:nvSpPr>
          <p:cNvPr id="179" name="矩形: 圆角 115"/>
          <p:cNvSpPr/>
          <p:nvPr/>
        </p:nvSpPr>
        <p:spPr>
          <a:xfrm>
            <a:off x="457771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460121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可对账</a:t>
            </a:r>
          </a:p>
        </p:txBody>
      </p:sp>
      <p:sp>
        <p:nvSpPr>
          <p:cNvPr id="181" name="矩形 180"/>
          <p:cNvSpPr/>
          <p:nvPr/>
        </p:nvSpPr>
        <p:spPr>
          <a:xfrm>
            <a:off x="617728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36587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星图让岗位与能力摆脱静态描述，随技术演进持续演化、可追溯、可对账。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681418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岗位与能力</a:t>
            </a:r>
          </a:p>
        </p:txBody>
      </p:sp>
      <p:sp>
        <p:nvSpPr>
          <p:cNvPr id="185" name="矩形: 圆角 115"/>
          <p:cNvSpPr/>
          <p:nvPr/>
        </p:nvSpPr>
        <p:spPr>
          <a:xfrm>
            <a:off x="646557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8906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动态感知</a:t>
            </a:r>
          </a:p>
        </p:txBody>
      </p:sp>
      <p:sp>
        <p:nvSpPr>
          <p:cNvPr id="188" name="矩形: 圆角 115"/>
          <p:cNvSpPr/>
          <p:nvPr/>
        </p:nvSpPr>
        <p:spPr>
          <a:xfrm>
            <a:off x="755332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57682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持续演化</a:t>
            </a:r>
          </a:p>
        </p:txBody>
      </p:sp>
      <p:sp>
        <p:nvSpPr>
          <p:cNvPr id="190" name="矩形 189"/>
          <p:cNvSpPr/>
          <p:nvPr/>
        </p:nvSpPr>
        <p:spPr>
          <a:xfrm>
            <a:off x="915289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34148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从「静态画像」到「动态感知」：四层信任机制保障图谱可信演化。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978979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信任机制</a:t>
            </a:r>
          </a:p>
        </p:txBody>
      </p:sp>
      <p:sp>
        <p:nvSpPr>
          <p:cNvPr id="194" name="矩形: 圆角 115"/>
          <p:cNvSpPr/>
          <p:nvPr/>
        </p:nvSpPr>
        <p:spPr>
          <a:xfrm>
            <a:off x="944118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46467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四层防护</a:t>
            </a:r>
          </a:p>
        </p:txBody>
      </p:sp>
      <p:sp>
        <p:nvSpPr>
          <p:cNvPr id="197" name="矩形: 圆角 115"/>
          <p:cNvSpPr/>
          <p:nvPr/>
        </p:nvSpPr>
        <p:spPr>
          <a:xfrm>
            <a:off x="1052893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1055243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幻觉防控</a:t>
            </a:r>
          </a:p>
        </p:txBody>
      </p:sp>
      <p:sp>
        <p:nvSpPr>
          <p:cNvPr id="199" name="图形 8"/>
          <p:cNvSpPr/>
          <p:nvPr/>
        </p:nvSpPr>
        <p:spPr>
          <a:xfrm>
            <a:off x="502165" y="4741872"/>
            <a:ext cx="329117" cy="314132"/>
          </a:xfrm>
          <a:custGeom>
            <a:avLst/>
            <a:gdLst>
              <a:gd name="connsiteX0" fmla="*/ 1522326 w 1662968"/>
              <a:gd name="connsiteY0" fmla="*/ 1073795 h 1587251"/>
              <a:gd name="connsiteX1" fmla="*/ 1478049 w 1662968"/>
              <a:gd name="connsiteY1" fmla="*/ 1073795 h 1587251"/>
              <a:gd name="connsiteX2" fmla="*/ 1478049 w 1662968"/>
              <a:gd name="connsiteY2" fmla="*/ 717166 h 1587251"/>
              <a:gd name="connsiteX3" fmla="*/ 890364 w 1662968"/>
              <a:gd name="connsiteY3" fmla="*/ 717166 h 1587251"/>
              <a:gd name="connsiteX4" fmla="*/ 890364 w 1662968"/>
              <a:gd name="connsiteY4" fmla="*/ 513643 h 1587251"/>
              <a:gd name="connsiteX5" fmla="*/ 1065051 w 1662968"/>
              <a:gd name="connsiteY5" fmla="*/ 513643 h 1587251"/>
              <a:gd name="connsiteX6" fmla="*/ 1205694 w 1662968"/>
              <a:gd name="connsiteY6" fmla="*/ 373001 h 1587251"/>
              <a:gd name="connsiteX7" fmla="*/ 1205694 w 1662968"/>
              <a:gd name="connsiteY7" fmla="*/ 140643 h 1587251"/>
              <a:gd name="connsiteX8" fmla="*/ 1065051 w 1662968"/>
              <a:gd name="connsiteY8" fmla="*/ 0 h 1587251"/>
              <a:gd name="connsiteX9" fmla="*/ 597917 w 1662968"/>
              <a:gd name="connsiteY9" fmla="*/ 0 h 1587251"/>
              <a:gd name="connsiteX10" fmla="*/ 457274 w 1662968"/>
              <a:gd name="connsiteY10" fmla="*/ 140643 h 1587251"/>
              <a:gd name="connsiteX11" fmla="*/ 457274 w 1662968"/>
              <a:gd name="connsiteY11" fmla="*/ 372814 h 1587251"/>
              <a:gd name="connsiteX12" fmla="*/ 597917 w 1662968"/>
              <a:gd name="connsiteY12" fmla="*/ 513457 h 1587251"/>
              <a:gd name="connsiteX13" fmla="*/ 760326 w 1662968"/>
              <a:gd name="connsiteY13" fmla="*/ 513457 h 1587251"/>
              <a:gd name="connsiteX14" fmla="*/ 760326 w 1662968"/>
              <a:gd name="connsiteY14" fmla="*/ 716980 h 1587251"/>
              <a:gd name="connsiteX15" fmla="*/ 185477 w 1662968"/>
              <a:gd name="connsiteY15" fmla="*/ 716980 h 1587251"/>
              <a:gd name="connsiteX16" fmla="*/ 185477 w 1662968"/>
              <a:gd name="connsiteY16" fmla="*/ 1073609 h 1587251"/>
              <a:gd name="connsiteX17" fmla="*/ 140643 w 1662968"/>
              <a:gd name="connsiteY17" fmla="*/ 1073609 h 1587251"/>
              <a:gd name="connsiteX18" fmla="*/ 0 w 1662968"/>
              <a:gd name="connsiteY18" fmla="*/ 1214252 h 1587251"/>
              <a:gd name="connsiteX19" fmla="*/ 0 w 1662968"/>
              <a:gd name="connsiteY19" fmla="*/ 1446423 h 1587251"/>
              <a:gd name="connsiteX20" fmla="*/ 140643 w 1662968"/>
              <a:gd name="connsiteY20" fmla="*/ 1587066 h 1587251"/>
              <a:gd name="connsiteX21" fmla="*/ 372814 w 1662968"/>
              <a:gd name="connsiteY21" fmla="*/ 1587066 h 1587251"/>
              <a:gd name="connsiteX22" fmla="*/ 513457 w 1662968"/>
              <a:gd name="connsiteY22" fmla="*/ 1446423 h 1587251"/>
              <a:gd name="connsiteX23" fmla="*/ 513457 w 1662968"/>
              <a:gd name="connsiteY23" fmla="*/ 1214624 h 1587251"/>
              <a:gd name="connsiteX24" fmla="*/ 372814 w 1662968"/>
              <a:gd name="connsiteY24" fmla="*/ 1073981 h 1587251"/>
              <a:gd name="connsiteX25" fmla="*/ 315702 w 1662968"/>
              <a:gd name="connsiteY25" fmla="*/ 1073981 h 1587251"/>
              <a:gd name="connsiteX26" fmla="*/ 315702 w 1662968"/>
              <a:gd name="connsiteY26" fmla="*/ 847390 h 1587251"/>
              <a:gd name="connsiteX27" fmla="*/ 760140 w 1662968"/>
              <a:gd name="connsiteY27" fmla="*/ 847390 h 1587251"/>
              <a:gd name="connsiteX28" fmla="*/ 760140 w 1662968"/>
              <a:gd name="connsiteY28" fmla="*/ 1073795 h 1587251"/>
              <a:gd name="connsiteX29" fmla="*/ 715305 w 1662968"/>
              <a:gd name="connsiteY29" fmla="*/ 1073795 h 1587251"/>
              <a:gd name="connsiteX30" fmla="*/ 574663 w 1662968"/>
              <a:gd name="connsiteY30" fmla="*/ 1214438 h 1587251"/>
              <a:gd name="connsiteX31" fmla="*/ 574663 w 1662968"/>
              <a:gd name="connsiteY31" fmla="*/ 1446609 h 1587251"/>
              <a:gd name="connsiteX32" fmla="*/ 715305 w 1662968"/>
              <a:gd name="connsiteY32" fmla="*/ 1587252 h 1587251"/>
              <a:gd name="connsiteX33" fmla="*/ 947477 w 1662968"/>
              <a:gd name="connsiteY33" fmla="*/ 1587252 h 1587251"/>
              <a:gd name="connsiteX34" fmla="*/ 1088120 w 1662968"/>
              <a:gd name="connsiteY34" fmla="*/ 1446609 h 1587251"/>
              <a:gd name="connsiteX35" fmla="*/ 1088120 w 1662968"/>
              <a:gd name="connsiteY35" fmla="*/ 1214624 h 1587251"/>
              <a:gd name="connsiteX36" fmla="*/ 947477 w 1662968"/>
              <a:gd name="connsiteY36" fmla="*/ 1073981 h 1587251"/>
              <a:gd name="connsiteX37" fmla="*/ 890364 w 1662968"/>
              <a:gd name="connsiteY37" fmla="*/ 1073981 h 1587251"/>
              <a:gd name="connsiteX38" fmla="*/ 890364 w 1662968"/>
              <a:gd name="connsiteY38" fmla="*/ 847390 h 1587251"/>
              <a:gd name="connsiteX39" fmla="*/ 1347825 w 1662968"/>
              <a:gd name="connsiteY39" fmla="*/ 847390 h 1587251"/>
              <a:gd name="connsiteX40" fmla="*/ 1347825 w 1662968"/>
              <a:gd name="connsiteY40" fmla="*/ 1073795 h 1587251"/>
              <a:gd name="connsiteX41" fmla="*/ 1290154 w 1662968"/>
              <a:gd name="connsiteY41" fmla="*/ 1073795 h 1587251"/>
              <a:gd name="connsiteX42" fmla="*/ 1149511 w 1662968"/>
              <a:gd name="connsiteY42" fmla="*/ 1214438 h 1587251"/>
              <a:gd name="connsiteX43" fmla="*/ 1149511 w 1662968"/>
              <a:gd name="connsiteY43" fmla="*/ 1446609 h 1587251"/>
              <a:gd name="connsiteX44" fmla="*/ 1290154 w 1662968"/>
              <a:gd name="connsiteY44" fmla="*/ 1587252 h 1587251"/>
              <a:gd name="connsiteX45" fmla="*/ 1522326 w 1662968"/>
              <a:gd name="connsiteY45" fmla="*/ 1587252 h 1587251"/>
              <a:gd name="connsiteX46" fmla="*/ 1662968 w 1662968"/>
              <a:gd name="connsiteY46" fmla="*/ 1446609 h 1587251"/>
              <a:gd name="connsiteX47" fmla="*/ 1662968 w 1662968"/>
              <a:gd name="connsiteY47" fmla="*/ 1214624 h 1587251"/>
              <a:gd name="connsiteX48" fmla="*/ 1522326 w 1662968"/>
              <a:gd name="connsiteY48" fmla="*/ 1073795 h 1587251"/>
              <a:gd name="connsiteX49" fmla="*/ 587313 w 1662968"/>
              <a:gd name="connsiteY49" fmla="*/ 373001 h 1587251"/>
              <a:gd name="connsiteX50" fmla="*/ 587313 w 1662968"/>
              <a:gd name="connsiteY50" fmla="*/ 140643 h 1587251"/>
              <a:gd name="connsiteX51" fmla="*/ 597731 w 1662968"/>
              <a:gd name="connsiteY51" fmla="*/ 130225 h 1587251"/>
              <a:gd name="connsiteX52" fmla="*/ 1065051 w 1662968"/>
              <a:gd name="connsiteY52" fmla="*/ 130225 h 1587251"/>
              <a:gd name="connsiteX53" fmla="*/ 1075469 w 1662968"/>
              <a:gd name="connsiteY53" fmla="*/ 140643 h 1587251"/>
              <a:gd name="connsiteX54" fmla="*/ 1075469 w 1662968"/>
              <a:gd name="connsiteY54" fmla="*/ 372814 h 1587251"/>
              <a:gd name="connsiteX55" fmla="*/ 1065051 w 1662968"/>
              <a:gd name="connsiteY55" fmla="*/ 383232 h 1587251"/>
              <a:gd name="connsiteX56" fmla="*/ 597917 w 1662968"/>
              <a:gd name="connsiteY56" fmla="*/ 383232 h 1587251"/>
              <a:gd name="connsiteX57" fmla="*/ 587313 w 1662968"/>
              <a:gd name="connsiteY57" fmla="*/ 373001 h 1587251"/>
              <a:gd name="connsiteX58" fmla="*/ 383418 w 1662968"/>
              <a:gd name="connsiteY58" fmla="*/ 1214624 h 1587251"/>
              <a:gd name="connsiteX59" fmla="*/ 383418 w 1662968"/>
              <a:gd name="connsiteY59" fmla="*/ 1446795 h 1587251"/>
              <a:gd name="connsiteX60" fmla="*/ 373001 w 1662968"/>
              <a:gd name="connsiteY60" fmla="*/ 1457213 h 1587251"/>
              <a:gd name="connsiteX61" fmla="*/ 140643 w 1662968"/>
              <a:gd name="connsiteY61" fmla="*/ 1457213 h 1587251"/>
              <a:gd name="connsiteX62" fmla="*/ 130225 w 1662968"/>
              <a:gd name="connsiteY62" fmla="*/ 1446795 h 1587251"/>
              <a:gd name="connsiteX63" fmla="*/ 130225 w 1662968"/>
              <a:gd name="connsiteY63" fmla="*/ 1214624 h 1587251"/>
              <a:gd name="connsiteX64" fmla="*/ 140643 w 1662968"/>
              <a:gd name="connsiteY64" fmla="*/ 1204206 h 1587251"/>
              <a:gd name="connsiteX65" fmla="*/ 372814 w 1662968"/>
              <a:gd name="connsiteY65" fmla="*/ 1204206 h 1587251"/>
              <a:gd name="connsiteX66" fmla="*/ 383418 w 1662968"/>
              <a:gd name="connsiteY66" fmla="*/ 1214624 h 1587251"/>
              <a:gd name="connsiteX67" fmla="*/ 958081 w 1662968"/>
              <a:gd name="connsiteY67" fmla="*/ 1214624 h 1587251"/>
              <a:gd name="connsiteX68" fmla="*/ 958081 w 1662968"/>
              <a:gd name="connsiteY68" fmla="*/ 1446795 h 1587251"/>
              <a:gd name="connsiteX69" fmla="*/ 947663 w 1662968"/>
              <a:gd name="connsiteY69" fmla="*/ 1457213 h 1587251"/>
              <a:gd name="connsiteX70" fmla="*/ 715305 w 1662968"/>
              <a:gd name="connsiteY70" fmla="*/ 1457213 h 1587251"/>
              <a:gd name="connsiteX71" fmla="*/ 704887 w 1662968"/>
              <a:gd name="connsiteY71" fmla="*/ 1446795 h 1587251"/>
              <a:gd name="connsiteX72" fmla="*/ 704887 w 1662968"/>
              <a:gd name="connsiteY72" fmla="*/ 1214624 h 1587251"/>
              <a:gd name="connsiteX73" fmla="*/ 715305 w 1662968"/>
              <a:gd name="connsiteY73" fmla="*/ 1204206 h 1587251"/>
              <a:gd name="connsiteX74" fmla="*/ 947477 w 1662968"/>
              <a:gd name="connsiteY74" fmla="*/ 1204206 h 1587251"/>
              <a:gd name="connsiteX75" fmla="*/ 958081 w 1662968"/>
              <a:gd name="connsiteY75" fmla="*/ 1214624 h 1587251"/>
              <a:gd name="connsiteX76" fmla="*/ 1532930 w 1662968"/>
              <a:gd name="connsiteY76" fmla="*/ 1446795 h 1587251"/>
              <a:gd name="connsiteX77" fmla="*/ 1522512 w 1662968"/>
              <a:gd name="connsiteY77" fmla="*/ 1457213 h 1587251"/>
              <a:gd name="connsiteX78" fmla="*/ 1290154 w 1662968"/>
              <a:gd name="connsiteY78" fmla="*/ 1457213 h 1587251"/>
              <a:gd name="connsiteX79" fmla="*/ 1279736 w 1662968"/>
              <a:gd name="connsiteY79" fmla="*/ 1446795 h 1587251"/>
              <a:gd name="connsiteX80" fmla="*/ 1279736 w 1662968"/>
              <a:gd name="connsiteY80" fmla="*/ 1214624 h 1587251"/>
              <a:gd name="connsiteX81" fmla="*/ 1290154 w 1662968"/>
              <a:gd name="connsiteY81" fmla="*/ 1204206 h 1587251"/>
              <a:gd name="connsiteX82" fmla="*/ 1522326 w 1662968"/>
              <a:gd name="connsiteY82" fmla="*/ 1204206 h 1587251"/>
              <a:gd name="connsiteX83" fmla="*/ 1532744 w 1662968"/>
              <a:gd name="connsiteY83" fmla="*/ 1214624 h 1587251"/>
              <a:gd name="connsiteX84" fmla="*/ 1532744 w 1662968"/>
              <a:gd name="connsiteY84" fmla="*/ 1446795 h 158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62968" h="1587251">
                <a:moveTo>
                  <a:pt x="1522326" y="1073795"/>
                </a:moveTo>
                <a:lnTo>
                  <a:pt x="1478049" y="1073795"/>
                </a:lnTo>
                <a:lnTo>
                  <a:pt x="1478049" y="717166"/>
                </a:lnTo>
                <a:lnTo>
                  <a:pt x="890364" y="717166"/>
                </a:lnTo>
                <a:lnTo>
                  <a:pt x="890364" y="513643"/>
                </a:lnTo>
                <a:lnTo>
                  <a:pt x="1065051" y="513643"/>
                </a:lnTo>
                <a:cubicBezTo>
                  <a:pt x="1142628" y="513643"/>
                  <a:pt x="1205694" y="450577"/>
                  <a:pt x="1205694" y="373001"/>
                </a:cubicBezTo>
                <a:lnTo>
                  <a:pt x="1205694" y="140643"/>
                </a:lnTo>
                <a:cubicBezTo>
                  <a:pt x="1205694" y="63066"/>
                  <a:pt x="1142628" y="0"/>
                  <a:pt x="1065051" y="0"/>
                </a:cubicBezTo>
                <a:lnTo>
                  <a:pt x="597917" y="0"/>
                </a:lnTo>
                <a:cubicBezTo>
                  <a:pt x="520340" y="0"/>
                  <a:pt x="457274" y="63066"/>
                  <a:pt x="457274" y="140643"/>
                </a:cubicBezTo>
                <a:lnTo>
                  <a:pt x="457274" y="372814"/>
                </a:lnTo>
                <a:cubicBezTo>
                  <a:pt x="457274" y="450391"/>
                  <a:pt x="520340" y="513457"/>
                  <a:pt x="597917" y="513457"/>
                </a:cubicBezTo>
                <a:lnTo>
                  <a:pt x="760326" y="513457"/>
                </a:lnTo>
                <a:lnTo>
                  <a:pt x="760326" y="716980"/>
                </a:lnTo>
                <a:lnTo>
                  <a:pt x="185477" y="716980"/>
                </a:lnTo>
                <a:lnTo>
                  <a:pt x="185477" y="1073609"/>
                </a:lnTo>
                <a:lnTo>
                  <a:pt x="140643" y="1073609"/>
                </a:lnTo>
                <a:cubicBezTo>
                  <a:pt x="63066" y="1073609"/>
                  <a:pt x="0" y="1136675"/>
                  <a:pt x="0" y="1214252"/>
                </a:cubicBezTo>
                <a:lnTo>
                  <a:pt x="0" y="1446423"/>
                </a:lnTo>
                <a:cubicBezTo>
                  <a:pt x="0" y="1524000"/>
                  <a:pt x="63066" y="1587066"/>
                  <a:pt x="140643" y="1587066"/>
                </a:cubicBezTo>
                <a:lnTo>
                  <a:pt x="372814" y="1587066"/>
                </a:lnTo>
                <a:cubicBezTo>
                  <a:pt x="450391" y="1587066"/>
                  <a:pt x="513457" y="1524000"/>
                  <a:pt x="513457" y="1446423"/>
                </a:cubicBezTo>
                <a:lnTo>
                  <a:pt x="513457" y="1214624"/>
                </a:lnTo>
                <a:cubicBezTo>
                  <a:pt x="513457" y="1137047"/>
                  <a:pt x="450391" y="1073981"/>
                  <a:pt x="372814" y="1073981"/>
                </a:cubicBezTo>
                <a:lnTo>
                  <a:pt x="315702" y="1073981"/>
                </a:lnTo>
                <a:lnTo>
                  <a:pt x="315702" y="847390"/>
                </a:lnTo>
                <a:lnTo>
                  <a:pt x="760140" y="847390"/>
                </a:lnTo>
                <a:lnTo>
                  <a:pt x="760140" y="1073795"/>
                </a:lnTo>
                <a:lnTo>
                  <a:pt x="715305" y="1073795"/>
                </a:lnTo>
                <a:cubicBezTo>
                  <a:pt x="637729" y="1073795"/>
                  <a:pt x="574663" y="1136861"/>
                  <a:pt x="574663" y="1214438"/>
                </a:cubicBezTo>
                <a:lnTo>
                  <a:pt x="574663" y="1446609"/>
                </a:lnTo>
                <a:cubicBezTo>
                  <a:pt x="574663" y="1524186"/>
                  <a:pt x="637729" y="1587252"/>
                  <a:pt x="715305" y="1587252"/>
                </a:cubicBezTo>
                <a:lnTo>
                  <a:pt x="947477" y="1587252"/>
                </a:lnTo>
                <a:cubicBezTo>
                  <a:pt x="1025054" y="1587252"/>
                  <a:pt x="1088120" y="1524186"/>
                  <a:pt x="1088120" y="1446609"/>
                </a:cubicBezTo>
                <a:lnTo>
                  <a:pt x="1088120" y="1214624"/>
                </a:lnTo>
                <a:cubicBezTo>
                  <a:pt x="1088120" y="1137047"/>
                  <a:pt x="1025054" y="1073981"/>
                  <a:pt x="947477" y="1073981"/>
                </a:cubicBezTo>
                <a:lnTo>
                  <a:pt x="890364" y="1073981"/>
                </a:lnTo>
                <a:lnTo>
                  <a:pt x="890364" y="847390"/>
                </a:lnTo>
                <a:lnTo>
                  <a:pt x="1347825" y="847390"/>
                </a:lnTo>
                <a:lnTo>
                  <a:pt x="1347825" y="1073795"/>
                </a:lnTo>
                <a:lnTo>
                  <a:pt x="1290154" y="1073795"/>
                </a:lnTo>
                <a:cubicBezTo>
                  <a:pt x="1212577" y="1073795"/>
                  <a:pt x="1149511" y="1136861"/>
                  <a:pt x="1149511" y="1214438"/>
                </a:cubicBezTo>
                <a:lnTo>
                  <a:pt x="1149511" y="1446609"/>
                </a:lnTo>
                <a:cubicBezTo>
                  <a:pt x="1149511" y="1524186"/>
                  <a:pt x="1212577" y="1587252"/>
                  <a:pt x="1290154" y="1587252"/>
                </a:cubicBezTo>
                <a:lnTo>
                  <a:pt x="1522326" y="1587252"/>
                </a:lnTo>
                <a:cubicBezTo>
                  <a:pt x="1599902" y="1587252"/>
                  <a:pt x="1662968" y="1524186"/>
                  <a:pt x="1662968" y="1446609"/>
                </a:cubicBezTo>
                <a:lnTo>
                  <a:pt x="1662968" y="1214624"/>
                </a:lnTo>
                <a:cubicBezTo>
                  <a:pt x="1663154" y="1136861"/>
                  <a:pt x="1599902" y="1073795"/>
                  <a:pt x="1522326" y="1073795"/>
                </a:cubicBezTo>
                <a:close/>
                <a:moveTo>
                  <a:pt x="587313" y="373001"/>
                </a:moveTo>
                <a:lnTo>
                  <a:pt x="587313" y="140643"/>
                </a:lnTo>
                <a:cubicBezTo>
                  <a:pt x="587313" y="134876"/>
                  <a:pt x="591964" y="130225"/>
                  <a:pt x="597731" y="130225"/>
                </a:cubicBezTo>
                <a:lnTo>
                  <a:pt x="1065051" y="130225"/>
                </a:lnTo>
                <a:cubicBezTo>
                  <a:pt x="1070818" y="130225"/>
                  <a:pt x="1075469" y="134876"/>
                  <a:pt x="1075469" y="140643"/>
                </a:cubicBezTo>
                <a:lnTo>
                  <a:pt x="1075469" y="372814"/>
                </a:lnTo>
                <a:cubicBezTo>
                  <a:pt x="1075469" y="378582"/>
                  <a:pt x="1070818" y="383232"/>
                  <a:pt x="1065051" y="383232"/>
                </a:cubicBezTo>
                <a:lnTo>
                  <a:pt x="597917" y="383232"/>
                </a:lnTo>
                <a:cubicBezTo>
                  <a:pt x="592150" y="383418"/>
                  <a:pt x="587313" y="378768"/>
                  <a:pt x="587313" y="373001"/>
                </a:cubicBezTo>
                <a:close/>
                <a:moveTo>
                  <a:pt x="383418" y="1214624"/>
                </a:moveTo>
                <a:lnTo>
                  <a:pt x="383418" y="1446795"/>
                </a:lnTo>
                <a:cubicBezTo>
                  <a:pt x="383418" y="1452563"/>
                  <a:pt x="378768" y="1457213"/>
                  <a:pt x="373001" y="1457213"/>
                </a:cubicBezTo>
                <a:lnTo>
                  <a:pt x="140643" y="1457213"/>
                </a:lnTo>
                <a:cubicBezTo>
                  <a:pt x="134876" y="1457213"/>
                  <a:pt x="130225" y="1452563"/>
                  <a:pt x="130225" y="1446795"/>
                </a:cubicBezTo>
                <a:lnTo>
                  <a:pt x="130225" y="1214624"/>
                </a:lnTo>
                <a:cubicBezTo>
                  <a:pt x="130225" y="1208857"/>
                  <a:pt x="134876" y="1204206"/>
                  <a:pt x="140643" y="1204206"/>
                </a:cubicBezTo>
                <a:lnTo>
                  <a:pt x="372814" y="1204206"/>
                </a:lnTo>
                <a:cubicBezTo>
                  <a:pt x="378768" y="1204020"/>
                  <a:pt x="383418" y="1208670"/>
                  <a:pt x="383418" y="1214624"/>
                </a:cubicBezTo>
                <a:close/>
                <a:moveTo>
                  <a:pt x="958081" y="1214624"/>
                </a:moveTo>
                <a:lnTo>
                  <a:pt x="958081" y="1446795"/>
                </a:lnTo>
                <a:cubicBezTo>
                  <a:pt x="958081" y="1452563"/>
                  <a:pt x="953430" y="1457213"/>
                  <a:pt x="947663" y="1457213"/>
                </a:cubicBezTo>
                <a:lnTo>
                  <a:pt x="715305" y="1457213"/>
                </a:lnTo>
                <a:cubicBezTo>
                  <a:pt x="709538" y="1457213"/>
                  <a:pt x="704887" y="1452563"/>
                  <a:pt x="704887" y="1446795"/>
                </a:cubicBezTo>
                <a:lnTo>
                  <a:pt x="704887" y="1214624"/>
                </a:lnTo>
                <a:cubicBezTo>
                  <a:pt x="704887" y="1208857"/>
                  <a:pt x="709538" y="1204206"/>
                  <a:pt x="715305" y="1204206"/>
                </a:cubicBezTo>
                <a:lnTo>
                  <a:pt x="947477" y="1204206"/>
                </a:lnTo>
                <a:cubicBezTo>
                  <a:pt x="953430" y="1204020"/>
                  <a:pt x="958081" y="1208670"/>
                  <a:pt x="958081" y="1214624"/>
                </a:cubicBezTo>
                <a:close/>
                <a:moveTo>
                  <a:pt x="1532930" y="1446795"/>
                </a:moveTo>
                <a:cubicBezTo>
                  <a:pt x="1532930" y="1452563"/>
                  <a:pt x="1528279" y="1457213"/>
                  <a:pt x="1522512" y="1457213"/>
                </a:cubicBezTo>
                <a:lnTo>
                  <a:pt x="1290154" y="1457213"/>
                </a:lnTo>
                <a:cubicBezTo>
                  <a:pt x="1284387" y="1457213"/>
                  <a:pt x="1279736" y="1452563"/>
                  <a:pt x="1279736" y="1446795"/>
                </a:cubicBezTo>
                <a:lnTo>
                  <a:pt x="1279736" y="1214624"/>
                </a:lnTo>
                <a:cubicBezTo>
                  <a:pt x="1279736" y="1208857"/>
                  <a:pt x="1284387" y="1204206"/>
                  <a:pt x="1290154" y="1204206"/>
                </a:cubicBezTo>
                <a:lnTo>
                  <a:pt x="1522326" y="1204206"/>
                </a:lnTo>
                <a:cubicBezTo>
                  <a:pt x="1528093" y="1204206"/>
                  <a:pt x="1532744" y="1208857"/>
                  <a:pt x="1532744" y="1214624"/>
                </a:cubicBezTo>
                <a:lnTo>
                  <a:pt x="1532744" y="1446795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3496590" y="4731064"/>
            <a:ext cx="278620" cy="334331"/>
            <a:chOff x="-3008334" y="4659032"/>
            <a:chExt cx="1523999" cy="1828725"/>
          </a:xfrm>
          <a:solidFill>
            <a:schemeClr val="accent1"/>
          </a:solidFill>
        </p:grpSpPr>
        <p:sp>
          <p:nvSpPr>
            <p:cNvPr id="201" name="任意多边形: 形状 200"/>
            <p:cNvSpPr/>
            <p:nvPr/>
          </p:nvSpPr>
          <p:spPr>
            <a:xfrm>
              <a:off x="-3008334" y="4659032"/>
              <a:ext cx="1523999" cy="1828725"/>
            </a:xfrm>
            <a:custGeom>
              <a:avLst/>
              <a:gdLst>
                <a:gd name="connsiteX0" fmla="*/ 1295363 w 1523999"/>
                <a:gd name="connsiteY0" fmla="*/ 1828726 h 1828725"/>
                <a:gd name="connsiteX1" fmla="*/ 228637 w 1523999"/>
                <a:gd name="connsiteY1" fmla="*/ 1828726 h 1828725"/>
                <a:gd name="connsiteX2" fmla="*/ 0 w 1523999"/>
                <a:gd name="connsiteY2" fmla="*/ 1600088 h 1828725"/>
                <a:gd name="connsiteX3" fmla="*/ 0 w 1523999"/>
                <a:gd name="connsiteY3" fmla="*/ 1371637 h 1828725"/>
                <a:gd name="connsiteX4" fmla="*/ 533363 w 1523999"/>
                <a:gd name="connsiteY4" fmla="*/ 838088 h 1828725"/>
                <a:gd name="connsiteX5" fmla="*/ 990637 w 1523999"/>
                <a:gd name="connsiteY5" fmla="*/ 838088 h 1828725"/>
                <a:gd name="connsiteX6" fmla="*/ 1524000 w 1523999"/>
                <a:gd name="connsiteY6" fmla="*/ 1371451 h 1828725"/>
                <a:gd name="connsiteX7" fmla="*/ 1524000 w 1523999"/>
                <a:gd name="connsiteY7" fmla="*/ 1600088 h 1828725"/>
                <a:gd name="connsiteX8" fmla="*/ 1295363 w 1523999"/>
                <a:gd name="connsiteY8" fmla="*/ 1828726 h 1828725"/>
                <a:gd name="connsiteX9" fmla="*/ 533363 w 1523999"/>
                <a:gd name="connsiteY9" fmla="*/ 990637 h 1828725"/>
                <a:gd name="connsiteX10" fmla="*/ 152363 w 1523999"/>
                <a:gd name="connsiteY10" fmla="*/ 1371637 h 1828725"/>
                <a:gd name="connsiteX11" fmla="*/ 152363 w 1523999"/>
                <a:gd name="connsiteY11" fmla="*/ 1600274 h 1828725"/>
                <a:gd name="connsiteX12" fmla="*/ 228637 w 1523999"/>
                <a:gd name="connsiteY12" fmla="*/ 1676549 h 1828725"/>
                <a:gd name="connsiteX13" fmla="*/ 1295363 w 1523999"/>
                <a:gd name="connsiteY13" fmla="*/ 1676549 h 1828725"/>
                <a:gd name="connsiteX14" fmla="*/ 1371637 w 1523999"/>
                <a:gd name="connsiteY14" fmla="*/ 1600274 h 1828725"/>
                <a:gd name="connsiteX15" fmla="*/ 1371637 w 1523999"/>
                <a:gd name="connsiteY15" fmla="*/ 1371637 h 1828725"/>
                <a:gd name="connsiteX16" fmla="*/ 990637 w 1523999"/>
                <a:gd name="connsiteY16" fmla="*/ 990637 h 1828725"/>
                <a:gd name="connsiteX17" fmla="*/ 533363 w 1523999"/>
                <a:gd name="connsiteY17" fmla="*/ 990637 h 1828725"/>
                <a:gd name="connsiteX18" fmla="*/ 762000 w 1523999"/>
                <a:gd name="connsiteY18" fmla="*/ 152363 h 1828725"/>
                <a:gd name="connsiteX19" fmla="*/ 990637 w 1523999"/>
                <a:gd name="connsiteY19" fmla="*/ 381000 h 1828725"/>
                <a:gd name="connsiteX20" fmla="*/ 762000 w 1523999"/>
                <a:gd name="connsiteY20" fmla="*/ 609637 h 1828725"/>
                <a:gd name="connsiteX21" fmla="*/ 533363 w 1523999"/>
                <a:gd name="connsiteY21" fmla="*/ 381000 h 1828725"/>
                <a:gd name="connsiteX22" fmla="*/ 762000 w 1523999"/>
                <a:gd name="connsiteY22" fmla="*/ 152363 h 1828725"/>
                <a:gd name="connsiteX23" fmla="*/ 762000 w 1523999"/>
                <a:gd name="connsiteY23" fmla="*/ 0 h 1828725"/>
                <a:gd name="connsiteX24" fmla="*/ 381000 w 1523999"/>
                <a:gd name="connsiteY24" fmla="*/ 381000 h 1828725"/>
                <a:gd name="connsiteX25" fmla="*/ 762000 w 1523999"/>
                <a:gd name="connsiteY25" fmla="*/ 762000 h 1828725"/>
                <a:gd name="connsiteX26" fmla="*/ 1143000 w 1523999"/>
                <a:gd name="connsiteY26" fmla="*/ 381000 h 1828725"/>
                <a:gd name="connsiteX27" fmla="*/ 762000 w 1523999"/>
                <a:gd name="connsiteY27" fmla="*/ 0 h 18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23999" h="1828725">
                  <a:moveTo>
                    <a:pt x="1295363" y="1828726"/>
                  </a:moveTo>
                  <a:lnTo>
                    <a:pt x="228637" y="1828726"/>
                  </a:lnTo>
                  <a:cubicBezTo>
                    <a:pt x="102505" y="1828726"/>
                    <a:pt x="0" y="1726220"/>
                    <a:pt x="0" y="1600088"/>
                  </a:cubicBezTo>
                  <a:lnTo>
                    <a:pt x="0" y="1371637"/>
                  </a:lnTo>
                  <a:cubicBezTo>
                    <a:pt x="0" y="1077516"/>
                    <a:pt x="239241" y="838088"/>
                    <a:pt x="533363" y="838088"/>
                  </a:cubicBezTo>
                  <a:lnTo>
                    <a:pt x="990637" y="838088"/>
                  </a:lnTo>
                  <a:cubicBezTo>
                    <a:pt x="1284759" y="838088"/>
                    <a:pt x="1524000" y="1077330"/>
                    <a:pt x="1524000" y="1371451"/>
                  </a:cubicBezTo>
                  <a:lnTo>
                    <a:pt x="1524000" y="1600088"/>
                  </a:lnTo>
                  <a:cubicBezTo>
                    <a:pt x="1524000" y="1726220"/>
                    <a:pt x="1421495" y="1828726"/>
                    <a:pt x="1295363" y="1828726"/>
                  </a:cubicBezTo>
                  <a:close/>
                  <a:moveTo>
                    <a:pt x="533363" y="990637"/>
                  </a:moveTo>
                  <a:cubicBezTo>
                    <a:pt x="323329" y="990637"/>
                    <a:pt x="152363" y="1161604"/>
                    <a:pt x="152363" y="1371637"/>
                  </a:cubicBezTo>
                  <a:lnTo>
                    <a:pt x="152363" y="1600274"/>
                  </a:lnTo>
                  <a:cubicBezTo>
                    <a:pt x="152363" y="1642318"/>
                    <a:pt x="186593" y="1676549"/>
                    <a:pt x="228637" y="1676549"/>
                  </a:cubicBezTo>
                  <a:lnTo>
                    <a:pt x="1295363" y="1676549"/>
                  </a:lnTo>
                  <a:cubicBezTo>
                    <a:pt x="1337407" y="1676549"/>
                    <a:pt x="1371637" y="1642318"/>
                    <a:pt x="1371637" y="1600274"/>
                  </a:cubicBezTo>
                  <a:lnTo>
                    <a:pt x="1371637" y="1371637"/>
                  </a:lnTo>
                  <a:cubicBezTo>
                    <a:pt x="1371637" y="1161604"/>
                    <a:pt x="1200671" y="990637"/>
                    <a:pt x="990637" y="990637"/>
                  </a:cubicBezTo>
                  <a:lnTo>
                    <a:pt x="533363" y="990637"/>
                  </a:lnTo>
                  <a:close/>
                  <a:moveTo>
                    <a:pt x="762000" y="152363"/>
                  </a:moveTo>
                  <a:cubicBezTo>
                    <a:pt x="888132" y="152363"/>
                    <a:pt x="990637" y="254868"/>
                    <a:pt x="990637" y="381000"/>
                  </a:cubicBezTo>
                  <a:cubicBezTo>
                    <a:pt x="990637" y="507132"/>
                    <a:pt x="888132" y="609637"/>
                    <a:pt x="762000" y="609637"/>
                  </a:cubicBezTo>
                  <a:cubicBezTo>
                    <a:pt x="635868" y="609637"/>
                    <a:pt x="533363" y="506946"/>
                    <a:pt x="533363" y="381000"/>
                  </a:cubicBezTo>
                  <a:cubicBezTo>
                    <a:pt x="533363" y="255054"/>
                    <a:pt x="635868" y="152363"/>
                    <a:pt x="762000" y="152363"/>
                  </a:cubicBezTo>
                  <a:moveTo>
                    <a:pt x="762000" y="0"/>
                  </a:moveTo>
                  <a:cubicBezTo>
                    <a:pt x="551594" y="0"/>
                    <a:pt x="381000" y="170594"/>
                    <a:pt x="381000" y="381000"/>
                  </a:cubicBezTo>
                  <a:cubicBezTo>
                    <a:pt x="381000" y="591406"/>
                    <a:pt x="551594" y="762000"/>
                    <a:pt x="762000" y="762000"/>
                  </a:cubicBezTo>
                  <a:cubicBezTo>
                    <a:pt x="972406" y="762000"/>
                    <a:pt x="1143000" y="591406"/>
                    <a:pt x="1143000" y="381000"/>
                  </a:cubicBezTo>
                  <a:cubicBezTo>
                    <a:pt x="1143000" y="170594"/>
                    <a:pt x="972406" y="0"/>
                    <a:pt x="762000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-2320935" y="5858586"/>
              <a:ext cx="152548" cy="304911"/>
            </a:xfrm>
            <a:custGeom>
              <a:avLst/>
              <a:gdLst>
                <a:gd name="connsiteX0" fmla="*/ 76274 w 152548"/>
                <a:gd name="connsiteY0" fmla="*/ 0 h 304911"/>
                <a:gd name="connsiteX1" fmla="*/ 0 w 152548"/>
                <a:gd name="connsiteY1" fmla="*/ 76274 h 304911"/>
                <a:gd name="connsiteX2" fmla="*/ 0 w 152548"/>
                <a:gd name="connsiteY2" fmla="*/ 228637 h 304911"/>
                <a:gd name="connsiteX3" fmla="*/ 76274 w 152548"/>
                <a:gd name="connsiteY3" fmla="*/ 304912 h 304911"/>
                <a:gd name="connsiteX4" fmla="*/ 152549 w 152548"/>
                <a:gd name="connsiteY4" fmla="*/ 228637 h 304911"/>
                <a:gd name="connsiteX5" fmla="*/ 152549 w 152548"/>
                <a:gd name="connsiteY5" fmla="*/ 76274 h 304911"/>
                <a:gd name="connsiteX6" fmla="*/ 76274 w 152548"/>
                <a:gd name="connsiteY6" fmla="*/ 0 h 30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48" h="304911">
                  <a:moveTo>
                    <a:pt x="76274" y="0"/>
                  </a:moveTo>
                  <a:cubicBezTo>
                    <a:pt x="34417" y="0"/>
                    <a:pt x="0" y="34231"/>
                    <a:pt x="0" y="76274"/>
                  </a:cubicBezTo>
                  <a:lnTo>
                    <a:pt x="0" y="228637"/>
                  </a:lnTo>
                  <a:cubicBezTo>
                    <a:pt x="0" y="270495"/>
                    <a:pt x="34230" y="304912"/>
                    <a:pt x="76274" y="304912"/>
                  </a:cubicBezTo>
                  <a:cubicBezTo>
                    <a:pt x="118132" y="304912"/>
                    <a:pt x="152549" y="270681"/>
                    <a:pt x="152549" y="228637"/>
                  </a:cubicBezTo>
                  <a:lnTo>
                    <a:pt x="152549" y="76274"/>
                  </a:lnTo>
                  <a:cubicBezTo>
                    <a:pt x="152549" y="34231"/>
                    <a:pt x="118132" y="0"/>
                    <a:pt x="76274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9441180" y="4701060"/>
            <a:ext cx="338698" cy="344650"/>
            <a:chOff x="-2504955" y="6888499"/>
            <a:chExt cx="1490662" cy="1516856"/>
          </a:xfrm>
          <a:solidFill>
            <a:schemeClr val="accent1"/>
          </a:solidFill>
        </p:grpSpPr>
        <p:sp>
          <p:nvSpPr>
            <p:cNvPr id="204" name="任意多边形: 形状 203"/>
            <p:cNvSpPr/>
            <p:nvPr/>
          </p:nvSpPr>
          <p:spPr>
            <a:xfrm>
              <a:off x="-2275760" y="7262356"/>
              <a:ext cx="1140023" cy="912614"/>
            </a:xfrm>
            <a:custGeom>
              <a:avLst/>
              <a:gdLst>
                <a:gd name="connsiteX0" fmla="*/ 0 w 1140023"/>
                <a:gd name="connsiteY0" fmla="*/ 598884 h 912614"/>
                <a:gd name="connsiteX1" fmla="*/ 228005 w 1140023"/>
                <a:gd name="connsiteY1" fmla="*/ 598884 h 912614"/>
                <a:gd name="connsiteX2" fmla="*/ 228005 w 1140023"/>
                <a:gd name="connsiteY2" fmla="*/ 912614 h 912614"/>
                <a:gd name="connsiteX3" fmla="*/ 0 w 1140023"/>
                <a:gd name="connsiteY3" fmla="*/ 912614 h 912614"/>
                <a:gd name="connsiteX4" fmla="*/ 304205 w 1140023"/>
                <a:gd name="connsiteY4" fmla="*/ 285155 h 912614"/>
                <a:gd name="connsiteX5" fmla="*/ 532209 w 1140023"/>
                <a:gd name="connsiteY5" fmla="*/ 285155 h 912614"/>
                <a:gd name="connsiteX6" fmla="*/ 532209 w 1140023"/>
                <a:gd name="connsiteY6" fmla="*/ 912614 h 912614"/>
                <a:gd name="connsiteX7" fmla="*/ 304205 w 1140023"/>
                <a:gd name="connsiteY7" fmla="*/ 912614 h 912614"/>
                <a:gd name="connsiteX8" fmla="*/ 607814 w 1140023"/>
                <a:gd name="connsiteY8" fmla="*/ 151805 h 912614"/>
                <a:gd name="connsiteX9" fmla="*/ 835819 w 1140023"/>
                <a:gd name="connsiteY9" fmla="*/ 151805 h 912614"/>
                <a:gd name="connsiteX10" fmla="*/ 835819 w 1140023"/>
                <a:gd name="connsiteY10" fmla="*/ 912019 h 912614"/>
                <a:gd name="connsiteX11" fmla="*/ 607814 w 1140023"/>
                <a:gd name="connsiteY11" fmla="*/ 912019 h 912614"/>
                <a:gd name="connsiteX12" fmla="*/ 912019 w 1140023"/>
                <a:gd name="connsiteY12" fmla="*/ 0 h 912614"/>
                <a:gd name="connsiteX13" fmla="*/ 1140023 w 1140023"/>
                <a:gd name="connsiteY13" fmla="*/ 0 h 912614"/>
                <a:gd name="connsiteX14" fmla="*/ 1140023 w 1140023"/>
                <a:gd name="connsiteY14" fmla="*/ 912614 h 912614"/>
                <a:gd name="connsiteX15" fmla="*/ 912019 w 1140023"/>
                <a:gd name="connsiteY15" fmla="*/ 912614 h 91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40023" h="912614">
                  <a:moveTo>
                    <a:pt x="0" y="598884"/>
                  </a:moveTo>
                  <a:lnTo>
                    <a:pt x="228005" y="598884"/>
                  </a:lnTo>
                  <a:lnTo>
                    <a:pt x="228005" y="912614"/>
                  </a:lnTo>
                  <a:lnTo>
                    <a:pt x="0" y="912614"/>
                  </a:lnTo>
                  <a:close/>
                  <a:moveTo>
                    <a:pt x="304205" y="285155"/>
                  </a:moveTo>
                  <a:lnTo>
                    <a:pt x="532209" y="285155"/>
                  </a:lnTo>
                  <a:lnTo>
                    <a:pt x="532209" y="912614"/>
                  </a:lnTo>
                  <a:lnTo>
                    <a:pt x="304205" y="912614"/>
                  </a:lnTo>
                  <a:close/>
                  <a:moveTo>
                    <a:pt x="607814" y="151805"/>
                  </a:moveTo>
                  <a:lnTo>
                    <a:pt x="835819" y="151805"/>
                  </a:lnTo>
                  <a:lnTo>
                    <a:pt x="835819" y="912019"/>
                  </a:lnTo>
                  <a:lnTo>
                    <a:pt x="607814" y="912019"/>
                  </a:lnTo>
                  <a:close/>
                  <a:moveTo>
                    <a:pt x="912019" y="0"/>
                  </a:moveTo>
                  <a:lnTo>
                    <a:pt x="1140023" y="0"/>
                  </a:lnTo>
                  <a:lnTo>
                    <a:pt x="1140023" y="912614"/>
                  </a:lnTo>
                  <a:lnTo>
                    <a:pt x="912019" y="912614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-2504955" y="6888499"/>
              <a:ext cx="1490662" cy="1516856"/>
            </a:xfrm>
            <a:custGeom>
              <a:avLst/>
              <a:gdLst>
                <a:gd name="connsiteX0" fmla="*/ 1431131 w 1490662"/>
                <a:gd name="connsiteY0" fmla="*/ 1516856 h 1516856"/>
                <a:gd name="connsiteX1" fmla="*/ 59531 w 1490662"/>
                <a:gd name="connsiteY1" fmla="*/ 1516856 h 1516856"/>
                <a:gd name="connsiteX2" fmla="*/ 0 w 1490662"/>
                <a:gd name="connsiteY2" fmla="*/ 1457325 h 1516856"/>
                <a:gd name="connsiteX3" fmla="*/ 0 w 1490662"/>
                <a:gd name="connsiteY3" fmla="*/ 59531 h 1516856"/>
                <a:gd name="connsiteX4" fmla="*/ 59531 w 1490662"/>
                <a:gd name="connsiteY4" fmla="*/ 0 h 1516856"/>
                <a:gd name="connsiteX5" fmla="*/ 119063 w 1490662"/>
                <a:gd name="connsiteY5" fmla="*/ 59531 h 1516856"/>
                <a:gd name="connsiteX6" fmla="*/ 119063 w 1490662"/>
                <a:gd name="connsiteY6" fmla="*/ 1397794 h 1516856"/>
                <a:gd name="connsiteX7" fmla="*/ 1431131 w 1490662"/>
                <a:gd name="connsiteY7" fmla="*/ 1397794 h 1516856"/>
                <a:gd name="connsiteX8" fmla="*/ 1490663 w 1490662"/>
                <a:gd name="connsiteY8" fmla="*/ 1457325 h 1516856"/>
                <a:gd name="connsiteX9" fmla="*/ 1431131 w 1490662"/>
                <a:gd name="connsiteY9" fmla="*/ 1516856 h 151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0662" h="1516856">
                  <a:moveTo>
                    <a:pt x="1431131" y="1516856"/>
                  </a:moveTo>
                  <a:lnTo>
                    <a:pt x="59531" y="1516856"/>
                  </a:lnTo>
                  <a:cubicBezTo>
                    <a:pt x="26789" y="1516856"/>
                    <a:pt x="0" y="1490067"/>
                    <a:pt x="0" y="1457325"/>
                  </a:cubicBezTo>
                  <a:lnTo>
                    <a:pt x="0" y="59531"/>
                  </a:lnTo>
                  <a:cubicBezTo>
                    <a:pt x="0" y="26789"/>
                    <a:pt x="26789" y="0"/>
                    <a:pt x="59531" y="0"/>
                  </a:cubicBezTo>
                  <a:cubicBezTo>
                    <a:pt x="92273" y="0"/>
                    <a:pt x="119063" y="26789"/>
                    <a:pt x="119063" y="59531"/>
                  </a:cubicBezTo>
                  <a:lnTo>
                    <a:pt x="119063" y="1397794"/>
                  </a:lnTo>
                  <a:lnTo>
                    <a:pt x="1431131" y="1397794"/>
                  </a:lnTo>
                  <a:cubicBezTo>
                    <a:pt x="1463873" y="1397794"/>
                    <a:pt x="1490663" y="1424583"/>
                    <a:pt x="1490663" y="1457325"/>
                  </a:cubicBezTo>
                  <a:cubicBezTo>
                    <a:pt x="1490663" y="1490067"/>
                    <a:pt x="1463873" y="1516856"/>
                    <a:pt x="1431131" y="151685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06" name="图形 14"/>
          <p:cNvSpPr/>
          <p:nvPr/>
        </p:nvSpPr>
        <p:spPr>
          <a:xfrm>
            <a:off x="6497739" y="4751388"/>
            <a:ext cx="319203" cy="323678"/>
          </a:xfrm>
          <a:custGeom>
            <a:avLst/>
            <a:gdLst>
              <a:gd name="connsiteX0" fmla="*/ 937646 w 1839533"/>
              <a:gd name="connsiteY0" fmla="*/ 1012031 h 1865318"/>
              <a:gd name="connsiteX1" fmla="*/ 1223707 w 1839533"/>
              <a:gd name="connsiteY1" fmla="*/ 1067594 h 1865318"/>
              <a:gd name="connsiteX2" fmla="*/ 1346872 w 1839533"/>
              <a:gd name="connsiteY2" fmla="*/ 1131094 h 1865318"/>
              <a:gd name="connsiteX3" fmla="*/ 1458118 w 1839533"/>
              <a:gd name="connsiteY3" fmla="*/ 1107281 h 1865318"/>
              <a:gd name="connsiteX4" fmla="*/ 1434279 w 1839533"/>
              <a:gd name="connsiteY4" fmla="*/ 996157 h 1865318"/>
              <a:gd name="connsiteX5" fmla="*/ 1287276 w 1839533"/>
              <a:gd name="connsiteY5" fmla="*/ 920749 h 1865318"/>
              <a:gd name="connsiteX6" fmla="*/ 1255491 w 1839533"/>
              <a:gd name="connsiteY6" fmla="*/ 908843 h 1865318"/>
              <a:gd name="connsiteX7" fmla="*/ 1458118 w 1839533"/>
              <a:gd name="connsiteY7" fmla="*/ 508001 h 1865318"/>
              <a:gd name="connsiteX8" fmla="*/ 949565 w 1839533"/>
              <a:gd name="connsiteY8" fmla="*/ 0 h 1865318"/>
              <a:gd name="connsiteX9" fmla="*/ 437039 w 1839533"/>
              <a:gd name="connsiteY9" fmla="*/ 504031 h 1865318"/>
              <a:gd name="connsiteX10" fmla="*/ 631719 w 1839533"/>
              <a:gd name="connsiteY10" fmla="*/ 900907 h 1865318"/>
              <a:gd name="connsiteX11" fmla="*/ 0 w 1839533"/>
              <a:gd name="connsiteY11" fmla="*/ 1785938 h 1865318"/>
              <a:gd name="connsiteX12" fmla="*/ 0 w 1839533"/>
              <a:gd name="connsiteY12" fmla="*/ 1865319 h 1865318"/>
              <a:gd name="connsiteX13" fmla="*/ 1096568 w 1839533"/>
              <a:gd name="connsiteY13" fmla="*/ 1865319 h 1865318"/>
              <a:gd name="connsiteX14" fmla="*/ 1176031 w 1839533"/>
              <a:gd name="connsiteY14" fmla="*/ 1785938 h 1865318"/>
              <a:gd name="connsiteX15" fmla="*/ 1096568 w 1839533"/>
              <a:gd name="connsiteY15" fmla="*/ 1706562 h 1865318"/>
              <a:gd name="connsiteX16" fmla="*/ 166869 w 1839533"/>
              <a:gd name="connsiteY16" fmla="*/ 1706562 h 1865318"/>
              <a:gd name="connsiteX17" fmla="*/ 937646 w 1839533"/>
              <a:gd name="connsiteY17" fmla="*/ 1012031 h 1865318"/>
              <a:gd name="connsiteX18" fmla="*/ 945591 w 1839533"/>
              <a:gd name="connsiteY18" fmla="*/ 154781 h 1865318"/>
              <a:gd name="connsiteX19" fmla="*/ 1295223 w 1839533"/>
              <a:gd name="connsiteY19" fmla="*/ 504031 h 1865318"/>
              <a:gd name="connsiteX20" fmla="*/ 945591 w 1839533"/>
              <a:gd name="connsiteY20" fmla="*/ 853282 h 1865318"/>
              <a:gd name="connsiteX21" fmla="*/ 595961 w 1839533"/>
              <a:gd name="connsiteY21" fmla="*/ 504031 h 1865318"/>
              <a:gd name="connsiteX22" fmla="*/ 945591 w 1839533"/>
              <a:gd name="connsiteY22" fmla="*/ 154781 h 1865318"/>
              <a:gd name="connsiteX23" fmla="*/ 1704449 w 1839533"/>
              <a:gd name="connsiteY23" fmla="*/ 1555751 h 1865318"/>
              <a:gd name="connsiteX24" fmla="*/ 1815694 w 1839533"/>
              <a:gd name="connsiteY24" fmla="*/ 1444624 h 1865318"/>
              <a:gd name="connsiteX25" fmla="*/ 1815694 w 1839533"/>
              <a:gd name="connsiteY25" fmla="*/ 1333500 h 1865318"/>
              <a:gd name="connsiteX26" fmla="*/ 1704449 w 1839533"/>
              <a:gd name="connsiteY26" fmla="*/ 1333500 h 1865318"/>
              <a:gd name="connsiteX27" fmla="*/ 1593203 w 1839533"/>
              <a:gd name="connsiteY27" fmla="*/ 1444624 h 1865318"/>
              <a:gd name="connsiteX28" fmla="*/ 1481956 w 1839533"/>
              <a:gd name="connsiteY28" fmla="*/ 1333500 h 1865318"/>
              <a:gd name="connsiteX29" fmla="*/ 1370711 w 1839533"/>
              <a:gd name="connsiteY29" fmla="*/ 1333500 h 1865318"/>
              <a:gd name="connsiteX30" fmla="*/ 1370711 w 1839533"/>
              <a:gd name="connsiteY30" fmla="*/ 1444624 h 1865318"/>
              <a:gd name="connsiteX31" fmla="*/ 1481956 w 1839533"/>
              <a:gd name="connsiteY31" fmla="*/ 1555751 h 1865318"/>
              <a:gd name="connsiteX32" fmla="*/ 1370711 w 1839533"/>
              <a:gd name="connsiteY32" fmla="*/ 1666875 h 1865318"/>
              <a:gd name="connsiteX33" fmla="*/ 1370711 w 1839533"/>
              <a:gd name="connsiteY33" fmla="*/ 1777999 h 1865318"/>
              <a:gd name="connsiteX34" fmla="*/ 1481956 w 1839533"/>
              <a:gd name="connsiteY34" fmla="*/ 1777999 h 1865318"/>
              <a:gd name="connsiteX35" fmla="*/ 1593203 w 1839533"/>
              <a:gd name="connsiteY35" fmla="*/ 1666875 h 1865318"/>
              <a:gd name="connsiteX36" fmla="*/ 1704449 w 1839533"/>
              <a:gd name="connsiteY36" fmla="*/ 1777999 h 1865318"/>
              <a:gd name="connsiteX37" fmla="*/ 1815694 w 1839533"/>
              <a:gd name="connsiteY37" fmla="*/ 1777999 h 1865318"/>
              <a:gd name="connsiteX38" fmla="*/ 1815694 w 1839533"/>
              <a:gd name="connsiteY38" fmla="*/ 1666875 h 1865318"/>
              <a:gd name="connsiteX39" fmla="*/ 1704449 w 1839533"/>
              <a:gd name="connsiteY39" fmla="*/ 1555751 h 18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839533" h="1865318">
                <a:moveTo>
                  <a:pt x="937646" y="1012031"/>
                </a:moveTo>
                <a:cubicBezTo>
                  <a:pt x="1036972" y="1012031"/>
                  <a:pt x="1132326" y="1031876"/>
                  <a:pt x="1223707" y="1067594"/>
                </a:cubicBezTo>
                <a:cubicBezTo>
                  <a:pt x="1267410" y="1083469"/>
                  <a:pt x="1307142" y="1107281"/>
                  <a:pt x="1346872" y="1131094"/>
                </a:cubicBezTo>
                <a:cubicBezTo>
                  <a:pt x="1382630" y="1154906"/>
                  <a:pt x="1434279" y="1143000"/>
                  <a:pt x="1458118" y="1107281"/>
                </a:cubicBezTo>
                <a:cubicBezTo>
                  <a:pt x="1481956" y="1071563"/>
                  <a:pt x="1470037" y="1019969"/>
                  <a:pt x="1434279" y="996157"/>
                </a:cubicBezTo>
                <a:cubicBezTo>
                  <a:pt x="1386602" y="968374"/>
                  <a:pt x="1338925" y="940594"/>
                  <a:pt x="1287276" y="920749"/>
                </a:cubicBezTo>
                <a:cubicBezTo>
                  <a:pt x="1275357" y="916781"/>
                  <a:pt x="1263438" y="912813"/>
                  <a:pt x="1255491" y="908843"/>
                </a:cubicBezTo>
                <a:cubicBezTo>
                  <a:pt x="1378657" y="817563"/>
                  <a:pt x="1458118" y="670718"/>
                  <a:pt x="1458118" y="508001"/>
                </a:cubicBezTo>
                <a:cubicBezTo>
                  <a:pt x="1458118" y="230187"/>
                  <a:pt x="1231652" y="0"/>
                  <a:pt x="949565" y="0"/>
                </a:cubicBezTo>
                <a:cubicBezTo>
                  <a:pt x="667476" y="0"/>
                  <a:pt x="437039" y="226219"/>
                  <a:pt x="437039" y="504031"/>
                </a:cubicBezTo>
                <a:cubicBezTo>
                  <a:pt x="437039" y="666750"/>
                  <a:pt x="512527" y="809625"/>
                  <a:pt x="631719" y="900907"/>
                </a:cubicBezTo>
                <a:cubicBezTo>
                  <a:pt x="266195" y="1027906"/>
                  <a:pt x="0" y="1377157"/>
                  <a:pt x="0" y="1785938"/>
                </a:cubicBezTo>
                <a:lnTo>
                  <a:pt x="0" y="1865319"/>
                </a:lnTo>
                <a:lnTo>
                  <a:pt x="1096568" y="1865319"/>
                </a:lnTo>
                <a:cubicBezTo>
                  <a:pt x="1140273" y="1865319"/>
                  <a:pt x="1176031" y="1829594"/>
                  <a:pt x="1176031" y="1785938"/>
                </a:cubicBezTo>
                <a:cubicBezTo>
                  <a:pt x="1176031" y="1742281"/>
                  <a:pt x="1140273" y="1706562"/>
                  <a:pt x="1096568" y="1706562"/>
                </a:cubicBezTo>
                <a:lnTo>
                  <a:pt x="166869" y="1706562"/>
                </a:lnTo>
                <a:cubicBezTo>
                  <a:pt x="206599" y="1313656"/>
                  <a:pt x="536365" y="1012031"/>
                  <a:pt x="937646" y="1012031"/>
                </a:cubicBezTo>
                <a:close/>
                <a:moveTo>
                  <a:pt x="945591" y="154781"/>
                </a:moveTo>
                <a:cubicBezTo>
                  <a:pt x="1136299" y="154781"/>
                  <a:pt x="1295223" y="309563"/>
                  <a:pt x="1295223" y="504031"/>
                </a:cubicBezTo>
                <a:cubicBezTo>
                  <a:pt x="1295223" y="698501"/>
                  <a:pt x="1140273" y="853282"/>
                  <a:pt x="945591" y="853282"/>
                </a:cubicBezTo>
                <a:cubicBezTo>
                  <a:pt x="754883" y="853282"/>
                  <a:pt x="595961" y="698501"/>
                  <a:pt x="595961" y="504031"/>
                </a:cubicBezTo>
                <a:cubicBezTo>
                  <a:pt x="595961" y="309563"/>
                  <a:pt x="750911" y="154781"/>
                  <a:pt x="945591" y="154781"/>
                </a:cubicBezTo>
                <a:close/>
                <a:moveTo>
                  <a:pt x="1704449" y="1555751"/>
                </a:moveTo>
                <a:lnTo>
                  <a:pt x="1815694" y="1444624"/>
                </a:lnTo>
                <a:cubicBezTo>
                  <a:pt x="1847479" y="1412876"/>
                  <a:pt x="1847479" y="1365251"/>
                  <a:pt x="1815694" y="1333500"/>
                </a:cubicBezTo>
                <a:cubicBezTo>
                  <a:pt x="1783911" y="1301749"/>
                  <a:pt x="1736234" y="1301749"/>
                  <a:pt x="1704449" y="1333500"/>
                </a:cubicBezTo>
                <a:lnTo>
                  <a:pt x="1593203" y="1444624"/>
                </a:lnTo>
                <a:lnTo>
                  <a:pt x="1481956" y="1333500"/>
                </a:lnTo>
                <a:cubicBezTo>
                  <a:pt x="1450173" y="1301749"/>
                  <a:pt x="1402496" y="1301749"/>
                  <a:pt x="1370711" y="1333500"/>
                </a:cubicBezTo>
                <a:cubicBezTo>
                  <a:pt x="1338925" y="1365251"/>
                  <a:pt x="1338925" y="1412876"/>
                  <a:pt x="1370711" y="1444624"/>
                </a:cubicBezTo>
                <a:lnTo>
                  <a:pt x="1481956" y="1555751"/>
                </a:lnTo>
                <a:lnTo>
                  <a:pt x="1370711" y="1666875"/>
                </a:lnTo>
                <a:cubicBezTo>
                  <a:pt x="1338925" y="1698626"/>
                  <a:pt x="1338925" y="1746251"/>
                  <a:pt x="1370711" y="1777999"/>
                </a:cubicBezTo>
                <a:cubicBezTo>
                  <a:pt x="1402496" y="1809750"/>
                  <a:pt x="1450173" y="1809750"/>
                  <a:pt x="1481956" y="1777999"/>
                </a:cubicBezTo>
                <a:lnTo>
                  <a:pt x="1593203" y="1666875"/>
                </a:lnTo>
                <a:lnTo>
                  <a:pt x="1704449" y="1777999"/>
                </a:lnTo>
                <a:cubicBezTo>
                  <a:pt x="1736234" y="1809750"/>
                  <a:pt x="1783911" y="1809750"/>
                  <a:pt x="1815694" y="1777999"/>
                </a:cubicBezTo>
                <a:cubicBezTo>
                  <a:pt x="1847479" y="1746251"/>
                  <a:pt x="1847479" y="1698626"/>
                  <a:pt x="1815694" y="1666875"/>
                </a:cubicBezTo>
                <a:lnTo>
                  <a:pt x="1704449" y="1555751"/>
                </a:lnTo>
                <a:close/>
              </a:path>
            </a:pathLst>
          </a:custGeom>
          <a:solidFill>
            <a:schemeClr val="accent1"/>
          </a:solidFill>
          <a:ln w="18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479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数据展示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财务分析、利润计算</a:t>
            </a:r>
          </a:p>
        </p:txBody>
      </p:sp>
      <p:sp>
        <p:nvSpPr>
          <p:cNvPr id="7" name="矩形 6"/>
          <p:cNvSpPr/>
          <p:nvPr/>
        </p:nvSpPr>
        <p:spPr>
          <a:xfrm>
            <a:off x="192088" y="765175"/>
            <a:ext cx="2117441" cy="1429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6995" y="1282396"/>
            <a:ext cx="1737976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15896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6995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销售额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26995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1556153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21" name="图形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249" y="946007"/>
            <a:ext cx="345722" cy="34572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432062" y="765175"/>
            <a:ext cx="2117441" cy="14293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8413" y="1282396"/>
            <a:ext cx="1550424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9642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588413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花费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588413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等腰三角形 24"/>
          <p:cNvSpPr/>
          <p:nvPr/>
        </p:nvSpPr>
        <p:spPr>
          <a:xfrm>
            <a:off x="3817571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0667" y="946007"/>
            <a:ext cx="345722" cy="34572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672036" y="765175"/>
            <a:ext cx="2117441" cy="14293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59726" y="1282396"/>
            <a:ext cx="1550424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6254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859726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净利润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59726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等腰三角形 29"/>
          <p:cNvSpPr/>
          <p:nvPr/>
        </p:nvSpPr>
        <p:spPr>
          <a:xfrm>
            <a:off x="6088884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31" name="图形 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1980" y="946007"/>
            <a:ext cx="345722" cy="34572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912009" y="765175"/>
            <a:ext cx="2117441" cy="14293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66091" y="1282396"/>
            <a:ext cx="862737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39%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66091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净利率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066091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等腰三角形 34"/>
          <p:cNvSpPr/>
          <p:nvPr/>
        </p:nvSpPr>
        <p:spPr>
          <a:xfrm>
            <a:off x="8295249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345" y="946007"/>
            <a:ext cx="345722" cy="345722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192089" y="2372745"/>
            <a:ext cx="8837362" cy="4332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44" name="图表 43"/>
          <p:cNvGraphicFramePr/>
          <p:nvPr/>
        </p:nvGraphicFramePr>
        <p:xfrm>
          <a:off x="22612" y="2402653"/>
          <a:ext cx="9204958" cy="448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矩形 36"/>
          <p:cNvSpPr/>
          <p:nvPr/>
        </p:nvSpPr>
        <p:spPr>
          <a:xfrm>
            <a:off x="9164357" y="765175"/>
            <a:ext cx="2835555" cy="290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164357" y="3803085"/>
            <a:ext cx="2835555" cy="290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53" name="图表 52"/>
          <p:cNvGraphicFramePr/>
          <p:nvPr/>
        </p:nvGraphicFramePr>
        <p:xfrm>
          <a:off x="8975507" y="942882"/>
          <a:ext cx="3267774" cy="2859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6" name="文本框 55"/>
          <p:cNvSpPr txBox="1"/>
          <p:nvPr/>
        </p:nvSpPr>
        <p:spPr>
          <a:xfrm>
            <a:off x="9333585" y="825195"/>
            <a:ext cx="2484402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各部门收入占比</a:t>
            </a:r>
          </a:p>
        </p:txBody>
      </p:sp>
      <p:graphicFrame>
        <p:nvGraphicFramePr>
          <p:cNvPr id="64" name="图表 63"/>
          <p:cNvGraphicFramePr/>
          <p:nvPr/>
        </p:nvGraphicFramePr>
        <p:xfrm>
          <a:off x="9177947" y="4264700"/>
          <a:ext cx="2835556" cy="233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9333585" y="3845397"/>
            <a:ext cx="2484402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损益数据同比分析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6139" y="63770"/>
            <a:ext cx="3913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数据展示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项目财务分析</a:t>
            </a:r>
          </a:p>
        </p:txBody>
      </p:sp>
      <p:sp>
        <p:nvSpPr>
          <p:cNvPr id="9" name="矩形 8"/>
          <p:cNvSpPr/>
          <p:nvPr/>
        </p:nvSpPr>
        <p:spPr>
          <a:xfrm>
            <a:off x="192088" y="765175"/>
            <a:ext cx="2363543" cy="18627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2088" y="2804033"/>
            <a:ext cx="2363543" cy="1862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58373" y="765174"/>
            <a:ext cx="5822920" cy="2859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58373" y="3845906"/>
            <a:ext cx="5822920" cy="2859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784035" y="765175"/>
            <a:ext cx="3215877" cy="2859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784035" y="3845908"/>
            <a:ext cx="3215877" cy="2859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6468" y="1084085"/>
            <a:ext cx="1242648" cy="5006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589736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1810" y="842572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采买订单总量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86810" y="1665017"/>
            <a:ext cx="165646" cy="165684"/>
            <a:chOff x="344417" y="1684337"/>
            <a:chExt cx="267344" cy="267405"/>
          </a:xfrm>
        </p:grpSpPr>
        <p:sp>
          <p:nvSpPr>
            <p:cNvPr id="23" name="任意多边形: 形状 22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52456" y="1588647"/>
            <a:ext cx="2103175" cy="3046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本月订单支付总量：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596832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86810" y="1964201"/>
            <a:ext cx="165646" cy="165684"/>
            <a:chOff x="344417" y="1684337"/>
            <a:chExt cx="267344" cy="267405"/>
          </a:xfrm>
        </p:grpSpPr>
        <p:sp>
          <p:nvSpPr>
            <p:cNvPr id="28" name="任意多边形: 形状 27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52456" y="1887831"/>
            <a:ext cx="2103175" cy="3023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本月取消订单量：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2361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86810" y="2271475"/>
            <a:ext cx="165646" cy="165684"/>
            <a:chOff x="344417" y="1684337"/>
            <a:chExt cx="267344" cy="267405"/>
          </a:xfrm>
        </p:grpSpPr>
        <p:sp>
          <p:nvSpPr>
            <p:cNvPr id="32" name="任意多边形: 形状 31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52456" y="2195105"/>
            <a:ext cx="2103175" cy="3023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本月被投诉订单量：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1259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7877" y="2873954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本月订单转化率</a:t>
            </a:r>
          </a:p>
        </p:txBody>
      </p:sp>
      <p:sp>
        <p:nvSpPr>
          <p:cNvPr id="39" name="矩形 38"/>
          <p:cNvSpPr/>
          <p:nvPr/>
        </p:nvSpPr>
        <p:spPr>
          <a:xfrm>
            <a:off x="192088" y="4842560"/>
            <a:ext cx="2363543" cy="1862709"/>
          </a:xfrm>
          <a:prstGeom prst="rect">
            <a:avLst/>
          </a:prstGeom>
          <a:solidFill>
            <a:schemeClr val="accent3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7877" y="4912481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解析维度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22272" y="5422247"/>
            <a:ext cx="2103175" cy="121122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资产结构：包括流动资产与非流动资产的配比，如现金、存款、房产、股票等。健康的资产结构有助于平衡风险与收益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235127" y="5324271"/>
            <a:ext cx="277464" cy="0"/>
          </a:xfrm>
          <a:prstGeom prst="line">
            <a:avLst/>
          </a:prstGeom>
          <a:ln w="22225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489746" y="3650430"/>
            <a:ext cx="633414" cy="633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615647" y="3253074"/>
            <a:ext cx="381612" cy="7661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62182" y="3722866"/>
            <a:ext cx="488542" cy="4885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77370" y="3474282"/>
            <a:ext cx="258166" cy="4572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6242" y="4306577"/>
            <a:ext cx="1380422" cy="26731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新增订单量：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623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18312" y="3801867"/>
            <a:ext cx="576283" cy="3305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82%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602178" y="3650430"/>
            <a:ext cx="633414" cy="633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1728079" y="3253074"/>
            <a:ext cx="381612" cy="7661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674614" y="3722866"/>
            <a:ext cx="488542" cy="4885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89802" y="3651072"/>
            <a:ext cx="258166" cy="2805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228674" y="4306577"/>
            <a:ext cx="1380422" cy="26731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订单支付量：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30744" y="3801867"/>
            <a:ext cx="576283" cy="3305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1" name="图表 60"/>
          <p:cNvGraphicFramePr/>
          <p:nvPr/>
        </p:nvGraphicFramePr>
        <p:xfrm>
          <a:off x="2654816" y="1274019"/>
          <a:ext cx="5972197" cy="151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文本框 61"/>
          <p:cNvSpPr txBox="1"/>
          <p:nvPr/>
        </p:nvSpPr>
        <p:spPr>
          <a:xfrm>
            <a:off x="4251961" y="842572"/>
            <a:ext cx="2835746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年销售增长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2840511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上半年销售额</a:t>
            </a:r>
          </a:p>
        </p:txBody>
      </p:sp>
      <p:sp>
        <p:nvSpPr>
          <p:cNvPr id="7168" name="文本框 7167"/>
          <p:cNvSpPr txBox="1"/>
          <p:nvPr/>
        </p:nvSpPr>
        <p:spPr>
          <a:xfrm>
            <a:off x="2840511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5698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cxnSp>
        <p:nvCxnSpPr>
          <p:cNvPr id="7171" name="直接连接符 7170"/>
          <p:cNvCxnSpPr/>
          <p:nvPr/>
        </p:nvCxnSpPr>
        <p:spPr>
          <a:xfrm>
            <a:off x="4251961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文本框 7171"/>
          <p:cNvSpPr txBox="1"/>
          <p:nvPr/>
        </p:nvSpPr>
        <p:spPr>
          <a:xfrm>
            <a:off x="4447755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上半年增长率</a:t>
            </a:r>
          </a:p>
        </p:txBody>
      </p:sp>
      <p:sp>
        <p:nvSpPr>
          <p:cNvPr id="7173" name="文本框 7172"/>
          <p:cNvSpPr txBox="1"/>
          <p:nvPr/>
        </p:nvSpPr>
        <p:spPr>
          <a:xfrm>
            <a:off x="4447755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7174" name="直接连接符 7173"/>
          <p:cNvCxnSpPr/>
          <p:nvPr/>
        </p:nvCxnSpPr>
        <p:spPr>
          <a:xfrm>
            <a:off x="5706896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5" name="文本框 7174"/>
          <p:cNvSpPr txBox="1"/>
          <p:nvPr/>
        </p:nvSpPr>
        <p:spPr>
          <a:xfrm>
            <a:off x="5810454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月份销售额</a:t>
            </a:r>
          </a:p>
        </p:txBody>
      </p:sp>
      <p:sp>
        <p:nvSpPr>
          <p:cNvPr id="7176" name="文本框 7175"/>
          <p:cNvSpPr txBox="1"/>
          <p:nvPr/>
        </p:nvSpPr>
        <p:spPr>
          <a:xfrm>
            <a:off x="5810454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2696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cxnSp>
        <p:nvCxnSpPr>
          <p:cNvPr id="7177" name="直接连接符 7176"/>
          <p:cNvCxnSpPr/>
          <p:nvPr/>
        </p:nvCxnSpPr>
        <p:spPr>
          <a:xfrm>
            <a:off x="7108180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文本框 7177"/>
          <p:cNvSpPr txBox="1"/>
          <p:nvPr/>
        </p:nvSpPr>
        <p:spPr>
          <a:xfrm>
            <a:off x="7232002" y="2873954"/>
            <a:ext cx="1277461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月份增长率</a:t>
            </a:r>
          </a:p>
        </p:txBody>
      </p:sp>
      <p:sp>
        <p:nvSpPr>
          <p:cNvPr id="7179" name="文本框 7178"/>
          <p:cNvSpPr txBox="1"/>
          <p:nvPr/>
        </p:nvSpPr>
        <p:spPr>
          <a:xfrm>
            <a:off x="7232002" y="3099129"/>
            <a:ext cx="1277461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7182" name="图表 7181"/>
          <p:cNvGraphicFramePr/>
          <p:nvPr/>
        </p:nvGraphicFramePr>
        <p:xfrm>
          <a:off x="8480341" y="882635"/>
          <a:ext cx="2655417" cy="177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183" name="文本框 7182"/>
          <p:cNvSpPr txBox="1"/>
          <p:nvPr/>
        </p:nvSpPr>
        <p:spPr>
          <a:xfrm>
            <a:off x="9425573" y="1442639"/>
            <a:ext cx="764953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80D0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69%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80D0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84" name="文本框 7183"/>
          <p:cNvSpPr txBox="1"/>
          <p:nvPr/>
        </p:nvSpPr>
        <p:spPr>
          <a:xfrm>
            <a:off x="10379775" y="1259063"/>
            <a:ext cx="1511965" cy="36715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订单销量</a:t>
            </a:r>
          </a:p>
        </p:txBody>
      </p:sp>
      <p:sp>
        <p:nvSpPr>
          <p:cNvPr id="7185" name="文本框 7184"/>
          <p:cNvSpPr txBox="1"/>
          <p:nvPr/>
        </p:nvSpPr>
        <p:spPr>
          <a:xfrm>
            <a:off x="10379775" y="1579485"/>
            <a:ext cx="1511965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较上月增加</a:t>
            </a:r>
          </a:p>
        </p:txBody>
      </p:sp>
      <p:sp>
        <p:nvSpPr>
          <p:cNvPr id="7186" name="等腰三角形 7185"/>
          <p:cNvSpPr/>
          <p:nvPr/>
        </p:nvSpPr>
        <p:spPr>
          <a:xfrm>
            <a:off x="11612880" y="1970989"/>
            <a:ext cx="172972" cy="14911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87" name="文本框 7186"/>
          <p:cNvSpPr txBox="1"/>
          <p:nvPr/>
        </p:nvSpPr>
        <p:spPr>
          <a:xfrm>
            <a:off x="8829755" y="2590443"/>
            <a:ext cx="3097974" cy="9638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消费者资产健康是一个多维度、动态变化的综合概念，涵盖行为与认知层面。消费者正通过保守策略（如减少借贷、增加储蓄）主动优化资产健康状态</a:t>
            </a:r>
          </a:p>
        </p:txBody>
      </p:sp>
      <p:graphicFrame>
        <p:nvGraphicFramePr>
          <p:cNvPr id="7188" name="图表 7187"/>
          <p:cNvGraphicFramePr/>
          <p:nvPr/>
        </p:nvGraphicFramePr>
        <p:xfrm>
          <a:off x="8480341" y="3938503"/>
          <a:ext cx="2655417" cy="177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189" name="文本框 7188"/>
          <p:cNvSpPr txBox="1"/>
          <p:nvPr/>
        </p:nvSpPr>
        <p:spPr>
          <a:xfrm>
            <a:off x="9425573" y="4498507"/>
            <a:ext cx="76495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78%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90" name="文本框 7189"/>
          <p:cNvSpPr txBox="1"/>
          <p:nvPr/>
        </p:nvSpPr>
        <p:spPr>
          <a:xfrm>
            <a:off x="10379775" y="4314931"/>
            <a:ext cx="1511965" cy="36715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总销售额</a:t>
            </a:r>
          </a:p>
        </p:txBody>
      </p:sp>
      <p:sp>
        <p:nvSpPr>
          <p:cNvPr id="7191" name="文本框 7190"/>
          <p:cNvSpPr txBox="1"/>
          <p:nvPr/>
        </p:nvSpPr>
        <p:spPr>
          <a:xfrm>
            <a:off x="10379775" y="4635353"/>
            <a:ext cx="1511965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较上月增加</a:t>
            </a:r>
          </a:p>
        </p:txBody>
      </p:sp>
      <p:sp>
        <p:nvSpPr>
          <p:cNvPr id="7192" name="等腰三角形 7191"/>
          <p:cNvSpPr/>
          <p:nvPr/>
        </p:nvSpPr>
        <p:spPr>
          <a:xfrm>
            <a:off x="11612880" y="5026857"/>
            <a:ext cx="172972" cy="14911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93" name="文本框 7192"/>
          <p:cNvSpPr txBox="1"/>
          <p:nvPr/>
        </p:nvSpPr>
        <p:spPr>
          <a:xfrm>
            <a:off x="8829755" y="5646311"/>
            <a:ext cx="3097974" cy="9638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“总销售额”又叫成交金额（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Gross Merchandise Volume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），是一段时间内所有已付款订单的含税金额之和。只要消费者把钱付了，就全额计入总销售额</a:t>
            </a:r>
          </a:p>
        </p:txBody>
      </p:sp>
      <p:graphicFrame>
        <p:nvGraphicFramePr>
          <p:cNvPr id="7215" name="图表 7214"/>
          <p:cNvGraphicFramePr/>
          <p:nvPr/>
        </p:nvGraphicFramePr>
        <p:xfrm>
          <a:off x="2670819" y="4283844"/>
          <a:ext cx="5969688" cy="2389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16" name="文本框 7215"/>
          <p:cNvSpPr txBox="1"/>
          <p:nvPr/>
        </p:nvSpPr>
        <p:spPr>
          <a:xfrm>
            <a:off x="4016669" y="3967137"/>
            <a:ext cx="3306330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存货周转天数及存货周转率趋势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3670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项目流程复盘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2682241" y="883920"/>
            <a:ext cx="2235124" cy="1188720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043090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403939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9764788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682240" y="2194560"/>
            <a:ext cx="9317671" cy="451104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868792" y="2400050"/>
            <a:ext cx="4696594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17 July 2025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68792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14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960232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477789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14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569229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086786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15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178226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695783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16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787223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304780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17 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396220" y="3136228"/>
            <a:ext cx="0" cy="32950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913777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18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005217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522774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19 W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614214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131771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21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223211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740768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22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832208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8349765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23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8441205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8958762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24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9050202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9567759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25 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9659199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0176756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26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10268196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0785753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27 W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10877193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1394750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29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1486190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682240" y="3427238"/>
            <a:ext cx="488314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/>
          <p:cNvSpPr/>
          <p:nvPr/>
        </p:nvSpPr>
        <p:spPr>
          <a:xfrm>
            <a:off x="7523859" y="3366278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4" name="矩形: 圆角 1023"/>
          <p:cNvSpPr/>
          <p:nvPr/>
        </p:nvSpPr>
        <p:spPr>
          <a:xfrm>
            <a:off x="2960233" y="3222724"/>
            <a:ext cx="1922265" cy="40902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5" name="矩形: 圆角 1024"/>
          <p:cNvSpPr/>
          <p:nvPr/>
        </p:nvSpPr>
        <p:spPr>
          <a:xfrm>
            <a:off x="7694690" y="3222724"/>
            <a:ext cx="894574" cy="40902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27" name="直接连接符 1026"/>
          <p:cNvCxnSpPr/>
          <p:nvPr/>
        </p:nvCxnSpPr>
        <p:spPr>
          <a:xfrm>
            <a:off x="2682240" y="4129016"/>
            <a:ext cx="653120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/>
          <p:cNvSpPr/>
          <p:nvPr/>
        </p:nvSpPr>
        <p:spPr>
          <a:xfrm>
            <a:off x="9091527" y="4068056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9" name="矩形: 圆角 1028"/>
          <p:cNvSpPr/>
          <p:nvPr/>
        </p:nvSpPr>
        <p:spPr>
          <a:xfrm>
            <a:off x="2960232" y="3924502"/>
            <a:ext cx="3353334" cy="4090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0" name="矩形: 圆角 1029"/>
          <p:cNvSpPr/>
          <p:nvPr/>
        </p:nvSpPr>
        <p:spPr>
          <a:xfrm>
            <a:off x="9262358" y="3924502"/>
            <a:ext cx="894574" cy="4090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32" name="直接连接符 1031"/>
          <p:cNvCxnSpPr/>
          <p:nvPr/>
        </p:nvCxnSpPr>
        <p:spPr>
          <a:xfrm>
            <a:off x="5735502" y="4830794"/>
            <a:ext cx="6264409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矩形: 圆角 1033"/>
          <p:cNvSpPr/>
          <p:nvPr/>
        </p:nvSpPr>
        <p:spPr>
          <a:xfrm>
            <a:off x="5396220" y="4626280"/>
            <a:ext cx="3260098" cy="40902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38" name="直接连接符 1037"/>
          <p:cNvCxnSpPr/>
          <p:nvPr/>
        </p:nvCxnSpPr>
        <p:spPr>
          <a:xfrm>
            <a:off x="2682240" y="5532572"/>
            <a:ext cx="6531208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椭圆 1038"/>
          <p:cNvSpPr/>
          <p:nvPr/>
        </p:nvSpPr>
        <p:spPr>
          <a:xfrm>
            <a:off x="9210608" y="5471612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0" name="矩形: 圆角 1039"/>
          <p:cNvSpPr/>
          <p:nvPr/>
        </p:nvSpPr>
        <p:spPr>
          <a:xfrm>
            <a:off x="3750796" y="5328058"/>
            <a:ext cx="3312010" cy="4090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1" name="矩形: 圆角 1040"/>
          <p:cNvSpPr/>
          <p:nvPr/>
        </p:nvSpPr>
        <p:spPr>
          <a:xfrm>
            <a:off x="9381439" y="5328058"/>
            <a:ext cx="894574" cy="4090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42" name="直接连接符 1041"/>
          <p:cNvCxnSpPr/>
          <p:nvPr/>
        </p:nvCxnSpPr>
        <p:spPr>
          <a:xfrm>
            <a:off x="8318592" y="6234348"/>
            <a:ext cx="3689013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矩形: 圆角 1043"/>
          <p:cNvSpPr/>
          <p:nvPr/>
        </p:nvSpPr>
        <p:spPr>
          <a:xfrm>
            <a:off x="8101683" y="6029834"/>
            <a:ext cx="3171145" cy="409029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7" name="矩形: 圆顶角 1056"/>
          <p:cNvSpPr/>
          <p:nvPr/>
        </p:nvSpPr>
        <p:spPr>
          <a:xfrm rot="5400000">
            <a:off x="1122053" y="2246813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9" name="矩形: 圆顶角 1058"/>
          <p:cNvSpPr/>
          <p:nvPr/>
        </p:nvSpPr>
        <p:spPr>
          <a:xfrm rot="5400000">
            <a:off x="1122053" y="2948591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0" name="矩形: 圆顶角 1059"/>
          <p:cNvSpPr/>
          <p:nvPr/>
        </p:nvSpPr>
        <p:spPr>
          <a:xfrm rot="5400000">
            <a:off x="1122053" y="3650369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1" name="矩形: 圆顶角 1060"/>
          <p:cNvSpPr/>
          <p:nvPr/>
        </p:nvSpPr>
        <p:spPr>
          <a:xfrm rot="5400000">
            <a:off x="1122053" y="4352147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2" name="矩形: 圆顶角 1061"/>
          <p:cNvSpPr/>
          <p:nvPr/>
        </p:nvSpPr>
        <p:spPr>
          <a:xfrm rot="5400000">
            <a:off x="1122053" y="5053925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3" name="矩形: 圆顶角 1062"/>
          <p:cNvSpPr/>
          <p:nvPr/>
        </p:nvSpPr>
        <p:spPr>
          <a:xfrm rot="5400000">
            <a:off x="1122053" y="1545035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6" name="图形 1064"/>
          <p:cNvSpPr/>
          <p:nvPr/>
        </p:nvSpPr>
        <p:spPr>
          <a:xfrm>
            <a:off x="609734" y="1005840"/>
            <a:ext cx="1391732" cy="1188720"/>
          </a:xfrm>
          <a:custGeom>
            <a:avLst/>
            <a:gdLst>
              <a:gd name="connsiteX0" fmla="*/ 1088162 w 1391732"/>
              <a:gd name="connsiteY0" fmla="*/ 323596 h 1188720"/>
              <a:gd name="connsiteX1" fmla="*/ 923289 w 1391732"/>
              <a:gd name="connsiteY1" fmla="*/ 158496 h 1188720"/>
              <a:gd name="connsiteX2" fmla="*/ 1088162 w 1391732"/>
              <a:gd name="connsiteY2" fmla="*/ 0 h 1188720"/>
              <a:gd name="connsiteX3" fmla="*/ 1253035 w 1391732"/>
              <a:gd name="connsiteY3" fmla="*/ 165100 h 1188720"/>
              <a:gd name="connsiteX4" fmla="*/ 1088162 w 1391732"/>
              <a:gd name="connsiteY4" fmla="*/ 323596 h 1188720"/>
              <a:gd name="connsiteX5" fmla="*/ 1365148 w 1391732"/>
              <a:gd name="connsiteY5" fmla="*/ 435864 h 1188720"/>
              <a:gd name="connsiteX6" fmla="*/ 1200275 w 1391732"/>
              <a:gd name="connsiteY6" fmla="*/ 614172 h 1188720"/>
              <a:gd name="connsiteX7" fmla="*/ 1140921 w 1391732"/>
              <a:gd name="connsiteY7" fmla="*/ 647192 h 1188720"/>
              <a:gd name="connsiteX8" fmla="*/ 1127731 w 1391732"/>
              <a:gd name="connsiteY8" fmla="*/ 647192 h 1188720"/>
              <a:gd name="connsiteX9" fmla="*/ 1074972 w 1391732"/>
              <a:gd name="connsiteY9" fmla="*/ 633984 h 1188720"/>
              <a:gd name="connsiteX10" fmla="*/ 956263 w 1391732"/>
              <a:gd name="connsiteY10" fmla="*/ 554736 h 1188720"/>
              <a:gd name="connsiteX11" fmla="*/ 837555 w 1391732"/>
              <a:gd name="connsiteY11" fmla="*/ 660400 h 1188720"/>
              <a:gd name="connsiteX12" fmla="*/ 1015617 w 1391732"/>
              <a:gd name="connsiteY12" fmla="*/ 746252 h 1188720"/>
              <a:gd name="connsiteX13" fmla="*/ 1061782 w 1391732"/>
              <a:gd name="connsiteY13" fmla="*/ 805688 h 1188720"/>
              <a:gd name="connsiteX14" fmla="*/ 1048592 w 1391732"/>
              <a:gd name="connsiteY14" fmla="*/ 878332 h 1188720"/>
              <a:gd name="connsiteX15" fmla="*/ 883719 w 1391732"/>
              <a:gd name="connsiteY15" fmla="*/ 1149096 h 1188720"/>
              <a:gd name="connsiteX16" fmla="*/ 824365 w 1391732"/>
              <a:gd name="connsiteY16" fmla="*/ 1188720 h 1188720"/>
              <a:gd name="connsiteX17" fmla="*/ 804580 w 1391732"/>
              <a:gd name="connsiteY17" fmla="*/ 1188720 h 1188720"/>
              <a:gd name="connsiteX18" fmla="*/ 758416 w 1391732"/>
              <a:gd name="connsiteY18" fmla="*/ 1175512 h 1188720"/>
              <a:gd name="connsiteX19" fmla="*/ 725441 w 1391732"/>
              <a:gd name="connsiteY19" fmla="*/ 1050036 h 1188720"/>
              <a:gd name="connsiteX20" fmla="*/ 837555 w 1391732"/>
              <a:gd name="connsiteY20" fmla="*/ 865124 h 1188720"/>
              <a:gd name="connsiteX21" fmla="*/ 699061 w 1391732"/>
              <a:gd name="connsiteY21" fmla="*/ 799084 h 1188720"/>
              <a:gd name="connsiteX22" fmla="*/ 586948 w 1391732"/>
              <a:gd name="connsiteY22" fmla="*/ 970788 h 1188720"/>
              <a:gd name="connsiteX23" fmla="*/ 573758 w 1391732"/>
              <a:gd name="connsiteY23" fmla="*/ 997204 h 1188720"/>
              <a:gd name="connsiteX24" fmla="*/ 290176 w 1391732"/>
              <a:gd name="connsiteY24" fmla="*/ 1175512 h 1188720"/>
              <a:gd name="connsiteX25" fmla="*/ 237417 w 1391732"/>
              <a:gd name="connsiteY25" fmla="*/ 1188720 h 1188720"/>
              <a:gd name="connsiteX26" fmla="*/ 211037 w 1391732"/>
              <a:gd name="connsiteY26" fmla="*/ 1188720 h 1188720"/>
              <a:gd name="connsiteX27" fmla="*/ 151683 w 1391732"/>
              <a:gd name="connsiteY27" fmla="*/ 1142492 h 1188720"/>
              <a:gd name="connsiteX28" fmla="*/ 184658 w 1391732"/>
              <a:gd name="connsiteY28" fmla="*/ 1017016 h 1188720"/>
              <a:gd name="connsiteX29" fmla="*/ 448454 w 1391732"/>
              <a:gd name="connsiteY29" fmla="*/ 851916 h 1188720"/>
              <a:gd name="connsiteX30" fmla="*/ 580353 w 1391732"/>
              <a:gd name="connsiteY30" fmla="*/ 653796 h 1188720"/>
              <a:gd name="connsiteX31" fmla="*/ 606733 w 1391732"/>
              <a:gd name="connsiteY31" fmla="*/ 614172 h 1188720"/>
              <a:gd name="connsiteX32" fmla="*/ 791390 w 1391732"/>
              <a:gd name="connsiteY32" fmla="*/ 449072 h 1188720"/>
              <a:gd name="connsiteX33" fmla="*/ 705656 w 1391732"/>
              <a:gd name="connsiteY33" fmla="*/ 396240 h 1188720"/>
              <a:gd name="connsiteX34" fmla="*/ 547378 w 1391732"/>
              <a:gd name="connsiteY34" fmla="*/ 435864 h 1188720"/>
              <a:gd name="connsiteX35" fmla="*/ 435265 w 1391732"/>
              <a:gd name="connsiteY35" fmla="*/ 369824 h 1188720"/>
              <a:gd name="connsiteX36" fmla="*/ 501214 w 1391732"/>
              <a:gd name="connsiteY36" fmla="*/ 257556 h 1188720"/>
              <a:gd name="connsiteX37" fmla="*/ 712251 w 1391732"/>
              <a:gd name="connsiteY37" fmla="*/ 198120 h 1188720"/>
              <a:gd name="connsiteX38" fmla="*/ 791390 w 1391732"/>
              <a:gd name="connsiteY38" fmla="*/ 211328 h 1188720"/>
              <a:gd name="connsiteX39" fmla="*/ 1009023 w 1391732"/>
              <a:gd name="connsiteY39" fmla="*/ 356616 h 1188720"/>
              <a:gd name="connsiteX40" fmla="*/ 1015617 w 1391732"/>
              <a:gd name="connsiteY40" fmla="*/ 363220 h 1188720"/>
              <a:gd name="connsiteX41" fmla="*/ 1121136 w 1391732"/>
              <a:gd name="connsiteY41" fmla="*/ 429260 h 1188720"/>
              <a:gd name="connsiteX42" fmla="*/ 1226655 w 1391732"/>
              <a:gd name="connsiteY42" fmla="*/ 310388 h 1188720"/>
              <a:gd name="connsiteX43" fmla="*/ 1292604 w 1391732"/>
              <a:gd name="connsiteY43" fmla="*/ 277368 h 1188720"/>
              <a:gd name="connsiteX44" fmla="*/ 1358553 w 1391732"/>
              <a:gd name="connsiteY44" fmla="*/ 303784 h 1188720"/>
              <a:gd name="connsiteX45" fmla="*/ 1365148 w 1391732"/>
              <a:gd name="connsiteY45" fmla="*/ 435864 h 1188720"/>
              <a:gd name="connsiteX46" fmla="*/ 408885 w 1391732"/>
              <a:gd name="connsiteY46" fmla="*/ 184912 h 1188720"/>
              <a:gd name="connsiteX47" fmla="*/ 85734 w 1391732"/>
              <a:gd name="connsiteY47" fmla="*/ 184912 h 1188720"/>
              <a:gd name="connsiteX48" fmla="*/ 59354 w 1391732"/>
              <a:gd name="connsiteY48" fmla="*/ 158496 h 1188720"/>
              <a:gd name="connsiteX49" fmla="*/ 85734 w 1391732"/>
              <a:gd name="connsiteY49" fmla="*/ 132080 h 1188720"/>
              <a:gd name="connsiteX50" fmla="*/ 408885 w 1391732"/>
              <a:gd name="connsiteY50" fmla="*/ 132080 h 1188720"/>
              <a:gd name="connsiteX51" fmla="*/ 435265 w 1391732"/>
              <a:gd name="connsiteY51" fmla="*/ 158496 h 1188720"/>
              <a:gd name="connsiteX52" fmla="*/ 408885 w 1391732"/>
              <a:gd name="connsiteY52" fmla="*/ 184912 h 1188720"/>
              <a:gd name="connsiteX53" fmla="*/ 408885 w 1391732"/>
              <a:gd name="connsiteY53" fmla="*/ 574548 h 1188720"/>
              <a:gd name="connsiteX54" fmla="*/ 26380 w 1391732"/>
              <a:gd name="connsiteY54" fmla="*/ 574548 h 1188720"/>
              <a:gd name="connsiteX55" fmla="*/ 0 w 1391732"/>
              <a:gd name="connsiteY55" fmla="*/ 548132 h 1188720"/>
              <a:gd name="connsiteX56" fmla="*/ 26380 w 1391732"/>
              <a:gd name="connsiteY56" fmla="*/ 515112 h 1188720"/>
              <a:gd name="connsiteX57" fmla="*/ 408885 w 1391732"/>
              <a:gd name="connsiteY57" fmla="*/ 515112 h 1188720"/>
              <a:gd name="connsiteX58" fmla="*/ 435265 w 1391732"/>
              <a:gd name="connsiteY58" fmla="*/ 541528 h 1188720"/>
              <a:gd name="connsiteX59" fmla="*/ 408885 w 1391732"/>
              <a:gd name="connsiteY59" fmla="*/ 574548 h 1188720"/>
              <a:gd name="connsiteX60" fmla="*/ 244012 w 1391732"/>
              <a:gd name="connsiteY60" fmla="*/ 376428 h 1188720"/>
              <a:gd name="connsiteX61" fmla="*/ 131898 w 1391732"/>
              <a:gd name="connsiteY61" fmla="*/ 376428 h 1188720"/>
              <a:gd name="connsiteX62" fmla="*/ 105519 w 1391732"/>
              <a:gd name="connsiteY62" fmla="*/ 350012 h 1188720"/>
              <a:gd name="connsiteX63" fmla="*/ 131898 w 1391732"/>
              <a:gd name="connsiteY63" fmla="*/ 316992 h 1188720"/>
              <a:gd name="connsiteX64" fmla="*/ 250607 w 1391732"/>
              <a:gd name="connsiteY64" fmla="*/ 316992 h 1188720"/>
              <a:gd name="connsiteX65" fmla="*/ 276987 w 1391732"/>
              <a:gd name="connsiteY65" fmla="*/ 343408 h 1188720"/>
              <a:gd name="connsiteX66" fmla="*/ 244012 w 1391732"/>
              <a:gd name="connsiteY66" fmla="*/ 376428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391732" h="1188720">
                <a:moveTo>
                  <a:pt x="1088162" y="323596"/>
                </a:moveTo>
                <a:cubicBezTo>
                  <a:pt x="995833" y="323596"/>
                  <a:pt x="923289" y="250952"/>
                  <a:pt x="923289" y="158496"/>
                </a:cubicBezTo>
                <a:cubicBezTo>
                  <a:pt x="923289" y="72644"/>
                  <a:pt x="995833" y="0"/>
                  <a:pt x="1088162" y="0"/>
                </a:cubicBezTo>
                <a:cubicBezTo>
                  <a:pt x="1180490" y="0"/>
                  <a:pt x="1253035" y="72644"/>
                  <a:pt x="1253035" y="165100"/>
                </a:cubicBezTo>
                <a:cubicBezTo>
                  <a:pt x="1253035" y="250952"/>
                  <a:pt x="1180490" y="323596"/>
                  <a:pt x="1088162" y="323596"/>
                </a:cubicBezTo>
                <a:close/>
                <a:moveTo>
                  <a:pt x="1365148" y="435864"/>
                </a:moveTo>
                <a:lnTo>
                  <a:pt x="1200275" y="614172"/>
                </a:lnTo>
                <a:cubicBezTo>
                  <a:pt x="1187085" y="633984"/>
                  <a:pt x="1167301" y="640588"/>
                  <a:pt x="1140921" y="647192"/>
                </a:cubicBezTo>
                <a:lnTo>
                  <a:pt x="1127731" y="647192"/>
                </a:lnTo>
                <a:cubicBezTo>
                  <a:pt x="1107946" y="647192"/>
                  <a:pt x="1088162" y="640588"/>
                  <a:pt x="1074972" y="633984"/>
                </a:cubicBezTo>
                <a:lnTo>
                  <a:pt x="956263" y="554736"/>
                </a:lnTo>
                <a:lnTo>
                  <a:pt x="837555" y="660400"/>
                </a:lnTo>
                <a:lnTo>
                  <a:pt x="1015617" y="746252"/>
                </a:lnTo>
                <a:cubicBezTo>
                  <a:pt x="1041997" y="759460"/>
                  <a:pt x="1055187" y="779272"/>
                  <a:pt x="1061782" y="805688"/>
                </a:cubicBezTo>
                <a:cubicBezTo>
                  <a:pt x="1068377" y="832104"/>
                  <a:pt x="1068377" y="858520"/>
                  <a:pt x="1048592" y="878332"/>
                </a:cubicBezTo>
                <a:lnTo>
                  <a:pt x="883719" y="1149096"/>
                </a:lnTo>
                <a:cubicBezTo>
                  <a:pt x="870529" y="1168908"/>
                  <a:pt x="850744" y="1182116"/>
                  <a:pt x="824365" y="1188720"/>
                </a:cubicBezTo>
                <a:lnTo>
                  <a:pt x="804580" y="1188720"/>
                </a:lnTo>
                <a:cubicBezTo>
                  <a:pt x="784795" y="1188720"/>
                  <a:pt x="771605" y="1182116"/>
                  <a:pt x="758416" y="1175512"/>
                </a:cubicBezTo>
                <a:cubicBezTo>
                  <a:pt x="712251" y="1149096"/>
                  <a:pt x="699061" y="1089660"/>
                  <a:pt x="725441" y="1050036"/>
                </a:cubicBezTo>
                <a:lnTo>
                  <a:pt x="837555" y="865124"/>
                </a:lnTo>
                <a:lnTo>
                  <a:pt x="699061" y="799084"/>
                </a:lnTo>
                <a:lnTo>
                  <a:pt x="586948" y="970788"/>
                </a:lnTo>
                <a:cubicBezTo>
                  <a:pt x="593543" y="977392"/>
                  <a:pt x="586948" y="990600"/>
                  <a:pt x="573758" y="997204"/>
                </a:cubicBezTo>
                <a:lnTo>
                  <a:pt x="290176" y="1175512"/>
                </a:lnTo>
                <a:cubicBezTo>
                  <a:pt x="270392" y="1182116"/>
                  <a:pt x="257202" y="1188720"/>
                  <a:pt x="237417" y="1188720"/>
                </a:cubicBezTo>
                <a:lnTo>
                  <a:pt x="211037" y="1188720"/>
                </a:lnTo>
                <a:cubicBezTo>
                  <a:pt x="184658" y="1182116"/>
                  <a:pt x="164873" y="1168908"/>
                  <a:pt x="151683" y="1142492"/>
                </a:cubicBezTo>
                <a:cubicBezTo>
                  <a:pt x="125303" y="1096264"/>
                  <a:pt x="138493" y="1043432"/>
                  <a:pt x="184658" y="1017016"/>
                </a:cubicBezTo>
                <a:lnTo>
                  <a:pt x="448454" y="851916"/>
                </a:lnTo>
                <a:lnTo>
                  <a:pt x="580353" y="653796"/>
                </a:lnTo>
                <a:cubicBezTo>
                  <a:pt x="586948" y="640588"/>
                  <a:pt x="593543" y="627380"/>
                  <a:pt x="606733" y="614172"/>
                </a:cubicBezTo>
                <a:lnTo>
                  <a:pt x="791390" y="449072"/>
                </a:lnTo>
                <a:lnTo>
                  <a:pt x="705656" y="396240"/>
                </a:lnTo>
                <a:lnTo>
                  <a:pt x="547378" y="435864"/>
                </a:lnTo>
                <a:cubicBezTo>
                  <a:pt x="494619" y="449072"/>
                  <a:pt x="448454" y="422656"/>
                  <a:pt x="435265" y="369824"/>
                </a:cubicBezTo>
                <a:cubicBezTo>
                  <a:pt x="422075" y="323596"/>
                  <a:pt x="448454" y="270764"/>
                  <a:pt x="501214" y="257556"/>
                </a:cubicBezTo>
                <a:lnTo>
                  <a:pt x="712251" y="198120"/>
                </a:lnTo>
                <a:cubicBezTo>
                  <a:pt x="738631" y="191516"/>
                  <a:pt x="765011" y="198120"/>
                  <a:pt x="791390" y="211328"/>
                </a:cubicBezTo>
                <a:lnTo>
                  <a:pt x="1009023" y="356616"/>
                </a:lnTo>
                <a:lnTo>
                  <a:pt x="1015617" y="363220"/>
                </a:lnTo>
                <a:lnTo>
                  <a:pt x="1121136" y="429260"/>
                </a:lnTo>
                <a:lnTo>
                  <a:pt x="1226655" y="310388"/>
                </a:lnTo>
                <a:cubicBezTo>
                  <a:pt x="1246440" y="290576"/>
                  <a:pt x="1266224" y="283972"/>
                  <a:pt x="1292604" y="277368"/>
                </a:cubicBezTo>
                <a:cubicBezTo>
                  <a:pt x="1318984" y="277368"/>
                  <a:pt x="1338769" y="283972"/>
                  <a:pt x="1358553" y="303784"/>
                </a:cubicBezTo>
                <a:cubicBezTo>
                  <a:pt x="1398123" y="343408"/>
                  <a:pt x="1404718" y="402844"/>
                  <a:pt x="1365148" y="435864"/>
                </a:cubicBezTo>
                <a:close/>
                <a:moveTo>
                  <a:pt x="408885" y="184912"/>
                </a:moveTo>
                <a:lnTo>
                  <a:pt x="85734" y="184912"/>
                </a:lnTo>
                <a:cubicBezTo>
                  <a:pt x="72544" y="184912"/>
                  <a:pt x="59354" y="171704"/>
                  <a:pt x="59354" y="158496"/>
                </a:cubicBezTo>
                <a:cubicBezTo>
                  <a:pt x="59354" y="145288"/>
                  <a:pt x="72544" y="132080"/>
                  <a:pt x="85734" y="132080"/>
                </a:cubicBezTo>
                <a:lnTo>
                  <a:pt x="408885" y="132080"/>
                </a:lnTo>
                <a:cubicBezTo>
                  <a:pt x="422075" y="132080"/>
                  <a:pt x="435265" y="145288"/>
                  <a:pt x="435265" y="158496"/>
                </a:cubicBezTo>
                <a:cubicBezTo>
                  <a:pt x="441860" y="171704"/>
                  <a:pt x="428670" y="184912"/>
                  <a:pt x="408885" y="184912"/>
                </a:cubicBezTo>
                <a:close/>
                <a:moveTo>
                  <a:pt x="408885" y="574548"/>
                </a:moveTo>
                <a:lnTo>
                  <a:pt x="26380" y="574548"/>
                </a:lnTo>
                <a:cubicBezTo>
                  <a:pt x="13190" y="574548"/>
                  <a:pt x="0" y="561340"/>
                  <a:pt x="0" y="548132"/>
                </a:cubicBezTo>
                <a:cubicBezTo>
                  <a:pt x="0" y="528320"/>
                  <a:pt x="13190" y="515112"/>
                  <a:pt x="26380" y="515112"/>
                </a:cubicBezTo>
                <a:lnTo>
                  <a:pt x="408885" y="515112"/>
                </a:lnTo>
                <a:cubicBezTo>
                  <a:pt x="422075" y="515112"/>
                  <a:pt x="435265" y="528320"/>
                  <a:pt x="435265" y="541528"/>
                </a:cubicBezTo>
                <a:cubicBezTo>
                  <a:pt x="435265" y="561340"/>
                  <a:pt x="422075" y="574548"/>
                  <a:pt x="408885" y="574548"/>
                </a:cubicBezTo>
                <a:close/>
                <a:moveTo>
                  <a:pt x="244012" y="376428"/>
                </a:moveTo>
                <a:lnTo>
                  <a:pt x="131898" y="376428"/>
                </a:lnTo>
                <a:cubicBezTo>
                  <a:pt x="118709" y="376428"/>
                  <a:pt x="105519" y="363220"/>
                  <a:pt x="105519" y="350012"/>
                </a:cubicBezTo>
                <a:cubicBezTo>
                  <a:pt x="98924" y="330200"/>
                  <a:pt x="112114" y="316992"/>
                  <a:pt x="131898" y="316992"/>
                </a:cubicBezTo>
                <a:lnTo>
                  <a:pt x="250607" y="316992"/>
                </a:lnTo>
                <a:cubicBezTo>
                  <a:pt x="263797" y="316992"/>
                  <a:pt x="276987" y="330200"/>
                  <a:pt x="276987" y="343408"/>
                </a:cubicBezTo>
                <a:cubicBezTo>
                  <a:pt x="276987" y="363220"/>
                  <a:pt x="263797" y="376428"/>
                  <a:pt x="244012" y="376428"/>
                </a:cubicBezTo>
                <a:close/>
              </a:path>
            </a:pathLst>
          </a:custGeom>
          <a:solidFill>
            <a:schemeClr val="accent1"/>
          </a:solidFill>
          <a:ln w="115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7" name="椭圆 1066"/>
          <p:cNvSpPr/>
          <p:nvPr/>
        </p:nvSpPr>
        <p:spPr>
          <a:xfrm>
            <a:off x="2868792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8" name="文本框 1067"/>
          <p:cNvSpPr txBox="1"/>
          <p:nvPr/>
        </p:nvSpPr>
        <p:spPr>
          <a:xfrm>
            <a:off x="3569229" y="1105190"/>
            <a:ext cx="1161585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输出文档</a:t>
            </a:r>
          </a:p>
        </p:txBody>
      </p:sp>
      <p:sp>
        <p:nvSpPr>
          <p:cNvPr id="1069" name="文本框 1068"/>
          <p:cNvSpPr txBox="1"/>
          <p:nvPr/>
        </p:nvSpPr>
        <p:spPr>
          <a:xfrm>
            <a:off x="3569230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份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0" name="椭圆 1069"/>
          <p:cNvSpPr/>
          <p:nvPr/>
        </p:nvSpPr>
        <p:spPr>
          <a:xfrm>
            <a:off x="5286769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5987206" y="1105190"/>
            <a:ext cx="1236005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转化率提升</a:t>
            </a:r>
          </a:p>
        </p:txBody>
      </p:sp>
      <p:sp>
        <p:nvSpPr>
          <p:cNvPr id="1072" name="文本框 1071"/>
          <p:cNvSpPr txBox="1"/>
          <p:nvPr/>
        </p:nvSpPr>
        <p:spPr>
          <a:xfrm>
            <a:off x="5987207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3" name="椭圆 1072"/>
          <p:cNvSpPr/>
          <p:nvPr/>
        </p:nvSpPr>
        <p:spPr>
          <a:xfrm>
            <a:off x="7597463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4" name="文本框 1073"/>
          <p:cNvSpPr txBox="1"/>
          <p:nvPr/>
        </p:nvSpPr>
        <p:spPr>
          <a:xfrm>
            <a:off x="8297900" y="1105190"/>
            <a:ext cx="141885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用户流失率</a:t>
            </a:r>
          </a:p>
        </p:txBody>
      </p:sp>
      <p:sp>
        <p:nvSpPr>
          <p:cNvPr id="1075" name="文本框 1074"/>
          <p:cNvSpPr txBox="1"/>
          <p:nvPr/>
        </p:nvSpPr>
        <p:spPr>
          <a:xfrm>
            <a:off x="8297901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6" name="椭圆 1075"/>
          <p:cNvSpPr/>
          <p:nvPr/>
        </p:nvSpPr>
        <p:spPr>
          <a:xfrm>
            <a:off x="10006342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7" name="文本框 1076"/>
          <p:cNvSpPr txBox="1"/>
          <p:nvPr/>
        </p:nvSpPr>
        <p:spPr>
          <a:xfrm>
            <a:off x="10706779" y="1105190"/>
            <a:ext cx="1217995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优化细节</a:t>
            </a:r>
          </a:p>
        </p:txBody>
      </p:sp>
      <p:sp>
        <p:nvSpPr>
          <p:cNvPr id="1078" name="文本框 1077"/>
          <p:cNvSpPr txBox="1"/>
          <p:nvPr/>
        </p:nvSpPr>
        <p:spPr>
          <a:xfrm>
            <a:off x="10706780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9" name="文本框 1078"/>
          <p:cNvSpPr txBox="1"/>
          <p:nvPr/>
        </p:nvSpPr>
        <p:spPr>
          <a:xfrm>
            <a:off x="295076" y="2534187"/>
            <a:ext cx="1964719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数据看板优化</a:t>
            </a:r>
          </a:p>
        </p:txBody>
      </p:sp>
      <p:sp>
        <p:nvSpPr>
          <p:cNvPr id="1080" name="文本框 1079"/>
          <p:cNvSpPr txBox="1"/>
          <p:nvPr/>
        </p:nvSpPr>
        <p:spPr>
          <a:xfrm>
            <a:off x="295076" y="323977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节日专属功能开发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295076" y="3942597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用户体验优化专项</a:t>
            </a:r>
          </a:p>
        </p:txBody>
      </p:sp>
      <p:sp>
        <p:nvSpPr>
          <p:cNvPr id="1082" name="文本框 1081"/>
          <p:cNvSpPr txBox="1"/>
          <p:nvPr/>
        </p:nvSpPr>
        <p:spPr>
          <a:xfrm>
            <a:off x="295076" y="464542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版本核心功能迭代</a:t>
            </a:r>
          </a:p>
        </p:txBody>
      </p:sp>
      <p:sp>
        <p:nvSpPr>
          <p:cNvPr id="1083" name="文本框 1082"/>
          <p:cNvSpPr txBox="1"/>
          <p:nvPr/>
        </p:nvSpPr>
        <p:spPr>
          <a:xfrm>
            <a:off x="295076" y="5348247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用户增长联合行动</a:t>
            </a:r>
          </a:p>
        </p:txBody>
      </p:sp>
      <p:sp>
        <p:nvSpPr>
          <p:cNvPr id="1084" name="文本框 1083"/>
          <p:cNvSpPr txBox="1"/>
          <p:nvPr/>
        </p:nvSpPr>
        <p:spPr>
          <a:xfrm>
            <a:off x="295076" y="605107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用户留存提升专项</a:t>
            </a:r>
          </a:p>
        </p:txBody>
      </p:sp>
      <p:sp>
        <p:nvSpPr>
          <p:cNvPr id="1085" name="文本框 1084"/>
          <p:cNvSpPr txBox="1"/>
          <p:nvPr/>
        </p:nvSpPr>
        <p:spPr>
          <a:xfrm>
            <a:off x="3317290" y="3258491"/>
            <a:ext cx="1501107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调整看板界面布局</a:t>
            </a:r>
          </a:p>
        </p:txBody>
      </p:sp>
      <p:sp>
        <p:nvSpPr>
          <p:cNvPr id="1086" name="椭圆 1085"/>
          <p:cNvSpPr/>
          <p:nvPr/>
        </p:nvSpPr>
        <p:spPr>
          <a:xfrm>
            <a:off x="3021471" y="3271682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9" name="图形 1087"/>
          <p:cNvSpPr/>
          <p:nvPr/>
        </p:nvSpPr>
        <p:spPr>
          <a:xfrm>
            <a:off x="3098051" y="3340821"/>
            <a:ext cx="147879" cy="145702"/>
          </a:xfrm>
          <a:custGeom>
            <a:avLst/>
            <a:gdLst>
              <a:gd name="connsiteX0" fmla="*/ 137099 w 147879"/>
              <a:gd name="connsiteY0" fmla="*/ 23279 h 145702"/>
              <a:gd name="connsiteX1" fmla="*/ 126320 w 147879"/>
              <a:gd name="connsiteY1" fmla="*/ 34190 h 145702"/>
              <a:gd name="connsiteX2" fmla="*/ 127619 w 147879"/>
              <a:gd name="connsiteY2" fmla="*/ 39282 h 145702"/>
              <a:gd name="connsiteX3" fmla="*/ 109073 w 147879"/>
              <a:gd name="connsiteY3" fmla="*/ 45338 h 145702"/>
              <a:gd name="connsiteX4" fmla="*/ 77916 w 147879"/>
              <a:gd name="connsiteY4" fmla="*/ 20630 h 145702"/>
              <a:gd name="connsiteX5" fmla="*/ 83886 w 147879"/>
              <a:gd name="connsiteY5" fmla="*/ 10911 h 145702"/>
              <a:gd name="connsiteX6" fmla="*/ 73113 w 147879"/>
              <a:gd name="connsiteY6" fmla="*/ 0 h 145702"/>
              <a:gd name="connsiteX7" fmla="*/ 62334 w 147879"/>
              <a:gd name="connsiteY7" fmla="*/ 10911 h 145702"/>
              <a:gd name="connsiteX8" fmla="*/ 68296 w 147879"/>
              <a:gd name="connsiteY8" fmla="*/ 20630 h 145702"/>
              <a:gd name="connsiteX9" fmla="*/ 37139 w 147879"/>
              <a:gd name="connsiteY9" fmla="*/ 45338 h 145702"/>
              <a:gd name="connsiteX10" fmla="*/ 19838 w 147879"/>
              <a:gd name="connsiteY10" fmla="*/ 40069 h 145702"/>
              <a:gd name="connsiteX11" fmla="*/ 21556 w 147879"/>
              <a:gd name="connsiteY11" fmla="*/ 34190 h 145702"/>
              <a:gd name="connsiteX12" fmla="*/ 10776 w 147879"/>
              <a:gd name="connsiteY12" fmla="*/ 23279 h 145702"/>
              <a:gd name="connsiteX13" fmla="*/ 0 w 147879"/>
              <a:gd name="connsiteY13" fmla="*/ 34190 h 145702"/>
              <a:gd name="connsiteX14" fmla="*/ 9912 w 147879"/>
              <a:gd name="connsiteY14" fmla="*/ 45013 h 145702"/>
              <a:gd name="connsiteX15" fmla="*/ 38438 w 147879"/>
              <a:gd name="connsiteY15" fmla="*/ 115821 h 145702"/>
              <a:gd name="connsiteX16" fmla="*/ 107708 w 147879"/>
              <a:gd name="connsiteY16" fmla="*/ 115821 h 145702"/>
              <a:gd name="connsiteX17" fmla="*/ 136567 w 147879"/>
              <a:gd name="connsiteY17" fmla="*/ 45043 h 145702"/>
              <a:gd name="connsiteX18" fmla="*/ 137099 w 147879"/>
              <a:gd name="connsiteY18" fmla="*/ 45102 h 145702"/>
              <a:gd name="connsiteX19" fmla="*/ 147879 w 147879"/>
              <a:gd name="connsiteY19" fmla="*/ 34191 h 145702"/>
              <a:gd name="connsiteX20" fmla="*/ 137099 w 147879"/>
              <a:gd name="connsiteY20" fmla="*/ 23279 h 145702"/>
              <a:gd name="connsiteX21" fmla="*/ 83387 w 147879"/>
              <a:gd name="connsiteY21" fmla="*/ 138029 h 145702"/>
              <a:gd name="connsiteX22" fmla="*/ 34404 w 147879"/>
              <a:gd name="connsiteY22" fmla="*/ 138029 h 145702"/>
              <a:gd name="connsiteX23" fmla="*/ 30285 w 147879"/>
              <a:gd name="connsiteY23" fmla="*/ 141865 h 145702"/>
              <a:gd name="connsiteX24" fmla="*/ 34404 w 147879"/>
              <a:gd name="connsiteY24" fmla="*/ 145703 h 145702"/>
              <a:gd name="connsiteX25" fmla="*/ 83387 w 147879"/>
              <a:gd name="connsiteY25" fmla="*/ 145703 h 145702"/>
              <a:gd name="connsiteX26" fmla="*/ 87504 w 147879"/>
              <a:gd name="connsiteY26" fmla="*/ 141865 h 145702"/>
              <a:gd name="connsiteX27" fmla="*/ 83387 w 147879"/>
              <a:gd name="connsiteY27" fmla="*/ 138029 h 145702"/>
              <a:gd name="connsiteX28" fmla="*/ 112779 w 147879"/>
              <a:gd name="connsiteY28" fmla="*/ 138029 h 145702"/>
              <a:gd name="connsiteX29" fmla="*/ 102982 w 147879"/>
              <a:gd name="connsiteY29" fmla="*/ 138029 h 145702"/>
              <a:gd name="connsiteX30" fmla="*/ 100071 w 147879"/>
              <a:gd name="connsiteY30" fmla="*/ 139244 h 145702"/>
              <a:gd name="connsiteX31" fmla="*/ 98864 w 147879"/>
              <a:gd name="connsiteY31" fmla="*/ 141864 h 145702"/>
              <a:gd name="connsiteX32" fmla="*/ 102907 w 147879"/>
              <a:gd name="connsiteY32" fmla="*/ 145700 h 145702"/>
              <a:gd name="connsiteX33" fmla="*/ 112779 w 147879"/>
              <a:gd name="connsiteY33" fmla="*/ 145700 h 145702"/>
              <a:gd name="connsiteX34" fmla="*/ 116895 w 147879"/>
              <a:gd name="connsiteY34" fmla="*/ 141864 h 145702"/>
              <a:gd name="connsiteX35" fmla="*/ 112779 w 147879"/>
              <a:gd name="connsiteY35" fmla="*/ 138029 h 145702"/>
              <a:gd name="connsiteX36" fmla="*/ 112779 w 147879"/>
              <a:gd name="connsiteY36" fmla="*/ 138029 h 145702"/>
              <a:gd name="connsiteX37" fmla="*/ 112779 w 147879"/>
              <a:gd name="connsiteY37" fmla="*/ 138029 h 14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7879" h="145702">
                <a:moveTo>
                  <a:pt x="137099" y="23279"/>
                </a:moveTo>
                <a:cubicBezTo>
                  <a:pt x="131151" y="23279"/>
                  <a:pt x="126320" y="28156"/>
                  <a:pt x="126320" y="34190"/>
                </a:cubicBezTo>
                <a:cubicBezTo>
                  <a:pt x="126320" y="36034"/>
                  <a:pt x="126823" y="37752"/>
                  <a:pt x="127619" y="39282"/>
                </a:cubicBezTo>
                <a:cubicBezTo>
                  <a:pt x="122233" y="43136"/>
                  <a:pt x="115795" y="45338"/>
                  <a:pt x="109073" y="45338"/>
                </a:cubicBezTo>
                <a:cubicBezTo>
                  <a:pt x="94016" y="45338"/>
                  <a:pt x="81441" y="34789"/>
                  <a:pt x="77916" y="20630"/>
                </a:cubicBezTo>
                <a:cubicBezTo>
                  <a:pt x="81441" y="18834"/>
                  <a:pt x="83886" y="15179"/>
                  <a:pt x="83886" y="10911"/>
                </a:cubicBezTo>
                <a:cubicBezTo>
                  <a:pt x="83886" y="4889"/>
                  <a:pt x="79054" y="0"/>
                  <a:pt x="73113" y="0"/>
                </a:cubicBezTo>
                <a:cubicBezTo>
                  <a:pt x="67151" y="0"/>
                  <a:pt x="62334" y="4889"/>
                  <a:pt x="62334" y="10911"/>
                </a:cubicBezTo>
                <a:cubicBezTo>
                  <a:pt x="62334" y="15179"/>
                  <a:pt x="64764" y="18834"/>
                  <a:pt x="68296" y="20630"/>
                </a:cubicBezTo>
                <a:cubicBezTo>
                  <a:pt x="64779" y="34789"/>
                  <a:pt x="52196" y="45338"/>
                  <a:pt x="37139" y="45338"/>
                </a:cubicBezTo>
                <a:cubicBezTo>
                  <a:pt x="30942" y="45338"/>
                  <a:pt x="24979" y="43391"/>
                  <a:pt x="19838" y="40069"/>
                </a:cubicBezTo>
                <a:cubicBezTo>
                  <a:pt x="20911" y="38366"/>
                  <a:pt x="21556" y="36352"/>
                  <a:pt x="21556" y="34190"/>
                </a:cubicBezTo>
                <a:cubicBezTo>
                  <a:pt x="21556" y="28156"/>
                  <a:pt x="16736" y="23279"/>
                  <a:pt x="10776" y="23279"/>
                </a:cubicBezTo>
                <a:cubicBezTo>
                  <a:pt x="4828" y="23279"/>
                  <a:pt x="0" y="28156"/>
                  <a:pt x="0" y="34190"/>
                </a:cubicBezTo>
                <a:cubicBezTo>
                  <a:pt x="0" y="39910"/>
                  <a:pt x="4372" y="44559"/>
                  <a:pt x="9912" y="45013"/>
                </a:cubicBezTo>
                <a:lnTo>
                  <a:pt x="38438" y="115821"/>
                </a:lnTo>
                <a:lnTo>
                  <a:pt x="107708" y="115821"/>
                </a:lnTo>
                <a:lnTo>
                  <a:pt x="136567" y="45043"/>
                </a:lnTo>
                <a:cubicBezTo>
                  <a:pt x="136742" y="45057"/>
                  <a:pt x="136917" y="45102"/>
                  <a:pt x="137099" y="45102"/>
                </a:cubicBezTo>
                <a:cubicBezTo>
                  <a:pt x="143055" y="45102"/>
                  <a:pt x="147879" y="40213"/>
                  <a:pt x="147879" y="34191"/>
                </a:cubicBezTo>
                <a:cubicBezTo>
                  <a:pt x="147879" y="28156"/>
                  <a:pt x="143055" y="23279"/>
                  <a:pt x="137099" y="23279"/>
                </a:cubicBezTo>
                <a:close/>
                <a:moveTo>
                  <a:pt x="83387" y="138029"/>
                </a:moveTo>
                <a:lnTo>
                  <a:pt x="34404" y="138029"/>
                </a:lnTo>
                <a:cubicBezTo>
                  <a:pt x="32132" y="138029"/>
                  <a:pt x="30285" y="139579"/>
                  <a:pt x="30285" y="141865"/>
                </a:cubicBezTo>
                <a:cubicBezTo>
                  <a:pt x="30285" y="144152"/>
                  <a:pt x="32132" y="145703"/>
                  <a:pt x="34404" y="145703"/>
                </a:cubicBezTo>
                <a:lnTo>
                  <a:pt x="83387" y="145703"/>
                </a:lnTo>
                <a:cubicBezTo>
                  <a:pt x="85658" y="145703"/>
                  <a:pt x="87504" y="144152"/>
                  <a:pt x="87504" y="141865"/>
                </a:cubicBezTo>
                <a:cubicBezTo>
                  <a:pt x="87504" y="139579"/>
                  <a:pt x="85658" y="138029"/>
                  <a:pt x="83387" y="138029"/>
                </a:cubicBezTo>
                <a:close/>
                <a:moveTo>
                  <a:pt x="112779" y="138029"/>
                </a:moveTo>
                <a:lnTo>
                  <a:pt x="102982" y="138029"/>
                </a:lnTo>
                <a:cubicBezTo>
                  <a:pt x="101881" y="138029"/>
                  <a:pt x="100846" y="138461"/>
                  <a:pt x="100071" y="139244"/>
                </a:cubicBezTo>
                <a:cubicBezTo>
                  <a:pt x="99291" y="140025"/>
                  <a:pt x="98864" y="140757"/>
                  <a:pt x="98864" y="141864"/>
                </a:cubicBezTo>
                <a:cubicBezTo>
                  <a:pt x="98864" y="144127"/>
                  <a:pt x="100670" y="145660"/>
                  <a:pt x="102907" y="145700"/>
                </a:cubicBezTo>
                <a:lnTo>
                  <a:pt x="112779" y="145700"/>
                </a:lnTo>
                <a:cubicBezTo>
                  <a:pt x="115049" y="145700"/>
                  <a:pt x="116895" y="144152"/>
                  <a:pt x="116895" y="141864"/>
                </a:cubicBezTo>
                <a:cubicBezTo>
                  <a:pt x="116895" y="139579"/>
                  <a:pt x="115049" y="138029"/>
                  <a:pt x="112779" y="138029"/>
                </a:cubicBezTo>
                <a:lnTo>
                  <a:pt x="112779" y="138029"/>
                </a:lnTo>
                <a:lnTo>
                  <a:pt x="112779" y="138029"/>
                </a:lnTo>
                <a:close/>
              </a:path>
            </a:pathLst>
          </a:custGeom>
          <a:solidFill>
            <a:schemeClr val="accent1"/>
          </a:solidFill>
          <a:ln w="1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0" name="文本框 1089"/>
          <p:cNvSpPr txBox="1"/>
          <p:nvPr/>
        </p:nvSpPr>
        <p:spPr>
          <a:xfrm>
            <a:off x="3321181" y="3963850"/>
            <a:ext cx="2961798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分析用户画像及使用场景，输出下线评估</a:t>
            </a:r>
          </a:p>
        </p:txBody>
      </p:sp>
      <p:sp>
        <p:nvSpPr>
          <p:cNvPr id="1091" name="椭圆 1090"/>
          <p:cNvSpPr/>
          <p:nvPr/>
        </p:nvSpPr>
        <p:spPr>
          <a:xfrm>
            <a:off x="3025361" y="3977041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3" name="文本框 1092"/>
          <p:cNvSpPr txBox="1"/>
          <p:nvPr/>
        </p:nvSpPr>
        <p:spPr>
          <a:xfrm>
            <a:off x="5754883" y="4664615"/>
            <a:ext cx="2834382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协调研发优先排期，上线后监控稳定性</a:t>
            </a:r>
          </a:p>
        </p:txBody>
      </p:sp>
      <p:sp>
        <p:nvSpPr>
          <p:cNvPr id="1094" name="椭圆 1093"/>
          <p:cNvSpPr/>
          <p:nvPr/>
        </p:nvSpPr>
        <p:spPr>
          <a:xfrm>
            <a:off x="5459063" y="4677806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6" name="文本框 1095"/>
          <p:cNvSpPr txBox="1"/>
          <p:nvPr/>
        </p:nvSpPr>
        <p:spPr>
          <a:xfrm>
            <a:off x="4104865" y="5365657"/>
            <a:ext cx="2848872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参与优化方案评审，协助测试团队制定</a:t>
            </a:r>
          </a:p>
        </p:txBody>
      </p:sp>
      <p:sp>
        <p:nvSpPr>
          <p:cNvPr id="1097" name="椭圆 1096"/>
          <p:cNvSpPr/>
          <p:nvPr/>
        </p:nvSpPr>
        <p:spPr>
          <a:xfrm>
            <a:off x="3809046" y="5378848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9" name="文本框 1098"/>
          <p:cNvSpPr txBox="1"/>
          <p:nvPr/>
        </p:nvSpPr>
        <p:spPr>
          <a:xfrm>
            <a:off x="8465129" y="6067391"/>
            <a:ext cx="2681539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上线后实时同步产品数据给推广团队</a:t>
            </a:r>
          </a:p>
        </p:txBody>
      </p:sp>
      <p:sp>
        <p:nvSpPr>
          <p:cNvPr id="1100" name="椭圆 1099"/>
          <p:cNvSpPr/>
          <p:nvPr/>
        </p:nvSpPr>
        <p:spPr>
          <a:xfrm>
            <a:off x="8169310" y="6080582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2" name="文本框 1101"/>
          <p:cNvSpPr txBox="1"/>
          <p:nvPr/>
        </p:nvSpPr>
        <p:spPr>
          <a:xfrm>
            <a:off x="7784139" y="3205146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3" name="文本框 1102"/>
          <p:cNvSpPr txBox="1"/>
          <p:nvPr/>
        </p:nvSpPr>
        <p:spPr>
          <a:xfrm>
            <a:off x="9351807" y="3913802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4" name="文本框 1103"/>
          <p:cNvSpPr txBox="1"/>
          <p:nvPr/>
        </p:nvSpPr>
        <p:spPr>
          <a:xfrm>
            <a:off x="9496888" y="5314150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8" name="任意多边形: 形状 1107"/>
          <p:cNvSpPr/>
          <p:nvPr/>
        </p:nvSpPr>
        <p:spPr>
          <a:xfrm>
            <a:off x="3130280" y="4041901"/>
            <a:ext cx="84956" cy="84863"/>
          </a:xfrm>
          <a:custGeom>
            <a:avLst/>
            <a:gdLst>
              <a:gd name="connsiteX0" fmla="*/ 96205 w 96205"/>
              <a:gd name="connsiteY0" fmla="*/ 48050 h 96100"/>
              <a:gd name="connsiteX1" fmla="*/ 48103 w 96205"/>
              <a:gd name="connsiteY1" fmla="*/ 96100 h 96100"/>
              <a:gd name="connsiteX2" fmla="*/ 0 w 96205"/>
              <a:gd name="connsiteY2" fmla="*/ 48050 h 96100"/>
              <a:gd name="connsiteX3" fmla="*/ 48103 w 96205"/>
              <a:gd name="connsiteY3" fmla="*/ 0 h 96100"/>
              <a:gd name="connsiteX4" fmla="*/ 96205 w 96205"/>
              <a:gd name="connsiteY4" fmla="*/ 48050 h 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205" h="96100">
                <a:moveTo>
                  <a:pt x="96205" y="48050"/>
                </a:moveTo>
                <a:cubicBezTo>
                  <a:pt x="96205" y="74584"/>
                  <a:pt x="74671" y="96100"/>
                  <a:pt x="48103" y="96100"/>
                </a:cubicBezTo>
                <a:cubicBezTo>
                  <a:pt x="21534" y="96100"/>
                  <a:pt x="0" y="74589"/>
                  <a:pt x="0" y="48050"/>
                </a:cubicBezTo>
                <a:cubicBezTo>
                  <a:pt x="0" y="21516"/>
                  <a:pt x="21534" y="0"/>
                  <a:pt x="48103" y="0"/>
                </a:cubicBezTo>
                <a:cubicBezTo>
                  <a:pt x="74671" y="0"/>
                  <a:pt x="96205" y="21511"/>
                  <a:pt x="96205" y="48050"/>
                </a:cubicBezTo>
                <a:close/>
              </a:path>
            </a:pathLst>
          </a:custGeom>
          <a:solidFill>
            <a:schemeClr val="accent2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9" name="任意多边形: 形状 1108"/>
          <p:cNvSpPr/>
          <p:nvPr/>
        </p:nvSpPr>
        <p:spPr>
          <a:xfrm>
            <a:off x="3099472" y="4128510"/>
            <a:ext cx="145832" cy="58538"/>
          </a:xfrm>
          <a:custGeom>
            <a:avLst/>
            <a:gdLst>
              <a:gd name="connsiteX0" fmla="*/ 122691 w 165142"/>
              <a:gd name="connsiteY0" fmla="*/ 282 h 66289"/>
              <a:gd name="connsiteX1" fmla="*/ 82990 w 165142"/>
              <a:gd name="connsiteY1" fmla="*/ 14032 h 66289"/>
              <a:gd name="connsiteX2" fmla="*/ 42935 w 165142"/>
              <a:gd name="connsiteY2" fmla="*/ 0 h 66289"/>
              <a:gd name="connsiteX3" fmla="*/ 0 w 165142"/>
              <a:gd name="connsiteY3" fmla="*/ 66289 h 66289"/>
              <a:gd name="connsiteX4" fmla="*/ 165143 w 165142"/>
              <a:gd name="connsiteY4" fmla="*/ 66289 h 66289"/>
              <a:gd name="connsiteX5" fmla="*/ 122691 w 165142"/>
              <a:gd name="connsiteY5" fmla="*/ 288 h 6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142" h="66289">
                <a:moveTo>
                  <a:pt x="122691" y="282"/>
                </a:moveTo>
                <a:cubicBezTo>
                  <a:pt x="111482" y="9122"/>
                  <a:pt x="97588" y="14032"/>
                  <a:pt x="82990" y="14032"/>
                </a:cubicBezTo>
                <a:cubicBezTo>
                  <a:pt x="68223" y="14032"/>
                  <a:pt x="54196" y="9009"/>
                  <a:pt x="42935" y="0"/>
                </a:cubicBezTo>
                <a:cubicBezTo>
                  <a:pt x="13256" y="10884"/>
                  <a:pt x="0" y="48918"/>
                  <a:pt x="0" y="66289"/>
                </a:cubicBezTo>
                <a:lnTo>
                  <a:pt x="165143" y="66289"/>
                </a:lnTo>
                <a:cubicBezTo>
                  <a:pt x="165143" y="49072"/>
                  <a:pt x="151784" y="11305"/>
                  <a:pt x="122691" y="288"/>
                </a:cubicBezTo>
                <a:close/>
              </a:path>
            </a:pathLst>
          </a:custGeom>
          <a:solidFill>
            <a:schemeClr val="accent2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3" name="图形 1111"/>
          <p:cNvSpPr/>
          <p:nvPr/>
        </p:nvSpPr>
        <p:spPr>
          <a:xfrm>
            <a:off x="5530022" y="4749217"/>
            <a:ext cx="162996" cy="163153"/>
          </a:xfrm>
          <a:custGeom>
            <a:avLst/>
            <a:gdLst>
              <a:gd name="connsiteX0" fmla="*/ 147319 w 162996"/>
              <a:gd name="connsiteY0" fmla="*/ 81577 h 163153"/>
              <a:gd name="connsiteX1" fmla="*/ 162996 w 162996"/>
              <a:gd name="connsiteY1" fmla="*/ 57855 h 163153"/>
              <a:gd name="connsiteX2" fmla="*/ 156284 w 162996"/>
              <a:gd name="connsiteY2" fmla="*/ 41618 h 163153"/>
              <a:gd name="connsiteX3" fmla="*/ 129982 w 162996"/>
              <a:gd name="connsiteY3" fmla="*/ 33048 h 163153"/>
              <a:gd name="connsiteX4" fmla="*/ 123359 w 162996"/>
              <a:gd name="connsiteY4" fmla="*/ 6720 h 163153"/>
              <a:gd name="connsiteX5" fmla="*/ 107137 w 162996"/>
              <a:gd name="connsiteY5" fmla="*/ 0 h 163153"/>
              <a:gd name="connsiteX6" fmla="*/ 81498 w 162996"/>
              <a:gd name="connsiteY6" fmla="*/ 15692 h 163153"/>
              <a:gd name="connsiteX7" fmla="*/ 55859 w 162996"/>
              <a:gd name="connsiteY7" fmla="*/ 0 h 163153"/>
              <a:gd name="connsiteX8" fmla="*/ 39639 w 162996"/>
              <a:gd name="connsiteY8" fmla="*/ 6717 h 163153"/>
              <a:gd name="connsiteX9" fmla="*/ 33016 w 162996"/>
              <a:gd name="connsiteY9" fmla="*/ 33048 h 163153"/>
              <a:gd name="connsiteX10" fmla="*/ 6712 w 162996"/>
              <a:gd name="connsiteY10" fmla="*/ 41621 h 163153"/>
              <a:gd name="connsiteX11" fmla="*/ 0 w 162996"/>
              <a:gd name="connsiteY11" fmla="*/ 57855 h 163153"/>
              <a:gd name="connsiteX12" fmla="*/ 15676 w 162996"/>
              <a:gd name="connsiteY12" fmla="*/ 81577 h 163153"/>
              <a:gd name="connsiteX13" fmla="*/ 0 w 162996"/>
              <a:gd name="connsiteY13" fmla="*/ 107240 h 163153"/>
              <a:gd name="connsiteX14" fmla="*/ 6712 w 162996"/>
              <a:gd name="connsiteY14" fmla="*/ 123479 h 163153"/>
              <a:gd name="connsiteX15" fmla="*/ 33015 w 162996"/>
              <a:gd name="connsiteY15" fmla="*/ 130108 h 163153"/>
              <a:gd name="connsiteX16" fmla="*/ 39638 w 162996"/>
              <a:gd name="connsiteY16" fmla="*/ 156436 h 163153"/>
              <a:gd name="connsiteX17" fmla="*/ 55860 w 162996"/>
              <a:gd name="connsiteY17" fmla="*/ 163154 h 163153"/>
              <a:gd name="connsiteX18" fmla="*/ 81497 w 162996"/>
              <a:gd name="connsiteY18" fmla="*/ 147460 h 163153"/>
              <a:gd name="connsiteX19" fmla="*/ 107136 w 162996"/>
              <a:gd name="connsiteY19" fmla="*/ 163154 h 163153"/>
              <a:gd name="connsiteX20" fmla="*/ 123360 w 162996"/>
              <a:gd name="connsiteY20" fmla="*/ 156433 h 163153"/>
              <a:gd name="connsiteX21" fmla="*/ 129981 w 162996"/>
              <a:gd name="connsiteY21" fmla="*/ 130107 h 163153"/>
              <a:gd name="connsiteX22" fmla="*/ 156283 w 162996"/>
              <a:gd name="connsiteY22" fmla="*/ 121536 h 163153"/>
              <a:gd name="connsiteX23" fmla="*/ 162996 w 162996"/>
              <a:gd name="connsiteY23" fmla="*/ 105297 h 163153"/>
              <a:gd name="connsiteX24" fmla="*/ 147319 w 162996"/>
              <a:gd name="connsiteY24" fmla="*/ 81577 h 163153"/>
              <a:gd name="connsiteX25" fmla="*/ 81498 w 162996"/>
              <a:gd name="connsiteY25" fmla="*/ 117056 h 163153"/>
              <a:gd name="connsiteX26" fmla="*/ 46057 w 162996"/>
              <a:gd name="connsiteY26" fmla="*/ 81578 h 163153"/>
              <a:gd name="connsiteX27" fmla="*/ 81498 w 162996"/>
              <a:gd name="connsiteY27" fmla="*/ 46100 h 163153"/>
              <a:gd name="connsiteX28" fmla="*/ 116939 w 162996"/>
              <a:gd name="connsiteY28" fmla="*/ 81578 h 163153"/>
              <a:gd name="connsiteX29" fmla="*/ 81498 w 162996"/>
              <a:gd name="connsiteY29" fmla="*/ 117056 h 163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62996" h="163153">
                <a:moveTo>
                  <a:pt x="147319" y="81577"/>
                </a:moveTo>
                <a:cubicBezTo>
                  <a:pt x="147319" y="71404"/>
                  <a:pt x="153575" y="63374"/>
                  <a:pt x="162996" y="57855"/>
                </a:cubicBezTo>
                <a:cubicBezTo>
                  <a:pt x="161301" y="52177"/>
                  <a:pt x="159051" y="46739"/>
                  <a:pt x="156284" y="41618"/>
                </a:cubicBezTo>
                <a:cubicBezTo>
                  <a:pt x="145720" y="44385"/>
                  <a:pt x="137170" y="40242"/>
                  <a:pt x="129982" y="33048"/>
                </a:cubicBezTo>
                <a:cubicBezTo>
                  <a:pt x="122795" y="25855"/>
                  <a:pt x="120595" y="17291"/>
                  <a:pt x="123359" y="6720"/>
                </a:cubicBezTo>
                <a:cubicBezTo>
                  <a:pt x="118245" y="3949"/>
                  <a:pt x="112812" y="1698"/>
                  <a:pt x="107137" y="0"/>
                </a:cubicBezTo>
                <a:cubicBezTo>
                  <a:pt x="101622" y="9433"/>
                  <a:pt x="91663" y="15692"/>
                  <a:pt x="81498" y="15692"/>
                </a:cubicBezTo>
                <a:cubicBezTo>
                  <a:pt x="71336" y="15692"/>
                  <a:pt x="61376" y="9433"/>
                  <a:pt x="55859" y="0"/>
                </a:cubicBezTo>
                <a:cubicBezTo>
                  <a:pt x="50186" y="1696"/>
                  <a:pt x="44753" y="3949"/>
                  <a:pt x="39639" y="6717"/>
                </a:cubicBezTo>
                <a:cubicBezTo>
                  <a:pt x="42402" y="17292"/>
                  <a:pt x="40204" y="25852"/>
                  <a:pt x="33016" y="33048"/>
                </a:cubicBezTo>
                <a:cubicBezTo>
                  <a:pt x="25829" y="40242"/>
                  <a:pt x="17275" y="44385"/>
                  <a:pt x="6712" y="41621"/>
                </a:cubicBezTo>
                <a:cubicBezTo>
                  <a:pt x="3946" y="46739"/>
                  <a:pt x="1696" y="52177"/>
                  <a:pt x="0" y="57855"/>
                </a:cubicBezTo>
                <a:cubicBezTo>
                  <a:pt x="9422" y="63375"/>
                  <a:pt x="15676" y="71404"/>
                  <a:pt x="15676" y="81577"/>
                </a:cubicBezTo>
                <a:cubicBezTo>
                  <a:pt x="15676" y="91749"/>
                  <a:pt x="9422" y="101721"/>
                  <a:pt x="0" y="107240"/>
                </a:cubicBezTo>
                <a:cubicBezTo>
                  <a:pt x="1695" y="112920"/>
                  <a:pt x="3946" y="118358"/>
                  <a:pt x="6712" y="123479"/>
                </a:cubicBezTo>
                <a:cubicBezTo>
                  <a:pt x="17277" y="120712"/>
                  <a:pt x="25829" y="122914"/>
                  <a:pt x="33015" y="130108"/>
                </a:cubicBezTo>
                <a:cubicBezTo>
                  <a:pt x="40201" y="137304"/>
                  <a:pt x="42401" y="145863"/>
                  <a:pt x="39638" y="156436"/>
                </a:cubicBezTo>
                <a:cubicBezTo>
                  <a:pt x="44752" y="159204"/>
                  <a:pt x="50185" y="161459"/>
                  <a:pt x="55860" y="163154"/>
                </a:cubicBezTo>
                <a:cubicBezTo>
                  <a:pt x="61377" y="153724"/>
                  <a:pt x="71335" y="147460"/>
                  <a:pt x="81497" y="147460"/>
                </a:cubicBezTo>
                <a:cubicBezTo>
                  <a:pt x="91662" y="147460"/>
                  <a:pt x="101621" y="153724"/>
                  <a:pt x="107136" y="163154"/>
                </a:cubicBezTo>
                <a:cubicBezTo>
                  <a:pt x="112812" y="161457"/>
                  <a:pt x="118244" y="159204"/>
                  <a:pt x="123360" y="156433"/>
                </a:cubicBezTo>
                <a:cubicBezTo>
                  <a:pt x="120597" y="145862"/>
                  <a:pt x="122794" y="137303"/>
                  <a:pt x="129981" y="130107"/>
                </a:cubicBezTo>
                <a:cubicBezTo>
                  <a:pt x="137169" y="122914"/>
                  <a:pt x="145721" y="118768"/>
                  <a:pt x="156283" y="121536"/>
                </a:cubicBezTo>
                <a:cubicBezTo>
                  <a:pt x="159050" y="116415"/>
                  <a:pt x="161299" y="110977"/>
                  <a:pt x="162996" y="105297"/>
                </a:cubicBezTo>
                <a:cubicBezTo>
                  <a:pt x="153575" y="99779"/>
                  <a:pt x="147319" y="91749"/>
                  <a:pt x="147319" y="81577"/>
                </a:cubicBezTo>
                <a:close/>
                <a:moveTo>
                  <a:pt x="81498" y="117056"/>
                </a:moveTo>
                <a:cubicBezTo>
                  <a:pt x="61924" y="117056"/>
                  <a:pt x="46057" y="101170"/>
                  <a:pt x="46057" y="81578"/>
                </a:cubicBezTo>
                <a:cubicBezTo>
                  <a:pt x="46057" y="61984"/>
                  <a:pt x="61925" y="46100"/>
                  <a:pt x="81498" y="46100"/>
                </a:cubicBezTo>
                <a:cubicBezTo>
                  <a:pt x="101073" y="46100"/>
                  <a:pt x="116939" y="61984"/>
                  <a:pt x="116939" y="81578"/>
                </a:cubicBezTo>
                <a:cubicBezTo>
                  <a:pt x="116939" y="101170"/>
                  <a:pt x="101073" y="117056"/>
                  <a:pt x="81498" y="117056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6" name="图形 1114"/>
          <p:cNvSpPr/>
          <p:nvPr/>
        </p:nvSpPr>
        <p:spPr>
          <a:xfrm>
            <a:off x="3895764" y="5445881"/>
            <a:ext cx="145757" cy="161951"/>
          </a:xfrm>
          <a:custGeom>
            <a:avLst/>
            <a:gdLst>
              <a:gd name="connsiteX0" fmla="*/ 45401 w 145757"/>
              <a:gd name="connsiteY0" fmla="*/ 17245 h 161951"/>
              <a:gd name="connsiteX1" fmla="*/ 60534 w 145757"/>
              <a:gd name="connsiteY1" fmla="*/ 0 h 161951"/>
              <a:gd name="connsiteX2" fmla="*/ 145758 w 145757"/>
              <a:gd name="connsiteY2" fmla="*/ 58482 h 161951"/>
              <a:gd name="connsiteX3" fmla="*/ 131422 w 145757"/>
              <a:gd name="connsiteY3" fmla="*/ 76477 h 161951"/>
              <a:gd name="connsiteX4" fmla="*/ 54956 w 145757"/>
              <a:gd name="connsiteY4" fmla="*/ 35239 h 161951"/>
              <a:gd name="connsiteX5" fmla="*/ 0 w 145757"/>
              <a:gd name="connsiteY5" fmla="*/ 77226 h 161951"/>
              <a:gd name="connsiteX6" fmla="*/ 0 w 145757"/>
              <a:gd name="connsiteY6" fmla="*/ 156702 h 161951"/>
              <a:gd name="connsiteX7" fmla="*/ 33453 w 145757"/>
              <a:gd name="connsiteY7" fmla="*/ 111715 h 161951"/>
              <a:gd name="connsiteX8" fmla="*/ 28673 w 145757"/>
              <a:gd name="connsiteY8" fmla="*/ 99720 h 161951"/>
              <a:gd name="connsiteX9" fmla="*/ 47784 w 145757"/>
              <a:gd name="connsiteY9" fmla="*/ 81725 h 161951"/>
              <a:gd name="connsiteX10" fmla="*/ 66894 w 145757"/>
              <a:gd name="connsiteY10" fmla="*/ 99720 h 161951"/>
              <a:gd name="connsiteX11" fmla="*/ 47784 w 145757"/>
              <a:gd name="connsiteY11" fmla="*/ 117714 h 161951"/>
              <a:gd name="connsiteX12" fmla="*/ 40616 w 145757"/>
              <a:gd name="connsiteY12" fmla="*/ 116214 h 161951"/>
              <a:gd name="connsiteX13" fmla="*/ 7170 w 145757"/>
              <a:gd name="connsiteY13" fmla="*/ 161951 h 161951"/>
              <a:gd name="connsiteX14" fmla="*/ 86817 w 145757"/>
              <a:gd name="connsiteY14" fmla="*/ 133459 h 161951"/>
              <a:gd name="connsiteX15" fmla="*/ 111508 w 145757"/>
              <a:gd name="connsiteY15" fmla="*/ 74227 h 16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5757" h="161951">
                <a:moveTo>
                  <a:pt x="45401" y="17245"/>
                </a:moveTo>
                <a:lnTo>
                  <a:pt x="60534" y="0"/>
                </a:lnTo>
                <a:lnTo>
                  <a:pt x="145758" y="58482"/>
                </a:lnTo>
                <a:lnTo>
                  <a:pt x="131422" y="76477"/>
                </a:lnTo>
                <a:close/>
                <a:moveTo>
                  <a:pt x="54956" y="35239"/>
                </a:moveTo>
                <a:cubicBezTo>
                  <a:pt x="35036" y="64481"/>
                  <a:pt x="0" y="77226"/>
                  <a:pt x="0" y="77226"/>
                </a:cubicBezTo>
                <a:lnTo>
                  <a:pt x="0" y="156702"/>
                </a:lnTo>
                <a:lnTo>
                  <a:pt x="33453" y="111715"/>
                </a:lnTo>
                <a:cubicBezTo>
                  <a:pt x="30293" y="108534"/>
                  <a:pt x="28568" y="104202"/>
                  <a:pt x="28673" y="99720"/>
                </a:cubicBezTo>
                <a:cubicBezTo>
                  <a:pt x="28673" y="89974"/>
                  <a:pt x="37435" y="81725"/>
                  <a:pt x="47784" y="81725"/>
                </a:cubicBezTo>
                <a:cubicBezTo>
                  <a:pt x="58132" y="81725"/>
                  <a:pt x="66894" y="89974"/>
                  <a:pt x="66894" y="99720"/>
                </a:cubicBezTo>
                <a:cubicBezTo>
                  <a:pt x="66894" y="109466"/>
                  <a:pt x="58132" y="117714"/>
                  <a:pt x="47784" y="117714"/>
                </a:cubicBezTo>
                <a:cubicBezTo>
                  <a:pt x="45298" y="117944"/>
                  <a:pt x="42801" y="117422"/>
                  <a:pt x="40616" y="116214"/>
                </a:cubicBezTo>
                <a:lnTo>
                  <a:pt x="7170" y="161951"/>
                </a:lnTo>
                <a:lnTo>
                  <a:pt x="86817" y="133459"/>
                </a:lnTo>
                <a:cubicBezTo>
                  <a:pt x="87614" y="99720"/>
                  <a:pt x="111508" y="74227"/>
                  <a:pt x="111508" y="74227"/>
                </a:cubicBezTo>
                <a:close/>
              </a:path>
            </a:pathLst>
          </a:custGeom>
          <a:solidFill>
            <a:schemeClr val="accent4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9" name="图形 1117"/>
          <p:cNvSpPr/>
          <p:nvPr/>
        </p:nvSpPr>
        <p:spPr>
          <a:xfrm>
            <a:off x="8260418" y="6176135"/>
            <a:ext cx="116347" cy="116425"/>
          </a:xfrm>
          <a:custGeom>
            <a:avLst/>
            <a:gdLst>
              <a:gd name="connsiteX0" fmla="*/ 46570 w 116347"/>
              <a:gd name="connsiteY0" fmla="*/ 0 h 116425"/>
              <a:gd name="connsiteX1" fmla="*/ 7762 w 116347"/>
              <a:gd name="connsiteY1" fmla="*/ 0 h 116425"/>
              <a:gd name="connsiteX2" fmla="*/ 0 w 116347"/>
              <a:gd name="connsiteY2" fmla="*/ 7762 h 116425"/>
              <a:gd name="connsiteX3" fmla="*/ 0 w 116347"/>
              <a:gd name="connsiteY3" fmla="*/ 46570 h 116425"/>
              <a:gd name="connsiteX4" fmla="*/ 7762 w 116347"/>
              <a:gd name="connsiteY4" fmla="*/ 54332 h 116425"/>
              <a:gd name="connsiteX5" fmla="*/ 46570 w 116347"/>
              <a:gd name="connsiteY5" fmla="*/ 54332 h 116425"/>
              <a:gd name="connsiteX6" fmla="*/ 54332 w 116347"/>
              <a:gd name="connsiteY6" fmla="*/ 46570 h 116425"/>
              <a:gd name="connsiteX7" fmla="*/ 54332 w 116347"/>
              <a:gd name="connsiteY7" fmla="*/ 7762 h 116425"/>
              <a:gd name="connsiteX8" fmla="*/ 46570 w 116347"/>
              <a:gd name="connsiteY8" fmla="*/ 0 h 116425"/>
              <a:gd name="connsiteX9" fmla="*/ 46570 w 116347"/>
              <a:gd name="connsiteY9" fmla="*/ 62094 h 116425"/>
              <a:gd name="connsiteX10" fmla="*/ 7762 w 116347"/>
              <a:gd name="connsiteY10" fmla="*/ 62094 h 116425"/>
              <a:gd name="connsiteX11" fmla="*/ 0 w 116347"/>
              <a:gd name="connsiteY11" fmla="*/ 69855 h 116425"/>
              <a:gd name="connsiteX12" fmla="*/ 0 w 116347"/>
              <a:gd name="connsiteY12" fmla="*/ 108664 h 116425"/>
              <a:gd name="connsiteX13" fmla="*/ 7762 w 116347"/>
              <a:gd name="connsiteY13" fmla="*/ 116426 h 116425"/>
              <a:gd name="connsiteX14" fmla="*/ 46570 w 116347"/>
              <a:gd name="connsiteY14" fmla="*/ 116426 h 116425"/>
              <a:gd name="connsiteX15" fmla="*/ 54332 w 116347"/>
              <a:gd name="connsiteY15" fmla="*/ 108664 h 116425"/>
              <a:gd name="connsiteX16" fmla="*/ 54332 w 116347"/>
              <a:gd name="connsiteY16" fmla="*/ 69855 h 116425"/>
              <a:gd name="connsiteX17" fmla="*/ 46570 w 116347"/>
              <a:gd name="connsiteY17" fmla="*/ 62094 h 116425"/>
              <a:gd name="connsiteX18" fmla="*/ 108586 w 116347"/>
              <a:gd name="connsiteY18" fmla="*/ 0 h 116425"/>
              <a:gd name="connsiteX19" fmla="*/ 69778 w 116347"/>
              <a:gd name="connsiteY19" fmla="*/ 0 h 116425"/>
              <a:gd name="connsiteX20" fmla="*/ 62016 w 116347"/>
              <a:gd name="connsiteY20" fmla="*/ 7762 h 116425"/>
              <a:gd name="connsiteX21" fmla="*/ 62016 w 116347"/>
              <a:gd name="connsiteY21" fmla="*/ 46570 h 116425"/>
              <a:gd name="connsiteX22" fmla="*/ 69778 w 116347"/>
              <a:gd name="connsiteY22" fmla="*/ 54332 h 116425"/>
              <a:gd name="connsiteX23" fmla="*/ 108586 w 116347"/>
              <a:gd name="connsiteY23" fmla="*/ 54332 h 116425"/>
              <a:gd name="connsiteX24" fmla="*/ 116348 w 116347"/>
              <a:gd name="connsiteY24" fmla="*/ 46570 h 116425"/>
              <a:gd name="connsiteX25" fmla="*/ 116348 w 116347"/>
              <a:gd name="connsiteY25" fmla="*/ 7762 h 116425"/>
              <a:gd name="connsiteX26" fmla="*/ 108586 w 116347"/>
              <a:gd name="connsiteY26" fmla="*/ 0 h 116425"/>
              <a:gd name="connsiteX27" fmla="*/ 70298 w 116347"/>
              <a:gd name="connsiteY27" fmla="*/ 73216 h 116425"/>
              <a:gd name="connsiteX28" fmla="*/ 66580 w 116347"/>
              <a:gd name="connsiteY28" fmla="*/ 76918 h 116425"/>
              <a:gd name="connsiteX29" fmla="*/ 66580 w 116347"/>
              <a:gd name="connsiteY29" fmla="*/ 76934 h 116425"/>
              <a:gd name="connsiteX30" fmla="*/ 66580 w 116347"/>
              <a:gd name="connsiteY30" fmla="*/ 110899 h 116425"/>
              <a:gd name="connsiteX31" fmla="*/ 70538 w 116347"/>
              <a:gd name="connsiteY31" fmla="*/ 114377 h 116425"/>
              <a:gd name="connsiteX32" fmla="*/ 74016 w 116347"/>
              <a:gd name="connsiteY32" fmla="*/ 110899 h 116425"/>
              <a:gd name="connsiteX33" fmla="*/ 74016 w 116347"/>
              <a:gd name="connsiteY33" fmla="*/ 76934 h 116425"/>
              <a:gd name="connsiteX34" fmla="*/ 70298 w 116347"/>
              <a:gd name="connsiteY34" fmla="*/ 73216 h 116425"/>
              <a:gd name="connsiteX35" fmla="*/ 89182 w 116347"/>
              <a:gd name="connsiteY35" fmla="*/ 83764 h 116425"/>
              <a:gd name="connsiteX36" fmla="*/ 85464 w 116347"/>
              <a:gd name="connsiteY36" fmla="*/ 87482 h 116425"/>
              <a:gd name="connsiteX37" fmla="*/ 85464 w 116347"/>
              <a:gd name="connsiteY37" fmla="*/ 110899 h 116425"/>
              <a:gd name="connsiteX38" fmla="*/ 89422 w 116347"/>
              <a:gd name="connsiteY38" fmla="*/ 114377 h 116425"/>
              <a:gd name="connsiteX39" fmla="*/ 92900 w 116347"/>
              <a:gd name="connsiteY39" fmla="*/ 110899 h 116425"/>
              <a:gd name="connsiteX40" fmla="*/ 92900 w 116347"/>
              <a:gd name="connsiteY40" fmla="*/ 87482 h 116425"/>
              <a:gd name="connsiteX41" fmla="*/ 89182 w 116347"/>
              <a:gd name="connsiteY41" fmla="*/ 83764 h 116425"/>
              <a:gd name="connsiteX42" fmla="*/ 108260 w 116347"/>
              <a:gd name="connsiteY42" fmla="*/ 63522 h 116425"/>
              <a:gd name="connsiteX43" fmla="*/ 104542 w 116347"/>
              <a:gd name="connsiteY43" fmla="*/ 67240 h 116425"/>
              <a:gd name="connsiteX44" fmla="*/ 104542 w 116347"/>
              <a:gd name="connsiteY44" fmla="*/ 110899 h 116425"/>
              <a:gd name="connsiteX45" fmla="*/ 108501 w 116347"/>
              <a:gd name="connsiteY45" fmla="*/ 114377 h 116425"/>
              <a:gd name="connsiteX46" fmla="*/ 111978 w 116347"/>
              <a:gd name="connsiteY46" fmla="*/ 110899 h 116425"/>
              <a:gd name="connsiteX47" fmla="*/ 111978 w 116347"/>
              <a:gd name="connsiteY47" fmla="*/ 67240 h 116425"/>
              <a:gd name="connsiteX48" fmla="*/ 108260 w 116347"/>
              <a:gd name="connsiteY48" fmla="*/ 63522 h 11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6347" h="116425">
                <a:moveTo>
                  <a:pt x="46570" y="0"/>
                </a:moveTo>
                <a:lnTo>
                  <a:pt x="7762" y="0"/>
                </a:lnTo>
                <a:cubicBezTo>
                  <a:pt x="3475" y="0"/>
                  <a:pt x="0" y="3475"/>
                  <a:pt x="0" y="7762"/>
                </a:cubicBezTo>
                <a:lnTo>
                  <a:pt x="0" y="46570"/>
                </a:lnTo>
                <a:cubicBezTo>
                  <a:pt x="0" y="50857"/>
                  <a:pt x="3475" y="54332"/>
                  <a:pt x="7762" y="54332"/>
                </a:cubicBezTo>
                <a:lnTo>
                  <a:pt x="46570" y="54332"/>
                </a:lnTo>
                <a:cubicBezTo>
                  <a:pt x="50857" y="54332"/>
                  <a:pt x="54332" y="50857"/>
                  <a:pt x="54332" y="46570"/>
                </a:cubicBezTo>
                <a:lnTo>
                  <a:pt x="54332" y="7762"/>
                </a:lnTo>
                <a:cubicBezTo>
                  <a:pt x="54332" y="3475"/>
                  <a:pt x="50857" y="0"/>
                  <a:pt x="46570" y="0"/>
                </a:cubicBezTo>
                <a:close/>
                <a:moveTo>
                  <a:pt x="46570" y="62094"/>
                </a:moveTo>
                <a:lnTo>
                  <a:pt x="7762" y="62094"/>
                </a:lnTo>
                <a:cubicBezTo>
                  <a:pt x="3475" y="62094"/>
                  <a:pt x="0" y="65569"/>
                  <a:pt x="0" y="69855"/>
                </a:cubicBezTo>
                <a:lnTo>
                  <a:pt x="0" y="108664"/>
                </a:lnTo>
                <a:cubicBezTo>
                  <a:pt x="0" y="112950"/>
                  <a:pt x="3475" y="116426"/>
                  <a:pt x="7762" y="116426"/>
                </a:cubicBezTo>
                <a:lnTo>
                  <a:pt x="46570" y="116426"/>
                </a:lnTo>
                <a:cubicBezTo>
                  <a:pt x="50857" y="116426"/>
                  <a:pt x="54332" y="112950"/>
                  <a:pt x="54332" y="108664"/>
                </a:cubicBezTo>
                <a:lnTo>
                  <a:pt x="54332" y="69855"/>
                </a:lnTo>
                <a:cubicBezTo>
                  <a:pt x="54332" y="65569"/>
                  <a:pt x="50857" y="62094"/>
                  <a:pt x="46570" y="62094"/>
                </a:cubicBezTo>
                <a:close/>
                <a:moveTo>
                  <a:pt x="108586" y="0"/>
                </a:moveTo>
                <a:lnTo>
                  <a:pt x="69778" y="0"/>
                </a:lnTo>
                <a:cubicBezTo>
                  <a:pt x="65491" y="0"/>
                  <a:pt x="62016" y="3475"/>
                  <a:pt x="62016" y="7762"/>
                </a:cubicBezTo>
                <a:lnTo>
                  <a:pt x="62016" y="46570"/>
                </a:lnTo>
                <a:cubicBezTo>
                  <a:pt x="62016" y="50857"/>
                  <a:pt x="65491" y="54332"/>
                  <a:pt x="69778" y="54332"/>
                </a:cubicBezTo>
                <a:lnTo>
                  <a:pt x="108586" y="54332"/>
                </a:lnTo>
                <a:cubicBezTo>
                  <a:pt x="112873" y="54332"/>
                  <a:pt x="116348" y="50857"/>
                  <a:pt x="116348" y="46570"/>
                </a:cubicBezTo>
                <a:lnTo>
                  <a:pt x="116348" y="7762"/>
                </a:lnTo>
                <a:cubicBezTo>
                  <a:pt x="116348" y="3475"/>
                  <a:pt x="112873" y="0"/>
                  <a:pt x="108586" y="0"/>
                </a:cubicBezTo>
                <a:close/>
                <a:moveTo>
                  <a:pt x="70298" y="73216"/>
                </a:moveTo>
                <a:cubicBezTo>
                  <a:pt x="68249" y="73212"/>
                  <a:pt x="66584" y="74869"/>
                  <a:pt x="66580" y="76918"/>
                </a:cubicBezTo>
                <a:cubicBezTo>
                  <a:pt x="66580" y="76924"/>
                  <a:pt x="66580" y="76929"/>
                  <a:pt x="66580" y="76934"/>
                </a:cubicBezTo>
                <a:lnTo>
                  <a:pt x="66580" y="110899"/>
                </a:lnTo>
                <a:cubicBezTo>
                  <a:pt x="66713" y="112952"/>
                  <a:pt x="68485" y="114509"/>
                  <a:pt x="70538" y="114377"/>
                </a:cubicBezTo>
                <a:cubicBezTo>
                  <a:pt x="72406" y="114256"/>
                  <a:pt x="73895" y="112767"/>
                  <a:pt x="74016" y="110899"/>
                </a:cubicBezTo>
                <a:lnTo>
                  <a:pt x="74016" y="76934"/>
                </a:lnTo>
                <a:cubicBezTo>
                  <a:pt x="74011" y="74882"/>
                  <a:pt x="72349" y="73220"/>
                  <a:pt x="70298" y="73216"/>
                </a:cubicBezTo>
                <a:close/>
                <a:moveTo>
                  <a:pt x="89182" y="83764"/>
                </a:moveTo>
                <a:cubicBezTo>
                  <a:pt x="87130" y="83769"/>
                  <a:pt x="85468" y="85431"/>
                  <a:pt x="85464" y="87482"/>
                </a:cubicBezTo>
                <a:lnTo>
                  <a:pt x="85464" y="110899"/>
                </a:lnTo>
                <a:cubicBezTo>
                  <a:pt x="85597" y="112952"/>
                  <a:pt x="87369" y="114509"/>
                  <a:pt x="89422" y="114377"/>
                </a:cubicBezTo>
                <a:cubicBezTo>
                  <a:pt x="91291" y="114256"/>
                  <a:pt x="92779" y="112767"/>
                  <a:pt x="92900" y="110899"/>
                </a:cubicBezTo>
                <a:lnTo>
                  <a:pt x="92900" y="87482"/>
                </a:lnTo>
                <a:cubicBezTo>
                  <a:pt x="92896" y="85431"/>
                  <a:pt x="91233" y="83769"/>
                  <a:pt x="89182" y="83764"/>
                </a:cubicBezTo>
                <a:close/>
                <a:moveTo>
                  <a:pt x="108260" y="63522"/>
                </a:moveTo>
                <a:cubicBezTo>
                  <a:pt x="106209" y="63526"/>
                  <a:pt x="104547" y="65188"/>
                  <a:pt x="104542" y="67240"/>
                </a:cubicBezTo>
                <a:lnTo>
                  <a:pt x="104542" y="110899"/>
                </a:lnTo>
                <a:cubicBezTo>
                  <a:pt x="104675" y="112952"/>
                  <a:pt x="106447" y="114509"/>
                  <a:pt x="108501" y="114377"/>
                </a:cubicBezTo>
                <a:cubicBezTo>
                  <a:pt x="110369" y="114256"/>
                  <a:pt x="111857" y="112767"/>
                  <a:pt x="111978" y="110899"/>
                </a:cubicBezTo>
                <a:lnTo>
                  <a:pt x="111978" y="67240"/>
                </a:lnTo>
                <a:cubicBezTo>
                  <a:pt x="111974" y="65188"/>
                  <a:pt x="110312" y="63526"/>
                  <a:pt x="108260" y="6352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1" name="任意多边形: 形状 1120"/>
          <p:cNvSpPr/>
          <p:nvPr/>
        </p:nvSpPr>
        <p:spPr>
          <a:xfrm>
            <a:off x="7822354" y="1301758"/>
            <a:ext cx="170407" cy="170220"/>
          </a:xfrm>
          <a:custGeom>
            <a:avLst/>
            <a:gdLst>
              <a:gd name="connsiteX0" fmla="*/ 96205 w 96205"/>
              <a:gd name="connsiteY0" fmla="*/ 48050 h 96100"/>
              <a:gd name="connsiteX1" fmla="*/ 48103 w 96205"/>
              <a:gd name="connsiteY1" fmla="*/ 96100 h 96100"/>
              <a:gd name="connsiteX2" fmla="*/ 0 w 96205"/>
              <a:gd name="connsiteY2" fmla="*/ 48050 h 96100"/>
              <a:gd name="connsiteX3" fmla="*/ 48103 w 96205"/>
              <a:gd name="connsiteY3" fmla="*/ 0 h 96100"/>
              <a:gd name="connsiteX4" fmla="*/ 96205 w 96205"/>
              <a:gd name="connsiteY4" fmla="*/ 48050 h 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205" h="96100">
                <a:moveTo>
                  <a:pt x="96205" y="48050"/>
                </a:moveTo>
                <a:cubicBezTo>
                  <a:pt x="96205" y="74584"/>
                  <a:pt x="74671" y="96100"/>
                  <a:pt x="48103" y="96100"/>
                </a:cubicBezTo>
                <a:cubicBezTo>
                  <a:pt x="21534" y="96100"/>
                  <a:pt x="0" y="74589"/>
                  <a:pt x="0" y="48050"/>
                </a:cubicBezTo>
                <a:cubicBezTo>
                  <a:pt x="0" y="21516"/>
                  <a:pt x="21534" y="0"/>
                  <a:pt x="48103" y="0"/>
                </a:cubicBezTo>
                <a:cubicBezTo>
                  <a:pt x="74671" y="0"/>
                  <a:pt x="96205" y="21511"/>
                  <a:pt x="96205" y="48050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2" name="任意多边形: 形状 1121"/>
          <p:cNvSpPr/>
          <p:nvPr/>
        </p:nvSpPr>
        <p:spPr>
          <a:xfrm>
            <a:off x="7760559" y="1475480"/>
            <a:ext cx="292513" cy="117417"/>
          </a:xfrm>
          <a:custGeom>
            <a:avLst/>
            <a:gdLst>
              <a:gd name="connsiteX0" fmla="*/ 122691 w 165142"/>
              <a:gd name="connsiteY0" fmla="*/ 282 h 66289"/>
              <a:gd name="connsiteX1" fmla="*/ 82990 w 165142"/>
              <a:gd name="connsiteY1" fmla="*/ 14032 h 66289"/>
              <a:gd name="connsiteX2" fmla="*/ 42935 w 165142"/>
              <a:gd name="connsiteY2" fmla="*/ 0 h 66289"/>
              <a:gd name="connsiteX3" fmla="*/ 0 w 165142"/>
              <a:gd name="connsiteY3" fmla="*/ 66289 h 66289"/>
              <a:gd name="connsiteX4" fmla="*/ 165143 w 165142"/>
              <a:gd name="connsiteY4" fmla="*/ 66289 h 66289"/>
              <a:gd name="connsiteX5" fmla="*/ 122691 w 165142"/>
              <a:gd name="connsiteY5" fmla="*/ 288 h 6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142" h="66289">
                <a:moveTo>
                  <a:pt x="122691" y="282"/>
                </a:moveTo>
                <a:cubicBezTo>
                  <a:pt x="111482" y="9122"/>
                  <a:pt x="97588" y="14032"/>
                  <a:pt x="82990" y="14032"/>
                </a:cubicBezTo>
                <a:cubicBezTo>
                  <a:pt x="68223" y="14032"/>
                  <a:pt x="54196" y="9009"/>
                  <a:pt x="42935" y="0"/>
                </a:cubicBezTo>
                <a:cubicBezTo>
                  <a:pt x="13256" y="10884"/>
                  <a:pt x="0" y="48918"/>
                  <a:pt x="0" y="66289"/>
                </a:cubicBezTo>
                <a:lnTo>
                  <a:pt x="165143" y="66289"/>
                </a:lnTo>
                <a:cubicBezTo>
                  <a:pt x="165143" y="49072"/>
                  <a:pt x="151784" y="11305"/>
                  <a:pt x="122691" y="288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6" name="图形 1124"/>
          <p:cNvSpPr/>
          <p:nvPr/>
        </p:nvSpPr>
        <p:spPr>
          <a:xfrm>
            <a:off x="3068741" y="1321137"/>
            <a:ext cx="223437" cy="279446"/>
          </a:xfrm>
          <a:custGeom>
            <a:avLst/>
            <a:gdLst>
              <a:gd name="connsiteX0" fmla="*/ 199604 w 223437"/>
              <a:gd name="connsiteY0" fmla="*/ 19960 h 279446"/>
              <a:gd name="connsiteX1" fmla="*/ 212415 w 223437"/>
              <a:gd name="connsiteY1" fmla="*/ 32324 h 279446"/>
              <a:gd name="connsiteX2" fmla="*/ 219714 w 223437"/>
              <a:gd name="connsiteY2" fmla="*/ 40666 h 279446"/>
              <a:gd name="connsiteX3" fmla="*/ 222842 w 223437"/>
              <a:gd name="connsiteY3" fmla="*/ 46475 h 279446"/>
              <a:gd name="connsiteX4" fmla="*/ 223438 w 223437"/>
              <a:gd name="connsiteY4" fmla="*/ 50646 h 279446"/>
              <a:gd name="connsiteX5" fmla="*/ 223438 w 223437"/>
              <a:gd name="connsiteY5" fmla="*/ 55413 h 279446"/>
              <a:gd name="connsiteX6" fmla="*/ 179346 w 223437"/>
              <a:gd name="connsiteY6" fmla="*/ 55413 h 279446"/>
              <a:gd name="connsiteX7" fmla="*/ 174132 w 223437"/>
              <a:gd name="connsiteY7" fmla="*/ 53178 h 279446"/>
              <a:gd name="connsiteX8" fmla="*/ 170409 w 223437"/>
              <a:gd name="connsiteY8" fmla="*/ 47965 h 279446"/>
              <a:gd name="connsiteX9" fmla="*/ 168174 w 223437"/>
              <a:gd name="connsiteY9" fmla="*/ 41857 h 279446"/>
              <a:gd name="connsiteX10" fmla="*/ 167429 w 223437"/>
              <a:gd name="connsiteY10" fmla="*/ 36942 h 279446"/>
              <a:gd name="connsiteX11" fmla="*/ 167429 w 223437"/>
              <a:gd name="connsiteY11" fmla="*/ 0 h 279446"/>
              <a:gd name="connsiteX12" fmla="*/ 168323 w 223437"/>
              <a:gd name="connsiteY12" fmla="*/ 0 h 279446"/>
              <a:gd name="connsiteX13" fmla="*/ 173239 w 223437"/>
              <a:gd name="connsiteY13" fmla="*/ 745 h 279446"/>
              <a:gd name="connsiteX14" fmla="*/ 179048 w 223437"/>
              <a:gd name="connsiteY14" fmla="*/ 3575 h 279446"/>
              <a:gd name="connsiteX15" fmla="*/ 187241 w 223437"/>
              <a:gd name="connsiteY15" fmla="*/ 9533 h 279446"/>
              <a:gd name="connsiteX16" fmla="*/ 199604 w 223437"/>
              <a:gd name="connsiteY16" fmla="*/ 19960 h 279446"/>
              <a:gd name="connsiteX17" fmla="*/ 148661 w 223437"/>
              <a:gd name="connsiteY17" fmla="*/ 37240 h 279446"/>
              <a:gd name="connsiteX18" fmla="*/ 150448 w 223437"/>
              <a:gd name="connsiteY18" fmla="*/ 49603 h 279446"/>
              <a:gd name="connsiteX19" fmla="*/ 156109 w 223437"/>
              <a:gd name="connsiteY19" fmla="*/ 61520 h 279446"/>
              <a:gd name="connsiteX20" fmla="*/ 165940 w 223437"/>
              <a:gd name="connsiteY20" fmla="*/ 70606 h 279446"/>
              <a:gd name="connsiteX21" fmla="*/ 179942 w 223437"/>
              <a:gd name="connsiteY21" fmla="*/ 74181 h 279446"/>
              <a:gd name="connsiteX22" fmla="*/ 223438 w 223437"/>
              <a:gd name="connsiteY22" fmla="*/ 74181 h 279446"/>
              <a:gd name="connsiteX23" fmla="*/ 223438 w 223437"/>
              <a:gd name="connsiteY23" fmla="*/ 242207 h 279446"/>
              <a:gd name="connsiteX24" fmla="*/ 220012 w 223437"/>
              <a:gd name="connsiteY24" fmla="*/ 257698 h 279446"/>
              <a:gd name="connsiteX25" fmla="*/ 210925 w 223437"/>
              <a:gd name="connsiteY25" fmla="*/ 269317 h 279446"/>
              <a:gd name="connsiteX26" fmla="*/ 198413 w 223437"/>
              <a:gd name="connsiteY26" fmla="*/ 276765 h 279446"/>
              <a:gd name="connsiteX27" fmla="*/ 185006 w 223437"/>
              <a:gd name="connsiteY27" fmla="*/ 279446 h 279446"/>
              <a:gd name="connsiteX28" fmla="*/ 38431 w 223437"/>
              <a:gd name="connsiteY28" fmla="*/ 279446 h 279446"/>
              <a:gd name="connsiteX29" fmla="*/ 26068 w 223437"/>
              <a:gd name="connsiteY29" fmla="*/ 276169 h 279446"/>
              <a:gd name="connsiteX30" fmla="*/ 13555 w 223437"/>
              <a:gd name="connsiteY30" fmla="*/ 267529 h 279446"/>
              <a:gd name="connsiteX31" fmla="*/ 3873 w 223437"/>
              <a:gd name="connsiteY31" fmla="*/ 255315 h 279446"/>
              <a:gd name="connsiteX32" fmla="*/ 0 w 223437"/>
              <a:gd name="connsiteY32" fmla="*/ 241015 h 279446"/>
              <a:gd name="connsiteX33" fmla="*/ 0 w 223437"/>
              <a:gd name="connsiteY33" fmla="*/ 38431 h 279446"/>
              <a:gd name="connsiteX34" fmla="*/ 2830 w 223437"/>
              <a:gd name="connsiteY34" fmla="*/ 25472 h 279446"/>
              <a:gd name="connsiteX35" fmla="*/ 10576 w 223437"/>
              <a:gd name="connsiteY35" fmla="*/ 13108 h 279446"/>
              <a:gd name="connsiteX36" fmla="*/ 21748 w 223437"/>
              <a:gd name="connsiteY36" fmla="*/ 3724 h 279446"/>
              <a:gd name="connsiteX37" fmla="*/ 34856 w 223437"/>
              <a:gd name="connsiteY37" fmla="*/ 0 h 279446"/>
              <a:gd name="connsiteX38" fmla="*/ 148661 w 223437"/>
              <a:gd name="connsiteY38" fmla="*/ 0 h 279446"/>
              <a:gd name="connsiteX39" fmla="*/ 148661 w 223437"/>
              <a:gd name="connsiteY39" fmla="*/ 37240 h 279446"/>
              <a:gd name="connsiteX40" fmla="*/ 167429 w 223437"/>
              <a:gd name="connsiteY40" fmla="*/ 223140 h 279446"/>
              <a:gd name="connsiteX41" fmla="*/ 180538 w 223437"/>
              <a:gd name="connsiteY41" fmla="*/ 217628 h 279446"/>
              <a:gd name="connsiteX42" fmla="*/ 185900 w 223437"/>
              <a:gd name="connsiteY42" fmla="*/ 204371 h 279446"/>
              <a:gd name="connsiteX43" fmla="*/ 180538 w 223437"/>
              <a:gd name="connsiteY43" fmla="*/ 191263 h 279446"/>
              <a:gd name="connsiteX44" fmla="*/ 167429 w 223437"/>
              <a:gd name="connsiteY44" fmla="*/ 185900 h 279446"/>
              <a:gd name="connsiteX45" fmla="*/ 55710 w 223437"/>
              <a:gd name="connsiteY45" fmla="*/ 185900 h 279446"/>
              <a:gd name="connsiteX46" fmla="*/ 42602 w 223437"/>
              <a:gd name="connsiteY46" fmla="*/ 191263 h 279446"/>
              <a:gd name="connsiteX47" fmla="*/ 37240 w 223437"/>
              <a:gd name="connsiteY47" fmla="*/ 204371 h 279446"/>
              <a:gd name="connsiteX48" fmla="*/ 42602 w 223437"/>
              <a:gd name="connsiteY48" fmla="*/ 217628 h 279446"/>
              <a:gd name="connsiteX49" fmla="*/ 55710 w 223437"/>
              <a:gd name="connsiteY49" fmla="*/ 223140 h 279446"/>
              <a:gd name="connsiteX50" fmla="*/ 167429 w 223437"/>
              <a:gd name="connsiteY50" fmla="*/ 223140 h 279446"/>
              <a:gd name="connsiteX51" fmla="*/ 185900 w 223437"/>
              <a:gd name="connsiteY51" fmla="*/ 130190 h 279446"/>
              <a:gd name="connsiteX52" fmla="*/ 180538 w 223437"/>
              <a:gd name="connsiteY52" fmla="*/ 116932 h 279446"/>
              <a:gd name="connsiteX53" fmla="*/ 167429 w 223437"/>
              <a:gd name="connsiteY53" fmla="*/ 111421 h 279446"/>
              <a:gd name="connsiteX54" fmla="*/ 55710 w 223437"/>
              <a:gd name="connsiteY54" fmla="*/ 111421 h 279446"/>
              <a:gd name="connsiteX55" fmla="*/ 42602 w 223437"/>
              <a:gd name="connsiteY55" fmla="*/ 116932 h 279446"/>
              <a:gd name="connsiteX56" fmla="*/ 37240 w 223437"/>
              <a:gd name="connsiteY56" fmla="*/ 130190 h 279446"/>
              <a:gd name="connsiteX57" fmla="*/ 42602 w 223437"/>
              <a:gd name="connsiteY57" fmla="*/ 143298 h 279446"/>
              <a:gd name="connsiteX58" fmla="*/ 55710 w 223437"/>
              <a:gd name="connsiteY58" fmla="*/ 148661 h 279446"/>
              <a:gd name="connsiteX59" fmla="*/ 167429 w 223437"/>
              <a:gd name="connsiteY59" fmla="*/ 148661 h 279446"/>
              <a:gd name="connsiteX60" fmla="*/ 180538 w 223437"/>
              <a:gd name="connsiteY60" fmla="*/ 143298 h 279446"/>
              <a:gd name="connsiteX61" fmla="*/ 185900 w 223437"/>
              <a:gd name="connsiteY61" fmla="*/ 130190 h 27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3437" h="279446">
                <a:moveTo>
                  <a:pt x="199604" y="19960"/>
                </a:moveTo>
                <a:cubicBezTo>
                  <a:pt x="204967" y="24926"/>
                  <a:pt x="209237" y="29047"/>
                  <a:pt x="212415" y="32324"/>
                </a:cubicBezTo>
                <a:cubicBezTo>
                  <a:pt x="215593" y="35601"/>
                  <a:pt x="218026" y="38382"/>
                  <a:pt x="219714" y="40666"/>
                </a:cubicBezTo>
                <a:cubicBezTo>
                  <a:pt x="221402" y="42950"/>
                  <a:pt x="222445" y="44886"/>
                  <a:pt x="222842" y="46475"/>
                </a:cubicBezTo>
                <a:cubicBezTo>
                  <a:pt x="223239" y="48064"/>
                  <a:pt x="223438" y="49454"/>
                  <a:pt x="223438" y="50646"/>
                </a:cubicBezTo>
                <a:lnTo>
                  <a:pt x="223438" y="55413"/>
                </a:lnTo>
                <a:lnTo>
                  <a:pt x="179346" y="55413"/>
                </a:lnTo>
                <a:cubicBezTo>
                  <a:pt x="177360" y="55413"/>
                  <a:pt x="175622" y="54668"/>
                  <a:pt x="174132" y="53178"/>
                </a:cubicBezTo>
                <a:cubicBezTo>
                  <a:pt x="172643" y="51689"/>
                  <a:pt x="171402" y="49951"/>
                  <a:pt x="170409" y="47965"/>
                </a:cubicBezTo>
                <a:cubicBezTo>
                  <a:pt x="169415" y="45979"/>
                  <a:pt x="168671" y="43943"/>
                  <a:pt x="168174" y="41857"/>
                </a:cubicBezTo>
                <a:cubicBezTo>
                  <a:pt x="167678" y="39772"/>
                  <a:pt x="167429" y="38133"/>
                  <a:pt x="167429" y="36942"/>
                </a:cubicBezTo>
                <a:lnTo>
                  <a:pt x="167429" y="0"/>
                </a:lnTo>
                <a:lnTo>
                  <a:pt x="168323" y="0"/>
                </a:lnTo>
                <a:cubicBezTo>
                  <a:pt x="169912" y="0"/>
                  <a:pt x="171551" y="248"/>
                  <a:pt x="173239" y="745"/>
                </a:cubicBezTo>
                <a:cubicBezTo>
                  <a:pt x="174927" y="1241"/>
                  <a:pt x="176863" y="2185"/>
                  <a:pt x="179048" y="3575"/>
                </a:cubicBezTo>
                <a:cubicBezTo>
                  <a:pt x="181233" y="4965"/>
                  <a:pt x="183964" y="6951"/>
                  <a:pt x="187241" y="9533"/>
                </a:cubicBezTo>
                <a:cubicBezTo>
                  <a:pt x="190518" y="12115"/>
                  <a:pt x="194639" y="15591"/>
                  <a:pt x="199604" y="19960"/>
                </a:cubicBezTo>
                <a:close/>
                <a:moveTo>
                  <a:pt x="148661" y="37240"/>
                </a:moveTo>
                <a:cubicBezTo>
                  <a:pt x="148661" y="41212"/>
                  <a:pt x="149256" y="45333"/>
                  <a:pt x="150448" y="49603"/>
                </a:cubicBezTo>
                <a:cubicBezTo>
                  <a:pt x="151640" y="53873"/>
                  <a:pt x="153527" y="57846"/>
                  <a:pt x="156109" y="61520"/>
                </a:cubicBezTo>
                <a:cubicBezTo>
                  <a:pt x="158690" y="65194"/>
                  <a:pt x="161968" y="68223"/>
                  <a:pt x="165940" y="70606"/>
                </a:cubicBezTo>
                <a:cubicBezTo>
                  <a:pt x="169912" y="72990"/>
                  <a:pt x="174579" y="74181"/>
                  <a:pt x="179942" y="74181"/>
                </a:cubicBezTo>
                <a:lnTo>
                  <a:pt x="223438" y="74181"/>
                </a:lnTo>
                <a:lnTo>
                  <a:pt x="223438" y="242207"/>
                </a:lnTo>
                <a:cubicBezTo>
                  <a:pt x="223438" y="247966"/>
                  <a:pt x="222296" y="253130"/>
                  <a:pt x="220012" y="257698"/>
                </a:cubicBezTo>
                <a:cubicBezTo>
                  <a:pt x="217728" y="262266"/>
                  <a:pt x="214699" y="266139"/>
                  <a:pt x="210925" y="269317"/>
                </a:cubicBezTo>
                <a:cubicBezTo>
                  <a:pt x="207152" y="272495"/>
                  <a:pt x="202981" y="274977"/>
                  <a:pt x="198413" y="276765"/>
                </a:cubicBezTo>
                <a:cubicBezTo>
                  <a:pt x="193845" y="278552"/>
                  <a:pt x="189376" y="279446"/>
                  <a:pt x="185006" y="279446"/>
                </a:cubicBezTo>
                <a:lnTo>
                  <a:pt x="38431" y="279446"/>
                </a:lnTo>
                <a:cubicBezTo>
                  <a:pt x="34658" y="279446"/>
                  <a:pt x="30536" y="278354"/>
                  <a:pt x="26068" y="276169"/>
                </a:cubicBezTo>
                <a:cubicBezTo>
                  <a:pt x="21599" y="273984"/>
                  <a:pt x="17428" y="271104"/>
                  <a:pt x="13555" y="267529"/>
                </a:cubicBezTo>
                <a:cubicBezTo>
                  <a:pt x="9682" y="263954"/>
                  <a:pt x="6455" y="259883"/>
                  <a:pt x="3873" y="255315"/>
                </a:cubicBezTo>
                <a:cubicBezTo>
                  <a:pt x="1291" y="250747"/>
                  <a:pt x="0" y="245980"/>
                  <a:pt x="0" y="241015"/>
                </a:cubicBezTo>
                <a:lnTo>
                  <a:pt x="0" y="38431"/>
                </a:lnTo>
                <a:cubicBezTo>
                  <a:pt x="0" y="34260"/>
                  <a:pt x="943" y="29941"/>
                  <a:pt x="2830" y="25472"/>
                </a:cubicBezTo>
                <a:cubicBezTo>
                  <a:pt x="4717" y="21003"/>
                  <a:pt x="7299" y="16882"/>
                  <a:pt x="10576" y="13108"/>
                </a:cubicBezTo>
                <a:cubicBezTo>
                  <a:pt x="13853" y="9335"/>
                  <a:pt x="17577" y="6207"/>
                  <a:pt x="21748" y="3724"/>
                </a:cubicBezTo>
                <a:cubicBezTo>
                  <a:pt x="25919" y="1241"/>
                  <a:pt x="30288" y="0"/>
                  <a:pt x="34856" y="0"/>
                </a:cubicBezTo>
                <a:lnTo>
                  <a:pt x="148661" y="0"/>
                </a:lnTo>
                <a:lnTo>
                  <a:pt x="148661" y="37240"/>
                </a:lnTo>
                <a:close/>
                <a:moveTo>
                  <a:pt x="167429" y="223140"/>
                </a:moveTo>
                <a:cubicBezTo>
                  <a:pt x="172593" y="223140"/>
                  <a:pt x="176963" y="221303"/>
                  <a:pt x="180538" y="217628"/>
                </a:cubicBezTo>
                <a:cubicBezTo>
                  <a:pt x="184113" y="213954"/>
                  <a:pt x="185900" y="209535"/>
                  <a:pt x="185900" y="204371"/>
                </a:cubicBezTo>
                <a:cubicBezTo>
                  <a:pt x="185900" y="199207"/>
                  <a:pt x="184113" y="194838"/>
                  <a:pt x="180538" y="191263"/>
                </a:cubicBezTo>
                <a:cubicBezTo>
                  <a:pt x="176963" y="187688"/>
                  <a:pt x="172593" y="185900"/>
                  <a:pt x="167429" y="185900"/>
                </a:cubicBezTo>
                <a:lnTo>
                  <a:pt x="55710" y="185900"/>
                </a:lnTo>
                <a:cubicBezTo>
                  <a:pt x="50547" y="185900"/>
                  <a:pt x="46177" y="187688"/>
                  <a:pt x="42602" y="191263"/>
                </a:cubicBezTo>
                <a:cubicBezTo>
                  <a:pt x="39027" y="194838"/>
                  <a:pt x="37240" y="199207"/>
                  <a:pt x="37240" y="204371"/>
                </a:cubicBezTo>
                <a:cubicBezTo>
                  <a:pt x="37240" y="209535"/>
                  <a:pt x="39027" y="213954"/>
                  <a:pt x="42602" y="217628"/>
                </a:cubicBezTo>
                <a:cubicBezTo>
                  <a:pt x="46177" y="221303"/>
                  <a:pt x="50547" y="223140"/>
                  <a:pt x="55710" y="223140"/>
                </a:cubicBezTo>
                <a:lnTo>
                  <a:pt x="167429" y="223140"/>
                </a:lnTo>
                <a:close/>
                <a:moveTo>
                  <a:pt x="185900" y="130190"/>
                </a:moveTo>
                <a:cubicBezTo>
                  <a:pt x="185900" y="125026"/>
                  <a:pt x="184113" y="120607"/>
                  <a:pt x="180538" y="116932"/>
                </a:cubicBezTo>
                <a:cubicBezTo>
                  <a:pt x="176963" y="113258"/>
                  <a:pt x="172593" y="111421"/>
                  <a:pt x="167429" y="111421"/>
                </a:cubicBezTo>
                <a:lnTo>
                  <a:pt x="55710" y="111421"/>
                </a:lnTo>
                <a:cubicBezTo>
                  <a:pt x="50547" y="111421"/>
                  <a:pt x="46177" y="113258"/>
                  <a:pt x="42602" y="116932"/>
                </a:cubicBezTo>
                <a:cubicBezTo>
                  <a:pt x="39027" y="120607"/>
                  <a:pt x="37240" y="125026"/>
                  <a:pt x="37240" y="130190"/>
                </a:cubicBezTo>
                <a:cubicBezTo>
                  <a:pt x="37240" y="135354"/>
                  <a:pt x="39027" y="139723"/>
                  <a:pt x="42602" y="143298"/>
                </a:cubicBezTo>
                <a:cubicBezTo>
                  <a:pt x="46177" y="146873"/>
                  <a:pt x="50547" y="148661"/>
                  <a:pt x="55710" y="148661"/>
                </a:cubicBezTo>
                <a:lnTo>
                  <a:pt x="167429" y="148661"/>
                </a:lnTo>
                <a:cubicBezTo>
                  <a:pt x="172593" y="148661"/>
                  <a:pt x="176963" y="146873"/>
                  <a:pt x="180538" y="143298"/>
                </a:cubicBezTo>
                <a:cubicBezTo>
                  <a:pt x="184113" y="139723"/>
                  <a:pt x="185900" y="135354"/>
                  <a:pt x="185900" y="130190"/>
                </a:cubicBezTo>
                <a:close/>
              </a:path>
            </a:pathLst>
          </a:custGeom>
          <a:solidFill>
            <a:schemeClr val="accent1"/>
          </a:solidFill>
          <a:ln w="2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9" name="图形 1127"/>
          <p:cNvSpPr/>
          <p:nvPr/>
        </p:nvSpPr>
        <p:spPr>
          <a:xfrm>
            <a:off x="5445779" y="1326893"/>
            <a:ext cx="272574" cy="284960"/>
          </a:xfrm>
          <a:custGeom>
            <a:avLst/>
            <a:gdLst>
              <a:gd name="connsiteX0" fmla="*/ 3890 w 272574"/>
              <a:gd name="connsiteY0" fmla="*/ 83131 h 284960"/>
              <a:gd name="connsiteX1" fmla="*/ 5538 w 272574"/>
              <a:gd name="connsiteY1" fmla="*/ 83515 h 284960"/>
              <a:gd name="connsiteX2" fmla="*/ 62903 w 272574"/>
              <a:gd name="connsiteY2" fmla="*/ 110265 h 284960"/>
              <a:gd name="connsiteX3" fmla="*/ 96256 w 272574"/>
              <a:gd name="connsiteY3" fmla="*/ 208157 h 284960"/>
              <a:gd name="connsiteX4" fmla="*/ 128321 w 272574"/>
              <a:gd name="connsiteY4" fmla="*/ 218713 h 284960"/>
              <a:gd name="connsiteX5" fmla="*/ 128321 w 272574"/>
              <a:gd name="connsiteY5" fmla="*/ 281033 h 284960"/>
              <a:gd name="connsiteX6" fmla="*/ 126425 w 272574"/>
              <a:gd name="connsiteY6" fmla="*/ 284403 h 284960"/>
              <a:gd name="connsiteX7" fmla="*/ 122572 w 272574"/>
              <a:gd name="connsiteY7" fmla="*/ 284490 h 284960"/>
              <a:gd name="connsiteX8" fmla="*/ 5167 w 272574"/>
              <a:gd name="connsiteY8" fmla="*/ 221476 h 284960"/>
              <a:gd name="connsiteX9" fmla="*/ 0 w 272574"/>
              <a:gd name="connsiteY9" fmla="*/ 212815 h 284960"/>
              <a:gd name="connsiteX10" fmla="*/ 0 w 272574"/>
              <a:gd name="connsiteY10" fmla="*/ 87059 h 284960"/>
              <a:gd name="connsiteX11" fmla="*/ 3890 w 272574"/>
              <a:gd name="connsiteY11" fmla="*/ 83144 h 284960"/>
              <a:gd name="connsiteX12" fmla="*/ 272191 w 272574"/>
              <a:gd name="connsiteY12" fmla="*/ 85436 h 284960"/>
              <a:gd name="connsiteX13" fmla="*/ 272575 w 272574"/>
              <a:gd name="connsiteY13" fmla="*/ 87096 h 284960"/>
              <a:gd name="connsiteX14" fmla="*/ 272575 w 272574"/>
              <a:gd name="connsiteY14" fmla="*/ 212815 h 284960"/>
              <a:gd name="connsiteX15" fmla="*/ 267408 w 272574"/>
              <a:gd name="connsiteY15" fmla="*/ 221451 h 284960"/>
              <a:gd name="connsiteX16" fmla="*/ 150065 w 272574"/>
              <a:gd name="connsiteY16" fmla="*/ 284465 h 284960"/>
              <a:gd name="connsiteX17" fmla="*/ 146212 w 272574"/>
              <a:gd name="connsiteY17" fmla="*/ 284378 h 284960"/>
              <a:gd name="connsiteX18" fmla="*/ 144316 w 272574"/>
              <a:gd name="connsiteY18" fmla="*/ 281008 h 284960"/>
              <a:gd name="connsiteX19" fmla="*/ 144316 w 272574"/>
              <a:gd name="connsiteY19" fmla="*/ 218688 h 284960"/>
              <a:gd name="connsiteX20" fmla="*/ 203713 w 272574"/>
              <a:gd name="connsiteY20" fmla="*/ 181048 h 284960"/>
              <a:gd name="connsiteX21" fmla="*/ 209907 w 272574"/>
              <a:gd name="connsiteY21" fmla="*/ 110711 h 284960"/>
              <a:gd name="connsiteX22" fmla="*/ 266987 w 272574"/>
              <a:gd name="connsiteY22" fmla="*/ 83553 h 284960"/>
              <a:gd name="connsiteX23" fmla="*/ 272161 w 272574"/>
              <a:gd name="connsiteY23" fmla="*/ 85372 h 284960"/>
              <a:gd name="connsiteX24" fmla="*/ 272191 w 272574"/>
              <a:gd name="connsiteY24" fmla="*/ 85436 h 284960"/>
              <a:gd name="connsiteX25" fmla="*/ 179193 w 272574"/>
              <a:gd name="connsiteY25" fmla="*/ 100638 h 284960"/>
              <a:gd name="connsiteX26" fmla="*/ 203799 w 272574"/>
              <a:gd name="connsiteY26" fmla="*/ 132108 h 284960"/>
              <a:gd name="connsiteX27" fmla="*/ 204691 w 272574"/>
              <a:gd name="connsiteY27" fmla="*/ 136023 h 284960"/>
              <a:gd name="connsiteX28" fmla="*/ 201074 w 272574"/>
              <a:gd name="connsiteY28" fmla="*/ 138823 h 284960"/>
              <a:gd name="connsiteX29" fmla="*/ 191385 w 272574"/>
              <a:gd name="connsiteY29" fmla="*/ 138823 h 284960"/>
              <a:gd name="connsiteX30" fmla="*/ 179342 w 272574"/>
              <a:gd name="connsiteY30" fmla="*/ 173118 h 284960"/>
              <a:gd name="connsiteX31" fmla="*/ 158032 w 272574"/>
              <a:gd name="connsiteY31" fmla="*/ 190960 h 284960"/>
              <a:gd name="connsiteX32" fmla="*/ 124852 w 272574"/>
              <a:gd name="connsiteY32" fmla="*/ 201664 h 284960"/>
              <a:gd name="connsiteX33" fmla="*/ 123873 w 272574"/>
              <a:gd name="connsiteY33" fmla="*/ 200252 h 284960"/>
              <a:gd name="connsiteX34" fmla="*/ 127193 w 272574"/>
              <a:gd name="connsiteY34" fmla="*/ 198195 h 284960"/>
              <a:gd name="connsiteX35" fmla="*/ 147723 w 272574"/>
              <a:gd name="connsiteY35" fmla="*/ 178867 h 284960"/>
              <a:gd name="connsiteX36" fmla="*/ 155157 w 272574"/>
              <a:gd name="connsiteY36" fmla="*/ 160344 h 284960"/>
              <a:gd name="connsiteX37" fmla="*/ 156644 w 272574"/>
              <a:gd name="connsiteY37" fmla="*/ 138737 h 284960"/>
              <a:gd name="connsiteX38" fmla="*/ 146236 w 272574"/>
              <a:gd name="connsiteY38" fmla="*/ 138687 h 284960"/>
              <a:gd name="connsiteX39" fmla="*/ 143845 w 272574"/>
              <a:gd name="connsiteY39" fmla="*/ 132889 h 284960"/>
              <a:gd name="connsiteX40" fmla="*/ 167225 w 272574"/>
              <a:gd name="connsiteY40" fmla="*/ 102596 h 284960"/>
              <a:gd name="connsiteX41" fmla="*/ 170929 w 272574"/>
              <a:gd name="connsiteY41" fmla="*/ 98817 h 284960"/>
              <a:gd name="connsiteX42" fmla="*/ 179193 w 272574"/>
              <a:gd name="connsiteY42" fmla="*/ 100638 h 284960"/>
              <a:gd name="connsiteX43" fmla="*/ 148330 w 272574"/>
              <a:gd name="connsiteY43" fmla="*/ 79377 h 284960"/>
              <a:gd name="connsiteX44" fmla="*/ 127701 w 272574"/>
              <a:gd name="connsiteY44" fmla="*/ 97157 h 284960"/>
              <a:gd name="connsiteX45" fmla="*/ 119128 w 272574"/>
              <a:gd name="connsiteY45" fmla="*/ 114044 h 284960"/>
              <a:gd name="connsiteX46" fmla="*/ 115708 w 272574"/>
              <a:gd name="connsiteY46" fmla="*/ 140731 h 284960"/>
              <a:gd name="connsiteX47" fmla="*/ 126041 w 272574"/>
              <a:gd name="connsiteY47" fmla="*/ 140694 h 284960"/>
              <a:gd name="connsiteX48" fmla="*/ 129287 w 272574"/>
              <a:gd name="connsiteY48" fmla="*/ 144808 h 284960"/>
              <a:gd name="connsiteX49" fmla="*/ 127751 w 272574"/>
              <a:gd name="connsiteY49" fmla="*/ 147657 h 284960"/>
              <a:gd name="connsiteX50" fmla="*/ 104632 w 272574"/>
              <a:gd name="connsiteY50" fmla="*/ 177839 h 284960"/>
              <a:gd name="connsiteX51" fmla="*/ 101410 w 272574"/>
              <a:gd name="connsiteY51" fmla="*/ 180639 h 284960"/>
              <a:gd name="connsiteX52" fmla="*/ 93605 w 272574"/>
              <a:gd name="connsiteY52" fmla="*/ 178644 h 284960"/>
              <a:gd name="connsiteX53" fmla="*/ 68763 w 272574"/>
              <a:gd name="connsiteY53" fmla="*/ 146790 h 284960"/>
              <a:gd name="connsiteX54" fmla="*/ 68045 w 272574"/>
              <a:gd name="connsiteY54" fmla="*/ 142862 h 284960"/>
              <a:gd name="connsiteX55" fmla="*/ 71353 w 272574"/>
              <a:gd name="connsiteY55" fmla="*/ 140558 h 284960"/>
              <a:gd name="connsiteX56" fmla="*/ 81265 w 272574"/>
              <a:gd name="connsiteY56" fmla="*/ 140533 h 284960"/>
              <a:gd name="connsiteX57" fmla="*/ 88636 w 272574"/>
              <a:gd name="connsiteY57" fmla="*/ 113437 h 284960"/>
              <a:gd name="connsiteX58" fmla="*/ 103938 w 272574"/>
              <a:gd name="connsiteY58" fmla="*/ 95447 h 284960"/>
              <a:gd name="connsiteX59" fmla="*/ 147575 w 272574"/>
              <a:gd name="connsiteY59" fmla="*/ 77754 h 284960"/>
              <a:gd name="connsiteX60" fmla="*/ 148318 w 272574"/>
              <a:gd name="connsiteY60" fmla="*/ 79377 h 284960"/>
              <a:gd name="connsiteX61" fmla="*/ 144762 w 272574"/>
              <a:gd name="connsiteY61" fmla="*/ 2028 h 284960"/>
              <a:gd name="connsiteX62" fmla="*/ 260805 w 272574"/>
              <a:gd name="connsiteY62" fmla="*/ 59826 h 284960"/>
              <a:gd name="connsiteX63" fmla="*/ 262589 w 272574"/>
              <a:gd name="connsiteY63" fmla="*/ 65086 h 284960"/>
              <a:gd name="connsiteX64" fmla="*/ 260767 w 272574"/>
              <a:gd name="connsiteY64" fmla="*/ 66888 h 284960"/>
              <a:gd name="connsiteX65" fmla="*/ 201891 w 272574"/>
              <a:gd name="connsiteY65" fmla="*/ 95286 h 284960"/>
              <a:gd name="connsiteX66" fmla="*/ 178896 w 272574"/>
              <a:gd name="connsiteY66" fmla="*/ 72699 h 284960"/>
              <a:gd name="connsiteX67" fmla="*/ 148838 w 272574"/>
              <a:gd name="connsiteY67" fmla="*/ 61177 h 284960"/>
              <a:gd name="connsiteX68" fmla="*/ 114110 w 272574"/>
              <a:gd name="connsiteY68" fmla="*/ 63370 h 284960"/>
              <a:gd name="connsiteX69" fmla="*/ 69209 w 272574"/>
              <a:gd name="connsiteY69" fmla="*/ 97665 h 284960"/>
              <a:gd name="connsiteX70" fmla="*/ 7037 w 272574"/>
              <a:gd name="connsiteY70" fmla="*/ 65203 h 284960"/>
              <a:gd name="connsiteX71" fmla="*/ 5373 w 272574"/>
              <a:gd name="connsiteY71" fmla="*/ 59904 h 284960"/>
              <a:gd name="connsiteX72" fmla="*/ 7186 w 272574"/>
              <a:gd name="connsiteY72" fmla="*/ 58166 h 284960"/>
              <a:gd name="connsiteX73" fmla="*/ 127912 w 272574"/>
              <a:gd name="connsiteY73" fmla="*/ 1830 h 284960"/>
              <a:gd name="connsiteX74" fmla="*/ 144762 w 272574"/>
              <a:gd name="connsiteY74" fmla="*/ 2028 h 2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272574" h="284960">
                <a:moveTo>
                  <a:pt x="3890" y="83131"/>
                </a:moveTo>
                <a:cubicBezTo>
                  <a:pt x="4460" y="83144"/>
                  <a:pt x="5018" y="83268"/>
                  <a:pt x="5538" y="83515"/>
                </a:cubicBezTo>
                <a:cubicBezTo>
                  <a:pt x="24631" y="92461"/>
                  <a:pt x="43761" y="101382"/>
                  <a:pt x="62903" y="110265"/>
                </a:cubicBezTo>
                <a:cubicBezTo>
                  <a:pt x="48469" y="146659"/>
                  <a:pt x="62605" y="188147"/>
                  <a:pt x="96256" y="208157"/>
                </a:cubicBezTo>
                <a:cubicBezTo>
                  <a:pt x="106055" y="213954"/>
                  <a:pt x="116995" y="217555"/>
                  <a:pt x="128321" y="218713"/>
                </a:cubicBezTo>
                <a:lnTo>
                  <a:pt x="128321" y="281033"/>
                </a:lnTo>
                <a:cubicBezTo>
                  <a:pt x="128326" y="282412"/>
                  <a:pt x="127606" y="283692"/>
                  <a:pt x="126425" y="284403"/>
                </a:cubicBezTo>
                <a:cubicBezTo>
                  <a:pt x="125247" y="285113"/>
                  <a:pt x="123781" y="285146"/>
                  <a:pt x="122572" y="284490"/>
                </a:cubicBezTo>
                <a:lnTo>
                  <a:pt x="5167" y="221476"/>
                </a:lnTo>
                <a:cubicBezTo>
                  <a:pt x="1977" y="219764"/>
                  <a:pt x="-9" y="216434"/>
                  <a:pt x="0" y="212815"/>
                </a:cubicBezTo>
                <a:lnTo>
                  <a:pt x="0" y="87059"/>
                </a:lnTo>
                <a:cubicBezTo>
                  <a:pt x="0" y="84903"/>
                  <a:pt x="1759" y="83144"/>
                  <a:pt x="3890" y="83144"/>
                </a:cubicBezTo>
                <a:close/>
                <a:moveTo>
                  <a:pt x="272191" y="85436"/>
                </a:moveTo>
                <a:cubicBezTo>
                  <a:pt x="272438" y="85955"/>
                  <a:pt x="272569" y="86521"/>
                  <a:pt x="272575" y="87096"/>
                </a:cubicBezTo>
                <a:lnTo>
                  <a:pt x="272575" y="212815"/>
                </a:lnTo>
                <a:cubicBezTo>
                  <a:pt x="272575" y="216433"/>
                  <a:pt x="270593" y="219753"/>
                  <a:pt x="267408" y="221451"/>
                </a:cubicBezTo>
                <a:lnTo>
                  <a:pt x="150065" y="284465"/>
                </a:lnTo>
                <a:cubicBezTo>
                  <a:pt x="148856" y="285122"/>
                  <a:pt x="147390" y="285089"/>
                  <a:pt x="146212" y="284378"/>
                </a:cubicBezTo>
                <a:cubicBezTo>
                  <a:pt x="145030" y="283667"/>
                  <a:pt x="144310" y="282387"/>
                  <a:pt x="144316" y="281008"/>
                </a:cubicBezTo>
                <a:lnTo>
                  <a:pt x="144316" y="218688"/>
                </a:lnTo>
                <a:cubicBezTo>
                  <a:pt x="168915" y="216131"/>
                  <a:pt x="190897" y="202200"/>
                  <a:pt x="203713" y="181048"/>
                </a:cubicBezTo>
                <a:cubicBezTo>
                  <a:pt x="216589" y="159837"/>
                  <a:pt x="218878" y="133846"/>
                  <a:pt x="209907" y="110711"/>
                </a:cubicBezTo>
                <a:lnTo>
                  <a:pt x="266987" y="83553"/>
                </a:lnTo>
                <a:cubicBezTo>
                  <a:pt x="268918" y="82626"/>
                  <a:pt x="271235" y="83441"/>
                  <a:pt x="272161" y="85372"/>
                </a:cubicBezTo>
                <a:cubicBezTo>
                  <a:pt x="272171" y="85393"/>
                  <a:pt x="272181" y="85415"/>
                  <a:pt x="272191" y="85436"/>
                </a:cubicBezTo>
                <a:close/>
                <a:moveTo>
                  <a:pt x="179193" y="100638"/>
                </a:moveTo>
                <a:lnTo>
                  <a:pt x="203799" y="132108"/>
                </a:lnTo>
                <a:cubicBezTo>
                  <a:pt x="204518" y="133248"/>
                  <a:pt x="205100" y="134660"/>
                  <a:pt x="204691" y="136023"/>
                </a:cubicBezTo>
                <a:cubicBezTo>
                  <a:pt x="204263" y="137671"/>
                  <a:pt x="202776" y="138822"/>
                  <a:pt x="201074" y="138823"/>
                </a:cubicBezTo>
                <a:lnTo>
                  <a:pt x="191385" y="138823"/>
                </a:lnTo>
                <a:cubicBezTo>
                  <a:pt x="191048" y="151232"/>
                  <a:pt x="186837" y="163224"/>
                  <a:pt x="179342" y="173118"/>
                </a:cubicBezTo>
                <a:cubicBezTo>
                  <a:pt x="173592" y="180517"/>
                  <a:pt x="166326" y="186600"/>
                  <a:pt x="158032" y="190960"/>
                </a:cubicBezTo>
                <a:cubicBezTo>
                  <a:pt x="147748" y="196535"/>
                  <a:pt x="136349" y="199781"/>
                  <a:pt x="124852" y="201664"/>
                </a:cubicBezTo>
                <a:cubicBezTo>
                  <a:pt x="124034" y="201986"/>
                  <a:pt x="123328" y="200884"/>
                  <a:pt x="123873" y="200252"/>
                </a:cubicBezTo>
                <a:cubicBezTo>
                  <a:pt x="124951" y="199471"/>
                  <a:pt x="126115" y="198889"/>
                  <a:pt x="127193" y="198195"/>
                </a:cubicBezTo>
                <a:cubicBezTo>
                  <a:pt x="135172" y="193165"/>
                  <a:pt x="142557" y="186834"/>
                  <a:pt x="147723" y="178867"/>
                </a:cubicBezTo>
                <a:cubicBezTo>
                  <a:pt x="151391" y="173255"/>
                  <a:pt x="153881" y="166911"/>
                  <a:pt x="155157" y="160344"/>
                </a:cubicBezTo>
                <a:cubicBezTo>
                  <a:pt x="156570" y="153233"/>
                  <a:pt x="156669" y="145960"/>
                  <a:pt x="156644" y="138737"/>
                </a:cubicBezTo>
                <a:cubicBezTo>
                  <a:pt x="153175" y="138687"/>
                  <a:pt x="149706" y="138786"/>
                  <a:pt x="146236" y="138687"/>
                </a:cubicBezTo>
                <a:cubicBezTo>
                  <a:pt x="143635" y="138377"/>
                  <a:pt x="142247" y="134970"/>
                  <a:pt x="143845" y="132889"/>
                </a:cubicBezTo>
                <a:cubicBezTo>
                  <a:pt x="151626" y="122779"/>
                  <a:pt x="159432" y="112706"/>
                  <a:pt x="167225" y="102596"/>
                </a:cubicBezTo>
                <a:cubicBezTo>
                  <a:pt x="168315" y="101233"/>
                  <a:pt x="169294" y="99597"/>
                  <a:pt x="170929" y="98817"/>
                </a:cubicBezTo>
                <a:cubicBezTo>
                  <a:pt x="173764" y="97363"/>
                  <a:pt x="177232" y="98127"/>
                  <a:pt x="179193" y="100638"/>
                </a:cubicBezTo>
                <a:close/>
                <a:moveTo>
                  <a:pt x="148330" y="79377"/>
                </a:moveTo>
                <a:cubicBezTo>
                  <a:pt x="140525" y="84085"/>
                  <a:pt x="133227" y="89822"/>
                  <a:pt x="127701" y="97157"/>
                </a:cubicBezTo>
                <a:cubicBezTo>
                  <a:pt x="123853" y="102226"/>
                  <a:pt x="120949" y="107946"/>
                  <a:pt x="119128" y="114044"/>
                </a:cubicBezTo>
                <a:cubicBezTo>
                  <a:pt x="116489" y="122667"/>
                  <a:pt x="116105" y="131774"/>
                  <a:pt x="115708" y="140731"/>
                </a:cubicBezTo>
                <a:cubicBezTo>
                  <a:pt x="119165" y="140707"/>
                  <a:pt x="122609" y="140793"/>
                  <a:pt x="126041" y="140694"/>
                </a:cubicBezTo>
                <a:cubicBezTo>
                  <a:pt x="128048" y="140793"/>
                  <a:pt x="129609" y="142850"/>
                  <a:pt x="129287" y="144808"/>
                </a:cubicBezTo>
                <a:cubicBezTo>
                  <a:pt x="129201" y="145935"/>
                  <a:pt x="128420" y="146802"/>
                  <a:pt x="127751" y="147657"/>
                </a:cubicBezTo>
                <a:lnTo>
                  <a:pt x="104632" y="177839"/>
                </a:lnTo>
                <a:cubicBezTo>
                  <a:pt x="103844" y="179058"/>
                  <a:pt x="102727" y="180029"/>
                  <a:pt x="101410" y="180639"/>
                </a:cubicBezTo>
                <a:cubicBezTo>
                  <a:pt x="98656" y="181808"/>
                  <a:pt x="95460" y="180992"/>
                  <a:pt x="93605" y="178644"/>
                </a:cubicBezTo>
                <a:lnTo>
                  <a:pt x="68763" y="146790"/>
                </a:lnTo>
                <a:cubicBezTo>
                  <a:pt x="67814" y="145715"/>
                  <a:pt x="67537" y="144204"/>
                  <a:pt x="68045" y="142862"/>
                </a:cubicBezTo>
                <a:cubicBezTo>
                  <a:pt x="68588" y="141503"/>
                  <a:pt x="69889" y="140597"/>
                  <a:pt x="71353" y="140558"/>
                </a:cubicBezTo>
                <a:lnTo>
                  <a:pt x="81265" y="140533"/>
                </a:lnTo>
                <a:cubicBezTo>
                  <a:pt x="81463" y="131067"/>
                  <a:pt x="84077" y="121701"/>
                  <a:pt x="88636" y="113437"/>
                </a:cubicBezTo>
                <a:cubicBezTo>
                  <a:pt x="92506" y="106493"/>
                  <a:pt x="97705" y="100380"/>
                  <a:pt x="103938" y="95447"/>
                </a:cubicBezTo>
                <a:cubicBezTo>
                  <a:pt x="116451" y="85498"/>
                  <a:pt x="132013" y="80331"/>
                  <a:pt x="147575" y="77754"/>
                </a:cubicBezTo>
                <a:cubicBezTo>
                  <a:pt x="148553" y="77358"/>
                  <a:pt x="149247" y="78894"/>
                  <a:pt x="148318" y="79377"/>
                </a:cubicBezTo>
                <a:close/>
                <a:moveTo>
                  <a:pt x="144762" y="2028"/>
                </a:moveTo>
                <a:lnTo>
                  <a:pt x="260805" y="59826"/>
                </a:lnTo>
                <a:cubicBezTo>
                  <a:pt x="262750" y="60786"/>
                  <a:pt x="263548" y="63141"/>
                  <a:pt x="262589" y="65086"/>
                </a:cubicBezTo>
                <a:cubicBezTo>
                  <a:pt x="262200" y="65874"/>
                  <a:pt x="261559" y="66508"/>
                  <a:pt x="260767" y="66888"/>
                </a:cubicBezTo>
                <a:lnTo>
                  <a:pt x="201891" y="95286"/>
                </a:lnTo>
                <a:cubicBezTo>
                  <a:pt x="195840" y="86273"/>
                  <a:pt x="188016" y="78588"/>
                  <a:pt x="178896" y="72699"/>
                </a:cubicBezTo>
                <a:cubicBezTo>
                  <a:pt x="169783" y="66817"/>
                  <a:pt x="159548" y="62893"/>
                  <a:pt x="148838" y="61177"/>
                </a:cubicBezTo>
                <a:cubicBezTo>
                  <a:pt x="137243" y="59321"/>
                  <a:pt x="125380" y="60070"/>
                  <a:pt x="114110" y="63370"/>
                </a:cubicBezTo>
                <a:cubicBezTo>
                  <a:pt x="95440" y="68902"/>
                  <a:pt x="79458" y="81109"/>
                  <a:pt x="69209" y="97665"/>
                </a:cubicBezTo>
                <a:lnTo>
                  <a:pt x="7037" y="65203"/>
                </a:lnTo>
                <a:cubicBezTo>
                  <a:pt x="5114" y="64200"/>
                  <a:pt x="4369" y="61827"/>
                  <a:pt x="5373" y="59904"/>
                </a:cubicBezTo>
                <a:cubicBezTo>
                  <a:pt x="5771" y="59142"/>
                  <a:pt x="6408" y="58531"/>
                  <a:pt x="7186" y="58166"/>
                </a:cubicBezTo>
                <a:lnTo>
                  <a:pt x="127912" y="1830"/>
                </a:lnTo>
                <a:cubicBezTo>
                  <a:pt x="133265" y="-678"/>
                  <a:pt x="139470" y="-605"/>
                  <a:pt x="144762" y="2028"/>
                </a:cubicBezTo>
                <a:close/>
              </a:path>
            </a:pathLst>
          </a:custGeom>
          <a:solidFill>
            <a:schemeClr val="accent2"/>
          </a:solidFill>
          <a:ln w="3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2" name="图形 1130"/>
          <p:cNvSpPr/>
          <p:nvPr/>
        </p:nvSpPr>
        <p:spPr>
          <a:xfrm>
            <a:off x="10187215" y="1344474"/>
            <a:ext cx="274021" cy="225679"/>
          </a:xfrm>
          <a:custGeom>
            <a:avLst/>
            <a:gdLst>
              <a:gd name="connsiteX0" fmla="*/ 48547 w 274021"/>
              <a:gd name="connsiteY0" fmla="*/ 145071 h 225679"/>
              <a:gd name="connsiteX1" fmla="*/ 64486 w 274021"/>
              <a:gd name="connsiteY1" fmla="*/ 129132 h 225679"/>
              <a:gd name="connsiteX2" fmla="*/ 64486 w 274021"/>
              <a:gd name="connsiteY2" fmla="*/ 96524 h 225679"/>
              <a:gd name="connsiteX3" fmla="*/ 48547 w 274021"/>
              <a:gd name="connsiteY3" fmla="*/ 80585 h 225679"/>
              <a:gd name="connsiteX4" fmla="*/ 15939 w 274021"/>
              <a:gd name="connsiteY4" fmla="*/ 80585 h 225679"/>
              <a:gd name="connsiteX5" fmla="*/ 0 w 274021"/>
              <a:gd name="connsiteY5" fmla="*/ 96524 h 225679"/>
              <a:gd name="connsiteX6" fmla="*/ 0 w 274021"/>
              <a:gd name="connsiteY6" fmla="*/ 129132 h 225679"/>
              <a:gd name="connsiteX7" fmla="*/ 15939 w 274021"/>
              <a:gd name="connsiteY7" fmla="*/ 145071 h 225679"/>
              <a:gd name="connsiteX8" fmla="*/ 48547 w 274021"/>
              <a:gd name="connsiteY8" fmla="*/ 145071 h 225679"/>
              <a:gd name="connsiteX9" fmla="*/ 48547 w 274021"/>
              <a:gd name="connsiteY9" fmla="*/ 225679 h 225679"/>
              <a:gd name="connsiteX10" fmla="*/ 64486 w 274021"/>
              <a:gd name="connsiteY10" fmla="*/ 209740 h 225679"/>
              <a:gd name="connsiteX11" fmla="*/ 64486 w 274021"/>
              <a:gd name="connsiteY11" fmla="*/ 209717 h 225679"/>
              <a:gd name="connsiteX12" fmla="*/ 64486 w 274021"/>
              <a:gd name="connsiteY12" fmla="*/ 177132 h 225679"/>
              <a:gd name="connsiteX13" fmla="*/ 48547 w 274021"/>
              <a:gd name="connsiteY13" fmla="*/ 161193 h 225679"/>
              <a:gd name="connsiteX14" fmla="*/ 15939 w 274021"/>
              <a:gd name="connsiteY14" fmla="*/ 161193 h 225679"/>
              <a:gd name="connsiteX15" fmla="*/ 0 w 274021"/>
              <a:gd name="connsiteY15" fmla="*/ 177132 h 225679"/>
              <a:gd name="connsiteX16" fmla="*/ 0 w 274021"/>
              <a:gd name="connsiteY16" fmla="*/ 209717 h 225679"/>
              <a:gd name="connsiteX17" fmla="*/ 15939 w 274021"/>
              <a:gd name="connsiteY17" fmla="*/ 225656 h 225679"/>
              <a:gd name="connsiteX18" fmla="*/ 48547 w 274021"/>
              <a:gd name="connsiteY18" fmla="*/ 225656 h 225679"/>
              <a:gd name="connsiteX19" fmla="*/ 48547 w 274021"/>
              <a:gd name="connsiteY19" fmla="*/ 64463 h 225679"/>
              <a:gd name="connsiteX20" fmla="*/ 64486 w 274021"/>
              <a:gd name="connsiteY20" fmla="*/ 48547 h 225679"/>
              <a:gd name="connsiteX21" fmla="*/ 64486 w 274021"/>
              <a:gd name="connsiteY21" fmla="*/ 15939 h 225679"/>
              <a:gd name="connsiteX22" fmla="*/ 48547 w 274021"/>
              <a:gd name="connsiteY22" fmla="*/ 0 h 225679"/>
              <a:gd name="connsiteX23" fmla="*/ 15939 w 274021"/>
              <a:gd name="connsiteY23" fmla="*/ 0 h 225679"/>
              <a:gd name="connsiteX24" fmla="*/ 0 w 274021"/>
              <a:gd name="connsiteY24" fmla="*/ 15939 h 225679"/>
              <a:gd name="connsiteX25" fmla="*/ 0 w 274021"/>
              <a:gd name="connsiteY25" fmla="*/ 48547 h 225679"/>
              <a:gd name="connsiteX26" fmla="*/ 15939 w 274021"/>
              <a:gd name="connsiteY26" fmla="*/ 64486 h 225679"/>
              <a:gd name="connsiteX27" fmla="*/ 48547 w 274021"/>
              <a:gd name="connsiteY27" fmla="*/ 64486 h 225679"/>
              <a:gd name="connsiteX28" fmla="*/ 258173 w 274021"/>
              <a:gd name="connsiteY28" fmla="*/ 145071 h 225679"/>
              <a:gd name="connsiteX29" fmla="*/ 274021 w 274021"/>
              <a:gd name="connsiteY29" fmla="*/ 129132 h 225679"/>
              <a:gd name="connsiteX30" fmla="*/ 274021 w 274021"/>
              <a:gd name="connsiteY30" fmla="*/ 96524 h 225679"/>
              <a:gd name="connsiteX31" fmla="*/ 258196 w 274021"/>
              <a:gd name="connsiteY31" fmla="*/ 80585 h 225679"/>
              <a:gd name="connsiteX32" fmla="*/ 96433 w 274021"/>
              <a:gd name="connsiteY32" fmla="*/ 80585 h 225679"/>
              <a:gd name="connsiteX33" fmla="*/ 80585 w 274021"/>
              <a:gd name="connsiteY33" fmla="*/ 96524 h 225679"/>
              <a:gd name="connsiteX34" fmla="*/ 80585 w 274021"/>
              <a:gd name="connsiteY34" fmla="*/ 129132 h 225679"/>
              <a:gd name="connsiteX35" fmla="*/ 96433 w 274021"/>
              <a:gd name="connsiteY35" fmla="*/ 145071 h 225679"/>
              <a:gd name="connsiteX36" fmla="*/ 258196 w 274021"/>
              <a:gd name="connsiteY36" fmla="*/ 145071 h 225679"/>
              <a:gd name="connsiteX37" fmla="*/ 258173 w 274021"/>
              <a:gd name="connsiteY37" fmla="*/ 225679 h 225679"/>
              <a:gd name="connsiteX38" fmla="*/ 274021 w 274021"/>
              <a:gd name="connsiteY38" fmla="*/ 209740 h 225679"/>
              <a:gd name="connsiteX39" fmla="*/ 274021 w 274021"/>
              <a:gd name="connsiteY39" fmla="*/ 209717 h 225679"/>
              <a:gd name="connsiteX40" fmla="*/ 274021 w 274021"/>
              <a:gd name="connsiteY40" fmla="*/ 177132 h 225679"/>
              <a:gd name="connsiteX41" fmla="*/ 258196 w 274021"/>
              <a:gd name="connsiteY41" fmla="*/ 161193 h 225679"/>
              <a:gd name="connsiteX42" fmla="*/ 96433 w 274021"/>
              <a:gd name="connsiteY42" fmla="*/ 161193 h 225679"/>
              <a:gd name="connsiteX43" fmla="*/ 80585 w 274021"/>
              <a:gd name="connsiteY43" fmla="*/ 177132 h 225679"/>
              <a:gd name="connsiteX44" fmla="*/ 80585 w 274021"/>
              <a:gd name="connsiteY44" fmla="*/ 209717 h 225679"/>
              <a:gd name="connsiteX45" fmla="*/ 96433 w 274021"/>
              <a:gd name="connsiteY45" fmla="*/ 225656 h 225679"/>
              <a:gd name="connsiteX46" fmla="*/ 258196 w 274021"/>
              <a:gd name="connsiteY46" fmla="*/ 225656 h 225679"/>
              <a:gd name="connsiteX47" fmla="*/ 80608 w 274021"/>
              <a:gd name="connsiteY47" fmla="*/ 48525 h 225679"/>
              <a:gd name="connsiteX48" fmla="*/ 96455 w 274021"/>
              <a:gd name="connsiteY48" fmla="*/ 64463 h 225679"/>
              <a:gd name="connsiteX49" fmla="*/ 258219 w 274021"/>
              <a:gd name="connsiteY49" fmla="*/ 64463 h 225679"/>
              <a:gd name="connsiteX50" fmla="*/ 274021 w 274021"/>
              <a:gd name="connsiteY50" fmla="*/ 48547 h 225679"/>
              <a:gd name="connsiteX51" fmla="*/ 274021 w 274021"/>
              <a:gd name="connsiteY51" fmla="*/ 15939 h 225679"/>
              <a:gd name="connsiteX52" fmla="*/ 258196 w 274021"/>
              <a:gd name="connsiteY52" fmla="*/ 0 h 225679"/>
              <a:gd name="connsiteX53" fmla="*/ 96433 w 274021"/>
              <a:gd name="connsiteY53" fmla="*/ 0 h 225679"/>
              <a:gd name="connsiteX54" fmla="*/ 80585 w 274021"/>
              <a:gd name="connsiteY54" fmla="*/ 15939 h 225679"/>
              <a:gd name="connsiteX55" fmla="*/ 80585 w 274021"/>
              <a:gd name="connsiteY55" fmla="*/ 48547 h 225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4021" h="225679">
                <a:moveTo>
                  <a:pt x="48547" y="145071"/>
                </a:moveTo>
                <a:cubicBezTo>
                  <a:pt x="57350" y="145071"/>
                  <a:pt x="64486" y="137935"/>
                  <a:pt x="64486" y="129132"/>
                </a:cubicBezTo>
                <a:lnTo>
                  <a:pt x="64486" y="96524"/>
                </a:lnTo>
                <a:cubicBezTo>
                  <a:pt x="64486" y="87721"/>
                  <a:pt x="57350" y="80585"/>
                  <a:pt x="48547" y="80585"/>
                </a:cubicBezTo>
                <a:lnTo>
                  <a:pt x="15939" y="80585"/>
                </a:lnTo>
                <a:cubicBezTo>
                  <a:pt x="7136" y="80585"/>
                  <a:pt x="0" y="87721"/>
                  <a:pt x="0" y="96524"/>
                </a:cubicBezTo>
                <a:lnTo>
                  <a:pt x="0" y="129132"/>
                </a:lnTo>
                <a:cubicBezTo>
                  <a:pt x="0" y="137924"/>
                  <a:pt x="7147" y="145071"/>
                  <a:pt x="15939" y="145071"/>
                </a:cubicBezTo>
                <a:lnTo>
                  <a:pt x="48547" y="145071"/>
                </a:lnTo>
                <a:close/>
                <a:moveTo>
                  <a:pt x="48547" y="225679"/>
                </a:moveTo>
                <a:cubicBezTo>
                  <a:pt x="57350" y="225679"/>
                  <a:pt x="64486" y="218543"/>
                  <a:pt x="64486" y="209740"/>
                </a:cubicBezTo>
                <a:cubicBezTo>
                  <a:pt x="64486" y="209733"/>
                  <a:pt x="64486" y="209725"/>
                  <a:pt x="64486" y="209717"/>
                </a:cubicBezTo>
                <a:lnTo>
                  <a:pt x="64486" y="177132"/>
                </a:lnTo>
                <a:cubicBezTo>
                  <a:pt x="64486" y="168329"/>
                  <a:pt x="57350" y="161193"/>
                  <a:pt x="48547" y="161193"/>
                </a:cubicBezTo>
                <a:lnTo>
                  <a:pt x="15939" y="161193"/>
                </a:lnTo>
                <a:cubicBezTo>
                  <a:pt x="7136" y="161193"/>
                  <a:pt x="0" y="168329"/>
                  <a:pt x="0" y="177132"/>
                </a:cubicBezTo>
                <a:lnTo>
                  <a:pt x="0" y="209717"/>
                </a:lnTo>
                <a:cubicBezTo>
                  <a:pt x="0" y="218532"/>
                  <a:pt x="7147" y="225656"/>
                  <a:pt x="15939" y="225656"/>
                </a:cubicBezTo>
                <a:lnTo>
                  <a:pt x="48547" y="225656"/>
                </a:lnTo>
                <a:close/>
                <a:moveTo>
                  <a:pt x="48547" y="64463"/>
                </a:moveTo>
                <a:cubicBezTo>
                  <a:pt x="57341" y="64463"/>
                  <a:pt x="64474" y="57341"/>
                  <a:pt x="64486" y="48547"/>
                </a:cubicBezTo>
                <a:lnTo>
                  <a:pt x="64486" y="15939"/>
                </a:lnTo>
                <a:cubicBezTo>
                  <a:pt x="64486" y="7136"/>
                  <a:pt x="57350" y="0"/>
                  <a:pt x="48547" y="0"/>
                </a:cubicBezTo>
                <a:lnTo>
                  <a:pt x="15939" y="0"/>
                </a:lnTo>
                <a:cubicBezTo>
                  <a:pt x="7136" y="0"/>
                  <a:pt x="0" y="7136"/>
                  <a:pt x="0" y="15939"/>
                </a:cubicBezTo>
                <a:lnTo>
                  <a:pt x="0" y="48547"/>
                </a:lnTo>
                <a:cubicBezTo>
                  <a:pt x="0" y="57339"/>
                  <a:pt x="7147" y="64486"/>
                  <a:pt x="15939" y="64486"/>
                </a:cubicBezTo>
                <a:lnTo>
                  <a:pt x="48547" y="64486"/>
                </a:lnTo>
                <a:close/>
                <a:moveTo>
                  <a:pt x="258173" y="145071"/>
                </a:moveTo>
                <a:cubicBezTo>
                  <a:pt x="266951" y="145046"/>
                  <a:pt x="274046" y="137910"/>
                  <a:pt x="274021" y="129132"/>
                </a:cubicBezTo>
                <a:lnTo>
                  <a:pt x="274021" y="96524"/>
                </a:lnTo>
                <a:cubicBezTo>
                  <a:pt x="273960" y="87791"/>
                  <a:pt x="266928" y="80709"/>
                  <a:pt x="258196" y="80585"/>
                </a:cubicBezTo>
                <a:lnTo>
                  <a:pt x="96433" y="80585"/>
                </a:lnTo>
                <a:cubicBezTo>
                  <a:pt x="87655" y="80610"/>
                  <a:pt x="80560" y="87746"/>
                  <a:pt x="80585" y="96524"/>
                </a:cubicBezTo>
                <a:lnTo>
                  <a:pt x="80585" y="129132"/>
                </a:lnTo>
                <a:cubicBezTo>
                  <a:pt x="80585" y="137924"/>
                  <a:pt x="87938" y="145071"/>
                  <a:pt x="96433" y="145071"/>
                </a:cubicBezTo>
                <a:lnTo>
                  <a:pt x="258196" y="145071"/>
                </a:lnTo>
                <a:close/>
                <a:moveTo>
                  <a:pt x="258173" y="225679"/>
                </a:moveTo>
                <a:cubicBezTo>
                  <a:pt x="266951" y="225654"/>
                  <a:pt x="274046" y="218518"/>
                  <a:pt x="274021" y="209740"/>
                </a:cubicBezTo>
                <a:cubicBezTo>
                  <a:pt x="274021" y="209733"/>
                  <a:pt x="274021" y="209725"/>
                  <a:pt x="274021" y="209717"/>
                </a:cubicBezTo>
                <a:lnTo>
                  <a:pt x="274021" y="177132"/>
                </a:lnTo>
                <a:cubicBezTo>
                  <a:pt x="273960" y="168399"/>
                  <a:pt x="266928" y="161317"/>
                  <a:pt x="258196" y="161193"/>
                </a:cubicBezTo>
                <a:lnTo>
                  <a:pt x="96433" y="161193"/>
                </a:lnTo>
                <a:cubicBezTo>
                  <a:pt x="87655" y="161218"/>
                  <a:pt x="80560" y="168354"/>
                  <a:pt x="80585" y="177132"/>
                </a:cubicBezTo>
                <a:lnTo>
                  <a:pt x="80585" y="209717"/>
                </a:lnTo>
                <a:cubicBezTo>
                  <a:pt x="80585" y="218532"/>
                  <a:pt x="87938" y="225656"/>
                  <a:pt x="96433" y="225656"/>
                </a:cubicBezTo>
                <a:lnTo>
                  <a:pt x="258196" y="225656"/>
                </a:lnTo>
                <a:close/>
                <a:moveTo>
                  <a:pt x="80608" y="48525"/>
                </a:moveTo>
                <a:cubicBezTo>
                  <a:pt x="80608" y="57316"/>
                  <a:pt x="87961" y="64463"/>
                  <a:pt x="96455" y="64463"/>
                </a:cubicBezTo>
                <a:lnTo>
                  <a:pt x="258219" y="64463"/>
                </a:lnTo>
                <a:cubicBezTo>
                  <a:pt x="266970" y="64413"/>
                  <a:pt x="274034" y="57298"/>
                  <a:pt x="274021" y="48547"/>
                </a:cubicBezTo>
                <a:lnTo>
                  <a:pt x="274021" y="15939"/>
                </a:lnTo>
                <a:cubicBezTo>
                  <a:pt x="273960" y="7206"/>
                  <a:pt x="266928" y="124"/>
                  <a:pt x="258196" y="0"/>
                </a:cubicBezTo>
                <a:lnTo>
                  <a:pt x="96433" y="0"/>
                </a:lnTo>
                <a:cubicBezTo>
                  <a:pt x="87655" y="25"/>
                  <a:pt x="80560" y="7161"/>
                  <a:pt x="80585" y="15939"/>
                </a:cubicBezTo>
                <a:lnTo>
                  <a:pt x="80585" y="48547"/>
                </a:lnTo>
                <a:close/>
              </a:path>
            </a:pathLst>
          </a:custGeom>
          <a:solidFill>
            <a:schemeClr val="accent4"/>
          </a:solidFill>
          <a:ln w="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第三季度总结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四段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话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2" y="873124"/>
            <a:ext cx="11306176" cy="1374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9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821087" y="1380925"/>
            <a:ext cx="1632597" cy="430887"/>
            <a:chOff x="755650" y="1380925"/>
            <a:chExt cx="1632597" cy="430887"/>
          </a:xfrm>
        </p:grpSpPr>
        <p:sp>
          <p:nvSpPr>
            <p:cNvPr id="21" name="文本框 20"/>
            <p:cNvSpPr txBox="1"/>
            <p:nvPr/>
          </p:nvSpPr>
          <p:spPr>
            <a:xfrm>
              <a:off x="755650" y="1380925"/>
              <a:ext cx="1175002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¥8,500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029174" y="1529661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821087" y="1088958"/>
            <a:ext cx="912819" cy="229975"/>
            <a:chOff x="755649" y="1088958"/>
            <a:chExt cx="912819" cy="229975"/>
          </a:xfrm>
        </p:grpSpPr>
        <p:sp>
          <p:nvSpPr>
            <p:cNvPr id="16" name="文本框 15"/>
            <p:cNvSpPr txBox="1"/>
            <p:nvPr/>
          </p:nvSpPr>
          <p:spPr>
            <a:xfrm>
              <a:off x="1052915" y="1134267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总销售额</a:t>
              </a:r>
            </a:p>
          </p:txBody>
        </p:sp>
        <p:sp>
          <p:nvSpPr>
            <p:cNvPr id="27" name="图形 25"/>
            <p:cNvSpPr/>
            <p:nvPr/>
          </p:nvSpPr>
          <p:spPr>
            <a:xfrm>
              <a:off x="755649" y="1088958"/>
              <a:ext cx="198795" cy="222899"/>
            </a:xfrm>
            <a:custGeom>
              <a:avLst/>
              <a:gdLst>
                <a:gd name="connsiteX0" fmla="*/ 639217 w 1376660"/>
                <a:gd name="connsiteY0" fmla="*/ 904549 h 1543580"/>
                <a:gd name="connsiteX1" fmla="*/ 786929 w 1376660"/>
                <a:gd name="connsiteY1" fmla="*/ 904549 h 1543580"/>
                <a:gd name="connsiteX2" fmla="*/ 836042 w 1376660"/>
                <a:gd name="connsiteY2" fmla="*/ 855436 h 1543580"/>
                <a:gd name="connsiteX3" fmla="*/ 786929 w 1376660"/>
                <a:gd name="connsiteY3" fmla="*/ 806323 h 1543580"/>
                <a:gd name="connsiteX4" fmla="*/ 660425 w 1376660"/>
                <a:gd name="connsiteY4" fmla="*/ 806323 h 1543580"/>
                <a:gd name="connsiteX5" fmla="*/ 783766 w 1376660"/>
                <a:gd name="connsiteY5" fmla="*/ 682982 h 1543580"/>
                <a:gd name="connsiteX6" fmla="*/ 783766 w 1376660"/>
                <a:gd name="connsiteY6" fmla="*/ 613404 h 1543580"/>
                <a:gd name="connsiteX7" fmla="*/ 714189 w 1376660"/>
                <a:gd name="connsiteY7" fmla="*/ 613404 h 1543580"/>
                <a:gd name="connsiteX8" fmla="*/ 598847 w 1376660"/>
                <a:gd name="connsiteY8" fmla="*/ 728560 h 1543580"/>
                <a:gd name="connsiteX9" fmla="*/ 483505 w 1376660"/>
                <a:gd name="connsiteY9" fmla="*/ 613404 h 1543580"/>
                <a:gd name="connsiteX10" fmla="*/ 413928 w 1376660"/>
                <a:gd name="connsiteY10" fmla="*/ 613404 h 1543580"/>
                <a:gd name="connsiteX11" fmla="*/ 413928 w 1376660"/>
                <a:gd name="connsiteY11" fmla="*/ 682982 h 1543580"/>
                <a:gd name="connsiteX12" fmla="*/ 537270 w 1376660"/>
                <a:gd name="connsiteY12" fmla="*/ 806323 h 1543580"/>
                <a:gd name="connsiteX13" fmla="*/ 393092 w 1376660"/>
                <a:gd name="connsiteY13" fmla="*/ 806323 h 1543580"/>
                <a:gd name="connsiteX14" fmla="*/ 343979 w 1376660"/>
                <a:gd name="connsiteY14" fmla="*/ 855436 h 1543580"/>
                <a:gd name="connsiteX15" fmla="*/ 393092 w 1376660"/>
                <a:gd name="connsiteY15" fmla="*/ 904549 h 1543580"/>
                <a:gd name="connsiteX16" fmla="*/ 540804 w 1376660"/>
                <a:gd name="connsiteY16" fmla="*/ 904549 h 1543580"/>
                <a:gd name="connsiteX17" fmla="*/ 540804 w 1376660"/>
                <a:gd name="connsiteY17" fmla="*/ 1002962 h 1543580"/>
                <a:gd name="connsiteX18" fmla="*/ 393092 w 1376660"/>
                <a:gd name="connsiteY18" fmla="*/ 1002962 h 1543580"/>
                <a:gd name="connsiteX19" fmla="*/ 350490 w 1376660"/>
                <a:gd name="connsiteY19" fmla="*/ 1027519 h 1543580"/>
                <a:gd name="connsiteX20" fmla="*/ 350490 w 1376660"/>
                <a:gd name="connsiteY20" fmla="*/ 1076632 h 1543580"/>
                <a:gd name="connsiteX21" fmla="*/ 393092 w 1376660"/>
                <a:gd name="connsiteY21" fmla="*/ 1101189 h 1543580"/>
                <a:gd name="connsiteX22" fmla="*/ 540804 w 1376660"/>
                <a:gd name="connsiteY22" fmla="*/ 1101189 h 1543580"/>
                <a:gd name="connsiteX23" fmla="*/ 540804 w 1376660"/>
                <a:gd name="connsiteY23" fmla="*/ 1255784 h 1543580"/>
                <a:gd name="connsiteX24" fmla="*/ 555129 w 1376660"/>
                <a:gd name="connsiteY24" fmla="*/ 1290572 h 1543580"/>
                <a:gd name="connsiteX25" fmla="*/ 589917 w 1376660"/>
                <a:gd name="connsiteY25" fmla="*/ 1304897 h 1543580"/>
                <a:gd name="connsiteX26" fmla="*/ 590104 w 1376660"/>
                <a:gd name="connsiteY26" fmla="*/ 1304897 h 1543580"/>
                <a:gd name="connsiteX27" fmla="*/ 624892 w 1376660"/>
                <a:gd name="connsiteY27" fmla="*/ 1290572 h 1543580"/>
                <a:gd name="connsiteX28" fmla="*/ 639217 w 1376660"/>
                <a:gd name="connsiteY28" fmla="*/ 1255784 h 1543580"/>
                <a:gd name="connsiteX29" fmla="*/ 639217 w 1376660"/>
                <a:gd name="connsiteY29" fmla="*/ 1101189 h 1543580"/>
                <a:gd name="connsiteX30" fmla="*/ 786929 w 1376660"/>
                <a:gd name="connsiteY30" fmla="*/ 1101189 h 1543580"/>
                <a:gd name="connsiteX31" fmla="*/ 829531 w 1376660"/>
                <a:gd name="connsiteY31" fmla="*/ 1076632 h 1543580"/>
                <a:gd name="connsiteX32" fmla="*/ 829531 w 1376660"/>
                <a:gd name="connsiteY32" fmla="*/ 1027519 h 1543580"/>
                <a:gd name="connsiteX33" fmla="*/ 786929 w 1376660"/>
                <a:gd name="connsiteY33" fmla="*/ 1002962 h 1543580"/>
                <a:gd name="connsiteX34" fmla="*/ 639217 w 1376660"/>
                <a:gd name="connsiteY34" fmla="*/ 1002962 h 1543580"/>
                <a:gd name="connsiteX35" fmla="*/ 639217 w 1376660"/>
                <a:gd name="connsiteY35" fmla="*/ 904549 h 1543580"/>
                <a:gd name="connsiteX36" fmla="*/ 35533 w 1376660"/>
                <a:gd name="connsiteY36" fmla="*/ 530805 h 1543580"/>
                <a:gd name="connsiteX37" fmla="*/ 527038 w 1376660"/>
                <a:gd name="connsiteY37" fmla="*/ 121155 h 1543580"/>
                <a:gd name="connsiteX38" fmla="*/ 652983 w 1376660"/>
                <a:gd name="connsiteY38" fmla="*/ 121155 h 1543580"/>
                <a:gd name="connsiteX39" fmla="*/ 1144674 w 1376660"/>
                <a:gd name="connsiteY39" fmla="*/ 530805 h 1543580"/>
                <a:gd name="connsiteX40" fmla="*/ 1180021 w 1376660"/>
                <a:gd name="connsiteY40" fmla="*/ 606335 h 1543580"/>
                <a:gd name="connsiteX41" fmla="*/ 1180021 w 1376660"/>
                <a:gd name="connsiteY41" fmla="*/ 1445168 h 1543580"/>
                <a:gd name="connsiteX42" fmla="*/ 1081608 w 1376660"/>
                <a:gd name="connsiteY42" fmla="*/ 1543580 h 1543580"/>
                <a:gd name="connsiteX43" fmla="*/ 98413 w 1376660"/>
                <a:gd name="connsiteY43" fmla="*/ 1543580 h 1543580"/>
                <a:gd name="connsiteX44" fmla="*/ 0 w 1376660"/>
                <a:gd name="connsiteY44" fmla="*/ 1445168 h 1543580"/>
                <a:gd name="connsiteX45" fmla="*/ 0 w 1376660"/>
                <a:gd name="connsiteY45" fmla="*/ 606335 h 1543580"/>
                <a:gd name="connsiteX46" fmla="*/ 35533 w 1376660"/>
                <a:gd name="connsiteY46" fmla="*/ 530805 h 1543580"/>
                <a:gd name="connsiteX47" fmla="*/ 692051 w 1376660"/>
                <a:gd name="connsiteY47" fmla="*/ 49160 h 1543580"/>
                <a:gd name="connsiteX48" fmla="*/ 723863 w 1376660"/>
                <a:gd name="connsiteY48" fmla="*/ 22743 h 1543580"/>
                <a:gd name="connsiteX49" fmla="*/ 849623 w 1376660"/>
                <a:gd name="connsiteY49" fmla="*/ 22743 h 1543580"/>
                <a:gd name="connsiteX50" fmla="*/ 1341314 w 1376660"/>
                <a:gd name="connsiteY50" fmla="*/ 432392 h 1543580"/>
                <a:gd name="connsiteX51" fmla="*/ 1376660 w 1376660"/>
                <a:gd name="connsiteY51" fmla="*/ 507922 h 1543580"/>
                <a:gd name="connsiteX52" fmla="*/ 1376660 w 1376660"/>
                <a:gd name="connsiteY52" fmla="*/ 1346755 h 1543580"/>
                <a:gd name="connsiteX53" fmla="*/ 1278248 w 1376660"/>
                <a:gd name="connsiteY53" fmla="*/ 1445168 h 1543580"/>
                <a:gd name="connsiteX54" fmla="*/ 1278248 w 1376660"/>
                <a:gd name="connsiteY54" fmla="*/ 557222 h 1543580"/>
                <a:gd name="connsiteX55" fmla="*/ 1242901 w 1376660"/>
                <a:gd name="connsiteY55" fmla="*/ 481692 h 1543580"/>
                <a:gd name="connsiteX56" fmla="*/ 751210 w 1376660"/>
                <a:gd name="connsiteY56" fmla="*/ 72042 h 1543580"/>
                <a:gd name="connsiteX57" fmla="*/ 692051 w 1376660"/>
                <a:gd name="connsiteY57" fmla="*/ 49160 h 154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76660" h="1543580">
                  <a:moveTo>
                    <a:pt x="639217" y="904549"/>
                  </a:moveTo>
                  <a:lnTo>
                    <a:pt x="786929" y="904549"/>
                  </a:lnTo>
                  <a:cubicBezTo>
                    <a:pt x="814090" y="904549"/>
                    <a:pt x="836042" y="882597"/>
                    <a:pt x="836042" y="855436"/>
                  </a:cubicBezTo>
                  <a:cubicBezTo>
                    <a:pt x="836042" y="828275"/>
                    <a:pt x="814090" y="806323"/>
                    <a:pt x="786929" y="806323"/>
                  </a:cubicBezTo>
                  <a:lnTo>
                    <a:pt x="660425" y="806323"/>
                  </a:lnTo>
                  <a:lnTo>
                    <a:pt x="783766" y="682982"/>
                  </a:lnTo>
                  <a:cubicBezTo>
                    <a:pt x="802928" y="663820"/>
                    <a:pt x="802928" y="632566"/>
                    <a:pt x="783766" y="613404"/>
                  </a:cubicBezTo>
                  <a:cubicBezTo>
                    <a:pt x="764605" y="594243"/>
                    <a:pt x="733351" y="594243"/>
                    <a:pt x="714189" y="613404"/>
                  </a:cubicBezTo>
                  <a:lnTo>
                    <a:pt x="598847" y="728560"/>
                  </a:lnTo>
                  <a:lnTo>
                    <a:pt x="483505" y="613404"/>
                  </a:lnTo>
                  <a:cubicBezTo>
                    <a:pt x="464344" y="594243"/>
                    <a:pt x="433090" y="594243"/>
                    <a:pt x="413928" y="613404"/>
                  </a:cubicBezTo>
                  <a:cubicBezTo>
                    <a:pt x="394767" y="632566"/>
                    <a:pt x="394767" y="663820"/>
                    <a:pt x="413928" y="682982"/>
                  </a:cubicBezTo>
                  <a:lnTo>
                    <a:pt x="537270" y="806323"/>
                  </a:lnTo>
                  <a:lnTo>
                    <a:pt x="393092" y="806323"/>
                  </a:lnTo>
                  <a:cubicBezTo>
                    <a:pt x="365931" y="806323"/>
                    <a:pt x="343979" y="828275"/>
                    <a:pt x="343979" y="855436"/>
                  </a:cubicBezTo>
                  <a:cubicBezTo>
                    <a:pt x="343979" y="882597"/>
                    <a:pt x="365931" y="904549"/>
                    <a:pt x="393092" y="904549"/>
                  </a:cubicBezTo>
                  <a:lnTo>
                    <a:pt x="540804" y="904549"/>
                  </a:lnTo>
                  <a:lnTo>
                    <a:pt x="540804" y="1002962"/>
                  </a:lnTo>
                  <a:lnTo>
                    <a:pt x="393092" y="1002962"/>
                  </a:lnTo>
                  <a:cubicBezTo>
                    <a:pt x="375605" y="1002962"/>
                    <a:pt x="359234" y="1012264"/>
                    <a:pt x="350490" y="1027519"/>
                  </a:cubicBezTo>
                  <a:cubicBezTo>
                    <a:pt x="341747" y="1042774"/>
                    <a:pt x="341747" y="1061377"/>
                    <a:pt x="350490" y="1076632"/>
                  </a:cubicBezTo>
                  <a:cubicBezTo>
                    <a:pt x="359234" y="1091887"/>
                    <a:pt x="375419" y="1101189"/>
                    <a:pt x="393092" y="1101189"/>
                  </a:cubicBezTo>
                  <a:lnTo>
                    <a:pt x="540804" y="1101189"/>
                  </a:lnTo>
                  <a:lnTo>
                    <a:pt x="540804" y="1255784"/>
                  </a:lnTo>
                  <a:cubicBezTo>
                    <a:pt x="540804" y="1268806"/>
                    <a:pt x="546013" y="1281271"/>
                    <a:pt x="555129" y="1290572"/>
                  </a:cubicBezTo>
                  <a:cubicBezTo>
                    <a:pt x="564431" y="1299874"/>
                    <a:pt x="576895" y="1304897"/>
                    <a:pt x="589917" y="1304897"/>
                  </a:cubicBezTo>
                  <a:lnTo>
                    <a:pt x="590104" y="1304897"/>
                  </a:lnTo>
                  <a:cubicBezTo>
                    <a:pt x="603126" y="1304897"/>
                    <a:pt x="615590" y="1299688"/>
                    <a:pt x="624892" y="1290572"/>
                  </a:cubicBezTo>
                  <a:cubicBezTo>
                    <a:pt x="634194" y="1281271"/>
                    <a:pt x="639217" y="1268806"/>
                    <a:pt x="639217" y="1255784"/>
                  </a:cubicBezTo>
                  <a:lnTo>
                    <a:pt x="639217" y="1101189"/>
                  </a:lnTo>
                  <a:lnTo>
                    <a:pt x="786929" y="1101189"/>
                  </a:lnTo>
                  <a:cubicBezTo>
                    <a:pt x="804416" y="1101189"/>
                    <a:pt x="820787" y="1091887"/>
                    <a:pt x="829531" y="1076632"/>
                  </a:cubicBezTo>
                  <a:cubicBezTo>
                    <a:pt x="838274" y="1061377"/>
                    <a:pt x="838274" y="1042774"/>
                    <a:pt x="829531" y="1027519"/>
                  </a:cubicBezTo>
                  <a:cubicBezTo>
                    <a:pt x="820787" y="1012264"/>
                    <a:pt x="804602" y="1002962"/>
                    <a:pt x="786929" y="1002962"/>
                  </a:cubicBezTo>
                  <a:lnTo>
                    <a:pt x="639217" y="1002962"/>
                  </a:lnTo>
                  <a:lnTo>
                    <a:pt x="639217" y="904549"/>
                  </a:lnTo>
                  <a:close/>
                  <a:moveTo>
                    <a:pt x="35533" y="530805"/>
                  </a:moveTo>
                  <a:lnTo>
                    <a:pt x="527038" y="121155"/>
                  </a:lnTo>
                  <a:cubicBezTo>
                    <a:pt x="563501" y="90832"/>
                    <a:pt x="616521" y="90832"/>
                    <a:pt x="652983" y="121155"/>
                  </a:cubicBezTo>
                  <a:lnTo>
                    <a:pt x="1144674" y="530805"/>
                  </a:lnTo>
                  <a:cubicBezTo>
                    <a:pt x="1167185" y="549408"/>
                    <a:pt x="1180021" y="577128"/>
                    <a:pt x="1180021" y="606335"/>
                  </a:cubicBezTo>
                  <a:lnTo>
                    <a:pt x="1180021" y="1445168"/>
                  </a:lnTo>
                  <a:cubicBezTo>
                    <a:pt x="1180021" y="1499490"/>
                    <a:pt x="1135931" y="1543580"/>
                    <a:pt x="1081608" y="1543580"/>
                  </a:cubicBezTo>
                  <a:lnTo>
                    <a:pt x="98413" y="1543580"/>
                  </a:lnTo>
                  <a:cubicBezTo>
                    <a:pt x="44090" y="1543580"/>
                    <a:pt x="0" y="1499490"/>
                    <a:pt x="0" y="1445168"/>
                  </a:cubicBezTo>
                  <a:lnTo>
                    <a:pt x="0" y="606335"/>
                  </a:lnTo>
                  <a:cubicBezTo>
                    <a:pt x="0" y="577128"/>
                    <a:pt x="13022" y="549594"/>
                    <a:pt x="35533" y="530805"/>
                  </a:cubicBezTo>
                  <a:close/>
                  <a:moveTo>
                    <a:pt x="692051" y="49160"/>
                  </a:moveTo>
                  <a:lnTo>
                    <a:pt x="723863" y="22743"/>
                  </a:lnTo>
                  <a:cubicBezTo>
                    <a:pt x="760326" y="-7581"/>
                    <a:pt x="813346" y="-7581"/>
                    <a:pt x="849623" y="22743"/>
                  </a:cubicBezTo>
                  <a:lnTo>
                    <a:pt x="1341314" y="432392"/>
                  </a:lnTo>
                  <a:cubicBezTo>
                    <a:pt x="1363824" y="450996"/>
                    <a:pt x="1376660" y="478715"/>
                    <a:pt x="1376660" y="507922"/>
                  </a:cubicBezTo>
                  <a:lnTo>
                    <a:pt x="1376660" y="1346755"/>
                  </a:lnTo>
                  <a:cubicBezTo>
                    <a:pt x="1376660" y="1401077"/>
                    <a:pt x="1332570" y="1445168"/>
                    <a:pt x="1278248" y="1445168"/>
                  </a:cubicBezTo>
                  <a:lnTo>
                    <a:pt x="1278248" y="557222"/>
                  </a:lnTo>
                  <a:cubicBezTo>
                    <a:pt x="1278248" y="528014"/>
                    <a:pt x="1265225" y="500295"/>
                    <a:pt x="1242901" y="481692"/>
                  </a:cubicBezTo>
                  <a:lnTo>
                    <a:pt x="751210" y="72042"/>
                  </a:lnTo>
                  <a:cubicBezTo>
                    <a:pt x="734653" y="58089"/>
                    <a:pt x="713817" y="50090"/>
                    <a:pt x="692051" y="4916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8246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076147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632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296111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3019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540590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804222" y="1380925"/>
            <a:ext cx="86882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1:3.5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3076147" y="1097127"/>
            <a:ext cx="1044125" cy="252802"/>
            <a:chOff x="3016881" y="1097127"/>
            <a:chExt cx="1044125" cy="252802"/>
          </a:xfrm>
        </p:grpSpPr>
        <p:sp>
          <p:nvSpPr>
            <p:cNvPr id="65" name="文本框 64"/>
            <p:cNvSpPr txBox="1"/>
            <p:nvPr/>
          </p:nvSpPr>
          <p:spPr>
            <a:xfrm>
              <a:off x="329156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毛利率优化</a:t>
              </a:r>
            </a:p>
          </p:txBody>
        </p:sp>
        <p:sp>
          <p:nvSpPr>
            <p:cNvPr id="97" name="图形 95"/>
            <p:cNvSpPr>
              <a:spLocks noChangeAspect="1"/>
            </p:cNvSpPr>
            <p:nvPr/>
          </p:nvSpPr>
          <p:spPr>
            <a:xfrm>
              <a:off x="3016881" y="1097127"/>
              <a:ext cx="252000" cy="252802"/>
            </a:xfrm>
            <a:custGeom>
              <a:avLst/>
              <a:gdLst>
                <a:gd name="connsiteX0" fmla="*/ 1309369 w 1883953"/>
                <a:gd name="connsiteY0" fmla="*/ 720453 h 1889942"/>
                <a:gd name="connsiteX1" fmla="*/ 734694 w 1883953"/>
                <a:gd name="connsiteY1" fmla="*/ 1295084 h 1889942"/>
                <a:gd name="connsiteX2" fmla="*/ 1309369 w 1883953"/>
                <a:gd name="connsiteY2" fmla="*/ 1869713 h 1889942"/>
                <a:gd name="connsiteX3" fmla="*/ 1883954 w 1883953"/>
                <a:gd name="connsiteY3" fmla="*/ 1295084 h 1889942"/>
                <a:gd name="connsiteX4" fmla="*/ 1309369 w 1883953"/>
                <a:gd name="connsiteY4" fmla="*/ 720408 h 1889942"/>
                <a:gd name="connsiteX5" fmla="*/ 1437594 w 1883953"/>
                <a:gd name="connsiteY5" fmla="*/ 1217386 h 1889942"/>
                <a:gd name="connsiteX6" fmla="*/ 1464582 w 1883953"/>
                <a:gd name="connsiteY6" fmla="*/ 1220061 h 1889942"/>
                <a:gd name="connsiteX7" fmla="*/ 1551850 w 1883953"/>
                <a:gd name="connsiteY7" fmla="*/ 1220061 h 1889942"/>
                <a:gd name="connsiteX8" fmla="*/ 1573485 w 1883953"/>
                <a:gd name="connsiteY8" fmla="*/ 1230450 h 1889942"/>
                <a:gd name="connsiteX9" fmla="*/ 1582555 w 1883953"/>
                <a:gd name="connsiteY9" fmla="*/ 1251086 h 1889942"/>
                <a:gd name="connsiteX10" fmla="*/ 1582555 w 1883953"/>
                <a:gd name="connsiteY10" fmla="*/ 1313816 h 1889942"/>
                <a:gd name="connsiteX11" fmla="*/ 1557019 w 1883953"/>
                <a:gd name="connsiteY11" fmla="*/ 1332094 h 1889942"/>
                <a:gd name="connsiteX12" fmla="*/ 1405754 w 1883953"/>
                <a:gd name="connsiteY12" fmla="*/ 1332094 h 1889942"/>
                <a:gd name="connsiteX13" fmla="*/ 1386431 w 1883953"/>
                <a:gd name="connsiteY13" fmla="*/ 1337582 h 1889942"/>
                <a:gd name="connsiteX14" fmla="*/ 1377678 w 1883953"/>
                <a:gd name="connsiteY14" fmla="*/ 1353004 h 1889942"/>
                <a:gd name="connsiteX15" fmla="*/ 1378720 w 1883953"/>
                <a:gd name="connsiteY15" fmla="*/ 1375094 h 1889942"/>
                <a:gd name="connsiteX16" fmla="*/ 1379946 w 1883953"/>
                <a:gd name="connsiteY16" fmla="*/ 1394551 h 1889942"/>
                <a:gd name="connsiteX17" fmla="*/ 1405752 w 1883953"/>
                <a:gd name="connsiteY17" fmla="*/ 1404984 h 1889942"/>
                <a:gd name="connsiteX18" fmla="*/ 1554707 w 1883953"/>
                <a:gd name="connsiteY18" fmla="*/ 1404984 h 1889942"/>
                <a:gd name="connsiteX19" fmla="*/ 1580242 w 1883953"/>
                <a:gd name="connsiteY19" fmla="*/ 1428659 h 1889942"/>
                <a:gd name="connsiteX20" fmla="*/ 1580242 w 1883953"/>
                <a:gd name="connsiteY20" fmla="*/ 1486354 h 1889942"/>
                <a:gd name="connsiteX21" fmla="*/ 1544003 w 1883953"/>
                <a:gd name="connsiteY21" fmla="*/ 1512207 h 1889942"/>
                <a:gd name="connsiteX22" fmla="*/ 1510665 w 1883953"/>
                <a:gd name="connsiteY22" fmla="*/ 1512207 h 1889942"/>
                <a:gd name="connsiteX23" fmla="*/ 1468664 w 1883953"/>
                <a:gd name="connsiteY23" fmla="*/ 1513387 h 1889942"/>
                <a:gd name="connsiteX24" fmla="*/ 1428839 w 1883953"/>
                <a:gd name="connsiteY24" fmla="*/ 1514884 h 1889942"/>
                <a:gd name="connsiteX25" fmla="*/ 1405708 w 1883953"/>
                <a:gd name="connsiteY25" fmla="*/ 1514884 h 1889942"/>
                <a:gd name="connsiteX26" fmla="*/ 1382892 w 1883953"/>
                <a:gd name="connsiteY26" fmla="*/ 1541283 h 1889942"/>
                <a:gd name="connsiteX27" fmla="*/ 1382892 w 1883953"/>
                <a:gd name="connsiteY27" fmla="*/ 1645604 h 1889942"/>
                <a:gd name="connsiteX28" fmla="*/ 1362255 w 1883953"/>
                <a:gd name="connsiteY28" fmla="*/ 1658983 h 1889942"/>
                <a:gd name="connsiteX29" fmla="*/ 1280069 w 1883953"/>
                <a:gd name="connsiteY29" fmla="*/ 1658983 h 1889942"/>
                <a:gd name="connsiteX30" fmla="*/ 1246823 w 1883953"/>
                <a:gd name="connsiteY30" fmla="*/ 1630317 h 1889942"/>
                <a:gd name="connsiteX31" fmla="*/ 1248182 w 1883953"/>
                <a:gd name="connsiteY31" fmla="*/ 1585505 h 1889942"/>
                <a:gd name="connsiteX32" fmla="*/ 1246958 w 1883953"/>
                <a:gd name="connsiteY32" fmla="*/ 1538606 h 1889942"/>
                <a:gd name="connsiteX33" fmla="*/ 1244281 w 1883953"/>
                <a:gd name="connsiteY33" fmla="*/ 1521552 h 1889942"/>
                <a:gd name="connsiteX34" fmla="*/ 1228997 w 1883953"/>
                <a:gd name="connsiteY34" fmla="*/ 1517831 h 1889942"/>
                <a:gd name="connsiteX35" fmla="*/ 1075099 w 1883953"/>
                <a:gd name="connsiteY35" fmla="*/ 1517831 h 1889942"/>
                <a:gd name="connsiteX36" fmla="*/ 1041762 w 1883953"/>
                <a:gd name="connsiteY36" fmla="*/ 1483723 h 1889942"/>
                <a:gd name="connsiteX37" fmla="*/ 1039358 w 1883953"/>
                <a:gd name="connsiteY37" fmla="*/ 1463993 h 1889942"/>
                <a:gd name="connsiteX38" fmla="*/ 1039358 w 1883953"/>
                <a:gd name="connsiteY38" fmla="*/ 1439363 h 1889942"/>
                <a:gd name="connsiteX39" fmla="*/ 1047069 w 1883953"/>
                <a:gd name="connsiteY39" fmla="*/ 1415644 h 1889942"/>
                <a:gd name="connsiteX40" fmla="*/ 1067390 w 1883953"/>
                <a:gd name="connsiteY40" fmla="*/ 1408069 h 1889942"/>
                <a:gd name="connsiteX41" fmla="*/ 1239065 w 1883953"/>
                <a:gd name="connsiteY41" fmla="*/ 1408069 h 1889942"/>
                <a:gd name="connsiteX42" fmla="*/ 1244054 w 1883953"/>
                <a:gd name="connsiteY42" fmla="*/ 1394687 h 1889942"/>
                <a:gd name="connsiteX43" fmla="*/ 1244054 w 1883953"/>
                <a:gd name="connsiteY43" fmla="*/ 1345157 h 1889942"/>
                <a:gd name="connsiteX44" fmla="*/ 1213665 w 1883953"/>
                <a:gd name="connsiteY44" fmla="*/ 1332094 h 1889942"/>
                <a:gd name="connsiteX45" fmla="*/ 1065031 w 1883953"/>
                <a:gd name="connsiteY45" fmla="*/ 1332094 h 1889942"/>
                <a:gd name="connsiteX46" fmla="*/ 1047116 w 1883953"/>
                <a:gd name="connsiteY46" fmla="*/ 1331052 h 1889942"/>
                <a:gd name="connsiteX47" fmla="*/ 1039358 w 1883953"/>
                <a:gd name="connsiteY47" fmla="*/ 1316764 h 1889942"/>
                <a:gd name="connsiteX48" fmla="*/ 1039358 w 1883953"/>
                <a:gd name="connsiteY48" fmla="*/ 1284878 h 1889942"/>
                <a:gd name="connsiteX49" fmla="*/ 1036772 w 1883953"/>
                <a:gd name="connsiteY49" fmla="*/ 1253581 h 1889942"/>
                <a:gd name="connsiteX50" fmla="*/ 1044256 w 1883953"/>
                <a:gd name="connsiteY50" fmla="*/ 1227773 h 1889942"/>
                <a:gd name="connsiteX51" fmla="*/ 1077640 w 1883953"/>
                <a:gd name="connsiteY51" fmla="*/ 1217342 h 1889942"/>
                <a:gd name="connsiteX52" fmla="*/ 1122860 w 1883953"/>
                <a:gd name="connsiteY52" fmla="*/ 1218566 h 1889942"/>
                <a:gd name="connsiteX53" fmla="*/ 1159963 w 1883953"/>
                <a:gd name="connsiteY53" fmla="*/ 1217386 h 1889942"/>
                <a:gd name="connsiteX54" fmla="*/ 1190352 w 1883953"/>
                <a:gd name="connsiteY54" fmla="*/ 1217386 h 1889942"/>
                <a:gd name="connsiteX55" fmla="*/ 1200649 w 1883953"/>
                <a:gd name="connsiteY55" fmla="*/ 1206953 h 1889942"/>
                <a:gd name="connsiteX56" fmla="*/ 1170260 w 1883953"/>
                <a:gd name="connsiteY56" fmla="*/ 1167812 h 1889942"/>
                <a:gd name="connsiteX57" fmla="*/ 1116375 w 1883953"/>
                <a:gd name="connsiteY57" fmla="*/ 1097053 h 1889942"/>
                <a:gd name="connsiteX58" fmla="*/ 1039358 w 1883953"/>
                <a:gd name="connsiteY58" fmla="*/ 1000307 h 1889942"/>
                <a:gd name="connsiteX59" fmla="*/ 1047069 w 1883953"/>
                <a:gd name="connsiteY59" fmla="*/ 953453 h 1889942"/>
                <a:gd name="connsiteX60" fmla="*/ 1073784 w 1883953"/>
                <a:gd name="connsiteY60" fmla="*/ 933405 h 1889942"/>
                <a:gd name="connsiteX61" fmla="*/ 1106124 w 1883953"/>
                <a:gd name="connsiteY61" fmla="*/ 911453 h 1889942"/>
                <a:gd name="connsiteX62" fmla="*/ 1154657 w 1883953"/>
                <a:gd name="connsiteY62" fmla="*/ 939935 h 1889942"/>
                <a:gd name="connsiteX63" fmla="*/ 1184274 w 1883953"/>
                <a:gd name="connsiteY63" fmla="*/ 978035 h 1889942"/>
                <a:gd name="connsiteX64" fmla="*/ 1228952 w 1883953"/>
                <a:gd name="connsiteY64" fmla="*/ 1036774 h 1889942"/>
                <a:gd name="connsiteX65" fmla="*/ 1272585 w 1883953"/>
                <a:gd name="connsiteY65" fmla="*/ 1092744 h 1889942"/>
                <a:gd name="connsiteX66" fmla="*/ 1295852 w 1883953"/>
                <a:gd name="connsiteY66" fmla="*/ 1123133 h 1889942"/>
                <a:gd name="connsiteX67" fmla="*/ 1314722 w 1883953"/>
                <a:gd name="connsiteY67" fmla="*/ 1136241 h 1889942"/>
                <a:gd name="connsiteX68" fmla="*/ 1334134 w 1883953"/>
                <a:gd name="connsiteY68" fmla="*/ 1128350 h 1889942"/>
                <a:gd name="connsiteX69" fmla="*/ 1355860 w 1883953"/>
                <a:gd name="connsiteY69" fmla="*/ 1095422 h 1889942"/>
                <a:gd name="connsiteX70" fmla="*/ 1398132 w 1883953"/>
                <a:gd name="connsiteY70" fmla="*/ 1034279 h 1889942"/>
                <a:gd name="connsiteX71" fmla="*/ 1441585 w 1883953"/>
                <a:gd name="connsiteY71" fmla="*/ 970054 h 1889942"/>
                <a:gd name="connsiteX72" fmla="*/ 1467440 w 1883953"/>
                <a:gd name="connsiteY72" fmla="*/ 932317 h 1889942"/>
                <a:gd name="connsiteX73" fmla="*/ 1488938 w 1883953"/>
                <a:gd name="connsiteY73" fmla="*/ 908914 h 1889942"/>
                <a:gd name="connsiteX74" fmla="*/ 1518737 w 1883953"/>
                <a:gd name="connsiteY74" fmla="*/ 911451 h 1889942"/>
                <a:gd name="connsiteX75" fmla="*/ 1546497 w 1883953"/>
                <a:gd name="connsiteY75" fmla="*/ 926874 h 1889942"/>
                <a:gd name="connsiteX76" fmla="*/ 1567090 w 1883953"/>
                <a:gd name="connsiteY76" fmla="*/ 942884 h 1889942"/>
                <a:gd name="connsiteX77" fmla="*/ 1582555 w 1883953"/>
                <a:gd name="connsiteY77" fmla="*/ 992325 h 1889942"/>
                <a:gd name="connsiteX78" fmla="*/ 1554616 w 1883953"/>
                <a:gd name="connsiteY78" fmla="*/ 1031784 h 1889942"/>
                <a:gd name="connsiteX79" fmla="*/ 1504450 w 1883953"/>
                <a:gd name="connsiteY79" fmla="*/ 1098415 h 1889942"/>
                <a:gd name="connsiteX80" fmla="*/ 1455828 w 1883953"/>
                <a:gd name="connsiteY80" fmla="*/ 1165043 h 1889942"/>
                <a:gd name="connsiteX81" fmla="*/ 1431245 w 1883953"/>
                <a:gd name="connsiteY81" fmla="*/ 1201512 h 1889942"/>
                <a:gd name="connsiteX82" fmla="*/ 1437594 w 1883953"/>
                <a:gd name="connsiteY82" fmla="*/ 1217386 h 1889942"/>
                <a:gd name="connsiteX83" fmla="*/ 707570 w 1883953"/>
                <a:gd name="connsiteY83" fmla="*/ 0 h 1889942"/>
                <a:gd name="connsiteX84" fmla="*/ 0 w 1883953"/>
                <a:gd name="connsiteY84" fmla="*/ 351110 h 1889942"/>
                <a:gd name="connsiteX85" fmla="*/ 707570 w 1883953"/>
                <a:gd name="connsiteY85" fmla="*/ 702128 h 1889942"/>
                <a:gd name="connsiteX86" fmla="*/ 1415142 w 1883953"/>
                <a:gd name="connsiteY86" fmla="*/ 351065 h 1889942"/>
                <a:gd name="connsiteX87" fmla="*/ 707570 w 1883953"/>
                <a:gd name="connsiteY87" fmla="*/ 91 h 1889942"/>
                <a:gd name="connsiteX88" fmla="*/ 930546 w 1883953"/>
                <a:gd name="connsiteY88" fmla="*/ 792119 h 1889942"/>
                <a:gd name="connsiteX89" fmla="*/ 707570 w 1883953"/>
                <a:gd name="connsiteY89" fmla="*/ 810261 h 1889942"/>
                <a:gd name="connsiteX90" fmla="*/ 18051 w 1883953"/>
                <a:gd name="connsiteY90" fmla="*/ 537119 h 1889942"/>
                <a:gd name="connsiteX91" fmla="*/ 0 w 1883953"/>
                <a:gd name="connsiteY91" fmla="*/ 614999 h 1889942"/>
                <a:gd name="connsiteX92" fmla="*/ 707570 w 1883953"/>
                <a:gd name="connsiteY92" fmla="*/ 966062 h 1889942"/>
                <a:gd name="connsiteX93" fmla="*/ 763814 w 1883953"/>
                <a:gd name="connsiteY93" fmla="*/ 964611 h 1889942"/>
                <a:gd name="connsiteX94" fmla="*/ 930546 w 1883953"/>
                <a:gd name="connsiteY94" fmla="*/ 792119 h 1889942"/>
                <a:gd name="connsiteX95" fmla="*/ 1395684 w 1883953"/>
                <a:gd name="connsiteY95" fmla="*/ 695416 h 1889942"/>
                <a:gd name="connsiteX96" fmla="*/ 1415050 w 1883953"/>
                <a:gd name="connsiteY96" fmla="*/ 615088 h 1889942"/>
                <a:gd name="connsiteX97" fmla="*/ 1396908 w 1883953"/>
                <a:gd name="connsiteY97" fmla="*/ 537165 h 1889942"/>
                <a:gd name="connsiteX98" fmla="*/ 1247548 w 1883953"/>
                <a:gd name="connsiteY98" fmla="*/ 685346 h 1889942"/>
                <a:gd name="connsiteX99" fmla="*/ 1277710 w 1883953"/>
                <a:gd name="connsiteY99" fmla="*/ 683759 h 1889942"/>
                <a:gd name="connsiteX100" fmla="*/ 1395684 w 1883953"/>
                <a:gd name="connsiteY100" fmla="*/ 695416 h 1889942"/>
                <a:gd name="connsiteX101" fmla="*/ 707614 w 1883953"/>
                <a:gd name="connsiteY101" fmla="*/ 1041218 h 1889942"/>
                <a:gd name="connsiteX102" fmla="*/ 18051 w 1883953"/>
                <a:gd name="connsiteY102" fmla="*/ 768078 h 1889942"/>
                <a:gd name="connsiteX103" fmla="*/ 0 w 1883953"/>
                <a:gd name="connsiteY103" fmla="*/ 845956 h 1889942"/>
                <a:gd name="connsiteX104" fmla="*/ 674642 w 1883953"/>
                <a:gd name="connsiteY104" fmla="*/ 1196160 h 1889942"/>
                <a:gd name="connsiteX105" fmla="*/ 722040 w 1883953"/>
                <a:gd name="connsiteY105" fmla="*/ 1040857 h 1889942"/>
                <a:gd name="connsiteX106" fmla="*/ 707570 w 1883953"/>
                <a:gd name="connsiteY106" fmla="*/ 1041218 h 1889942"/>
                <a:gd name="connsiteX107" fmla="*/ 667338 w 1883953"/>
                <a:gd name="connsiteY107" fmla="*/ 1271269 h 1889942"/>
                <a:gd name="connsiteX108" fmla="*/ 18051 w 1883953"/>
                <a:gd name="connsiteY108" fmla="*/ 999037 h 1889942"/>
                <a:gd name="connsiteX109" fmla="*/ 0 w 1883953"/>
                <a:gd name="connsiteY109" fmla="*/ 1076961 h 1889942"/>
                <a:gd name="connsiteX110" fmla="*/ 681038 w 1883953"/>
                <a:gd name="connsiteY110" fmla="*/ 1427299 h 1889942"/>
                <a:gd name="connsiteX111" fmla="*/ 666296 w 1883953"/>
                <a:gd name="connsiteY111" fmla="*/ 1295037 h 1889942"/>
                <a:gd name="connsiteX112" fmla="*/ 667338 w 1883953"/>
                <a:gd name="connsiteY112" fmla="*/ 1271271 h 1889942"/>
                <a:gd name="connsiteX113" fmla="*/ 18053 w 1883953"/>
                <a:gd name="connsiteY113" fmla="*/ 1229996 h 1889942"/>
                <a:gd name="connsiteX114" fmla="*/ 2 w 1883953"/>
                <a:gd name="connsiteY114" fmla="*/ 1307918 h 1889942"/>
                <a:gd name="connsiteX115" fmla="*/ 707572 w 1883953"/>
                <a:gd name="connsiteY115" fmla="*/ 1658983 h 1889942"/>
                <a:gd name="connsiteX116" fmla="*/ 785269 w 1883953"/>
                <a:gd name="connsiteY116" fmla="*/ 1656714 h 1889942"/>
                <a:gd name="connsiteX117" fmla="*/ 703626 w 1883953"/>
                <a:gd name="connsiteY117" fmla="*/ 1503045 h 1889942"/>
                <a:gd name="connsiteX118" fmla="*/ 18053 w 1883953"/>
                <a:gd name="connsiteY118" fmla="*/ 1229996 h 1889942"/>
                <a:gd name="connsiteX119" fmla="*/ 846773 w 1883953"/>
                <a:gd name="connsiteY119" fmla="*/ 1727018 h 1889942"/>
                <a:gd name="connsiteX120" fmla="*/ 707570 w 1883953"/>
                <a:gd name="connsiteY120" fmla="*/ 1734095 h 1889942"/>
                <a:gd name="connsiteX121" fmla="*/ 18051 w 1883953"/>
                <a:gd name="connsiteY121" fmla="*/ 1460955 h 1889942"/>
                <a:gd name="connsiteX122" fmla="*/ 0 w 1883953"/>
                <a:gd name="connsiteY122" fmla="*/ 1538877 h 1889942"/>
                <a:gd name="connsiteX123" fmla="*/ 707570 w 1883953"/>
                <a:gd name="connsiteY123" fmla="*/ 1889942 h 1889942"/>
                <a:gd name="connsiteX124" fmla="*/ 1027383 w 1883953"/>
                <a:gd name="connsiteY124" fmla="*/ 1851707 h 1889942"/>
                <a:gd name="connsiteX125" fmla="*/ 846772 w 1883953"/>
                <a:gd name="connsiteY125" fmla="*/ 1726974 h 188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883953" h="1889942">
                  <a:moveTo>
                    <a:pt x="1309369" y="720453"/>
                  </a:moveTo>
                  <a:cubicBezTo>
                    <a:pt x="991915" y="720453"/>
                    <a:pt x="734694" y="977719"/>
                    <a:pt x="734694" y="1295084"/>
                  </a:cubicBezTo>
                  <a:cubicBezTo>
                    <a:pt x="734694" y="1612447"/>
                    <a:pt x="992005" y="1869713"/>
                    <a:pt x="1309369" y="1869713"/>
                  </a:cubicBezTo>
                  <a:cubicBezTo>
                    <a:pt x="1626690" y="1869713"/>
                    <a:pt x="1883954" y="1612447"/>
                    <a:pt x="1883954" y="1295084"/>
                  </a:cubicBezTo>
                  <a:cubicBezTo>
                    <a:pt x="1883954" y="977719"/>
                    <a:pt x="1626688" y="720408"/>
                    <a:pt x="1309369" y="720408"/>
                  </a:cubicBezTo>
                  <a:close/>
                  <a:moveTo>
                    <a:pt x="1437594" y="1217386"/>
                  </a:moveTo>
                  <a:cubicBezTo>
                    <a:pt x="1447210" y="1219154"/>
                    <a:pt x="1456462" y="1220061"/>
                    <a:pt x="1464582" y="1220061"/>
                  </a:cubicBezTo>
                  <a:lnTo>
                    <a:pt x="1551850" y="1220061"/>
                  </a:lnTo>
                  <a:cubicBezTo>
                    <a:pt x="1560195" y="1220061"/>
                    <a:pt x="1567452" y="1223237"/>
                    <a:pt x="1573485" y="1230450"/>
                  </a:cubicBezTo>
                  <a:cubicBezTo>
                    <a:pt x="1579606" y="1237389"/>
                    <a:pt x="1582555" y="1244056"/>
                    <a:pt x="1582555" y="1251086"/>
                  </a:cubicBezTo>
                  <a:lnTo>
                    <a:pt x="1582555" y="1313816"/>
                  </a:lnTo>
                  <a:cubicBezTo>
                    <a:pt x="1582555" y="1326289"/>
                    <a:pt x="1573802" y="1332094"/>
                    <a:pt x="1557019" y="1332094"/>
                  </a:cubicBezTo>
                  <a:lnTo>
                    <a:pt x="1405754" y="1332094"/>
                  </a:lnTo>
                  <a:cubicBezTo>
                    <a:pt x="1398930" y="1332102"/>
                    <a:pt x="1392241" y="1334002"/>
                    <a:pt x="1386431" y="1337582"/>
                  </a:cubicBezTo>
                  <a:cubicBezTo>
                    <a:pt x="1380399" y="1340848"/>
                    <a:pt x="1377678" y="1346292"/>
                    <a:pt x="1377678" y="1353004"/>
                  </a:cubicBezTo>
                  <a:cubicBezTo>
                    <a:pt x="1377678" y="1360261"/>
                    <a:pt x="1377814" y="1367247"/>
                    <a:pt x="1378720" y="1375094"/>
                  </a:cubicBezTo>
                  <a:cubicBezTo>
                    <a:pt x="1379627" y="1382985"/>
                    <a:pt x="1379946" y="1389653"/>
                    <a:pt x="1379946" y="1394551"/>
                  </a:cubicBezTo>
                  <a:cubicBezTo>
                    <a:pt x="1379946" y="1404984"/>
                    <a:pt x="1388925" y="1408656"/>
                    <a:pt x="1405752" y="1404984"/>
                  </a:cubicBezTo>
                  <a:lnTo>
                    <a:pt x="1554707" y="1404984"/>
                  </a:lnTo>
                  <a:cubicBezTo>
                    <a:pt x="1571761" y="1404984"/>
                    <a:pt x="1580242" y="1412785"/>
                    <a:pt x="1580242" y="1428659"/>
                  </a:cubicBezTo>
                  <a:lnTo>
                    <a:pt x="1580242" y="1486354"/>
                  </a:lnTo>
                  <a:cubicBezTo>
                    <a:pt x="1580242" y="1503454"/>
                    <a:pt x="1567769" y="1512207"/>
                    <a:pt x="1544003" y="1512207"/>
                  </a:cubicBezTo>
                  <a:lnTo>
                    <a:pt x="1510665" y="1512207"/>
                  </a:lnTo>
                  <a:cubicBezTo>
                    <a:pt x="1497284" y="1512207"/>
                    <a:pt x="1483450" y="1512797"/>
                    <a:pt x="1468664" y="1513387"/>
                  </a:cubicBezTo>
                  <a:cubicBezTo>
                    <a:pt x="1454376" y="1514611"/>
                    <a:pt x="1440723" y="1514884"/>
                    <a:pt x="1428839" y="1514884"/>
                  </a:cubicBezTo>
                  <a:lnTo>
                    <a:pt x="1405708" y="1514884"/>
                  </a:lnTo>
                  <a:cubicBezTo>
                    <a:pt x="1390739" y="1514884"/>
                    <a:pt x="1382892" y="1523684"/>
                    <a:pt x="1382892" y="1541283"/>
                  </a:cubicBezTo>
                  <a:lnTo>
                    <a:pt x="1382892" y="1645604"/>
                  </a:lnTo>
                  <a:cubicBezTo>
                    <a:pt x="1382892" y="1654675"/>
                    <a:pt x="1375909" y="1658983"/>
                    <a:pt x="1362255" y="1658983"/>
                  </a:cubicBezTo>
                  <a:lnTo>
                    <a:pt x="1280069" y="1658983"/>
                  </a:lnTo>
                  <a:cubicBezTo>
                    <a:pt x="1257934" y="1658983"/>
                    <a:pt x="1246823" y="1649458"/>
                    <a:pt x="1246823" y="1630317"/>
                  </a:cubicBezTo>
                  <a:cubicBezTo>
                    <a:pt x="1246823" y="1623062"/>
                    <a:pt x="1247457" y="1608365"/>
                    <a:pt x="1248182" y="1585505"/>
                  </a:cubicBezTo>
                  <a:cubicBezTo>
                    <a:pt x="1249362" y="1562961"/>
                    <a:pt x="1248772" y="1547405"/>
                    <a:pt x="1246958" y="1538606"/>
                  </a:cubicBezTo>
                  <a:cubicBezTo>
                    <a:pt x="1246958" y="1529989"/>
                    <a:pt x="1245959" y="1524227"/>
                    <a:pt x="1244281" y="1521552"/>
                  </a:cubicBezTo>
                  <a:cubicBezTo>
                    <a:pt x="1242830" y="1519057"/>
                    <a:pt x="1237932" y="1517831"/>
                    <a:pt x="1228997" y="1517831"/>
                  </a:cubicBezTo>
                  <a:lnTo>
                    <a:pt x="1075099" y="1517831"/>
                  </a:lnTo>
                  <a:cubicBezTo>
                    <a:pt x="1052875" y="1517831"/>
                    <a:pt x="1041762" y="1506583"/>
                    <a:pt x="1041762" y="1483723"/>
                  </a:cubicBezTo>
                  <a:cubicBezTo>
                    <a:pt x="1041762" y="1478825"/>
                    <a:pt x="1041263" y="1472158"/>
                    <a:pt x="1039358" y="1463993"/>
                  </a:cubicBezTo>
                  <a:cubicBezTo>
                    <a:pt x="1037547" y="1455883"/>
                    <a:pt x="1037547" y="1447473"/>
                    <a:pt x="1039358" y="1439363"/>
                  </a:cubicBezTo>
                  <a:cubicBezTo>
                    <a:pt x="1041263" y="1430746"/>
                    <a:pt x="1043804" y="1422899"/>
                    <a:pt x="1047069" y="1415644"/>
                  </a:cubicBezTo>
                  <a:cubicBezTo>
                    <a:pt x="1050652" y="1408928"/>
                    <a:pt x="1057320" y="1406299"/>
                    <a:pt x="1067390" y="1408069"/>
                  </a:cubicBezTo>
                  <a:lnTo>
                    <a:pt x="1239065" y="1408069"/>
                  </a:lnTo>
                  <a:cubicBezTo>
                    <a:pt x="1242603" y="1408069"/>
                    <a:pt x="1244054" y="1403758"/>
                    <a:pt x="1244054" y="1394687"/>
                  </a:cubicBezTo>
                  <a:lnTo>
                    <a:pt x="1244054" y="1345157"/>
                  </a:lnTo>
                  <a:cubicBezTo>
                    <a:pt x="1244054" y="1336358"/>
                    <a:pt x="1233850" y="1332094"/>
                    <a:pt x="1213665" y="1332094"/>
                  </a:cubicBezTo>
                  <a:lnTo>
                    <a:pt x="1065031" y="1332094"/>
                  </a:lnTo>
                  <a:cubicBezTo>
                    <a:pt x="1058045" y="1332094"/>
                    <a:pt x="1052286" y="1331777"/>
                    <a:pt x="1047116" y="1331052"/>
                  </a:cubicBezTo>
                  <a:cubicBezTo>
                    <a:pt x="1041762" y="1330144"/>
                    <a:pt x="1039358" y="1325246"/>
                    <a:pt x="1039358" y="1316764"/>
                  </a:cubicBezTo>
                  <a:lnTo>
                    <a:pt x="1039358" y="1284878"/>
                  </a:lnTo>
                  <a:cubicBezTo>
                    <a:pt x="1039358" y="1271271"/>
                    <a:pt x="1038452" y="1260838"/>
                    <a:pt x="1036772" y="1253581"/>
                  </a:cubicBezTo>
                  <a:cubicBezTo>
                    <a:pt x="1033027" y="1244281"/>
                    <a:pt x="1036117" y="1233626"/>
                    <a:pt x="1044256" y="1227773"/>
                  </a:cubicBezTo>
                  <a:cubicBezTo>
                    <a:pt x="1052875" y="1220517"/>
                    <a:pt x="1064125" y="1217342"/>
                    <a:pt x="1077640" y="1217342"/>
                  </a:cubicBezTo>
                  <a:cubicBezTo>
                    <a:pt x="1091427" y="1219155"/>
                    <a:pt x="1106396" y="1219474"/>
                    <a:pt x="1122860" y="1218566"/>
                  </a:cubicBezTo>
                  <a:cubicBezTo>
                    <a:pt x="1138872" y="1217658"/>
                    <a:pt x="1151528" y="1217386"/>
                    <a:pt x="1159963" y="1217386"/>
                  </a:cubicBezTo>
                  <a:lnTo>
                    <a:pt x="1190352" y="1217386"/>
                  </a:lnTo>
                  <a:cubicBezTo>
                    <a:pt x="1200649" y="1217386"/>
                    <a:pt x="1204187" y="1213666"/>
                    <a:pt x="1200649" y="1206953"/>
                  </a:cubicBezTo>
                  <a:cubicBezTo>
                    <a:pt x="1190278" y="1194095"/>
                    <a:pt x="1180147" y="1181046"/>
                    <a:pt x="1170260" y="1167812"/>
                  </a:cubicBezTo>
                  <a:cubicBezTo>
                    <a:pt x="1152841" y="1144542"/>
                    <a:pt x="1135062" y="1121366"/>
                    <a:pt x="1116375" y="1097053"/>
                  </a:cubicBezTo>
                  <a:cubicBezTo>
                    <a:pt x="1091547" y="1064141"/>
                    <a:pt x="1065866" y="1031882"/>
                    <a:pt x="1039358" y="1000307"/>
                  </a:cubicBezTo>
                  <a:cubicBezTo>
                    <a:pt x="1027474" y="981166"/>
                    <a:pt x="1030015" y="965292"/>
                    <a:pt x="1047069" y="953453"/>
                  </a:cubicBezTo>
                  <a:cubicBezTo>
                    <a:pt x="1055506" y="948100"/>
                    <a:pt x="1064441" y="941569"/>
                    <a:pt x="1073784" y="933405"/>
                  </a:cubicBezTo>
                  <a:cubicBezTo>
                    <a:pt x="1083264" y="925694"/>
                    <a:pt x="1094060" y="918257"/>
                    <a:pt x="1106124" y="911453"/>
                  </a:cubicBezTo>
                  <a:cubicBezTo>
                    <a:pt x="1122998" y="900929"/>
                    <a:pt x="1139190" y="910363"/>
                    <a:pt x="1154657" y="939935"/>
                  </a:cubicBezTo>
                  <a:cubicBezTo>
                    <a:pt x="1159963" y="947194"/>
                    <a:pt x="1169624" y="959666"/>
                    <a:pt x="1184274" y="978035"/>
                  </a:cubicBezTo>
                  <a:cubicBezTo>
                    <a:pt x="1198835" y="996633"/>
                    <a:pt x="1213801" y="1015592"/>
                    <a:pt x="1228952" y="1036774"/>
                  </a:cubicBezTo>
                  <a:cubicBezTo>
                    <a:pt x="1244101" y="1058001"/>
                    <a:pt x="1258796" y="1076599"/>
                    <a:pt x="1272585" y="1092744"/>
                  </a:cubicBezTo>
                  <a:cubicBezTo>
                    <a:pt x="1286374" y="1109527"/>
                    <a:pt x="1293811" y="1119777"/>
                    <a:pt x="1295852" y="1123133"/>
                  </a:cubicBezTo>
                  <a:cubicBezTo>
                    <a:pt x="1299119" y="1130165"/>
                    <a:pt x="1305377" y="1134428"/>
                    <a:pt x="1314722" y="1136241"/>
                  </a:cubicBezTo>
                  <a:cubicBezTo>
                    <a:pt x="1324247" y="1138011"/>
                    <a:pt x="1330914" y="1135017"/>
                    <a:pt x="1334134" y="1128350"/>
                  </a:cubicBezTo>
                  <a:cubicBezTo>
                    <a:pt x="1335677" y="1124631"/>
                    <a:pt x="1342752" y="1113971"/>
                    <a:pt x="1355860" y="1095422"/>
                  </a:cubicBezTo>
                  <a:cubicBezTo>
                    <a:pt x="1368560" y="1077460"/>
                    <a:pt x="1382848" y="1057139"/>
                    <a:pt x="1398132" y="1034279"/>
                  </a:cubicBezTo>
                  <a:cubicBezTo>
                    <a:pt x="1413555" y="1011602"/>
                    <a:pt x="1428069" y="990509"/>
                    <a:pt x="1441585" y="970054"/>
                  </a:cubicBezTo>
                  <a:cubicBezTo>
                    <a:pt x="1455556" y="950186"/>
                    <a:pt x="1463993" y="937396"/>
                    <a:pt x="1467440" y="932317"/>
                  </a:cubicBezTo>
                  <a:cubicBezTo>
                    <a:pt x="1475875" y="920070"/>
                    <a:pt x="1483405" y="912359"/>
                    <a:pt x="1488938" y="908914"/>
                  </a:cubicBezTo>
                  <a:cubicBezTo>
                    <a:pt x="1495016" y="905374"/>
                    <a:pt x="1504812" y="906417"/>
                    <a:pt x="1518737" y="911451"/>
                  </a:cubicBezTo>
                  <a:cubicBezTo>
                    <a:pt x="1527220" y="914854"/>
                    <a:pt x="1536745" y="920070"/>
                    <a:pt x="1546497" y="926874"/>
                  </a:cubicBezTo>
                  <a:cubicBezTo>
                    <a:pt x="1557019" y="933995"/>
                    <a:pt x="1564003" y="939347"/>
                    <a:pt x="1567090" y="942884"/>
                  </a:cubicBezTo>
                  <a:cubicBezTo>
                    <a:pt x="1585957" y="962207"/>
                    <a:pt x="1591265" y="978671"/>
                    <a:pt x="1582555" y="992325"/>
                  </a:cubicBezTo>
                  <a:cubicBezTo>
                    <a:pt x="1579290" y="997813"/>
                    <a:pt x="1569765" y="1010829"/>
                    <a:pt x="1554616" y="1031784"/>
                  </a:cubicBezTo>
                  <a:cubicBezTo>
                    <a:pt x="1538650" y="1052559"/>
                    <a:pt x="1522413" y="1074647"/>
                    <a:pt x="1504450" y="1098415"/>
                  </a:cubicBezTo>
                  <a:cubicBezTo>
                    <a:pt x="1487581" y="1120135"/>
                    <a:pt x="1471367" y="1142354"/>
                    <a:pt x="1455828" y="1165043"/>
                  </a:cubicBezTo>
                  <a:cubicBezTo>
                    <a:pt x="1441313" y="1185909"/>
                    <a:pt x="1433239" y="1198427"/>
                    <a:pt x="1431245" y="1201512"/>
                  </a:cubicBezTo>
                  <a:cubicBezTo>
                    <a:pt x="1426572" y="1210129"/>
                    <a:pt x="1428387" y="1215299"/>
                    <a:pt x="1437594" y="1217386"/>
                  </a:cubicBezTo>
                  <a:close/>
                  <a:moveTo>
                    <a:pt x="707570" y="0"/>
                  </a:moveTo>
                  <a:cubicBezTo>
                    <a:pt x="316729" y="47"/>
                    <a:pt x="0" y="157209"/>
                    <a:pt x="0" y="351110"/>
                  </a:cubicBezTo>
                  <a:cubicBezTo>
                    <a:pt x="0" y="544966"/>
                    <a:pt x="316729" y="702128"/>
                    <a:pt x="707570" y="702128"/>
                  </a:cubicBezTo>
                  <a:cubicBezTo>
                    <a:pt x="1098322" y="702128"/>
                    <a:pt x="1415142" y="544966"/>
                    <a:pt x="1415142" y="351065"/>
                  </a:cubicBezTo>
                  <a:cubicBezTo>
                    <a:pt x="1415142" y="157209"/>
                    <a:pt x="1098324" y="91"/>
                    <a:pt x="707570" y="91"/>
                  </a:cubicBezTo>
                  <a:close/>
                  <a:moveTo>
                    <a:pt x="930546" y="792119"/>
                  </a:moveTo>
                  <a:cubicBezTo>
                    <a:pt x="856837" y="804214"/>
                    <a:pt x="782265" y="810282"/>
                    <a:pt x="707570" y="810261"/>
                  </a:cubicBezTo>
                  <a:cubicBezTo>
                    <a:pt x="370794" y="810261"/>
                    <a:pt x="89580" y="693420"/>
                    <a:pt x="18051" y="537119"/>
                  </a:cubicBezTo>
                  <a:cubicBezTo>
                    <a:pt x="6473" y="561468"/>
                    <a:pt x="314" y="588039"/>
                    <a:pt x="0" y="614999"/>
                  </a:cubicBezTo>
                  <a:cubicBezTo>
                    <a:pt x="0" y="808855"/>
                    <a:pt x="316729" y="966062"/>
                    <a:pt x="707570" y="966062"/>
                  </a:cubicBezTo>
                  <a:cubicBezTo>
                    <a:pt x="726620" y="966062"/>
                    <a:pt x="745218" y="965381"/>
                    <a:pt x="763814" y="964611"/>
                  </a:cubicBezTo>
                  <a:cubicBezTo>
                    <a:pt x="807518" y="896717"/>
                    <a:pt x="864175" y="838103"/>
                    <a:pt x="930546" y="792119"/>
                  </a:cubicBezTo>
                  <a:close/>
                  <a:moveTo>
                    <a:pt x="1395684" y="695416"/>
                  </a:moveTo>
                  <a:cubicBezTo>
                    <a:pt x="1407931" y="669608"/>
                    <a:pt x="1415050" y="642802"/>
                    <a:pt x="1415050" y="615088"/>
                  </a:cubicBezTo>
                  <a:cubicBezTo>
                    <a:pt x="1415050" y="588238"/>
                    <a:pt x="1408474" y="562248"/>
                    <a:pt x="1396908" y="537165"/>
                  </a:cubicBezTo>
                  <a:cubicBezTo>
                    <a:pt x="1371554" y="592728"/>
                    <a:pt x="1319121" y="643211"/>
                    <a:pt x="1247548" y="685346"/>
                  </a:cubicBezTo>
                  <a:cubicBezTo>
                    <a:pt x="1257663" y="684848"/>
                    <a:pt x="1267504" y="683759"/>
                    <a:pt x="1277710" y="683759"/>
                  </a:cubicBezTo>
                  <a:cubicBezTo>
                    <a:pt x="1318080" y="683759"/>
                    <a:pt x="1357538" y="687932"/>
                    <a:pt x="1395684" y="695416"/>
                  </a:cubicBezTo>
                  <a:close/>
                  <a:moveTo>
                    <a:pt x="707614" y="1041218"/>
                  </a:moveTo>
                  <a:cubicBezTo>
                    <a:pt x="370794" y="1041218"/>
                    <a:pt x="89580" y="924379"/>
                    <a:pt x="18051" y="768078"/>
                  </a:cubicBezTo>
                  <a:cubicBezTo>
                    <a:pt x="6473" y="792426"/>
                    <a:pt x="315" y="818997"/>
                    <a:pt x="0" y="845956"/>
                  </a:cubicBezTo>
                  <a:cubicBezTo>
                    <a:pt x="0" y="1034324"/>
                    <a:pt x="299219" y="1187587"/>
                    <a:pt x="674642" y="1196160"/>
                  </a:cubicBezTo>
                  <a:cubicBezTo>
                    <a:pt x="683577" y="1141596"/>
                    <a:pt x="699589" y="1089480"/>
                    <a:pt x="722040" y="1040857"/>
                  </a:cubicBezTo>
                  <a:cubicBezTo>
                    <a:pt x="717233" y="1040902"/>
                    <a:pt x="712424" y="1041218"/>
                    <a:pt x="707570" y="1041218"/>
                  </a:cubicBezTo>
                  <a:close/>
                  <a:moveTo>
                    <a:pt x="667338" y="1271269"/>
                  </a:moveTo>
                  <a:cubicBezTo>
                    <a:pt x="348704" y="1262381"/>
                    <a:pt x="86767" y="1149078"/>
                    <a:pt x="18051" y="999037"/>
                  </a:cubicBezTo>
                  <a:cubicBezTo>
                    <a:pt x="6471" y="1023401"/>
                    <a:pt x="312" y="1049987"/>
                    <a:pt x="0" y="1076961"/>
                  </a:cubicBezTo>
                  <a:cubicBezTo>
                    <a:pt x="0" y="1266327"/>
                    <a:pt x="302623" y="1420313"/>
                    <a:pt x="681038" y="1427299"/>
                  </a:cubicBezTo>
                  <a:cubicBezTo>
                    <a:pt x="671334" y="1383878"/>
                    <a:pt x="666391" y="1339529"/>
                    <a:pt x="666296" y="1295037"/>
                  </a:cubicBezTo>
                  <a:cubicBezTo>
                    <a:pt x="666296" y="1287056"/>
                    <a:pt x="667022" y="1279208"/>
                    <a:pt x="667338" y="1271271"/>
                  </a:cubicBezTo>
                  <a:close/>
                  <a:moveTo>
                    <a:pt x="18053" y="1229996"/>
                  </a:moveTo>
                  <a:cubicBezTo>
                    <a:pt x="6467" y="1254357"/>
                    <a:pt x="309" y="1280944"/>
                    <a:pt x="2" y="1307918"/>
                  </a:cubicBezTo>
                  <a:cubicBezTo>
                    <a:pt x="2" y="1501730"/>
                    <a:pt x="316730" y="1658983"/>
                    <a:pt x="707572" y="1658983"/>
                  </a:cubicBezTo>
                  <a:cubicBezTo>
                    <a:pt x="733879" y="1658983"/>
                    <a:pt x="759734" y="1658122"/>
                    <a:pt x="785269" y="1656714"/>
                  </a:cubicBezTo>
                  <a:cubicBezTo>
                    <a:pt x="750861" y="1609649"/>
                    <a:pt x="723368" y="1557902"/>
                    <a:pt x="703626" y="1503045"/>
                  </a:cubicBezTo>
                  <a:cubicBezTo>
                    <a:pt x="368619" y="1502139"/>
                    <a:pt x="89263" y="1385707"/>
                    <a:pt x="18053" y="1229996"/>
                  </a:cubicBezTo>
                  <a:close/>
                  <a:moveTo>
                    <a:pt x="846773" y="1727018"/>
                  </a:moveTo>
                  <a:cubicBezTo>
                    <a:pt x="800517" y="1731680"/>
                    <a:pt x="754059" y="1734042"/>
                    <a:pt x="707570" y="1734095"/>
                  </a:cubicBezTo>
                  <a:cubicBezTo>
                    <a:pt x="370794" y="1734095"/>
                    <a:pt x="89580" y="1617300"/>
                    <a:pt x="18051" y="1460955"/>
                  </a:cubicBezTo>
                  <a:cubicBezTo>
                    <a:pt x="6471" y="1485318"/>
                    <a:pt x="312" y="1511903"/>
                    <a:pt x="0" y="1538877"/>
                  </a:cubicBezTo>
                  <a:cubicBezTo>
                    <a:pt x="0" y="1732733"/>
                    <a:pt x="316729" y="1889942"/>
                    <a:pt x="707570" y="1889942"/>
                  </a:cubicBezTo>
                  <a:cubicBezTo>
                    <a:pt x="822778" y="1889942"/>
                    <a:pt x="931227" y="1875971"/>
                    <a:pt x="1027383" y="1851707"/>
                  </a:cubicBezTo>
                  <a:cubicBezTo>
                    <a:pt x="960113" y="1821426"/>
                    <a:pt x="898914" y="1779160"/>
                    <a:pt x="846772" y="172697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821087" y="1842140"/>
            <a:ext cx="1321835" cy="184666"/>
            <a:chOff x="755649" y="1842140"/>
            <a:chExt cx="1321835" cy="184666"/>
          </a:xfrm>
        </p:grpSpPr>
        <p:sp>
          <p:nvSpPr>
            <p:cNvPr id="28" name="等腰三角形 27"/>
            <p:cNvSpPr/>
            <p:nvPr/>
          </p:nvSpPr>
          <p:spPr>
            <a:xfrm>
              <a:off x="191085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7556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85538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3076147" y="1842140"/>
            <a:ext cx="1212731" cy="184666"/>
            <a:chOff x="2994299" y="1842140"/>
            <a:chExt cx="1212731" cy="184666"/>
          </a:xfrm>
        </p:grpSpPr>
        <p:sp>
          <p:nvSpPr>
            <p:cNvPr id="70" name="等腰三角形 69"/>
            <p:cNvSpPr/>
            <p:nvPr/>
          </p:nvSpPr>
          <p:spPr>
            <a:xfrm>
              <a:off x="4040402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299429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12115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5296111" y="1842140"/>
            <a:ext cx="1269425" cy="184666"/>
            <a:chOff x="5232949" y="1842140"/>
            <a:chExt cx="1269425" cy="184666"/>
          </a:xfrm>
        </p:grpSpPr>
        <p:sp>
          <p:nvSpPr>
            <p:cNvPr id="78" name="等腰三角形 77"/>
            <p:cNvSpPr/>
            <p:nvPr/>
          </p:nvSpPr>
          <p:spPr>
            <a:xfrm>
              <a:off x="633574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2329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979112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5296111" y="1097528"/>
            <a:ext cx="1070676" cy="252000"/>
            <a:chOff x="5228980" y="1097528"/>
            <a:chExt cx="1070676" cy="252000"/>
          </a:xfrm>
        </p:grpSpPr>
        <p:sp>
          <p:nvSpPr>
            <p:cNvPr id="73" name="文本框 72"/>
            <p:cNvSpPr txBox="1"/>
            <p:nvPr/>
          </p:nvSpPr>
          <p:spPr>
            <a:xfrm>
              <a:off x="553021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市场占有率</a:t>
              </a:r>
            </a:p>
          </p:txBody>
        </p:sp>
        <p:grpSp>
          <p:nvGrpSpPr>
            <p:cNvPr id="111" name="组合 110"/>
            <p:cNvGrpSpPr>
              <a:grpSpLocks noChangeAspect="1"/>
            </p:cNvGrpSpPr>
            <p:nvPr/>
          </p:nvGrpSpPr>
          <p:grpSpPr>
            <a:xfrm>
              <a:off x="5228980" y="1097528"/>
              <a:ext cx="252000" cy="252000"/>
              <a:chOff x="133750" y="133752"/>
              <a:chExt cx="1639323" cy="1639324"/>
            </a:xfrm>
            <a:solidFill>
              <a:schemeClr val="bg1"/>
            </a:solidFill>
          </p:grpSpPr>
          <p:sp>
            <p:nvSpPr>
              <p:cNvPr id="107" name="任意多边形: 形状 106"/>
              <p:cNvSpPr/>
              <p:nvPr/>
            </p:nvSpPr>
            <p:spPr>
              <a:xfrm>
                <a:off x="133750" y="133752"/>
                <a:ext cx="1639323" cy="1639324"/>
              </a:xfrm>
              <a:custGeom>
                <a:avLst/>
                <a:gdLst>
                  <a:gd name="connsiteX0" fmla="*/ 0 w 1639323"/>
                  <a:gd name="connsiteY0" fmla="*/ 1491292 h 1639324"/>
                  <a:gd name="connsiteX1" fmla="*/ 0 w 1639323"/>
                  <a:gd name="connsiteY1" fmla="*/ 148032 h 1639324"/>
                  <a:gd name="connsiteX2" fmla="*/ 2669 w 1639323"/>
                  <a:gd name="connsiteY2" fmla="*/ 141208 h 1639324"/>
                  <a:gd name="connsiteX3" fmla="*/ 9787 w 1639323"/>
                  <a:gd name="connsiteY3" fmla="*/ 110133 h 1639324"/>
                  <a:gd name="connsiteX4" fmla="*/ 142043 w 1639323"/>
                  <a:gd name="connsiteY4" fmla="*/ 1704 h 1639324"/>
                  <a:gd name="connsiteX5" fmla="*/ 148032 w 1639323"/>
                  <a:gd name="connsiteY5" fmla="*/ 0 h 1639324"/>
                  <a:gd name="connsiteX6" fmla="*/ 1492205 w 1639323"/>
                  <a:gd name="connsiteY6" fmla="*/ 0 h 1639324"/>
                  <a:gd name="connsiteX7" fmla="*/ 1499135 w 1639323"/>
                  <a:gd name="connsiteY7" fmla="*/ 1673 h 1639324"/>
                  <a:gd name="connsiteX8" fmla="*/ 1567935 w 1639323"/>
                  <a:gd name="connsiteY8" fmla="*/ 26842 h 1639324"/>
                  <a:gd name="connsiteX9" fmla="*/ 1624102 w 1639323"/>
                  <a:gd name="connsiteY9" fmla="*/ 90944 h 1639324"/>
                  <a:gd name="connsiteX10" fmla="*/ 1638646 w 1639323"/>
                  <a:gd name="connsiteY10" fmla="*/ 140454 h 1639324"/>
                  <a:gd name="connsiteX11" fmla="*/ 1639324 w 1639323"/>
                  <a:gd name="connsiteY11" fmla="*/ 142550 h 1639324"/>
                  <a:gd name="connsiteX12" fmla="*/ 1639324 w 1639323"/>
                  <a:gd name="connsiteY12" fmla="*/ 1497688 h 1639324"/>
                  <a:gd name="connsiteX13" fmla="*/ 1638445 w 1639323"/>
                  <a:gd name="connsiteY13" fmla="*/ 1501537 h 1639324"/>
                  <a:gd name="connsiteX14" fmla="*/ 1637274 w 1639323"/>
                  <a:gd name="connsiteY14" fmla="*/ 1511016 h 1639324"/>
                  <a:gd name="connsiteX15" fmla="*/ 1509643 w 1639323"/>
                  <a:gd name="connsiteY15" fmla="*/ 1636800 h 1639324"/>
                  <a:gd name="connsiteX16" fmla="*/ 1497688 w 1639323"/>
                  <a:gd name="connsiteY16" fmla="*/ 1639324 h 1639324"/>
                  <a:gd name="connsiteX17" fmla="*/ 144377 w 1639323"/>
                  <a:gd name="connsiteY17" fmla="*/ 1639324 h 1639324"/>
                  <a:gd name="connsiteX18" fmla="*/ 131516 w 1639323"/>
                  <a:gd name="connsiteY18" fmla="*/ 1636670 h 1639324"/>
                  <a:gd name="connsiteX19" fmla="*/ 8333 w 1639323"/>
                  <a:gd name="connsiteY19" fmla="*/ 1525452 h 1639324"/>
                  <a:gd name="connsiteX20" fmla="*/ 2536 w 1639323"/>
                  <a:gd name="connsiteY20" fmla="*/ 1498273 h 1639324"/>
                  <a:gd name="connsiteX21" fmla="*/ 0 w 1639323"/>
                  <a:gd name="connsiteY21" fmla="*/ 1491292 h 1639324"/>
                  <a:gd name="connsiteX22" fmla="*/ 424358 w 1639323"/>
                  <a:gd name="connsiteY22" fmla="*/ 819884 h 1639324"/>
                  <a:gd name="connsiteX23" fmla="*/ 422167 w 1639323"/>
                  <a:gd name="connsiteY23" fmla="*/ 823434 h 1639324"/>
                  <a:gd name="connsiteX24" fmla="*/ 362982 w 1639323"/>
                  <a:gd name="connsiteY24" fmla="*/ 916762 h 1639324"/>
                  <a:gd name="connsiteX25" fmla="*/ 354705 w 1639323"/>
                  <a:gd name="connsiteY25" fmla="*/ 929893 h 1639324"/>
                  <a:gd name="connsiteX26" fmla="*/ 361827 w 1639323"/>
                  <a:gd name="connsiteY26" fmla="*/ 957269 h 1639324"/>
                  <a:gd name="connsiteX27" fmla="*/ 365855 w 1639323"/>
                  <a:gd name="connsiteY27" fmla="*/ 959416 h 1639324"/>
                  <a:gd name="connsiteX28" fmla="*/ 474283 w 1639323"/>
                  <a:gd name="connsiteY28" fmla="*/ 1016065 h 1639324"/>
                  <a:gd name="connsiteX29" fmla="*/ 477447 w 1639323"/>
                  <a:gd name="connsiteY29" fmla="*/ 1021348 h 1639324"/>
                  <a:gd name="connsiteX30" fmla="*/ 475611 w 1639323"/>
                  <a:gd name="connsiteY30" fmla="*/ 1063755 h 1639324"/>
                  <a:gd name="connsiteX31" fmla="*/ 473515 w 1639323"/>
                  <a:gd name="connsiteY31" fmla="*/ 1111631 h 1639324"/>
                  <a:gd name="connsiteX32" fmla="*/ 472333 w 1639323"/>
                  <a:gd name="connsiteY32" fmla="*/ 1149045 h 1639324"/>
                  <a:gd name="connsiteX33" fmla="*/ 487146 w 1639323"/>
                  <a:gd name="connsiteY33" fmla="*/ 1167497 h 1639324"/>
                  <a:gd name="connsiteX34" fmla="*/ 496234 w 1639323"/>
                  <a:gd name="connsiteY34" fmla="*/ 1167869 h 1639324"/>
                  <a:gd name="connsiteX35" fmla="*/ 562367 w 1639323"/>
                  <a:gd name="connsiteY35" fmla="*/ 1165152 h 1639324"/>
                  <a:gd name="connsiteX36" fmla="*/ 618909 w 1639323"/>
                  <a:gd name="connsiteY36" fmla="*/ 1162753 h 1639324"/>
                  <a:gd name="connsiteX37" fmla="*/ 624173 w 1639323"/>
                  <a:gd name="connsiteY37" fmla="*/ 1165999 h 1639324"/>
                  <a:gd name="connsiteX38" fmla="*/ 663271 w 1639323"/>
                  <a:gd name="connsiteY38" fmla="*/ 1240851 h 1639324"/>
                  <a:gd name="connsiteX39" fmla="*/ 682585 w 1639323"/>
                  <a:gd name="connsiteY39" fmla="*/ 1277627 h 1639324"/>
                  <a:gd name="connsiteX40" fmla="*/ 701795 w 1639323"/>
                  <a:gd name="connsiteY40" fmla="*/ 1288242 h 1639324"/>
                  <a:gd name="connsiteX41" fmla="*/ 713130 w 1639323"/>
                  <a:gd name="connsiteY41" fmla="*/ 1283789 h 1639324"/>
                  <a:gd name="connsiteX42" fmla="*/ 816417 w 1639323"/>
                  <a:gd name="connsiteY42" fmla="*/ 1218146 h 1639324"/>
                  <a:gd name="connsiteX43" fmla="*/ 824095 w 1639323"/>
                  <a:gd name="connsiteY43" fmla="*/ 1218028 h 1639324"/>
                  <a:gd name="connsiteX44" fmla="*/ 895004 w 1639323"/>
                  <a:gd name="connsiteY44" fmla="*/ 1263104 h 1639324"/>
                  <a:gd name="connsiteX45" fmla="*/ 929338 w 1639323"/>
                  <a:gd name="connsiteY45" fmla="*/ 1284851 h 1639324"/>
                  <a:gd name="connsiteX46" fmla="*/ 951304 w 1639323"/>
                  <a:gd name="connsiteY46" fmla="*/ 1285160 h 1639324"/>
                  <a:gd name="connsiteX47" fmla="*/ 959361 w 1639323"/>
                  <a:gd name="connsiteY47" fmla="*/ 1275451 h 1639324"/>
                  <a:gd name="connsiteX48" fmla="*/ 1006927 w 1639323"/>
                  <a:gd name="connsiteY48" fmla="*/ 1184419 h 1639324"/>
                  <a:gd name="connsiteX49" fmla="*/ 1018155 w 1639323"/>
                  <a:gd name="connsiteY49" fmla="*/ 1163027 h 1639324"/>
                  <a:gd name="connsiteX50" fmla="*/ 1021525 w 1639323"/>
                  <a:gd name="connsiteY50" fmla="*/ 1162814 h 1639324"/>
                  <a:gd name="connsiteX51" fmla="*/ 1064391 w 1639323"/>
                  <a:gd name="connsiteY51" fmla="*/ 1164606 h 1639324"/>
                  <a:gd name="connsiteX52" fmla="*/ 1109541 w 1639323"/>
                  <a:gd name="connsiteY52" fmla="*/ 1166454 h 1639324"/>
                  <a:gd name="connsiteX53" fmla="*/ 1149226 w 1639323"/>
                  <a:gd name="connsiteY53" fmla="*/ 1167893 h 1639324"/>
                  <a:gd name="connsiteX54" fmla="*/ 1167840 w 1639323"/>
                  <a:gd name="connsiteY54" fmla="*/ 1153324 h 1639324"/>
                  <a:gd name="connsiteX55" fmla="*/ 1168535 w 1639323"/>
                  <a:gd name="connsiteY55" fmla="*/ 1145647 h 1639324"/>
                  <a:gd name="connsiteX56" fmla="*/ 1166705 w 1639323"/>
                  <a:gd name="connsiteY56" fmla="*/ 1100039 h 1639324"/>
                  <a:gd name="connsiteX57" fmla="*/ 1163227 w 1639323"/>
                  <a:gd name="connsiteY57" fmla="*/ 1021614 h 1639324"/>
                  <a:gd name="connsiteX58" fmla="*/ 1166555 w 1639323"/>
                  <a:gd name="connsiteY58" fmla="*/ 1015993 h 1639324"/>
                  <a:gd name="connsiteX59" fmla="*/ 1245049 w 1639323"/>
                  <a:gd name="connsiteY59" fmla="*/ 974994 h 1639324"/>
                  <a:gd name="connsiteX60" fmla="*/ 1278190 w 1639323"/>
                  <a:gd name="connsiteY60" fmla="*/ 957596 h 1639324"/>
                  <a:gd name="connsiteX61" fmla="*/ 1288775 w 1639323"/>
                  <a:gd name="connsiteY61" fmla="*/ 940174 h 1639324"/>
                  <a:gd name="connsiteX62" fmla="*/ 1284520 w 1639323"/>
                  <a:gd name="connsiteY62" fmla="*/ 927390 h 1639324"/>
                  <a:gd name="connsiteX63" fmla="*/ 1222844 w 1639323"/>
                  <a:gd name="connsiteY63" fmla="*/ 830238 h 1639324"/>
                  <a:gd name="connsiteX64" fmla="*/ 1216367 w 1639323"/>
                  <a:gd name="connsiteY64" fmla="*/ 819878 h 1639324"/>
                  <a:gd name="connsiteX65" fmla="*/ 1219375 w 1639323"/>
                  <a:gd name="connsiteY65" fmla="*/ 814980 h 1639324"/>
                  <a:gd name="connsiteX66" fmla="*/ 1284863 w 1639323"/>
                  <a:gd name="connsiteY66" fmla="*/ 711595 h 1639324"/>
                  <a:gd name="connsiteX67" fmla="*/ 1288352 w 1639323"/>
                  <a:gd name="connsiteY67" fmla="*/ 703280 h 1639324"/>
                  <a:gd name="connsiteX68" fmla="*/ 1276660 w 1639323"/>
                  <a:gd name="connsiteY68" fmla="*/ 681298 h 1639324"/>
                  <a:gd name="connsiteX69" fmla="*/ 1191724 w 1639323"/>
                  <a:gd name="connsiteY69" fmla="*/ 636861 h 1639324"/>
                  <a:gd name="connsiteX70" fmla="*/ 1163330 w 1639323"/>
                  <a:gd name="connsiteY70" fmla="*/ 621986 h 1639324"/>
                  <a:gd name="connsiteX71" fmla="*/ 1163338 w 1639323"/>
                  <a:gd name="connsiteY71" fmla="*/ 617293 h 1639324"/>
                  <a:gd name="connsiteX72" fmla="*/ 1165535 w 1639323"/>
                  <a:gd name="connsiteY72" fmla="*/ 565760 h 1639324"/>
                  <a:gd name="connsiteX73" fmla="*/ 1167379 w 1639323"/>
                  <a:gd name="connsiteY73" fmla="*/ 520605 h 1639324"/>
                  <a:gd name="connsiteX74" fmla="*/ 1168514 w 1639323"/>
                  <a:gd name="connsiteY74" fmla="*/ 491422 h 1639324"/>
                  <a:gd name="connsiteX75" fmla="*/ 1148841 w 1639323"/>
                  <a:gd name="connsiteY75" fmla="*/ 471701 h 1639324"/>
                  <a:gd name="connsiteX76" fmla="*/ 1136537 w 1639323"/>
                  <a:gd name="connsiteY76" fmla="*/ 472261 h 1639324"/>
                  <a:gd name="connsiteX77" fmla="*/ 1039848 w 1639323"/>
                  <a:gd name="connsiteY77" fmla="*/ 476148 h 1639324"/>
                  <a:gd name="connsiteX78" fmla="*/ 1018542 w 1639323"/>
                  <a:gd name="connsiteY78" fmla="*/ 477071 h 1639324"/>
                  <a:gd name="connsiteX79" fmla="*/ 1016941 w 1639323"/>
                  <a:gd name="connsiteY79" fmla="*/ 474452 h 1639324"/>
                  <a:gd name="connsiteX80" fmla="*/ 972302 w 1639323"/>
                  <a:gd name="connsiteY80" fmla="*/ 389103 h 1639324"/>
                  <a:gd name="connsiteX81" fmla="*/ 958053 w 1639323"/>
                  <a:gd name="connsiteY81" fmla="*/ 362044 h 1639324"/>
                  <a:gd name="connsiteX82" fmla="*/ 940143 w 1639323"/>
                  <a:gd name="connsiteY82" fmla="*/ 351596 h 1639324"/>
                  <a:gd name="connsiteX83" fmla="*/ 927451 w 1639323"/>
                  <a:gd name="connsiteY83" fmla="*/ 356089 h 1639324"/>
                  <a:gd name="connsiteX84" fmla="*/ 824103 w 1639323"/>
                  <a:gd name="connsiteY84" fmla="*/ 421639 h 1639324"/>
                  <a:gd name="connsiteX85" fmla="*/ 820310 w 1639323"/>
                  <a:gd name="connsiteY85" fmla="*/ 423908 h 1639324"/>
                  <a:gd name="connsiteX86" fmla="*/ 815791 w 1639323"/>
                  <a:gd name="connsiteY86" fmla="*/ 421150 h 1639324"/>
                  <a:gd name="connsiteX87" fmla="*/ 730191 w 1639323"/>
                  <a:gd name="connsiteY87" fmla="*/ 366839 h 1639324"/>
                  <a:gd name="connsiteX88" fmla="*/ 710483 w 1639323"/>
                  <a:gd name="connsiteY88" fmla="*/ 354433 h 1639324"/>
                  <a:gd name="connsiteX89" fmla="*/ 685204 w 1639323"/>
                  <a:gd name="connsiteY89" fmla="*/ 358310 h 1639324"/>
                  <a:gd name="connsiteX90" fmla="*/ 681328 w 1639323"/>
                  <a:gd name="connsiteY90" fmla="*/ 364467 h 1639324"/>
                  <a:gd name="connsiteX91" fmla="*/ 624440 w 1639323"/>
                  <a:gd name="connsiteY91" fmla="*/ 473289 h 1639324"/>
                  <a:gd name="connsiteX92" fmla="*/ 618108 w 1639323"/>
                  <a:gd name="connsiteY92" fmla="*/ 477005 h 1639324"/>
                  <a:gd name="connsiteX93" fmla="*/ 564756 w 1639323"/>
                  <a:gd name="connsiteY93" fmla="*/ 474701 h 1639324"/>
                  <a:gd name="connsiteX94" fmla="*/ 521434 w 1639323"/>
                  <a:gd name="connsiteY94" fmla="*/ 472881 h 1639324"/>
                  <a:gd name="connsiteX95" fmla="*/ 492248 w 1639323"/>
                  <a:gd name="connsiteY95" fmla="*/ 471720 h 1639324"/>
                  <a:gd name="connsiteX96" fmla="*/ 472282 w 1639323"/>
                  <a:gd name="connsiteY96" fmla="*/ 491503 h 1639324"/>
                  <a:gd name="connsiteX97" fmla="*/ 472364 w 1639323"/>
                  <a:gd name="connsiteY97" fmla="*/ 496982 h 1639324"/>
                  <a:gd name="connsiteX98" fmla="*/ 475107 w 1639323"/>
                  <a:gd name="connsiteY98" fmla="*/ 562653 h 1639324"/>
                  <a:gd name="connsiteX99" fmla="*/ 477452 w 1639323"/>
                  <a:gd name="connsiteY99" fmla="*/ 618294 h 1639324"/>
                  <a:gd name="connsiteX100" fmla="*/ 473976 w 1639323"/>
                  <a:gd name="connsiteY100" fmla="*/ 623870 h 1639324"/>
                  <a:gd name="connsiteX101" fmla="*/ 405187 w 1639323"/>
                  <a:gd name="connsiteY101" fmla="*/ 659784 h 1639324"/>
                  <a:gd name="connsiteX102" fmla="*/ 363915 w 1639323"/>
                  <a:gd name="connsiteY102" fmla="*/ 681334 h 1639324"/>
                  <a:gd name="connsiteX103" fmla="*/ 352221 w 1639323"/>
                  <a:gd name="connsiteY103" fmla="*/ 696156 h 1639324"/>
                  <a:gd name="connsiteX104" fmla="*/ 355826 w 1639323"/>
                  <a:gd name="connsiteY104" fmla="*/ 711742 h 1639324"/>
                  <a:gd name="connsiteX105" fmla="*/ 418215 w 1639323"/>
                  <a:gd name="connsiteY105" fmla="*/ 810065 h 1639324"/>
                  <a:gd name="connsiteX106" fmla="*/ 424358 w 1639323"/>
                  <a:gd name="connsiteY106" fmla="*/ 819884 h 163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1639323" h="1639324">
                    <a:moveTo>
                      <a:pt x="0" y="1491292"/>
                    </a:moveTo>
                    <a:cubicBezTo>
                      <a:pt x="0" y="1043539"/>
                      <a:pt x="0" y="595785"/>
                      <a:pt x="0" y="148032"/>
                    </a:cubicBezTo>
                    <a:cubicBezTo>
                      <a:pt x="2747" y="146498"/>
                      <a:pt x="2292" y="143582"/>
                      <a:pt x="2669" y="141208"/>
                    </a:cubicBezTo>
                    <a:cubicBezTo>
                      <a:pt x="4342" y="130682"/>
                      <a:pt x="6366" y="120265"/>
                      <a:pt x="9787" y="110133"/>
                    </a:cubicBezTo>
                    <a:cubicBezTo>
                      <a:pt x="29751" y="50981"/>
                      <a:pt x="82469" y="9012"/>
                      <a:pt x="142043" y="1704"/>
                    </a:cubicBezTo>
                    <a:cubicBezTo>
                      <a:pt x="144078" y="1454"/>
                      <a:pt x="146037" y="583"/>
                      <a:pt x="148032" y="0"/>
                    </a:cubicBezTo>
                    <a:cubicBezTo>
                      <a:pt x="596089" y="0"/>
                      <a:pt x="1044148" y="0"/>
                      <a:pt x="1492205" y="0"/>
                    </a:cubicBezTo>
                    <a:cubicBezTo>
                      <a:pt x="1494515" y="569"/>
                      <a:pt x="1496792" y="1371"/>
                      <a:pt x="1499135" y="1673"/>
                    </a:cubicBezTo>
                    <a:cubicBezTo>
                      <a:pt x="1523971" y="4883"/>
                      <a:pt x="1546922" y="13294"/>
                      <a:pt x="1567935" y="26842"/>
                    </a:cubicBezTo>
                    <a:cubicBezTo>
                      <a:pt x="1592740" y="42835"/>
                      <a:pt x="1610881" y="64785"/>
                      <a:pt x="1624102" y="90944"/>
                    </a:cubicBezTo>
                    <a:cubicBezTo>
                      <a:pt x="1631980" y="106530"/>
                      <a:pt x="1637784" y="122776"/>
                      <a:pt x="1638646" y="140454"/>
                    </a:cubicBezTo>
                    <a:cubicBezTo>
                      <a:pt x="1638681" y="141162"/>
                      <a:pt x="1639090" y="141851"/>
                      <a:pt x="1639324" y="142550"/>
                    </a:cubicBezTo>
                    <a:cubicBezTo>
                      <a:pt x="1639324" y="594262"/>
                      <a:pt x="1639324" y="1045976"/>
                      <a:pt x="1639324" y="1497688"/>
                    </a:cubicBezTo>
                    <a:cubicBezTo>
                      <a:pt x="1639025" y="1498969"/>
                      <a:pt x="1638624" y="1500237"/>
                      <a:pt x="1638445" y="1501537"/>
                    </a:cubicBezTo>
                    <a:cubicBezTo>
                      <a:pt x="1638011" y="1504692"/>
                      <a:pt x="1637906" y="1507907"/>
                      <a:pt x="1637274" y="1511016"/>
                    </a:cubicBezTo>
                    <a:cubicBezTo>
                      <a:pt x="1624336" y="1574560"/>
                      <a:pt x="1573526" y="1624597"/>
                      <a:pt x="1509643" y="1636800"/>
                    </a:cubicBezTo>
                    <a:cubicBezTo>
                      <a:pt x="1505644" y="1637563"/>
                      <a:pt x="1501673" y="1638479"/>
                      <a:pt x="1497688" y="1639324"/>
                    </a:cubicBezTo>
                    <a:cubicBezTo>
                      <a:pt x="1046585" y="1639324"/>
                      <a:pt x="595480" y="1639324"/>
                      <a:pt x="144377" y="1639324"/>
                    </a:cubicBezTo>
                    <a:cubicBezTo>
                      <a:pt x="140090" y="1638435"/>
                      <a:pt x="135818" y="1637470"/>
                      <a:pt x="131516" y="1636670"/>
                    </a:cubicBezTo>
                    <a:cubicBezTo>
                      <a:pt x="74241" y="1626029"/>
                      <a:pt x="24579" y="1581360"/>
                      <a:pt x="8333" y="1525452"/>
                    </a:cubicBezTo>
                    <a:cubicBezTo>
                      <a:pt x="5755" y="1516581"/>
                      <a:pt x="4502" y="1507327"/>
                      <a:pt x="2536" y="1498273"/>
                    </a:cubicBezTo>
                    <a:cubicBezTo>
                      <a:pt x="2010" y="1495855"/>
                      <a:pt x="2663" y="1492950"/>
                      <a:pt x="0" y="1491292"/>
                    </a:cubicBezTo>
                    <a:close/>
                    <a:moveTo>
                      <a:pt x="424358" y="819884"/>
                    </a:moveTo>
                    <a:cubicBezTo>
                      <a:pt x="423442" y="821369"/>
                      <a:pt x="422818" y="822408"/>
                      <a:pt x="422167" y="823434"/>
                    </a:cubicBezTo>
                    <a:cubicBezTo>
                      <a:pt x="402440" y="854545"/>
                      <a:pt x="382710" y="885653"/>
                      <a:pt x="362982" y="916762"/>
                    </a:cubicBezTo>
                    <a:cubicBezTo>
                      <a:pt x="360210" y="921133"/>
                      <a:pt x="357315" y="925431"/>
                      <a:pt x="354705" y="929893"/>
                    </a:cubicBezTo>
                    <a:cubicBezTo>
                      <a:pt x="348996" y="939652"/>
                      <a:pt x="352123" y="951478"/>
                      <a:pt x="361827" y="957269"/>
                    </a:cubicBezTo>
                    <a:cubicBezTo>
                      <a:pt x="363133" y="958047"/>
                      <a:pt x="364507" y="958710"/>
                      <a:pt x="365855" y="959416"/>
                    </a:cubicBezTo>
                    <a:cubicBezTo>
                      <a:pt x="401987" y="978320"/>
                      <a:pt x="438106" y="997249"/>
                      <a:pt x="474283" y="1016065"/>
                    </a:cubicBezTo>
                    <a:cubicBezTo>
                      <a:pt x="476672" y="1017308"/>
                      <a:pt x="477576" y="1018700"/>
                      <a:pt x="477447" y="1021348"/>
                    </a:cubicBezTo>
                    <a:cubicBezTo>
                      <a:pt x="476759" y="1035479"/>
                      <a:pt x="476222" y="1049620"/>
                      <a:pt x="475611" y="1063755"/>
                    </a:cubicBezTo>
                    <a:cubicBezTo>
                      <a:pt x="474920" y="1079714"/>
                      <a:pt x="474149" y="1095670"/>
                      <a:pt x="473515" y="1111631"/>
                    </a:cubicBezTo>
                    <a:cubicBezTo>
                      <a:pt x="473020" y="1124099"/>
                      <a:pt x="472501" y="1136570"/>
                      <a:pt x="472333" y="1149045"/>
                    </a:cubicBezTo>
                    <a:cubicBezTo>
                      <a:pt x="472213" y="1157910"/>
                      <a:pt x="478560" y="1165698"/>
                      <a:pt x="487146" y="1167497"/>
                    </a:cubicBezTo>
                    <a:cubicBezTo>
                      <a:pt x="490076" y="1168110"/>
                      <a:pt x="493207" y="1167987"/>
                      <a:pt x="496234" y="1167869"/>
                    </a:cubicBezTo>
                    <a:cubicBezTo>
                      <a:pt x="518281" y="1167010"/>
                      <a:pt x="540324" y="1166068"/>
                      <a:pt x="562367" y="1165152"/>
                    </a:cubicBezTo>
                    <a:cubicBezTo>
                      <a:pt x="581216" y="1164370"/>
                      <a:pt x="600066" y="1163633"/>
                      <a:pt x="618909" y="1162753"/>
                    </a:cubicBezTo>
                    <a:cubicBezTo>
                      <a:pt x="621633" y="1162626"/>
                      <a:pt x="622966" y="1163675"/>
                      <a:pt x="624173" y="1165999"/>
                    </a:cubicBezTo>
                    <a:cubicBezTo>
                      <a:pt x="637145" y="1190982"/>
                      <a:pt x="650220" y="1215911"/>
                      <a:pt x="663271" y="1240851"/>
                    </a:cubicBezTo>
                    <a:cubicBezTo>
                      <a:pt x="669693" y="1253119"/>
                      <a:pt x="676043" y="1265424"/>
                      <a:pt x="682585" y="1277627"/>
                    </a:cubicBezTo>
                    <a:cubicBezTo>
                      <a:pt x="686651" y="1285213"/>
                      <a:pt x="693247" y="1288653"/>
                      <a:pt x="701795" y="1288242"/>
                    </a:cubicBezTo>
                    <a:cubicBezTo>
                      <a:pt x="706036" y="1288038"/>
                      <a:pt x="709625" y="1286017"/>
                      <a:pt x="713130" y="1283789"/>
                    </a:cubicBezTo>
                    <a:cubicBezTo>
                      <a:pt x="747562" y="1261914"/>
                      <a:pt x="782032" y="1240097"/>
                      <a:pt x="816417" y="1218146"/>
                    </a:cubicBezTo>
                    <a:cubicBezTo>
                      <a:pt x="819214" y="1216360"/>
                      <a:pt x="821176" y="1216154"/>
                      <a:pt x="824095" y="1218028"/>
                    </a:cubicBezTo>
                    <a:cubicBezTo>
                      <a:pt x="847661" y="1233162"/>
                      <a:pt x="871351" y="1248104"/>
                      <a:pt x="895004" y="1263104"/>
                    </a:cubicBezTo>
                    <a:cubicBezTo>
                      <a:pt x="906446" y="1270359"/>
                      <a:pt x="917879" y="1277623"/>
                      <a:pt x="929338" y="1284851"/>
                    </a:cubicBezTo>
                    <a:cubicBezTo>
                      <a:pt x="936581" y="1289422"/>
                      <a:pt x="943949" y="1289573"/>
                      <a:pt x="951304" y="1285160"/>
                    </a:cubicBezTo>
                    <a:cubicBezTo>
                      <a:pt x="955095" y="1282887"/>
                      <a:pt x="957360" y="1279285"/>
                      <a:pt x="959361" y="1275451"/>
                    </a:cubicBezTo>
                    <a:cubicBezTo>
                      <a:pt x="975196" y="1245096"/>
                      <a:pt x="991063" y="1214759"/>
                      <a:pt x="1006927" y="1184419"/>
                    </a:cubicBezTo>
                    <a:cubicBezTo>
                      <a:pt x="1010658" y="1177284"/>
                      <a:pt x="1014411" y="1170159"/>
                      <a:pt x="1018155" y="1163027"/>
                    </a:cubicBezTo>
                    <a:cubicBezTo>
                      <a:pt x="1019425" y="1162942"/>
                      <a:pt x="1020480" y="1162770"/>
                      <a:pt x="1021525" y="1162814"/>
                    </a:cubicBezTo>
                    <a:cubicBezTo>
                      <a:pt x="1035814" y="1163395"/>
                      <a:pt x="1050101" y="1164012"/>
                      <a:pt x="1064391" y="1164606"/>
                    </a:cubicBezTo>
                    <a:cubicBezTo>
                      <a:pt x="1079439" y="1165232"/>
                      <a:pt x="1094490" y="1165860"/>
                      <a:pt x="1109541" y="1166454"/>
                    </a:cubicBezTo>
                    <a:cubicBezTo>
                      <a:pt x="1122768" y="1166978"/>
                      <a:pt x="1135993" y="1167648"/>
                      <a:pt x="1149226" y="1167893"/>
                    </a:cubicBezTo>
                    <a:cubicBezTo>
                      <a:pt x="1158278" y="1168061"/>
                      <a:pt x="1165660" y="1162104"/>
                      <a:pt x="1167840" y="1153324"/>
                    </a:cubicBezTo>
                    <a:cubicBezTo>
                      <a:pt x="1168453" y="1150855"/>
                      <a:pt x="1168623" y="1148199"/>
                      <a:pt x="1168535" y="1145647"/>
                    </a:cubicBezTo>
                    <a:cubicBezTo>
                      <a:pt x="1168002" y="1130442"/>
                      <a:pt x="1167360" y="1115241"/>
                      <a:pt x="1166705" y="1100039"/>
                    </a:cubicBezTo>
                    <a:cubicBezTo>
                      <a:pt x="1165580" y="1073896"/>
                      <a:pt x="1164451" y="1047752"/>
                      <a:pt x="1163227" y="1021614"/>
                    </a:cubicBezTo>
                    <a:cubicBezTo>
                      <a:pt x="1163096" y="1018799"/>
                      <a:pt x="1164012" y="1017310"/>
                      <a:pt x="1166555" y="1015993"/>
                    </a:cubicBezTo>
                    <a:cubicBezTo>
                      <a:pt x="1192762" y="1002408"/>
                      <a:pt x="1218896" y="988684"/>
                      <a:pt x="1245049" y="974994"/>
                    </a:cubicBezTo>
                    <a:cubicBezTo>
                      <a:pt x="1256102" y="969209"/>
                      <a:pt x="1267187" y="963477"/>
                      <a:pt x="1278190" y="957596"/>
                    </a:cubicBezTo>
                    <a:cubicBezTo>
                      <a:pt x="1285086" y="953911"/>
                      <a:pt x="1288592" y="947971"/>
                      <a:pt x="1288775" y="940174"/>
                    </a:cubicBezTo>
                    <a:cubicBezTo>
                      <a:pt x="1288886" y="935443"/>
                      <a:pt x="1287035" y="931342"/>
                      <a:pt x="1284520" y="927390"/>
                    </a:cubicBezTo>
                    <a:cubicBezTo>
                      <a:pt x="1263922" y="895031"/>
                      <a:pt x="1243391" y="862630"/>
                      <a:pt x="1222844" y="830238"/>
                    </a:cubicBezTo>
                    <a:cubicBezTo>
                      <a:pt x="1220660" y="826794"/>
                      <a:pt x="1218521" y="823322"/>
                      <a:pt x="1216367" y="819878"/>
                    </a:cubicBezTo>
                    <a:cubicBezTo>
                      <a:pt x="1217470" y="818081"/>
                      <a:pt x="1218401" y="816516"/>
                      <a:pt x="1219375" y="814980"/>
                    </a:cubicBezTo>
                    <a:cubicBezTo>
                      <a:pt x="1241218" y="780527"/>
                      <a:pt x="1263094" y="746094"/>
                      <a:pt x="1284863" y="711595"/>
                    </a:cubicBezTo>
                    <a:cubicBezTo>
                      <a:pt x="1286453" y="709077"/>
                      <a:pt x="1287818" y="706175"/>
                      <a:pt x="1288352" y="703280"/>
                    </a:cubicBezTo>
                    <a:cubicBezTo>
                      <a:pt x="1290123" y="693712"/>
                      <a:pt x="1286026" y="686209"/>
                      <a:pt x="1276660" y="681298"/>
                    </a:cubicBezTo>
                    <a:cubicBezTo>
                      <a:pt x="1248363" y="666456"/>
                      <a:pt x="1220036" y="651672"/>
                      <a:pt x="1191724" y="636861"/>
                    </a:cubicBezTo>
                    <a:cubicBezTo>
                      <a:pt x="1182293" y="631929"/>
                      <a:pt x="1172868" y="626983"/>
                      <a:pt x="1163330" y="621986"/>
                    </a:cubicBezTo>
                    <a:cubicBezTo>
                      <a:pt x="1163330" y="620314"/>
                      <a:pt x="1163275" y="618801"/>
                      <a:pt x="1163338" y="617293"/>
                    </a:cubicBezTo>
                    <a:cubicBezTo>
                      <a:pt x="1164061" y="600114"/>
                      <a:pt x="1164813" y="582937"/>
                      <a:pt x="1165535" y="565760"/>
                    </a:cubicBezTo>
                    <a:cubicBezTo>
                      <a:pt x="1166167" y="550709"/>
                      <a:pt x="1166764" y="535658"/>
                      <a:pt x="1167379" y="520605"/>
                    </a:cubicBezTo>
                    <a:cubicBezTo>
                      <a:pt x="1167777" y="510878"/>
                      <a:pt x="1168442" y="501151"/>
                      <a:pt x="1168514" y="491422"/>
                    </a:cubicBezTo>
                    <a:cubicBezTo>
                      <a:pt x="1168598" y="480247"/>
                      <a:pt x="1160008" y="471798"/>
                      <a:pt x="1148841" y="471701"/>
                    </a:cubicBezTo>
                    <a:cubicBezTo>
                      <a:pt x="1144742" y="471665"/>
                      <a:pt x="1140640" y="472095"/>
                      <a:pt x="1136537" y="472261"/>
                    </a:cubicBezTo>
                    <a:cubicBezTo>
                      <a:pt x="1104308" y="473563"/>
                      <a:pt x="1072078" y="474848"/>
                      <a:pt x="1039848" y="476148"/>
                    </a:cubicBezTo>
                    <a:cubicBezTo>
                      <a:pt x="1032715" y="476436"/>
                      <a:pt x="1025585" y="476765"/>
                      <a:pt x="1018542" y="477071"/>
                    </a:cubicBezTo>
                    <a:cubicBezTo>
                      <a:pt x="1017881" y="475998"/>
                      <a:pt x="1017359" y="475252"/>
                      <a:pt x="1016941" y="474452"/>
                    </a:cubicBezTo>
                    <a:cubicBezTo>
                      <a:pt x="1002056" y="446005"/>
                      <a:pt x="987184" y="417552"/>
                      <a:pt x="972302" y="389103"/>
                    </a:cubicBezTo>
                    <a:cubicBezTo>
                      <a:pt x="967577" y="380070"/>
                      <a:pt x="962948" y="370983"/>
                      <a:pt x="958053" y="362044"/>
                    </a:cubicBezTo>
                    <a:cubicBezTo>
                      <a:pt x="954234" y="355068"/>
                      <a:pt x="948291" y="351522"/>
                      <a:pt x="940143" y="351596"/>
                    </a:cubicBezTo>
                    <a:cubicBezTo>
                      <a:pt x="935302" y="351640"/>
                      <a:pt x="931354" y="353610"/>
                      <a:pt x="927451" y="356089"/>
                    </a:cubicBezTo>
                    <a:cubicBezTo>
                      <a:pt x="893013" y="377957"/>
                      <a:pt x="858558" y="399796"/>
                      <a:pt x="824103" y="421639"/>
                    </a:cubicBezTo>
                    <a:cubicBezTo>
                      <a:pt x="822840" y="422439"/>
                      <a:pt x="821538" y="423176"/>
                      <a:pt x="820310" y="423908"/>
                    </a:cubicBezTo>
                    <a:cubicBezTo>
                      <a:pt x="818645" y="422894"/>
                      <a:pt x="817203" y="422045"/>
                      <a:pt x="815791" y="421150"/>
                    </a:cubicBezTo>
                    <a:cubicBezTo>
                      <a:pt x="787256" y="403050"/>
                      <a:pt x="758725" y="384941"/>
                      <a:pt x="730191" y="366839"/>
                    </a:cubicBezTo>
                    <a:cubicBezTo>
                      <a:pt x="723636" y="362681"/>
                      <a:pt x="717146" y="358409"/>
                      <a:pt x="710483" y="354433"/>
                    </a:cubicBezTo>
                    <a:cubicBezTo>
                      <a:pt x="701884" y="349300"/>
                      <a:pt x="691551" y="350916"/>
                      <a:pt x="685204" y="358310"/>
                    </a:cubicBezTo>
                    <a:cubicBezTo>
                      <a:pt x="683641" y="360132"/>
                      <a:pt x="682453" y="362322"/>
                      <a:pt x="681328" y="364467"/>
                    </a:cubicBezTo>
                    <a:cubicBezTo>
                      <a:pt x="662320" y="400717"/>
                      <a:pt x="643313" y="436968"/>
                      <a:pt x="624440" y="473289"/>
                    </a:cubicBezTo>
                    <a:cubicBezTo>
                      <a:pt x="622951" y="476154"/>
                      <a:pt x="621291" y="477163"/>
                      <a:pt x="618108" y="477005"/>
                    </a:cubicBezTo>
                    <a:cubicBezTo>
                      <a:pt x="600329" y="476129"/>
                      <a:pt x="582541" y="475449"/>
                      <a:pt x="564756" y="474701"/>
                    </a:cubicBezTo>
                    <a:cubicBezTo>
                      <a:pt x="550315" y="474094"/>
                      <a:pt x="535875" y="473487"/>
                      <a:pt x="521434" y="472881"/>
                    </a:cubicBezTo>
                    <a:cubicBezTo>
                      <a:pt x="511706" y="472474"/>
                      <a:pt x="501980" y="471836"/>
                      <a:pt x="492248" y="471720"/>
                    </a:cubicBezTo>
                    <a:cubicBezTo>
                      <a:pt x="480677" y="471583"/>
                      <a:pt x="472383" y="480013"/>
                      <a:pt x="472282" y="491503"/>
                    </a:cubicBezTo>
                    <a:cubicBezTo>
                      <a:pt x="472267" y="493329"/>
                      <a:pt x="472287" y="495159"/>
                      <a:pt x="472364" y="496982"/>
                    </a:cubicBezTo>
                    <a:cubicBezTo>
                      <a:pt x="473272" y="518873"/>
                      <a:pt x="474197" y="540762"/>
                      <a:pt x="475107" y="562653"/>
                    </a:cubicBezTo>
                    <a:cubicBezTo>
                      <a:pt x="475878" y="581201"/>
                      <a:pt x="476577" y="599752"/>
                      <a:pt x="477452" y="618294"/>
                    </a:cubicBezTo>
                    <a:cubicBezTo>
                      <a:pt x="477591" y="621217"/>
                      <a:pt x="476424" y="622601"/>
                      <a:pt x="473976" y="623870"/>
                    </a:cubicBezTo>
                    <a:cubicBezTo>
                      <a:pt x="451013" y="635778"/>
                      <a:pt x="428110" y="647798"/>
                      <a:pt x="405187" y="659784"/>
                    </a:cubicBezTo>
                    <a:cubicBezTo>
                      <a:pt x="391435" y="666976"/>
                      <a:pt x="377705" y="674214"/>
                      <a:pt x="363915" y="681334"/>
                    </a:cubicBezTo>
                    <a:cubicBezTo>
                      <a:pt x="357720" y="684532"/>
                      <a:pt x="353544" y="689188"/>
                      <a:pt x="352221" y="696156"/>
                    </a:cubicBezTo>
                    <a:cubicBezTo>
                      <a:pt x="351135" y="701877"/>
                      <a:pt x="352767" y="706929"/>
                      <a:pt x="355826" y="711742"/>
                    </a:cubicBezTo>
                    <a:cubicBezTo>
                      <a:pt x="376651" y="744497"/>
                      <a:pt x="397428" y="777285"/>
                      <a:pt x="418215" y="810065"/>
                    </a:cubicBezTo>
                    <a:cubicBezTo>
                      <a:pt x="420240" y="813268"/>
                      <a:pt x="422235" y="816491"/>
                      <a:pt x="424358" y="81988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40085" y="664884"/>
                <a:ext cx="280316" cy="280237"/>
              </a:xfrm>
              <a:custGeom>
                <a:avLst/>
                <a:gdLst>
                  <a:gd name="connsiteX0" fmla="*/ 139755 w 280316"/>
                  <a:gd name="connsiteY0" fmla="*/ 280237 h 280237"/>
                  <a:gd name="connsiteX1" fmla="*/ 0 w 280316"/>
                  <a:gd name="connsiteY1" fmla="*/ 139414 h 280237"/>
                  <a:gd name="connsiteX2" fmla="*/ 142101 w 280316"/>
                  <a:gd name="connsiteY2" fmla="*/ 13 h 280237"/>
                  <a:gd name="connsiteX3" fmla="*/ 280316 w 280316"/>
                  <a:gd name="connsiteY3" fmla="*/ 140160 h 280237"/>
                  <a:gd name="connsiteX4" fmla="*/ 139755 w 280316"/>
                  <a:gd name="connsiteY4" fmla="*/ 280237 h 280237"/>
                  <a:gd name="connsiteX5" fmla="*/ 213292 w 280316"/>
                  <a:gd name="connsiteY5" fmla="*/ 142871 h 280237"/>
                  <a:gd name="connsiteX6" fmla="*/ 141975 w 280316"/>
                  <a:gd name="connsiteY6" fmla="*/ 66934 h 280237"/>
                  <a:gd name="connsiteX7" fmla="*/ 67051 w 280316"/>
                  <a:gd name="connsiteY7" fmla="*/ 135976 h 280237"/>
                  <a:gd name="connsiteX8" fmla="*/ 135537 w 280316"/>
                  <a:gd name="connsiteY8" fmla="*/ 213156 h 280237"/>
                  <a:gd name="connsiteX9" fmla="*/ 213292 w 280316"/>
                  <a:gd name="connsiteY9" fmla="*/ 142871 h 28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316" h="280237">
                    <a:moveTo>
                      <a:pt x="139755" y="280237"/>
                    </a:moveTo>
                    <a:cubicBezTo>
                      <a:pt x="62408" y="280231"/>
                      <a:pt x="-156" y="217308"/>
                      <a:pt x="0" y="139414"/>
                    </a:cubicBezTo>
                    <a:cubicBezTo>
                      <a:pt x="153" y="62538"/>
                      <a:pt x="63287" y="-1044"/>
                      <a:pt x="142101" y="13"/>
                    </a:cubicBezTo>
                    <a:cubicBezTo>
                      <a:pt x="217467" y="1024"/>
                      <a:pt x="280103" y="61986"/>
                      <a:pt x="280316" y="140160"/>
                    </a:cubicBezTo>
                    <a:cubicBezTo>
                      <a:pt x="280523" y="217531"/>
                      <a:pt x="217415" y="280243"/>
                      <a:pt x="139755" y="280237"/>
                    </a:cubicBezTo>
                    <a:close/>
                    <a:moveTo>
                      <a:pt x="213292" y="142871"/>
                    </a:moveTo>
                    <a:cubicBezTo>
                      <a:pt x="214849" y="103122"/>
                      <a:pt x="183729" y="68029"/>
                      <a:pt x="141975" y="66934"/>
                    </a:cubicBezTo>
                    <a:cubicBezTo>
                      <a:pt x="103248" y="65919"/>
                      <a:pt x="69364" y="95438"/>
                      <a:pt x="67051" y="135976"/>
                    </a:cubicBezTo>
                    <a:cubicBezTo>
                      <a:pt x="64711" y="176965"/>
                      <a:pt x="95978" y="210706"/>
                      <a:pt x="135537" y="213156"/>
                    </a:cubicBezTo>
                    <a:cubicBezTo>
                      <a:pt x="176773" y="215711"/>
                      <a:pt x="211727" y="183896"/>
                      <a:pt x="213292" y="142871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987840" y="943940"/>
                <a:ext cx="280262" cy="280254"/>
              </a:xfrm>
              <a:custGeom>
                <a:avLst/>
                <a:gdLst>
                  <a:gd name="connsiteX0" fmla="*/ 280262 w 280262"/>
                  <a:gd name="connsiteY0" fmla="*/ 140408 h 280254"/>
                  <a:gd name="connsiteX1" fmla="*/ 140025 w 280262"/>
                  <a:gd name="connsiteY1" fmla="*/ 280255 h 280254"/>
                  <a:gd name="connsiteX2" fmla="*/ 38 w 280262"/>
                  <a:gd name="connsiteY2" fmla="*/ 136892 h 280254"/>
                  <a:gd name="connsiteX3" fmla="*/ 140562 w 280262"/>
                  <a:gd name="connsiteY3" fmla="*/ 0 h 280254"/>
                  <a:gd name="connsiteX4" fmla="*/ 280262 w 280262"/>
                  <a:gd name="connsiteY4" fmla="*/ 140408 h 280254"/>
                  <a:gd name="connsiteX5" fmla="*/ 213278 w 280262"/>
                  <a:gd name="connsiteY5" fmla="*/ 140246 h 280254"/>
                  <a:gd name="connsiteX6" fmla="*/ 140280 w 280262"/>
                  <a:gd name="connsiteY6" fmla="*/ 66973 h 280254"/>
                  <a:gd name="connsiteX7" fmla="*/ 66938 w 280262"/>
                  <a:gd name="connsiteY7" fmla="*/ 140016 h 280254"/>
                  <a:gd name="connsiteX8" fmla="*/ 140054 w 280262"/>
                  <a:gd name="connsiteY8" fmla="*/ 213313 h 280254"/>
                  <a:gd name="connsiteX9" fmla="*/ 213278 w 280262"/>
                  <a:gd name="connsiteY9" fmla="*/ 140246 h 280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262" h="280254">
                    <a:moveTo>
                      <a:pt x="280262" y="140408"/>
                    </a:moveTo>
                    <a:cubicBezTo>
                      <a:pt x="280359" y="216679"/>
                      <a:pt x="218300" y="280399"/>
                      <a:pt x="140025" y="280255"/>
                    </a:cubicBezTo>
                    <a:cubicBezTo>
                      <a:pt x="59009" y="280106"/>
                      <a:pt x="-1735" y="212631"/>
                      <a:pt x="38" y="136892"/>
                    </a:cubicBezTo>
                    <a:cubicBezTo>
                      <a:pt x="1742" y="64058"/>
                      <a:pt x="61469" y="-120"/>
                      <a:pt x="140562" y="0"/>
                    </a:cubicBezTo>
                    <a:cubicBezTo>
                      <a:pt x="217872" y="118"/>
                      <a:pt x="280279" y="62904"/>
                      <a:pt x="280262" y="140408"/>
                    </a:cubicBezTo>
                    <a:close/>
                    <a:moveTo>
                      <a:pt x="213278" y="140246"/>
                    </a:moveTo>
                    <a:cubicBezTo>
                      <a:pt x="213282" y="99661"/>
                      <a:pt x="180736" y="66992"/>
                      <a:pt x="140280" y="66973"/>
                    </a:cubicBezTo>
                    <a:cubicBezTo>
                      <a:pt x="99821" y="66956"/>
                      <a:pt x="67035" y="99608"/>
                      <a:pt x="66938" y="140016"/>
                    </a:cubicBezTo>
                    <a:cubicBezTo>
                      <a:pt x="66841" y="180339"/>
                      <a:pt x="99697" y="213277"/>
                      <a:pt x="140054" y="213313"/>
                    </a:cubicBezTo>
                    <a:cubicBezTo>
                      <a:pt x="180559" y="213353"/>
                      <a:pt x="213274" y="180708"/>
                      <a:pt x="213278" y="140246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754795" y="684295"/>
                <a:ext cx="375590" cy="558159"/>
              </a:xfrm>
              <a:custGeom>
                <a:avLst/>
                <a:gdLst>
                  <a:gd name="connsiteX0" fmla="*/ 57481 w 375590"/>
                  <a:gd name="connsiteY0" fmla="*/ 558160 h 558159"/>
                  <a:gd name="connsiteX1" fmla="*/ 0 w 375590"/>
                  <a:gd name="connsiteY1" fmla="*/ 523219 h 558159"/>
                  <a:gd name="connsiteX2" fmla="*/ 318106 w 375590"/>
                  <a:gd name="connsiteY2" fmla="*/ 0 h 558159"/>
                  <a:gd name="connsiteX3" fmla="*/ 375590 w 375590"/>
                  <a:gd name="connsiteY3" fmla="*/ 34937 h 558159"/>
                  <a:gd name="connsiteX4" fmla="*/ 57481 w 375590"/>
                  <a:gd name="connsiteY4" fmla="*/ 558160 h 55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590" h="558159">
                    <a:moveTo>
                      <a:pt x="57481" y="558160"/>
                    </a:moveTo>
                    <a:cubicBezTo>
                      <a:pt x="38249" y="546469"/>
                      <a:pt x="19414" y="535020"/>
                      <a:pt x="0" y="523219"/>
                    </a:cubicBezTo>
                    <a:cubicBezTo>
                      <a:pt x="106023" y="348834"/>
                      <a:pt x="211923" y="174648"/>
                      <a:pt x="318106" y="0"/>
                    </a:cubicBezTo>
                    <a:cubicBezTo>
                      <a:pt x="337309" y="11672"/>
                      <a:pt x="356230" y="23170"/>
                      <a:pt x="375590" y="34937"/>
                    </a:cubicBezTo>
                    <a:cubicBezTo>
                      <a:pt x="269470" y="209482"/>
                      <a:pt x="163555" y="383689"/>
                      <a:pt x="57481" y="55816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136" name="组合 135"/>
          <p:cNvGrpSpPr/>
          <p:nvPr/>
        </p:nvGrpSpPr>
        <p:grpSpPr>
          <a:xfrm>
            <a:off x="7500556" y="1380925"/>
            <a:ext cx="1595978" cy="430887"/>
            <a:chOff x="7641351" y="1380925"/>
            <a:chExt cx="1595978" cy="430887"/>
          </a:xfrm>
        </p:grpSpPr>
        <p:sp>
          <p:nvSpPr>
            <p:cNvPr id="83" name="文本框 82"/>
            <p:cNvSpPr txBox="1"/>
            <p:nvPr/>
          </p:nvSpPr>
          <p:spPr>
            <a:xfrm>
              <a:off x="7641351" y="1380925"/>
              <a:ext cx="138659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950,000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TextBox 21+"/>
            <p:cNvSpPr txBox="1"/>
            <p:nvPr/>
          </p:nvSpPr>
          <p:spPr>
            <a:xfrm>
              <a:off x="9057793" y="1529661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7500556" y="1842140"/>
            <a:ext cx="1578092" cy="184666"/>
            <a:chOff x="7484786" y="1842140"/>
            <a:chExt cx="1578092" cy="184666"/>
          </a:xfrm>
        </p:grpSpPr>
        <p:sp>
          <p:nvSpPr>
            <p:cNvPr id="113" name="Isosceles Triangle 77+"/>
            <p:cNvSpPr/>
            <p:nvPr/>
          </p:nvSpPr>
          <p:spPr>
            <a:xfrm>
              <a:off x="8896250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TextBox 101+"/>
            <p:cNvSpPr txBox="1"/>
            <p:nvPr/>
          </p:nvSpPr>
          <p:spPr>
            <a:xfrm>
              <a:off x="7484786" y="1842140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环比增速加快</a:t>
              </a:r>
            </a:p>
          </p:txBody>
        </p:sp>
        <p:sp>
          <p:nvSpPr>
            <p:cNvPr id="115" name="TextBox 102+"/>
            <p:cNvSpPr txBox="1"/>
            <p:nvPr/>
          </p:nvSpPr>
          <p:spPr>
            <a:xfrm>
              <a:off x="8497136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15%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500556" y="1113609"/>
            <a:ext cx="1400887" cy="227785"/>
            <a:chOff x="7451635" y="1113609"/>
            <a:chExt cx="1400887" cy="227785"/>
          </a:xfrm>
        </p:grpSpPr>
        <p:sp>
          <p:nvSpPr>
            <p:cNvPr id="81" name="文本框 80"/>
            <p:cNvSpPr txBox="1"/>
            <p:nvPr/>
          </p:nvSpPr>
          <p:spPr>
            <a:xfrm>
              <a:off x="7775304" y="1134267"/>
              <a:ext cx="107721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累计付费客户数</a:t>
              </a:r>
            </a:p>
          </p:txBody>
        </p:sp>
        <p:sp>
          <p:nvSpPr>
            <p:cNvPr id="118" name="图形 116"/>
            <p:cNvSpPr>
              <a:spLocks noChangeAspect="1"/>
            </p:cNvSpPr>
            <p:nvPr/>
          </p:nvSpPr>
          <p:spPr>
            <a:xfrm>
              <a:off x="7451635" y="1113609"/>
              <a:ext cx="288000" cy="227785"/>
            </a:xfrm>
            <a:custGeom>
              <a:avLst/>
              <a:gdLst>
                <a:gd name="connsiteX0" fmla="*/ 919265 w 1587522"/>
                <a:gd name="connsiteY0" fmla="*/ 806371 h 1255602"/>
                <a:gd name="connsiteX1" fmla="*/ 852114 w 1587522"/>
                <a:gd name="connsiteY1" fmla="*/ 785178 h 1255602"/>
                <a:gd name="connsiteX2" fmla="*/ 806155 w 1587522"/>
                <a:gd name="connsiteY2" fmla="*/ 696754 h 1255602"/>
                <a:gd name="connsiteX3" fmla="*/ 859178 w 1587522"/>
                <a:gd name="connsiteY3" fmla="*/ 601504 h 1255602"/>
                <a:gd name="connsiteX4" fmla="*/ 940537 w 1587522"/>
                <a:gd name="connsiteY4" fmla="*/ 357188 h 1255602"/>
                <a:gd name="connsiteX5" fmla="*/ 625895 w 1587522"/>
                <a:gd name="connsiteY5" fmla="*/ 0 h 1255602"/>
                <a:gd name="connsiteX6" fmla="*/ 311252 w 1587522"/>
                <a:gd name="connsiteY6" fmla="*/ 360601 h 1255602"/>
                <a:gd name="connsiteX7" fmla="*/ 392453 w 1587522"/>
                <a:gd name="connsiteY7" fmla="*/ 604838 h 1255602"/>
                <a:gd name="connsiteX8" fmla="*/ 429499 w 1587522"/>
                <a:gd name="connsiteY8" fmla="*/ 756292 h 1255602"/>
                <a:gd name="connsiteX9" fmla="*/ 399517 w 1587522"/>
                <a:gd name="connsiteY9" fmla="*/ 788670 h 1255602"/>
                <a:gd name="connsiteX10" fmla="*/ 399517 w 1587522"/>
                <a:gd name="connsiteY10" fmla="*/ 792242 h 1255602"/>
                <a:gd name="connsiteX11" fmla="*/ 392453 w 1587522"/>
                <a:gd name="connsiteY11" fmla="*/ 795814 h 1255602"/>
                <a:gd name="connsiteX12" fmla="*/ 335859 w 1587522"/>
                <a:gd name="connsiteY12" fmla="*/ 813514 h 1255602"/>
                <a:gd name="connsiteX13" fmla="*/ 21216 w 1587522"/>
                <a:gd name="connsiteY13" fmla="*/ 1018619 h 1255602"/>
                <a:gd name="connsiteX14" fmla="*/ 24788 w 1587522"/>
                <a:gd name="connsiteY14" fmla="*/ 1018619 h 1255602"/>
                <a:gd name="connsiteX15" fmla="*/ 23 w 1587522"/>
                <a:gd name="connsiteY15" fmla="*/ 1099899 h 1255602"/>
                <a:gd name="connsiteX16" fmla="*/ 158773 w 1587522"/>
                <a:gd name="connsiteY16" fmla="*/ 1255474 h 1255602"/>
                <a:gd name="connsiteX17" fmla="*/ 1092540 w 1587522"/>
                <a:gd name="connsiteY17" fmla="*/ 1255475 h 1255602"/>
                <a:gd name="connsiteX18" fmla="*/ 1255055 w 1587522"/>
                <a:gd name="connsiteY18" fmla="*/ 1105504 h 1255602"/>
                <a:gd name="connsiteX19" fmla="*/ 1255180 w 1587522"/>
                <a:gd name="connsiteY19" fmla="*/ 1099900 h 1255602"/>
                <a:gd name="connsiteX20" fmla="*/ 1223430 w 1587522"/>
                <a:gd name="connsiteY20" fmla="*/ 1004649 h 1255602"/>
                <a:gd name="connsiteX21" fmla="*/ 919344 w 1587522"/>
                <a:gd name="connsiteY21" fmla="*/ 806688 h 1255602"/>
                <a:gd name="connsiteX22" fmla="*/ 1552122 w 1587522"/>
                <a:gd name="connsiteY22" fmla="*/ 961946 h 1255602"/>
                <a:gd name="connsiteX23" fmla="*/ 1283437 w 1587522"/>
                <a:gd name="connsiteY23" fmla="*/ 788670 h 1255602"/>
                <a:gd name="connsiteX24" fmla="*/ 1223351 w 1587522"/>
                <a:gd name="connsiteY24" fmla="*/ 770969 h 1255602"/>
                <a:gd name="connsiteX25" fmla="*/ 1184457 w 1587522"/>
                <a:gd name="connsiteY25" fmla="*/ 693182 h 1255602"/>
                <a:gd name="connsiteX26" fmla="*/ 1230415 w 1587522"/>
                <a:gd name="connsiteY26" fmla="*/ 611822 h 1255602"/>
                <a:gd name="connsiteX27" fmla="*/ 1304630 w 1587522"/>
                <a:gd name="connsiteY27" fmla="*/ 396161 h 1255602"/>
                <a:gd name="connsiteX28" fmla="*/ 1025310 w 1587522"/>
                <a:gd name="connsiteY28" fmla="*/ 77946 h 1255602"/>
                <a:gd name="connsiteX29" fmla="*/ 954587 w 1587522"/>
                <a:gd name="connsiteY29" fmla="*/ 88582 h 1255602"/>
                <a:gd name="connsiteX30" fmla="*/ 1035867 w 1587522"/>
                <a:gd name="connsiteY30" fmla="*/ 360839 h 1255602"/>
                <a:gd name="connsiteX31" fmla="*/ 929822 w 1587522"/>
                <a:gd name="connsiteY31" fmla="*/ 664924 h 1255602"/>
                <a:gd name="connsiteX32" fmla="*/ 922757 w 1587522"/>
                <a:gd name="connsiteY32" fmla="*/ 671989 h 1255602"/>
                <a:gd name="connsiteX33" fmla="*/ 922757 w 1587522"/>
                <a:gd name="connsiteY33" fmla="*/ 675561 h 1255602"/>
                <a:gd name="connsiteX34" fmla="*/ 901564 w 1587522"/>
                <a:gd name="connsiteY34" fmla="*/ 703818 h 1255602"/>
                <a:gd name="connsiteX35" fmla="*/ 905136 w 1587522"/>
                <a:gd name="connsiteY35" fmla="*/ 707390 h 1255602"/>
                <a:gd name="connsiteX36" fmla="*/ 933394 w 1587522"/>
                <a:gd name="connsiteY36" fmla="*/ 714455 h 1255602"/>
                <a:gd name="connsiteX37" fmla="*/ 936965 w 1587522"/>
                <a:gd name="connsiteY37" fmla="*/ 714454 h 1255602"/>
                <a:gd name="connsiteX38" fmla="*/ 951094 w 1587522"/>
                <a:gd name="connsiteY38" fmla="*/ 721519 h 1255602"/>
                <a:gd name="connsiteX39" fmla="*/ 1301138 w 1587522"/>
                <a:gd name="connsiteY39" fmla="*/ 951706 h 1255602"/>
                <a:gd name="connsiteX40" fmla="*/ 1357732 w 1587522"/>
                <a:gd name="connsiteY40" fmla="*/ 1107281 h 1255602"/>
                <a:gd name="connsiteX41" fmla="*/ 1340032 w 1587522"/>
                <a:gd name="connsiteY41" fmla="*/ 1192133 h 1255602"/>
                <a:gd name="connsiteX42" fmla="*/ 1442584 w 1587522"/>
                <a:gd name="connsiteY42" fmla="*/ 1192133 h 1255602"/>
                <a:gd name="connsiteX43" fmla="*/ 1587439 w 1587522"/>
                <a:gd name="connsiteY43" fmla="*/ 1057621 h 1255602"/>
                <a:gd name="connsiteX44" fmla="*/ 1587523 w 1587522"/>
                <a:gd name="connsiteY44" fmla="*/ 1054259 h 1255602"/>
                <a:gd name="connsiteX45" fmla="*/ 1552201 w 1587522"/>
                <a:gd name="connsiteY45" fmla="*/ 962342 h 125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587522" h="1255602">
                  <a:moveTo>
                    <a:pt x="919265" y="806371"/>
                  </a:moveTo>
                  <a:cubicBezTo>
                    <a:pt x="896513" y="800528"/>
                    <a:pt x="874097" y="793453"/>
                    <a:pt x="852114" y="785178"/>
                  </a:cubicBezTo>
                  <a:cubicBezTo>
                    <a:pt x="822993" y="765224"/>
                    <a:pt x="805752" y="732052"/>
                    <a:pt x="806155" y="696754"/>
                  </a:cubicBezTo>
                  <a:cubicBezTo>
                    <a:pt x="812233" y="659810"/>
                    <a:pt x="830979" y="626133"/>
                    <a:pt x="859178" y="601504"/>
                  </a:cubicBezTo>
                  <a:cubicBezTo>
                    <a:pt x="914215" y="532183"/>
                    <a:pt x="943026" y="445665"/>
                    <a:pt x="940537" y="357188"/>
                  </a:cubicBezTo>
                  <a:cubicBezTo>
                    <a:pt x="951638" y="171889"/>
                    <a:pt x="811113" y="12363"/>
                    <a:pt x="625895" y="0"/>
                  </a:cubicBezTo>
                  <a:cubicBezTo>
                    <a:pt x="452619" y="0"/>
                    <a:pt x="311252" y="162639"/>
                    <a:pt x="311252" y="360601"/>
                  </a:cubicBezTo>
                  <a:cubicBezTo>
                    <a:pt x="310436" y="448773"/>
                    <a:pt x="339006" y="534706"/>
                    <a:pt x="392453" y="604838"/>
                  </a:cubicBezTo>
                  <a:cubicBezTo>
                    <a:pt x="444506" y="636431"/>
                    <a:pt x="461092" y="704239"/>
                    <a:pt x="429499" y="756292"/>
                  </a:cubicBezTo>
                  <a:cubicBezTo>
                    <a:pt x="421789" y="768995"/>
                    <a:pt x="411591" y="780008"/>
                    <a:pt x="399517" y="788670"/>
                  </a:cubicBezTo>
                  <a:lnTo>
                    <a:pt x="399517" y="792242"/>
                  </a:lnTo>
                  <a:cubicBezTo>
                    <a:pt x="396833" y="792622"/>
                    <a:pt x="394350" y="793877"/>
                    <a:pt x="392453" y="795814"/>
                  </a:cubicBezTo>
                  <a:cubicBezTo>
                    <a:pt x="375636" y="806936"/>
                    <a:pt x="356016" y="813072"/>
                    <a:pt x="335859" y="813514"/>
                  </a:cubicBezTo>
                  <a:cubicBezTo>
                    <a:pt x="213374" y="850068"/>
                    <a:pt x="104093" y="921304"/>
                    <a:pt x="21216" y="1018619"/>
                  </a:cubicBezTo>
                  <a:lnTo>
                    <a:pt x="24788" y="1018619"/>
                  </a:lnTo>
                  <a:cubicBezTo>
                    <a:pt x="8162" y="1042420"/>
                    <a:pt x="-506" y="1070872"/>
                    <a:pt x="23" y="1099899"/>
                  </a:cubicBezTo>
                  <a:cubicBezTo>
                    <a:pt x="1199" y="1186570"/>
                    <a:pt x="72096" y="1256050"/>
                    <a:pt x="158773" y="1255474"/>
                  </a:cubicBezTo>
                  <a:lnTo>
                    <a:pt x="1092540" y="1255475"/>
                  </a:lnTo>
                  <a:cubicBezTo>
                    <a:pt x="1178831" y="1258938"/>
                    <a:pt x="1251591" y="1191794"/>
                    <a:pt x="1255055" y="1105504"/>
                  </a:cubicBezTo>
                  <a:cubicBezTo>
                    <a:pt x="1255130" y="1103636"/>
                    <a:pt x="1255172" y="1101768"/>
                    <a:pt x="1255180" y="1099900"/>
                  </a:cubicBezTo>
                  <a:cubicBezTo>
                    <a:pt x="1253783" y="1065792"/>
                    <a:pt x="1242777" y="1032773"/>
                    <a:pt x="1223430" y="1004649"/>
                  </a:cubicBezTo>
                  <a:cubicBezTo>
                    <a:pt x="1144444" y="909402"/>
                    <a:pt x="1038408" y="840372"/>
                    <a:pt x="919344" y="806688"/>
                  </a:cubicBezTo>
                  <a:close/>
                  <a:moveTo>
                    <a:pt x="1552122" y="961946"/>
                  </a:moveTo>
                  <a:cubicBezTo>
                    <a:pt x="1481787" y="878750"/>
                    <a:pt x="1388239" y="818421"/>
                    <a:pt x="1283437" y="788670"/>
                  </a:cubicBezTo>
                  <a:cubicBezTo>
                    <a:pt x="1263024" y="784165"/>
                    <a:pt x="1242946" y="778251"/>
                    <a:pt x="1223351" y="770969"/>
                  </a:cubicBezTo>
                  <a:cubicBezTo>
                    <a:pt x="1198436" y="752969"/>
                    <a:pt x="1183909" y="723914"/>
                    <a:pt x="1184457" y="693182"/>
                  </a:cubicBezTo>
                  <a:cubicBezTo>
                    <a:pt x="1188676" y="661138"/>
                    <a:pt x="1205149" y="631977"/>
                    <a:pt x="1230415" y="611822"/>
                  </a:cubicBezTo>
                  <a:cubicBezTo>
                    <a:pt x="1279342" y="550677"/>
                    <a:pt x="1305568" y="474466"/>
                    <a:pt x="1304630" y="396161"/>
                  </a:cubicBezTo>
                  <a:cubicBezTo>
                    <a:pt x="1314129" y="231581"/>
                    <a:pt x="1189732" y="89863"/>
                    <a:pt x="1025310" y="77946"/>
                  </a:cubicBezTo>
                  <a:cubicBezTo>
                    <a:pt x="1001323" y="77749"/>
                    <a:pt x="977455" y="81338"/>
                    <a:pt x="954587" y="88582"/>
                  </a:cubicBezTo>
                  <a:cubicBezTo>
                    <a:pt x="1008802" y="168926"/>
                    <a:pt x="1037162" y="263923"/>
                    <a:pt x="1035867" y="360839"/>
                  </a:cubicBezTo>
                  <a:cubicBezTo>
                    <a:pt x="1034717" y="471069"/>
                    <a:pt x="997467" y="577884"/>
                    <a:pt x="929822" y="664924"/>
                  </a:cubicBezTo>
                  <a:lnTo>
                    <a:pt x="922757" y="671989"/>
                  </a:lnTo>
                  <a:lnTo>
                    <a:pt x="922757" y="675561"/>
                  </a:lnTo>
                  <a:cubicBezTo>
                    <a:pt x="913794" y="683394"/>
                    <a:pt x="906574" y="693020"/>
                    <a:pt x="901564" y="703818"/>
                  </a:cubicBezTo>
                  <a:cubicBezTo>
                    <a:pt x="901564" y="707390"/>
                    <a:pt x="901564" y="707390"/>
                    <a:pt x="905136" y="707390"/>
                  </a:cubicBezTo>
                  <a:cubicBezTo>
                    <a:pt x="913919" y="711801"/>
                    <a:pt x="923568" y="714214"/>
                    <a:pt x="933394" y="714455"/>
                  </a:cubicBezTo>
                  <a:lnTo>
                    <a:pt x="936965" y="714454"/>
                  </a:lnTo>
                  <a:lnTo>
                    <a:pt x="951094" y="721519"/>
                  </a:lnTo>
                  <a:cubicBezTo>
                    <a:pt x="1087881" y="762138"/>
                    <a:pt x="1209645" y="842209"/>
                    <a:pt x="1301138" y="951706"/>
                  </a:cubicBezTo>
                  <a:cubicBezTo>
                    <a:pt x="1336799" y="995817"/>
                    <a:pt x="1356716" y="1050568"/>
                    <a:pt x="1357732" y="1107281"/>
                  </a:cubicBezTo>
                  <a:cubicBezTo>
                    <a:pt x="1357323" y="1136438"/>
                    <a:pt x="1351314" y="1165245"/>
                    <a:pt x="1340032" y="1192133"/>
                  </a:cubicBezTo>
                  <a:lnTo>
                    <a:pt x="1442584" y="1192133"/>
                  </a:lnTo>
                  <a:cubicBezTo>
                    <a:pt x="1519729" y="1194989"/>
                    <a:pt x="1584583" y="1134766"/>
                    <a:pt x="1587439" y="1057621"/>
                  </a:cubicBezTo>
                  <a:cubicBezTo>
                    <a:pt x="1587480" y="1056500"/>
                    <a:pt x="1587508" y="1055380"/>
                    <a:pt x="1587523" y="1054259"/>
                  </a:cubicBezTo>
                  <a:cubicBezTo>
                    <a:pt x="1586162" y="1020573"/>
                    <a:pt x="1573749" y="988271"/>
                    <a:pt x="1552201" y="96234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9804222" y="1842140"/>
            <a:ext cx="1269425" cy="184666"/>
            <a:chOff x="9719706" y="1842140"/>
            <a:chExt cx="1269425" cy="184666"/>
          </a:xfrm>
        </p:grpSpPr>
        <p:sp>
          <p:nvSpPr>
            <p:cNvPr id="119" name="Isosceles Triangle 77++"/>
            <p:cNvSpPr/>
            <p:nvPr/>
          </p:nvSpPr>
          <p:spPr>
            <a:xfrm>
              <a:off x="10822503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0" name="TextBox 101++"/>
            <p:cNvSpPr txBox="1"/>
            <p:nvPr/>
          </p:nvSpPr>
          <p:spPr>
            <a:xfrm>
              <a:off x="9719706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</a:p>
          </p:txBody>
        </p:sp>
        <p:sp>
          <p:nvSpPr>
            <p:cNvPr id="121" name="TextBox 102++"/>
            <p:cNvSpPr txBox="1"/>
            <p:nvPr/>
          </p:nvSpPr>
          <p:spPr>
            <a:xfrm>
              <a:off x="10423389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9804222" y="1097127"/>
            <a:ext cx="872146" cy="231701"/>
            <a:chOff x="9699627" y="1097127"/>
            <a:chExt cx="872146" cy="231701"/>
          </a:xfrm>
        </p:grpSpPr>
        <p:sp>
          <p:nvSpPr>
            <p:cNvPr id="89" name="文本框 88"/>
            <p:cNvSpPr txBox="1"/>
            <p:nvPr/>
          </p:nvSpPr>
          <p:spPr>
            <a:xfrm>
              <a:off x="10007516" y="1134267"/>
              <a:ext cx="56425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3" name="图形 131"/>
            <p:cNvSpPr>
              <a:spLocks noChangeAspect="1"/>
            </p:cNvSpPr>
            <p:nvPr/>
          </p:nvSpPr>
          <p:spPr>
            <a:xfrm>
              <a:off x="9699627" y="1097127"/>
              <a:ext cx="252000" cy="231701"/>
            </a:xfrm>
            <a:custGeom>
              <a:avLst/>
              <a:gdLst>
                <a:gd name="connsiteX0" fmla="*/ 1467631 w 1554323"/>
                <a:gd name="connsiteY0" fmla="*/ 0 h 1429122"/>
                <a:gd name="connsiteX1" fmla="*/ 86506 w 1554323"/>
                <a:gd name="connsiteY1" fmla="*/ 0 h 1429122"/>
                <a:gd name="connsiteX2" fmla="*/ 0 w 1554323"/>
                <a:gd name="connsiteY2" fmla="*/ 86506 h 1429122"/>
                <a:gd name="connsiteX3" fmla="*/ 0 w 1554323"/>
                <a:gd name="connsiteY3" fmla="*/ 1342616 h 1429122"/>
                <a:gd name="connsiteX4" fmla="*/ 86506 w 1554323"/>
                <a:gd name="connsiteY4" fmla="*/ 1429122 h 1429122"/>
                <a:gd name="connsiteX5" fmla="*/ 1467817 w 1554323"/>
                <a:gd name="connsiteY5" fmla="*/ 1429122 h 1429122"/>
                <a:gd name="connsiteX6" fmla="*/ 1554324 w 1554323"/>
                <a:gd name="connsiteY6" fmla="*/ 1342616 h 1429122"/>
                <a:gd name="connsiteX7" fmla="*/ 1554324 w 1554323"/>
                <a:gd name="connsiteY7" fmla="*/ 86506 h 1429122"/>
                <a:gd name="connsiteX8" fmla="*/ 1467631 w 1554323"/>
                <a:gd name="connsiteY8" fmla="*/ 0 h 1429122"/>
                <a:gd name="connsiteX9" fmla="*/ 453368 w 1554323"/>
                <a:gd name="connsiteY9" fmla="*/ 1195276 h 1429122"/>
                <a:gd name="connsiteX10" fmla="*/ 318120 w 1554323"/>
                <a:gd name="connsiteY10" fmla="*/ 1195276 h 1429122"/>
                <a:gd name="connsiteX11" fmla="*/ 318120 w 1554323"/>
                <a:gd name="connsiteY11" fmla="*/ 891480 h 1429122"/>
                <a:gd name="connsiteX12" fmla="*/ 453368 w 1554323"/>
                <a:gd name="connsiteY12" fmla="*/ 891480 h 1429122"/>
                <a:gd name="connsiteX13" fmla="*/ 453368 w 1554323"/>
                <a:gd name="connsiteY13" fmla="*/ 1195276 h 1429122"/>
                <a:gd name="connsiteX14" fmla="*/ 829717 w 1554323"/>
                <a:gd name="connsiteY14" fmla="*/ 1195090 h 1429122"/>
                <a:gd name="connsiteX15" fmla="*/ 694469 w 1554323"/>
                <a:gd name="connsiteY15" fmla="*/ 1195090 h 1429122"/>
                <a:gd name="connsiteX16" fmla="*/ 694469 w 1554323"/>
                <a:gd name="connsiteY16" fmla="*/ 846646 h 1429122"/>
                <a:gd name="connsiteX17" fmla="*/ 829717 w 1554323"/>
                <a:gd name="connsiteY17" fmla="*/ 846646 h 1429122"/>
                <a:gd name="connsiteX18" fmla="*/ 829717 w 1554323"/>
                <a:gd name="connsiteY18" fmla="*/ 1195090 h 1429122"/>
                <a:gd name="connsiteX19" fmla="*/ 1205880 w 1554323"/>
                <a:gd name="connsiteY19" fmla="*/ 1195090 h 1429122"/>
                <a:gd name="connsiteX20" fmla="*/ 1070632 w 1554323"/>
                <a:gd name="connsiteY20" fmla="*/ 1195090 h 1429122"/>
                <a:gd name="connsiteX21" fmla="*/ 1070632 w 1554323"/>
                <a:gd name="connsiteY21" fmla="*/ 673447 h 1429122"/>
                <a:gd name="connsiteX22" fmla="*/ 1205880 w 1554323"/>
                <a:gd name="connsiteY22" fmla="*/ 673447 h 1429122"/>
                <a:gd name="connsiteX23" fmla="*/ 1205880 w 1554323"/>
                <a:gd name="connsiteY23" fmla="*/ 1195090 h 1429122"/>
                <a:gd name="connsiteX24" fmla="*/ 1247738 w 1554323"/>
                <a:gd name="connsiteY24" fmla="*/ 253194 h 1429122"/>
                <a:gd name="connsiteX25" fmla="*/ 1247738 w 1554323"/>
                <a:gd name="connsiteY25" fmla="*/ 497830 h 1429122"/>
                <a:gd name="connsiteX26" fmla="*/ 1112490 w 1554323"/>
                <a:gd name="connsiteY26" fmla="*/ 497830 h 1429122"/>
                <a:gd name="connsiteX27" fmla="*/ 1112490 w 1554323"/>
                <a:gd name="connsiteY27" fmla="*/ 424532 h 1429122"/>
                <a:gd name="connsiteX28" fmla="*/ 370024 w 1554323"/>
                <a:gd name="connsiteY28" fmla="*/ 743955 h 1429122"/>
                <a:gd name="connsiteX29" fmla="*/ 370024 w 1554323"/>
                <a:gd name="connsiteY29" fmla="*/ 602196 h 1429122"/>
                <a:gd name="connsiteX30" fmla="*/ 1035100 w 1554323"/>
                <a:gd name="connsiteY30" fmla="*/ 307144 h 1429122"/>
                <a:gd name="connsiteX31" fmla="*/ 954918 w 1554323"/>
                <a:gd name="connsiteY31" fmla="*/ 307144 h 1429122"/>
                <a:gd name="connsiteX32" fmla="*/ 954918 w 1554323"/>
                <a:gd name="connsiteY32" fmla="*/ 165385 h 1429122"/>
                <a:gd name="connsiteX33" fmla="*/ 1180021 w 1554323"/>
                <a:gd name="connsiteY33" fmla="*/ 165385 h 1429122"/>
                <a:gd name="connsiteX34" fmla="*/ 1232669 w 1554323"/>
                <a:gd name="connsiteY34" fmla="*/ 192546 h 1429122"/>
                <a:gd name="connsiteX35" fmla="*/ 1247738 w 1554323"/>
                <a:gd name="connsiteY35" fmla="*/ 253194 h 1429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4323" h="1429122">
                  <a:moveTo>
                    <a:pt x="1467631" y="0"/>
                  </a:moveTo>
                  <a:lnTo>
                    <a:pt x="86506" y="0"/>
                  </a:lnTo>
                  <a:cubicBezTo>
                    <a:pt x="38695" y="0"/>
                    <a:pt x="0" y="38695"/>
                    <a:pt x="0" y="86506"/>
                  </a:cubicBezTo>
                  <a:lnTo>
                    <a:pt x="0" y="1342616"/>
                  </a:lnTo>
                  <a:cubicBezTo>
                    <a:pt x="0" y="1390427"/>
                    <a:pt x="38695" y="1429122"/>
                    <a:pt x="86506" y="1429122"/>
                  </a:cubicBezTo>
                  <a:lnTo>
                    <a:pt x="1467817" y="1429122"/>
                  </a:lnTo>
                  <a:cubicBezTo>
                    <a:pt x="1515628" y="1429122"/>
                    <a:pt x="1554324" y="1390427"/>
                    <a:pt x="1554324" y="1342616"/>
                  </a:cubicBezTo>
                  <a:lnTo>
                    <a:pt x="1554324" y="86506"/>
                  </a:lnTo>
                  <a:cubicBezTo>
                    <a:pt x="1554138" y="38695"/>
                    <a:pt x="1515442" y="0"/>
                    <a:pt x="1467631" y="0"/>
                  </a:cubicBezTo>
                  <a:close/>
                  <a:moveTo>
                    <a:pt x="453368" y="1195276"/>
                  </a:moveTo>
                  <a:cubicBezTo>
                    <a:pt x="453368" y="1286805"/>
                    <a:pt x="318120" y="1286805"/>
                    <a:pt x="318120" y="1195276"/>
                  </a:cubicBezTo>
                  <a:lnTo>
                    <a:pt x="318120" y="891480"/>
                  </a:lnTo>
                  <a:cubicBezTo>
                    <a:pt x="318120" y="799951"/>
                    <a:pt x="453368" y="799951"/>
                    <a:pt x="453368" y="891480"/>
                  </a:cubicBezTo>
                  <a:lnTo>
                    <a:pt x="453368" y="1195276"/>
                  </a:lnTo>
                  <a:close/>
                  <a:moveTo>
                    <a:pt x="829717" y="1195090"/>
                  </a:moveTo>
                  <a:cubicBezTo>
                    <a:pt x="829717" y="1286619"/>
                    <a:pt x="694469" y="1286619"/>
                    <a:pt x="694469" y="1195090"/>
                  </a:cubicBezTo>
                  <a:lnTo>
                    <a:pt x="694469" y="846646"/>
                  </a:lnTo>
                  <a:cubicBezTo>
                    <a:pt x="694469" y="755303"/>
                    <a:pt x="829717" y="755303"/>
                    <a:pt x="829717" y="846646"/>
                  </a:cubicBezTo>
                  <a:lnTo>
                    <a:pt x="829717" y="1195090"/>
                  </a:lnTo>
                  <a:close/>
                  <a:moveTo>
                    <a:pt x="1205880" y="1195090"/>
                  </a:moveTo>
                  <a:cubicBezTo>
                    <a:pt x="1205880" y="1286619"/>
                    <a:pt x="1070632" y="1286619"/>
                    <a:pt x="1070632" y="1195090"/>
                  </a:cubicBezTo>
                  <a:lnTo>
                    <a:pt x="1070632" y="673447"/>
                  </a:lnTo>
                  <a:cubicBezTo>
                    <a:pt x="1070632" y="581918"/>
                    <a:pt x="1206066" y="581918"/>
                    <a:pt x="1205880" y="673447"/>
                  </a:cubicBezTo>
                  <a:lnTo>
                    <a:pt x="1205880" y="1195090"/>
                  </a:lnTo>
                  <a:close/>
                  <a:moveTo>
                    <a:pt x="1247738" y="253194"/>
                  </a:moveTo>
                  <a:lnTo>
                    <a:pt x="1247738" y="497830"/>
                  </a:lnTo>
                  <a:cubicBezTo>
                    <a:pt x="1247738" y="589359"/>
                    <a:pt x="1112490" y="589359"/>
                    <a:pt x="1112490" y="497830"/>
                  </a:cubicBezTo>
                  <a:lnTo>
                    <a:pt x="1112490" y="424532"/>
                  </a:lnTo>
                  <a:cubicBezTo>
                    <a:pt x="916037" y="625636"/>
                    <a:pt x="649263" y="757535"/>
                    <a:pt x="370024" y="743955"/>
                  </a:cubicBezTo>
                  <a:cubicBezTo>
                    <a:pt x="283146" y="739862"/>
                    <a:pt x="282773" y="597917"/>
                    <a:pt x="370024" y="602196"/>
                  </a:cubicBezTo>
                  <a:cubicBezTo>
                    <a:pt x="619683" y="614474"/>
                    <a:pt x="863017" y="492807"/>
                    <a:pt x="1035100" y="307144"/>
                  </a:cubicBezTo>
                  <a:lnTo>
                    <a:pt x="954918" y="307144"/>
                  </a:lnTo>
                  <a:cubicBezTo>
                    <a:pt x="867668" y="307144"/>
                    <a:pt x="867668" y="165385"/>
                    <a:pt x="954918" y="165385"/>
                  </a:cubicBezTo>
                  <a:lnTo>
                    <a:pt x="1180021" y="165385"/>
                  </a:lnTo>
                  <a:cubicBezTo>
                    <a:pt x="1201043" y="165385"/>
                    <a:pt x="1220019" y="176175"/>
                    <a:pt x="1232669" y="192546"/>
                  </a:cubicBezTo>
                  <a:cubicBezTo>
                    <a:pt x="1247924" y="207801"/>
                    <a:pt x="1247738" y="253194"/>
                    <a:pt x="1247738" y="25319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7" name="矩形 136"/>
          <p:cNvSpPr/>
          <p:nvPr/>
        </p:nvSpPr>
        <p:spPr>
          <a:xfrm>
            <a:off x="442912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ectangle 136+"/>
          <p:cNvSpPr/>
          <p:nvPr/>
        </p:nvSpPr>
        <p:spPr>
          <a:xfrm>
            <a:off x="3300158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Rectangle 136++"/>
          <p:cNvSpPr/>
          <p:nvPr/>
        </p:nvSpPr>
        <p:spPr>
          <a:xfrm>
            <a:off x="6157404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0" name="Rectangle 136+++"/>
          <p:cNvSpPr/>
          <p:nvPr/>
        </p:nvSpPr>
        <p:spPr>
          <a:xfrm>
            <a:off x="9014651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箭头: 右 141"/>
          <p:cNvSpPr/>
          <p:nvPr/>
        </p:nvSpPr>
        <p:spPr>
          <a:xfrm>
            <a:off x="899290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47112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夯实基础</a:t>
            </a:r>
          </a:p>
        </p:txBody>
      </p:sp>
      <p:sp>
        <p:nvSpPr>
          <p:cNvPr id="141" name="椭圆 140"/>
          <p:cNvSpPr/>
          <p:nvPr/>
        </p:nvSpPr>
        <p:spPr>
          <a:xfrm>
            <a:off x="449490" y="2527041"/>
            <a:ext cx="675440" cy="675440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603666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48" name="箭头: 右 147"/>
          <p:cNvSpPr/>
          <p:nvPr/>
        </p:nvSpPr>
        <p:spPr>
          <a:xfrm>
            <a:off x="3773156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04357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引爆增长</a:t>
            </a:r>
          </a:p>
        </p:txBody>
      </p:sp>
      <p:sp>
        <p:nvSpPr>
          <p:cNvPr id="150" name="椭圆 149"/>
          <p:cNvSpPr/>
          <p:nvPr/>
        </p:nvSpPr>
        <p:spPr>
          <a:xfrm>
            <a:off x="3323356" y="2527041"/>
            <a:ext cx="675440" cy="6754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477532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53" name="箭头: 右 152"/>
          <p:cNvSpPr/>
          <p:nvPr/>
        </p:nvSpPr>
        <p:spPr>
          <a:xfrm>
            <a:off x="6635863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1604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深耕转化</a:t>
            </a:r>
          </a:p>
        </p:txBody>
      </p:sp>
      <p:sp>
        <p:nvSpPr>
          <p:cNvPr id="155" name="椭圆 154"/>
          <p:cNvSpPr/>
          <p:nvPr/>
        </p:nvSpPr>
        <p:spPr>
          <a:xfrm>
            <a:off x="6186063" y="2527041"/>
            <a:ext cx="675440" cy="6754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340239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59" name="箭头: 右 158"/>
          <p:cNvSpPr/>
          <p:nvPr/>
        </p:nvSpPr>
        <p:spPr>
          <a:xfrm>
            <a:off x="9570559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951434" y="2722201"/>
            <a:ext cx="12070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下季度展望 </a:t>
            </a:r>
          </a:p>
        </p:txBody>
      </p:sp>
      <p:sp>
        <p:nvSpPr>
          <p:cNvPr id="161" name="椭圆 160"/>
          <p:cNvSpPr/>
          <p:nvPr/>
        </p:nvSpPr>
        <p:spPr>
          <a:xfrm>
            <a:off x="9120759" y="2527041"/>
            <a:ext cx="675440" cy="6754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9316757" y="2713993"/>
            <a:ext cx="283444" cy="301536"/>
          </a:xfrm>
          <a:custGeom>
            <a:avLst/>
            <a:gdLst>
              <a:gd name="connsiteX0" fmla="*/ 1550930 w 1790588"/>
              <a:gd name="connsiteY0" fmla="*/ 1904881 h 1904880"/>
              <a:gd name="connsiteX1" fmla="*/ 367523 w 1790588"/>
              <a:gd name="connsiteY1" fmla="*/ 1904881 h 1904880"/>
              <a:gd name="connsiteX2" fmla="*/ 119888 w 1790588"/>
              <a:gd name="connsiteY2" fmla="*/ 1665938 h 1904880"/>
              <a:gd name="connsiteX3" fmla="*/ 119174 w 1790588"/>
              <a:gd name="connsiteY3" fmla="*/ 1664866 h 1904880"/>
              <a:gd name="connsiteX4" fmla="*/ 119769 w 1790588"/>
              <a:gd name="connsiteY4" fmla="*/ 1664866 h 1904880"/>
              <a:gd name="connsiteX5" fmla="*/ 119174 w 1790588"/>
              <a:gd name="connsiteY5" fmla="*/ 1657366 h 1904880"/>
              <a:gd name="connsiteX6" fmla="*/ 119174 w 1790588"/>
              <a:gd name="connsiteY6" fmla="*/ 1634388 h 1904880"/>
              <a:gd name="connsiteX7" fmla="*/ 0 w 1790588"/>
              <a:gd name="connsiteY7" fmla="*/ 1419851 h 1904880"/>
              <a:gd name="connsiteX8" fmla="*/ 0 w 1790588"/>
              <a:gd name="connsiteY8" fmla="*/ 235015 h 1904880"/>
              <a:gd name="connsiteX9" fmla="*/ 238467 w 1790588"/>
              <a:gd name="connsiteY9" fmla="*/ 0 h 1904880"/>
              <a:gd name="connsiteX10" fmla="*/ 1435447 w 1790588"/>
              <a:gd name="connsiteY10" fmla="*/ 0 h 1904880"/>
              <a:gd name="connsiteX11" fmla="*/ 1644031 w 1790588"/>
              <a:gd name="connsiteY11" fmla="*/ 135127 h 1904880"/>
              <a:gd name="connsiteX12" fmla="*/ 1790588 w 1790588"/>
              <a:gd name="connsiteY12" fmla="*/ 353713 h 1904880"/>
              <a:gd name="connsiteX13" fmla="*/ 1790588 w 1790588"/>
              <a:gd name="connsiteY13" fmla="*/ 1657366 h 1904880"/>
              <a:gd name="connsiteX14" fmla="*/ 1550930 w 1790588"/>
              <a:gd name="connsiteY14" fmla="*/ 1904881 h 1904880"/>
              <a:gd name="connsiteX15" fmla="*/ 1550930 w 1790588"/>
              <a:gd name="connsiteY15" fmla="*/ 1904881 h 1904880"/>
              <a:gd name="connsiteX16" fmla="*/ 1550930 w 1790588"/>
              <a:gd name="connsiteY16" fmla="*/ 1904881 h 1904880"/>
              <a:gd name="connsiteX17" fmla="*/ 834457 w 1790588"/>
              <a:gd name="connsiteY17" fmla="*/ 477530 h 1904880"/>
              <a:gd name="connsiteX18" fmla="*/ 834457 w 1790588"/>
              <a:gd name="connsiteY18" fmla="*/ 833743 h 1904880"/>
              <a:gd name="connsiteX19" fmla="*/ 357641 w 1790588"/>
              <a:gd name="connsiteY19" fmla="*/ 833743 h 1904880"/>
              <a:gd name="connsiteX20" fmla="*/ 357641 w 1790588"/>
              <a:gd name="connsiteY20" fmla="*/ 952440 h 1904880"/>
              <a:gd name="connsiteX21" fmla="*/ 834457 w 1790588"/>
              <a:gd name="connsiteY21" fmla="*/ 952440 h 1904880"/>
              <a:gd name="connsiteX22" fmla="*/ 834457 w 1790588"/>
              <a:gd name="connsiteY22" fmla="*/ 1308653 h 1904880"/>
              <a:gd name="connsiteX23" fmla="*/ 1311273 w 1790588"/>
              <a:gd name="connsiteY23" fmla="*/ 893032 h 1904880"/>
              <a:gd name="connsiteX24" fmla="*/ 834457 w 1790588"/>
              <a:gd name="connsiteY24" fmla="*/ 477530 h 1904880"/>
              <a:gd name="connsiteX25" fmla="*/ 834457 w 1790588"/>
              <a:gd name="connsiteY25" fmla="*/ 477530 h 1904880"/>
              <a:gd name="connsiteX26" fmla="*/ 834457 w 1790588"/>
              <a:gd name="connsiteY26" fmla="*/ 477530 h 1904880"/>
              <a:gd name="connsiteX27" fmla="*/ 1668795 w 1790588"/>
              <a:gd name="connsiteY27" fmla="*/ 240015 h 1904880"/>
              <a:gd name="connsiteX28" fmla="*/ 1549621 w 1790588"/>
              <a:gd name="connsiteY28" fmla="*/ 240015 h 1904880"/>
              <a:gd name="connsiteX29" fmla="*/ 1549621 w 1790588"/>
              <a:gd name="connsiteY29" fmla="*/ 1632364 h 1904880"/>
              <a:gd name="connsiteX30" fmla="*/ 1549621 w 1790588"/>
              <a:gd name="connsiteY30" fmla="*/ 1664866 h 1904880"/>
              <a:gd name="connsiteX31" fmla="*/ 1463901 w 1790588"/>
              <a:gd name="connsiteY31" fmla="*/ 1664866 h 1904880"/>
              <a:gd name="connsiteX32" fmla="*/ 238467 w 1790588"/>
              <a:gd name="connsiteY32" fmla="*/ 1664866 h 1904880"/>
              <a:gd name="connsiteX33" fmla="*/ 238467 w 1790588"/>
              <a:gd name="connsiteY33" fmla="*/ 1666771 h 1904880"/>
              <a:gd name="connsiteX34" fmla="*/ 238467 w 1790588"/>
              <a:gd name="connsiteY34" fmla="*/ 1783683 h 1904880"/>
              <a:gd name="connsiteX35" fmla="*/ 1549621 w 1790588"/>
              <a:gd name="connsiteY35" fmla="*/ 1783683 h 1904880"/>
              <a:gd name="connsiteX36" fmla="*/ 1668795 w 1790588"/>
              <a:gd name="connsiteY36" fmla="*/ 1783683 h 1904880"/>
              <a:gd name="connsiteX37" fmla="*/ 1668795 w 1790588"/>
              <a:gd name="connsiteY37" fmla="*/ 240015 h 1904880"/>
              <a:gd name="connsiteX38" fmla="*/ 1668795 w 1790588"/>
              <a:gd name="connsiteY38" fmla="*/ 240015 h 190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790588" h="1904880">
                <a:moveTo>
                  <a:pt x="1550930" y="1904881"/>
                </a:moveTo>
                <a:lnTo>
                  <a:pt x="367523" y="1904881"/>
                </a:lnTo>
                <a:cubicBezTo>
                  <a:pt x="154891" y="1904881"/>
                  <a:pt x="124055" y="1708559"/>
                  <a:pt x="119888" y="1665938"/>
                </a:cubicBezTo>
                <a:lnTo>
                  <a:pt x="119174" y="1664866"/>
                </a:lnTo>
                <a:lnTo>
                  <a:pt x="119769" y="1664866"/>
                </a:lnTo>
                <a:cubicBezTo>
                  <a:pt x="119293" y="1660461"/>
                  <a:pt x="119174" y="1657366"/>
                  <a:pt x="119174" y="1657366"/>
                </a:cubicBezTo>
                <a:lnTo>
                  <a:pt x="119174" y="1634388"/>
                </a:lnTo>
                <a:cubicBezTo>
                  <a:pt x="6429" y="1567241"/>
                  <a:pt x="0" y="1419851"/>
                  <a:pt x="0" y="1419851"/>
                </a:cubicBezTo>
                <a:lnTo>
                  <a:pt x="0" y="235015"/>
                </a:lnTo>
                <a:cubicBezTo>
                  <a:pt x="119" y="7381"/>
                  <a:pt x="238467" y="0"/>
                  <a:pt x="238467" y="0"/>
                </a:cubicBezTo>
                <a:lnTo>
                  <a:pt x="1435447" y="0"/>
                </a:lnTo>
                <a:cubicBezTo>
                  <a:pt x="1555693" y="0"/>
                  <a:pt x="1614863" y="71195"/>
                  <a:pt x="1644031" y="135127"/>
                </a:cubicBezTo>
                <a:cubicBezTo>
                  <a:pt x="1777849" y="188107"/>
                  <a:pt x="1790588" y="353713"/>
                  <a:pt x="1790588" y="353713"/>
                </a:cubicBezTo>
                <a:lnTo>
                  <a:pt x="1790588" y="1657366"/>
                </a:lnTo>
                <a:cubicBezTo>
                  <a:pt x="1790588" y="1657485"/>
                  <a:pt x="1755824" y="1904881"/>
                  <a:pt x="1550930" y="1904881"/>
                </a:cubicBezTo>
                <a:lnTo>
                  <a:pt x="1550930" y="1904881"/>
                </a:lnTo>
                <a:lnTo>
                  <a:pt x="1550930" y="1904881"/>
                </a:lnTo>
                <a:close/>
                <a:moveTo>
                  <a:pt x="834457" y="477530"/>
                </a:moveTo>
                <a:lnTo>
                  <a:pt x="834457" y="833743"/>
                </a:lnTo>
                <a:lnTo>
                  <a:pt x="357641" y="833743"/>
                </a:lnTo>
                <a:lnTo>
                  <a:pt x="357641" y="952440"/>
                </a:lnTo>
                <a:lnTo>
                  <a:pt x="834457" y="952440"/>
                </a:lnTo>
                <a:lnTo>
                  <a:pt x="834457" y="1308653"/>
                </a:lnTo>
                <a:lnTo>
                  <a:pt x="1311273" y="893032"/>
                </a:lnTo>
                <a:lnTo>
                  <a:pt x="834457" y="477530"/>
                </a:lnTo>
                <a:lnTo>
                  <a:pt x="834457" y="477530"/>
                </a:lnTo>
                <a:lnTo>
                  <a:pt x="834457" y="477530"/>
                </a:lnTo>
                <a:close/>
                <a:moveTo>
                  <a:pt x="1668795" y="240015"/>
                </a:moveTo>
                <a:lnTo>
                  <a:pt x="1549621" y="240015"/>
                </a:lnTo>
                <a:lnTo>
                  <a:pt x="1549621" y="1632364"/>
                </a:lnTo>
                <a:lnTo>
                  <a:pt x="1549621" y="1664866"/>
                </a:lnTo>
                <a:lnTo>
                  <a:pt x="1463901" y="1664866"/>
                </a:lnTo>
                <a:lnTo>
                  <a:pt x="238467" y="1664866"/>
                </a:lnTo>
                <a:lnTo>
                  <a:pt x="238467" y="1666771"/>
                </a:lnTo>
                <a:lnTo>
                  <a:pt x="238467" y="1783683"/>
                </a:lnTo>
                <a:lnTo>
                  <a:pt x="1549621" y="1783683"/>
                </a:lnTo>
                <a:lnTo>
                  <a:pt x="1668795" y="1783683"/>
                </a:lnTo>
                <a:lnTo>
                  <a:pt x="1668795" y="240015"/>
                </a:lnTo>
                <a:lnTo>
                  <a:pt x="1668795" y="24001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76" name="直接连接符 175"/>
          <p:cNvCxnSpPr/>
          <p:nvPr/>
        </p:nvCxnSpPr>
        <p:spPr>
          <a:xfrm>
            <a:off x="656823" y="3699904"/>
            <a:ext cx="0" cy="2601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/>
          <p:cNvSpPr txBox="1"/>
          <p:nvPr/>
        </p:nvSpPr>
        <p:spPr>
          <a:xfrm>
            <a:off x="800823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177" name="椭圆 176"/>
          <p:cNvSpPr>
            <a:spLocks noChangeAspect="1"/>
          </p:cNvSpPr>
          <p:nvPr/>
        </p:nvSpPr>
        <p:spPr>
          <a:xfrm>
            <a:off x="584823" y="3568995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800823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」大促的全面复盘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重点优化了仓储物流与供应商协同流程</a:t>
            </a:r>
          </a:p>
        </p:txBody>
      </p:sp>
      <p:sp>
        <p:nvSpPr>
          <p:cNvPr id="178" name="Oval 176+"/>
          <p:cNvSpPr>
            <a:spLocks noChangeAspect="1"/>
          </p:cNvSpPr>
          <p:nvPr/>
        </p:nvSpPr>
        <p:spPr>
          <a:xfrm>
            <a:off x="602823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800823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围绕季节性消费趋势，启动了「夏日焕新」主题商品规划与选品工作</a:t>
            </a:r>
          </a:p>
        </p:txBody>
      </p:sp>
      <p:sp>
        <p:nvSpPr>
          <p:cNvPr id="179" name="Oval 176++"/>
          <p:cNvSpPr>
            <a:spLocks noChangeAspect="1"/>
          </p:cNvSpPr>
          <p:nvPr/>
        </p:nvSpPr>
        <p:spPr>
          <a:xfrm>
            <a:off x="602823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800823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03" name="椭圆 202"/>
          <p:cNvSpPr>
            <a:spLocks noChangeAspect="1"/>
          </p:cNvSpPr>
          <p:nvPr/>
        </p:nvSpPr>
        <p:spPr>
          <a:xfrm>
            <a:off x="584823" y="502055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800823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供应链整体响应速度提升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，大幅改善履约体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Oval 176+"/>
          <p:cNvSpPr>
            <a:spLocks noChangeAspect="1"/>
          </p:cNvSpPr>
          <p:nvPr/>
        </p:nvSpPr>
        <p:spPr>
          <a:xfrm>
            <a:off x="602823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800823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成功引入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个符合夏季需求的新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，有效丰富了商品广度</a:t>
            </a:r>
          </a:p>
        </p:txBody>
      </p:sp>
      <p:sp>
        <p:nvSpPr>
          <p:cNvPr id="207" name="Oval 176++"/>
          <p:cNvSpPr>
            <a:spLocks noChangeAspect="1"/>
          </p:cNvSpPr>
          <p:nvPr/>
        </p:nvSpPr>
        <p:spPr>
          <a:xfrm>
            <a:off x="602823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>
            <a:off x="3545109" y="3699904"/>
            <a:ext cx="0" cy="2601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212"/>
          <p:cNvSpPr txBox="1"/>
          <p:nvPr/>
        </p:nvSpPr>
        <p:spPr>
          <a:xfrm>
            <a:off x="368910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214" name="椭圆 213"/>
          <p:cNvSpPr>
            <a:spLocks noChangeAspect="1"/>
          </p:cNvSpPr>
          <p:nvPr/>
        </p:nvSpPr>
        <p:spPr>
          <a:xfrm>
            <a:off x="3473109" y="3568995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68910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策划并主导了「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会员节」全域大促活动，整合平台资源与优惠玩法</a:t>
            </a:r>
          </a:p>
        </p:txBody>
      </p:sp>
      <p:sp>
        <p:nvSpPr>
          <p:cNvPr id="226" name="Oval 176+"/>
          <p:cNvSpPr>
            <a:spLocks noChangeAspect="1"/>
          </p:cNvSpPr>
          <p:nvPr/>
        </p:nvSpPr>
        <p:spPr>
          <a:xfrm>
            <a:off x="349110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68910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通过短视频与直播等形式对新品进行集中内容种草，引爆市场关注</a:t>
            </a:r>
          </a:p>
        </p:txBody>
      </p:sp>
      <p:sp>
        <p:nvSpPr>
          <p:cNvPr id="224" name="Oval 176++"/>
          <p:cNvSpPr>
            <a:spLocks noChangeAspect="1"/>
          </p:cNvSpPr>
          <p:nvPr/>
        </p:nvSpPr>
        <p:spPr>
          <a:xfrm>
            <a:off x="349110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68910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18" name="椭圆 217"/>
          <p:cNvSpPr>
            <a:spLocks noChangeAspect="1"/>
          </p:cNvSpPr>
          <p:nvPr/>
        </p:nvSpPr>
        <p:spPr>
          <a:xfrm>
            <a:off x="3473109" y="5020551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368910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大促期间销售额创下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¥3,800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 的历史新高，同比增长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</a:p>
        </p:txBody>
      </p:sp>
      <p:sp>
        <p:nvSpPr>
          <p:cNvPr id="220" name="Oval 176+"/>
          <p:cNvSpPr>
            <a:spLocks noChangeAspect="1"/>
          </p:cNvSpPr>
          <p:nvPr/>
        </p:nvSpPr>
        <p:spPr>
          <a:xfrm>
            <a:off x="349110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3689109" y="5770910"/>
            <a:ext cx="207740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品牌相关话题在全网获得超过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 的曝光量，品牌知名度与用户兴趣度达到年度峰值</a:t>
            </a:r>
          </a:p>
        </p:txBody>
      </p:sp>
      <p:sp>
        <p:nvSpPr>
          <p:cNvPr id="222" name="Oval 176++"/>
          <p:cNvSpPr>
            <a:spLocks noChangeAspect="1"/>
          </p:cNvSpPr>
          <p:nvPr/>
        </p:nvSpPr>
        <p:spPr>
          <a:xfrm>
            <a:off x="349110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28" name="直接连接符 227"/>
          <p:cNvCxnSpPr/>
          <p:nvPr/>
        </p:nvCxnSpPr>
        <p:spPr>
          <a:xfrm>
            <a:off x="6412239" y="3699904"/>
            <a:ext cx="0" cy="2601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/>
        </p:nvSpPr>
        <p:spPr>
          <a:xfrm>
            <a:off x="655623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230" name="椭圆 229"/>
          <p:cNvSpPr>
            <a:spLocks noChangeAspect="1"/>
          </p:cNvSpPr>
          <p:nvPr/>
        </p:nvSpPr>
        <p:spPr>
          <a:xfrm>
            <a:off x="6340239" y="3568995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655623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通过企业微信社群与自动化营销工具进行了分层触达与精细化运营</a:t>
            </a:r>
          </a:p>
        </p:txBody>
      </p:sp>
      <p:sp>
        <p:nvSpPr>
          <p:cNvPr id="242" name="Oval 176+"/>
          <p:cNvSpPr>
            <a:spLocks noChangeAspect="1"/>
          </p:cNvSpPr>
          <p:nvPr/>
        </p:nvSpPr>
        <p:spPr>
          <a:xfrm>
            <a:off x="635823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55623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全面启动「国庆黄金周」的预售与备货计划，完成页面搭建与促销配置</a:t>
            </a:r>
          </a:p>
        </p:txBody>
      </p:sp>
      <p:sp>
        <p:nvSpPr>
          <p:cNvPr id="240" name="Oval 176++"/>
          <p:cNvSpPr>
            <a:spLocks noChangeAspect="1"/>
          </p:cNvSpPr>
          <p:nvPr/>
        </p:nvSpPr>
        <p:spPr>
          <a:xfrm>
            <a:off x="635823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55623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34" name="椭圆 233"/>
          <p:cNvSpPr>
            <a:spLocks noChangeAspect="1"/>
          </p:cNvSpPr>
          <p:nvPr/>
        </p:nvSpPr>
        <p:spPr>
          <a:xfrm>
            <a:off x="6340239" y="50205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655623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新客的次月复购率显著提升至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，用户价值得到有效挖掘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6" name="Oval 176+"/>
          <p:cNvSpPr>
            <a:spLocks noChangeAspect="1"/>
          </p:cNvSpPr>
          <p:nvPr/>
        </p:nvSpPr>
        <p:spPr>
          <a:xfrm>
            <a:off x="635823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556239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国庆预售活动上线一周，订单金额已突破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¥1,000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238" name="Oval 176++"/>
          <p:cNvSpPr>
            <a:spLocks noChangeAspect="1"/>
          </p:cNvSpPr>
          <p:nvPr/>
        </p:nvSpPr>
        <p:spPr>
          <a:xfrm>
            <a:off x="635823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44" name="直接连接符 243"/>
          <p:cNvCxnSpPr/>
          <p:nvPr/>
        </p:nvCxnSpPr>
        <p:spPr>
          <a:xfrm>
            <a:off x="9259602" y="3699904"/>
            <a:ext cx="0" cy="2601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文本框 244"/>
          <p:cNvSpPr txBox="1"/>
          <p:nvPr/>
        </p:nvSpPr>
        <p:spPr>
          <a:xfrm>
            <a:off x="9403602" y="3533273"/>
            <a:ext cx="16158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聚焦“双十一”大促</a:t>
            </a:r>
          </a:p>
        </p:txBody>
      </p:sp>
      <p:sp>
        <p:nvSpPr>
          <p:cNvPr id="246" name="椭圆 245"/>
          <p:cNvSpPr>
            <a:spLocks noChangeAspect="1"/>
          </p:cNvSpPr>
          <p:nvPr/>
        </p:nvSpPr>
        <p:spPr>
          <a:xfrm>
            <a:off x="9187602" y="3568995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403602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全面优化购物流程，保障供应链与客服体系，冲击年度最高销售目标</a:t>
            </a:r>
          </a:p>
        </p:txBody>
      </p:sp>
      <p:sp>
        <p:nvSpPr>
          <p:cNvPr id="258" name="Oval 176+"/>
          <p:cNvSpPr>
            <a:spLocks noChangeAspect="1"/>
          </p:cNvSpPr>
          <p:nvPr/>
        </p:nvSpPr>
        <p:spPr>
          <a:xfrm>
            <a:off x="9205602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403602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整合全域营销资源，聚焦核心爆款打造，全力冲击年度最高销售目标</a:t>
            </a:r>
          </a:p>
        </p:txBody>
      </p:sp>
      <p:sp>
        <p:nvSpPr>
          <p:cNvPr id="256" name="Oval 176++"/>
          <p:cNvSpPr>
            <a:spLocks noChangeAspect="1"/>
          </p:cNvSpPr>
          <p:nvPr/>
        </p:nvSpPr>
        <p:spPr>
          <a:xfrm>
            <a:off x="9205602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03602" y="4984829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深化会员运营</a:t>
            </a:r>
          </a:p>
        </p:txBody>
      </p:sp>
      <p:sp>
        <p:nvSpPr>
          <p:cNvPr id="250" name="椭圆 249"/>
          <p:cNvSpPr>
            <a:spLocks noChangeAspect="1"/>
          </p:cNvSpPr>
          <p:nvPr/>
        </p:nvSpPr>
        <p:spPr>
          <a:xfrm>
            <a:off x="9187602" y="50205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9403602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构建更完善的会员等级与权益体系，提升用户终身价值（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LTV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Oval 176+"/>
          <p:cNvSpPr>
            <a:spLocks noChangeAspect="1"/>
          </p:cNvSpPr>
          <p:nvPr/>
        </p:nvSpPr>
        <p:spPr>
          <a:xfrm>
            <a:off x="9205602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9403602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基于用户行为数据进行分层，实施差异化策略，提升复购频次与客单价</a:t>
            </a:r>
          </a:p>
        </p:txBody>
      </p:sp>
      <p:sp>
        <p:nvSpPr>
          <p:cNvPr id="254" name="Oval 176++"/>
          <p:cNvSpPr>
            <a:spLocks noChangeAspect="1"/>
          </p:cNvSpPr>
          <p:nvPr/>
        </p:nvSpPr>
        <p:spPr>
          <a:xfrm>
            <a:off x="9205602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6+"/>
          <p:cNvSpPr/>
          <p:nvPr/>
        </p:nvSpPr>
        <p:spPr>
          <a:xfrm>
            <a:off x="78597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Freeform 19+"/>
          <p:cNvSpPr/>
          <p:nvPr/>
        </p:nvSpPr>
        <p:spPr>
          <a:xfrm>
            <a:off x="78597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429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矩形: 剪去左右顶角 111"/>
          <p:cNvSpPr/>
          <p:nvPr/>
        </p:nvSpPr>
        <p:spPr>
          <a:xfrm>
            <a:off x="4332288" y="4667250"/>
            <a:ext cx="3527426" cy="1857375"/>
          </a:xfrm>
          <a:prstGeom prst="snip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586461" y="4161130"/>
            <a:ext cx="3019078" cy="780758"/>
            <a:chOff x="5353792" y="4941888"/>
            <a:chExt cx="1484416" cy="383882"/>
          </a:xfrm>
        </p:grpSpPr>
        <p:sp>
          <p:nvSpPr>
            <p:cNvPr id="114" name="1"/>
            <p:cNvSpPr/>
            <p:nvPr/>
          </p:nvSpPr>
          <p:spPr>
            <a:xfrm>
              <a:off x="5353792" y="5063870"/>
              <a:ext cx="1484416" cy="26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1"/>
            <p:cNvSpPr/>
            <p:nvPr/>
          </p:nvSpPr>
          <p:spPr>
            <a:xfrm>
              <a:off x="5353792" y="5063869"/>
              <a:ext cx="1484416" cy="1273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6" name="1"/>
            <p:cNvSpPr/>
            <p:nvPr/>
          </p:nvSpPr>
          <p:spPr>
            <a:xfrm>
              <a:off x="5353792" y="4941888"/>
              <a:ext cx="1484416" cy="261900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9525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62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86274" y="1032783"/>
            <a:ext cx="3219451" cy="3371850"/>
            <a:chOff x="7621360" y="249010"/>
            <a:chExt cx="3219451" cy="3371850"/>
          </a:xfrm>
        </p:grpSpPr>
        <p:sp>
          <p:nvSpPr>
            <p:cNvPr id="118" name="Oval 20+"/>
            <p:cNvSpPr/>
            <p:nvPr/>
          </p:nvSpPr>
          <p:spPr>
            <a:xfrm>
              <a:off x="7621360" y="249010"/>
              <a:ext cx="3219451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Oval 20++"/>
            <p:cNvSpPr/>
            <p:nvPr/>
          </p:nvSpPr>
          <p:spPr>
            <a:xfrm flipV="1">
              <a:off x="7630886" y="249010"/>
              <a:ext cx="3200400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22" name="直接连接符 121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2005881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430213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191070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/>
          <p:cNvSpPr/>
          <p:nvPr/>
        </p:nvSpPr>
        <p:spPr>
          <a:xfrm>
            <a:off x="4695031" y="2809876"/>
            <a:ext cx="2801938" cy="1414463"/>
          </a:xfrm>
          <a:custGeom>
            <a:avLst/>
            <a:gdLst>
              <a:gd name="connsiteX0" fmla="*/ 682 w 2801938"/>
              <a:gd name="connsiteY0" fmla="*/ 0 h 1414463"/>
              <a:gd name="connsiteX1" fmla="*/ 6432 w 2801938"/>
              <a:gd name="connsiteY1" fmla="*/ 0 h 1414463"/>
              <a:gd name="connsiteX2" fmla="*/ 7233 w 2801938"/>
              <a:gd name="connsiteY2" fmla="*/ 3463 h 1414463"/>
              <a:gd name="connsiteX3" fmla="*/ 1400969 w 2801938"/>
              <a:gd name="connsiteY3" fmla="*/ 277812 h 1414463"/>
              <a:gd name="connsiteX4" fmla="*/ 2794705 w 2801938"/>
              <a:gd name="connsiteY4" fmla="*/ 3463 h 1414463"/>
              <a:gd name="connsiteX5" fmla="*/ 2795507 w 2801938"/>
              <a:gd name="connsiteY5" fmla="*/ 0 h 1414463"/>
              <a:gd name="connsiteX6" fmla="*/ 2801257 w 2801938"/>
              <a:gd name="connsiteY6" fmla="*/ 0 h 1414463"/>
              <a:gd name="connsiteX7" fmla="*/ 2801938 w 2801938"/>
              <a:gd name="connsiteY7" fmla="*/ 13494 h 1414463"/>
              <a:gd name="connsiteX8" fmla="*/ 1400969 w 2801938"/>
              <a:gd name="connsiteY8" fmla="*/ 1414463 h 1414463"/>
              <a:gd name="connsiteX9" fmla="*/ 0 w 2801938"/>
              <a:gd name="connsiteY9" fmla="*/ 13494 h 141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1938" h="1414463">
                <a:moveTo>
                  <a:pt x="682" y="0"/>
                </a:moveTo>
                <a:lnTo>
                  <a:pt x="6432" y="0"/>
                </a:lnTo>
                <a:lnTo>
                  <a:pt x="7233" y="3463"/>
                </a:lnTo>
                <a:cubicBezTo>
                  <a:pt x="78977" y="157561"/>
                  <a:pt x="675594" y="277812"/>
                  <a:pt x="1400969" y="277812"/>
                </a:cubicBezTo>
                <a:cubicBezTo>
                  <a:pt x="2126345" y="277812"/>
                  <a:pt x="2722962" y="157561"/>
                  <a:pt x="2794705" y="3463"/>
                </a:cubicBezTo>
                <a:lnTo>
                  <a:pt x="2795507" y="0"/>
                </a:lnTo>
                <a:lnTo>
                  <a:pt x="2801257" y="0"/>
                </a:lnTo>
                <a:lnTo>
                  <a:pt x="2801938" y="13494"/>
                </a:lnTo>
                <a:cubicBezTo>
                  <a:pt x="2801938" y="787228"/>
                  <a:pt x="2174703" y="1414463"/>
                  <a:pt x="1400969" y="1414463"/>
                </a:cubicBezTo>
                <a:cubicBezTo>
                  <a:pt x="627235" y="1414463"/>
                  <a:pt x="0" y="787228"/>
                  <a:pt x="0" y="1349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Oval 12++"/>
          <p:cNvSpPr/>
          <p:nvPr/>
        </p:nvSpPr>
        <p:spPr>
          <a:xfrm>
            <a:off x="4695031" y="2562225"/>
            <a:ext cx="2801938" cy="53340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4686300" y="1247775"/>
            <a:ext cx="2800350" cy="2800350"/>
          </a:xfrm>
          <a:prstGeom prst="ellipse">
            <a:avLst/>
          </a:pr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056452" y="2129909"/>
            <a:ext cx="2079095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¥ 8,562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133" name="TextBox 22+"/>
          <p:cNvSpPr txBox="1"/>
          <p:nvPr/>
        </p:nvSpPr>
        <p:spPr>
          <a:xfrm>
            <a:off x="5583039" y="1748909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总销售额</a:t>
            </a:r>
          </a:p>
        </p:txBody>
      </p:sp>
      <p:grpSp>
        <p:nvGrpSpPr>
          <p:cNvPr id="134" name="组合 133"/>
          <p:cNvGrpSpPr/>
          <p:nvPr/>
        </p:nvGrpSpPr>
        <p:grpSpPr>
          <a:xfrm>
            <a:off x="571500" y="1687537"/>
            <a:ext cx="3632200" cy="828000"/>
            <a:chOff x="565151" y="1509737"/>
            <a:chExt cx="3632200" cy="828000"/>
          </a:xfrm>
        </p:grpSpPr>
        <p:sp>
          <p:nvSpPr>
            <p:cNvPr id="135" name="矩形 134"/>
            <p:cNvSpPr/>
            <p:nvPr/>
          </p:nvSpPr>
          <p:spPr>
            <a:xfrm>
              <a:off x="565151" y="1511300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78" r="24444" b="49167"/>
            <a:stretch>
              <a:fillRect/>
            </a:stretch>
          </p:blipFill>
          <p:spPr>
            <a:xfrm>
              <a:off x="666194" y="1509737"/>
              <a:ext cx="859672" cy="828000"/>
            </a:xfrm>
            <a:prstGeom prst="rect">
              <a:avLst/>
            </a:prstGeom>
          </p:spPr>
        </p:pic>
        <p:sp>
          <p:nvSpPr>
            <p:cNvPr id="137" name="文本框 136"/>
            <p:cNvSpPr txBox="1"/>
            <p:nvPr/>
          </p:nvSpPr>
          <p:spPr>
            <a:xfrm>
              <a:off x="1738090" y="1673893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38" name="TextBox 37+"/>
            <p:cNvSpPr txBox="1"/>
            <p:nvPr/>
          </p:nvSpPr>
          <p:spPr>
            <a:xfrm>
              <a:off x="2571750" y="1708294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1,250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571500" y="2661489"/>
            <a:ext cx="3632200" cy="839532"/>
            <a:chOff x="565151" y="2523303"/>
            <a:chExt cx="3632200" cy="839532"/>
          </a:xfrm>
        </p:grpSpPr>
        <p:sp>
          <p:nvSpPr>
            <p:cNvPr id="140" name="Rectangle 26+"/>
            <p:cNvSpPr/>
            <p:nvPr/>
          </p:nvSpPr>
          <p:spPr>
            <a:xfrm>
              <a:off x="565151" y="2530631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1" name="Picture 32+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444" r="50139"/>
            <a:stretch>
              <a:fillRect/>
            </a:stretch>
          </p:blipFill>
          <p:spPr>
            <a:xfrm>
              <a:off x="666750" y="2523303"/>
              <a:ext cx="828000" cy="839532"/>
            </a:xfrm>
            <a:prstGeom prst="rect">
              <a:avLst/>
            </a:prstGeom>
          </p:spPr>
        </p:pic>
        <p:sp>
          <p:nvSpPr>
            <p:cNvPr id="142" name="TextBox 37+"/>
            <p:cNvSpPr txBox="1"/>
            <p:nvPr/>
          </p:nvSpPr>
          <p:spPr>
            <a:xfrm>
              <a:off x="1738090" y="2693224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43" name="TextBox 37++"/>
            <p:cNvSpPr txBox="1"/>
            <p:nvPr/>
          </p:nvSpPr>
          <p:spPr>
            <a:xfrm>
              <a:off x="2571750" y="2727625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1,180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71500" y="3646973"/>
            <a:ext cx="3632200" cy="824875"/>
            <a:chOff x="565151" y="3549962"/>
            <a:chExt cx="3632200" cy="824875"/>
          </a:xfrm>
        </p:grpSpPr>
        <p:sp>
          <p:nvSpPr>
            <p:cNvPr id="145" name="Rectangle 26++"/>
            <p:cNvSpPr/>
            <p:nvPr/>
          </p:nvSpPr>
          <p:spPr>
            <a:xfrm>
              <a:off x="565151" y="3549962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7" t="50139"/>
            <a:stretch>
              <a:fillRect/>
            </a:stretch>
          </p:blipFill>
          <p:spPr>
            <a:xfrm>
              <a:off x="695325" y="3565330"/>
              <a:ext cx="809625" cy="794140"/>
            </a:xfrm>
            <a:prstGeom prst="rect">
              <a:avLst/>
            </a:prstGeom>
          </p:spPr>
        </p:pic>
        <p:sp>
          <p:nvSpPr>
            <p:cNvPr id="147" name="TextBox 37++"/>
            <p:cNvSpPr txBox="1"/>
            <p:nvPr/>
          </p:nvSpPr>
          <p:spPr>
            <a:xfrm>
              <a:off x="1738090" y="3712555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48" name="TextBox 37+++"/>
            <p:cNvSpPr txBox="1"/>
            <p:nvPr/>
          </p:nvSpPr>
          <p:spPr>
            <a:xfrm>
              <a:off x="2571750" y="3746956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571500" y="4617800"/>
            <a:ext cx="3632200" cy="824875"/>
            <a:chOff x="565151" y="4569293"/>
            <a:chExt cx="3632200" cy="824875"/>
          </a:xfrm>
        </p:grpSpPr>
        <p:sp>
          <p:nvSpPr>
            <p:cNvPr id="150" name="Rectangle 26+++"/>
            <p:cNvSpPr/>
            <p:nvPr/>
          </p:nvSpPr>
          <p:spPr>
            <a:xfrm>
              <a:off x="565151" y="4569293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62000" y="4704732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04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TextBox 37+++"/>
            <p:cNvSpPr txBox="1"/>
            <p:nvPr/>
          </p:nvSpPr>
          <p:spPr>
            <a:xfrm>
              <a:off x="1738090" y="4731886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53" name="TextBox 37++++"/>
            <p:cNvSpPr txBox="1"/>
            <p:nvPr/>
          </p:nvSpPr>
          <p:spPr>
            <a:xfrm>
              <a:off x="2571750" y="4766287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920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571500" y="5588625"/>
            <a:ext cx="3632200" cy="824875"/>
            <a:chOff x="565151" y="5588625"/>
            <a:chExt cx="3632200" cy="824875"/>
          </a:xfrm>
        </p:grpSpPr>
        <p:sp>
          <p:nvSpPr>
            <p:cNvPr id="155" name="Rectangle 26++++"/>
            <p:cNvSpPr/>
            <p:nvPr/>
          </p:nvSpPr>
          <p:spPr>
            <a:xfrm>
              <a:off x="565151" y="5588625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TextBox 35+"/>
            <p:cNvSpPr txBox="1"/>
            <p:nvPr/>
          </p:nvSpPr>
          <p:spPr>
            <a:xfrm>
              <a:off x="762000" y="5724064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05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TextBox 37+++++"/>
            <p:cNvSpPr txBox="1"/>
            <p:nvPr/>
          </p:nvSpPr>
          <p:spPr>
            <a:xfrm>
              <a:off x="2571750" y="5785619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58" name="TextBox 37++++"/>
            <p:cNvSpPr txBox="1"/>
            <p:nvPr/>
          </p:nvSpPr>
          <p:spPr>
            <a:xfrm>
              <a:off x="1738090" y="5751218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</p:grpSp>
      <p:sp>
        <p:nvSpPr>
          <p:cNvPr id="159" name="文本框 158"/>
          <p:cNvSpPr txBox="1"/>
          <p:nvPr/>
        </p:nvSpPr>
        <p:spPr>
          <a:xfrm>
            <a:off x="4616827" y="5534416"/>
            <a:ext cx="149560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112.5%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0" name="TextBox 55+"/>
          <p:cNvSpPr txBox="1"/>
          <p:nvPr/>
        </p:nvSpPr>
        <p:spPr>
          <a:xfrm>
            <a:off x="6321625" y="5534416"/>
            <a:ext cx="1253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18.3%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6449543" y="6023882"/>
            <a:ext cx="997713" cy="287953"/>
            <a:chOff x="6574662" y="6067425"/>
            <a:chExt cx="997713" cy="287953"/>
          </a:xfrm>
        </p:grpSpPr>
        <p:sp>
          <p:nvSpPr>
            <p:cNvPr id="162" name="TextBox 55++"/>
            <p:cNvSpPr txBox="1"/>
            <p:nvPr/>
          </p:nvSpPr>
          <p:spPr>
            <a:xfrm>
              <a:off x="6574662" y="613993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</a:p>
          </p:txBody>
        </p:sp>
        <p:sp>
          <p:nvSpPr>
            <p:cNvPr id="163" name="箭头: 上 162"/>
            <p:cNvSpPr/>
            <p:nvPr/>
          </p:nvSpPr>
          <p:spPr>
            <a:xfrm>
              <a:off x="7324725" y="6067425"/>
              <a:ext cx="247650" cy="276225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4687380" y="6027057"/>
            <a:ext cx="1354496" cy="308599"/>
            <a:chOff x="4608155" y="6070600"/>
            <a:chExt cx="1354496" cy="308599"/>
          </a:xfrm>
        </p:grpSpPr>
        <p:sp>
          <p:nvSpPr>
            <p:cNvPr id="165" name="TextBox 55+"/>
            <p:cNvSpPr txBox="1"/>
            <p:nvPr/>
          </p:nvSpPr>
          <p:spPr>
            <a:xfrm>
              <a:off x="4608155" y="6139934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超额完成目标</a:t>
              </a:r>
            </a:p>
          </p:txBody>
        </p:sp>
        <p:sp>
          <p:nvSpPr>
            <p:cNvPr id="166" name="图形 66"/>
            <p:cNvSpPr/>
            <p:nvPr/>
          </p:nvSpPr>
          <p:spPr>
            <a:xfrm>
              <a:off x="5727701" y="6070600"/>
              <a:ext cx="234950" cy="308599"/>
            </a:xfrm>
            <a:custGeom>
              <a:avLst/>
              <a:gdLst>
                <a:gd name="connsiteX0" fmla="*/ 1290799 w 1329495"/>
                <a:gd name="connsiteY0" fmla="*/ 691021 h 1746249"/>
                <a:gd name="connsiteX1" fmla="*/ 1170744 w 1329495"/>
                <a:gd name="connsiteY1" fmla="*/ 636129 h 1746249"/>
                <a:gd name="connsiteX2" fmla="*/ 1169504 w 1329495"/>
                <a:gd name="connsiteY2" fmla="*/ 636129 h 1746249"/>
                <a:gd name="connsiteX3" fmla="*/ 657572 w 1329495"/>
                <a:gd name="connsiteY3" fmla="*/ 640259 h 1746249"/>
                <a:gd name="connsiteX4" fmla="*/ 657386 w 1329495"/>
                <a:gd name="connsiteY4" fmla="*/ 640259 h 1746249"/>
                <a:gd name="connsiteX5" fmla="*/ 640879 w 1329495"/>
                <a:gd name="connsiteY5" fmla="*/ 631279 h 1746249"/>
                <a:gd name="connsiteX6" fmla="*/ 639638 w 1329495"/>
                <a:gd name="connsiteY6" fmla="*/ 611981 h 1746249"/>
                <a:gd name="connsiteX7" fmla="*/ 695970 w 1329495"/>
                <a:gd name="connsiteY7" fmla="*/ 454645 h 1746249"/>
                <a:gd name="connsiteX8" fmla="*/ 720539 w 1329495"/>
                <a:gd name="connsiteY8" fmla="*/ 296143 h 1746249"/>
                <a:gd name="connsiteX9" fmla="*/ 636724 w 1329495"/>
                <a:gd name="connsiteY9" fmla="*/ 67109 h 1746249"/>
                <a:gd name="connsiteX10" fmla="*/ 488466 w 1329495"/>
                <a:gd name="connsiteY10" fmla="*/ 0 h 1746249"/>
                <a:gd name="connsiteX11" fmla="*/ 425847 w 1329495"/>
                <a:gd name="connsiteY11" fmla="*/ 17872 h 1746249"/>
                <a:gd name="connsiteX12" fmla="*/ 384659 w 1329495"/>
                <a:gd name="connsiteY12" fmla="*/ 103795 h 1746249"/>
                <a:gd name="connsiteX13" fmla="*/ 247055 w 1329495"/>
                <a:gd name="connsiteY13" fmla="*/ 485453 h 1746249"/>
                <a:gd name="connsiteX14" fmla="*/ 235893 w 1329495"/>
                <a:gd name="connsiteY14" fmla="*/ 497446 h 1746249"/>
                <a:gd name="connsiteX15" fmla="*/ 0 w 1329495"/>
                <a:gd name="connsiteY15" fmla="*/ 937233 h 1746249"/>
                <a:gd name="connsiteX16" fmla="*/ 0 w 1329495"/>
                <a:gd name="connsiteY16" fmla="*/ 1468438 h 1746249"/>
                <a:gd name="connsiteX17" fmla="*/ 277813 w 1329495"/>
                <a:gd name="connsiteY17" fmla="*/ 1746250 h 1746249"/>
                <a:gd name="connsiteX18" fmla="*/ 1048792 w 1329495"/>
                <a:gd name="connsiteY18" fmla="*/ 1746250 h 1746249"/>
                <a:gd name="connsiteX19" fmla="*/ 1205694 w 1329495"/>
                <a:gd name="connsiteY19" fmla="*/ 1611635 h 1746249"/>
                <a:gd name="connsiteX20" fmla="*/ 1327634 w 1329495"/>
                <a:gd name="connsiteY20" fmla="*/ 819014 h 1746249"/>
                <a:gd name="connsiteX21" fmla="*/ 1290799 w 1329495"/>
                <a:gd name="connsiteY21" fmla="*/ 691021 h 174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495" h="1746249">
                  <a:moveTo>
                    <a:pt x="1290799" y="691021"/>
                  </a:moveTo>
                  <a:cubicBezTo>
                    <a:pt x="1260670" y="656133"/>
                    <a:pt x="1216842" y="636093"/>
                    <a:pt x="1170744" y="636129"/>
                  </a:cubicBezTo>
                  <a:lnTo>
                    <a:pt x="1169504" y="636129"/>
                  </a:lnTo>
                  <a:lnTo>
                    <a:pt x="657572" y="640259"/>
                  </a:lnTo>
                  <a:lnTo>
                    <a:pt x="657386" y="640259"/>
                  </a:lnTo>
                  <a:cubicBezTo>
                    <a:pt x="650691" y="640362"/>
                    <a:pt x="644430" y="636956"/>
                    <a:pt x="640879" y="631279"/>
                  </a:cubicBezTo>
                  <a:cubicBezTo>
                    <a:pt x="637147" y="625497"/>
                    <a:pt x="636677" y="618194"/>
                    <a:pt x="639638" y="611981"/>
                  </a:cubicBezTo>
                  <a:cubicBezTo>
                    <a:pt x="661442" y="564852"/>
                    <a:pt x="681459" y="509042"/>
                    <a:pt x="695970" y="454645"/>
                  </a:cubicBezTo>
                  <a:cubicBezTo>
                    <a:pt x="707132" y="412700"/>
                    <a:pt x="720539" y="351148"/>
                    <a:pt x="720539" y="296143"/>
                  </a:cubicBezTo>
                  <a:cubicBezTo>
                    <a:pt x="720539" y="175840"/>
                    <a:pt x="674960" y="105147"/>
                    <a:pt x="636724" y="67109"/>
                  </a:cubicBezTo>
                  <a:cubicBezTo>
                    <a:pt x="586966" y="17624"/>
                    <a:pt x="527521" y="0"/>
                    <a:pt x="488466" y="0"/>
                  </a:cubicBezTo>
                  <a:cubicBezTo>
                    <a:pt x="471897" y="0"/>
                    <a:pt x="447539" y="3101"/>
                    <a:pt x="425847" y="17872"/>
                  </a:cubicBezTo>
                  <a:cubicBezTo>
                    <a:pt x="407057" y="30634"/>
                    <a:pt x="384659" y="55897"/>
                    <a:pt x="384659" y="103795"/>
                  </a:cubicBezTo>
                  <a:cubicBezTo>
                    <a:pt x="384659" y="236339"/>
                    <a:pt x="374526" y="348605"/>
                    <a:pt x="247055" y="485453"/>
                  </a:cubicBezTo>
                  <a:lnTo>
                    <a:pt x="235893" y="497446"/>
                  </a:lnTo>
                  <a:cubicBezTo>
                    <a:pt x="136327" y="603994"/>
                    <a:pt x="0" y="749995"/>
                    <a:pt x="0" y="937233"/>
                  </a:cubicBezTo>
                  <a:lnTo>
                    <a:pt x="0" y="1468438"/>
                  </a:lnTo>
                  <a:cubicBezTo>
                    <a:pt x="0" y="1621869"/>
                    <a:pt x="124381" y="1746250"/>
                    <a:pt x="277813" y="1746250"/>
                  </a:cubicBezTo>
                  <a:lnTo>
                    <a:pt x="1048792" y="1746250"/>
                  </a:lnTo>
                  <a:cubicBezTo>
                    <a:pt x="1127147" y="1746249"/>
                    <a:pt x="1193782" y="1689079"/>
                    <a:pt x="1205694" y="1611635"/>
                  </a:cubicBezTo>
                  <a:lnTo>
                    <a:pt x="1327634" y="819014"/>
                  </a:lnTo>
                  <a:cubicBezTo>
                    <a:pt x="1334746" y="773010"/>
                    <a:pt x="1321276" y="726207"/>
                    <a:pt x="1290799" y="69102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69++"/>
          <p:cNvSpPr/>
          <p:nvPr/>
        </p:nvSpPr>
        <p:spPr>
          <a:xfrm>
            <a:off x="7950200" y="1700213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5679281" y="3312319"/>
            <a:ext cx="826294" cy="767272"/>
            <a:chOff x="119062" y="178593"/>
            <a:chExt cx="1666875" cy="1547812"/>
          </a:xfrm>
          <a:solidFill>
            <a:schemeClr val="bg1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255984" y="178593"/>
              <a:ext cx="1529953" cy="1547812"/>
            </a:xfrm>
            <a:custGeom>
              <a:avLst/>
              <a:gdLst>
                <a:gd name="connsiteX0" fmla="*/ 41672 w 1529953"/>
                <a:gd name="connsiteY0" fmla="*/ 1071563 h 1547812"/>
                <a:gd name="connsiteX1" fmla="*/ 756047 w 1529953"/>
                <a:gd name="connsiteY1" fmla="*/ 1547813 h 1547812"/>
                <a:gd name="connsiteX2" fmla="*/ 1529953 w 1529953"/>
                <a:gd name="connsiteY2" fmla="*/ 773906 h 1547812"/>
                <a:gd name="connsiteX3" fmla="*/ 756047 w 1529953"/>
                <a:gd name="connsiteY3" fmla="*/ 0 h 1547812"/>
                <a:gd name="connsiteX4" fmla="*/ 0 w 1529953"/>
                <a:gd name="connsiteY4" fmla="*/ 595313 h 1547812"/>
                <a:gd name="connsiteX5" fmla="*/ 59531 w 1529953"/>
                <a:gd name="connsiteY5" fmla="*/ 595313 h 1547812"/>
                <a:gd name="connsiteX6" fmla="*/ 750094 w 1529953"/>
                <a:gd name="connsiteY6" fmla="*/ 59531 h 1547812"/>
                <a:gd name="connsiteX7" fmla="*/ 1464469 w 1529953"/>
                <a:gd name="connsiteY7" fmla="*/ 773906 h 1547812"/>
                <a:gd name="connsiteX8" fmla="*/ 750094 w 1529953"/>
                <a:gd name="connsiteY8" fmla="*/ 1488281 h 1547812"/>
                <a:gd name="connsiteX9" fmla="*/ 101203 w 1529953"/>
                <a:gd name="connsiteY9" fmla="*/ 1071563 h 1547812"/>
                <a:gd name="connsiteX10" fmla="*/ 41672 w 1529953"/>
                <a:gd name="connsiteY10" fmla="*/ 1071563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9953" h="1547812">
                  <a:moveTo>
                    <a:pt x="41672" y="1071563"/>
                  </a:moveTo>
                  <a:cubicBezTo>
                    <a:pt x="160734" y="1351359"/>
                    <a:pt x="434578" y="1547813"/>
                    <a:pt x="756047" y="1547813"/>
                  </a:cubicBezTo>
                  <a:cubicBezTo>
                    <a:pt x="1184672" y="1547813"/>
                    <a:pt x="1529953" y="1202531"/>
                    <a:pt x="1529953" y="773906"/>
                  </a:cubicBezTo>
                  <a:cubicBezTo>
                    <a:pt x="1529953" y="345281"/>
                    <a:pt x="1184672" y="0"/>
                    <a:pt x="756047" y="0"/>
                  </a:cubicBezTo>
                  <a:cubicBezTo>
                    <a:pt x="392906" y="0"/>
                    <a:pt x="83344" y="255984"/>
                    <a:pt x="0" y="595313"/>
                  </a:cubicBezTo>
                  <a:lnTo>
                    <a:pt x="59531" y="595313"/>
                  </a:lnTo>
                  <a:cubicBezTo>
                    <a:pt x="136922" y="285750"/>
                    <a:pt x="416719" y="59531"/>
                    <a:pt x="750094" y="59531"/>
                  </a:cubicBezTo>
                  <a:cubicBezTo>
                    <a:pt x="1143000" y="59531"/>
                    <a:pt x="1464469" y="381000"/>
                    <a:pt x="1464469" y="773906"/>
                  </a:cubicBezTo>
                  <a:cubicBezTo>
                    <a:pt x="1464469" y="1166813"/>
                    <a:pt x="1143000" y="1488281"/>
                    <a:pt x="750094" y="1488281"/>
                  </a:cubicBezTo>
                  <a:cubicBezTo>
                    <a:pt x="464344" y="1488281"/>
                    <a:pt x="214313" y="1315641"/>
                    <a:pt x="101203" y="1071563"/>
                  </a:cubicBezTo>
                  <a:lnTo>
                    <a:pt x="41672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119062" y="631031"/>
              <a:ext cx="1309687" cy="797718"/>
            </a:xfrm>
            <a:custGeom>
              <a:avLst/>
              <a:gdLst>
                <a:gd name="connsiteX0" fmla="*/ 172641 w 1309687"/>
                <a:gd name="connsiteY0" fmla="*/ 422672 h 797718"/>
                <a:gd name="connsiteX1" fmla="*/ 0 w 1309687"/>
                <a:gd name="connsiteY1" fmla="*/ 410766 h 797718"/>
                <a:gd name="connsiteX2" fmla="*/ 11906 w 1309687"/>
                <a:gd name="connsiteY2" fmla="*/ 351234 h 797718"/>
                <a:gd name="connsiteX3" fmla="*/ 1119188 w 1309687"/>
                <a:gd name="connsiteY3" fmla="*/ 0 h 797718"/>
                <a:gd name="connsiteX4" fmla="*/ 1160859 w 1309687"/>
                <a:gd name="connsiteY4" fmla="*/ 41672 h 797718"/>
                <a:gd name="connsiteX5" fmla="*/ 172641 w 1309687"/>
                <a:gd name="connsiteY5" fmla="*/ 422672 h 797718"/>
                <a:gd name="connsiteX6" fmla="*/ 506016 w 1309687"/>
                <a:gd name="connsiteY6" fmla="*/ 797719 h 797718"/>
                <a:gd name="connsiteX7" fmla="*/ 416719 w 1309687"/>
                <a:gd name="connsiteY7" fmla="*/ 708422 h 797718"/>
                <a:gd name="connsiteX8" fmla="*/ 416719 w 1309687"/>
                <a:gd name="connsiteY8" fmla="*/ 589359 h 797718"/>
                <a:gd name="connsiteX9" fmla="*/ 506016 w 1309687"/>
                <a:gd name="connsiteY9" fmla="*/ 500062 h 797718"/>
                <a:gd name="connsiteX10" fmla="*/ 595313 w 1309687"/>
                <a:gd name="connsiteY10" fmla="*/ 589359 h 797718"/>
                <a:gd name="connsiteX11" fmla="*/ 595313 w 1309687"/>
                <a:gd name="connsiteY11" fmla="*/ 708422 h 797718"/>
                <a:gd name="connsiteX12" fmla="*/ 506016 w 1309687"/>
                <a:gd name="connsiteY12" fmla="*/ 797719 h 797718"/>
                <a:gd name="connsiteX13" fmla="*/ 506016 w 1309687"/>
                <a:gd name="connsiteY13" fmla="*/ 559594 h 797718"/>
                <a:gd name="connsiteX14" fmla="*/ 476250 w 1309687"/>
                <a:gd name="connsiteY14" fmla="*/ 589359 h 797718"/>
                <a:gd name="connsiteX15" fmla="*/ 476250 w 1309687"/>
                <a:gd name="connsiteY15" fmla="*/ 708422 h 797718"/>
                <a:gd name="connsiteX16" fmla="*/ 506016 w 1309687"/>
                <a:gd name="connsiteY16" fmla="*/ 738188 h 797718"/>
                <a:gd name="connsiteX17" fmla="*/ 535781 w 1309687"/>
                <a:gd name="connsiteY17" fmla="*/ 708422 h 797718"/>
                <a:gd name="connsiteX18" fmla="*/ 535781 w 1309687"/>
                <a:gd name="connsiteY18" fmla="*/ 589359 h 797718"/>
                <a:gd name="connsiteX19" fmla="*/ 506016 w 1309687"/>
                <a:gd name="connsiteY19" fmla="*/ 559594 h 797718"/>
                <a:gd name="connsiteX20" fmla="*/ 744141 w 1309687"/>
                <a:gd name="connsiteY20" fmla="*/ 797719 h 797718"/>
                <a:gd name="connsiteX21" fmla="*/ 654844 w 1309687"/>
                <a:gd name="connsiteY21" fmla="*/ 708422 h 797718"/>
                <a:gd name="connsiteX22" fmla="*/ 654844 w 1309687"/>
                <a:gd name="connsiteY22" fmla="*/ 529828 h 797718"/>
                <a:gd name="connsiteX23" fmla="*/ 744141 w 1309687"/>
                <a:gd name="connsiteY23" fmla="*/ 440531 h 797718"/>
                <a:gd name="connsiteX24" fmla="*/ 833438 w 1309687"/>
                <a:gd name="connsiteY24" fmla="*/ 529828 h 797718"/>
                <a:gd name="connsiteX25" fmla="*/ 833438 w 1309687"/>
                <a:gd name="connsiteY25" fmla="*/ 708422 h 797718"/>
                <a:gd name="connsiteX26" fmla="*/ 744141 w 1309687"/>
                <a:gd name="connsiteY26" fmla="*/ 797719 h 797718"/>
                <a:gd name="connsiteX27" fmla="*/ 744141 w 1309687"/>
                <a:gd name="connsiteY27" fmla="*/ 500062 h 797718"/>
                <a:gd name="connsiteX28" fmla="*/ 714375 w 1309687"/>
                <a:gd name="connsiteY28" fmla="*/ 529828 h 797718"/>
                <a:gd name="connsiteX29" fmla="*/ 714375 w 1309687"/>
                <a:gd name="connsiteY29" fmla="*/ 708422 h 797718"/>
                <a:gd name="connsiteX30" fmla="*/ 744141 w 1309687"/>
                <a:gd name="connsiteY30" fmla="*/ 738188 h 797718"/>
                <a:gd name="connsiteX31" fmla="*/ 773906 w 1309687"/>
                <a:gd name="connsiteY31" fmla="*/ 708422 h 797718"/>
                <a:gd name="connsiteX32" fmla="*/ 773906 w 1309687"/>
                <a:gd name="connsiteY32" fmla="*/ 529828 h 797718"/>
                <a:gd name="connsiteX33" fmla="*/ 744141 w 1309687"/>
                <a:gd name="connsiteY33" fmla="*/ 500062 h 797718"/>
                <a:gd name="connsiteX34" fmla="*/ 982266 w 1309687"/>
                <a:gd name="connsiteY34" fmla="*/ 797719 h 797718"/>
                <a:gd name="connsiteX35" fmla="*/ 892969 w 1309687"/>
                <a:gd name="connsiteY35" fmla="*/ 708422 h 797718"/>
                <a:gd name="connsiteX36" fmla="*/ 892969 w 1309687"/>
                <a:gd name="connsiteY36" fmla="*/ 410766 h 797718"/>
                <a:gd name="connsiteX37" fmla="*/ 982266 w 1309687"/>
                <a:gd name="connsiteY37" fmla="*/ 321469 h 797718"/>
                <a:gd name="connsiteX38" fmla="*/ 1071563 w 1309687"/>
                <a:gd name="connsiteY38" fmla="*/ 410766 h 797718"/>
                <a:gd name="connsiteX39" fmla="*/ 1071563 w 1309687"/>
                <a:gd name="connsiteY39" fmla="*/ 708422 h 797718"/>
                <a:gd name="connsiteX40" fmla="*/ 982266 w 1309687"/>
                <a:gd name="connsiteY40" fmla="*/ 797719 h 797718"/>
                <a:gd name="connsiteX41" fmla="*/ 982266 w 1309687"/>
                <a:gd name="connsiteY41" fmla="*/ 381000 h 797718"/>
                <a:gd name="connsiteX42" fmla="*/ 952500 w 1309687"/>
                <a:gd name="connsiteY42" fmla="*/ 410766 h 797718"/>
                <a:gd name="connsiteX43" fmla="*/ 952500 w 1309687"/>
                <a:gd name="connsiteY43" fmla="*/ 708422 h 797718"/>
                <a:gd name="connsiteX44" fmla="*/ 982266 w 1309687"/>
                <a:gd name="connsiteY44" fmla="*/ 738188 h 797718"/>
                <a:gd name="connsiteX45" fmla="*/ 1012031 w 1309687"/>
                <a:gd name="connsiteY45" fmla="*/ 708422 h 797718"/>
                <a:gd name="connsiteX46" fmla="*/ 1012031 w 1309687"/>
                <a:gd name="connsiteY46" fmla="*/ 410766 h 797718"/>
                <a:gd name="connsiteX47" fmla="*/ 982266 w 1309687"/>
                <a:gd name="connsiteY47" fmla="*/ 381000 h 797718"/>
                <a:gd name="connsiteX48" fmla="*/ 1220391 w 1309687"/>
                <a:gd name="connsiteY48" fmla="*/ 797719 h 797718"/>
                <a:gd name="connsiteX49" fmla="*/ 1131094 w 1309687"/>
                <a:gd name="connsiteY49" fmla="*/ 708422 h 797718"/>
                <a:gd name="connsiteX50" fmla="*/ 1131094 w 1309687"/>
                <a:gd name="connsiteY50" fmla="*/ 291703 h 797718"/>
                <a:gd name="connsiteX51" fmla="*/ 1220391 w 1309687"/>
                <a:gd name="connsiteY51" fmla="*/ 202406 h 797718"/>
                <a:gd name="connsiteX52" fmla="*/ 1309688 w 1309687"/>
                <a:gd name="connsiteY52" fmla="*/ 291703 h 797718"/>
                <a:gd name="connsiteX53" fmla="*/ 1309688 w 1309687"/>
                <a:gd name="connsiteY53" fmla="*/ 708422 h 797718"/>
                <a:gd name="connsiteX54" fmla="*/ 1220391 w 1309687"/>
                <a:gd name="connsiteY54" fmla="*/ 797719 h 797718"/>
                <a:gd name="connsiteX55" fmla="*/ 1220391 w 1309687"/>
                <a:gd name="connsiteY55" fmla="*/ 261937 h 797718"/>
                <a:gd name="connsiteX56" fmla="*/ 1190625 w 1309687"/>
                <a:gd name="connsiteY56" fmla="*/ 291703 h 797718"/>
                <a:gd name="connsiteX57" fmla="*/ 1190625 w 1309687"/>
                <a:gd name="connsiteY57" fmla="*/ 708422 h 797718"/>
                <a:gd name="connsiteX58" fmla="*/ 1220391 w 1309687"/>
                <a:gd name="connsiteY58" fmla="*/ 738188 h 797718"/>
                <a:gd name="connsiteX59" fmla="*/ 1250156 w 1309687"/>
                <a:gd name="connsiteY59" fmla="*/ 708422 h 797718"/>
                <a:gd name="connsiteX60" fmla="*/ 1250156 w 1309687"/>
                <a:gd name="connsiteY60" fmla="*/ 291703 h 797718"/>
                <a:gd name="connsiteX61" fmla="*/ 1220391 w 1309687"/>
                <a:gd name="connsiteY61" fmla="*/ 261937 h 79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09687" h="797718">
                  <a:moveTo>
                    <a:pt x="172641" y="422672"/>
                  </a:moveTo>
                  <a:cubicBezTo>
                    <a:pt x="65484" y="422672"/>
                    <a:pt x="0" y="410766"/>
                    <a:pt x="0" y="410766"/>
                  </a:cubicBezTo>
                  <a:lnTo>
                    <a:pt x="11906" y="351234"/>
                  </a:lnTo>
                  <a:cubicBezTo>
                    <a:pt x="17859" y="351234"/>
                    <a:pt x="601266" y="458391"/>
                    <a:pt x="1119188" y="0"/>
                  </a:cubicBezTo>
                  <a:lnTo>
                    <a:pt x="1160859" y="41672"/>
                  </a:lnTo>
                  <a:cubicBezTo>
                    <a:pt x="785813" y="369094"/>
                    <a:pt x="392906" y="422672"/>
                    <a:pt x="172641" y="422672"/>
                  </a:cubicBezTo>
                  <a:close/>
                  <a:moveTo>
                    <a:pt x="506016" y="797719"/>
                  </a:moveTo>
                  <a:cubicBezTo>
                    <a:pt x="458391" y="797719"/>
                    <a:pt x="416719" y="756047"/>
                    <a:pt x="416719" y="708422"/>
                  </a:cubicBezTo>
                  <a:lnTo>
                    <a:pt x="416719" y="589359"/>
                  </a:lnTo>
                  <a:cubicBezTo>
                    <a:pt x="416719" y="541734"/>
                    <a:pt x="458391" y="500062"/>
                    <a:pt x="506016" y="500062"/>
                  </a:cubicBezTo>
                  <a:cubicBezTo>
                    <a:pt x="553641" y="500062"/>
                    <a:pt x="595313" y="541734"/>
                    <a:pt x="595313" y="589359"/>
                  </a:cubicBezTo>
                  <a:lnTo>
                    <a:pt x="595313" y="708422"/>
                  </a:lnTo>
                  <a:cubicBezTo>
                    <a:pt x="595313" y="756047"/>
                    <a:pt x="553641" y="797719"/>
                    <a:pt x="506016" y="797719"/>
                  </a:cubicBezTo>
                  <a:close/>
                  <a:moveTo>
                    <a:pt x="506016" y="559594"/>
                  </a:moveTo>
                  <a:cubicBezTo>
                    <a:pt x="488156" y="559594"/>
                    <a:pt x="476250" y="571500"/>
                    <a:pt x="476250" y="589359"/>
                  </a:cubicBezTo>
                  <a:lnTo>
                    <a:pt x="476250" y="708422"/>
                  </a:lnTo>
                  <a:cubicBezTo>
                    <a:pt x="476250" y="726281"/>
                    <a:pt x="488156" y="738188"/>
                    <a:pt x="506016" y="738188"/>
                  </a:cubicBezTo>
                  <a:cubicBezTo>
                    <a:pt x="523875" y="738188"/>
                    <a:pt x="535781" y="726281"/>
                    <a:pt x="535781" y="708422"/>
                  </a:cubicBezTo>
                  <a:lnTo>
                    <a:pt x="535781" y="589359"/>
                  </a:lnTo>
                  <a:cubicBezTo>
                    <a:pt x="535781" y="571500"/>
                    <a:pt x="523875" y="559594"/>
                    <a:pt x="506016" y="559594"/>
                  </a:cubicBezTo>
                  <a:close/>
                  <a:moveTo>
                    <a:pt x="744141" y="797719"/>
                  </a:moveTo>
                  <a:cubicBezTo>
                    <a:pt x="696516" y="797719"/>
                    <a:pt x="654844" y="756047"/>
                    <a:pt x="654844" y="708422"/>
                  </a:cubicBezTo>
                  <a:lnTo>
                    <a:pt x="654844" y="529828"/>
                  </a:lnTo>
                  <a:cubicBezTo>
                    <a:pt x="654844" y="482203"/>
                    <a:pt x="696516" y="440531"/>
                    <a:pt x="744141" y="440531"/>
                  </a:cubicBezTo>
                  <a:cubicBezTo>
                    <a:pt x="791766" y="440531"/>
                    <a:pt x="833438" y="482203"/>
                    <a:pt x="833438" y="529828"/>
                  </a:cubicBezTo>
                  <a:lnTo>
                    <a:pt x="833438" y="708422"/>
                  </a:lnTo>
                  <a:cubicBezTo>
                    <a:pt x="833438" y="756047"/>
                    <a:pt x="791766" y="797719"/>
                    <a:pt x="744141" y="797719"/>
                  </a:cubicBezTo>
                  <a:close/>
                  <a:moveTo>
                    <a:pt x="744141" y="500062"/>
                  </a:moveTo>
                  <a:cubicBezTo>
                    <a:pt x="726281" y="500062"/>
                    <a:pt x="714375" y="511969"/>
                    <a:pt x="714375" y="529828"/>
                  </a:cubicBezTo>
                  <a:lnTo>
                    <a:pt x="714375" y="708422"/>
                  </a:lnTo>
                  <a:cubicBezTo>
                    <a:pt x="714375" y="726281"/>
                    <a:pt x="726281" y="738188"/>
                    <a:pt x="744141" y="738188"/>
                  </a:cubicBezTo>
                  <a:cubicBezTo>
                    <a:pt x="762000" y="738188"/>
                    <a:pt x="773906" y="726281"/>
                    <a:pt x="773906" y="708422"/>
                  </a:cubicBezTo>
                  <a:lnTo>
                    <a:pt x="773906" y="529828"/>
                  </a:lnTo>
                  <a:cubicBezTo>
                    <a:pt x="773906" y="511969"/>
                    <a:pt x="762000" y="500062"/>
                    <a:pt x="744141" y="500062"/>
                  </a:cubicBezTo>
                  <a:close/>
                  <a:moveTo>
                    <a:pt x="982266" y="797719"/>
                  </a:moveTo>
                  <a:cubicBezTo>
                    <a:pt x="934641" y="797719"/>
                    <a:pt x="892969" y="756047"/>
                    <a:pt x="892969" y="708422"/>
                  </a:cubicBezTo>
                  <a:lnTo>
                    <a:pt x="892969" y="410766"/>
                  </a:lnTo>
                  <a:cubicBezTo>
                    <a:pt x="892969" y="363141"/>
                    <a:pt x="934641" y="321469"/>
                    <a:pt x="982266" y="321469"/>
                  </a:cubicBezTo>
                  <a:cubicBezTo>
                    <a:pt x="1029891" y="321469"/>
                    <a:pt x="1071563" y="363141"/>
                    <a:pt x="1071563" y="410766"/>
                  </a:cubicBezTo>
                  <a:lnTo>
                    <a:pt x="1071563" y="708422"/>
                  </a:lnTo>
                  <a:cubicBezTo>
                    <a:pt x="1071563" y="756047"/>
                    <a:pt x="1029891" y="797719"/>
                    <a:pt x="982266" y="797719"/>
                  </a:cubicBezTo>
                  <a:close/>
                  <a:moveTo>
                    <a:pt x="982266" y="381000"/>
                  </a:moveTo>
                  <a:cubicBezTo>
                    <a:pt x="964406" y="381000"/>
                    <a:pt x="952500" y="392906"/>
                    <a:pt x="952500" y="410766"/>
                  </a:cubicBezTo>
                  <a:lnTo>
                    <a:pt x="952500" y="708422"/>
                  </a:lnTo>
                  <a:cubicBezTo>
                    <a:pt x="952500" y="726281"/>
                    <a:pt x="964406" y="738188"/>
                    <a:pt x="982266" y="738188"/>
                  </a:cubicBezTo>
                  <a:cubicBezTo>
                    <a:pt x="1000125" y="738188"/>
                    <a:pt x="1012031" y="726281"/>
                    <a:pt x="1012031" y="708422"/>
                  </a:cubicBezTo>
                  <a:lnTo>
                    <a:pt x="1012031" y="410766"/>
                  </a:lnTo>
                  <a:cubicBezTo>
                    <a:pt x="1012031" y="392906"/>
                    <a:pt x="1000125" y="381000"/>
                    <a:pt x="982266" y="381000"/>
                  </a:cubicBezTo>
                  <a:close/>
                  <a:moveTo>
                    <a:pt x="1220391" y="797719"/>
                  </a:moveTo>
                  <a:cubicBezTo>
                    <a:pt x="1172766" y="797719"/>
                    <a:pt x="1131094" y="756047"/>
                    <a:pt x="1131094" y="708422"/>
                  </a:cubicBezTo>
                  <a:lnTo>
                    <a:pt x="1131094" y="291703"/>
                  </a:lnTo>
                  <a:cubicBezTo>
                    <a:pt x="1131094" y="244078"/>
                    <a:pt x="1172766" y="202406"/>
                    <a:pt x="1220391" y="202406"/>
                  </a:cubicBezTo>
                  <a:cubicBezTo>
                    <a:pt x="1268016" y="202406"/>
                    <a:pt x="1309688" y="244078"/>
                    <a:pt x="1309688" y="291703"/>
                  </a:cubicBezTo>
                  <a:lnTo>
                    <a:pt x="1309688" y="708422"/>
                  </a:lnTo>
                  <a:cubicBezTo>
                    <a:pt x="1309688" y="756047"/>
                    <a:pt x="1268016" y="797719"/>
                    <a:pt x="1220391" y="797719"/>
                  </a:cubicBezTo>
                  <a:close/>
                  <a:moveTo>
                    <a:pt x="1220391" y="261937"/>
                  </a:moveTo>
                  <a:cubicBezTo>
                    <a:pt x="1202531" y="261937"/>
                    <a:pt x="1190625" y="273844"/>
                    <a:pt x="1190625" y="291703"/>
                  </a:cubicBezTo>
                  <a:lnTo>
                    <a:pt x="1190625" y="708422"/>
                  </a:lnTo>
                  <a:cubicBezTo>
                    <a:pt x="1190625" y="726281"/>
                    <a:pt x="1202531" y="738188"/>
                    <a:pt x="1220391" y="738188"/>
                  </a:cubicBezTo>
                  <a:cubicBezTo>
                    <a:pt x="1238250" y="738188"/>
                    <a:pt x="1250156" y="726281"/>
                    <a:pt x="1250156" y="708422"/>
                  </a:cubicBezTo>
                  <a:lnTo>
                    <a:pt x="1250156" y="291703"/>
                  </a:lnTo>
                  <a:cubicBezTo>
                    <a:pt x="1250156" y="273844"/>
                    <a:pt x="1238250" y="261937"/>
                    <a:pt x="1220391" y="26193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1071562" y="398859"/>
              <a:ext cx="380999" cy="392906"/>
            </a:xfrm>
            <a:custGeom>
              <a:avLst/>
              <a:gdLst>
                <a:gd name="connsiteX0" fmla="*/ 273844 w 380999"/>
                <a:gd name="connsiteY0" fmla="*/ 392906 h 392906"/>
                <a:gd name="connsiteX1" fmla="*/ 0 w 380999"/>
                <a:gd name="connsiteY1" fmla="*/ 148828 h 392906"/>
                <a:gd name="connsiteX2" fmla="*/ 381000 w 380999"/>
                <a:gd name="connsiteY2" fmla="*/ 0 h 392906"/>
                <a:gd name="connsiteX3" fmla="*/ 273844 w 380999"/>
                <a:gd name="connsiteY3" fmla="*/ 392906 h 392906"/>
                <a:gd name="connsiteX4" fmla="*/ 113109 w 380999"/>
                <a:gd name="connsiteY4" fmla="*/ 166688 h 392906"/>
                <a:gd name="connsiteX5" fmla="*/ 244078 w 380999"/>
                <a:gd name="connsiteY5" fmla="*/ 285750 h 392906"/>
                <a:gd name="connsiteX6" fmla="*/ 297656 w 380999"/>
                <a:gd name="connsiteY6" fmla="*/ 95250 h 392906"/>
                <a:gd name="connsiteX7" fmla="*/ 113109 w 380999"/>
                <a:gd name="connsiteY7" fmla="*/ 166688 h 3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0999" h="392906">
                  <a:moveTo>
                    <a:pt x="273844" y="392906"/>
                  </a:moveTo>
                  <a:lnTo>
                    <a:pt x="0" y="148828"/>
                  </a:lnTo>
                  <a:lnTo>
                    <a:pt x="381000" y="0"/>
                  </a:lnTo>
                  <a:lnTo>
                    <a:pt x="273844" y="392906"/>
                  </a:lnTo>
                  <a:close/>
                  <a:moveTo>
                    <a:pt x="113109" y="166688"/>
                  </a:moveTo>
                  <a:lnTo>
                    <a:pt x="244078" y="285750"/>
                  </a:lnTo>
                  <a:lnTo>
                    <a:pt x="297656" y="95250"/>
                  </a:lnTo>
                  <a:lnTo>
                    <a:pt x="113109" y="1666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2" name="Rectangle 69+++"/>
          <p:cNvSpPr/>
          <p:nvPr/>
        </p:nvSpPr>
        <p:spPr>
          <a:xfrm>
            <a:off x="7962900" y="2828925"/>
            <a:ext cx="37028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Rectangle 69++++"/>
          <p:cNvSpPr/>
          <p:nvPr/>
        </p:nvSpPr>
        <p:spPr>
          <a:xfrm>
            <a:off x="7950200" y="3957637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Rectangle 69+++"/>
          <p:cNvSpPr/>
          <p:nvPr/>
        </p:nvSpPr>
        <p:spPr>
          <a:xfrm>
            <a:off x="7954963" y="1700213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072954" y="1778548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第一季度</a:t>
            </a:r>
          </a:p>
        </p:txBody>
      </p:sp>
      <p:sp>
        <p:nvSpPr>
          <p:cNvPr id="176" name="Rectangle 69++++"/>
          <p:cNvSpPr/>
          <p:nvPr/>
        </p:nvSpPr>
        <p:spPr>
          <a:xfrm>
            <a:off x="7954963" y="2828925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TextBox 86+"/>
          <p:cNvSpPr txBox="1"/>
          <p:nvPr/>
        </p:nvSpPr>
        <p:spPr>
          <a:xfrm>
            <a:off x="8072954" y="2907260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第二季度</a:t>
            </a:r>
          </a:p>
        </p:txBody>
      </p:sp>
      <p:grpSp>
        <p:nvGrpSpPr>
          <p:cNvPr id="178" name="组合 177"/>
          <p:cNvGrpSpPr/>
          <p:nvPr/>
        </p:nvGrpSpPr>
        <p:grpSpPr>
          <a:xfrm>
            <a:off x="8545290" y="1938531"/>
            <a:ext cx="1040349" cy="2860788"/>
            <a:chOff x="8519890" y="1749619"/>
            <a:chExt cx="1040349" cy="2860788"/>
          </a:xfrm>
        </p:grpSpPr>
        <p:sp>
          <p:nvSpPr>
            <p:cNvPr id="179" name="文本框 178"/>
            <p:cNvSpPr txBox="1"/>
            <p:nvPr/>
          </p:nvSpPr>
          <p:spPr>
            <a:xfrm>
              <a:off x="8519890" y="2075984"/>
              <a:ext cx="1040349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¥ 1,750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0" name="TextBox 37+"/>
            <p:cNvSpPr txBox="1"/>
            <p:nvPr/>
          </p:nvSpPr>
          <p:spPr>
            <a:xfrm>
              <a:off x="8519890" y="1749619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519890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¥ 2,150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2" name="TextBox 37+"/>
            <p:cNvSpPr txBox="1"/>
            <p:nvPr/>
          </p:nvSpPr>
          <p:spPr>
            <a:xfrm>
              <a:off x="8519890" y="2878331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8519890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¥ 2,450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4" name="TextBox 37+"/>
            <p:cNvSpPr txBox="1"/>
            <p:nvPr/>
          </p:nvSpPr>
          <p:spPr>
            <a:xfrm>
              <a:off x="8519890" y="4007043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</p:grpSp>
      <p:sp>
        <p:nvSpPr>
          <p:cNvPr id="185" name="Rectangle 69+++++"/>
          <p:cNvSpPr/>
          <p:nvPr/>
        </p:nvSpPr>
        <p:spPr>
          <a:xfrm>
            <a:off x="7954963" y="3957637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TextBox 86++"/>
          <p:cNvSpPr txBox="1"/>
          <p:nvPr/>
        </p:nvSpPr>
        <p:spPr>
          <a:xfrm>
            <a:off x="8072954" y="4035972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第三季度</a:t>
            </a:r>
          </a:p>
        </p:txBody>
      </p:sp>
      <p:grpSp>
        <p:nvGrpSpPr>
          <p:cNvPr id="187" name="组合 186"/>
          <p:cNvGrpSpPr/>
          <p:nvPr/>
        </p:nvGrpSpPr>
        <p:grpSpPr>
          <a:xfrm>
            <a:off x="9613268" y="1854450"/>
            <a:ext cx="1131478" cy="3028949"/>
            <a:chOff x="9651368" y="1665538"/>
            <a:chExt cx="1131478" cy="3028949"/>
          </a:xfrm>
        </p:grpSpPr>
        <p:sp>
          <p:nvSpPr>
            <p:cNvPr id="188" name="TextBox 88+"/>
            <p:cNvSpPr txBox="1"/>
            <p:nvPr/>
          </p:nvSpPr>
          <p:spPr>
            <a:xfrm>
              <a:off x="9742497" y="2075984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¥ 1,620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9" name="TextBox 37++"/>
            <p:cNvSpPr txBox="1"/>
            <p:nvPr/>
          </p:nvSpPr>
          <p:spPr>
            <a:xfrm>
              <a:off x="9742497" y="1749619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0" name="直接连接符 189"/>
            <p:cNvCxnSpPr/>
            <p:nvPr/>
          </p:nvCxnSpPr>
          <p:spPr>
            <a:xfrm>
              <a:off x="9651368" y="1665538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88+"/>
            <p:cNvSpPr txBox="1"/>
            <p:nvPr/>
          </p:nvSpPr>
          <p:spPr>
            <a:xfrm>
              <a:off x="9742497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¥ 1,870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92" name="TextBox 37++"/>
            <p:cNvSpPr txBox="1"/>
            <p:nvPr/>
          </p:nvSpPr>
          <p:spPr>
            <a:xfrm>
              <a:off x="9742497" y="2878331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3" name="Straight Connector 102+"/>
            <p:cNvCxnSpPr/>
            <p:nvPr/>
          </p:nvCxnSpPr>
          <p:spPr>
            <a:xfrm>
              <a:off x="9651368" y="2794251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88+"/>
            <p:cNvSpPr txBox="1"/>
            <p:nvPr/>
          </p:nvSpPr>
          <p:spPr>
            <a:xfrm>
              <a:off x="9742497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¥ 2,000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95" name="TextBox 37++"/>
            <p:cNvSpPr txBox="1"/>
            <p:nvPr/>
          </p:nvSpPr>
          <p:spPr>
            <a:xfrm>
              <a:off x="9742497" y="4007043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6" name="Straight Connector 102++"/>
            <p:cNvCxnSpPr/>
            <p:nvPr/>
          </p:nvCxnSpPr>
          <p:spPr>
            <a:xfrm>
              <a:off x="9651368" y="3922962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37+++"/>
          <p:cNvSpPr txBox="1"/>
          <p:nvPr/>
        </p:nvSpPr>
        <p:spPr>
          <a:xfrm>
            <a:off x="10876205" y="1938531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6" name="TextBox 88++"/>
          <p:cNvSpPr txBox="1"/>
          <p:nvPr/>
        </p:nvSpPr>
        <p:spPr>
          <a:xfrm>
            <a:off x="10876205" y="2264896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7" name="Straight Connector 102+"/>
          <p:cNvCxnSpPr/>
          <p:nvPr/>
        </p:nvCxnSpPr>
        <p:spPr>
          <a:xfrm>
            <a:off x="10785075" y="1854450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37+++"/>
          <p:cNvSpPr txBox="1"/>
          <p:nvPr/>
        </p:nvSpPr>
        <p:spPr>
          <a:xfrm>
            <a:off x="10876205" y="3067243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0" name="TextBox 88++"/>
          <p:cNvSpPr txBox="1"/>
          <p:nvPr/>
        </p:nvSpPr>
        <p:spPr>
          <a:xfrm>
            <a:off x="10876205" y="3393608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1" name="Straight Connector 102++"/>
          <p:cNvCxnSpPr/>
          <p:nvPr/>
        </p:nvCxnSpPr>
        <p:spPr>
          <a:xfrm>
            <a:off x="10785075" y="2983163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37+++"/>
          <p:cNvSpPr txBox="1"/>
          <p:nvPr/>
        </p:nvSpPr>
        <p:spPr>
          <a:xfrm>
            <a:off x="10876205" y="4195955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3" name="TextBox 88++"/>
          <p:cNvSpPr txBox="1"/>
          <p:nvPr/>
        </p:nvSpPr>
        <p:spPr>
          <a:xfrm>
            <a:off x="10876205" y="4522320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4" name="Straight Connector 102+++"/>
          <p:cNvCxnSpPr/>
          <p:nvPr/>
        </p:nvCxnSpPr>
        <p:spPr>
          <a:xfrm>
            <a:off x="10785075" y="4111874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69++++++"/>
          <p:cNvSpPr/>
          <p:nvPr/>
        </p:nvSpPr>
        <p:spPr>
          <a:xfrm>
            <a:off x="7970838" y="5200650"/>
            <a:ext cx="3697288" cy="1190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159524" y="5304457"/>
            <a:ext cx="1846659" cy="3091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750"/>
              </a:spcAft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第四季度策略建议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195310" y="5657850"/>
            <a:ext cx="3359150" cy="0"/>
            <a:chOff x="12906" y="8844"/>
            <a:chExt cx="5290" cy="0"/>
          </a:xfrm>
        </p:grpSpPr>
        <p:cxnSp>
          <p:nvCxnSpPr>
            <p:cNvPr id="211" name="直接连接符 210"/>
            <p:cNvCxnSpPr/>
            <p:nvPr/>
          </p:nvCxnSpPr>
          <p:spPr>
            <a:xfrm>
              <a:off x="12906" y="8844"/>
              <a:ext cx="52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1"/>
            <p:cNvCxnSpPr/>
            <p:nvPr/>
          </p:nvCxnSpPr>
          <p:spPr>
            <a:xfrm>
              <a:off x="12906" y="8844"/>
              <a:ext cx="2833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文本框 212"/>
          <p:cNvSpPr txBox="1"/>
          <p:nvPr/>
        </p:nvSpPr>
        <p:spPr>
          <a:xfrm>
            <a:off x="8182169" y="5765481"/>
            <a:ext cx="2203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针对完成率较低的门店提供专项支持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8182169" y="5971456"/>
            <a:ext cx="248144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开展年终促销活动，重点推广高毛利产品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8182169" y="6177431"/>
            <a:ext cx="196848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优化会员体系，提升客户复购率</a:t>
            </a:r>
          </a:p>
        </p:txBody>
      </p:sp>
      <p:grpSp>
        <p:nvGrpSpPr>
          <p:cNvPr id="216" name="组合 215"/>
          <p:cNvGrpSpPr/>
          <p:nvPr/>
        </p:nvGrpSpPr>
        <p:grpSpPr>
          <a:xfrm flipV="1">
            <a:off x="11244263" y="5327418"/>
            <a:ext cx="230280" cy="274006"/>
            <a:chOff x="322584" y="186965"/>
            <a:chExt cx="1272666" cy="1514326"/>
          </a:xfrm>
          <a:solidFill>
            <a:schemeClr val="accent1"/>
          </a:solidFill>
        </p:grpSpPr>
        <p:sp>
          <p:nvSpPr>
            <p:cNvPr id="217" name="任意多边形: 形状 216"/>
            <p:cNvSpPr/>
            <p:nvPr/>
          </p:nvSpPr>
          <p:spPr>
            <a:xfrm>
              <a:off x="322584" y="186965"/>
              <a:ext cx="1272666" cy="1514326"/>
            </a:xfrm>
            <a:custGeom>
              <a:avLst/>
              <a:gdLst>
                <a:gd name="connsiteX0" fmla="*/ 1039937 w 1272666"/>
                <a:gd name="connsiteY0" fmla="*/ 1514326 h 1514326"/>
                <a:gd name="connsiteX1" fmla="*/ 232544 w 1272666"/>
                <a:gd name="connsiteY1" fmla="*/ 1514326 h 1514326"/>
                <a:gd name="connsiteX2" fmla="*/ 0 w 1272666"/>
                <a:gd name="connsiteY2" fmla="*/ 1281782 h 1514326"/>
                <a:gd name="connsiteX3" fmla="*/ 0 w 1272666"/>
                <a:gd name="connsiteY3" fmla="*/ 232544 h 1514326"/>
                <a:gd name="connsiteX4" fmla="*/ 232544 w 1272666"/>
                <a:gd name="connsiteY4" fmla="*/ 0 h 1514326"/>
                <a:gd name="connsiteX5" fmla="*/ 1040123 w 1272666"/>
                <a:gd name="connsiteY5" fmla="*/ 0 h 1514326"/>
                <a:gd name="connsiteX6" fmla="*/ 1272667 w 1272666"/>
                <a:gd name="connsiteY6" fmla="*/ 232544 h 1514326"/>
                <a:gd name="connsiteX7" fmla="*/ 1272667 w 1272666"/>
                <a:gd name="connsiteY7" fmla="*/ 1281968 h 1514326"/>
                <a:gd name="connsiteX8" fmla="*/ 1039937 w 1272666"/>
                <a:gd name="connsiteY8" fmla="*/ 1514326 h 1514326"/>
                <a:gd name="connsiteX9" fmla="*/ 232544 w 1272666"/>
                <a:gd name="connsiteY9" fmla="*/ 93018 h 1514326"/>
                <a:gd name="connsiteX10" fmla="*/ 93018 w 1272666"/>
                <a:gd name="connsiteY10" fmla="*/ 232544 h 1514326"/>
                <a:gd name="connsiteX11" fmla="*/ 93018 w 1272666"/>
                <a:gd name="connsiteY11" fmla="*/ 1281968 h 1514326"/>
                <a:gd name="connsiteX12" fmla="*/ 232544 w 1272666"/>
                <a:gd name="connsiteY12" fmla="*/ 1421495 h 1514326"/>
                <a:gd name="connsiteX13" fmla="*/ 1040123 w 1272666"/>
                <a:gd name="connsiteY13" fmla="*/ 1421495 h 1514326"/>
                <a:gd name="connsiteX14" fmla="*/ 1179649 w 1272666"/>
                <a:gd name="connsiteY14" fmla="*/ 1281968 h 1514326"/>
                <a:gd name="connsiteX15" fmla="*/ 1179649 w 1272666"/>
                <a:gd name="connsiteY15" fmla="*/ 232544 h 1514326"/>
                <a:gd name="connsiteX16" fmla="*/ 1040123 w 1272666"/>
                <a:gd name="connsiteY16" fmla="*/ 93018 h 1514326"/>
                <a:gd name="connsiteX17" fmla="*/ 232544 w 1272666"/>
                <a:gd name="connsiteY17" fmla="*/ 93018 h 15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2666" h="1514326">
                  <a:moveTo>
                    <a:pt x="1039937" y="1514326"/>
                  </a:moveTo>
                  <a:lnTo>
                    <a:pt x="232544" y="1514326"/>
                  </a:lnTo>
                  <a:cubicBezTo>
                    <a:pt x="104366" y="1514326"/>
                    <a:pt x="0" y="1409961"/>
                    <a:pt x="0" y="1281782"/>
                  </a:cubicBezTo>
                  <a:lnTo>
                    <a:pt x="0" y="232544"/>
                  </a:lnTo>
                  <a:cubicBezTo>
                    <a:pt x="0" y="104366"/>
                    <a:pt x="104366" y="0"/>
                    <a:pt x="232544" y="0"/>
                  </a:cubicBezTo>
                  <a:lnTo>
                    <a:pt x="1040123" y="0"/>
                  </a:lnTo>
                  <a:cubicBezTo>
                    <a:pt x="1168301" y="0"/>
                    <a:pt x="1272667" y="104366"/>
                    <a:pt x="1272667" y="232544"/>
                  </a:cubicBezTo>
                  <a:lnTo>
                    <a:pt x="1272667" y="1281968"/>
                  </a:lnTo>
                  <a:cubicBezTo>
                    <a:pt x="1272481" y="1409961"/>
                    <a:pt x="1168115" y="1514326"/>
                    <a:pt x="1039937" y="1514326"/>
                  </a:cubicBezTo>
                  <a:close/>
                  <a:moveTo>
                    <a:pt x="232544" y="93018"/>
                  </a:moveTo>
                  <a:cubicBezTo>
                    <a:pt x="155711" y="93018"/>
                    <a:pt x="93018" y="155525"/>
                    <a:pt x="93018" y="232544"/>
                  </a:cubicBezTo>
                  <a:lnTo>
                    <a:pt x="93018" y="1281968"/>
                  </a:lnTo>
                  <a:cubicBezTo>
                    <a:pt x="93018" y="1358801"/>
                    <a:pt x="155525" y="1421495"/>
                    <a:pt x="232544" y="1421495"/>
                  </a:cubicBezTo>
                  <a:lnTo>
                    <a:pt x="1040123" y="1421495"/>
                  </a:lnTo>
                  <a:cubicBezTo>
                    <a:pt x="1116955" y="1421495"/>
                    <a:pt x="1179649" y="1358987"/>
                    <a:pt x="1179649" y="1281968"/>
                  </a:cubicBezTo>
                  <a:lnTo>
                    <a:pt x="1179649" y="232544"/>
                  </a:lnTo>
                  <a:cubicBezTo>
                    <a:pt x="1179649" y="155711"/>
                    <a:pt x="1117141" y="93018"/>
                    <a:pt x="1040123" y="93018"/>
                  </a:cubicBezTo>
                  <a:lnTo>
                    <a:pt x="232544" y="9301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544710" y="551780"/>
              <a:ext cx="873835" cy="908223"/>
            </a:xfrm>
            <a:custGeom>
              <a:avLst/>
              <a:gdLst>
                <a:gd name="connsiteX0" fmla="*/ 814648 w 873835"/>
                <a:gd name="connsiteY0" fmla="*/ 74414 h 908223"/>
                <a:gd name="connsiteX1" fmla="*/ 37207 w 873835"/>
                <a:gd name="connsiteY1" fmla="*/ 74414 h 908223"/>
                <a:gd name="connsiteX2" fmla="*/ 0 w 873835"/>
                <a:gd name="connsiteY2" fmla="*/ 37207 h 908223"/>
                <a:gd name="connsiteX3" fmla="*/ 37207 w 873835"/>
                <a:gd name="connsiteY3" fmla="*/ 0 h 908223"/>
                <a:gd name="connsiteX4" fmla="*/ 814648 w 873835"/>
                <a:gd name="connsiteY4" fmla="*/ 0 h 908223"/>
                <a:gd name="connsiteX5" fmla="*/ 851855 w 873835"/>
                <a:gd name="connsiteY5" fmla="*/ 37207 h 908223"/>
                <a:gd name="connsiteX6" fmla="*/ 814648 w 873835"/>
                <a:gd name="connsiteY6" fmla="*/ 74414 h 908223"/>
                <a:gd name="connsiteX7" fmla="*/ 631403 w 873835"/>
                <a:gd name="connsiteY7" fmla="*/ 223614 h 908223"/>
                <a:gd name="connsiteX8" fmla="*/ 37207 w 873835"/>
                <a:gd name="connsiteY8" fmla="*/ 223614 h 908223"/>
                <a:gd name="connsiteX9" fmla="*/ 0 w 873835"/>
                <a:gd name="connsiteY9" fmla="*/ 186407 h 908223"/>
                <a:gd name="connsiteX10" fmla="*/ 37207 w 873835"/>
                <a:gd name="connsiteY10" fmla="*/ 149200 h 908223"/>
                <a:gd name="connsiteX11" fmla="*/ 631217 w 873835"/>
                <a:gd name="connsiteY11" fmla="*/ 149200 h 908223"/>
                <a:gd name="connsiteX12" fmla="*/ 668424 w 873835"/>
                <a:gd name="connsiteY12" fmla="*/ 186407 h 908223"/>
                <a:gd name="connsiteX13" fmla="*/ 631403 w 873835"/>
                <a:gd name="connsiteY13" fmla="*/ 223614 h 908223"/>
                <a:gd name="connsiteX14" fmla="*/ 447973 w 873835"/>
                <a:gd name="connsiteY14" fmla="*/ 373001 h 908223"/>
                <a:gd name="connsiteX15" fmla="*/ 37207 w 873835"/>
                <a:gd name="connsiteY15" fmla="*/ 373001 h 908223"/>
                <a:gd name="connsiteX16" fmla="*/ 0 w 873835"/>
                <a:gd name="connsiteY16" fmla="*/ 335793 h 908223"/>
                <a:gd name="connsiteX17" fmla="*/ 37207 w 873835"/>
                <a:gd name="connsiteY17" fmla="*/ 298586 h 908223"/>
                <a:gd name="connsiteX18" fmla="*/ 447973 w 873835"/>
                <a:gd name="connsiteY18" fmla="*/ 298586 h 908223"/>
                <a:gd name="connsiteX19" fmla="*/ 485180 w 873835"/>
                <a:gd name="connsiteY19" fmla="*/ 335793 h 908223"/>
                <a:gd name="connsiteX20" fmla="*/ 447973 w 873835"/>
                <a:gd name="connsiteY20" fmla="*/ 373001 h 908223"/>
                <a:gd name="connsiteX21" fmla="*/ 361838 w 873835"/>
                <a:gd name="connsiteY21" fmla="*/ 908224 h 908223"/>
                <a:gd name="connsiteX22" fmla="*/ 309749 w 873835"/>
                <a:gd name="connsiteY22" fmla="*/ 887202 h 908223"/>
                <a:gd name="connsiteX23" fmla="*/ 287796 w 873835"/>
                <a:gd name="connsiteY23" fmla="*/ 818183 h 908223"/>
                <a:gd name="connsiteX24" fmla="*/ 303609 w 873835"/>
                <a:gd name="connsiteY24" fmla="*/ 736885 h 908223"/>
                <a:gd name="connsiteX25" fmla="*/ 323143 w 873835"/>
                <a:gd name="connsiteY25" fmla="*/ 698934 h 908223"/>
                <a:gd name="connsiteX26" fmla="*/ 678470 w 873835"/>
                <a:gd name="connsiteY26" fmla="*/ 327236 h 908223"/>
                <a:gd name="connsiteX27" fmla="*/ 731490 w 873835"/>
                <a:gd name="connsiteY27" fmla="*/ 303795 h 908223"/>
                <a:gd name="connsiteX28" fmla="*/ 785440 w 873835"/>
                <a:gd name="connsiteY28" fmla="*/ 324817 h 908223"/>
                <a:gd name="connsiteX29" fmla="*/ 850367 w 873835"/>
                <a:gd name="connsiteY29" fmla="*/ 386767 h 908223"/>
                <a:gd name="connsiteX30" fmla="*/ 873807 w 873835"/>
                <a:gd name="connsiteY30" fmla="*/ 439787 h 908223"/>
                <a:gd name="connsiteX31" fmla="*/ 852785 w 873835"/>
                <a:gd name="connsiteY31" fmla="*/ 493737 h 908223"/>
                <a:gd name="connsiteX32" fmla="*/ 497458 w 873835"/>
                <a:gd name="connsiteY32" fmla="*/ 865436 h 908223"/>
                <a:gd name="connsiteX33" fmla="*/ 460437 w 873835"/>
                <a:gd name="connsiteY33" fmla="*/ 886644 h 908223"/>
                <a:gd name="connsiteX34" fmla="*/ 379884 w 873835"/>
                <a:gd name="connsiteY34" fmla="*/ 905991 h 908223"/>
                <a:gd name="connsiteX35" fmla="*/ 361838 w 873835"/>
                <a:gd name="connsiteY35" fmla="*/ 908224 h 908223"/>
                <a:gd name="connsiteX36" fmla="*/ 732979 w 873835"/>
                <a:gd name="connsiteY36" fmla="*/ 378209 h 908223"/>
                <a:gd name="connsiteX37" fmla="*/ 732048 w 873835"/>
                <a:gd name="connsiteY37" fmla="*/ 378582 h 908223"/>
                <a:gd name="connsiteX38" fmla="*/ 376721 w 873835"/>
                <a:gd name="connsiteY38" fmla="*/ 750280 h 908223"/>
                <a:gd name="connsiteX39" fmla="*/ 376349 w 873835"/>
                <a:gd name="connsiteY39" fmla="*/ 750838 h 908223"/>
                <a:gd name="connsiteX40" fmla="*/ 360536 w 873835"/>
                <a:gd name="connsiteY40" fmla="*/ 832135 h 908223"/>
                <a:gd name="connsiteX41" fmla="*/ 360908 w 873835"/>
                <a:gd name="connsiteY41" fmla="*/ 833251 h 908223"/>
                <a:gd name="connsiteX42" fmla="*/ 362024 w 873835"/>
                <a:gd name="connsiteY42" fmla="*/ 833624 h 908223"/>
                <a:gd name="connsiteX43" fmla="*/ 442578 w 873835"/>
                <a:gd name="connsiteY43" fmla="*/ 814276 h 908223"/>
                <a:gd name="connsiteX44" fmla="*/ 443136 w 873835"/>
                <a:gd name="connsiteY44" fmla="*/ 813904 h 908223"/>
                <a:gd name="connsiteX45" fmla="*/ 798463 w 873835"/>
                <a:gd name="connsiteY45" fmla="*/ 442206 h 908223"/>
                <a:gd name="connsiteX46" fmla="*/ 798463 w 873835"/>
                <a:gd name="connsiteY46" fmla="*/ 440531 h 908223"/>
                <a:gd name="connsiteX47" fmla="*/ 733537 w 873835"/>
                <a:gd name="connsiteY47" fmla="*/ 378582 h 908223"/>
                <a:gd name="connsiteX48" fmla="*/ 732979 w 873835"/>
                <a:gd name="connsiteY48" fmla="*/ 378209 h 90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873835" h="908223">
                  <a:moveTo>
                    <a:pt x="814648" y="74414"/>
                  </a:moveTo>
                  <a:lnTo>
                    <a:pt x="37207" y="74414"/>
                  </a:lnTo>
                  <a:cubicBezTo>
                    <a:pt x="16743" y="74414"/>
                    <a:pt x="0" y="57671"/>
                    <a:pt x="0" y="37207"/>
                  </a:cubicBezTo>
                  <a:cubicBezTo>
                    <a:pt x="0" y="16743"/>
                    <a:pt x="16743" y="0"/>
                    <a:pt x="37207" y="0"/>
                  </a:cubicBezTo>
                  <a:lnTo>
                    <a:pt x="814648" y="0"/>
                  </a:lnTo>
                  <a:cubicBezTo>
                    <a:pt x="835112" y="0"/>
                    <a:pt x="851855" y="16743"/>
                    <a:pt x="851855" y="37207"/>
                  </a:cubicBezTo>
                  <a:cubicBezTo>
                    <a:pt x="851855" y="57671"/>
                    <a:pt x="835298" y="74414"/>
                    <a:pt x="814648" y="74414"/>
                  </a:cubicBezTo>
                  <a:close/>
                  <a:moveTo>
                    <a:pt x="631403" y="223614"/>
                  </a:moveTo>
                  <a:lnTo>
                    <a:pt x="37207" y="223614"/>
                  </a:lnTo>
                  <a:cubicBezTo>
                    <a:pt x="16743" y="223614"/>
                    <a:pt x="0" y="206871"/>
                    <a:pt x="0" y="186407"/>
                  </a:cubicBezTo>
                  <a:cubicBezTo>
                    <a:pt x="0" y="165943"/>
                    <a:pt x="16743" y="149200"/>
                    <a:pt x="37207" y="149200"/>
                  </a:cubicBezTo>
                  <a:lnTo>
                    <a:pt x="631217" y="149200"/>
                  </a:lnTo>
                  <a:cubicBezTo>
                    <a:pt x="651681" y="149200"/>
                    <a:pt x="668424" y="165943"/>
                    <a:pt x="668424" y="186407"/>
                  </a:cubicBezTo>
                  <a:cubicBezTo>
                    <a:pt x="668424" y="206871"/>
                    <a:pt x="651867" y="223614"/>
                    <a:pt x="631403" y="223614"/>
                  </a:cubicBezTo>
                  <a:close/>
                  <a:moveTo>
                    <a:pt x="447973" y="373001"/>
                  </a:moveTo>
                  <a:lnTo>
                    <a:pt x="37207" y="373001"/>
                  </a:lnTo>
                  <a:cubicBezTo>
                    <a:pt x="16743" y="373001"/>
                    <a:pt x="0" y="356257"/>
                    <a:pt x="0" y="335793"/>
                  </a:cubicBezTo>
                  <a:cubicBezTo>
                    <a:pt x="0" y="315330"/>
                    <a:pt x="16743" y="298586"/>
                    <a:pt x="37207" y="298586"/>
                  </a:cubicBezTo>
                  <a:lnTo>
                    <a:pt x="447973" y="298586"/>
                  </a:lnTo>
                  <a:cubicBezTo>
                    <a:pt x="468437" y="298586"/>
                    <a:pt x="485180" y="315330"/>
                    <a:pt x="485180" y="335793"/>
                  </a:cubicBezTo>
                  <a:cubicBezTo>
                    <a:pt x="485180" y="356257"/>
                    <a:pt x="468623" y="373001"/>
                    <a:pt x="447973" y="373001"/>
                  </a:cubicBezTo>
                  <a:close/>
                  <a:moveTo>
                    <a:pt x="361838" y="908224"/>
                  </a:moveTo>
                  <a:cubicBezTo>
                    <a:pt x="342677" y="908224"/>
                    <a:pt x="323887" y="900968"/>
                    <a:pt x="309749" y="887202"/>
                  </a:cubicBezTo>
                  <a:cubicBezTo>
                    <a:pt x="291145" y="869342"/>
                    <a:pt x="282773" y="843483"/>
                    <a:pt x="287796" y="818183"/>
                  </a:cubicBezTo>
                  <a:lnTo>
                    <a:pt x="303609" y="736885"/>
                  </a:lnTo>
                  <a:cubicBezTo>
                    <a:pt x="306400" y="722561"/>
                    <a:pt x="313097" y="709538"/>
                    <a:pt x="323143" y="698934"/>
                  </a:cubicBezTo>
                  <a:lnTo>
                    <a:pt x="678470" y="327236"/>
                  </a:lnTo>
                  <a:cubicBezTo>
                    <a:pt x="692423" y="312539"/>
                    <a:pt x="711212" y="304354"/>
                    <a:pt x="731490" y="303795"/>
                  </a:cubicBezTo>
                  <a:cubicBezTo>
                    <a:pt x="751768" y="303423"/>
                    <a:pt x="770930" y="310865"/>
                    <a:pt x="785440" y="324817"/>
                  </a:cubicBezTo>
                  <a:lnTo>
                    <a:pt x="850367" y="386767"/>
                  </a:lnTo>
                  <a:cubicBezTo>
                    <a:pt x="865064" y="400720"/>
                    <a:pt x="873249" y="419509"/>
                    <a:pt x="873807" y="439787"/>
                  </a:cubicBezTo>
                  <a:cubicBezTo>
                    <a:pt x="874365" y="460065"/>
                    <a:pt x="866738" y="479227"/>
                    <a:pt x="852785" y="493737"/>
                  </a:cubicBezTo>
                  <a:lnTo>
                    <a:pt x="497458" y="865436"/>
                  </a:lnTo>
                  <a:cubicBezTo>
                    <a:pt x="487412" y="876040"/>
                    <a:pt x="474576" y="883295"/>
                    <a:pt x="460437" y="886644"/>
                  </a:cubicBezTo>
                  <a:lnTo>
                    <a:pt x="379884" y="905991"/>
                  </a:lnTo>
                  <a:cubicBezTo>
                    <a:pt x="373745" y="907666"/>
                    <a:pt x="367792" y="908224"/>
                    <a:pt x="361838" y="908224"/>
                  </a:cubicBezTo>
                  <a:close/>
                  <a:moveTo>
                    <a:pt x="732979" y="378209"/>
                  </a:moveTo>
                  <a:cubicBezTo>
                    <a:pt x="732420" y="378209"/>
                    <a:pt x="732234" y="378396"/>
                    <a:pt x="732048" y="378582"/>
                  </a:cubicBezTo>
                  <a:lnTo>
                    <a:pt x="376721" y="750280"/>
                  </a:lnTo>
                  <a:cubicBezTo>
                    <a:pt x="376535" y="750466"/>
                    <a:pt x="376535" y="750652"/>
                    <a:pt x="376349" y="750838"/>
                  </a:cubicBezTo>
                  <a:lnTo>
                    <a:pt x="360536" y="832135"/>
                  </a:lnTo>
                  <a:cubicBezTo>
                    <a:pt x="360536" y="832507"/>
                    <a:pt x="360350" y="832879"/>
                    <a:pt x="360908" y="833251"/>
                  </a:cubicBezTo>
                  <a:cubicBezTo>
                    <a:pt x="361466" y="833810"/>
                    <a:pt x="361652" y="833624"/>
                    <a:pt x="362024" y="833624"/>
                  </a:cubicBezTo>
                  <a:lnTo>
                    <a:pt x="442578" y="814276"/>
                  </a:lnTo>
                  <a:cubicBezTo>
                    <a:pt x="442764" y="814276"/>
                    <a:pt x="442950" y="814090"/>
                    <a:pt x="443136" y="813904"/>
                  </a:cubicBezTo>
                  <a:lnTo>
                    <a:pt x="798463" y="442206"/>
                  </a:lnTo>
                  <a:cubicBezTo>
                    <a:pt x="799021" y="441647"/>
                    <a:pt x="798835" y="440903"/>
                    <a:pt x="798463" y="440531"/>
                  </a:cubicBezTo>
                  <a:lnTo>
                    <a:pt x="733537" y="378582"/>
                  </a:lnTo>
                  <a:cubicBezTo>
                    <a:pt x="733723" y="378582"/>
                    <a:pt x="733537" y="378209"/>
                    <a:pt x="732979" y="37820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9" name="任意多边形: 形状 218"/>
          <p:cNvSpPr/>
          <p:nvPr/>
        </p:nvSpPr>
        <p:spPr>
          <a:xfrm>
            <a:off x="4429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1579687" y="979317"/>
            <a:ext cx="16158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各门店销售排名</a:t>
            </a:r>
          </a:p>
        </p:txBody>
      </p:sp>
      <p:sp>
        <p:nvSpPr>
          <p:cNvPr id="221" name="TextBox 54+"/>
          <p:cNvSpPr txBox="1"/>
          <p:nvPr/>
        </p:nvSpPr>
        <p:spPr>
          <a:xfrm>
            <a:off x="9111904" y="9793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季度销售情况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+"/>
          <p:cNvSpPr/>
          <p:nvPr/>
        </p:nvSpPr>
        <p:spPr>
          <a:xfrm>
            <a:off x="2687272" y="3915686"/>
            <a:ext cx="4071790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3295" y="196738"/>
            <a:ext cx="323165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财务营收与利润分析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762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1812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016125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442913" y="2325316"/>
            <a:ext cx="2016125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442913" y="5268199"/>
            <a:ext cx="2016125" cy="12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++"/>
          <p:cNvSpPr/>
          <p:nvPr/>
        </p:nvSpPr>
        <p:spPr>
          <a:xfrm>
            <a:off x="442913" y="3777507"/>
            <a:ext cx="2016125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文本框 16"/>
          <p:cNvSpPr txBox="1"/>
          <p:nvPr/>
        </p:nvSpPr>
        <p:spPr>
          <a:xfrm>
            <a:off x="798017" y="1270291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¥8.76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1884468" y="1425623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</a:p>
        </p:txBody>
      </p:sp>
      <p:sp>
        <p:nvSpPr>
          <p:cNvPr id="17" name="文本框 19"/>
          <p:cNvSpPr txBox="1"/>
          <p:nvPr/>
        </p:nvSpPr>
        <p:spPr>
          <a:xfrm>
            <a:off x="785478" y="1046992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年度总营收</a:t>
            </a:r>
          </a:p>
        </p:txBody>
      </p:sp>
      <p:sp>
        <p:nvSpPr>
          <p:cNvPr id="18" name="文本框 22"/>
          <p:cNvSpPr txBox="1"/>
          <p:nvPr/>
        </p:nvSpPr>
        <p:spPr>
          <a:xfrm>
            <a:off x="785478" y="1709034"/>
            <a:ext cx="51296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23"/>
          <p:cNvSpPr txBox="1"/>
          <p:nvPr/>
        </p:nvSpPr>
        <p:spPr>
          <a:xfrm>
            <a:off x="1396392" y="1709034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20" name="等腰三角形 19"/>
          <p:cNvSpPr>
            <a:spLocks noChangeAspect="1"/>
          </p:cNvSpPr>
          <p:nvPr/>
        </p:nvSpPr>
        <p:spPr>
          <a:xfrm>
            <a:off x="1875190" y="1718187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8"/>
          <p:cNvSpPr txBox="1"/>
          <p:nvPr/>
        </p:nvSpPr>
        <p:spPr>
          <a:xfrm>
            <a:off x="798017" y="2760386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¥2.34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9"/>
          <p:cNvSpPr txBox="1"/>
          <p:nvPr/>
        </p:nvSpPr>
        <p:spPr>
          <a:xfrm>
            <a:off x="1879829" y="2915718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</a:p>
        </p:txBody>
      </p:sp>
      <p:sp>
        <p:nvSpPr>
          <p:cNvPr id="23" name="文本框 30"/>
          <p:cNvSpPr txBox="1"/>
          <p:nvPr/>
        </p:nvSpPr>
        <p:spPr>
          <a:xfrm>
            <a:off x="785478" y="253708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年度总利润</a:t>
            </a:r>
          </a:p>
        </p:txBody>
      </p:sp>
      <p:sp>
        <p:nvSpPr>
          <p:cNvPr id="24" name="文本框 31"/>
          <p:cNvSpPr txBox="1"/>
          <p:nvPr/>
        </p:nvSpPr>
        <p:spPr>
          <a:xfrm>
            <a:off x="785478" y="3199129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文本框 32"/>
          <p:cNvSpPr txBox="1"/>
          <p:nvPr/>
        </p:nvSpPr>
        <p:spPr>
          <a:xfrm>
            <a:off x="1360128" y="3199129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26" name="等腰三角形 25"/>
          <p:cNvSpPr>
            <a:spLocks noChangeAspect="1"/>
          </p:cNvSpPr>
          <p:nvPr/>
        </p:nvSpPr>
        <p:spPr>
          <a:xfrm>
            <a:off x="1875190" y="3208282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文本框 35"/>
          <p:cNvSpPr txBox="1"/>
          <p:nvPr/>
        </p:nvSpPr>
        <p:spPr>
          <a:xfrm>
            <a:off x="798017" y="4227802"/>
            <a:ext cx="10964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26.7%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" name="文本框 37"/>
          <p:cNvSpPr txBox="1"/>
          <p:nvPr/>
        </p:nvSpPr>
        <p:spPr>
          <a:xfrm>
            <a:off x="785478" y="4004503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利润率</a:t>
            </a:r>
          </a:p>
        </p:txBody>
      </p:sp>
      <p:sp>
        <p:nvSpPr>
          <p:cNvPr id="29" name="文本框 38"/>
          <p:cNvSpPr txBox="1"/>
          <p:nvPr/>
        </p:nvSpPr>
        <p:spPr>
          <a:xfrm>
            <a:off x="785478" y="466654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0.8%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39"/>
          <p:cNvSpPr txBox="1"/>
          <p:nvPr/>
        </p:nvSpPr>
        <p:spPr>
          <a:xfrm>
            <a:off x="1360128" y="466654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31" name="等腰三角形 30"/>
          <p:cNvSpPr>
            <a:spLocks noChangeAspect="1"/>
          </p:cNvSpPr>
          <p:nvPr/>
        </p:nvSpPr>
        <p:spPr>
          <a:xfrm flipV="1">
            <a:off x="1875190" y="4675698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文本框 42"/>
          <p:cNvSpPr txBox="1"/>
          <p:nvPr/>
        </p:nvSpPr>
        <p:spPr>
          <a:xfrm>
            <a:off x="798017" y="5738079"/>
            <a:ext cx="88485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4.2%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文本框 44"/>
          <p:cNvSpPr txBox="1"/>
          <p:nvPr/>
        </p:nvSpPr>
        <p:spPr>
          <a:xfrm>
            <a:off x="785478" y="551478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季度增长率</a:t>
            </a:r>
          </a:p>
        </p:txBody>
      </p:sp>
      <p:sp>
        <p:nvSpPr>
          <p:cNvPr id="34" name="文本框 45"/>
          <p:cNvSpPr txBox="1"/>
          <p:nvPr/>
        </p:nvSpPr>
        <p:spPr>
          <a:xfrm>
            <a:off x="785478" y="6176822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1.1%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文本框 46"/>
          <p:cNvSpPr txBox="1"/>
          <p:nvPr/>
        </p:nvSpPr>
        <p:spPr>
          <a:xfrm>
            <a:off x="1337902" y="6176822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</a:t>
            </a:r>
          </a:p>
        </p:txBody>
      </p:sp>
      <p:sp>
        <p:nvSpPr>
          <p:cNvPr id="36" name="等腰三角形 35"/>
          <p:cNvSpPr>
            <a:spLocks noChangeAspect="1"/>
          </p:cNvSpPr>
          <p:nvPr/>
        </p:nvSpPr>
        <p:spPr>
          <a:xfrm>
            <a:off x="1875190" y="6185975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>
            <a:off x="1866239" y="2527118"/>
            <a:ext cx="216001" cy="235384"/>
            <a:chOff x="5224327" y="1510380"/>
            <a:chExt cx="1456771" cy="1587499"/>
          </a:xfrm>
          <a:solidFill>
            <a:schemeClr val="bg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5480232" y="1510380"/>
              <a:ext cx="945435" cy="454566"/>
            </a:xfrm>
            <a:custGeom>
              <a:avLst/>
              <a:gdLst>
                <a:gd name="connsiteX0" fmla="*/ 74374 w 945435"/>
                <a:gd name="connsiteY0" fmla="*/ 315198 h 454566"/>
                <a:gd name="connsiteX1" fmla="*/ 111919 w 945435"/>
                <a:gd name="connsiteY1" fmla="*/ 364807 h 454566"/>
                <a:gd name="connsiteX2" fmla="*/ 831929 w 945435"/>
                <a:gd name="connsiteY2" fmla="*/ 380921 h 454566"/>
                <a:gd name="connsiteX3" fmla="*/ 831532 w 945435"/>
                <a:gd name="connsiteY3" fmla="*/ 376079 h 454566"/>
                <a:gd name="connsiteX4" fmla="*/ 870982 w 945435"/>
                <a:gd name="connsiteY4" fmla="*/ 315436 h 454566"/>
                <a:gd name="connsiteX5" fmla="*/ 945436 w 945435"/>
                <a:gd name="connsiteY5" fmla="*/ 211296 h 454566"/>
                <a:gd name="connsiteX6" fmla="*/ 776367 w 945435"/>
                <a:gd name="connsiteY6" fmla="*/ 83741 h 454566"/>
                <a:gd name="connsiteX7" fmla="*/ 719455 w 945435"/>
                <a:gd name="connsiteY7" fmla="*/ 93662 h 454566"/>
                <a:gd name="connsiteX8" fmla="*/ 701754 w 945435"/>
                <a:gd name="connsiteY8" fmla="*/ 101124 h 454566"/>
                <a:gd name="connsiteX9" fmla="*/ 661670 w 945435"/>
                <a:gd name="connsiteY9" fmla="*/ 111760 h 454566"/>
                <a:gd name="connsiteX10" fmla="*/ 593169 w 945435"/>
                <a:gd name="connsiteY10" fmla="*/ 80645 h 454566"/>
                <a:gd name="connsiteX11" fmla="*/ 555069 w 945435"/>
                <a:gd name="connsiteY11" fmla="*/ 38894 h 454566"/>
                <a:gd name="connsiteX12" fmla="*/ 470773 w 945435"/>
                <a:gd name="connsiteY12" fmla="*/ 0 h 454566"/>
                <a:gd name="connsiteX13" fmla="*/ 390604 w 945435"/>
                <a:gd name="connsiteY13" fmla="*/ 38735 h 454566"/>
                <a:gd name="connsiteX14" fmla="*/ 357267 w 945435"/>
                <a:gd name="connsiteY14" fmla="*/ 74057 h 454566"/>
                <a:gd name="connsiteX15" fmla="*/ 283924 w 945435"/>
                <a:gd name="connsiteY15" fmla="*/ 111760 h 454566"/>
                <a:gd name="connsiteX16" fmla="*/ 249873 w 945435"/>
                <a:gd name="connsiteY16" fmla="*/ 104140 h 454566"/>
                <a:gd name="connsiteX17" fmla="*/ 228838 w 945435"/>
                <a:gd name="connsiteY17" fmla="*/ 94536 h 454566"/>
                <a:gd name="connsiteX18" fmla="*/ 168989 w 945435"/>
                <a:gd name="connsiteY18" fmla="*/ 83503 h 454566"/>
                <a:gd name="connsiteX19" fmla="*/ 0 w 945435"/>
                <a:gd name="connsiteY19" fmla="*/ 210979 h 454566"/>
                <a:gd name="connsiteX20" fmla="*/ 74374 w 945435"/>
                <a:gd name="connsiteY20" fmla="*/ 315198 h 454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5435" h="454566">
                  <a:moveTo>
                    <a:pt x="74374" y="315198"/>
                  </a:moveTo>
                  <a:cubicBezTo>
                    <a:pt x="93795" y="325149"/>
                    <a:pt x="107618" y="343414"/>
                    <a:pt x="111919" y="364807"/>
                  </a:cubicBezTo>
                  <a:cubicBezTo>
                    <a:pt x="333772" y="478711"/>
                    <a:pt x="581819" y="484346"/>
                    <a:pt x="831929" y="380921"/>
                  </a:cubicBezTo>
                  <a:cubicBezTo>
                    <a:pt x="831929" y="379254"/>
                    <a:pt x="831453" y="377825"/>
                    <a:pt x="831532" y="376079"/>
                  </a:cubicBezTo>
                  <a:cubicBezTo>
                    <a:pt x="832882" y="350261"/>
                    <a:pt x="847927" y="327134"/>
                    <a:pt x="870982" y="315436"/>
                  </a:cubicBezTo>
                  <a:cubicBezTo>
                    <a:pt x="917654" y="291862"/>
                    <a:pt x="945436" y="252968"/>
                    <a:pt x="945436" y="211296"/>
                  </a:cubicBezTo>
                  <a:cubicBezTo>
                    <a:pt x="945436" y="140970"/>
                    <a:pt x="869553" y="83741"/>
                    <a:pt x="776367" y="83741"/>
                  </a:cubicBezTo>
                  <a:cubicBezTo>
                    <a:pt x="755729" y="83741"/>
                    <a:pt x="736679" y="86995"/>
                    <a:pt x="719455" y="93662"/>
                  </a:cubicBezTo>
                  <a:cubicBezTo>
                    <a:pt x="713319" y="95549"/>
                    <a:pt x="707389" y="98048"/>
                    <a:pt x="701754" y="101124"/>
                  </a:cubicBezTo>
                  <a:cubicBezTo>
                    <a:pt x="689453" y="107866"/>
                    <a:pt x="675696" y="111517"/>
                    <a:pt x="661670" y="111760"/>
                  </a:cubicBezTo>
                  <a:cubicBezTo>
                    <a:pt x="635635" y="111760"/>
                    <a:pt x="609441" y="99933"/>
                    <a:pt x="593169" y="80645"/>
                  </a:cubicBezTo>
                  <a:cubicBezTo>
                    <a:pt x="582357" y="65116"/>
                    <a:pt x="569547" y="51078"/>
                    <a:pt x="555069" y="38894"/>
                  </a:cubicBezTo>
                  <a:cubicBezTo>
                    <a:pt x="528955" y="16431"/>
                    <a:pt x="500539" y="3334"/>
                    <a:pt x="470773" y="0"/>
                  </a:cubicBezTo>
                  <a:cubicBezTo>
                    <a:pt x="445135" y="3413"/>
                    <a:pt x="416798" y="16431"/>
                    <a:pt x="390604" y="38735"/>
                  </a:cubicBezTo>
                  <a:cubicBezTo>
                    <a:pt x="378097" y="49109"/>
                    <a:pt x="366902" y="60971"/>
                    <a:pt x="357267" y="74057"/>
                  </a:cubicBezTo>
                  <a:cubicBezTo>
                    <a:pt x="335994" y="99774"/>
                    <a:pt x="309801" y="111760"/>
                    <a:pt x="283924" y="111760"/>
                  </a:cubicBezTo>
                  <a:cubicBezTo>
                    <a:pt x="272144" y="111823"/>
                    <a:pt x="260502" y="109218"/>
                    <a:pt x="249873" y="104140"/>
                  </a:cubicBezTo>
                  <a:cubicBezTo>
                    <a:pt x="243189" y="100264"/>
                    <a:pt x="236145" y="97047"/>
                    <a:pt x="228838" y="94536"/>
                  </a:cubicBezTo>
                  <a:cubicBezTo>
                    <a:pt x="209735" y="87216"/>
                    <a:pt x="189447" y="83476"/>
                    <a:pt x="168989" y="83503"/>
                  </a:cubicBezTo>
                  <a:cubicBezTo>
                    <a:pt x="75962" y="83503"/>
                    <a:pt x="0" y="140732"/>
                    <a:pt x="0" y="210979"/>
                  </a:cubicBezTo>
                  <a:cubicBezTo>
                    <a:pt x="0" y="252730"/>
                    <a:pt x="27781" y="291624"/>
                    <a:pt x="74374" y="315198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224327" y="1959404"/>
              <a:ext cx="1456771" cy="1138475"/>
            </a:xfrm>
            <a:custGeom>
              <a:avLst/>
              <a:gdLst>
                <a:gd name="connsiteX0" fmla="*/ 1269683 w 1456771"/>
                <a:gd name="connsiteY0" fmla="*/ 117316 h 1138475"/>
                <a:gd name="connsiteX1" fmla="*/ 1146334 w 1456771"/>
                <a:gd name="connsiteY1" fmla="*/ 10081 h 1138475"/>
                <a:gd name="connsiteX2" fmla="*/ 1141968 w 1456771"/>
                <a:gd name="connsiteY2" fmla="*/ 13097 h 1138475"/>
                <a:gd name="connsiteX3" fmla="*/ 734854 w 1456771"/>
                <a:gd name="connsiteY3" fmla="*/ 101759 h 1138475"/>
                <a:gd name="connsiteX4" fmla="*/ 323612 w 1456771"/>
                <a:gd name="connsiteY4" fmla="*/ 0 h 1138475"/>
                <a:gd name="connsiteX5" fmla="*/ 187563 w 1456771"/>
                <a:gd name="connsiteY5" fmla="*/ 117158 h 1138475"/>
                <a:gd name="connsiteX6" fmla="*/ 0 w 1456771"/>
                <a:gd name="connsiteY6" fmla="*/ 519668 h 1138475"/>
                <a:gd name="connsiteX7" fmla="*/ 56118 w 1456771"/>
                <a:gd name="connsiteY7" fmla="*/ 794623 h 1138475"/>
                <a:gd name="connsiteX8" fmla="*/ 206534 w 1456771"/>
                <a:gd name="connsiteY8" fmla="*/ 984250 h 1138475"/>
                <a:gd name="connsiteX9" fmla="*/ 434419 w 1456771"/>
                <a:gd name="connsiteY9" fmla="*/ 1099344 h 1138475"/>
                <a:gd name="connsiteX10" fmla="*/ 720408 w 1456771"/>
                <a:gd name="connsiteY10" fmla="*/ 1138476 h 1138475"/>
                <a:gd name="connsiteX11" fmla="*/ 736283 w 1456771"/>
                <a:gd name="connsiteY11" fmla="*/ 1138476 h 1138475"/>
                <a:gd name="connsiteX12" fmla="*/ 1022350 w 1456771"/>
                <a:gd name="connsiteY12" fmla="*/ 1099344 h 1138475"/>
                <a:gd name="connsiteX13" fmla="*/ 1250156 w 1456771"/>
                <a:gd name="connsiteY13" fmla="*/ 984250 h 1138475"/>
                <a:gd name="connsiteX14" fmla="*/ 1400731 w 1456771"/>
                <a:gd name="connsiteY14" fmla="*/ 794623 h 1138475"/>
                <a:gd name="connsiteX15" fmla="*/ 1456769 w 1456771"/>
                <a:gd name="connsiteY15" fmla="*/ 519668 h 1138475"/>
                <a:gd name="connsiteX16" fmla="*/ 1269683 w 1456771"/>
                <a:gd name="connsiteY16" fmla="*/ 117316 h 1138475"/>
                <a:gd name="connsiteX17" fmla="*/ 955119 w 1456771"/>
                <a:gd name="connsiteY17" fmla="*/ 343059 h 1138475"/>
                <a:gd name="connsiteX18" fmla="*/ 929958 w 1456771"/>
                <a:gd name="connsiteY18" fmla="*/ 378778 h 1138475"/>
                <a:gd name="connsiteX19" fmla="*/ 884238 w 1456771"/>
                <a:gd name="connsiteY19" fmla="*/ 439261 h 1138475"/>
                <a:gd name="connsiteX20" fmla="*/ 840105 w 1456771"/>
                <a:gd name="connsiteY20" fmla="*/ 499904 h 1138475"/>
                <a:gd name="connsiteX21" fmla="*/ 817880 w 1456771"/>
                <a:gd name="connsiteY21" fmla="*/ 532924 h 1138475"/>
                <a:gd name="connsiteX22" fmla="*/ 823754 w 1456771"/>
                <a:gd name="connsiteY22" fmla="*/ 547370 h 1138475"/>
                <a:gd name="connsiteX23" fmla="*/ 848122 w 1456771"/>
                <a:gd name="connsiteY23" fmla="*/ 549751 h 1138475"/>
                <a:gd name="connsiteX24" fmla="*/ 927338 w 1456771"/>
                <a:gd name="connsiteY24" fmla="*/ 549751 h 1138475"/>
                <a:gd name="connsiteX25" fmla="*/ 947023 w 1456771"/>
                <a:gd name="connsiteY25" fmla="*/ 559197 h 1138475"/>
                <a:gd name="connsiteX26" fmla="*/ 955199 w 1456771"/>
                <a:gd name="connsiteY26" fmla="*/ 577850 h 1138475"/>
                <a:gd name="connsiteX27" fmla="*/ 955199 w 1456771"/>
                <a:gd name="connsiteY27" fmla="*/ 634921 h 1138475"/>
                <a:gd name="connsiteX28" fmla="*/ 932180 w 1456771"/>
                <a:gd name="connsiteY28" fmla="*/ 651351 h 1138475"/>
                <a:gd name="connsiteX29" fmla="*/ 794861 w 1456771"/>
                <a:gd name="connsiteY29" fmla="*/ 651351 h 1138475"/>
                <a:gd name="connsiteX30" fmla="*/ 777240 w 1456771"/>
                <a:gd name="connsiteY30" fmla="*/ 656273 h 1138475"/>
                <a:gd name="connsiteX31" fmla="*/ 769303 w 1456771"/>
                <a:gd name="connsiteY31" fmla="*/ 670322 h 1138475"/>
                <a:gd name="connsiteX32" fmla="*/ 770255 w 1456771"/>
                <a:gd name="connsiteY32" fmla="*/ 690324 h 1138475"/>
                <a:gd name="connsiteX33" fmla="*/ 771446 w 1456771"/>
                <a:gd name="connsiteY33" fmla="*/ 708104 h 1138475"/>
                <a:gd name="connsiteX34" fmla="*/ 794861 w 1456771"/>
                <a:gd name="connsiteY34" fmla="*/ 717629 h 1138475"/>
                <a:gd name="connsiteX35" fmla="*/ 930037 w 1456771"/>
                <a:gd name="connsiteY35" fmla="*/ 717629 h 1138475"/>
                <a:gd name="connsiteX36" fmla="*/ 953214 w 1456771"/>
                <a:gd name="connsiteY36" fmla="*/ 739061 h 1138475"/>
                <a:gd name="connsiteX37" fmla="*/ 953214 w 1456771"/>
                <a:gd name="connsiteY37" fmla="*/ 791289 h 1138475"/>
                <a:gd name="connsiteX38" fmla="*/ 920274 w 1456771"/>
                <a:gd name="connsiteY38" fmla="*/ 814943 h 1138475"/>
                <a:gd name="connsiteX39" fmla="*/ 890032 w 1456771"/>
                <a:gd name="connsiteY39" fmla="*/ 814943 h 1138475"/>
                <a:gd name="connsiteX40" fmla="*/ 851773 w 1456771"/>
                <a:gd name="connsiteY40" fmla="*/ 815896 h 1138475"/>
                <a:gd name="connsiteX41" fmla="*/ 815816 w 1456771"/>
                <a:gd name="connsiteY41" fmla="*/ 817483 h 1138475"/>
                <a:gd name="connsiteX42" fmla="*/ 794861 w 1456771"/>
                <a:gd name="connsiteY42" fmla="*/ 817483 h 1138475"/>
                <a:gd name="connsiteX43" fmla="*/ 774224 w 1456771"/>
                <a:gd name="connsiteY43" fmla="*/ 841375 h 1138475"/>
                <a:gd name="connsiteX44" fmla="*/ 774224 w 1456771"/>
                <a:gd name="connsiteY44" fmla="*/ 936228 h 1138475"/>
                <a:gd name="connsiteX45" fmla="*/ 755333 w 1456771"/>
                <a:gd name="connsiteY45" fmla="*/ 948134 h 1138475"/>
                <a:gd name="connsiteX46" fmla="*/ 680641 w 1456771"/>
                <a:gd name="connsiteY46" fmla="*/ 948134 h 1138475"/>
                <a:gd name="connsiteX47" fmla="*/ 650558 w 1456771"/>
                <a:gd name="connsiteY47" fmla="*/ 922099 h 1138475"/>
                <a:gd name="connsiteX48" fmla="*/ 651748 w 1456771"/>
                <a:gd name="connsiteY48" fmla="*/ 881301 h 1138475"/>
                <a:gd name="connsiteX49" fmla="*/ 650637 w 1456771"/>
                <a:gd name="connsiteY49" fmla="*/ 838914 h 1138475"/>
                <a:gd name="connsiteX50" fmla="*/ 648335 w 1456771"/>
                <a:gd name="connsiteY50" fmla="*/ 823516 h 1138475"/>
                <a:gd name="connsiteX51" fmla="*/ 634444 w 1456771"/>
                <a:gd name="connsiteY51" fmla="*/ 820102 h 1138475"/>
                <a:gd name="connsiteX52" fmla="*/ 494744 w 1456771"/>
                <a:gd name="connsiteY52" fmla="*/ 820102 h 1138475"/>
                <a:gd name="connsiteX53" fmla="*/ 464264 w 1456771"/>
                <a:gd name="connsiteY53" fmla="*/ 789226 h 1138475"/>
                <a:gd name="connsiteX54" fmla="*/ 462201 w 1456771"/>
                <a:gd name="connsiteY54" fmla="*/ 771208 h 1138475"/>
                <a:gd name="connsiteX55" fmla="*/ 462201 w 1456771"/>
                <a:gd name="connsiteY55" fmla="*/ 748665 h 1138475"/>
                <a:gd name="connsiteX56" fmla="*/ 469265 w 1456771"/>
                <a:gd name="connsiteY56" fmla="*/ 727154 h 1138475"/>
                <a:gd name="connsiteX57" fmla="*/ 487839 w 1456771"/>
                <a:gd name="connsiteY57" fmla="*/ 720249 h 1138475"/>
                <a:gd name="connsiteX58" fmla="*/ 643573 w 1456771"/>
                <a:gd name="connsiteY58" fmla="*/ 720249 h 1138475"/>
                <a:gd name="connsiteX59" fmla="*/ 648176 w 1456771"/>
                <a:gd name="connsiteY59" fmla="*/ 708184 h 1138475"/>
                <a:gd name="connsiteX60" fmla="*/ 648176 w 1456771"/>
                <a:gd name="connsiteY60" fmla="*/ 663257 h 1138475"/>
                <a:gd name="connsiteX61" fmla="*/ 620474 w 1456771"/>
                <a:gd name="connsiteY61" fmla="*/ 651431 h 1138475"/>
                <a:gd name="connsiteX62" fmla="*/ 485537 w 1456771"/>
                <a:gd name="connsiteY62" fmla="*/ 651431 h 1138475"/>
                <a:gd name="connsiteX63" fmla="*/ 469186 w 1456771"/>
                <a:gd name="connsiteY63" fmla="*/ 650637 h 1138475"/>
                <a:gd name="connsiteX64" fmla="*/ 462121 w 1456771"/>
                <a:gd name="connsiteY64" fmla="*/ 637461 h 1138475"/>
                <a:gd name="connsiteX65" fmla="*/ 462121 w 1456771"/>
                <a:gd name="connsiteY65" fmla="*/ 608806 h 1138475"/>
                <a:gd name="connsiteX66" fmla="*/ 460058 w 1456771"/>
                <a:gd name="connsiteY66" fmla="*/ 580390 h 1138475"/>
                <a:gd name="connsiteX67" fmla="*/ 466725 w 1456771"/>
                <a:gd name="connsiteY67" fmla="*/ 556657 h 1138475"/>
                <a:gd name="connsiteX68" fmla="*/ 496967 w 1456771"/>
                <a:gd name="connsiteY68" fmla="*/ 547449 h 1138475"/>
                <a:gd name="connsiteX69" fmla="*/ 538083 w 1456771"/>
                <a:gd name="connsiteY69" fmla="*/ 548561 h 1138475"/>
                <a:gd name="connsiteX70" fmla="*/ 571818 w 1456771"/>
                <a:gd name="connsiteY70" fmla="*/ 547449 h 1138475"/>
                <a:gd name="connsiteX71" fmla="*/ 599202 w 1456771"/>
                <a:gd name="connsiteY71" fmla="*/ 547449 h 1138475"/>
                <a:gd name="connsiteX72" fmla="*/ 608648 w 1456771"/>
                <a:gd name="connsiteY72" fmla="*/ 537924 h 1138475"/>
                <a:gd name="connsiteX73" fmla="*/ 581104 w 1456771"/>
                <a:gd name="connsiteY73" fmla="*/ 502444 h 1138475"/>
                <a:gd name="connsiteX74" fmla="*/ 532051 w 1456771"/>
                <a:gd name="connsiteY74" fmla="*/ 438229 h 1138475"/>
                <a:gd name="connsiteX75" fmla="*/ 462201 w 1456771"/>
                <a:gd name="connsiteY75" fmla="*/ 350599 h 1138475"/>
                <a:gd name="connsiteX76" fmla="*/ 469265 w 1456771"/>
                <a:gd name="connsiteY76" fmla="*/ 307896 h 1138475"/>
                <a:gd name="connsiteX77" fmla="*/ 493474 w 1456771"/>
                <a:gd name="connsiteY77" fmla="*/ 289639 h 1138475"/>
                <a:gd name="connsiteX78" fmla="*/ 522923 w 1456771"/>
                <a:gd name="connsiteY78" fmla="*/ 269954 h 1138475"/>
                <a:gd name="connsiteX79" fmla="*/ 566817 w 1456771"/>
                <a:gd name="connsiteY79" fmla="*/ 295672 h 1138475"/>
                <a:gd name="connsiteX80" fmla="*/ 593804 w 1456771"/>
                <a:gd name="connsiteY80" fmla="*/ 330359 h 1138475"/>
                <a:gd name="connsiteX81" fmla="*/ 634444 w 1456771"/>
                <a:gd name="connsiteY81" fmla="*/ 383619 h 1138475"/>
                <a:gd name="connsiteX82" fmla="*/ 673973 w 1456771"/>
                <a:gd name="connsiteY82" fmla="*/ 434419 h 1138475"/>
                <a:gd name="connsiteX83" fmla="*/ 695246 w 1456771"/>
                <a:gd name="connsiteY83" fmla="*/ 462201 h 1138475"/>
                <a:gd name="connsiteX84" fmla="*/ 712311 w 1456771"/>
                <a:gd name="connsiteY84" fmla="*/ 473869 h 1138475"/>
                <a:gd name="connsiteX85" fmla="*/ 729933 w 1456771"/>
                <a:gd name="connsiteY85" fmla="*/ 466725 h 1138475"/>
                <a:gd name="connsiteX86" fmla="*/ 749697 w 1456771"/>
                <a:gd name="connsiteY86" fmla="*/ 436880 h 1138475"/>
                <a:gd name="connsiteX87" fmla="*/ 787956 w 1456771"/>
                <a:gd name="connsiteY87" fmla="*/ 381238 h 1138475"/>
                <a:gd name="connsiteX88" fmla="*/ 827484 w 1456771"/>
                <a:gd name="connsiteY88" fmla="*/ 323056 h 1138475"/>
                <a:gd name="connsiteX89" fmla="*/ 850900 w 1456771"/>
                <a:gd name="connsiteY89" fmla="*/ 289004 h 1138475"/>
                <a:gd name="connsiteX90" fmla="*/ 870426 w 1456771"/>
                <a:gd name="connsiteY90" fmla="*/ 267573 h 1138475"/>
                <a:gd name="connsiteX91" fmla="*/ 897414 w 1456771"/>
                <a:gd name="connsiteY91" fmla="*/ 269954 h 1138475"/>
                <a:gd name="connsiteX92" fmla="*/ 922655 w 1456771"/>
                <a:gd name="connsiteY92" fmla="*/ 283766 h 1138475"/>
                <a:gd name="connsiteX93" fmla="*/ 941308 w 1456771"/>
                <a:gd name="connsiteY93" fmla="*/ 298609 h 1138475"/>
                <a:gd name="connsiteX94" fmla="*/ 955119 w 1456771"/>
                <a:gd name="connsiteY94" fmla="*/ 343059 h 1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56771" h="1138475">
                  <a:moveTo>
                    <a:pt x="1269683" y="117316"/>
                  </a:moveTo>
                  <a:cubicBezTo>
                    <a:pt x="1231672" y="78148"/>
                    <a:pt x="1190408" y="42274"/>
                    <a:pt x="1146334" y="10081"/>
                  </a:cubicBezTo>
                  <a:cubicBezTo>
                    <a:pt x="1144746" y="10954"/>
                    <a:pt x="1143714" y="12303"/>
                    <a:pt x="1141968" y="13097"/>
                  </a:cubicBezTo>
                  <a:cubicBezTo>
                    <a:pt x="1004967" y="72311"/>
                    <a:pt x="868204" y="101759"/>
                    <a:pt x="734854" y="101759"/>
                  </a:cubicBezTo>
                  <a:cubicBezTo>
                    <a:pt x="592534" y="101759"/>
                    <a:pt x="454263" y="67151"/>
                    <a:pt x="323612" y="0"/>
                  </a:cubicBezTo>
                  <a:cubicBezTo>
                    <a:pt x="274801" y="34843"/>
                    <a:pt x="229264" y="74058"/>
                    <a:pt x="187563" y="117158"/>
                  </a:cubicBezTo>
                  <a:cubicBezTo>
                    <a:pt x="63103" y="244554"/>
                    <a:pt x="0" y="380048"/>
                    <a:pt x="0" y="519668"/>
                  </a:cubicBezTo>
                  <a:cubicBezTo>
                    <a:pt x="0" y="622221"/>
                    <a:pt x="18812" y="714772"/>
                    <a:pt x="56118" y="794623"/>
                  </a:cubicBezTo>
                  <a:cubicBezTo>
                    <a:pt x="90830" y="868668"/>
                    <a:pt x="142333" y="933597"/>
                    <a:pt x="206534" y="984250"/>
                  </a:cubicBezTo>
                  <a:cubicBezTo>
                    <a:pt x="270113" y="1034653"/>
                    <a:pt x="346710" y="1073309"/>
                    <a:pt x="434419" y="1099344"/>
                  </a:cubicBezTo>
                  <a:cubicBezTo>
                    <a:pt x="521573" y="1125220"/>
                    <a:pt x="617776" y="1138476"/>
                    <a:pt x="720408" y="1138476"/>
                  </a:cubicBezTo>
                  <a:lnTo>
                    <a:pt x="736283" y="1138476"/>
                  </a:lnTo>
                  <a:cubicBezTo>
                    <a:pt x="838756" y="1138476"/>
                    <a:pt x="935038" y="1125220"/>
                    <a:pt x="1022350" y="1099344"/>
                  </a:cubicBezTo>
                  <a:cubicBezTo>
                    <a:pt x="1110139" y="1073309"/>
                    <a:pt x="1186815" y="1034653"/>
                    <a:pt x="1250156" y="984250"/>
                  </a:cubicBezTo>
                  <a:cubicBezTo>
                    <a:pt x="1314409" y="933608"/>
                    <a:pt x="1365966" y="868680"/>
                    <a:pt x="1400731" y="794623"/>
                  </a:cubicBezTo>
                  <a:cubicBezTo>
                    <a:pt x="1437958" y="714772"/>
                    <a:pt x="1456769" y="622221"/>
                    <a:pt x="1456769" y="519668"/>
                  </a:cubicBezTo>
                  <a:cubicBezTo>
                    <a:pt x="1457166" y="380206"/>
                    <a:pt x="1394222" y="244872"/>
                    <a:pt x="1269683" y="117316"/>
                  </a:cubicBezTo>
                  <a:moveTo>
                    <a:pt x="955119" y="343059"/>
                  </a:moveTo>
                  <a:cubicBezTo>
                    <a:pt x="947017" y="355163"/>
                    <a:pt x="938627" y="367072"/>
                    <a:pt x="929958" y="378778"/>
                  </a:cubicBezTo>
                  <a:cubicBezTo>
                    <a:pt x="915352" y="397748"/>
                    <a:pt x="900668" y="417751"/>
                    <a:pt x="884238" y="439261"/>
                  </a:cubicBezTo>
                  <a:cubicBezTo>
                    <a:pt x="867807" y="460454"/>
                    <a:pt x="853519" y="480536"/>
                    <a:pt x="840105" y="499904"/>
                  </a:cubicBezTo>
                  <a:cubicBezTo>
                    <a:pt x="827008" y="518636"/>
                    <a:pt x="819785" y="530066"/>
                    <a:pt x="817880" y="532924"/>
                  </a:cubicBezTo>
                  <a:cubicBezTo>
                    <a:pt x="813594" y="540703"/>
                    <a:pt x="815261" y="545465"/>
                    <a:pt x="823754" y="547370"/>
                  </a:cubicBezTo>
                  <a:cubicBezTo>
                    <a:pt x="832247" y="549037"/>
                    <a:pt x="840661" y="549751"/>
                    <a:pt x="848122" y="549751"/>
                  </a:cubicBezTo>
                  <a:lnTo>
                    <a:pt x="927338" y="549751"/>
                  </a:lnTo>
                  <a:cubicBezTo>
                    <a:pt x="934958" y="549751"/>
                    <a:pt x="941546" y="552609"/>
                    <a:pt x="947023" y="559197"/>
                  </a:cubicBezTo>
                  <a:cubicBezTo>
                    <a:pt x="952038" y="564137"/>
                    <a:pt x="954965" y="570814"/>
                    <a:pt x="955199" y="577850"/>
                  </a:cubicBezTo>
                  <a:lnTo>
                    <a:pt x="955199" y="634921"/>
                  </a:lnTo>
                  <a:cubicBezTo>
                    <a:pt x="955199" y="646033"/>
                    <a:pt x="947182" y="651351"/>
                    <a:pt x="932180" y="651351"/>
                  </a:cubicBezTo>
                  <a:lnTo>
                    <a:pt x="794861" y="651351"/>
                  </a:lnTo>
                  <a:cubicBezTo>
                    <a:pt x="788655" y="651401"/>
                    <a:pt x="782574" y="653099"/>
                    <a:pt x="777240" y="656273"/>
                  </a:cubicBezTo>
                  <a:cubicBezTo>
                    <a:pt x="772115" y="659042"/>
                    <a:pt x="769029" y="664503"/>
                    <a:pt x="769303" y="670322"/>
                  </a:cubicBezTo>
                  <a:cubicBezTo>
                    <a:pt x="769303" y="676989"/>
                    <a:pt x="769461" y="683181"/>
                    <a:pt x="770255" y="690324"/>
                  </a:cubicBezTo>
                  <a:cubicBezTo>
                    <a:pt x="771128" y="697548"/>
                    <a:pt x="771446" y="703659"/>
                    <a:pt x="771446" y="708104"/>
                  </a:cubicBezTo>
                  <a:cubicBezTo>
                    <a:pt x="771446" y="717629"/>
                    <a:pt x="779542" y="720884"/>
                    <a:pt x="794861" y="717629"/>
                  </a:cubicBezTo>
                  <a:lnTo>
                    <a:pt x="930037" y="717629"/>
                  </a:lnTo>
                  <a:cubicBezTo>
                    <a:pt x="945515" y="717629"/>
                    <a:pt x="953214" y="724694"/>
                    <a:pt x="953214" y="739061"/>
                  </a:cubicBezTo>
                  <a:lnTo>
                    <a:pt x="953214" y="791289"/>
                  </a:lnTo>
                  <a:cubicBezTo>
                    <a:pt x="953214" y="807006"/>
                    <a:pt x="941705" y="814943"/>
                    <a:pt x="920274" y="814943"/>
                  </a:cubicBezTo>
                  <a:lnTo>
                    <a:pt x="890032" y="814943"/>
                  </a:lnTo>
                  <a:cubicBezTo>
                    <a:pt x="877967" y="814943"/>
                    <a:pt x="865267" y="815340"/>
                    <a:pt x="851773" y="815896"/>
                  </a:cubicBezTo>
                  <a:cubicBezTo>
                    <a:pt x="839821" y="817016"/>
                    <a:pt x="827821" y="817545"/>
                    <a:pt x="815816" y="817483"/>
                  </a:cubicBezTo>
                  <a:lnTo>
                    <a:pt x="794861" y="817483"/>
                  </a:lnTo>
                  <a:cubicBezTo>
                    <a:pt x="781209" y="817483"/>
                    <a:pt x="774224" y="825341"/>
                    <a:pt x="774224" y="841375"/>
                  </a:cubicBezTo>
                  <a:lnTo>
                    <a:pt x="774224" y="936228"/>
                  </a:lnTo>
                  <a:cubicBezTo>
                    <a:pt x="774224" y="944404"/>
                    <a:pt x="767715" y="948134"/>
                    <a:pt x="755333" y="948134"/>
                  </a:cubicBezTo>
                  <a:lnTo>
                    <a:pt x="680641" y="948134"/>
                  </a:lnTo>
                  <a:cubicBezTo>
                    <a:pt x="660638" y="948134"/>
                    <a:pt x="650558" y="939562"/>
                    <a:pt x="650558" y="922099"/>
                  </a:cubicBezTo>
                  <a:cubicBezTo>
                    <a:pt x="650558" y="915670"/>
                    <a:pt x="651113" y="902335"/>
                    <a:pt x="651748" y="881301"/>
                  </a:cubicBezTo>
                  <a:cubicBezTo>
                    <a:pt x="652939" y="860981"/>
                    <a:pt x="652463" y="846772"/>
                    <a:pt x="650637" y="838914"/>
                  </a:cubicBezTo>
                  <a:cubicBezTo>
                    <a:pt x="650637" y="830977"/>
                    <a:pt x="649764" y="825897"/>
                    <a:pt x="648335" y="823516"/>
                  </a:cubicBezTo>
                  <a:cubicBezTo>
                    <a:pt x="646906" y="821372"/>
                    <a:pt x="642541" y="820102"/>
                    <a:pt x="634444" y="820102"/>
                  </a:cubicBezTo>
                  <a:lnTo>
                    <a:pt x="494744" y="820102"/>
                  </a:lnTo>
                  <a:cubicBezTo>
                    <a:pt x="474504" y="820102"/>
                    <a:pt x="464264" y="809784"/>
                    <a:pt x="464264" y="789226"/>
                  </a:cubicBezTo>
                  <a:cubicBezTo>
                    <a:pt x="464306" y="783158"/>
                    <a:pt x="463613" y="777108"/>
                    <a:pt x="462201" y="771208"/>
                  </a:cubicBezTo>
                  <a:cubicBezTo>
                    <a:pt x="460691" y="763769"/>
                    <a:pt x="460691" y="756103"/>
                    <a:pt x="462201" y="748665"/>
                  </a:cubicBezTo>
                  <a:cubicBezTo>
                    <a:pt x="463947" y="740966"/>
                    <a:pt x="466328" y="733981"/>
                    <a:pt x="469265" y="727154"/>
                  </a:cubicBezTo>
                  <a:cubicBezTo>
                    <a:pt x="472361" y="721043"/>
                    <a:pt x="478552" y="718741"/>
                    <a:pt x="487839" y="720249"/>
                  </a:cubicBezTo>
                  <a:lnTo>
                    <a:pt x="643573" y="720249"/>
                  </a:lnTo>
                  <a:cubicBezTo>
                    <a:pt x="646589" y="720249"/>
                    <a:pt x="648176" y="716280"/>
                    <a:pt x="648176" y="708184"/>
                  </a:cubicBezTo>
                  <a:lnTo>
                    <a:pt x="648176" y="663257"/>
                  </a:lnTo>
                  <a:cubicBezTo>
                    <a:pt x="648176" y="655399"/>
                    <a:pt x="638889" y="651431"/>
                    <a:pt x="620474" y="651431"/>
                  </a:cubicBezTo>
                  <a:lnTo>
                    <a:pt x="485537" y="651431"/>
                  </a:lnTo>
                  <a:cubicBezTo>
                    <a:pt x="479187" y="651431"/>
                    <a:pt x="473948" y="651272"/>
                    <a:pt x="469186" y="650637"/>
                  </a:cubicBezTo>
                  <a:cubicBezTo>
                    <a:pt x="464264" y="649684"/>
                    <a:pt x="462121" y="645239"/>
                    <a:pt x="462121" y="637461"/>
                  </a:cubicBezTo>
                  <a:lnTo>
                    <a:pt x="462121" y="608806"/>
                  </a:lnTo>
                  <a:cubicBezTo>
                    <a:pt x="462121" y="596265"/>
                    <a:pt x="461248" y="586819"/>
                    <a:pt x="460058" y="580390"/>
                  </a:cubicBezTo>
                  <a:cubicBezTo>
                    <a:pt x="456562" y="571887"/>
                    <a:pt x="459312" y="562096"/>
                    <a:pt x="466725" y="556657"/>
                  </a:cubicBezTo>
                  <a:cubicBezTo>
                    <a:pt x="475390" y="550089"/>
                    <a:pt x="486112" y="546825"/>
                    <a:pt x="496967" y="547449"/>
                  </a:cubicBezTo>
                  <a:cubicBezTo>
                    <a:pt x="509349" y="549116"/>
                    <a:pt x="523161" y="549354"/>
                    <a:pt x="538083" y="548561"/>
                  </a:cubicBezTo>
                  <a:cubicBezTo>
                    <a:pt x="549315" y="547860"/>
                    <a:pt x="560564" y="547489"/>
                    <a:pt x="571818" y="547449"/>
                  </a:cubicBezTo>
                  <a:lnTo>
                    <a:pt x="599202" y="547449"/>
                  </a:lnTo>
                  <a:cubicBezTo>
                    <a:pt x="608648" y="547449"/>
                    <a:pt x="611981" y="544116"/>
                    <a:pt x="608648" y="537924"/>
                  </a:cubicBezTo>
                  <a:cubicBezTo>
                    <a:pt x="605869" y="534432"/>
                    <a:pt x="596424" y="522684"/>
                    <a:pt x="581104" y="502444"/>
                  </a:cubicBezTo>
                  <a:cubicBezTo>
                    <a:pt x="565309" y="481330"/>
                    <a:pt x="549116" y="460375"/>
                    <a:pt x="532051" y="438229"/>
                  </a:cubicBezTo>
                  <a:cubicBezTo>
                    <a:pt x="512048" y="411242"/>
                    <a:pt x="488315" y="381953"/>
                    <a:pt x="462201" y="350599"/>
                  </a:cubicBezTo>
                  <a:cubicBezTo>
                    <a:pt x="451406" y="333137"/>
                    <a:pt x="453946" y="318770"/>
                    <a:pt x="469265" y="307896"/>
                  </a:cubicBezTo>
                  <a:cubicBezTo>
                    <a:pt x="477809" y="302466"/>
                    <a:pt x="485905" y="296361"/>
                    <a:pt x="493474" y="289639"/>
                  </a:cubicBezTo>
                  <a:cubicBezTo>
                    <a:pt x="502126" y="282813"/>
                    <a:pt x="512048" y="275987"/>
                    <a:pt x="522923" y="269954"/>
                  </a:cubicBezTo>
                  <a:cubicBezTo>
                    <a:pt x="538163" y="260271"/>
                    <a:pt x="552847" y="268843"/>
                    <a:pt x="566817" y="295672"/>
                  </a:cubicBezTo>
                  <a:cubicBezTo>
                    <a:pt x="571818" y="302260"/>
                    <a:pt x="580628" y="313452"/>
                    <a:pt x="593804" y="330359"/>
                  </a:cubicBezTo>
                  <a:cubicBezTo>
                    <a:pt x="607139" y="347266"/>
                    <a:pt x="620792" y="364331"/>
                    <a:pt x="634444" y="383619"/>
                  </a:cubicBezTo>
                  <a:cubicBezTo>
                    <a:pt x="648256" y="402749"/>
                    <a:pt x="661591" y="419735"/>
                    <a:pt x="673973" y="434419"/>
                  </a:cubicBezTo>
                  <a:cubicBezTo>
                    <a:pt x="686514" y="449580"/>
                    <a:pt x="693341" y="459026"/>
                    <a:pt x="695246" y="462201"/>
                  </a:cubicBezTo>
                  <a:cubicBezTo>
                    <a:pt x="698183" y="468313"/>
                    <a:pt x="703739" y="472202"/>
                    <a:pt x="712311" y="473869"/>
                  </a:cubicBezTo>
                  <a:cubicBezTo>
                    <a:pt x="720884" y="475536"/>
                    <a:pt x="726996" y="472837"/>
                    <a:pt x="729933" y="466725"/>
                  </a:cubicBezTo>
                  <a:cubicBezTo>
                    <a:pt x="731441" y="463471"/>
                    <a:pt x="737711" y="453787"/>
                    <a:pt x="749697" y="436880"/>
                  </a:cubicBezTo>
                  <a:cubicBezTo>
                    <a:pt x="761206" y="420687"/>
                    <a:pt x="774382" y="402034"/>
                    <a:pt x="787956" y="381238"/>
                  </a:cubicBezTo>
                  <a:cubicBezTo>
                    <a:pt x="802084" y="360759"/>
                    <a:pt x="815102" y="341630"/>
                    <a:pt x="827484" y="323056"/>
                  </a:cubicBezTo>
                  <a:cubicBezTo>
                    <a:pt x="840105" y="304959"/>
                    <a:pt x="847804" y="293449"/>
                    <a:pt x="850900" y="289004"/>
                  </a:cubicBezTo>
                  <a:cubicBezTo>
                    <a:pt x="855974" y="280674"/>
                    <a:pt x="862603" y="273398"/>
                    <a:pt x="870426" y="267573"/>
                  </a:cubicBezTo>
                  <a:cubicBezTo>
                    <a:pt x="875903" y="264319"/>
                    <a:pt x="884714" y="265351"/>
                    <a:pt x="897414" y="269954"/>
                  </a:cubicBezTo>
                  <a:cubicBezTo>
                    <a:pt x="905193" y="272891"/>
                    <a:pt x="913844" y="277654"/>
                    <a:pt x="922655" y="283766"/>
                  </a:cubicBezTo>
                  <a:cubicBezTo>
                    <a:pt x="932259" y="290274"/>
                    <a:pt x="938451" y="295275"/>
                    <a:pt x="941308" y="298609"/>
                  </a:cubicBezTo>
                  <a:cubicBezTo>
                    <a:pt x="958294" y="315674"/>
                    <a:pt x="963057" y="330518"/>
                    <a:pt x="955119" y="343059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861597" y="3994847"/>
            <a:ext cx="216000" cy="234757"/>
            <a:chOff x="5395572" y="1689507"/>
            <a:chExt cx="1400855" cy="1522503"/>
          </a:xfrm>
          <a:solidFill>
            <a:schemeClr val="bg1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5395572" y="1689507"/>
              <a:ext cx="1400855" cy="1522503"/>
            </a:xfrm>
            <a:custGeom>
              <a:avLst/>
              <a:gdLst>
                <a:gd name="connsiteX0" fmla="*/ 669063 w 1400855"/>
                <a:gd name="connsiteY0" fmla="*/ 666342 h 1522503"/>
                <a:gd name="connsiteX1" fmla="*/ 710701 w 1400855"/>
                <a:gd name="connsiteY1" fmla="*/ 664301 h 1522503"/>
                <a:gd name="connsiteX2" fmla="*/ 1059044 w 1400855"/>
                <a:gd name="connsiteY2" fmla="*/ 571092 h 1522503"/>
                <a:gd name="connsiteX3" fmla="*/ 1149259 w 1400855"/>
                <a:gd name="connsiteY3" fmla="*/ 578848 h 1522503"/>
                <a:gd name="connsiteX4" fmla="*/ 1337854 w 1400855"/>
                <a:gd name="connsiteY4" fmla="*/ 380728 h 1522503"/>
                <a:gd name="connsiteX5" fmla="*/ 1337854 w 1400855"/>
                <a:gd name="connsiteY5" fmla="*/ 285478 h 1522503"/>
                <a:gd name="connsiteX6" fmla="*/ 669063 w 1400855"/>
                <a:gd name="connsiteY6" fmla="*/ 0 h 1522503"/>
                <a:gd name="connsiteX7" fmla="*/ 272 w 1400855"/>
                <a:gd name="connsiteY7" fmla="*/ 285478 h 1522503"/>
                <a:gd name="connsiteX8" fmla="*/ 272 w 1400855"/>
                <a:gd name="connsiteY8" fmla="*/ 380728 h 1522503"/>
                <a:gd name="connsiteX9" fmla="*/ 669063 w 1400855"/>
                <a:gd name="connsiteY9" fmla="*/ 666478 h 1522503"/>
                <a:gd name="connsiteX10" fmla="*/ 771117 w 1400855"/>
                <a:gd name="connsiteY10" fmla="*/ 812755 h 1522503"/>
                <a:gd name="connsiteX11" fmla="*/ 899500 w 1400855"/>
                <a:gd name="connsiteY11" fmla="*/ 941410 h 1522503"/>
                <a:gd name="connsiteX12" fmla="*/ 1028156 w 1400855"/>
                <a:gd name="connsiteY12" fmla="*/ 813027 h 1522503"/>
                <a:gd name="connsiteX13" fmla="*/ 899772 w 1400855"/>
                <a:gd name="connsiteY13" fmla="*/ 684371 h 1522503"/>
                <a:gd name="connsiteX14" fmla="*/ 771117 w 1400855"/>
                <a:gd name="connsiteY14" fmla="*/ 812755 h 1522503"/>
                <a:gd name="connsiteX15" fmla="*/ 942022 w 1400855"/>
                <a:gd name="connsiteY15" fmla="*/ 812755 h 1522503"/>
                <a:gd name="connsiteX16" fmla="*/ 897374 w 1400855"/>
                <a:gd name="connsiteY16" fmla="*/ 852606 h 1522503"/>
                <a:gd name="connsiteX17" fmla="*/ 857522 w 1400855"/>
                <a:gd name="connsiteY17" fmla="*/ 812755 h 1522503"/>
                <a:gd name="connsiteX18" fmla="*/ 903095 w 1400855"/>
                <a:gd name="connsiteY18" fmla="*/ 773963 h 1522503"/>
                <a:gd name="connsiteX19" fmla="*/ 941886 w 1400855"/>
                <a:gd name="connsiteY19" fmla="*/ 812755 h 1522503"/>
                <a:gd name="connsiteX20" fmla="*/ 1017678 w 1400855"/>
                <a:gd name="connsiteY20" fmla="*/ 1337446 h 1522503"/>
                <a:gd name="connsiteX21" fmla="*/ 1146062 w 1400855"/>
                <a:gd name="connsiteY21" fmla="*/ 1465966 h 1522503"/>
                <a:gd name="connsiteX22" fmla="*/ 1274581 w 1400855"/>
                <a:gd name="connsiteY22" fmla="*/ 1337582 h 1522503"/>
                <a:gd name="connsiteX23" fmla="*/ 1146198 w 1400855"/>
                <a:gd name="connsiteY23" fmla="*/ 1209063 h 1522503"/>
                <a:gd name="connsiteX24" fmla="*/ 1017678 w 1400855"/>
                <a:gd name="connsiteY24" fmla="*/ 1337446 h 1522503"/>
                <a:gd name="connsiteX25" fmla="*/ 1188448 w 1400855"/>
                <a:gd name="connsiteY25" fmla="*/ 1337446 h 1522503"/>
                <a:gd name="connsiteX26" fmla="*/ 1142875 w 1400855"/>
                <a:gd name="connsiteY26" fmla="*/ 1376237 h 1522503"/>
                <a:gd name="connsiteX27" fmla="*/ 1104084 w 1400855"/>
                <a:gd name="connsiteY27" fmla="*/ 1337446 h 1522503"/>
                <a:gd name="connsiteX28" fmla="*/ 1149657 w 1400855"/>
                <a:gd name="connsiteY28" fmla="*/ 1298655 h 1522503"/>
                <a:gd name="connsiteX29" fmla="*/ 1188448 w 1400855"/>
                <a:gd name="connsiteY29" fmla="*/ 1337446 h 1522503"/>
                <a:gd name="connsiteX30" fmla="*/ 530134 w 1400855"/>
                <a:gd name="connsiteY30" fmla="*/ 1355135 h 1522503"/>
                <a:gd name="connsiteX31" fmla="*/ 511493 w 1400855"/>
                <a:gd name="connsiteY31" fmla="*/ 1325472 h 1522503"/>
                <a:gd name="connsiteX32" fmla="*/ 0 w 1400855"/>
                <a:gd name="connsiteY32" fmla="*/ 1076597 h 1522503"/>
                <a:gd name="connsiteX33" fmla="*/ 0 w 1400855"/>
                <a:gd name="connsiteY33" fmla="*/ 1237162 h 1522503"/>
                <a:gd name="connsiteX34" fmla="*/ 59599 w 1400855"/>
                <a:gd name="connsiteY34" fmla="*/ 1354863 h 1522503"/>
                <a:gd name="connsiteX35" fmla="*/ 669063 w 1400855"/>
                <a:gd name="connsiteY35" fmla="*/ 1522503 h 1522503"/>
                <a:gd name="connsiteX36" fmla="*/ 705803 w 1400855"/>
                <a:gd name="connsiteY36" fmla="*/ 1520870 h 1522503"/>
                <a:gd name="connsiteX37" fmla="*/ 530134 w 1400855"/>
                <a:gd name="connsiteY37" fmla="*/ 1355135 h 1522503"/>
                <a:gd name="connsiteX38" fmla="*/ 700904 w 1400855"/>
                <a:gd name="connsiteY38" fmla="*/ 1317988 h 1522503"/>
                <a:gd name="connsiteX39" fmla="*/ 1306150 w 1400855"/>
                <a:gd name="connsiteY39" fmla="*/ 712742 h 1522503"/>
                <a:gd name="connsiteX40" fmla="*/ 1400855 w 1400855"/>
                <a:gd name="connsiteY40" fmla="*/ 807448 h 1522503"/>
                <a:gd name="connsiteX41" fmla="*/ 795610 w 1400855"/>
                <a:gd name="connsiteY41" fmla="*/ 1412694 h 1522503"/>
                <a:gd name="connsiteX42" fmla="*/ 700904 w 1400855"/>
                <a:gd name="connsiteY42" fmla="*/ 1317988 h 152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00855" h="1522503">
                  <a:moveTo>
                    <a:pt x="669063" y="666342"/>
                  </a:moveTo>
                  <a:cubicBezTo>
                    <a:pt x="683351" y="666342"/>
                    <a:pt x="696822" y="664709"/>
                    <a:pt x="710701" y="664301"/>
                  </a:cubicBezTo>
                  <a:cubicBezTo>
                    <a:pt x="816378" y="602609"/>
                    <a:pt x="936679" y="570419"/>
                    <a:pt x="1059044" y="571092"/>
                  </a:cubicBezTo>
                  <a:cubicBezTo>
                    <a:pt x="1090068" y="571092"/>
                    <a:pt x="1119596" y="575174"/>
                    <a:pt x="1149259" y="578848"/>
                  </a:cubicBezTo>
                  <a:cubicBezTo>
                    <a:pt x="1265464" y="527549"/>
                    <a:pt x="1337854" y="457744"/>
                    <a:pt x="1337854" y="380728"/>
                  </a:cubicBezTo>
                  <a:lnTo>
                    <a:pt x="1337854" y="285478"/>
                  </a:lnTo>
                  <a:cubicBezTo>
                    <a:pt x="1337854" y="127907"/>
                    <a:pt x="1038361" y="0"/>
                    <a:pt x="669063" y="0"/>
                  </a:cubicBezTo>
                  <a:cubicBezTo>
                    <a:pt x="299629" y="0"/>
                    <a:pt x="272" y="127907"/>
                    <a:pt x="272" y="285478"/>
                  </a:cubicBezTo>
                  <a:lnTo>
                    <a:pt x="272" y="380728"/>
                  </a:lnTo>
                  <a:cubicBezTo>
                    <a:pt x="272" y="538571"/>
                    <a:pt x="299765" y="666478"/>
                    <a:pt x="669063" y="666478"/>
                  </a:cubicBezTo>
                  <a:close/>
                  <a:moveTo>
                    <a:pt x="771117" y="812755"/>
                  </a:moveTo>
                  <a:cubicBezTo>
                    <a:pt x="771042" y="883734"/>
                    <a:pt x="828521" y="941335"/>
                    <a:pt x="899500" y="941410"/>
                  </a:cubicBezTo>
                  <a:cubicBezTo>
                    <a:pt x="970479" y="941485"/>
                    <a:pt x="1028080" y="884006"/>
                    <a:pt x="1028156" y="813027"/>
                  </a:cubicBezTo>
                  <a:cubicBezTo>
                    <a:pt x="1028231" y="742048"/>
                    <a:pt x="970752" y="684446"/>
                    <a:pt x="899772" y="684371"/>
                  </a:cubicBezTo>
                  <a:cubicBezTo>
                    <a:pt x="828793" y="684296"/>
                    <a:pt x="771192" y="741775"/>
                    <a:pt x="771117" y="812755"/>
                  </a:cubicBezTo>
                  <a:close/>
                  <a:moveTo>
                    <a:pt x="942022" y="812755"/>
                  </a:moveTo>
                  <a:cubicBezTo>
                    <a:pt x="940698" y="836089"/>
                    <a:pt x="920708" y="853931"/>
                    <a:pt x="897374" y="852606"/>
                  </a:cubicBezTo>
                  <a:cubicBezTo>
                    <a:pt x="875890" y="851387"/>
                    <a:pt x="858742" y="834239"/>
                    <a:pt x="857522" y="812755"/>
                  </a:cubicBezTo>
                  <a:cubicBezTo>
                    <a:pt x="859395" y="789458"/>
                    <a:pt x="879799" y="772091"/>
                    <a:pt x="903095" y="773963"/>
                  </a:cubicBezTo>
                  <a:cubicBezTo>
                    <a:pt x="923791" y="775627"/>
                    <a:pt x="940223" y="792059"/>
                    <a:pt x="941886" y="812755"/>
                  </a:cubicBezTo>
                  <a:close/>
                  <a:moveTo>
                    <a:pt x="1017678" y="1337446"/>
                  </a:moveTo>
                  <a:cubicBezTo>
                    <a:pt x="1017641" y="1408388"/>
                    <a:pt x="1075120" y="1465928"/>
                    <a:pt x="1146062" y="1465966"/>
                  </a:cubicBezTo>
                  <a:cubicBezTo>
                    <a:pt x="1217003" y="1466003"/>
                    <a:pt x="1274544" y="1408524"/>
                    <a:pt x="1274581" y="1337582"/>
                  </a:cubicBezTo>
                  <a:cubicBezTo>
                    <a:pt x="1274619" y="1266640"/>
                    <a:pt x="1217140" y="1209100"/>
                    <a:pt x="1146198" y="1209063"/>
                  </a:cubicBezTo>
                  <a:cubicBezTo>
                    <a:pt x="1075256" y="1209025"/>
                    <a:pt x="1017716" y="1266504"/>
                    <a:pt x="1017678" y="1337446"/>
                  </a:cubicBezTo>
                  <a:close/>
                  <a:moveTo>
                    <a:pt x="1188448" y="1337446"/>
                  </a:moveTo>
                  <a:cubicBezTo>
                    <a:pt x="1186575" y="1360743"/>
                    <a:pt x="1166171" y="1378110"/>
                    <a:pt x="1142875" y="1376237"/>
                  </a:cubicBezTo>
                  <a:cubicBezTo>
                    <a:pt x="1122179" y="1374574"/>
                    <a:pt x="1105747" y="1358142"/>
                    <a:pt x="1104084" y="1337446"/>
                  </a:cubicBezTo>
                  <a:cubicBezTo>
                    <a:pt x="1105956" y="1314150"/>
                    <a:pt x="1126360" y="1296782"/>
                    <a:pt x="1149657" y="1298655"/>
                  </a:cubicBezTo>
                  <a:cubicBezTo>
                    <a:pt x="1170352" y="1300319"/>
                    <a:pt x="1186784" y="1316750"/>
                    <a:pt x="1188448" y="1337446"/>
                  </a:cubicBezTo>
                  <a:close/>
                  <a:moveTo>
                    <a:pt x="530134" y="1355135"/>
                  </a:moveTo>
                  <a:cubicBezTo>
                    <a:pt x="523636" y="1345429"/>
                    <a:pt x="517420" y="1335537"/>
                    <a:pt x="511493" y="1325472"/>
                  </a:cubicBezTo>
                  <a:cubicBezTo>
                    <a:pt x="218531" y="1301523"/>
                    <a:pt x="0" y="1211172"/>
                    <a:pt x="0" y="1076597"/>
                  </a:cubicBezTo>
                  <a:lnTo>
                    <a:pt x="0" y="1237162"/>
                  </a:lnTo>
                  <a:cubicBezTo>
                    <a:pt x="0" y="1279208"/>
                    <a:pt x="21227" y="1319076"/>
                    <a:pt x="59599" y="1354863"/>
                  </a:cubicBezTo>
                  <a:cubicBezTo>
                    <a:pt x="164646" y="1453651"/>
                    <a:pt x="398009" y="1522503"/>
                    <a:pt x="669063" y="1522503"/>
                  </a:cubicBezTo>
                  <a:cubicBezTo>
                    <a:pt x="681718" y="1522503"/>
                    <a:pt x="693420" y="1521143"/>
                    <a:pt x="705803" y="1520870"/>
                  </a:cubicBezTo>
                  <a:cubicBezTo>
                    <a:pt x="635898" y="1479048"/>
                    <a:pt x="575951" y="1422490"/>
                    <a:pt x="530134" y="1355135"/>
                  </a:cubicBezTo>
                  <a:close/>
                  <a:moveTo>
                    <a:pt x="700904" y="1317988"/>
                  </a:moveTo>
                  <a:lnTo>
                    <a:pt x="1306150" y="712742"/>
                  </a:lnTo>
                  <a:lnTo>
                    <a:pt x="1400855" y="807448"/>
                  </a:lnTo>
                  <a:lnTo>
                    <a:pt x="795610" y="1412694"/>
                  </a:lnTo>
                  <a:lnTo>
                    <a:pt x="700904" y="13179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395980" y="2480355"/>
              <a:ext cx="466452" cy="431482"/>
            </a:xfrm>
            <a:custGeom>
              <a:avLst/>
              <a:gdLst>
                <a:gd name="connsiteX0" fmla="*/ 466453 w 466452"/>
                <a:gd name="connsiteY0" fmla="*/ 431482 h 431482"/>
                <a:gd name="connsiteX1" fmla="*/ 445906 w 466452"/>
                <a:gd name="connsiteY1" fmla="*/ 303575 h 431482"/>
                <a:gd name="connsiteX2" fmla="*/ 453118 w 466452"/>
                <a:gd name="connsiteY2" fmla="*/ 242751 h 431482"/>
                <a:gd name="connsiteX3" fmla="*/ 0 w 466452"/>
                <a:gd name="connsiteY3" fmla="*/ 0 h 431482"/>
                <a:gd name="connsiteX4" fmla="*/ 0 w 466452"/>
                <a:gd name="connsiteY4" fmla="*/ 160564 h 431482"/>
                <a:gd name="connsiteX5" fmla="*/ 466453 w 466452"/>
                <a:gd name="connsiteY5" fmla="*/ 431346 h 43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452" h="431482">
                  <a:moveTo>
                    <a:pt x="466453" y="431482"/>
                  </a:moveTo>
                  <a:cubicBezTo>
                    <a:pt x="453401" y="390077"/>
                    <a:pt x="446478" y="346985"/>
                    <a:pt x="445906" y="303575"/>
                  </a:cubicBezTo>
                  <a:cubicBezTo>
                    <a:pt x="445906" y="282620"/>
                    <a:pt x="450260" y="262890"/>
                    <a:pt x="453118" y="242751"/>
                  </a:cubicBezTo>
                  <a:cubicBezTo>
                    <a:pt x="190092" y="211999"/>
                    <a:pt x="0" y="125458"/>
                    <a:pt x="0" y="0"/>
                  </a:cubicBezTo>
                  <a:lnTo>
                    <a:pt x="0" y="160564"/>
                  </a:lnTo>
                  <a:cubicBezTo>
                    <a:pt x="0" y="288063"/>
                    <a:pt x="196623" y="394607"/>
                    <a:pt x="466453" y="43134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395844" y="2195149"/>
              <a:ext cx="592182" cy="432707"/>
            </a:xfrm>
            <a:custGeom>
              <a:avLst/>
              <a:gdLst>
                <a:gd name="connsiteX0" fmla="*/ 476930 w 592182"/>
                <a:gd name="connsiteY0" fmla="*/ 432707 h 432707"/>
                <a:gd name="connsiteX1" fmla="*/ 592183 w 592182"/>
                <a:gd name="connsiteY1" fmla="*/ 253093 h 432707"/>
                <a:gd name="connsiteX2" fmla="*/ 0 w 592182"/>
                <a:gd name="connsiteY2" fmla="*/ 0 h 432707"/>
                <a:gd name="connsiteX3" fmla="*/ 0 w 592182"/>
                <a:gd name="connsiteY3" fmla="*/ 160564 h 432707"/>
                <a:gd name="connsiteX4" fmla="*/ 476930 w 592182"/>
                <a:gd name="connsiteY4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82" h="432707">
                  <a:moveTo>
                    <a:pt x="476930" y="432707"/>
                  </a:moveTo>
                  <a:cubicBezTo>
                    <a:pt x="501423" y="365896"/>
                    <a:pt x="540612" y="305480"/>
                    <a:pt x="592183" y="253093"/>
                  </a:cubicBezTo>
                  <a:cubicBezTo>
                    <a:pt x="259352" y="240302"/>
                    <a:pt x="0" y="146413"/>
                    <a:pt x="0" y="0"/>
                  </a:cubicBezTo>
                  <a:lnTo>
                    <a:pt x="0" y="160564"/>
                  </a:lnTo>
                  <a:cubicBezTo>
                    <a:pt x="0" y="289424"/>
                    <a:pt x="201658" y="397192"/>
                    <a:pt x="476930" y="4327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40" name="图形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3597" y="1007172"/>
            <a:ext cx="252000" cy="2520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2694392" y="873125"/>
            <a:ext cx="4071790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Rectangle 75+"/>
          <p:cNvSpPr/>
          <p:nvPr/>
        </p:nvSpPr>
        <p:spPr>
          <a:xfrm>
            <a:off x="2694392" y="873125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文本框 94"/>
          <p:cNvSpPr txBox="1"/>
          <p:nvPr/>
        </p:nvSpPr>
        <p:spPr>
          <a:xfrm>
            <a:off x="4037790" y="9766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营收来源构成</a:t>
            </a:r>
          </a:p>
        </p:txBody>
      </p:sp>
      <p:graphicFrame>
        <p:nvGraphicFramePr>
          <p:cNvPr id="51" name="图表 50"/>
          <p:cNvGraphicFramePr/>
          <p:nvPr/>
        </p:nvGraphicFramePr>
        <p:xfrm>
          <a:off x="3736804" y="1609384"/>
          <a:ext cx="1937867" cy="1903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任意多边形: 形状 51"/>
          <p:cNvSpPr/>
          <p:nvPr/>
        </p:nvSpPr>
        <p:spPr>
          <a:xfrm>
            <a:off x="5395272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76+"/>
          <p:cNvSpPr/>
          <p:nvPr/>
        </p:nvSpPr>
        <p:spPr>
          <a:xfrm>
            <a:off x="5444371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76+"/>
          <p:cNvSpPr/>
          <p:nvPr/>
        </p:nvSpPr>
        <p:spPr>
          <a:xfrm flipH="1">
            <a:off x="2975450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76++"/>
          <p:cNvSpPr/>
          <p:nvPr/>
        </p:nvSpPr>
        <p:spPr>
          <a:xfrm flipH="1">
            <a:off x="2944640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836714" y="2866797"/>
            <a:ext cx="495328" cy="503816"/>
            <a:chOff x="5751632" y="2903033"/>
            <a:chExt cx="495328" cy="503816"/>
          </a:xfrm>
        </p:grpSpPr>
        <p:sp>
          <p:nvSpPr>
            <p:cNvPr id="64" name="文本框 80"/>
            <p:cNvSpPr txBox="1"/>
            <p:nvPr/>
          </p:nvSpPr>
          <p:spPr>
            <a:xfrm>
              <a:off x="5751632" y="2903033"/>
              <a:ext cx="46807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产品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TextBox 80+"/>
            <p:cNvSpPr txBox="1"/>
            <p:nvPr/>
          </p:nvSpPr>
          <p:spPr>
            <a:xfrm>
              <a:off x="5751632" y="3129850"/>
              <a:ext cx="49532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7" name="文本框 84"/>
          <p:cNvSpPr txBox="1"/>
          <p:nvPr/>
        </p:nvSpPr>
        <p:spPr>
          <a:xfrm>
            <a:off x="5836714" y="1651048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其他</a:t>
            </a:r>
          </a:p>
        </p:txBody>
      </p:sp>
      <p:sp>
        <p:nvSpPr>
          <p:cNvPr id="58" name="TextBox 80+"/>
          <p:cNvSpPr txBox="1"/>
          <p:nvPr/>
        </p:nvSpPr>
        <p:spPr>
          <a:xfrm>
            <a:off x="5836714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9" name="文本框 89"/>
          <p:cNvSpPr txBox="1"/>
          <p:nvPr/>
        </p:nvSpPr>
        <p:spPr>
          <a:xfrm>
            <a:off x="3182897" y="1651048"/>
            <a:ext cx="4728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TextBox 80+"/>
          <p:cNvSpPr txBox="1"/>
          <p:nvPr/>
        </p:nvSpPr>
        <p:spPr>
          <a:xfrm>
            <a:off x="3160455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1" name="TextBox 89+"/>
          <p:cNvSpPr txBox="1"/>
          <p:nvPr/>
        </p:nvSpPr>
        <p:spPr>
          <a:xfrm>
            <a:off x="3182897" y="2818344"/>
            <a:ext cx="4776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80++"/>
          <p:cNvSpPr txBox="1"/>
          <p:nvPr/>
        </p:nvSpPr>
        <p:spPr>
          <a:xfrm>
            <a:off x="3160455" y="3045161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图形 96"/>
          <p:cNvSpPr>
            <a:spLocks noChangeAspect="1"/>
          </p:cNvSpPr>
          <p:nvPr/>
        </p:nvSpPr>
        <p:spPr>
          <a:xfrm>
            <a:off x="4531387" y="2385351"/>
            <a:ext cx="396000" cy="396000"/>
          </a:xfrm>
          <a:custGeom>
            <a:avLst/>
            <a:gdLst>
              <a:gd name="connsiteX0" fmla="*/ 1238250 w 1619250"/>
              <a:gd name="connsiteY0" fmla="*/ 1619250 h 1619250"/>
              <a:gd name="connsiteX1" fmla="*/ 857250 w 1619250"/>
              <a:gd name="connsiteY1" fmla="*/ 1238250 h 1619250"/>
              <a:gd name="connsiteX2" fmla="*/ 1238250 w 1619250"/>
              <a:gd name="connsiteY2" fmla="*/ 857250 h 1619250"/>
              <a:gd name="connsiteX3" fmla="*/ 1619250 w 1619250"/>
              <a:gd name="connsiteY3" fmla="*/ 1238250 h 1619250"/>
              <a:gd name="connsiteX4" fmla="*/ 1238250 w 1619250"/>
              <a:gd name="connsiteY4" fmla="*/ 1619250 h 1619250"/>
              <a:gd name="connsiteX5" fmla="*/ 1428756 w 1619250"/>
              <a:gd name="connsiteY5" fmla="*/ 1260505 h 1619250"/>
              <a:gd name="connsiteX6" fmla="*/ 1392536 w 1619250"/>
              <a:gd name="connsiteY6" fmla="*/ 1237817 h 1619250"/>
              <a:gd name="connsiteX7" fmla="*/ 1282856 w 1619250"/>
              <a:gd name="connsiteY7" fmla="*/ 1237817 h 1619250"/>
              <a:gd name="connsiteX8" fmla="*/ 1416492 w 1619250"/>
              <a:gd name="connsiteY8" fmla="*/ 1112568 h 1619250"/>
              <a:gd name="connsiteX9" fmla="*/ 1416379 w 1619250"/>
              <a:gd name="connsiteY9" fmla="*/ 1058133 h 1619250"/>
              <a:gd name="connsiteX10" fmla="*/ 1358228 w 1619250"/>
              <a:gd name="connsiteY10" fmla="*/ 1058029 h 1619250"/>
              <a:gd name="connsiteX11" fmla="*/ 1237822 w 1619250"/>
              <a:gd name="connsiteY11" fmla="*/ 1170881 h 1619250"/>
              <a:gd name="connsiteX12" fmla="*/ 1117416 w 1619250"/>
              <a:gd name="connsiteY12" fmla="*/ 1058029 h 1619250"/>
              <a:gd name="connsiteX13" fmla="*/ 1059262 w 1619250"/>
              <a:gd name="connsiteY13" fmla="*/ 1058133 h 1619250"/>
              <a:gd name="connsiteX14" fmla="*/ 1059152 w 1619250"/>
              <a:gd name="connsiteY14" fmla="*/ 1112568 h 1619250"/>
              <a:gd name="connsiteX15" fmla="*/ 1192789 w 1619250"/>
              <a:gd name="connsiteY15" fmla="*/ 1237817 h 1619250"/>
              <a:gd name="connsiteX16" fmla="*/ 1083971 w 1619250"/>
              <a:gd name="connsiteY16" fmla="*/ 1237817 h 1619250"/>
              <a:gd name="connsiteX17" fmla="*/ 1047752 w 1619250"/>
              <a:gd name="connsiteY17" fmla="*/ 1260505 h 1619250"/>
              <a:gd name="connsiteX18" fmla="*/ 1047752 w 1619250"/>
              <a:gd name="connsiteY18" fmla="*/ 1262872 h 1619250"/>
              <a:gd name="connsiteX19" fmla="*/ 1083971 w 1619250"/>
              <a:gd name="connsiteY19" fmla="*/ 1285561 h 1619250"/>
              <a:gd name="connsiteX20" fmla="*/ 1190737 w 1619250"/>
              <a:gd name="connsiteY20" fmla="*/ 1285561 h 1619250"/>
              <a:gd name="connsiteX21" fmla="*/ 1190627 w 1619250"/>
              <a:gd name="connsiteY21" fmla="*/ 1285875 h 1619250"/>
              <a:gd name="connsiteX22" fmla="*/ 1190860 w 1619250"/>
              <a:gd name="connsiteY22" fmla="*/ 1333500 h 1619250"/>
              <a:gd name="connsiteX23" fmla="*/ 1119188 w 1619250"/>
              <a:gd name="connsiteY23" fmla="*/ 1333500 h 1619250"/>
              <a:gd name="connsiteX24" fmla="*/ 1095375 w 1619250"/>
              <a:gd name="connsiteY24" fmla="*/ 1357313 h 1619250"/>
              <a:gd name="connsiteX25" fmla="*/ 1119188 w 1619250"/>
              <a:gd name="connsiteY25" fmla="*/ 1381125 h 1619250"/>
              <a:gd name="connsiteX26" fmla="*/ 1191092 w 1619250"/>
              <a:gd name="connsiteY26" fmla="*/ 1381125 h 1619250"/>
              <a:gd name="connsiteX27" fmla="*/ 1191358 w 1619250"/>
              <a:gd name="connsiteY27" fmla="*/ 1435393 h 1619250"/>
              <a:gd name="connsiteX28" fmla="*/ 1238250 w 1619250"/>
              <a:gd name="connsiteY28" fmla="*/ 1476375 h 1619250"/>
              <a:gd name="connsiteX29" fmla="*/ 1285142 w 1619250"/>
              <a:gd name="connsiteY29" fmla="*/ 1435393 h 1619250"/>
              <a:gd name="connsiteX30" fmla="*/ 1285408 w 1619250"/>
              <a:gd name="connsiteY30" fmla="*/ 1381125 h 1619250"/>
              <a:gd name="connsiteX31" fmla="*/ 1357313 w 1619250"/>
              <a:gd name="connsiteY31" fmla="*/ 1381125 h 1619250"/>
              <a:gd name="connsiteX32" fmla="*/ 1381125 w 1619250"/>
              <a:gd name="connsiteY32" fmla="*/ 1357313 h 1619250"/>
              <a:gd name="connsiteX33" fmla="*/ 1357313 w 1619250"/>
              <a:gd name="connsiteY33" fmla="*/ 1333500 h 1619250"/>
              <a:gd name="connsiteX34" fmla="*/ 1285643 w 1619250"/>
              <a:gd name="connsiteY34" fmla="*/ 1333500 h 1619250"/>
              <a:gd name="connsiteX35" fmla="*/ 1285875 w 1619250"/>
              <a:gd name="connsiteY35" fmla="*/ 1285875 h 1619250"/>
              <a:gd name="connsiteX36" fmla="*/ 1285765 w 1619250"/>
              <a:gd name="connsiteY36" fmla="*/ 1285561 h 1619250"/>
              <a:gd name="connsiteX37" fmla="*/ 1392536 w 1619250"/>
              <a:gd name="connsiteY37" fmla="*/ 1285561 h 1619250"/>
              <a:gd name="connsiteX38" fmla="*/ 1428756 w 1619250"/>
              <a:gd name="connsiteY38" fmla="*/ 1262872 h 1619250"/>
              <a:gd name="connsiteX39" fmla="*/ 1428756 w 1619250"/>
              <a:gd name="connsiteY39" fmla="*/ 1260505 h 1619250"/>
              <a:gd name="connsiteX40" fmla="*/ 762000 w 1619250"/>
              <a:gd name="connsiteY40" fmla="*/ 1238250 h 1619250"/>
              <a:gd name="connsiteX41" fmla="*/ 771562 w 1619250"/>
              <a:gd name="connsiteY41" fmla="*/ 1333500 h 1619250"/>
              <a:gd name="connsiteX42" fmla="*/ 190500 w 1619250"/>
              <a:gd name="connsiteY42" fmla="*/ 1333500 h 1619250"/>
              <a:gd name="connsiteX43" fmla="*/ 0 w 1619250"/>
              <a:gd name="connsiteY43" fmla="*/ 1143000 h 1619250"/>
              <a:gd name="connsiteX44" fmla="*/ 0 w 1619250"/>
              <a:gd name="connsiteY44" fmla="*/ 190500 h 1619250"/>
              <a:gd name="connsiteX45" fmla="*/ 190500 w 1619250"/>
              <a:gd name="connsiteY45" fmla="*/ 0 h 1619250"/>
              <a:gd name="connsiteX46" fmla="*/ 1143000 w 1619250"/>
              <a:gd name="connsiteY46" fmla="*/ 0 h 1619250"/>
              <a:gd name="connsiteX47" fmla="*/ 1333500 w 1619250"/>
              <a:gd name="connsiteY47" fmla="*/ 190500 h 1619250"/>
              <a:gd name="connsiteX48" fmla="*/ 1333500 w 1619250"/>
              <a:gd name="connsiteY48" fmla="*/ 771562 h 1619250"/>
              <a:gd name="connsiteX49" fmla="*/ 1238250 w 1619250"/>
              <a:gd name="connsiteY49" fmla="*/ 762000 h 1619250"/>
              <a:gd name="connsiteX50" fmla="*/ 762000 w 1619250"/>
              <a:gd name="connsiteY50" fmla="*/ 1238250 h 1619250"/>
              <a:gd name="connsiteX51" fmla="*/ 1007235 w 1619250"/>
              <a:gd name="connsiteY51" fmla="*/ 267952 h 1619250"/>
              <a:gd name="connsiteX52" fmla="*/ 906203 w 1619250"/>
              <a:gd name="connsiteY52" fmla="*/ 267952 h 1619250"/>
              <a:gd name="connsiteX53" fmla="*/ 518932 w 1619250"/>
              <a:gd name="connsiteY53" fmla="*/ 655220 h 1619250"/>
              <a:gd name="connsiteX54" fmla="*/ 367390 w 1619250"/>
              <a:gd name="connsiteY54" fmla="*/ 503681 h 1619250"/>
              <a:gd name="connsiteX55" fmla="*/ 266363 w 1619250"/>
              <a:gd name="connsiteY55" fmla="*/ 503681 h 1619250"/>
              <a:gd name="connsiteX56" fmla="*/ 266363 w 1619250"/>
              <a:gd name="connsiteY56" fmla="*/ 604707 h 1619250"/>
              <a:gd name="connsiteX57" fmla="*/ 468418 w 1619250"/>
              <a:gd name="connsiteY57" fmla="*/ 806766 h 1619250"/>
              <a:gd name="connsiteX58" fmla="*/ 569450 w 1619250"/>
              <a:gd name="connsiteY58" fmla="*/ 806766 h 1619250"/>
              <a:gd name="connsiteX59" fmla="*/ 1007237 w 1619250"/>
              <a:gd name="connsiteY59" fmla="*/ 368978 h 1619250"/>
              <a:gd name="connsiteX60" fmla="*/ 1007235 w 1619250"/>
              <a:gd name="connsiteY60" fmla="*/ 267952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619250" h="1619250">
                <a:moveTo>
                  <a:pt x="1238250" y="1619250"/>
                </a:moveTo>
                <a:cubicBezTo>
                  <a:pt x="1027828" y="1619250"/>
                  <a:pt x="857250" y="1448671"/>
                  <a:pt x="857250" y="1238250"/>
                </a:cubicBezTo>
                <a:cubicBezTo>
                  <a:pt x="857250" y="1027829"/>
                  <a:pt x="1027829" y="857250"/>
                  <a:pt x="1238250" y="857250"/>
                </a:cubicBezTo>
                <a:cubicBezTo>
                  <a:pt x="1448671" y="857250"/>
                  <a:pt x="1619250" y="1027829"/>
                  <a:pt x="1619250" y="1238250"/>
                </a:cubicBezTo>
                <a:cubicBezTo>
                  <a:pt x="1619250" y="1448671"/>
                  <a:pt x="1448671" y="1619250"/>
                  <a:pt x="1238250" y="1619250"/>
                </a:cubicBezTo>
                <a:close/>
                <a:moveTo>
                  <a:pt x="1428756" y="1260505"/>
                </a:moveTo>
                <a:cubicBezTo>
                  <a:pt x="1428756" y="1247976"/>
                  <a:pt x="1412535" y="1237817"/>
                  <a:pt x="1392536" y="1237817"/>
                </a:cubicBezTo>
                <a:lnTo>
                  <a:pt x="1282856" y="1237817"/>
                </a:lnTo>
                <a:lnTo>
                  <a:pt x="1416492" y="1112568"/>
                </a:lnTo>
                <a:cubicBezTo>
                  <a:pt x="1432517" y="1097567"/>
                  <a:pt x="1432471" y="1073192"/>
                  <a:pt x="1416379" y="1058133"/>
                </a:cubicBezTo>
                <a:cubicBezTo>
                  <a:pt x="1400290" y="1043073"/>
                  <a:pt x="1374255" y="1043027"/>
                  <a:pt x="1358228" y="1058029"/>
                </a:cubicBezTo>
                <a:lnTo>
                  <a:pt x="1237822" y="1170881"/>
                </a:lnTo>
                <a:lnTo>
                  <a:pt x="1117416" y="1058029"/>
                </a:lnTo>
                <a:cubicBezTo>
                  <a:pt x="1101386" y="1043027"/>
                  <a:pt x="1075354" y="1043075"/>
                  <a:pt x="1059262" y="1058133"/>
                </a:cubicBezTo>
                <a:cubicBezTo>
                  <a:pt x="1043174" y="1073192"/>
                  <a:pt x="1043122" y="1097567"/>
                  <a:pt x="1059152" y="1112568"/>
                </a:cubicBezTo>
                <a:lnTo>
                  <a:pt x="1192789" y="1237817"/>
                </a:lnTo>
                <a:lnTo>
                  <a:pt x="1083971" y="1237817"/>
                </a:lnTo>
                <a:cubicBezTo>
                  <a:pt x="1063963" y="1237817"/>
                  <a:pt x="1047752" y="1247974"/>
                  <a:pt x="1047752" y="1260505"/>
                </a:cubicBezTo>
                <a:lnTo>
                  <a:pt x="1047752" y="1262872"/>
                </a:lnTo>
                <a:cubicBezTo>
                  <a:pt x="1047752" y="1275407"/>
                  <a:pt x="1063963" y="1285561"/>
                  <a:pt x="1083971" y="1285561"/>
                </a:cubicBezTo>
                <a:lnTo>
                  <a:pt x="1190737" y="1285561"/>
                </a:lnTo>
                <a:cubicBezTo>
                  <a:pt x="1190737" y="1285689"/>
                  <a:pt x="1190627" y="1285747"/>
                  <a:pt x="1190627" y="1285875"/>
                </a:cubicBezTo>
                <a:lnTo>
                  <a:pt x="1190860" y="1333500"/>
                </a:lnTo>
                <a:lnTo>
                  <a:pt x="1119188" y="1333500"/>
                </a:lnTo>
                <a:cubicBezTo>
                  <a:pt x="1106033" y="1333500"/>
                  <a:pt x="1095375" y="1344158"/>
                  <a:pt x="1095375" y="1357313"/>
                </a:cubicBezTo>
                <a:cubicBezTo>
                  <a:pt x="1095375" y="1370467"/>
                  <a:pt x="1106033" y="1381125"/>
                  <a:pt x="1119188" y="1381125"/>
                </a:cubicBezTo>
                <a:lnTo>
                  <a:pt x="1191092" y="1381125"/>
                </a:lnTo>
                <a:lnTo>
                  <a:pt x="1191358" y="1435393"/>
                </a:lnTo>
                <a:cubicBezTo>
                  <a:pt x="1191358" y="1458025"/>
                  <a:pt x="1212350" y="1476375"/>
                  <a:pt x="1238250" y="1476375"/>
                </a:cubicBezTo>
                <a:cubicBezTo>
                  <a:pt x="1264148" y="1476375"/>
                  <a:pt x="1285142" y="1458025"/>
                  <a:pt x="1285142" y="1435393"/>
                </a:cubicBezTo>
                <a:lnTo>
                  <a:pt x="1285408" y="1381125"/>
                </a:lnTo>
                <a:lnTo>
                  <a:pt x="1357313" y="1381125"/>
                </a:lnTo>
                <a:cubicBezTo>
                  <a:pt x="1370462" y="1381125"/>
                  <a:pt x="1381125" y="1370467"/>
                  <a:pt x="1381125" y="1357313"/>
                </a:cubicBezTo>
                <a:cubicBezTo>
                  <a:pt x="1381125" y="1344158"/>
                  <a:pt x="1370462" y="1333500"/>
                  <a:pt x="1357313" y="1333500"/>
                </a:cubicBezTo>
                <a:lnTo>
                  <a:pt x="1285643" y="1333500"/>
                </a:lnTo>
                <a:lnTo>
                  <a:pt x="1285875" y="1285875"/>
                </a:lnTo>
                <a:cubicBezTo>
                  <a:pt x="1285875" y="1285747"/>
                  <a:pt x="1285765" y="1285689"/>
                  <a:pt x="1285765" y="1285561"/>
                </a:cubicBezTo>
                <a:lnTo>
                  <a:pt x="1392536" y="1285561"/>
                </a:lnTo>
                <a:cubicBezTo>
                  <a:pt x="1412533" y="1285561"/>
                  <a:pt x="1428756" y="1275407"/>
                  <a:pt x="1428756" y="1262872"/>
                </a:cubicBezTo>
                <a:lnTo>
                  <a:pt x="1428756" y="1260505"/>
                </a:lnTo>
                <a:close/>
                <a:moveTo>
                  <a:pt x="762000" y="1238250"/>
                </a:moveTo>
                <a:cubicBezTo>
                  <a:pt x="762000" y="1270873"/>
                  <a:pt x="765315" y="1302721"/>
                  <a:pt x="771562" y="1333500"/>
                </a:cubicBezTo>
                <a:lnTo>
                  <a:pt x="190500" y="1333500"/>
                </a:lnTo>
                <a:cubicBezTo>
                  <a:pt x="85286" y="1333500"/>
                  <a:pt x="0" y="1248214"/>
                  <a:pt x="0" y="1143000"/>
                </a:cubicBezTo>
                <a:lnTo>
                  <a:pt x="0" y="190500"/>
                </a:lnTo>
                <a:cubicBezTo>
                  <a:pt x="0" y="85292"/>
                  <a:pt x="85286" y="0"/>
                  <a:pt x="190500" y="0"/>
                </a:cubicBezTo>
                <a:lnTo>
                  <a:pt x="1143000" y="0"/>
                </a:lnTo>
                <a:cubicBezTo>
                  <a:pt x="1248209" y="0"/>
                  <a:pt x="1333500" y="85292"/>
                  <a:pt x="1333500" y="190500"/>
                </a:cubicBezTo>
                <a:lnTo>
                  <a:pt x="1333500" y="771562"/>
                </a:lnTo>
                <a:cubicBezTo>
                  <a:pt x="1302150" y="765198"/>
                  <a:pt x="1270240" y="761994"/>
                  <a:pt x="1238250" y="762000"/>
                </a:cubicBezTo>
                <a:cubicBezTo>
                  <a:pt x="975222" y="762000"/>
                  <a:pt x="762000" y="975222"/>
                  <a:pt x="762000" y="1238250"/>
                </a:cubicBezTo>
                <a:close/>
                <a:moveTo>
                  <a:pt x="1007235" y="267952"/>
                </a:moveTo>
                <a:cubicBezTo>
                  <a:pt x="979336" y="240054"/>
                  <a:pt x="934103" y="240054"/>
                  <a:pt x="906203" y="267952"/>
                </a:cubicBezTo>
                <a:lnTo>
                  <a:pt x="518932" y="655220"/>
                </a:lnTo>
                <a:lnTo>
                  <a:pt x="367390" y="503681"/>
                </a:lnTo>
                <a:cubicBezTo>
                  <a:pt x="339492" y="475783"/>
                  <a:pt x="294261" y="475783"/>
                  <a:pt x="266363" y="503681"/>
                </a:cubicBezTo>
                <a:cubicBezTo>
                  <a:pt x="238465" y="531579"/>
                  <a:pt x="238465" y="576809"/>
                  <a:pt x="266363" y="604707"/>
                </a:cubicBezTo>
                <a:lnTo>
                  <a:pt x="468418" y="806766"/>
                </a:lnTo>
                <a:cubicBezTo>
                  <a:pt x="496316" y="834665"/>
                  <a:pt x="541550" y="834665"/>
                  <a:pt x="569450" y="806766"/>
                </a:cubicBezTo>
                <a:lnTo>
                  <a:pt x="1007237" y="368978"/>
                </a:lnTo>
                <a:cubicBezTo>
                  <a:pt x="1035129" y="341081"/>
                  <a:pt x="1035129" y="295846"/>
                  <a:pt x="1007235" y="267952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Rectangle 75+"/>
          <p:cNvSpPr/>
          <p:nvPr/>
        </p:nvSpPr>
        <p:spPr>
          <a:xfrm>
            <a:off x="7001536" y="873125"/>
            <a:ext cx="4755587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Rectangle 75++"/>
          <p:cNvSpPr/>
          <p:nvPr/>
        </p:nvSpPr>
        <p:spPr>
          <a:xfrm>
            <a:off x="7001536" y="873125"/>
            <a:ext cx="4755587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8" name="TextBox 94+"/>
          <p:cNvSpPr txBox="1"/>
          <p:nvPr/>
        </p:nvSpPr>
        <p:spPr>
          <a:xfrm>
            <a:off x="7994335" y="976687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各季度不同产品的利润占比</a:t>
            </a:r>
          </a:p>
        </p:txBody>
      </p:sp>
      <p:graphicFrame>
        <p:nvGraphicFramePr>
          <p:cNvPr id="69" name="图表 68"/>
          <p:cNvGraphicFramePr/>
          <p:nvPr/>
        </p:nvGraphicFramePr>
        <p:xfrm>
          <a:off x="7117152" y="1460810"/>
          <a:ext cx="4524354" cy="226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0" name="Rectangle 75++"/>
          <p:cNvSpPr/>
          <p:nvPr/>
        </p:nvSpPr>
        <p:spPr>
          <a:xfrm>
            <a:off x="6987297" y="3915686"/>
            <a:ext cx="4761791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Rectangle 75+++"/>
          <p:cNvSpPr/>
          <p:nvPr/>
        </p:nvSpPr>
        <p:spPr>
          <a:xfrm>
            <a:off x="6987297" y="3915686"/>
            <a:ext cx="4761791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94++"/>
          <p:cNvSpPr txBox="1"/>
          <p:nvPr/>
        </p:nvSpPr>
        <p:spPr>
          <a:xfrm>
            <a:off x="8675695" y="401924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月度营收波动</a:t>
            </a:r>
          </a:p>
        </p:txBody>
      </p:sp>
      <p:graphicFrame>
        <p:nvGraphicFramePr>
          <p:cNvPr id="73" name="图表 72"/>
          <p:cNvGraphicFramePr/>
          <p:nvPr/>
        </p:nvGraphicFramePr>
        <p:xfrm>
          <a:off x="7117926" y="4521499"/>
          <a:ext cx="4515546" cy="197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4" name="Rectangle 75++"/>
          <p:cNvSpPr/>
          <p:nvPr/>
        </p:nvSpPr>
        <p:spPr>
          <a:xfrm>
            <a:off x="2687272" y="3913419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TextBox 94+"/>
          <p:cNvSpPr txBox="1"/>
          <p:nvPr/>
        </p:nvSpPr>
        <p:spPr>
          <a:xfrm>
            <a:off x="4030670" y="401698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季度利润波动</a:t>
            </a:r>
          </a:p>
        </p:txBody>
      </p:sp>
      <p:graphicFrame>
        <p:nvGraphicFramePr>
          <p:cNvPr id="77" name="图表 76"/>
          <p:cNvGraphicFramePr/>
          <p:nvPr/>
        </p:nvGraphicFramePr>
        <p:xfrm>
          <a:off x="2592345" y="4509544"/>
          <a:ext cx="4435248" cy="1926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2" name="图形 49"/>
          <p:cNvSpPr>
            <a:spLocks noChangeAspect="1"/>
          </p:cNvSpPr>
          <p:nvPr/>
        </p:nvSpPr>
        <p:spPr>
          <a:xfrm>
            <a:off x="1861597" y="5554627"/>
            <a:ext cx="216000" cy="215979"/>
          </a:xfrm>
          <a:custGeom>
            <a:avLst/>
            <a:gdLst>
              <a:gd name="connsiteX0" fmla="*/ 836895 w 1855479"/>
              <a:gd name="connsiteY0" fmla="*/ 362912 h 1855308"/>
              <a:gd name="connsiteX1" fmla="*/ 1025957 w 1855479"/>
              <a:gd name="connsiteY1" fmla="*/ 543468 h 1855308"/>
              <a:gd name="connsiteX2" fmla="*/ 1025490 w 1855479"/>
              <a:gd name="connsiteY2" fmla="*/ 543858 h 1855308"/>
              <a:gd name="connsiteX3" fmla="*/ 1081507 w 1855479"/>
              <a:gd name="connsiteY3" fmla="*/ 597294 h 1855308"/>
              <a:gd name="connsiteX4" fmla="*/ 1081897 w 1855479"/>
              <a:gd name="connsiteY4" fmla="*/ 596979 h 1855308"/>
              <a:gd name="connsiteX5" fmla="*/ 1083526 w 1855479"/>
              <a:gd name="connsiteY5" fmla="*/ 598532 h 1855308"/>
              <a:gd name="connsiteX6" fmla="*/ 1103976 w 1855479"/>
              <a:gd name="connsiteY6" fmla="*/ 577348 h 1855308"/>
              <a:gd name="connsiteX7" fmla="*/ 1661893 w 1855479"/>
              <a:gd name="connsiteY7" fmla="*/ 186709 h 1855308"/>
              <a:gd name="connsiteX8" fmla="*/ 1661893 w 1855479"/>
              <a:gd name="connsiteY8" fmla="*/ 366017 h 1855308"/>
              <a:gd name="connsiteX9" fmla="*/ 1739379 w 1855479"/>
              <a:gd name="connsiteY9" fmla="*/ 366017 h 1855308"/>
              <a:gd name="connsiteX10" fmla="*/ 1739379 w 1855479"/>
              <a:gd name="connsiteY10" fmla="*/ 65370 h 1855308"/>
              <a:gd name="connsiteX11" fmla="*/ 1737598 w 1855479"/>
              <a:gd name="connsiteY11" fmla="*/ 65370 h 1855308"/>
              <a:gd name="connsiteX12" fmla="*/ 1737598 w 1855479"/>
              <a:gd name="connsiteY12" fmla="*/ 53921 h 1855308"/>
              <a:gd name="connsiteX13" fmla="*/ 1431550 w 1855479"/>
              <a:gd name="connsiteY13" fmla="*/ 53921 h 1855308"/>
              <a:gd name="connsiteX14" fmla="*/ 1431550 w 1855479"/>
              <a:gd name="connsiteY14" fmla="*/ 131245 h 1855308"/>
              <a:gd name="connsiteX15" fmla="*/ 1608134 w 1855479"/>
              <a:gd name="connsiteY15" fmla="*/ 131245 h 1855308"/>
              <a:gd name="connsiteX16" fmla="*/ 1083764 w 1855479"/>
              <a:gd name="connsiteY16" fmla="*/ 491728 h 1855308"/>
              <a:gd name="connsiteX17" fmla="*/ 853707 w 1855479"/>
              <a:gd name="connsiteY17" fmla="*/ 271901 h 1855308"/>
              <a:gd name="connsiteX18" fmla="*/ 839067 w 1855479"/>
              <a:gd name="connsiteY18" fmla="*/ 255975 h 1855308"/>
              <a:gd name="connsiteX19" fmla="*/ 256184 w 1855479"/>
              <a:gd name="connsiteY19" fmla="*/ 693001 h 1855308"/>
              <a:gd name="connsiteX20" fmla="*/ 308562 w 1855479"/>
              <a:gd name="connsiteY20" fmla="*/ 749913 h 1855308"/>
              <a:gd name="connsiteX21" fmla="*/ 836895 w 1855479"/>
              <a:gd name="connsiteY21" fmla="*/ 362912 h 1855308"/>
              <a:gd name="connsiteX22" fmla="*/ 1783090 w 1855479"/>
              <a:gd name="connsiteY22" fmla="*/ 1705994 h 1855308"/>
              <a:gd name="connsiteX23" fmla="*/ 1782004 w 1855479"/>
              <a:gd name="connsiteY23" fmla="*/ 1706147 h 1855308"/>
              <a:gd name="connsiteX24" fmla="*/ 1782004 w 1855479"/>
              <a:gd name="connsiteY24" fmla="*/ 1699422 h 1855308"/>
              <a:gd name="connsiteX25" fmla="*/ 154962 w 1855479"/>
              <a:gd name="connsiteY25" fmla="*/ 1699422 h 1855308"/>
              <a:gd name="connsiteX26" fmla="*/ 154962 w 1855479"/>
              <a:gd name="connsiteY26" fmla="*/ 86763 h 1855308"/>
              <a:gd name="connsiteX27" fmla="*/ 156200 w 1855479"/>
              <a:gd name="connsiteY27" fmla="*/ 74619 h 1855308"/>
              <a:gd name="connsiteX28" fmla="*/ 81439 w 1855479"/>
              <a:gd name="connsiteY28" fmla="*/ 0 h 1855308"/>
              <a:gd name="connsiteX29" fmla="*/ 6658 w 1855479"/>
              <a:gd name="connsiteY29" fmla="*/ 74609 h 1855308"/>
              <a:gd name="connsiteX30" fmla="*/ 6658 w 1855479"/>
              <a:gd name="connsiteY30" fmla="*/ 74619 h 1855308"/>
              <a:gd name="connsiteX31" fmla="*/ 6734 w 1855479"/>
              <a:gd name="connsiteY31" fmla="*/ 75705 h 1855308"/>
              <a:gd name="connsiteX32" fmla="*/ 0 w 1855479"/>
              <a:gd name="connsiteY32" fmla="*/ 75705 h 1855308"/>
              <a:gd name="connsiteX33" fmla="*/ 0 w 1855479"/>
              <a:gd name="connsiteY33" fmla="*/ 1784014 h 1855308"/>
              <a:gd name="connsiteX34" fmla="*/ 1391 w 1855479"/>
              <a:gd name="connsiteY34" fmla="*/ 1784014 h 1855308"/>
              <a:gd name="connsiteX35" fmla="*/ 75543 w 1855479"/>
              <a:gd name="connsiteY35" fmla="*/ 1855308 h 1855308"/>
              <a:gd name="connsiteX36" fmla="*/ 87706 w 1855479"/>
              <a:gd name="connsiteY36" fmla="*/ 1854070 h 1855308"/>
              <a:gd name="connsiteX37" fmla="*/ 1770840 w 1855479"/>
              <a:gd name="connsiteY37" fmla="*/ 1854070 h 1855308"/>
              <a:gd name="connsiteX38" fmla="*/ 1783004 w 1855479"/>
              <a:gd name="connsiteY38" fmla="*/ 1855308 h 1855308"/>
              <a:gd name="connsiteX39" fmla="*/ 1855441 w 1855479"/>
              <a:gd name="connsiteY39" fmla="*/ 1778289 h 1855308"/>
              <a:gd name="connsiteX40" fmla="*/ 1783090 w 1855479"/>
              <a:gd name="connsiteY40" fmla="*/ 1705994 h 1855308"/>
              <a:gd name="connsiteX41" fmla="*/ 1720901 w 1855479"/>
              <a:gd name="connsiteY41" fmla="*/ 616763 h 1855308"/>
              <a:gd name="connsiteX42" fmla="*/ 1328738 w 1855479"/>
              <a:gd name="connsiteY42" fmla="*/ 616763 h 1855308"/>
              <a:gd name="connsiteX43" fmla="*/ 1308611 w 1855479"/>
              <a:gd name="connsiteY43" fmla="*/ 636822 h 1855308"/>
              <a:gd name="connsiteX44" fmla="*/ 1308611 w 1855479"/>
              <a:gd name="connsiteY44" fmla="*/ 1579521 h 1855308"/>
              <a:gd name="connsiteX45" fmla="*/ 1328737 w 1855479"/>
              <a:gd name="connsiteY45" fmla="*/ 1599581 h 1855308"/>
              <a:gd name="connsiteX46" fmla="*/ 1720901 w 1855479"/>
              <a:gd name="connsiteY46" fmla="*/ 1599581 h 1855308"/>
              <a:gd name="connsiteX47" fmla="*/ 1741027 w 1855479"/>
              <a:gd name="connsiteY47" fmla="*/ 1579521 h 1855308"/>
              <a:gd name="connsiteX48" fmla="*/ 1741027 w 1855479"/>
              <a:gd name="connsiteY48" fmla="*/ 636822 h 1855308"/>
              <a:gd name="connsiteX49" fmla="*/ 1720901 w 1855479"/>
              <a:gd name="connsiteY49" fmla="*/ 616763 h 1855308"/>
              <a:gd name="connsiteX50" fmla="*/ 800233 w 1855479"/>
              <a:gd name="connsiteY50" fmla="*/ 867480 h 1855308"/>
              <a:gd name="connsiteX51" fmla="*/ 780107 w 1855479"/>
              <a:gd name="connsiteY51" fmla="*/ 887540 h 1855308"/>
              <a:gd name="connsiteX52" fmla="*/ 780107 w 1855479"/>
              <a:gd name="connsiteY52" fmla="*/ 1579521 h 1855308"/>
              <a:gd name="connsiteX53" fmla="*/ 800233 w 1855479"/>
              <a:gd name="connsiteY53" fmla="*/ 1599581 h 1855308"/>
              <a:gd name="connsiteX54" fmla="*/ 1192397 w 1855479"/>
              <a:gd name="connsiteY54" fmla="*/ 1599581 h 1855308"/>
              <a:gd name="connsiteX55" fmla="*/ 1212523 w 1855479"/>
              <a:gd name="connsiteY55" fmla="*/ 1579521 h 1855308"/>
              <a:gd name="connsiteX56" fmla="*/ 1212523 w 1855479"/>
              <a:gd name="connsiteY56" fmla="*/ 887540 h 1855308"/>
              <a:gd name="connsiteX57" fmla="*/ 1192397 w 1855479"/>
              <a:gd name="connsiteY57" fmla="*/ 867480 h 1855308"/>
              <a:gd name="connsiteX58" fmla="*/ 800233 w 1855479"/>
              <a:gd name="connsiteY58" fmla="*/ 867480 h 1855308"/>
              <a:gd name="connsiteX59" fmla="*/ 271720 w 1855479"/>
              <a:gd name="connsiteY59" fmla="*/ 1599571 h 1855308"/>
              <a:gd name="connsiteX60" fmla="*/ 663883 w 1855479"/>
              <a:gd name="connsiteY60" fmla="*/ 1599571 h 1855308"/>
              <a:gd name="connsiteX61" fmla="*/ 684009 w 1855479"/>
              <a:gd name="connsiteY61" fmla="*/ 1579512 h 1855308"/>
              <a:gd name="connsiteX62" fmla="*/ 684009 w 1855479"/>
              <a:gd name="connsiteY62" fmla="*/ 1138247 h 1855308"/>
              <a:gd name="connsiteX63" fmla="*/ 663883 w 1855479"/>
              <a:gd name="connsiteY63" fmla="*/ 1118187 h 1855308"/>
              <a:gd name="connsiteX64" fmla="*/ 271720 w 1855479"/>
              <a:gd name="connsiteY64" fmla="*/ 1118187 h 1855308"/>
              <a:gd name="connsiteX65" fmla="*/ 251593 w 1855479"/>
              <a:gd name="connsiteY65" fmla="*/ 1138247 h 1855308"/>
              <a:gd name="connsiteX66" fmla="*/ 251593 w 1855479"/>
              <a:gd name="connsiteY66" fmla="*/ 1579512 h 1855308"/>
              <a:gd name="connsiteX67" fmla="*/ 271720 w 1855479"/>
              <a:gd name="connsiteY67" fmla="*/ 1599571 h 1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55479" h="1855308">
                <a:moveTo>
                  <a:pt x="836895" y="362912"/>
                </a:moveTo>
                <a:lnTo>
                  <a:pt x="1025957" y="543468"/>
                </a:lnTo>
                <a:lnTo>
                  <a:pt x="1025490" y="543858"/>
                </a:lnTo>
                <a:lnTo>
                  <a:pt x="1081507" y="597294"/>
                </a:lnTo>
                <a:lnTo>
                  <a:pt x="1081897" y="596979"/>
                </a:lnTo>
                <a:lnTo>
                  <a:pt x="1083526" y="598532"/>
                </a:lnTo>
                <a:lnTo>
                  <a:pt x="1103976" y="577348"/>
                </a:lnTo>
                <a:lnTo>
                  <a:pt x="1661893" y="186709"/>
                </a:lnTo>
                <a:lnTo>
                  <a:pt x="1661893" y="366017"/>
                </a:lnTo>
                <a:lnTo>
                  <a:pt x="1739379" y="366017"/>
                </a:lnTo>
                <a:lnTo>
                  <a:pt x="1739379" y="65370"/>
                </a:lnTo>
                <a:lnTo>
                  <a:pt x="1737598" y="65370"/>
                </a:lnTo>
                <a:lnTo>
                  <a:pt x="1737598" y="53921"/>
                </a:lnTo>
                <a:lnTo>
                  <a:pt x="1431550" y="53921"/>
                </a:lnTo>
                <a:lnTo>
                  <a:pt x="1431550" y="131245"/>
                </a:lnTo>
                <a:lnTo>
                  <a:pt x="1608134" y="131245"/>
                </a:lnTo>
                <a:lnTo>
                  <a:pt x="1083764" y="491728"/>
                </a:lnTo>
                <a:lnTo>
                  <a:pt x="853707" y="271901"/>
                </a:lnTo>
                <a:lnTo>
                  <a:pt x="839067" y="255975"/>
                </a:lnTo>
                <a:lnTo>
                  <a:pt x="256184" y="693001"/>
                </a:lnTo>
                <a:lnTo>
                  <a:pt x="308562" y="749913"/>
                </a:lnTo>
                <a:lnTo>
                  <a:pt x="836895" y="362912"/>
                </a:lnTo>
                <a:close/>
                <a:moveTo>
                  <a:pt x="1783090" y="1705994"/>
                </a:moveTo>
                <a:lnTo>
                  <a:pt x="1782004" y="1706147"/>
                </a:lnTo>
                <a:lnTo>
                  <a:pt x="1782004" y="1699422"/>
                </a:lnTo>
                <a:lnTo>
                  <a:pt x="154962" y="1699422"/>
                </a:lnTo>
                <a:lnTo>
                  <a:pt x="154962" y="86763"/>
                </a:lnTo>
                <a:cubicBezTo>
                  <a:pt x="155696" y="82753"/>
                  <a:pt x="156115" y="78696"/>
                  <a:pt x="156200" y="74619"/>
                </a:cubicBezTo>
                <a:cubicBezTo>
                  <a:pt x="156200" y="33414"/>
                  <a:pt x="122730" y="0"/>
                  <a:pt x="81439" y="0"/>
                </a:cubicBezTo>
                <a:cubicBezTo>
                  <a:pt x="40148" y="0"/>
                  <a:pt x="6668" y="33395"/>
                  <a:pt x="6658" y="74609"/>
                </a:cubicBezTo>
                <a:lnTo>
                  <a:pt x="6658" y="74619"/>
                </a:lnTo>
                <a:lnTo>
                  <a:pt x="6734" y="75705"/>
                </a:lnTo>
                <a:lnTo>
                  <a:pt x="0" y="75705"/>
                </a:lnTo>
                <a:lnTo>
                  <a:pt x="0" y="1784014"/>
                </a:lnTo>
                <a:lnTo>
                  <a:pt x="1391" y="1784014"/>
                </a:lnTo>
                <a:cubicBezTo>
                  <a:pt x="2972" y="1823771"/>
                  <a:pt x="35671" y="1855213"/>
                  <a:pt x="75543" y="1855308"/>
                </a:cubicBezTo>
                <a:cubicBezTo>
                  <a:pt x="79629" y="1855251"/>
                  <a:pt x="83696" y="1854832"/>
                  <a:pt x="87706" y="1854070"/>
                </a:cubicBezTo>
                <a:lnTo>
                  <a:pt x="1770840" y="1854070"/>
                </a:lnTo>
                <a:cubicBezTo>
                  <a:pt x="1774850" y="1854832"/>
                  <a:pt x="1778927" y="1855251"/>
                  <a:pt x="1783004" y="1855308"/>
                </a:cubicBezTo>
                <a:cubicBezTo>
                  <a:pt x="1824323" y="1854003"/>
                  <a:pt x="1856756" y="1819523"/>
                  <a:pt x="1855441" y="1778289"/>
                </a:cubicBezTo>
                <a:cubicBezTo>
                  <a:pt x="1854203" y="1738922"/>
                  <a:pt x="1822533" y="1707280"/>
                  <a:pt x="1783090" y="1705994"/>
                </a:cubicBezTo>
                <a:close/>
                <a:moveTo>
                  <a:pt x="1720901" y="616763"/>
                </a:moveTo>
                <a:lnTo>
                  <a:pt x="1328738" y="616763"/>
                </a:lnTo>
                <a:cubicBezTo>
                  <a:pt x="1317642" y="616747"/>
                  <a:pt x="1308632" y="625726"/>
                  <a:pt x="1308611" y="636822"/>
                </a:cubicBezTo>
                <a:lnTo>
                  <a:pt x="1308611" y="1579521"/>
                </a:lnTo>
                <a:cubicBezTo>
                  <a:pt x="1308632" y="1590617"/>
                  <a:pt x="1317642" y="1599597"/>
                  <a:pt x="1328737" y="1599581"/>
                </a:cubicBezTo>
                <a:lnTo>
                  <a:pt x="1720901" y="1599581"/>
                </a:lnTo>
                <a:cubicBezTo>
                  <a:pt x="1731997" y="1599597"/>
                  <a:pt x="1741006" y="1590617"/>
                  <a:pt x="1741027" y="1579521"/>
                </a:cubicBezTo>
                <a:lnTo>
                  <a:pt x="1741027" y="636822"/>
                </a:lnTo>
                <a:cubicBezTo>
                  <a:pt x="1741006" y="625726"/>
                  <a:pt x="1731997" y="616747"/>
                  <a:pt x="1720901" y="616763"/>
                </a:cubicBezTo>
                <a:close/>
                <a:moveTo>
                  <a:pt x="800233" y="867480"/>
                </a:moveTo>
                <a:cubicBezTo>
                  <a:pt x="789137" y="867464"/>
                  <a:pt x="780128" y="876444"/>
                  <a:pt x="780107" y="887540"/>
                </a:cubicBezTo>
                <a:lnTo>
                  <a:pt x="780107" y="1579521"/>
                </a:lnTo>
                <a:cubicBezTo>
                  <a:pt x="780128" y="1590617"/>
                  <a:pt x="789137" y="1599597"/>
                  <a:pt x="800233" y="1599581"/>
                </a:cubicBezTo>
                <a:lnTo>
                  <a:pt x="1192397" y="1599581"/>
                </a:lnTo>
                <a:cubicBezTo>
                  <a:pt x="1203493" y="1599597"/>
                  <a:pt x="1212502" y="1590617"/>
                  <a:pt x="1212523" y="1579521"/>
                </a:cubicBezTo>
                <a:lnTo>
                  <a:pt x="1212523" y="887540"/>
                </a:lnTo>
                <a:cubicBezTo>
                  <a:pt x="1212502" y="876444"/>
                  <a:pt x="1203493" y="867464"/>
                  <a:pt x="1192397" y="867480"/>
                </a:cubicBezTo>
                <a:lnTo>
                  <a:pt x="800233" y="867480"/>
                </a:lnTo>
                <a:close/>
                <a:moveTo>
                  <a:pt x="271720" y="1599571"/>
                </a:moveTo>
                <a:lnTo>
                  <a:pt x="663883" y="1599571"/>
                </a:lnTo>
                <a:cubicBezTo>
                  <a:pt x="674979" y="1599587"/>
                  <a:pt x="683988" y="1590608"/>
                  <a:pt x="684009" y="1579512"/>
                </a:cubicBezTo>
                <a:lnTo>
                  <a:pt x="684009" y="1138247"/>
                </a:lnTo>
                <a:cubicBezTo>
                  <a:pt x="683988" y="1127151"/>
                  <a:pt x="674979" y="1118172"/>
                  <a:pt x="663883" y="1118187"/>
                </a:cubicBezTo>
                <a:lnTo>
                  <a:pt x="271720" y="1118187"/>
                </a:lnTo>
                <a:cubicBezTo>
                  <a:pt x="260624" y="1118172"/>
                  <a:pt x="251614" y="1127151"/>
                  <a:pt x="251593" y="1138247"/>
                </a:cubicBezTo>
                <a:lnTo>
                  <a:pt x="251593" y="1579512"/>
                </a:lnTo>
                <a:cubicBezTo>
                  <a:pt x="251593" y="1590599"/>
                  <a:pt x="260604" y="1599571"/>
                  <a:pt x="271720" y="159957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+"/>
          <p:cNvSpPr/>
          <p:nvPr/>
        </p:nvSpPr>
        <p:spPr>
          <a:xfrm>
            <a:off x="445963" y="2634345"/>
            <a:ext cx="6728074" cy="3860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73257" y="2634346"/>
            <a:ext cx="4372781" cy="389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998786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财务成本费用分析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3118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03611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45962" y="3178628"/>
          <a:ext cx="6734400" cy="33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25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成本项目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占比</a:t>
                      </a: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同比变化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预算差异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1,856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+5.2%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1,432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+8.7%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营销费用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785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15.0%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623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+12.5%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+4.3%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管理费用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387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财务费用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154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-1.8%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+0.7%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合计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5,237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100%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+10.3%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-3.5%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264402" y="3178628"/>
          <a:ext cx="4680856" cy="334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8528957" y="2634345"/>
            <a:ext cx="2061381" cy="394314"/>
            <a:chOff x="8528957" y="3291113"/>
            <a:chExt cx="2061381" cy="394314"/>
          </a:xfrm>
        </p:grpSpPr>
        <p:sp>
          <p:nvSpPr>
            <p:cNvPr id="19" name="任意多边形: 形状 18"/>
            <p:cNvSpPr/>
            <p:nvPr/>
          </p:nvSpPr>
          <p:spPr>
            <a:xfrm>
              <a:off x="8528957" y="3291113"/>
              <a:ext cx="2061381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867150" y="3349771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部门成本分析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83455" y="2634345"/>
            <a:ext cx="2453090" cy="394314"/>
            <a:chOff x="2387601" y="2634345"/>
            <a:chExt cx="2453090" cy="394314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387601" y="2634345"/>
              <a:ext cx="2453090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806233" y="2693003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成本费用明细表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42913" y="875592"/>
            <a:ext cx="2016125" cy="1523084"/>
            <a:chOff x="442913" y="908050"/>
            <a:chExt cx="2016125" cy="1523084"/>
          </a:xfrm>
        </p:grpSpPr>
        <p:sp>
          <p:nvSpPr>
            <p:cNvPr id="27" name="矩形 26"/>
            <p:cNvSpPr/>
            <p:nvPr/>
          </p:nvSpPr>
          <p:spPr>
            <a:xfrm>
              <a:off x="442913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 flipH="1" flipV="1">
              <a:off x="442913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90834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总收入</a:t>
              </a: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758334" y="1523672"/>
              <a:ext cx="1385283" cy="430887"/>
              <a:chOff x="863474" y="1462839"/>
              <a:chExt cx="1385283" cy="430887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¥8,562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35" name="TextBox 28+"/>
            <p:cNvSpPr txBox="1"/>
            <p:nvPr/>
          </p:nvSpPr>
          <p:spPr>
            <a:xfrm>
              <a:off x="750825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36" name="TextBox 28++"/>
            <p:cNvSpPr txBox="1"/>
            <p:nvPr/>
          </p:nvSpPr>
          <p:spPr>
            <a:xfrm>
              <a:off x="1250661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12.5%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1933336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758334" y="1168396"/>
              <a:ext cx="252000" cy="280291"/>
              <a:chOff x="4233320" y="483918"/>
              <a:chExt cx="1705616" cy="1897103"/>
            </a:xfrm>
            <a:solidFill>
              <a:schemeClr val="accent1"/>
            </a:solidFill>
          </p:grpSpPr>
          <p:sp>
            <p:nvSpPr>
              <p:cNvPr id="42" name="任意多边形: 形状 41"/>
              <p:cNvSpPr/>
              <p:nvPr/>
            </p:nvSpPr>
            <p:spPr>
              <a:xfrm>
                <a:off x="4233320" y="483918"/>
                <a:ext cx="1705616" cy="1897103"/>
              </a:xfrm>
              <a:custGeom>
                <a:avLst/>
                <a:gdLst>
                  <a:gd name="connsiteX0" fmla="*/ 1484518 w 1705616"/>
                  <a:gd name="connsiteY0" fmla="*/ 657373 h 1897103"/>
                  <a:gd name="connsiteX1" fmla="*/ 1350280 w 1705616"/>
                  <a:gd name="connsiteY1" fmla="*/ 531031 h 1897103"/>
                  <a:gd name="connsiteX2" fmla="*/ 1484518 w 1705616"/>
                  <a:gd name="connsiteY2" fmla="*/ 325725 h 1897103"/>
                  <a:gd name="connsiteX3" fmla="*/ 1208145 w 1705616"/>
                  <a:gd name="connsiteY3" fmla="*/ 88834 h 1897103"/>
                  <a:gd name="connsiteX4" fmla="*/ 1113389 w 1705616"/>
                  <a:gd name="connsiteY4" fmla="*/ 104627 h 1897103"/>
                  <a:gd name="connsiteX5" fmla="*/ 1089700 w 1705616"/>
                  <a:gd name="connsiteY5" fmla="*/ 112523 h 1897103"/>
                  <a:gd name="connsiteX6" fmla="*/ 1042321 w 1705616"/>
                  <a:gd name="connsiteY6" fmla="*/ 65145 h 1897103"/>
                  <a:gd name="connsiteX7" fmla="*/ 702777 w 1705616"/>
                  <a:gd name="connsiteY7" fmla="*/ 65145 h 1897103"/>
                  <a:gd name="connsiteX8" fmla="*/ 655399 w 1705616"/>
                  <a:gd name="connsiteY8" fmla="*/ 128316 h 1897103"/>
                  <a:gd name="connsiteX9" fmla="*/ 631710 w 1705616"/>
                  <a:gd name="connsiteY9" fmla="*/ 120420 h 1897103"/>
                  <a:gd name="connsiteX10" fmla="*/ 536953 w 1705616"/>
                  <a:gd name="connsiteY10" fmla="*/ 96731 h 1897103"/>
                  <a:gd name="connsiteX11" fmla="*/ 260580 w 1705616"/>
                  <a:gd name="connsiteY11" fmla="*/ 333622 h 1897103"/>
                  <a:gd name="connsiteX12" fmla="*/ 363233 w 1705616"/>
                  <a:gd name="connsiteY12" fmla="*/ 515238 h 1897103"/>
                  <a:gd name="connsiteX13" fmla="*/ 221098 w 1705616"/>
                  <a:gd name="connsiteY13" fmla="*/ 641580 h 1897103"/>
                  <a:gd name="connsiteX14" fmla="*/ 0 w 1705616"/>
                  <a:gd name="connsiteY14" fmla="*/ 1139052 h 1897103"/>
                  <a:gd name="connsiteX15" fmla="*/ 844912 w 1705616"/>
                  <a:gd name="connsiteY15" fmla="*/ 1897104 h 1897103"/>
                  <a:gd name="connsiteX16" fmla="*/ 1373969 w 1705616"/>
                  <a:gd name="connsiteY16" fmla="*/ 1770762 h 1897103"/>
                  <a:gd name="connsiteX17" fmla="*/ 1705617 w 1705616"/>
                  <a:gd name="connsiteY17" fmla="*/ 1139052 h 1897103"/>
                  <a:gd name="connsiteX18" fmla="*/ 1484518 w 1705616"/>
                  <a:gd name="connsiteY18" fmla="*/ 657373 h 1897103"/>
                  <a:gd name="connsiteX19" fmla="*/ 465886 w 1705616"/>
                  <a:gd name="connsiteY19" fmla="*/ 641580 h 1897103"/>
                  <a:gd name="connsiteX20" fmla="*/ 505368 w 1705616"/>
                  <a:gd name="connsiteY20" fmla="*/ 609995 h 1897103"/>
                  <a:gd name="connsiteX21" fmla="*/ 521161 w 1705616"/>
                  <a:gd name="connsiteY21" fmla="*/ 602098 h 1897103"/>
                  <a:gd name="connsiteX22" fmla="*/ 576435 w 1705616"/>
                  <a:gd name="connsiteY22" fmla="*/ 507342 h 1897103"/>
                  <a:gd name="connsiteX23" fmla="*/ 529057 w 1705616"/>
                  <a:gd name="connsiteY23" fmla="*/ 428378 h 1897103"/>
                  <a:gd name="connsiteX24" fmla="*/ 497472 w 1705616"/>
                  <a:gd name="connsiteY24" fmla="*/ 404689 h 1897103"/>
                  <a:gd name="connsiteX25" fmla="*/ 426404 w 1705616"/>
                  <a:gd name="connsiteY25" fmla="*/ 333622 h 1897103"/>
                  <a:gd name="connsiteX26" fmla="*/ 544850 w 1705616"/>
                  <a:gd name="connsiteY26" fmla="*/ 254658 h 1897103"/>
                  <a:gd name="connsiteX27" fmla="*/ 584332 w 1705616"/>
                  <a:gd name="connsiteY27" fmla="*/ 262554 h 1897103"/>
                  <a:gd name="connsiteX28" fmla="*/ 592228 w 1705616"/>
                  <a:gd name="connsiteY28" fmla="*/ 270451 h 1897103"/>
                  <a:gd name="connsiteX29" fmla="*/ 600124 w 1705616"/>
                  <a:gd name="connsiteY29" fmla="*/ 278347 h 1897103"/>
                  <a:gd name="connsiteX30" fmla="*/ 781741 w 1705616"/>
                  <a:gd name="connsiteY30" fmla="*/ 238865 h 1897103"/>
                  <a:gd name="connsiteX31" fmla="*/ 789637 w 1705616"/>
                  <a:gd name="connsiteY31" fmla="*/ 230969 h 1897103"/>
                  <a:gd name="connsiteX32" fmla="*/ 813326 w 1705616"/>
                  <a:gd name="connsiteY32" fmla="*/ 199383 h 1897103"/>
                  <a:gd name="connsiteX33" fmla="*/ 939668 w 1705616"/>
                  <a:gd name="connsiteY33" fmla="*/ 199383 h 1897103"/>
                  <a:gd name="connsiteX34" fmla="*/ 963358 w 1705616"/>
                  <a:gd name="connsiteY34" fmla="*/ 230969 h 1897103"/>
                  <a:gd name="connsiteX35" fmla="*/ 971254 w 1705616"/>
                  <a:gd name="connsiteY35" fmla="*/ 238865 h 1897103"/>
                  <a:gd name="connsiteX36" fmla="*/ 1152871 w 1705616"/>
                  <a:gd name="connsiteY36" fmla="*/ 270451 h 1897103"/>
                  <a:gd name="connsiteX37" fmla="*/ 1160767 w 1705616"/>
                  <a:gd name="connsiteY37" fmla="*/ 262554 h 1897103"/>
                  <a:gd name="connsiteX38" fmla="*/ 1168663 w 1705616"/>
                  <a:gd name="connsiteY38" fmla="*/ 254658 h 1897103"/>
                  <a:gd name="connsiteX39" fmla="*/ 1208145 w 1705616"/>
                  <a:gd name="connsiteY39" fmla="*/ 246762 h 1897103"/>
                  <a:gd name="connsiteX40" fmla="*/ 1326591 w 1705616"/>
                  <a:gd name="connsiteY40" fmla="*/ 325725 h 1897103"/>
                  <a:gd name="connsiteX41" fmla="*/ 1255523 w 1705616"/>
                  <a:gd name="connsiteY41" fmla="*/ 396793 h 1897103"/>
                  <a:gd name="connsiteX42" fmla="*/ 1247627 w 1705616"/>
                  <a:gd name="connsiteY42" fmla="*/ 396793 h 1897103"/>
                  <a:gd name="connsiteX43" fmla="*/ 1223938 w 1705616"/>
                  <a:gd name="connsiteY43" fmla="*/ 404689 h 1897103"/>
                  <a:gd name="connsiteX44" fmla="*/ 1137078 w 1705616"/>
                  <a:gd name="connsiteY44" fmla="*/ 491549 h 1897103"/>
                  <a:gd name="connsiteX45" fmla="*/ 1184456 w 1705616"/>
                  <a:gd name="connsiteY45" fmla="*/ 594202 h 1897103"/>
                  <a:gd name="connsiteX46" fmla="*/ 1200249 w 1705616"/>
                  <a:gd name="connsiteY46" fmla="*/ 602098 h 1897103"/>
                  <a:gd name="connsiteX47" fmla="*/ 1239731 w 1705616"/>
                  <a:gd name="connsiteY47" fmla="*/ 633684 h 1897103"/>
                  <a:gd name="connsiteX48" fmla="*/ 1366073 w 1705616"/>
                  <a:gd name="connsiteY48" fmla="*/ 752130 h 1897103"/>
                  <a:gd name="connsiteX49" fmla="*/ 1547689 w 1705616"/>
                  <a:gd name="connsiteY49" fmla="*/ 1131155 h 1897103"/>
                  <a:gd name="connsiteX50" fmla="*/ 844912 w 1705616"/>
                  <a:gd name="connsiteY50" fmla="*/ 1731280 h 1897103"/>
                  <a:gd name="connsiteX51" fmla="*/ 157927 w 1705616"/>
                  <a:gd name="connsiteY51" fmla="*/ 1131155 h 1897103"/>
                  <a:gd name="connsiteX52" fmla="*/ 339544 w 1705616"/>
                  <a:gd name="connsiteY52" fmla="*/ 736337 h 1897103"/>
                  <a:gd name="connsiteX53" fmla="*/ 465886 w 1705616"/>
                  <a:gd name="connsiteY53" fmla="*/ 641580 h 1897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705616" h="1897103">
                    <a:moveTo>
                      <a:pt x="1484518" y="657373"/>
                    </a:moveTo>
                    <a:cubicBezTo>
                      <a:pt x="1445036" y="617891"/>
                      <a:pt x="1397658" y="570513"/>
                      <a:pt x="1350280" y="531031"/>
                    </a:cubicBezTo>
                    <a:cubicBezTo>
                      <a:pt x="1429244" y="491549"/>
                      <a:pt x="1484518" y="412586"/>
                      <a:pt x="1484518" y="325725"/>
                    </a:cubicBezTo>
                    <a:cubicBezTo>
                      <a:pt x="1484518" y="199383"/>
                      <a:pt x="1358176" y="88834"/>
                      <a:pt x="1208145" y="88834"/>
                    </a:cubicBezTo>
                    <a:cubicBezTo>
                      <a:pt x="1176560" y="88834"/>
                      <a:pt x="1144974" y="96731"/>
                      <a:pt x="1113389" y="104627"/>
                    </a:cubicBezTo>
                    <a:cubicBezTo>
                      <a:pt x="1105492" y="104627"/>
                      <a:pt x="1097596" y="112523"/>
                      <a:pt x="1089700" y="112523"/>
                    </a:cubicBezTo>
                    <a:lnTo>
                      <a:pt x="1042321" y="65145"/>
                    </a:lnTo>
                    <a:cubicBezTo>
                      <a:pt x="939668" y="-21715"/>
                      <a:pt x="805430" y="-21715"/>
                      <a:pt x="702777" y="65145"/>
                    </a:cubicBezTo>
                    <a:cubicBezTo>
                      <a:pt x="686985" y="88834"/>
                      <a:pt x="671192" y="112523"/>
                      <a:pt x="655399" y="128316"/>
                    </a:cubicBezTo>
                    <a:cubicBezTo>
                      <a:pt x="647503" y="128316"/>
                      <a:pt x="639606" y="120420"/>
                      <a:pt x="631710" y="120420"/>
                    </a:cubicBezTo>
                    <a:cubicBezTo>
                      <a:pt x="600124" y="104627"/>
                      <a:pt x="568539" y="96731"/>
                      <a:pt x="536953" y="96731"/>
                    </a:cubicBezTo>
                    <a:cubicBezTo>
                      <a:pt x="386922" y="96731"/>
                      <a:pt x="260580" y="199383"/>
                      <a:pt x="260580" y="333622"/>
                    </a:cubicBezTo>
                    <a:cubicBezTo>
                      <a:pt x="268477" y="404689"/>
                      <a:pt x="300062" y="475756"/>
                      <a:pt x="363233" y="515238"/>
                    </a:cubicBezTo>
                    <a:cubicBezTo>
                      <a:pt x="315855" y="554720"/>
                      <a:pt x="268477" y="602098"/>
                      <a:pt x="221098" y="641580"/>
                    </a:cubicBezTo>
                    <a:cubicBezTo>
                      <a:pt x="71067" y="799508"/>
                      <a:pt x="0" y="965332"/>
                      <a:pt x="0" y="1139052"/>
                    </a:cubicBezTo>
                    <a:cubicBezTo>
                      <a:pt x="0" y="1597041"/>
                      <a:pt x="331648" y="1897104"/>
                      <a:pt x="844912" y="1897104"/>
                    </a:cubicBezTo>
                    <a:cubicBezTo>
                      <a:pt x="1050218" y="1897104"/>
                      <a:pt x="1231834" y="1849725"/>
                      <a:pt x="1373969" y="1770762"/>
                    </a:cubicBezTo>
                    <a:cubicBezTo>
                      <a:pt x="1595067" y="1644420"/>
                      <a:pt x="1705617" y="1431218"/>
                      <a:pt x="1705617" y="1139052"/>
                    </a:cubicBezTo>
                    <a:cubicBezTo>
                      <a:pt x="1705617" y="981124"/>
                      <a:pt x="1626653" y="815301"/>
                      <a:pt x="1484518" y="657373"/>
                    </a:cubicBezTo>
                    <a:close/>
                    <a:moveTo>
                      <a:pt x="465886" y="641580"/>
                    </a:moveTo>
                    <a:cubicBezTo>
                      <a:pt x="481679" y="633684"/>
                      <a:pt x="497472" y="617891"/>
                      <a:pt x="505368" y="609995"/>
                    </a:cubicBezTo>
                    <a:lnTo>
                      <a:pt x="521161" y="602098"/>
                    </a:lnTo>
                    <a:cubicBezTo>
                      <a:pt x="560643" y="578409"/>
                      <a:pt x="576435" y="538927"/>
                      <a:pt x="576435" y="507342"/>
                    </a:cubicBezTo>
                    <a:cubicBezTo>
                      <a:pt x="576435" y="475756"/>
                      <a:pt x="560643" y="444171"/>
                      <a:pt x="529057" y="428378"/>
                    </a:cubicBezTo>
                    <a:lnTo>
                      <a:pt x="497472" y="404689"/>
                    </a:lnTo>
                    <a:cubicBezTo>
                      <a:pt x="450093" y="396793"/>
                      <a:pt x="426404" y="365207"/>
                      <a:pt x="426404" y="333622"/>
                    </a:cubicBezTo>
                    <a:cubicBezTo>
                      <a:pt x="426404" y="294140"/>
                      <a:pt x="473782" y="254658"/>
                      <a:pt x="544850" y="254658"/>
                    </a:cubicBezTo>
                    <a:cubicBezTo>
                      <a:pt x="560643" y="254658"/>
                      <a:pt x="568539" y="254658"/>
                      <a:pt x="584332" y="262554"/>
                    </a:cubicBezTo>
                    <a:cubicBezTo>
                      <a:pt x="592228" y="262554"/>
                      <a:pt x="592228" y="262554"/>
                      <a:pt x="592228" y="270451"/>
                    </a:cubicBezTo>
                    <a:lnTo>
                      <a:pt x="600124" y="278347"/>
                    </a:lnTo>
                    <a:cubicBezTo>
                      <a:pt x="655399" y="309933"/>
                      <a:pt x="734363" y="286244"/>
                      <a:pt x="781741" y="238865"/>
                    </a:cubicBezTo>
                    <a:lnTo>
                      <a:pt x="789637" y="230969"/>
                    </a:lnTo>
                    <a:cubicBezTo>
                      <a:pt x="789637" y="223073"/>
                      <a:pt x="805430" y="215176"/>
                      <a:pt x="813326" y="199383"/>
                    </a:cubicBezTo>
                    <a:cubicBezTo>
                      <a:pt x="852808" y="159902"/>
                      <a:pt x="900187" y="159902"/>
                      <a:pt x="939668" y="199383"/>
                    </a:cubicBezTo>
                    <a:cubicBezTo>
                      <a:pt x="955461" y="215176"/>
                      <a:pt x="963358" y="223073"/>
                      <a:pt x="963358" y="230969"/>
                    </a:cubicBezTo>
                    <a:lnTo>
                      <a:pt x="971254" y="238865"/>
                    </a:lnTo>
                    <a:cubicBezTo>
                      <a:pt x="1010736" y="286244"/>
                      <a:pt x="1089700" y="302036"/>
                      <a:pt x="1152871" y="270451"/>
                    </a:cubicBezTo>
                    <a:lnTo>
                      <a:pt x="1160767" y="262554"/>
                    </a:lnTo>
                    <a:cubicBezTo>
                      <a:pt x="1160767" y="262554"/>
                      <a:pt x="1168663" y="262554"/>
                      <a:pt x="1168663" y="254658"/>
                    </a:cubicBezTo>
                    <a:cubicBezTo>
                      <a:pt x="1184456" y="246762"/>
                      <a:pt x="1192352" y="246762"/>
                      <a:pt x="1208145" y="246762"/>
                    </a:cubicBezTo>
                    <a:cubicBezTo>
                      <a:pt x="1279213" y="246762"/>
                      <a:pt x="1326591" y="286244"/>
                      <a:pt x="1326591" y="325725"/>
                    </a:cubicBezTo>
                    <a:cubicBezTo>
                      <a:pt x="1326591" y="357311"/>
                      <a:pt x="1295005" y="381000"/>
                      <a:pt x="1255523" y="396793"/>
                    </a:cubicBezTo>
                    <a:lnTo>
                      <a:pt x="1247627" y="396793"/>
                    </a:lnTo>
                    <a:cubicBezTo>
                      <a:pt x="1231834" y="404689"/>
                      <a:pt x="1223938" y="404689"/>
                      <a:pt x="1223938" y="404689"/>
                    </a:cubicBezTo>
                    <a:cubicBezTo>
                      <a:pt x="1176560" y="420482"/>
                      <a:pt x="1144974" y="452067"/>
                      <a:pt x="1137078" y="491549"/>
                    </a:cubicBezTo>
                    <a:cubicBezTo>
                      <a:pt x="1129181" y="531031"/>
                      <a:pt x="1152871" y="570513"/>
                      <a:pt x="1184456" y="594202"/>
                    </a:cubicBezTo>
                    <a:lnTo>
                      <a:pt x="1200249" y="602098"/>
                    </a:lnTo>
                    <a:cubicBezTo>
                      <a:pt x="1216042" y="609995"/>
                      <a:pt x="1223938" y="617891"/>
                      <a:pt x="1239731" y="633684"/>
                    </a:cubicBezTo>
                    <a:cubicBezTo>
                      <a:pt x="1287109" y="673166"/>
                      <a:pt x="1326591" y="704751"/>
                      <a:pt x="1366073" y="752130"/>
                    </a:cubicBezTo>
                    <a:cubicBezTo>
                      <a:pt x="1484518" y="878472"/>
                      <a:pt x="1547689" y="1004813"/>
                      <a:pt x="1547689" y="1131155"/>
                    </a:cubicBezTo>
                    <a:cubicBezTo>
                      <a:pt x="1547689" y="1628627"/>
                      <a:pt x="1168663" y="1731280"/>
                      <a:pt x="844912" y="1731280"/>
                    </a:cubicBezTo>
                    <a:cubicBezTo>
                      <a:pt x="513264" y="1731280"/>
                      <a:pt x="157927" y="1573352"/>
                      <a:pt x="157927" y="1131155"/>
                    </a:cubicBezTo>
                    <a:cubicBezTo>
                      <a:pt x="157927" y="996917"/>
                      <a:pt x="221098" y="862679"/>
                      <a:pt x="339544" y="736337"/>
                    </a:cubicBezTo>
                    <a:cubicBezTo>
                      <a:pt x="379026" y="712648"/>
                      <a:pt x="418508" y="673166"/>
                      <a:pt x="465886" y="64158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4778170" y="1218280"/>
                <a:ext cx="608020" cy="791611"/>
              </a:xfrm>
              <a:custGeom>
                <a:avLst/>
                <a:gdLst>
                  <a:gd name="connsiteX0" fmla="*/ 71067 w 608020"/>
                  <a:gd name="connsiteY0" fmla="*/ 444171 h 791611"/>
                  <a:gd name="connsiteX1" fmla="*/ 0 w 608020"/>
                  <a:gd name="connsiteY1" fmla="*/ 515238 h 791611"/>
                  <a:gd name="connsiteX2" fmla="*/ 71067 w 608020"/>
                  <a:gd name="connsiteY2" fmla="*/ 586306 h 791611"/>
                  <a:gd name="connsiteX3" fmla="*/ 228995 w 608020"/>
                  <a:gd name="connsiteY3" fmla="*/ 586306 h 791611"/>
                  <a:gd name="connsiteX4" fmla="*/ 228995 w 608020"/>
                  <a:gd name="connsiteY4" fmla="*/ 728441 h 791611"/>
                  <a:gd name="connsiteX5" fmla="*/ 300062 w 608020"/>
                  <a:gd name="connsiteY5" fmla="*/ 791611 h 791611"/>
                  <a:gd name="connsiteX6" fmla="*/ 371130 w 608020"/>
                  <a:gd name="connsiteY6" fmla="*/ 728441 h 791611"/>
                  <a:gd name="connsiteX7" fmla="*/ 371130 w 608020"/>
                  <a:gd name="connsiteY7" fmla="*/ 586306 h 791611"/>
                  <a:gd name="connsiteX8" fmla="*/ 536953 w 608020"/>
                  <a:gd name="connsiteY8" fmla="*/ 586306 h 791611"/>
                  <a:gd name="connsiteX9" fmla="*/ 608021 w 608020"/>
                  <a:gd name="connsiteY9" fmla="*/ 515238 h 791611"/>
                  <a:gd name="connsiteX10" fmla="*/ 536953 w 608020"/>
                  <a:gd name="connsiteY10" fmla="*/ 444171 h 791611"/>
                  <a:gd name="connsiteX11" fmla="*/ 371130 w 608020"/>
                  <a:gd name="connsiteY11" fmla="*/ 444171 h 791611"/>
                  <a:gd name="connsiteX12" fmla="*/ 371130 w 608020"/>
                  <a:gd name="connsiteY12" fmla="*/ 404689 h 791611"/>
                  <a:gd name="connsiteX13" fmla="*/ 536953 w 608020"/>
                  <a:gd name="connsiteY13" fmla="*/ 404689 h 791611"/>
                  <a:gd name="connsiteX14" fmla="*/ 608021 w 608020"/>
                  <a:gd name="connsiteY14" fmla="*/ 333622 h 791611"/>
                  <a:gd name="connsiteX15" fmla="*/ 536953 w 608020"/>
                  <a:gd name="connsiteY15" fmla="*/ 262554 h 791611"/>
                  <a:gd name="connsiteX16" fmla="*/ 402715 w 608020"/>
                  <a:gd name="connsiteY16" fmla="*/ 262554 h 791611"/>
                  <a:gd name="connsiteX17" fmla="*/ 536953 w 608020"/>
                  <a:gd name="connsiteY17" fmla="*/ 120420 h 791611"/>
                  <a:gd name="connsiteX18" fmla="*/ 536953 w 608020"/>
                  <a:gd name="connsiteY18" fmla="*/ 17767 h 791611"/>
                  <a:gd name="connsiteX19" fmla="*/ 442197 w 608020"/>
                  <a:gd name="connsiteY19" fmla="*/ 17767 h 791611"/>
                  <a:gd name="connsiteX20" fmla="*/ 307959 w 608020"/>
                  <a:gd name="connsiteY20" fmla="*/ 159902 h 791611"/>
                  <a:gd name="connsiteX21" fmla="*/ 173720 w 608020"/>
                  <a:gd name="connsiteY21" fmla="*/ 17767 h 791611"/>
                  <a:gd name="connsiteX22" fmla="*/ 78964 w 608020"/>
                  <a:gd name="connsiteY22" fmla="*/ 17767 h 791611"/>
                  <a:gd name="connsiteX23" fmla="*/ 78964 w 608020"/>
                  <a:gd name="connsiteY23" fmla="*/ 120420 h 791611"/>
                  <a:gd name="connsiteX24" fmla="*/ 213202 w 608020"/>
                  <a:gd name="connsiteY24" fmla="*/ 262554 h 791611"/>
                  <a:gd name="connsiteX25" fmla="*/ 71067 w 608020"/>
                  <a:gd name="connsiteY25" fmla="*/ 262554 h 791611"/>
                  <a:gd name="connsiteX26" fmla="*/ 0 w 608020"/>
                  <a:gd name="connsiteY26" fmla="*/ 333622 h 791611"/>
                  <a:gd name="connsiteX27" fmla="*/ 71067 w 608020"/>
                  <a:gd name="connsiteY27" fmla="*/ 404689 h 791611"/>
                  <a:gd name="connsiteX28" fmla="*/ 228995 w 608020"/>
                  <a:gd name="connsiteY28" fmla="*/ 404689 h 791611"/>
                  <a:gd name="connsiteX29" fmla="*/ 228995 w 608020"/>
                  <a:gd name="connsiteY29" fmla="*/ 444171 h 791611"/>
                  <a:gd name="connsiteX30" fmla="*/ 71067 w 608020"/>
                  <a:gd name="connsiteY30" fmla="*/ 444171 h 79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8020" h="791611">
                    <a:moveTo>
                      <a:pt x="71067" y="444171"/>
                    </a:moveTo>
                    <a:cubicBezTo>
                      <a:pt x="31585" y="444171"/>
                      <a:pt x="0" y="475757"/>
                      <a:pt x="0" y="515238"/>
                    </a:cubicBezTo>
                    <a:cubicBezTo>
                      <a:pt x="0" y="554720"/>
                      <a:pt x="31585" y="586306"/>
                      <a:pt x="71067" y="586306"/>
                    </a:cubicBezTo>
                    <a:lnTo>
                      <a:pt x="228995" y="586306"/>
                    </a:lnTo>
                    <a:lnTo>
                      <a:pt x="228995" y="728441"/>
                    </a:lnTo>
                    <a:cubicBezTo>
                      <a:pt x="228995" y="760026"/>
                      <a:pt x="260580" y="791611"/>
                      <a:pt x="300062" y="791611"/>
                    </a:cubicBezTo>
                    <a:cubicBezTo>
                      <a:pt x="339544" y="791611"/>
                      <a:pt x="371130" y="767922"/>
                      <a:pt x="371130" y="728441"/>
                    </a:cubicBezTo>
                    <a:lnTo>
                      <a:pt x="371130" y="586306"/>
                    </a:lnTo>
                    <a:lnTo>
                      <a:pt x="536953" y="586306"/>
                    </a:lnTo>
                    <a:cubicBezTo>
                      <a:pt x="576435" y="586306"/>
                      <a:pt x="608021" y="554720"/>
                      <a:pt x="608021" y="515238"/>
                    </a:cubicBezTo>
                    <a:cubicBezTo>
                      <a:pt x="608021" y="475757"/>
                      <a:pt x="576435" y="444171"/>
                      <a:pt x="536953" y="444171"/>
                    </a:cubicBezTo>
                    <a:lnTo>
                      <a:pt x="371130" y="444171"/>
                    </a:lnTo>
                    <a:lnTo>
                      <a:pt x="371130" y="404689"/>
                    </a:lnTo>
                    <a:lnTo>
                      <a:pt x="536953" y="404689"/>
                    </a:lnTo>
                    <a:cubicBezTo>
                      <a:pt x="576435" y="404689"/>
                      <a:pt x="608021" y="373104"/>
                      <a:pt x="608021" y="333622"/>
                    </a:cubicBezTo>
                    <a:cubicBezTo>
                      <a:pt x="608021" y="294140"/>
                      <a:pt x="576435" y="262554"/>
                      <a:pt x="536953" y="262554"/>
                    </a:cubicBezTo>
                    <a:lnTo>
                      <a:pt x="402715" y="262554"/>
                    </a:lnTo>
                    <a:lnTo>
                      <a:pt x="536953" y="120420"/>
                    </a:lnTo>
                    <a:cubicBezTo>
                      <a:pt x="560643" y="96731"/>
                      <a:pt x="560643" y="49352"/>
                      <a:pt x="536953" y="17767"/>
                    </a:cubicBezTo>
                    <a:cubicBezTo>
                      <a:pt x="513264" y="-5922"/>
                      <a:pt x="465886" y="-5922"/>
                      <a:pt x="442197" y="17767"/>
                    </a:cubicBezTo>
                    <a:lnTo>
                      <a:pt x="307959" y="159902"/>
                    </a:lnTo>
                    <a:lnTo>
                      <a:pt x="173720" y="17767"/>
                    </a:lnTo>
                    <a:cubicBezTo>
                      <a:pt x="150031" y="-5922"/>
                      <a:pt x="102653" y="-5922"/>
                      <a:pt x="78964" y="17767"/>
                    </a:cubicBezTo>
                    <a:cubicBezTo>
                      <a:pt x="55275" y="41456"/>
                      <a:pt x="55275" y="88834"/>
                      <a:pt x="78964" y="120420"/>
                    </a:cubicBezTo>
                    <a:lnTo>
                      <a:pt x="213202" y="262554"/>
                    </a:lnTo>
                    <a:lnTo>
                      <a:pt x="71067" y="262554"/>
                    </a:lnTo>
                    <a:cubicBezTo>
                      <a:pt x="31585" y="262554"/>
                      <a:pt x="0" y="294140"/>
                      <a:pt x="0" y="333622"/>
                    </a:cubicBezTo>
                    <a:cubicBezTo>
                      <a:pt x="0" y="373104"/>
                      <a:pt x="31585" y="404689"/>
                      <a:pt x="71067" y="404689"/>
                    </a:cubicBezTo>
                    <a:lnTo>
                      <a:pt x="228995" y="404689"/>
                    </a:lnTo>
                    <a:lnTo>
                      <a:pt x="228995" y="444171"/>
                    </a:lnTo>
                    <a:lnTo>
                      <a:pt x="71067" y="444171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2767434" y="875592"/>
            <a:ext cx="2016125" cy="1523084"/>
            <a:chOff x="2628752" y="908050"/>
            <a:chExt cx="2016125" cy="1523084"/>
          </a:xfrm>
        </p:grpSpPr>
        <p:sp>
          <p:nvSpPr>
            <p:cNvPr id="47" name="矩形 46"/>
            <p:cNvSpPr/>
            <p:nvPr/>
          </p:nvSpPr>
          <p:spPr>
            <a:xfrm>
              <a:off x="2628752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矩形: 圆顶角 47"/>
            <p:cNvSpPr/>
            <p:nvPr/>
          </p:nvSpPr>
          <p:spPr>
            <a:xfrm flipH="1" flipV="1">
              <a:off x="2628752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276673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总成本</a:t>
              </a: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944173" y="1523672"/>
              <a:ext cx="1385283" cy="430887"/>
              <a:chOff x="863474" y="1462839"/>
              <a:chExt cx="1385283" cy="430887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¥5,237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51" name="TextBox 28+"/>
            <p:cNvSpPr txBox="1"/>
            <p:nvPr/>
          </p:nvSpPr>
          <p:spPr>
            <a:xfrm>
              <a:off x="2936664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52" name="TextBox 28++"/>
            <p:cNvSpPr txBox="1"/>
            <p:nvPr/>
          </p:nvSpPr>
          <p:spPr>
            <a:xfrm>
              <a:off x="3436500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4119175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图形 59"/>
            <p:cNvSpPr>
              <a:spLocks noChangeAspect="1"/>
            </p:cNvSpPr>
            <p:nvPr/>
          </p:nvSpPr>
          <p:spPr>
            <a:xfrm>
              <a:off x="2936664" y="1173195"/>
              <a:ext cx="252000" cy="252018"/>
            </a:xfrm>
            <a:custGeom>
              <a:avLst/>
              <a:gdLst>
                <a:gd name="connsiteX0" fmla="*/ 1699804 w 1700892"/>
                <a:gd name="connsiteY0" fmla="*/ 1251721 h 1701028"/>
                <a:gd name="connsiteX1" fmla="*/ 1678033 w 1700892"/>
                <a:gd name="connsiteY1" fmla="*/ 1241516 h 1701028"/>
                <a:gd name="connsiteX2" fmla="*/ 1547813 w 1700892"/>
                <a:gd name="connsiteY2" fmla="*/ 1288869 h 1701028"/>
                <a:gd name="connsiteX3" fmla="*/ 1547813 w 1700892"/>
                <a:gd name="connsiteY3" fmla="*/ 144508 h 1701028"/>
                <a:gd name="connsiteX4" fmla="*/ 1403305 w 1700892"/>
                <a:gd name="connsiteY4" fmla="*/ 0 h 1701028"/>
                <a:gd name="connsiteX5" fmla="*/ 297724 w 1700892"/>
                <a:gd name="connsiteY5" fmla="*/ 0 h 1701028"/>
                <a:gd name="connsiteX6" fmla="*/ 153080 w 1700892"/>
                <a:gd name="connsiteY6" fmla="*/ 144644 h 1701028"/>
                <a:gd name="connsiteX7" fmla="*/ 153080 w 1700892"/>
                <a:gd name="connsiteY7" fmla="*/ 1289005 h 1701028"/>
                <a:gd name="connsiteX8" fmla="*/ 22724 w 1700892"/>
                <a:gd name="connsiteY8" fmla="*/ 1241380 h 1701028"/>
                <a:gd name="connsiteX9" fmla="*/ 17009 w 1700892"/>
                <a:gd name="connsiteY9" fmla="*/ 1240427 h 1701028"/>
                <a:gd name="connsiteX10" fmla="*/ 0 w 1700892"/>
                <a:gd name="connsiteY10" fmla="*/ 1257436 h 1701028"/>
                <a:gd name="connsiteX11" fmla="*/ 0 w 1700892"/>
                <a:gd name="connsiteY11" fmla="*/ 1384119 h 1701028"/>
                <a:gd name="connsiteX12" fmla="*/ 11294 w 1700892"/>
                <a:gd name="connsiteY12" fmla="*/ 1400039 h 1701028"/>
                <a:gd name="connsiteX13" fmla="*/ 827042 w 1700892"/>
                <a:gd name="connsiteY13" fmla="*/ 1696947 h 1701028"/>
                <a:gd name="connsiteX14" fmla="*/ 873579 w 1700892"/>
                <a:gd name="connsiteY14" fmla="*/ 1696947 h 1701028"/>
                <a:gd name="connsiteX15" fmla="*/ 1689599 w 1700892"/>
                <a:gd name="connsiteY15" fmla="*/ 1400311 h 1701028"/>
                <a:gd name="connsiteX16" fmla="*/ 1700893 w 1700892"/>
                <a:gd name="connsiteY16" fmla="*/ 1384391 h 1701028"/>
                <a:gd name="connsiteX17" fmla="*/ 1700893 w 1700892"/>
                <a:gd name="connsiteY17" fmla="*/ 1257708 h 1701028"/>
                <a:gd name="connsiteX18" fmla="*/ 1699804 w 1700892"/>
                <a:gd name="connsiteY18" fmla="*/ 1251721 h 1701028"/>
                <a:gd name="connsiteX19" fmla="*/ 850446 w 1700892"/>
                <a:gd name="connsiteY19" fmla="*/ 1542506 h 1701028"/>
                <a:gd name="connsiteX20" fmla="*/ 306161 w 1700892"/>
                <a:gd name="connsiteY20" fmla="*/ 1344658 h 1701028"/>
                <a:gd name="connsiteX21" fmla="*/ 306161 w 1700892"/>
                <a:gd name="connsiteY21" fmla="*/ 153080 h 1701028"/>
                <a:gd name="connsiteX22" fmla="*/ 1394732 w 1700892"/>
                <a:gd name="connsiteY22" fmla="*/ 153080 h 1701028"/>
                <a:gd name="connsiteX23" fmla="*/ 1394732 w 1700892"/>
                <a:gd name="connsiteY23" fmla="*/ 1344658 h 1701028"/>
                <a:gd name="connsiteX24" fmla="*/ 850446 w 1700892"/>
                <a:gd name="connsiteY24" fmla="*/ 1542506 h 1701028"/>
                <a:gd name="connsiteX25" fmla="*/ 1166404 w 1700892"/>
                <a:gd name="connsiteY25" fmla="*/ 425359 h 1701028"/>
                <a:gd name="connsiteX26" fmla="*/ 1050471 w 1700892"/>
                <a:gd name="connsiteY26" fmla="*/ 425359 h 1701028"/>
                <a:gd name="connsiteX27" fmla="*/ 1035504 w 1700892"/>
                <a:gd name="connsiteY27" fmla="*/ 434612 h 1701028"/>
                <a:gd name="connsiteX28" fmla="*/ 855209 w 1700892"/>
                <a:gd name="connsiteY28" fmla="*/ 793569 h 1701028"/>
                <a:gd name="connsiteX29" fmla="*/ 848405 w 1700892"/>
                <a:gd name="connsiteY29" fmla="*/ 793569 h 1701028"/>
                <a:gd name="connsiteX30" fmla="*/ 668247 w 1700892"/>
                <a:gd name="connsiteY30" fmla="*/ 434612 h 1701028"/>
                <a:gd name="connsiteX31" fmla="*/ 653279 w 1700892"/>
                <a:gd name="connsiteY31" fmla="*/ 425223 h 1701028"/>
                <a:gd name="connsiteX32" fmla="*/ 534761 w 1700892"/>
                <a:gd name="connsiteY32" fmla="*/ 425223 h 1701028"/>
                <a:gd name="connsiteX33" fmla="*/ 526596 w 1700892"/>
                <a:gd name="connsiteY33" fmla="*/ 427400 h 1701028"/>
                <a:gd name="connsiteX34" fmla="*/ 519712 w 1700892"/>
                <a:gd name="connsiteY34" fmla="*/ 450247 h 1701028"/>
                <a:gd name="connsiteX35" fmla="*/ 519793 w 1700892"/>
                <a:gd name="connsiteY35" fmla="*/ 450396 h 1701028"/>
                <a:gd name="connsiteX36" fmla="*/ 740909 w 1700892"/>
                <a:gd name="connsiteY36" fmla="*/ 857794 h 1701028"/>
                <a:gd name="connsiteX37" fmla="*/ 619805 w 1700892"/>
                <a:gd name="connsiteY37" fmla="*/ 857794 h 1701028"/>
                <a:gd name="connsiteX38" fmla="*/ 602661 w 1700892"/>
                <a:gd name="connsiteY38" fmla="*/ 874667 h 1701028"/>
                <a:gd name="connsiteX39" fmla="*/ 602660 w 1700892"/>
                <a:gd name="connsiteY39" fmla="*/ 874803 h 1701028"/>
                <a:gd name="connsiteX40" fmla="*/ 602660 w 1700892"/>
                <a:gd name="connsiteY40" fmla="*/ 932361 h 1701028"/>
                <a:gd name="connsiteX41" fmla="*/ 619669 w 1700892"/>
                <a:gd name="connsiteY41" fmla="*/ 949370 h 1701028"/>
                <a:gd name="connsiteX42" fmla="*/ 781322 w 1700892"/>
                <a:gd name="connsiteY42" fmla="*/ 949370 h 1701028"/>
                <a:gd name="connsiteX43" fmla="*/ 781322 w 1700892"/>
                <a:gd name="connsiteY43" fmla="*/ 1032374 h 1701028"/>
                <a:gd name="connsiteX44" fmla="*/ 619533 w 1700892"/>
                <a:gd name="connsiteY44" fmla="*/ 1032374 h 1701028"/>
                <a:gd name="connsiteX45" fmla="*/ 602524 w 1700892"/>
                <a:gd name="connsiteY45" fmla="*/ 1049247 h 1701028"/>
                <a:gd name="connsiteX46" fmla="*/ 602524 w 1700892"/>
                <a:gd name="connsiteY46" fmla="*/ 1106941 h 1701028"/>
                <a:gd name="connsiteX47" fmla="*/ 619533 w 1700892"/>
                <a:gd name="connsiteY47" fmla="*/ 1123950 h 1701028"/>
                <a:gd name="connsiteX48" fmla="*/ 781186 w 1700892"/>
                <a:gd name="connsiteY48" fmla="*/ 1123950 h 1701028"/>
                <a:gd name="connsiteX49" fmla="*/ 781186 w 1700892"/>
                <a:gd name="connsiteY49" fmla="*/ 1258661 h 1701028"/>
                <a:gd name="connsiteX50" fmla="*/ 798195 w 1700892"/>
                <a:gd name="connsiteY50" fmla="*/ 1275670 h 1701028"/>
                <a:gd name="connsiteX51" fmla="*/ 904331 w 1700892"/>
                <a:gd name="connsiteY51" fmla="*/ 1275670 h 1701028"/>
                <a:gd name="connsiteX52" fmla="*/ 921204 w 1700892"/>
                <a:gd name="connsiteY52" fmla="*/ 1258661 h 1701028"/>
                <a:gd name="connsiteX53" fmla="*/ 921204 w 1700892"/>
                <a:gd name="connsiteY53" fmla="*/ 1123678 h 1701028"/>
                <a:gd name="connsiteX54" fmla="*/ 1083537 w 1700892"/>
                <a:gd name="connsiteY54" fmla="*/ 1123678 h 1701028"/>
                <a:gd name="connsiteX55" fmla="*/ 1100546 w 1700892"/>
                <a:gd name="connsiteY55" fmla="*/ 1106669 h 1701028"/>
                <a:gd name="connsiteX56" fmla="*/ 1100546 w 1700892"/>
                <a:gd name="connsiteY56" fmla="*/ 1049247 h 1701028"/>
                <a:gd name="connsiteX57" fmla="*/ 1083537 w 1700892"/>
                <a:gd name="connsiteY57" fmla="*/ 1032238 h 1701028"/>
                <a:gd name="connsiteX58" fmla="*/ 921204 w 1700892"/>
                <a:gd name="connsiteY58" fmla="*/ 1032238 h 1701028"/>
                <a:gd name="connsiteX59" fmla="*/ 921204 w 1700892"/>
                <a:gd name="connsiteY59" fmla="*/ 949234 h 1701028"/>
                <a:gd name="connsiteX60" fmla="*/ 1083537 w 1700892"/>
                <a:gd name="connsiteY60" fmla="*/ 949234 h 1701028"/>
                <a:gd name="connsiteX61" fmla="*/ 1100546 w 1700892"/>
                <a:gd name="connsiteY61" fmla="*/ 932225 h 1701028"/>
                <a:gd name="connsiteX62" fmla="*/ 1100546 w 1700892"/>
                <a:gd name="connsiteY62" fmla="*/ 874667 h 1701028"/>
                <a:gd name="connsiteX63" fmla="*/ 1083537 w 1700892"/>
                <a:gd name="connsiteY63" fmla="*/ 857658 h 1701028"/>
                <a:gd name="connsiteX64" fmla="*/ 961073 w 1700892"/>
                <a:gd name="connsiteY64" fmla="*/ 857658 h 1701028"/>
                <a:gd name="connsiteX65" fmla="*/ 1181508 w 1700892"/>
                <a:gd name="connsiteY65" fmla="*/ 450260 h 1701028"/>
                <a:gd name="connsiteX66" fmla="*/ 1183685 w 1700892"/>
                <a:gd name="connsiteY66" fmla="*/ 442096 h 1701028"/>
                <a:gd name="connsiteX67" fmla="*/ 1166404 w 1700892"/>
                <a:gd name="connsiteY67" fmla="*/ 425359 h 170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700892" h="1701028">
                  <a:moveTo>
                    <a:pt x="1699804" y="1251721"/>
                  </a:moveTo>
                  <a:cubicBezTo>
                    <a:pt x="1696607" y="1242894"/>
                    <a:pt x="1686863" y="1238326"/>
                    <a:pt x="1678033" y="1241516"/>
                  </a:cubicBezTo>
                  <a:lnTo>
                    <a:pt x="1547813" y="1288869"/>
                  </a:lnTo>
                  <a:lnTo>
                    <a:pt x="1547813" y="144508"/>
                  </a:lnTo>
                  <a:cubicBezTo>
                    <a:pt x="1547813" y="64634"/>
                    <a:pt x="1483179" y="0"/>
                    <a:pt x="1403305" y="0"/>
                  </a:cubicBezTo>
                  <a:lnTo>
                    <a:pt x="297724" y="0"/>
                  </a:lnTo>
                  <a:cubicBezTo>
                    <a:pt x="217714" y="0"/>
                    <a:pt x="153080" y="64634"/>
                    <a:pt x="153080" y="144644"/>
                  </a:cubicBezTo>
                  <a:lnTo>
                    <a:pt x="153080" y="1289005"/>
                  </a:lnTo>
                  <a:lnTo>
                    <a:pt x="22724" y="1241380"/>
                  </a:lnTo>
                  <a:cubicBezTo>
                    <a:pt x="20882" y="1240760"/>
                    <a:pt x="18953" y="1240438"/>
                    <a:pt x="17009" y="1240427"/>
                  </a:cubicBezTo>
                  <a:cubicBezTo>
                    <a:pt x="7615" y="1240427"/>
                    <a:pt x="0" y="1248042"/>
                    <a:pt x="0" y="1257436"/>
                  </a:cubicBezTo>
                  <a:lnTo>
                    <a:pt x="0" y="1384119"/>
                  </a:lnTo>
                  <a:cubicBezTo>
                    <a:pt x="0" y="1391194"/>
                    <a:pt x="4490" y="1397590"/>
                    <a:pt x="11294" y="1400039"/>
                  </a:cubicBezTo>
                  <a:lnTo>
                    <a:pt x="827042" y="1696947"/>
                  </a:lnTo>
                  <a:cubicBezTo>
                    <a:pt x="842146" y="1702390"/>
                    <a:pt x="858611" y="1702390"/>
                    <a:pt x="873579" y="1696947"/>
                  </a:cubicBezTo>
                  <a:lnTo>
                    <a:pt x="1689599" y="1400311"/>
                  </a:lnTo>
                  <a:cubicBezTo>
                    <a:pt x="1696312" y="1397874"/>
                    <a:pt x="1700811" y="1391532"/>
                    <a:pt x="1700893" y="1384391"/>
                  </a:cubicBezTo>
                  <a:lnTo>
                    <a:pt x="1700893" y="1257708"/>
                  </a:lnTo>
                  <a:cubicBezTo>
                    <a:pt x="1700863" y="1255666"/>
                    <a:pt x="1700495" y="1253643"/>
                    <a:pt x="1699804" y="1251721"/>
                  </a:cubicBezTo>
                  <a:close/>
                  <a:moveTo>
                    <a:pt x="850446" y="1542506"/>
                  </a:moveTo>
                  <a:lnTo>
                    <a:pt x="306161" y="1344658"/>
                  </a:lnTo>
                  <a:lnTo>
                    <a:pt x="306161" y="153080"/>
                  </a:lnTo>
                  <a:lnTo>
                    <a:pt x="1394732" y="153080"/>
                  </a:lnTo>
                  <a:lnTo>
                    <a:pt x="1394732" y="1344658"/>
                  </a:lnTo>
                  <a:lnTo>
                    <a:pt x="850446" y="1542506"/>
                  </a:lnTo>
                  <a:close/>
                  <a:moveTo>
                    <a:pt x="1166404" y="425359"/>
                  </a:moveTo>
                  <a:lnTo>
                    <a:pt x="1050471" y="425359"/>
                  </a:lnTo>
                  <a:cubicBezTo>
                    <a:pt x="1044132" y="425360"/>
                    <a:pt x="1038338" y="428942"/>
                    <a:pt x="1035504" y="434612"/>
                  </a:cubicBezTo>
                  <a:lnTo>
                    <a:pt x="855209" y="793569"/>
                  </a:lnTo>
                  <a:lnTo>
                    <a:pt x="848405" y="793569"/>
                  </a:lnTo>
                  <a:lnTo>
                    <a:pt x="668247" y="434612"/>
                  </a:lnTo>
                  <a:cubicBezTo>
                    <a:pt x="665402" y="428933"/>
                    <a:pt x="659630" y="425313"/>
                    <a:pt x="653279" y="425223"/>
                  </a:cubicBezTo>
                  <a:lnTo>
                    <a:pt x="534761" y="425223"/>
                  </a:lnTo>
                  <a:cubicBezTo>
                    <a:pt x="532039" y="425223"/>
                    <a:pt x="529318" y="425904"/>
                    <a:pt x="526596" y="427400"/>
                  </a:cubicBezTo>
                  <a:cubicBezTo>
                    <a:pt x="518386" y="431808"/>
                    <a:pt x="515304" y="442037"/>
                    <a:pt x="519712" y="450247"/>
                  </a:cubicBezTo>
                  <a:cubicBezTo>
                    <a:pt x="519739" y="450297"/>
                    <a:pt x="519766" y="450347"/>
                    <a:pt x="519793" y="450396"/>
                  </a:cubicBezTo>
                  <a:lnTo>
                    <a:pt x="740909" y="857794"/>
                  </a:lnTo>
                  <a:lnTo>
                    <a:pt x="619805" y="857794"/>
                  </a:lnTo>
                  <a:cubicBezTo>
                    <a:pt x="610412" y="857719"/>
                    <a:pt x="602736" y="865273"/>
                    <a:pt x="602661" y="874667"/>
                  </a:cubicBezTo>
                  <a:cubicBezTo>
                    <a:pt x="602661" y="874712"/>
                    <a:pt x="602660" y="874758"/>
                    <a:pt x="602660" y="874803"/>
                  </a:cubicBezTo>
                  <a:lnTo>
                    <a:pt x="602660" y="932361"/>
                  </a:lnTo>
                  <a:cubicBezTo>
                    <a:pt x="602660" y="941750"/>
                    <a:pt x="610416" y="949370"/>
                    <a:pt x="619669" y="949370"/>
                  </a:cubicBezTo>
                  <a:lnTo>
                    <a:pt x="781322" y="949370"/>
                  </a:lnTo>
                  <a:lnTo>
                    <a:pt x="781322" y="1032374"/>
                  </a:lnTo>
                  <a:lnTo>
                    <a:pt x="619533" y="1032374"/>
                  </a:lnTo>
                  <a:cubicBezTo>
                    <a:pt x="610192" y="1032374"/>
                    <a:pt x="602599" y="1039906"/>
                    <a:pt x="602524" y="1049247"/>
                  </a:cubicBezTo>
                  <a:lnTo>
                    <a:pt x="602524" y="1106941"/>
                  </a:lnTo>
                  <a:cubicBezTo>
                    <a:pt x="602524" y="1116330"/>
                    <a:pt x="610280" y="1123950"/>
                    <a:pt x="619533" y="1123950"/>
                  </a:cubicBezTo>
                  <a:lnTo>
                    <a:pt x="781186" y="1123950"/>
                  </a:lnTo>
                  <a:lnTo>
                    <a:pt x="781186" y="1258661"/>
                  </a:lnTo>
                  <a:cubicBezTo>
                    <a:pt x="781186" y="1268186"/>
                    <a:pt x="788806" y="1275670"/>
                    <a:pt x="798195" y="1275670"/>
                  </a:cubicBezTo>
                  <a:lnTo>
                    <a:pt x="904331" y="1275670"/>
                  </a:lnTo>
                  <a:cubicBezTo>
                    <a:pt x="913671" y="1275595"/>
                    <a:pt x="921204" y="1268002"/>
                    <a:pt x="921204" y="1258661"/>
                  </a:cubicBezTo>
                  <a:lnTo>
                    <a:pt x="921204" y="1123678"/>
                  </a:lnTo>
                  <a:lnTo>
                    <a:pt x="1083537" y="1123678"/>
                  </a:lnTo>
                  <a:cubicBezTo>
                    <a:pt x="1092931" y="1123678"/>
                    <a:pt x="1100546" y="1116063"/>
                    <a:pt x="1100546" y="1106669"/>
                  </a:cubicBezTo>
                  <a:lnTo>
                    <a:pt x="1100546" y="1049247"/>
                  </a:lnTo>
                  <a:cubicBezTo>
                    <a:pt x="1100546" y="1039853"/>
                    <a:pt x="1092931" y="1032238"/>
                    <a:pt x="1083537" y="1032238"/>
                  </a:cubicBezTo>
                  <a:lnTo>
                    <a:pt x="921204" y="1032238"/>
                  </a:lnTo>
                  <a:lnTo>
                    <a:pt x="921204" y="949234"/>
                  </a:lnTo>
                  <a:lnTo>
                    <a:pt x="1083537" y="949234"/>
                  </a:lnTo>
                  <a:cubicBezTo>
                    <a:pt x="1092931" y="949234"/>
                    <a:pt x="1100546" y="941619"/>
                    <a:pt x="1100546" y="932225"/>
                  </a:cubicBezTo>
                  <a:lnTo>
                    <a:pt x="1100546" y="874667"/>
                  </a:lnTo>
                  <a:cubicBezTo>
                    <a:pt x="1100546" y="865273"/>
                    <a:pt x="1092931" y="857658"/>
                    <a:pt x="1083537" y="857658"/>
                  </a:cubicBezTo>
                  <a:lnTo>
                    <a:pt x="961073" y="857658"/>
                  </a:lnTo>
                  <a:lnTo>
                    <a:pt x="1181508" y="450260"/>
                  </a:lnTo>
                  <a:cubicBezTo>
                    <a:pt x="1182859" y="447745"/>
                    <a:pt x="1183604" y="444950"/>
                    <a:pt x="1183685" y="442096"/>
                  </a:cubicBezTo>
                  <a:cubicBezTo>
                    <a:pt x="1183391" y="432765"/>
                    <a:pt x="1175740" y="425355"/>
                    <a:pt x="1166404" y="425359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091955" y="875592"/>
            <a:ext cx="2016125" cy="1523084"/>
            <a:chOff x="4960475" y="908050"/>
            <a:chExt cx="2016125" cy="1523084"/>
          </a:xfrm>
        </p:grpSpPr>
        <p:sp>
          <p:nvSpPr>
            <p:cNvPr id="63" name="矩形 62"/>
            <p:cNvSpPr/>
            <p:nvPr/>
          </p:nvSpPr>
          <p:spPr>
            <a:xfrm>
              <a:off x="4960475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矩形: 圆顶角 63"/>
            <p:cNvSpPr/>
            <p:nvPr/>
          </p:nvSpPr>
          <p:spPr>
            <a:xfrm flipH="1" flipV="1">
              <a:off x="4960475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608396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净利润</a:t>
              </a: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275896" y="1523672"/>
              <a:ext cx="1385283" cy="430887"/>
              <a:chOff x="863474" y="1462839"/>
              <a:chExt cx="1385283" cy="430887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¥3,325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67" name="TextBox 28+"/>
            <p:cNvSpPr txBox="1"/>
            <p:nvPr/>
          </p:nvSpPr>
          <p:spPr>
            <a:xfrm>
              <a:off x="5268387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68" name="TextBox 28++"/>
            <p:cNvSpPr txBox="1"/>
            <p:nvPr/>
          </p:nvSpPr>
          <p:spPr>
            <a:xfrm>
              <a:off x="5768223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18.2%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>
            <a:xfrm flipV="1">
              <a:off x="6450898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图形 76"/>
            <p:cNvSpPr/>
            <p:nvPr/>
          </p:nvSpPr>
          <p:spPr>
            <a:xfrm>
              <a:off x="5275896" y="1180376"/>
              <a:ext cx="220231" cy="220661"/>
            </a:xfrm>
            <a:custGeom>
              <a:avLst/>
              <a:gdLst>
                <a:gd name="connsiteX0" fmla="*/ 847023 w 1844247"/>
                <a:gd name="connsiteY0" fmla="*/ 922020 h 1847850"/>
                <a:gd name="connsiteX1" fmla="*/ 854628 w 1844247"/>
                <a:gd name="connsiteY1" fmla="*/ 860108 h 1847850"/>
                <a:gd name="connsiteX2" fmla="*/ 804244 w 1844247"/>
                <a:gd name="connsiteY2" fmla="*/ 830580 h 1847850"/>
                <a:gd name="connsiteX3" fmla="*/ 648339 w 1844247"/>
                <a:gd name="connsiteY3" fmla="*/ 830580 h 1847850"/>
                <a:gd name="connsiteX4" fmla="*/ 635980 w 1844247"/>
                <a:gd name="connsiteY4" fmla="*/ 817245 h 1847850"/>
                <a:gd name="connsiteX5" fmla="*/ 635980 w 1844247"/>
                <a:gd name="connsiteY5" fmla="*/ 720090 h 1847850"/>
                <a:gd name="connsiteX6" fmla="*/ 653092 w 1844247"/>
                <a:gd name="connsiteY6" fmla="*/ 703898 h 1847850"/>
                <a:gd name="connsiteX7" fmla="*/ 813751 w 1844247"/>
                <a:gd name="connsiteY7" fmla="*/ 702945 h 1847850"/>
                <a:gd name="connsiteX8" fmla="*/ 860332 w 1844247"/>
                <a:gd name="connsiteY8" fmla="*/ 651510 h 1847850"/>
                <a:gd name="connsiteX9" fmla="*/ 792837 w 1844247"/>
                <a:gd name="connsiteY9" fmla="*/ 586740 h 1847850"/>
                <a:gd name="connsiteX10" fmla="*/ 651191 w 1844247"/>
                <a:gd name="connsiteY10" fmla="*/ 586740 h 1847850"/>
                <a:gd name="connsiteX11" fmla="*/ 637882 w 1844247"/>
                <a:gd name="connsiteY11" fmla="*/ 581978 h 1847850"/>
                <a:gd name="connsiteX12" fmla="*/ 646437 w 1844247"/>
                <a:gd name="connsiteY12" fmla="*/ 533400 h 1847850"/>
                <a:gd name="connsiteX13" fmla="*/ 799491 w 1844247"/>
                <a:gd name="connsiteY13" fmla="*/ 376238 h 1847850"/>
                <a:gd name="connsiteX14" fmla="*/ 817553 w 1844247"/>
                <a:gd name="connsiteY14" fmla="*/ 354330 h 1847850"/>
                <a:gd name="connsiteX15" fmla="*/ 789034 w 1844247"/>
                <a:gd name="connsiteY15" fmla="*/ 282893 h 1847850"/>
                <a:gd name="connsiteX16" fmla="*/ 729143 w 1844247"/>
                <a:gd name="connsiteY16" fmla="*/ 302895 h 1847850"/>
                <a:gd name="connsiteX17" fmla="*/ 587498 w 1844247"/>
                <a:gd name="connsiteY17" fmla="*/ 437198 h 1847850"/>
                <a:gd name="connsiteX18" fmla="*/ 568485 w 1844247"/>
                <a:gd name="connsiteY18" fmla="*/ 436245 h 1847850"/>
                <a:gd name="connsiteX19" fmla="*/ 448704 w 1844247"/>
                <a:gd name="connsiteY19" fmla="*/ 309563 h 1847850"/>
                <a:gd name="connsiteX20" fmla="*/ 393566 w 1844247"/>
                <a:gd name="connsiteY20" fmla="*/ 278130 h 1847850"/>
                <a:gd name="connsiteX21" fmla="*/ 342232 w 1844247"/>
                <a:gd name="connsiteY21" fmla="*/ 308610 h 1847850"/>
                <a:gd name="connsiteX22" fmla="*/ 365047 w 1844247"/>
                <a:gd name="connsiteY22" fmla="*/ 378143 h 1847850"/>
                <a:gd name="connsiteX23" fmla="*/ 495285 w 1844247"/>
                <a:gd name="connsiteY23" fmla="*/ 519112 h 1847850"/>
                <a:gd name="connsiteX24" fmla="*/ 516199 w 1844247"/>
                <a:gd name="connsiteY24" fmla="*/ 576263 h 1847850"/>
                <a:gd name="connsiteX25" fmla="*/ 502890 w 1844247"/>
                <a:gd name="connsiteY25" fmla="*/ 589598 h 1847850"/>
                <a:gd name="connsiteX26" fmla="*/ 352689 w 1844247"/>
                <a:gd name="connsiteY26" fmla="*/ 588645 h 1847850"/>
                <a:gd name="connsiteX27" fmla="*/ 315614 w 1844247"/>
                <a:gd name="connsiteY27" fmla="*/ 606743 h 1847850"/>
                <a:gd name="connsiteX28" fmla="*/ 299453 w 1844247"/>
                <a:gd name="connsiteY28" fmla="*/ 637223 h 1847850"/>
                <a:gd name="connsiteX29" fmla="*/ 349837 w 1844247"/>
                <a:gd name="connsiteY29" fmla="*/ 714375 h 1847850"/>
                <a:gd name="connsiteX30" fmla="*/ 501940 w 1844247"/>
                <a:gd name="connsiteY30" fmla="*/ 705803 h 1847850"/>
                <a:gd name="connsiteX31" fmla="*/ 515249 w 1844247"/>
                <a:gd name="connsiteY31" fmla="*/ 716280 h 1847850"/>
                <a:gd name="connsiteX32" fmla="*/ 515249 w 1844247"/>
                <a:gd name="connsiteY32" fmla="*/ 822008 h 1847850"/>
                <a:gd name="connsiteX33" fmla="*/ 504792 w 1844247"/>
                <a:gd name="connsiteY33" fmla="*/ 832485 h 1847850"/>
                <a:gd name="connsiteX34" fmla="*/ 421135 w 1844247"/>
                <a:gd name="connsiteY34" fmla="*/ 832485 h 1847850"/>
                <a:gd name="connsiteX35" fmla="*/ 343182 w 1844247"/>
                <a:gd name="connsiteY35" fmla="*/ 832485 h 1847850"/>
                <a:gd name="connsiteX36" fmla="*/ 287094 w 1844247"/>
                <a:gd name="connsiteY36" fmla="*/ 886778 h 1847850"/>
                <a:gd name="connsiteX37" fmla="*/ 344133 w 1844247"/>
                <a:gd name="connsiteY37" fmla="*/ 943928 h 1847850"/>
                <a:gd name="connsiteX38" fmla="*/ 501940 w 1844247"/>
                <a:gd name="connsiteY38" fmla="*/ 943928 h 1847850"/>
                <a:gd name="connsiteX39" fmla="*/ 514298 w 1844247"/>
                <a:gd name="connsiteY39" fmla="*/ 956310 h 1847850"/>
                <a:gd name="connsiteX40" fmla="*/ 516199 w 1844247"/>
                <a:gd name="connsiteY40" fmla="*/ 1009650 h 1847850"/>
                <a:gd name="connsiteX41" fmla="*/ 578942 w 1844247"/>
                <a:gd name="connsiteY41" fmla="*/ 1063943 h 1847850"/>
                <a:gd name="connsiteX42" fmla="*/ 635980 w 1844247"/>
                <a:gd name="connsiteY42" fmla="*/ 1003935 h 1847850"/>
                <a:gd name="connsiteX43" fmla="*/ 635030 w 1844247"/>
                <a:gd name="connsiteY43" fmla="*/ 959168 h 1847850"/>
                <a:gd name="connsiteX44" fmla="*/ 650240 w 1844247"/>
                <a:gd name="connsiteY44" fmla="*/ 942975 h 1847850"/>
                <a:gd name="connsiteX45" fmla="*/ 806146 w 1844247"/>
                <a:gd name="connsiteY45" fmla="*/ 942975 h 1847850"/>
                <a:gd name="connsiteX46" fmla="*/ 847023 w 1844247"/>
                <a:gd name="connsiteY46" fmla="*/ 922020 h 1847850"/>
                <a:gd name="connsiteX47" fmla="*/ 1310937 w 1844247"/>
                <a:gd name="connsiteY47" fmla="*/ 824865 h 1847850"/>
                <a:gd name="connsiteX48" fmla="*/ 777626 w 1844247"/>
                <a:gd name="connsiteY48" fmla="*/ 1336358 h 1847850"/>
                <a:gd name="connsiteX49" fmla="*/ 1310937 w 1844247"/>
                <a:gd name="connsiteY49" fmla="*/ 1847850 h 1847850"/>
                <a:gd name="connsiteX50" fmla="*/ 1844248 w 1844247"/>
                <a:gd name="connsiteY50" fmla="*/ 1336358 h 1847850"/>
                <a:gd name="connsiteX51" fmla="*/ 1310937 w 1844247"/>
                <a:gd name="connsiteY51" fmla="*/ 824865 h 1847850"/>
                <a:gd name="connsiteX52" fmla="*/ 1303332 w 1844247"/>
                <a:gd name="connsiteY52" fmla="*/ 1766888 h 1847850"/>
                <a:gd name="connsiteX53" fmla="*/ 882197 w 1844247"/>
                <a:gd name="connsiteY53" fmla="*/ 1325880 h 1847850"/>
                <a:gd name="connsiteX54" fmla="*/ 1303332 w 1844247"/>
                <a:gd name="connsiteY54" fmla="*/ 924878 h 1847850"/>
                <a:gd name="connsiteX55" fmla="*/ 1764394 w 1844247"/>
                <a:gd name="connsiteY55" fmla="*/ 1325880 h 1847850"/>
                <a:gd name="connsiteX56" fmla="*/ 1303332 w 1844247"/>
                <a:gd name="connsiteY56" fmla="*/ 1766888 h 1847850"/>
                <a:gd name="connsiteX57" fmla="*/ 1555252 w 1844247"/>
                <a:gd name="connsiteY57" fmla="*/ 120015 h 1847850"/>
                <a:gd name="connsiteX58" fmla="*/ 1555252 w 1844247"/>
                <a:gd name="connsiteY58" fmla="*/ 764858 h 1847850"/>
                <a:gd name="connsiteX59" fmla="*/ 1578068 w 1844247"/>
                <a:gd name="connsiteY59" fmla="*/ 769620 h 1847850"/>
                <a:gd name="connsiteX60" fmla="*/ 1638909 w 1844247"/>
                <a:gd name="connsiteY60" fmla="*/ 824865 h 1847850"/>
                <a:gd name="connsiteX61" fmla="*/ 1638909 w 1844247"/>
                <a:gd name="connsiteY61" fmla="*/ 196215 h 1847850"/>
                <a:gd name="connsiteX62" fmla="*/ 1458287 w 1844247"/>
                <a:gd name="connsiteY62" fmla="*/ 0 h 1847850"/>
                <a:gd name="connsiteX63" fmla="*/ 201536 w 1844247"/>
                <a:gd name="connsiteY63" fmla="*/ 0 h 1847850"/>
                <a:gd name="connsiteX64" fmla="*/ 0 w 1844247"/>
                <a:gd name="connsiteY64" fmla="*/ 196215 h 1847850"/>
                <a:gd name="connsiteX65" fmla="*/ 0 w 1844247"/>
                <a:gd name="connsiteY65" fmla="*/ 1557338 h 1847850"/>
                <a:gd name="connsiteX66" fmla="*/ 201536 w 1844247"/>
                <a:gd name="connsiteY66" fmla="*/ 1729740 h 1847850"/>
                <a:gd name="connsiteX67" fmla="*/ 859382 w 1844247"/>
                <a:gd name="connsiteY67" fmla="*/ 1729740 h 1847850"/>
                <a:gd name="connsiteX68" fmla="*/ 775725 w 1844247"/>
                <a:gd name="connsiteY68" fmla="*/ 1632585 h 1847850"/>
                <a:gd name="connsiteX69" fmla="*/ 770021 w 1844247"/>
                <a:gd name="connsiteY69" fmla="*/ 1612583 h 1847850"/>
                <a:gd name="connsiteX70" fmla="*/ 206290 w 1844247"/>
                <a:gd name="connsiteY70" fmla="*/ 1612583 h 1847850"/>
                <a:gd name="connsiteX71" fmla="*/ 83657 w 1844247"/>
                <a:gd name="connsiteY71" fmla="*/ 1536383 h 1847850"/>
                <a:gd name="connsiteX72" fmla="*/ 83657 w 1844247"/>
                <a:gd name="connsiteY72" fmla="*/ 120015 h 1847850"/>
                <a:gd name="connsiteX73" fmla="*/ 1052362 w 1844247"/>
                <a:gd name="connsiteY73" fmla="*/ 432435 h 1847850"/>
                <a:gd name="connsiteX74" fmla="*/ 983916 w 1844247"/>
                <a:gd name="connsiteY74" fmla="*/ 491490 h 1847850"/>
                <a:gd name="connsiteX75" fmla="*/ 1052362 w 1844247"/>
                <a:gd name="connsiteY75" fmla="*/ 550545 h 1847850"/>
                <a:gd name="connsiteX76" fmla="*/ 1284319 w 1844247"/>
                <a:gd name="connsiteY76" fmla="*/ 550545 h 1847850"/>
                <a:gd name="connsiteX77" fmla="*/ 1352765 w 1844247"/>
                <a:gd name="connsiteY77" fmla="*/ 491490 h 1847850"/>
                <a:gd name="connsiteX78" fmla="*/ 1284319 w 1844247"/>
                <a:gd name="connsiteY78" fmla="*/ 432435 h 1847850"/>
                <a:gd name="connsiteX79" fmla="*/ 1052362 w 1844247"/>
                <a:gd name="connsiteY79" fmla="*/ 432435 h 1847850"/>
                <a:gd name="connsiteX80" fmla="*/ 1246293 w 1844247"/>
                <a:gd name="connsiteY80" fmla="*/ 1524000 h 1847850"/>
                <a:gd name="connsiteX81" fmla="*/ 1210169 w 1844247"/>
                <a:gd name="connsiteY81" fmla="*/ 1509713 h 1847850"/>
                <a:gd name="connsiteX82" fmla="*/ 1100845 w 1844247"/>
                <a:gd name="connsiteY82" fmla="*/ 1404938 h 1847850"/>
                <a:gd name="connsiteX83" fmla="*/ 1100845 w 1844247"/>
                <a:gd name="connsiteY83" fmla="*/ 1335405 h 1847850"/>
                <a:gd name="connsiteX84" fmla="*/ 1136969 w 1844247"/>
                <a:gd name="connsiteY84" fmla="*/ 1321118 h 1847850"/>
                <a:gd name="connsiteX85" fmla="*/ 1173094 w 1844247"/>
                <a:gd name="connsiteY85" fmla="*/ 1335405 h 1847850"/>
                <a:gd name="connsiteX86" fmla="*/ 1245343 w 1844247"/>
                <a:gd name="connsiteY86" fmla="*/ 1404938 h 1847850"/>
                <a:gd name="connsiteX87" fmla="*/ 1457336 w 1844247"/>
                <a:gd name="connsiteY87" fmla="*/ 1202055 h 1847850"/>
                <a:gd name="connsiteX88" fmla="*/ 1493461 w 1844247"/>
                <a:gd name="connsiteY88" fmla="*/ 1187768 h 1847850"/>
                <a:gd name="connsiteX89" fmla="*/ 1529585 w 1844247"/>
                <a:gd name="connsiteY89" fmla="*/ 1202055 h 1847850"/>
                <a:gd name="connsiteX90" fmla="*/ 1529585 w 1844247"/>
                <a:gd name="connsiteY90" fmla="*/ 1271588 h 1847850"/>
                <a:gd name="connsiteX91" fmla="*/ 1281467 w 1844247"/>
                <a:gd name="connsiteY91" fmla="*/ 1509713 h 1847850"/>
                <a:gd name="connsiteX92" fmla="*/ 1246293 w 1844247"/>
                <a:gd name="connsiteY92" fmla="*/ 1524000 h 1847850"/>
                <a:gd name="connsiteX93" fmla="*/ 587498 w 1844247"/>
                <a:gd name="connsiteY93" fmla="*/ 1219200 h 1847850"/>
                <a:gd name="connsiteX94" fmla="*/ 355541 w 1844247"/>
                <a:gd name="connsiteY94" fmla="*/ 1219200 h 1847850"/>
                <a:gd name="connsiteX95" fmla="*/ 287094 w 1844247"/>
                <a:gd name="connsiteY95" fmla="*/ 1278255 h 1847850"/>
                <a:gd name="connsiteX96" fmla="*/ 355541 w 1844247"/>
                <a:gd name="connsiteY96" fmla="*/ 1337310 h 1847850"/>
                <a:gd name="connsiteX97" fmla="*/ 587498 w 1844247"/>
                <a:gd name="connsiteY97" fmla="*/ 1337310 h 1847850"/>
                <a:gd name="connsiteX98" fmla="*/ 655944 w 1844247"/>
                <a:gd name="connsiteY98" fmla="*/ 1278255 h 1847850"/>
                <a:gd name="connsiteX99" fmla="*/ 587498 w 1844247"/>
                <a:gd name="connsiteY99" fmla="*/ 121920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844247" h="1847850">
                  <a:moveTo>
                    <a:pt x="847023" y="922020"/>
                  </a:moveTo>
                  <a:cubicBezTo>
                    <a:pt x="861283" y="902970"/>
                    <a:pt x="864135" y="882015"/>
                    <a:pt x="854628" y="860108"/>
                  </a:cubicBezTo>
                  <a:cubicBezTo>
                    <a:pt x="845122" y="838200"/>
                    <a:pt x="826109" y="831533"/>
                    <a:pt x="804244" y="830580"/>
                  </a:cubicBezTo>
                  <a:lnTo>
                    <a:pt x="648339" y="830580"/>
                  </a:lnTo>
                  <a:cubicBezTo>
                    <a:pt x="637882" y="830580"/>
                    <a:pt x="635030" y="827723"/>
                    <a:pt x="635980" y="817245"/>
                  </a:cubicBezTo>
                  <a:cubicBezTo>
                    <a:pt x="636931" y="784860"/>
                    <a:pt x="636931" y="752475"/>
                    <a:pt x="635980" y="720090"/>
                  </a:cubicBezTo>
                  <a:cubicBezTo>
                    <a:pt x="635980" y="706755"/>
                    <a:pt x="639783" y="703898"/>
                    <a:pt x="653092" y="703898"/>
                  </a:cubicBezTo>
                  <a:cubicBezTo>
                    <a:pt x="706328" y="703898"/>
                    <a:pt x="760515" y="703898"/>
                    <a:pt x="813751" y="702945"/>
                  </a:cubicBezTo>
                  <a:cubicBezTo>
                    <a:pt x="843221" y="701993"/>
                    <a:pt x="861283" y="681038"/>
                    <a:pt x="860332" y="651510"/>
                  </a:cubicBezTo>
                  <a:cubicBezTo>
                    <a:pt x="858431" y="615315"/>
                    <a:pt x="828961" y="586740"/>
                    <a:pt x="792837" y="586740"/>
                  </a:cubicBezTo>
                  <a:lnTo>
                    <a:pt x="651191" y="586740"/>
                  </a:lnTo>
                  <a:cubicBezTo>
                    <a:pt x="646437" y="586740"/>
                    <a:pt x="637882" y="588645"/>
                    <a:pt x="637882" y="581978"/>
                  </a:cubicBezTo>
                  <a:cubicBezTo>
                    <a:pt x="637882" y="565785"/>
                    <a:pt x="631227" y="548640"/>
                    <a:pt x="646437" y="533400"/>
                  </a:cubicBezTo>
                  <a:cubicBezTo>
                    <a:pt x="697772" y="481965"/>
                    <a:pt x="748156" y="428625"/>
                    <a:pt x="799491" y="376238"/>
                  </a:cubicBezTo>
                  <a:cubicBezTo>
                    <a:pt x="806146" y="369570"/>
                    <a:pt x="812800" y="361950"/>
                    <a:pt x="817553" y="354330"/>
                  </a:cubicBezTo>
                  <a:cubicBezTo>
                    <a:pt x="836566" y="325755"/>
                    <a:pt x="823257" y="291465"/>
                    <a:pt x="789034" y="282893"/>
                  </a:cubicBezTo>
                  <a:cubicBezTo>
                    <a:pt x="765268" y="277178"/>
                    <a:pt x="745304" y="287655"/>
                    <a:pt x="729143" y="302895"/>
                  </a:cubicBezTo>
                  <a:cubicBezTo>
                    <a:pt x="681611" y="347663"/>
                    <a:pt x="634079" y="391478"/>
                    <a:pt x="587498" y="437198"/>
                  </a:cubicBezTo>
                  <a:cubicBezTo>
                    <a:pt x="579892" y="444818"/>
                    <a:pt x="576090" y="443865"/>
                    <a:pt x="568485" y="436245"/>
                  </a:cubicBezTo>
                  <a:cubicBezTo>
                    <a:pt x="528558" y="393383"/>
                    <a:pt x="488631" y="351473"/>
                    <a:pt x="448704" y="309563"/>
                  </a:cubicBezTo>
                  <a:cubicBezTo>
                    <a:pt x="433493" y="293370"/>
                    <a:pt x="416382" y="281940"/>
                    <a:pt x="393566" y="278130"/>
                  </a:cubicBezTo>
                  <a:cubicBezTo>
                    <a:pt x="369800" y="273368"/>
                    <a:pt x="349837" y="284798"/>
                    <a:pt x="342232" y="308610"/>
                  </a:cubicBezTo>
                  <a:cubicBezTo>
                    <a:pt x="333676" y="336233"/>
                    <a:pt x="346985" y="359093"/>
                    <a:pt x="365047" y="378143"/>
                  </a:cubicBezTo>
                  <a:cubicBezTo>
                    <a:pt x="407826" y="425768"/>
                    <a:pt x="450605" y="473393"/>
                    <a:pt x="495285" y="519112"/>
                  </a:cubicBezTo>
                  <a:cubicBezTo>
                    <a:pt x="511446" y="536258"/>
                    <a:pt x="519051" y="553403"/>
                    <a:pt x="516199" y="576263"/>
                  </a:cubicBezTo>
                  <a:cubicBezTo>
                    <a:pt x="515249" y="586740"/>
                    <a:pt x="513347" y="589598"/>
                    <a:pt x="502890" y="589598"/>
                  </a:cubicBezTo>
                  <a:cubicBezTo>
                    <a:pt x="452506" y="588645"/>
                    <a:pt x="402122" y="589598"/>
                    <a:pt x="352689" y="588645"/>
                  </a:cubicBezTo>
                  <a:cubicBezTo>
                    <a:pt x="336528" y="588645"/>
                    <a:pt x="325120" y="594360"/>
                    <a:pt x="315614" y="606743"/>
                  </a:cubicBezTo>
                  <a:cubicBezTo>
                    <a:pt x="308008" y="616268"/>
                    <a:pt x="303255" y="625793"/>
                    <a:pt x="299453" y="637223"/>
                  </a:cubicBezTo>
                  <a:cubicBezTo>
                    <a:pt x="286144" y="678180"/>
                    <a:pt x="306107" y="714375"/>
                    <a:pt x="349837" y="714375"/>
                  </a:cubicBezTo>
                  <a:cubicBezTo>
                    <a:pt x="402122" y="714375"/>
                    <a:pt x="451556" y="706755"/>
                    <a:pt x="501940" y="705803"/>
                  </a:cubicBezTo>
                  <a:cubicBezTo>
                    <a:pt x="509545" y="705803"/>
                    <a:pt x="515249" y="705803"/>
                    <a:pt x="515249" y="716280"/>
                  </a:cubicBezTo>
                  <a:cubicBezTo>
                    <a:pt x="514298" y="751523"/>
                    <a:pt x="514298" y="786765"/>
                    <a:pt x="515249" y="822008"/>
                  </a:cubicBezTo>
                  <a:cubicBezTo>
                    <a:pt x="515249" y="830580"/>
                    <a:pt x="512397" y="832485"/>
                    <a:pt x="504792" y="832485"/>
                  </a:cubicBezTo>
                  <a:cubicBezTo>
                    <a:pt x="477223" y="831533"/>
                    <a:pt x="449654" y="832485"/>
                    <a:pt x="421135" y="832485"/>
                  </a:cubicBezTo>
                  <a:lnTo>
                    <a:pt x="343182" y="832485"/>
                  </a:lnTo>
                  <a:cubicBezTo>
                    <a:pt x="310860" y="832485"/>
                    <a:pt x="287094" y="856298"/>
                    <a:pt x="287094" y="886778"/>
                  </a:cubicBezTo>
                  <a:cubicBezTo>
                    <a:pt x="287094" y="919163"/>
                    <a:pt x="311811" y="943928"/>
                    <a:pt x="344133" y="943928"/>
                  </a:cubicBezTo>
                  <a:lnTo>
                    <a:pt x="501940" y="943928"/>
                  </a:lnTo>
                  <a:cubicBezTo>
                    <a:pt x="511446" y="943928"/>
                    <a:pt x="514298" y="945833"/>
                    <a:pt x="514298" y="956310"/>
                  </a:cubicBezTo>
                  <a:cubicBezTo>
                    <a:pt x="514298" y="974407"/>
                    <a:pt x="514298" y="991553"/>
                    <a:pt x="516199" y="1009650"/>
                  </a:cubicBezTo>
                  <a:cubicBezTo>
                    <a:pt x="519051" y="1044892"/>
                    <a:pt x="542817" y="1064895"/>
                    <a:pt x="578942" y="1063943"/>
                  </a:cubicBezTo>
                  <a:cubicBezTo>
                    <a:pt x="611264" y="1062990"/>
                    <a:pt x="635980" y="1038225"/>
                    <a:pt x="635980" y="1003935"/>
                  </a:cubicBezTo>
                  <a:cubicBezTo>
                    <a:pt x="635980" y="988695"/>
                    <a:pt x="636931" y="974407"/>
                    <a:pt x="635030" y="959168"/>
                  </a:cubicBezTo>
                  <a:cubicBezTo>
                    <a:pt x="633128" y="945833"/>
                    <a:pt x="637882" y="942975"/>
                    <a:pt x="650240" y="942975"/>
                  </a:cubicBezTo>
                  <a:cubicBezTo>
                    <a:pt x="702525" y="943928"/>
                    <a:pt x="754811" y="942975"/>
                    <a:pt x="806146" y="942975"/>
                  </a:cubicBezTo>
                  <a:cubicBezTo>
                    <a:pt x="824208" y="942023"/>
                    <a:pt x="837517" y="935355"/>
                    <a:pt x="847023" y="922020"/>
                  </a:cubicBezTo>
                  <a:close/>
                  <a:moveTo>
                    <a:pt x="1310937" y="824865"/>
                  </a:moveTo>
                  <a:cubicBezTo>
                    <a:pt x="1017188" y="824865"/>
                    <a:pt x="777626" y="1054418"/>
                    <a:pt x="777626" y="1336358"/>
                  </a:cubicBezTo>
                  <a:cubicBezTo>
                    <a:pt x="777626" y="1618298"/>
                    <a:pt x="1017188" y="1847850"/>
                    <a:pt x="1310937" y="1847850"/>
                  </a:cubicBezTo>
                  <a:cubicBezTo>
                    <a:pt x="1604686" y="1847850"/>
                    <a:pt x="1844248" y="1618298"/>
                    <a:pt x="1844248" y="1336358"/>
                  </a:cubicBezTo>
                  <a:cubicBezTo>
                    <a:pt x="1844248" y="1054418"/>
                    <a:pt x="1605637" y="824865"/>
                    <a:pt x="1310937" y="824865"/>
                  </a:cubicBezTo>
                  <a:close/>
                  <a:moveTo>
                    <a:pt x="1303332" y="1766888"/>
                  </a:moveTo>
                  <a:cubicBezTo>
                    <a:pt x="1071375" y="1766888"/>
                    <a:pt x="882197" y="1546860"/>
                    <a:pt x="882197" y="1325880"/>
                  </a:cubicBezTo>
                  <a:cubicBezTo>
                    <a:pt x="882197" y="1104900"/>
                    <a:pt x="1071375" y="924878"/>
                    <a:pt x="1303332" y="924878"/>
                  </a:cubicBezTo>
                  <a:cubicBezTo>
                    <a:pt x="1535289" y="924878"/>
                    <a:pt x="1764394" y="1104900"/>
                    <a:pt x="1764394" y="1325880"/>
                  </a:cubicBezTo>
                  <a:cubicBezTo>
                    <a:pt x="1764394" y="1546860"/>
                    <a:pt x="1535289" y="1766888"/>
                    <a:pt x="1303332" y="1766888"/>
                  </a:cubicBezTo>
                  <a:close/>
                  <a:moveTo>
                    <a:pt x="1555252" y="120015"/>
                  </a:moveTo>
                  <a:lnTo>
                    <a:pt x="1555252" y="764858"/>
                  </a:lnTo>
                  <a:lnTo>
                    <a:pt x="1578068" y="769620"/>
                  </a:lnTo>
                  <a:cubicBezTo>
                    <a:pt x="1622748" y="782955"/>
                    <a:pt x="1586624" y="801053"/>
                    <a:pt x="1638909" y="824865"/>
                  </a:cubicBezTo>
                  <a:lnTo>
                    <a:pt x="1638909" y="196215"/>
                  </a:lnTo>
                  <a:cubicBezTo>
                    <a:pt x="1638909" y="86678"/>
                    <a:pt x="1569512" y="0"/>
                    <a:pt x="1458287" y="0"/>
                  </a:cubicBezTo>
                  <a:lnTo>
                    <a:pt x="201536" y="0"/>
                  </a:lnTo>
                  <a:cubicBezTo>
                    <a:pt x="90311" y="0"/>
                    <a:pt x="0" y="88583"/>
                    <a:pt x="0" y="196215"/>
                  </a:cubicBezTo>
                  <a:lnTo>
                    <a:pt x="0" y="1557338"/>
                  </a:lnTo>
                  <a:cubicBezTo>
                    <a:pt x="0" y="1665923"/>
                    <a:pt x="89360" y="1729740"/>
                    <a:pt x="201536" y="1729740"/>
                  </a:cubicBezTo>
                  <a:lnTo>
                    <a:pt x="859382" y="1729740"/>
                  </a:lnTo>
                  <a:cubicBezTo>
                    <a:pt x="827060" y="1681163"/>
                    <a:pt x="798540" y="1679258"/>
                    <a:pt x="775725" y="1632585"/>
                  </a:cubicBezTo>
                  <a:lnTo>
                    <a:pt x="770021" y="1612583"/>
                  </a:lnTo>
                  <a:lnTo>
                    <a:pt x="206290" y="1612583"/>
                  </a:lnTo>
                  <a:cubicBezTo>
                    <a:pt x="191079" y="1612583"/>
                    <a:pt x="83657" y="1556385"/>
                    <a:pt x="83657" y="1536383"/>
                  </a:cubicBezTo>
                  <a:lnTo>
                    <a:pt x="83657" y="120015"/>
                  </a:lnTo>
                  <a:moveTo>
                    <a:pt x="1052362" y="432435"/>
                  </a:moveTo>
                  <a:cubicBezTo>
                    <a:pt x="1014336" y="432435"/>
                    <a:pt x="983916" y="459105"/>
                    <a:pt x="983916" y="491490"/>
                  </a:cubicBezTo>
                  <a:cubicBezTo>
                    <a:pt x="983916" y="523875"/>
                    <a:pt x="1014336" y="550545"/>
                    <a:pt x="1052362" y="550545"/>
                  </a:cubicBezTo>
                  <a:lnTo>
                    <a:pt x="1284319" y="550545"/>
                  </a:lnTo>
                  <a:cubicBezTo>
                    <a:pt x="1322345" y="550545"/>
                    <a:pt x="1352765" y="523875"/>
                    <a:pt x="1352765" y="491490"/>
                  </a:cubicBezTo>
                  <a:cubicBezTo>
                    <a:pt x="1352765" y="459105"/>
                    <a:pt x="1322345" y="432435"/>
                    <a:pt x="1284319" y="432435"/>
                  </a:cubicBezTo>
                  <a:lnTo>
                    <a:pt x="1052362" y="432435"/>
                  </a:lnTo>
                  <a:close/>
                  <a:moveTo>
                    <a:pt x="1246293" y="1524000"/>
                  </a:moveTo>
                  <a:cubicBezTo>
                    <a:pt x="1232984" y="1524000"/>
                    <a:pt x="1219675" y="1519238"/>
                    <a:pt x="1210169" y="1509713"/>
                  </a:cubicBezTo>
                  <a:lnTo>
                    <a:pt x="1100845" y="1404938"/>
                  </a:lnTo>
                  <a:cubicBezTo>
                    <a:pt x="1080882" y="1385888"/>
                    <a:pt x="1080882" y="1354455"/>
                    <a:pt x="1100845" y="1335405"/>
                  </a:cubicBezTo>
                  <a:cubicBezTo>
                    <a:pt x="1111302" y="1325880"/>
                    <a:pt x="1123660" y="1321118"/>
                    <a:pt x="1136969" y="1321118"/>
                  </a:cubicBezTo>
                  <a:cubicBezTo>
                    <a:pt x="1150278" y="1321118"/>
                    <a:pt x="1163587" y="1325880"/>
                    <a:pt x="1173094" y="1335405"/>
                  </a:cubicBezTo>
                  <a:lnTo>
                    <a:pt x="1245343" y="1404938"/>
                  </a:lnTo>
                  <a:lnTo>
                    <a:pt x="1457336" y="1202055"/>
                  </a:lnTo>
                  <a:cubicBezTo>
                    <a:pt x="1466843" y="1192530"/>
                    <a:pt x="1480152" y="1187768"/>
                    <a:pt x="1493461" y="1187768"/>
                  </a:cubicBezTo>
                  <a:cubicBezTo>
                    <a:pt x="1506770" y="1187768"/>
                    <a:pt x="1520079" y="1192530"/>
                    <a:pt x="1529585" y="1202055"/>
                  </a:cubicBezTo>
                  <a:cubicBezTo>
                    <a:pt x="1549549" y="1221105"/>
                    <a:pt x="1549549" y="1252538"/>
                    <a:pt x="1529585" y="1271588"/>
                  </a:cubicBezTo>
                  <a:lnTo>
                    <a:pt x="1281467" y="1509713"/>
                  </a:lnTo>
                  <a:cubicBezTo>
                    <a:pt x="1272911" y="1519238"/>
                    <a:pt x="1259602" y="1524000"/>
                    <a:pt x="1246293" y="1524000"/>
                  </a:cubicBezTo>
                  <a:close/>
                  <a:moveTo>
                    <a:pt x="587498" y="1219200"/>
                  </a:moveTo>
                  <a:lnTo>
                    <a:pt x="355541" y="1219200"/>
                  </a:lnTo>
                  <a:cubicBezTo>
                    <a:pt x="317515" y="1219200"/>
                    <a:pt x="287094" y="1245870"/>
                    <a:pt x="287094" y="1278255"/>
                  </a:cubicBezTo>
                  <a:cubicBezTo>
                    <a:pt x="287094" y="1310640"/>
                    <a:pt x="317515" y="1337310"/>
                    <a:pt x="355541" y="1337310"/>
                  </a:cubicBezTo>
                  <a:lnTo>
                    <a:pt x="587498" y="1337310"/>
                  </a:lnTo>
                  <a:cubicBezTo>
                    <a:pt x="625523" y="1337310"/>
                    <a:pt x="655944" y="1310640"/>
                    <a:pt x="655944" y="1278255"/>
                  </a:cubicBezTo>
                  <a:cubicBezTo>
                    <a:pt x="655944" y="1244918"/>
                    <a:pt x="625523" y="1219200"/>
                    <a:pt x="587498" y="1219200"/>
                  </a:cubicBezTo>
                  <a:close/>
                </a:path>
              </a:pathLst>
            </a:custGeom>
            <a:solidFill>
              <a:schemeClr val="accent1"/>
            </a:solidFill>
            <a:ln w="1857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416476" y="875592"/>
            <a:ext cx="2016125" cy="1523084"/>
            <a:chOff x="7174037" y="908050"/>
            <a:chExt cx="2016125" cy="1523084"/>
          </a:xfrm>
        </p:grpSpPr>
        <p:sp>
          <p:nvSpPr>
            <p:cNvPr id="81" name="矩形 80"/>
            <p:cNvSpPr/>
            <p:nvPr/>
          </p:nvSpPr>
          <p:spPr>
            <a:xfrm>
              <a:off x="7174037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矩形: 圆顶角 81"/>
            <p:cNvSpPr/>
            <p:nvPr/>
          </p:nvSpPr>
          <p:spPr>
            <a:xfrm flipH="1" flipV="1">
              <a:off x="7174037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821958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利润率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489458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38.8%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5" name="TextBox 28+"/>
            <p:cNvSpPr txBox="1"/>
            <p:nvPr/>
          </p:nvSpPr>
          <p:spPr>
            <a:xfrm>
              <a:off x="7481949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86" name="TextBox 28++"/>
            <p:cNvSpPr txBox="1"/>
            <p:nvPr/>
          </p:nvSpPr>
          <p:spPr>
            <a:xfrm>
              <a:off x="7981785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2.1%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V="1">
              <a:off x="8664460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图形 91"/>
            <p:cNvSpPr/>
            <p:nvPr/>
          </p:nvSpPr>
          <p:spPr>
            <a:xfrm>
              <a:off x="7489458" y="1155541"/>
              <a:ext cx="236538" cy="270329"/>
            </a:xfrm>
            <a:custGeom>
              <a:avLst/>
              <a:gdLst>
                <a:gd name="connsiteX0" fmla="*/ 1488281 w 1666875"/>
                <a:gd name="connsiteY0" fmla="*/ 1547813 h 1905000"/>
                <a:gd name="connsiteX1" fmla="*/ 1666875 w 1666875"/>
                <a:gd name="connsiteY1" fmla="*/ 1726406 h 1905000"/>
                <a:gd name="connsiteX2" fmla="*/ 1488281 w 1666875"/>
                <a:gd name="connsiteY2" fmla="*/ 1905000 h 1905000"/>
                <a:gd name="connsiteX3" fmla="*/ 1309688 w 1666875"/>
                <a:gd name="connsiteY3" fmla="*/ 1726406 h 1905000"/>
                <a:gd name="connsiteX4" fmla="*/ 1488281 w 1666875"/>
                <a:gd name="connsiteY4" fmla="*/ 1547813 h 1905000"/>
                <a:gd name="connsiteX5" fmla="*/ 833438 w 1666875"/>
                <a:gd name="connsiteY5" fmla="*/ 0 h 1905000"/>
                <a:gd name="connsiteX6" fmla="*/ 1646932 w 1666875"/>
                <a:gd name="connsiteY6" fmla="*/ 251222 h 1905000"/>
                <a:gd name="connsiteX7" fmla="*/ 1666875 w 1666875"/>
                <a:gd name="connsiteY7" fmla="*/ 297656 h 1905000"/>
                <a:gd name="connsiteX8" fmla="*/ 1666875 w 1666875"/>
                <a:gd name="connsiteY8" fmla="*/ 839391 h 1905000"/>
                <a:gd name="connsiteX9" fmla="*/ 1607344 w 1666875"/>
                <a:gd name="connsiteY9" fmla="*/ 898922 h 1905000"/>
                <a:gd name="connsiteX10" fmla="*/ 1547813 w 1666875"/>
                <a:gd name="connsiteY10" fmla="*/ 839391 h 1905000"/>
                <a:gd name="connsiteX11" fmla="*/ 1547932 w 1666875"/>
                <a:gd name="connsiteY11" fmla="*/ 502741 h 1905000"/>
                <a:gd name="connsiteX12" fmla="*/ 833438 w 1666875"/>
                <a:gd name="connsiteY12" fmla="*/ 654844 h 1905000"/>
                <a:gd name="connsiteX13" fmla="*/ 119063 w 1666875"/>
                <a:gd name="connsiteY13" fmla="*/ 502801 h 1905000"/>
                <a:gd name="connsiteX14" fmla="*/ 119063 w 1666875"/>
                <a:gd name="connsiteY14" fmla="*/ 720328 h 1905000"/>
                <a:gd name="connsiteX15" fmla="*/ 607219 w 1666875"/>
                <a:gd name="connsiteY15" fmla="*/ 916781 h 1905000"/>
                <a:gd name="connsiteX16" fmla="*/ 660797 w 1666875"/>
                <a:gd name="connsiteY16" fmla="*/ 982266 h 1905000"/>
                <a:gd name="connsiteX17" fmla="*/ 595313 w 1666875"/>
                <a:gd name="connsiteY17" fmla="*/ 1035844 h 1905000"/>
                <a:gd name="connsiteX18" fmla="*/ 119063 w 1666875"/>
                <a:gd name="connsiteY18" fmla="*/ 897731 h 1905000"/>
                <a:gd name="connsiteX19" fmla="*/ 119063 w 1666875"/>
                <a:gd name="connsiteY19" fmla="*/ 1137047 h 1905000"/>
                <a:gd name="connsiteX20" fmla="*/ 714375 w 1666875"/>
                <a:gd name="connsiteY20" fmla="*/ 1339453 h 1905000"/>
                <a:gd name="connsiteX21" fmla="*/ 767953 w 1666875"/>
                <a:gd name="connsiteY21" fmla="*/ 1404938 h 1905000"/>
                <a:gd name="connsiteX22" fmla="*/ 702469 w 1666875"/>
                <a:gd name="connsiteY22" fmla="*/ 1458516 h 1905000"/>
                <a:gd name="connsiteX23" fmla="*/ 119063 w 1666875"/>
                <a:gd name="connsiteY23" fmla="*/ 1312247 h 1905000"/>
                <a:gd name="connsiteX24" fmla="*/ 119063 w 1666875"/>
                <a:gd name="connsiteY24" fmla="*/ 1553766 h 1905000"/>
                <a:gd name="connsiteX25" fmla="*/ 833438 w 1666875"/>
                <a:gd name="connsiteY25" fmla="*/ 1762125 h 1905000"/>
                <a:gd name="connsiteX26" fmla="*/ 892969 w 1666875"/>
                <a:gd name="connsiteY26" fmla="*/ 1821656 h 1905000"/>
                <a:gd name="connsiteX27" fmla="*/ 833438 w 1666875"/>
                <a:gd name="connsiteY27" fmla="*/ 1881188 h 1905000"/>
                <a:gd name="connsiteX28" fmla="*/ 0 w 1666875"/>
                <a:gd name="connsiteY28" fmla="*/ 1553766 h 1905000"/>
                <a:gd name="connsiteX29" fmla="*/ 0 w 1666875"/>
                <a:gd name="connsiteY29" fmla="*/ 297656 h 1905000"/>
                <a:gd name="connsiteX30" fmla="*/ 20002 w 1666875"/>
                <a:gd name="connsiteY30" fmla="*/ 251222 h 1905000"/>
                <a:gd name="connsiteX31" fmla="*/ 833438 w 1666875"/>
                <a:gd name="connsiteY31" fmla="*/ 0 h 1905000"/>
                <a:gd name="connsiteX32" fmla="*/ 1488281 w 1666875"/>
                <a:gd name="connsiteY32" fmla="*/ 1666875 h 1905000"/>
                <a:gd name="connsiteX33" fmla="*/ 1428750 w 1666875"/>
                <a:gd name="connsiteY33" fmla="*/ 1726406 h 1905000"/>
                <a:gd name="connsiteX34" fmla="*/ 1488281 w 1666875"/>
                <a:gd name="connsiteY34" fmla="*/ 1785938 h 1905000"/>
                <a:gd name="connsiteX35" fmla="*/ 1547813 w 1666875"/>
                <a:gd name="connsiteY35" fmla="*/ 1726406 h 1905000"/>
                <a:gd name="connsiteX36" fmla="*/ 1488281 w 1666875"/>
                <a:gd name="connsiteY36" fmla="*/ 1666875 h 1905000"/>
                <a:gd name="connsiteX37" fmla="*/ 1545431 w 1666875"/>
                <a:gd name="connsiteY37" fmla="*/ 1071563 h 1905000"/>
                <a:gd name="connsiteX38" fmla="*/ 1629609 w 1666875"/>
                <a:gd name="connsiteY38" fmla="*/ 1155740 h 1905000"/>
                <a:gd name="connsiteX39" fmla="*/ 1040249 w 1666875"/>
                <a:gd name="connsiteY39" fmla="*/ 1745099 h 1905000"/>
                <a:gd name="connsiteX40" fmla="*/ 956072 w 1666875"/>
                <a:gd name="connsiteY40" fmla="*/ 1660922 h 1905000"/>
                <a:gd name="connsiteX41" fmla="*/ 1545431 w 1666875"/>
                <a:gd name="connsiteY41" fmla="*/ 1071563 h 1905000"/>
                <a:gd name="connsiteX42" fmla="*/ 1071563 w 1666875"/>
                <a:gd name="connsiteY42" fmla="*/ 952500 h 1905000"/>
                <a:gd name="connsiteX43" fmla="*/ 1250156 w 1666875"/>
                <a:gd name="connsiteY43" fmla="*/ 1131094 h 1905000"/>
                <a:gd name="connsiteX44" fmla="*/ 1071563 w 1666875"/>
                <a:gd name="connsiteY44" fmla="*/ 1309688 h 1905000"/>
                <a:gd name="connsiteX45" fmla="*/ 892969 w 1666875"/>
                <a:gd name="connsiteY45" fmla="*/ 1131094 h 1905000"/>
                <a:gd name="connsiteX46" fmla="*/ 1071563 w 1666875"/>
                <a:gd name="connsiteY46" fmla="*/ 952500 h 1905000"/>
                <a:gd name="connsiteX47" fmla="*/ 1071563 w 1666875"/>
                <a:gd name="connsiteY47" fmla="*/ 1071563 h 1905000"/>
                <a:gd name="connsiteX48" fmla="*/ 1012031 w 1666875"/>
                <a:gd name="connsiteY48" fmla="*/ 1131094 h 1905000"/>
                <a:gd name="connsiteX49" fmla="*/ 1071563 w 1666875"/>
                <a:gd name="connsiteY49" fmla="*/ 1190625 h 1905000"/>
                <a:gd name="connsiteX50" fmla="*/ 1131094 w 1666875"/>
                <a:gd name="connsiteY50" fmla="*/ 1131094 h 1905000"/>
                <a:gd name="connsiteX51" fmla="*/ 1071563 w 1666875"/>
                <a:gd name="connsiteY51" fmla="*/ 1071563 h 1905000"/>
                <a:gd name="connsiteX52" fmla="*/ 833438 w 1666875"/>
                <a:gd name="connsiteY52" fmla="*/ 119063 h 1905000"/>
                <a:gd name="connsiteX53" fmla="*/ 119063 w 1666875"/>
                <a:gd name="connsiteY53" fmla="*/ 327422 h 1905000"/>
                <a:gd name="connsiteX54" fmla="*/ 833438 w 1666875"/>
                <a:gd name="connsiteY54" fmla="*/ 535781 h 1905000"/>
                <a:gd name="connsiteX55" fmla="*/ 1547813 w 1666875"/>
                <a:gd name="connsiteY55" fmla="*/ 327422 h 1905000"/>
                <a:gd name="connsiteX56" fmla="*/ 833438 w 1666875"/>
                <a:gd name="connsiteY56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666875" h="1905000">
                  <a:moveTo>
                    <a:pt x="1488281" y="1547813"/>
                  </a:moveTo>
                  <a:cubicBezTo>
                    <a:pt x="1589484" y="1547813"/>
                    <a:pt x="1666875" y="1625203"/>
                    <a:pt x="1666875" y="1726406"/>
                  </a:cubicBezTo>
                  <a:cubicBezTo>
                    <a:pt x="1666875" y="1827609"/>
                    <a:pt x="1589484" y="1905000"/>
                    <a:pt x="1488281" y="1905000"/>
                  </a:cubicBezTo>
                  <a:cubicBezTo>
                    <a:pt x="1387078" y="1905000"/>
                    <a:pt x="1309688" y="1827609"/>
                    <a:pt x="1309688" y="1726406"/>
                  </a:cubicBezTo>
                  <a:cubicBezTo>
                    <a:pt x="1309688" y="1625203"/>
                    <a:pt x="1387078" y="1547813"/>
                    <a:pt x="1488281" y="1547813"/>
                  </a:cubicBezTo>
                  <a:close/>
                  <a:moveTo>
                    <a:pt x="833438" y="0"/>
                  </a:moveTo>
                  <a:cubicBezTo>
                    <a:pt x="1229678" y="0"/>
                    <a:pt x="1563588" y="97869"/>
                    <a:pt x="1646932" y="251222"/>
                  </a:cubicBezTo>
                  <a:cubicBezTo>
                    <a:pt x="1659553" y="261640"/>
                    <a:pt x="1666875" y="277832"/>
                    <a:pt x="1666875" y="297656"/>
                  </a:cubicBezTo>
                  <a:lnTo>
                    <a:pt x="1666875" y="839391"/>
                  </a:lnTo>
                  <a:cubicBezTo>
                    <a:pt x="1666875" y="875109"/>
                    <a:pt x="1643063" y="898922"/>
                    <a:pt x="1607344" y="898922"/>
                  </a:cubicBezTo>
                  <a:cubicBezTo>
                    <a:pt x="1571625" y="898922"/>
                    <a:pt x="1547813" y="875109"/>
                    <a:pt x="1547813" y="839391"/>
                  </a:cubicBezTo>
                  <a:lnTo>
                    <a:pt x="1547932" y="502741"/>
                  </a:lnTo>
                  <a:cubicBezTo>
                    <a:pt x="1401782" y="597872"/>
                    <a:pt x="1135737" y="654844"/>
                    <a:pt x="833438" y="654844"/>
                  </a:cubicBezTo>
                  <a:cubicBezTo>
                    <a:pt x="531197" y="654844"/>
                    <a:pt x="265212" y="597932"/>
                    <a:pt x="119063" y="502801"/>
                  </a:cubicBezTo>
                  <a:lnTo>
                    <a:pt x="119063" y="720328"/>
                  </a:lnTo>
                  <a:cubicBezTo>
                    <a:pt x="119063" y="791766"/>
                    <a:pt x="315516" y="887016"/>
                    <a:pt x="607219" y="916781"/>
                  </a:cubicBezTo>
                  <a:cubicBezTo>
                    <a:pt x="636984" y="922734"/>
                    <a:pt x="660797" y="952500"/>
                    <a:pt x="660797" y="982266"/>
                  </a:cubicBezTo>
                  <a:cubicBezTo>
                    <a:pt x="654844" y="1012031"/>
                    <a:pt x="625078" y="1035844"/>
                    <a:pt x="595313" y="1035844"/>
                  </a:cubicBezTo>
                  <a:cubicBezTo>
                    <a:pt x="391597" y="1015127"/>
                    <a:pt x="223957" y="966371"/>
                    <a:pt x="119063" y="897731"/>
                  </a:cubicBezTo>
                  <a:lnTo>
                    <a:pt x="119063" y="1137047"/>
                  </a:lnTo>
                  <a:cubicBezTo>
                    <a:pt x="119063" y="1220391"/>
                    <a:pt x="369094" y="1321594"/>
                    <a:pt x="714375" y="1339453"/>
                  </a:cubicBezTo>
                  <a:cubicBezTo>
                    <a:pt x="750094" y="1339453"/>
                    <a:pt x="773906" y="1369219"/>
                    <a:pt x="767953" y="1404938"/>
                  </a:cubicBezTo>
                  <a:cubicBezTo>
                    <a:pt x="767953" y="1440656"/>
                    <a:pt x="738188" y="1464469"/>
                    <a:pt x="702469" y="1458516"/>
                  </a:cubicBezTo>
                  <a:cubicBezTo>
                    <a:pt x="454521" y="1443692"/>
                    <a:pt x="243364" y="1392079"/>
                    <a:pt x="119063" y="1312247"/>
                  </a:cubicBezTo>
                  <a:lnTo>
                    <a:pt x="119063" y="1553766"/>
                  </a:lnTo>
                  <a:cubicBezTo>
                    <a:pt x="119063" y="1649016"/>
                    <a:pt x="440531" y="1762125"/>
                    <a:pt x="833438" y="1762125"/>
                  </a:cubicBezTo>
                  <a:cubicBezTo>
                    <a:pt x="869156" y="1762125"/>
                    <a:pt x="892969" y="1785938"/>
                    <a:pt x="892969" y="1821656"/>
                  </a:cubicBezTo>
                  <a:cubicBezTo>
                    <a:pt x="892969" y="1857375"/>
                    <a:pt x="869156" y="1881188"/>
                    <a:pt x="833438" y="1881188"/>
                  </a:cubicBezTo>
                  <a:cubicBezTo>
                    <a:pt x="375047" y="1881188"/>
                    <a:pt x="0" y="1750219"/>
                    <a:pt x="0" y="1553766"/>
                  </a:cubicBezTo>
                  <a:lnTo>
                    <a:pt x="0" y="297656"/>
                  </a:lnTo>
                  <a:cubicBezTo>
                    <a:pt x="0" y="277832"/>
                    <a:pt x="7322" y="261640"/>
                    <a:pt x="20002" y="251222"/>
                  </a:cubicBezTo>
                  <a:cubicBezTo>
                    <a:pt x="103287" y="97869"/>
                    <a:pt x="437198" y="0"/>
                    <a:pt x="833438" y="0"/>
                  </a:cubicBezTo>
                  <a:close/>
                  <a:moveTo>
                    <a:pt x="1488281" y="1666875"/>
                  </a:moveTo>
                  <a:cubicBezTo>
                    <a:pt x="1452563" y="1666875"/>
                    <a:pt x="1428750" y="1690688"/>
                    <a:pt x="1428750" y="1726406"/>
                  </a:cubicBezTo>
                  <a:cubicBezTo>
                    <a:pt x="1428750" y="1762125"/>
                    <a:pt x="1452563" y="1785938"/>
                    <a:pt x="1488281" y="1785938"/>
                  </a:cubicBezTo>
                  <a:cubicBezTo>
                    <a:pt x="1524000" y="1785938"/>
                    <a:pt x="1547813" y="1762125"/>
                    <a:pt x="1547813" y="1726406"/>
                  </a:cubicBezTo>
                  <a:cubicBezTo>
                    <a:pt x="1547813" y="1690688"/>
                    <a:pt x="1524000" y="1666875"/>
                    <a:pt x="1488281" y="1666875"/>
                  </a:cubicBezTo>
                  <a:close/>
                  <a:moveTo>
                    <a:pt x="1545431" y="1071563"/>
                  </a:moveTo>
                  <a:lnTo>
                    <a:pt x="1629609" y="1155740"/>
                  </a:lnTo>
                  <a:lnTo>
                    <a:pt x="1040249" y="1745099"/>
                  </a:lnTo>
                  <a:lnTo>
                    <a:pt x="956072" y="1660922"/>
                  </a:lnTo>
                  <a:lnTo>
                    <a:pt x="1545431" y="1071563"/>
                  </a:lnTo>
                  <a:close/>
                  <a:moveTo>
                    <a:pt x="1071563" y="952500"/>
                  </a:moveTo>
                  <a:cubicBezTo>
                    <a:pt x="1172766" y="952500"/>
                    <a:pt x="1250156" y="1029891"/>
                    <a:pt x="1250156" y="1131094"/>
                  </a:cubicBezTo>
                  <a:cubicBezTo>
                    <a:pt x="1250156" y="1232297"/>
                    <a:pt x="1172766" y="1309688"/>
                    <a:pt x="1071563" y="1309688"/>
                  </a:cubicBezTo>
                  <a:cubicBezTo>
                    <a:pt x="970359" y="1309688"/>
                    <a:pt x="892969" y="1232297"/>
                    <a:pt x="892969" y="1131094"/>
                  </a:cubicBezTo>
                  <a:cubicBezTo>
                    <a:pt x="892969" y="1029891"/>
                    <a:pt x="970359" y="952500"/>
                    <a:pt x="1071563" y="952500"/>
                  </a:cubicBezTo>
                  <a:close/>
                  <a:moveTo>
                    <a:pt x="1071563" y="1071563"/>
                  </a:moveTo>
                  <a:cubicBezTo>
                    <a:pt x="1035844" y="1071563"/>
                    <a:pt x="1012031" y="1095375"/>
                    <a:pt x="1012031" y="1131094"/>
                  </a:cubicBezTo>
                  <a:cubicBezTo>
                    <a:pt x="1012031" y="1166813"/>
                    <a:pt x="1035844" y="1190625"/>
                    <a:pt x="1071563" y="1190625"/>
                  </a:cubicBezTo>
                  <a:cubicBezTo>
                    <a:pt x="1107281" y="1190625"/>
                    <a:pt x="1131094" y="1166813"/>
                    <a:pt x="1131094" y="1131094"/>
                  </a:cubicBezTo>
                  <a:cubicBezTo>
                    <a:pt x="1131094" y="1095375"/>
                    <a:pt x="1107281" y="1071563"/>
                    <a:pt x="1071563" y="1071563"/>
                  </a:cubicBezTo>
                  <a:close/>
                  <a:moveTo>
                    <a:pt x="833438" y="119063"/>
                  </a:moveTo>
                  <a:cubicBezTo>
                    <a:pt x="440531" y="119063"/>
                    <a:pt x="119063" y="232172"/>
                    <a:pt x="119063" y="327422"/>
                  </a:cubicBezTo>
                  <a:cubicBezTo>
                    <a:pt x="119063" y="422672"/>
                    <a:pt x="440531" y="535781"/>
                    <a:pt x="833438" y="535781"/>
                  </a:cubicBezTo>
                  <a:cubicBezTo>
                    <a:pt x="1226344" y="535781"/>
                    <a:pt x="1547813" y="422672"/>
                    <a:pt x="1547813" y="327422"/>
                  </a:cubicBezTo>
                  <a:cubicBezTo>
                    <a:pt x="1547813" y="232172"/>
                    <a:pt x="1226344" y="119063"/>
                    <a:pt x="833438" y="119063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9740998" y="875592"/>
            <a:ext cx="2016125" cy="1523084"/>
            <a:chOff x="9740998" y="908050"/>
            <a:chExt cx="2016125" cy="1523084"/>
          </a:xfrm>
        </p:grpSpPr>
        <p:sp>
          <p:nvSpPr>
            <p:cNvPr id="96" name="矩形 95"/>
            <p:cNvSpPr/>
            <p:nvPr/>
          </p:nvSpPr>
          <p:spPr>
            <a:xfrm>
              <a:off x="9740998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矩形: 圆顶角 96"/>
            <p:cNvSpPr/>
            <p:nvPr/>
          </p:nvSpPr>
          <p:spPr>
            <a:xfrm flipH="1" flipV="1">
              <a:off x="9740998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0388919" y="118298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成本收入比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056419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61.2%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TextBox 28+"/>
            <p:cNvSpPr txBox="1"/>
            <p:nvPr/>
          </p:nvSpPr>
          <p:spPr>
            <a:xfrm>
              <a:off x="10048910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101" name="TextBox 28++"/>
            <p:cNvSpPr txBox="1"/>
            <p:nvPr/>
          </p:nvSpPr>
          <p:spPr>
            <a:xfrm>
              <a:off x="10548746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 flipV="1">
              <a:off x="11231421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图形 104"/>
            <p:cNvSpPr>
              <a:spLocks noChangeAspect="1"/>
            </p:cNvSpPr>
            <p:nvPr/>
          </p:nvSpPr>
          <p:spPr>
            <a:xfrm>
              <a:off x="10056419" y="1180376"/>
              <a:ext cx="252072" cy="252000"/>
            </a:xfrm>
            <a:custGeom>
              <a:avLst/>
              <a:gdLst>
                <a:gd name="connsiteX0" fmla="*/ 1500188 w 1666795"/>
                <a:gd name="connsiteY0" fmla="*/ 0 h 1666319"/>
                <a:gd name="connsiteX1" fmla="*/ 1666319 w 1666795"/>
                <a:gd name="connsiteY1" fmla="*/ 154226 h 1666319"/>
                <a:gd name="connsiteX2" fmla="*/ 1666796 w 1666795"/>
                <a:gd name="connsiteY2" fmla="*/ 166608 h 1666319"/>
                <a:gd name="connsiteX3" fmla="*/ 1666796 w 1666795"/>
                <a:gd name="connsiteY3" fmla="*/ 749856 h 1666319"/>
                <a:gd name="connsiteX4" fmla="*/ 1582885 w 1666795"/>
                <a:gd name="connsiteY4" fmla="*/ 832628 h 1666319"/>
                <a:gd name="connsiteX5" fmla="*/ 1500743 w 1666795"/>
                <a:gd name="connsiteY5" fmla="*/ 759539 h 1666319"/>
                <a:gd name="connsiteX6" fmla="*/ 1500188 w 1666795"/>
                <a:gd name="connsiteY6" fmla="*/ 749856 h 1666319"/>
                <a:gd name="connsiteX7" fmla="*/ 1500188 w 1666795"/>
                <a:gd name="connsiteY7" fmla="*/ 166608 h 1666319"/>
                <a:gd name="connsiteX8" fmla="*/ 170736 w 1666795"/>
                <a:gd name="connsiteY8" fmla="*/ 166608 h 1666319"/>
                <a:gd name="connsiteX9" fmla="*/ 166529 w 1666795"/>
                <a:gd name="connsiteY9" fmla="*/ 1499632 h 1666319"/>
                <a:gd name="connsiteX10" fmla="*/ 749538 w 1666795"/>
                <a:gd name="connsiteY10" fmla="*/ 1499632 h 1666319"/>
                <a:gd name="connsiteX11" fmla="*/ 832958 w 1666795"/>
                <a:gd name="connsiteY11" fmla="*/ 1582899 h 1666319"/>
                <a:gd name="connsiteX12" fmla="*/ 759222 w 1666795"/>
                <a:gd name="connsiteY12" fmla="*/ 1665764 h 1666319"/>
                <a:gd name="connsiteX13" fmla="*/ 749538 w 1666795"/>
                <a:gd name="connsiteY13" fmla="*/ 1666319 h 1666319"/>
                <a:gd name="connsiteX14" fmla="*/ 166529 w 1666795"/>
                <a:gd name="connsiteY14" fmla="*/ 1666319 h 1666319"/>
                <a:gd name="connsiteX15" fmla="*/ 476 w 1666795"/>
                <a:gd name="connsiteY15" fmla="*/ 1512094 h 1666319"/>
                <a:gd name="connsiteX16" fmla="*/ 0 w 1666795"/>
                <a:gd name="connsiteY16" fmla="*/ 1499156 h 1666319"/>
                <a:gd name="connsiteX17" fmla="*/ 4207 w 1666795"/>
                <a:gd name="connsiteY17" fmla="*/ 166132 h 1666319"/>
                <a:gd name="connsiteX18" fmla="*/ 158432 w 1666795"/>
                <a:gd name="connsiteY18" fmla="*/ 476 h 1666319"/>
                <a:gd name="connsiteX19" fmla="*/ 170815 w 1666795"/>
                <a:gd name="connsiteY19" fmla="*/ 0 h 1666319"/>
                <a:gd name="connsiteX20" fmla="*/ 1500267 w 1666795"/>
                <a:gd name="connsiteY20" fmla="*/ 0 h 1666319"/>
                <a:gd name="connsiteX21" fmla="*/ 1471295 w 1666795"/>
                <a:gd name="connsiteY21" fmla="*/ 848678 h 1666319"/>
                <a:gd name="connsiteX22" fmla="*/ 1498759 w 1666795"/>
                <a:gd name="connsiteY22" fmla="*/ 951071 h 1666319"/>
                <a:gd name="connsiteX23" fmla="*/ 1115457 w 1666795"/>
                <a:gd name="connsiteY23" fmla="*/ 1614964 h 1666319"/>
                <a:gd name="connsiteX24" fmla="*/ 1012286 w 1666795"/>
                <a:gd name="connsiteY24" fmla="*/ 1639634 h 1666319"/>
                <a:gd name="connsiteX25" fmla="*/ 985599 w 1666795"/>
                <a:gd name="connsiteY25" fmla="*/ 1539954 h 1666319"/>
                <a:gd name="connsiteX26" fmla="*/ 1368822 w 1666795"/>
                <a:gd name="connsiteY26" fmla="*/ 876141 h 1666319"/>
                <a:gd name="connsiteX27" fmla="*/ 1471216 w 1666795"/>
                <a:gd name="connsiteY27" fmla="*/ 848677 h 1666319"/>
                <a:gd name="connsiteX28" fmla="*/ 1560354 w 1666795"/>
                <a:gd name="connsiteY28" fmla="*/ 1308100 h 1666319"/>
                <a:gd name="connsiteX29" fmla="*/ 1626599 w 1666795"/>
                <a:gd name="connsiteY29" fmla="*/ 1534332 h 1666319"/>
                <a:gd name="connsiteX30" fmla="*/ 1400367 w 1666795"/>
                <a:gd name="connsiteY30" fmla="*/ 1600578 h 1666319"/>
                <a:gd name="connsiteX31" fmla="*/ 1393666 w 1666795"/>
                <a:gd name="connsiteY31" fmla="*/ 1596708 h 1666319"/>
                <a:gd name="connsiteX32" fmla="*/ 1337992 w 1666795"/>
                <a:gd name="connsiteY32" fmla="*/ 1367645 h 1666319"/>
                <a:gd name="connsiteX33" fmla="*/ 1560354 w 1666795"/>
                <a:gd name="connsiteY33" fmla="*/ 1308100 h 1666319"/>
                <a:gd name="connsiteX34" fmla="*/ 1428909 w 1666795"/>
                <a:gd name="connsiteY34" fmla="*/ 1424623 h 1666319"/>
                <a:gd name="connsiteX35" fmla="*/ 1447467 w 1666795"/>
                <a:gd name="connsiteY35" fmla="*/ 1500977 h 1666319"/>
                <a:gd name="connsiteX36" fmla="*/ 1523821 w 1666795"/>
                <a:gd name="connsiteY36" fmla="*/ 1482419 h 1666319"/>
                <a:gd name="connsiteX37" fmla="*/ 1525111 w 1666795"/>
                <a:gd name="connsiteY37" fmla="*/ 1480185 h 1666319"/>
                <a:gd name="connsiteX38" fmla="*/ 1503029 w 1666795"/>
                <a:gd name="connsiteY38" fmla="*/ 1404774 h 1666319"/>
                <a:gd name="connsiteX39" fmla="*/ 1428909 w 1666795"/>
                <a:gd name="connsiteY39" fmla="*/ 1424623 h 1666319"/>
                <a:gd name="connsiteX40" fmla="*/ 1106646 w 1666795"/>
                <a:gd name="connsiteY40" fmla="*/ 891540 h 1666319"/>
                <a:gd name="connsiteX41" fmla="*/ 1172892 w 1666795"/>
                <a:gd name="connsiteY41" fmla="*/ 1117772 h 1666319"/>
                <a:gd name="connsiteX42" fmla="*/ 946660 w 1666795"/>
                <a:gd name="connsiteY42" fmla="*/ 1184018 h 1666319"/>
                <a:gd name="connsiteX43" fmla="*/ 939959 w 1666795"/>
                <a:gd name="connsiteY43" fmla="*/ 1180148 h 1666319"/>
                <a:gd name="connsiteX44" fmla="*/ 884284 w 1666795"/>
                <a:gd name="connsiteY44" fmla="*/ 951085 h 1666319"/>
                <a:gd name="connsiteX45" fmla="*/ 1106646 w 1666795"/>
                <a:gd name="connsiteY45" fmla="*/ 891540 h 1666319"/>
                <a:gd name="connsiteX46" fmla="*/ 975201 w 1666795"/>
                <a:gd name="connsiteY46" fmla="*/ 1008062 h 1666319"/>
                <a:gd name="connsiteX47" fmla="*/ 993759 w 1666795"/>
                <a:gd name="connsiteY47" fmla="*/ 1084417 h 1666319"/>
                <a:gd name="connsiteX48" fmla="*/ 1070114 w 1666795"/>
                <a:gd name="connsiteY48" fmla="*/ 1065859 h 1666319"/>
                <a:gd name="connsiteX49" fmla="*/ 1071404 w 1666795"/>
                <a:gd name="connsiteY49" fmla="*/ 1063625 h 1666319"/>
                <a:gd name="connsiteX50" fmla="*/ 1049322 w 1666795"/>
                <a:gd name="connsiteY50" fmla="*/ 988214 h 1666319"/>
                <a:gd name="connsiteX51" fmla="*/ 975201 w 1666795"/>
                <a:gd name="connsiteY51" fmla="*/ 1008063 h 1666319"/>
                <a:gd name="connsiteX52" fmla="*/ 1024890 w 1666795"/>
                <a:gd name="connsiteY52" fmla="*/ 333296 h 1666319"/>
                <a:gd name="connsiteX53" fmla="*/ 1026319 w 1666795"/>
                <a:gd name="connsiteY53" fmla="*/ 333296 h 1666319"/>
                <a:gd name="connsiteX54" fmla="*/ 1026001 w 1666795"/>
                <a:gd name="connsiteY54" fmla="*/ 333216 h 1666319"/>
                <a:gd name="connsiteX55" fmla="*/ 1027906 w 1666795"/>
                <a:gd name="connsiteY55" fmla="*/ 333375 h 1666319"/>
                <a:gd name="connsiteX56" fmla="*/ 1027113 w 1666795"/>
                <a:gd name="connsiteY56" fmla="*/ 333296 h 1666319"/>
                <a:gd name="connsiteX57" fmla="*/ 1035923 w 1666795"/>
                <a:gd name="connsiteY57" fmla="*/ 333613 h 1666319"/>
                <a:gd name="connsiteX58" fmla="*/ 1106964 w 1666795"/>
                <a:gd name="connsiteY58" fmla="*/ 417909 h 1666319"/>
                <a:gd name="connsiteX59" fmla="*/ 1106964 w 1666795"/>
                <a:gd name="connsiteY59" fmla="*/ 635635 h 1666319"/>
                <a:gd name="connsiteX60" fmla="*/ 1052206 w 1666795"/>
                <a:gd name="connsiteY60" fmla="*/ 691991 h 1666319"/>
                <a:gd name="connsiteX61" fmla="*/ 1052195 w 1666795"/>
                <a:gd name="connsiteY61" fmla="*/ 691991 h 1666319"/>
                <a:gd name="connsiteX62" fmla="*/ 997506 w 1666795"/>
                <a:gd name="connsiteY62" fmla="*/ 635635 h 1666319"/>
                <a:gd name="connsiteX63" fmla="*/ 997506 w 1666795"/>
                <a:gd name="connsiteY63" fmla="*/ 504349 h 1666319"/>
                <a:gd name="connsiteX64" fmla="*/ 921544 w 1666795"/>
                <a:gd name="connsiteY64" fmla="*/ 617141 h 1666319"/>
                <a:gd name="connsiteX65" fmla="*/ 824468 w 1666795"/>
                <a:gd name="connsiteY65" fmla="*/ 761286 h 1666319"/>
                <a:gd name="connsiteX66" fmla="*/ 718503 w 1666795"/>
                <a:gd name="connsiteY66" fmla="*/ 774859 h 1666319"/>
                <a:gd name="connsiteX67" fmla="*/ 711994 w 1666795"/>
                <a:gd name="connsiteY67" fmla="*/ 769938 h 1666319"/>
                <a:gd name="connsiteX68" fmla="*/ 557689 w 1666795"/>
                <a:gd name="connsiteY68" fmla="*/ 625793 h 1666319"/>
                <a:gd name="connsiteX69" fmla="*/ 432356 w 1666795"/>
                <a:gd name="connsiteY69" fmla="*/ 809228 h 1666319"/>
                <a:gd name="connsiteX70" fmla="*/ 362029 w 1666795"/>
                <a:gd name="connsiteY70" fmla="*/ 826532 h 1666319"/>
                <a:gd name="connsiteX71" fmla="*/ 356156 w 1666795"/>
                <a:gd name="connsiteY71" fmla="*/ 822801 h 1666319"/>
                <a:gd name="connsiteX72" fmla="*/ 339328 w 1666795"/>
                <a:gd name="connsiteY72" fmla="*/ 750252 h 1666319"/>
                <a:gd name="connsiteX73" fmla="*/ 342979 w 1666795"/>
                <a:gd name="connsiteY73" fmla="*/ 744220 h 1666319"/>
                <a:gd name="connsiteX74" fmla="*/ 485140 w 1666795"/>
                <a:gd name="connsiteY74" fmla="*/ 536099 h 1666319"/>
                <a:gd name="connsiteX75" fmla="*/ 596753 w 1666795"/>
                <a:gd name="connsiteY75" fmla="*/ 513771 h 1666319"/>
                <a:gd name="connsiteX76" fmla="*/ 599519 w 1666795"/>
                <a:gd name="connsiteY76" fmla="*/ 515699 h 1666319"/>
                <a:gd name="connsiteX77" fmla="*/ 604044 w 1666795"/>
                <a:gd name="connsiteY77" fmla="*/ 519192 h 1666319"/>
                <a:gd name="connsiteX78" fmla="*/ 760968 w 1666795"/>
                <a:gd name="connsiteY78" fmla="*/ 665559 h 1666319"/>
                <a:gd name="connsiteX79" fmla="*/ 900827 w 1666795"/>
                <a:gd name="connsiteY79" fmla="*/ 446167 h 1666319"/>
                <a:gd name="connsiteX80" fmla="*/ 815658 w 1666795"/>
                <a:gd name="connsiteY80" fmla="*/ 446167 h 1666319"/>
                <a:gd name="connsiteX81" fmla="*/ 760887 w 1666795"/>
                <a:gd name="connsiteY81" fmla="*/ 389823 h 1666319"/>
                <a:gd name="connsiteX82" fmla="*/ 760889 w 1666795"/>
                <a:gd name="connsiteY82" fmla="*/ 389731 h 1666319"/>
                <a:gd name="connsiteX83" fmla="*/ 815566 w 1666795"/>
                <a:gd name="connsiteY83" fmla="*/ 333297 h 1666319"/>
                <a:gd name="connsiteX84" fmla="*/ 815658 w 1666795"/>
                <a:gd name="connsiteY84" fmla="*/ 333296 h 1666319"/>
                <a:gd name="connsiteX85" fmla="*/ 1024811 w 1666795"/>
                <a:gd name="connsiteY85" fmla="*/ 333296 h 166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666795" h="1666319">
                  <a:moveTo>
                    <a:pt x="1500188" y="0"/>
                  </a:moveTo>
                  <a:cubicBezTo>
                    <a:pt x="1587378" y="47"/>
                    <a:pt x="1659801" y="67279"/>
                    <a:pt x="1666319" y="154226"/>
                  </a:cubicBezTo>
                  <a:lnTo>
                    <a:pt x="1666796" y="166608"/>
                  </a:lnTo>
                  <a:lnTo>
                    <a:pt x="1666796" y="749856"/>
                  </a:lnTo>
                  <a:cubicBezTo>
                    <a:pt x="1666481" y="795884"/>
                    <a:pt x="1628913" y="832943"/>
                    <a:pt x="1582885" y="832628"/>
                  </a:cubicBezTo>
                  <a:cubicBezTo>
                    <a:pt x="1541038" y="832342"/>
                    <a:pt x="1505891" y="801069"/>
                    <a:pt x="1500743" y="759539"/>
                  </a:cubicBezTo>
                  <a:lnTo>
                    <a:pt x="1500188" y="749856"/>
                  </a:lnTo>
                  <a:lnTo>
                    <a:pt x="1500188" y="166608"/>
                  </a:lnTo>
                  <a:lnTo>
                    <a:pt x="170736" y="166608"/>
                  </a:lnTo>
                  <a:lnTo>
                    <a:pt x="166529" y="1499632"/>
                  </a:lnTo>
                  <a:lnTo>
                    <a:pt x="749538" y="1499632"/>
                  </a:lnTo>
                  <a:cubicBezTo>
                    <a:pt x="795568" y="1499590"/>
                    <a:pt x="832916" y="1536870"/>
                    <a:pt x="832958" y="1582899"/>
                  </a:cubicBezTo>
                  <a:cubicBezTo>
                    <a:pt x="832997" y="1625241"/>
                    <a:pt x="801281" y="1660883"/>
                    <a:pt x="759222" y="1665764"/>
                  </a:cubicBezTo>
                  <a:lnTo>
                    <a:pt x="749538" y="1666319"/>
                  </a:lnTo>
                  <a:lnTo>
                    <a:pt x="166529" y="1666319"/>
                  </a:lnTo>
                  <a:cubicBezTo>
                    <a:pt x="79369" y="1666231"/>
                    <a:pt x="6992" y="1599010"/>
                    <a:pt x="476" y="1512094"/>
                  </a:cubicBezTo>
                  <a:lnTo>
                    <a:pt x="0" y="1499156"/>
                  </a:lnTo>
                  <a:lnTo>
                    <a:pt x="4207" y="166132"/>
                  </a:lnTo>
                  <a:cubicBezTo>
                    <a:pt x="4502" y="79125"/>
                    <a:pt x="71668" y="6981"/>
                    <a:pt x="158432" y="476"/>
                  </a:cubicBezTo>
                  <a:lnTo>
                    <a:pt x="170815" y="0"/>
                  </a:lnTo>
                  <a:lnTo>
                    <a:pt x="1500267" y="0"/>
                  </a:lnTo>
                  <a:close/>
                  <a:moveTo>
                    <a:pt x="1471295" y="848678"/>
                  </a:moveTo>
                  <a:cubicBezTo>
                    <a:pt x="1507173" y="869394"/>
                    <a:pt x="1519476" y="915352"/>
                    <a:pt x="1498759" y="951071"/>
                  </a:cubicBezTo>
                  <a:lnTo>
                    <a:pt x="1115457" y="1614964"/>
                  </a:lnTo>
                  <a:cubicBezTo>
                    <a:pt x="1093780" y="1650266"/>
                    <a:pt x="1047589" y="1661312"/>
                    <a:pt x="1012286" y="1639634"/>
                  </a:cubicBezTo>
                  <a:cubicBezTo>
                    <a:pt x="978318" y="1618777"/>
                    <a:pt x="966596" y="1574994"/>
                    <a:pt x="985599" y="1539954"/>
                  </a:cubicBezTo>
                  <a:lnTo>
                    <a:pt x="1368822" y="876141"/>
                  </a:lnTo>
                  <a:cubicBezTo>
                    <a:pt x="1389530" y="840304"/>
                    <a:pt x="1435353" y="828014"/>
                    <a:pt x="1471216" y="848677"/>
                  </a:cubicBezTo>
                  <a:close/>
                  <a:moveTo>
                    <a:pt x="1560354" y="1308100"/>
                  </a:moveTo>
                  <a:cubicBezTo>
                    <a:pt x="1641119" y="1352279"/>
                    <a:pt x="1670778" y="1453567"/>
                    <a:pt x="1626599" y="1534332"/>
                  </a:cubicBezTo>
                  <a:cubicBezTo>
                    <a:pt x="1582420" y="1615098"/>
                    <a:pt x="1481133" y="1644757"/>
                    <a:pt x="1400367" y="1600578"/>
                  </a:cubicBezTo>
                  <a:cubicBezTo>
                    <a:pt x="1398104" y="1599340"/>
                    <a:pt x="1395870" y="1598049"/>
                    <a:pt x="1393666" y="1596708"/>
                  </a:cubicBezTo>
                  <a:cubicBezTo>
                    <a:pt x="1315038" y="1548828"/>
                    <a:pt x="1290112" y="1446273"/>
                    <a:pt x="1337992" y="1367645"/>
                  </a:cubicBezTo>
                  <a:cubicBezTo>
                    <a:pt x="1384307" y="1291586"/>
                    <a:pt x="1482227" y="1265364"/>
                    <a:pt x="1560354" y="1308100"/>
                  </a:cubicBezTo>
                  <a:close/>
                  <a:moveTo>
                    <a:pt x="1428909" y="1424623"/>
                  </a:moveTo>
                  <a:cubicBezTo>
                    <a:pt x="1412949" y="1450832"/>
                    <a:pt x="1421258" y="1485017"/>
                    <a:pt x="1447467" y="1500977"/>
                  </a:cubicBezTo>
                  <a:cubicBezTo>
                    <a:pt x="1473676" y="1516937"/>
                    <a:pt x="1507861" y="1508628"/>
                    <a:pt x="1523821" y="1482419"/>
                  </a:cubicBezTo>
                  <a:cubicBezTo>
                    <a:pt x="1524268" y="1481684"/>
                    <a:pt x="1524698" y="1480939"/>
                    <a:pt x="1525111" y="1480185"/>
                  </a:cubicBezTo>
                  <a:cubicBezTo>
                    <a:pt x="1539837" y="1453263"/>
                    <a:pt x="1529951" y="1419501"/>
                    <a:pt x="1503029" y="1404774"/>
                  </a:cubicBezTo>
                  <a:cubicBezTo>
                    <a:pt x="1476987" y="1390529"/>
                    <a:pt x="1444347" y="1399270"/>
                    <a:pt x="1428909" y="1424623"/>
                  </a:cubicBezTo>
                  <a:close/>
                  <a:moveTo>
                    <a:pt x="1106646" y="891540"/>
                  </a:moveTo>
                  <a:cubicBezTo>
                    <a:pt x="1187412" y="935719"/>
                    <a:pt x="1217071" y="1037007"/>
                    <a:pt x="1172892" y="1117772"/>
                  </a:cubicBezTo>
                  <a:cubicBezTo>
                    <a:pt x="1128713" y="1198538"/>
                    <a:pt x="1027425" y="1228197"/>
                    <a:pt x="946660" y="1184018"/>
                  </a:cubicBezTo>
                  <a:cubicBezTo>
                    <a:pt x="944397" y="1182780"/>
                    <a:pt x="942162" y="1181489"/>
                    <a:pt x="939959" y="1180148"/>
                  </a:cubicBezTo>
                  <a:cubicBezTo>
                    <a:pt x="861331" y="1132268"/>
                    <a:pt x="836404" y="1029713"/>
                    <a:pt x="884284" y="951085"/>
                  </a:cubicBezTo>
                  <a:cubicBezTo>
                    <a:pt x="930600" y="875026"/>
                    <a:pt x="1028520" y="848804"/>
                    <a:pt x="1106646" y="891540"/>
                  </a:cubicBezTo>
                  <a:close/>
                  <a:moveTo>
                    <a:pt x="975201" y="1008062"/>
                  </a:moveTo>
                  <a:cubicBezTo>
                    <a:pt x="959241" y="1034272"/>
                    <a:pt x="967550" y="1068457"/>
                    <a:pt x="993759" y="1084417"/>
                  </a:cubicBezTo>
                  <a:cubicBezTo>
                    <a:pt x="1019969" y="1100377"/>
                    <a:pt x="1054154" y="1092068"/>
                    <a:pt x="1070114" y="1065859"/>
                  </a:cubicBezTo>
                  <a:cubicBezTo>
                    <a:pt x="1070561" y="1065124"/>
                    <a:pt x="1070991" y="1064379"/>
                    <a:pt x="1071404" y="1063625"/>
                  </a:cubicBezTo>
                  <a:cubicBezTo>
                    <a:pt x="1086130" y="1036703"/>
                    <a:pt x="1076244" y="1002941"/>
                    <a:pt x="1049322" y="988214"/>
                  </a:cubicBezTo>
                  <a:cubicBezTo>
                    <a:pt x="1023280" y="973969"/>
                    <a:pt x="990640" y="982710"/>
                    <a:pt x="975201" y="1008063"/>
                  </a:cubicBezTo>
                  <a:close/>
                  <a:moveTo>
                    <a:pt x="1024890" y="333296"/>
                  </a:moveTo>
                  <a:lnTo>
                    <a:pt x="1026319" y="333296"/>
                  </a:lnTo>
                  <a:lnTo>
                    <a:pt x="1026001" y="333216"/>
                  </a:lnTo>
                  <a:lnTo>
                    <a:pt x="1027906" y="333375"/>
                  </a:lnTo>
                  <a:lnTo>
                    <a:pt x="1027113" y="333296"/>
                  </a:lnTo>
                  <a:lnTo>
                    <a:pt x="1035923" y="333613"/>
                  </a:lnTo>
                  <a:cubicBezTo>
                    <a:pt x="1088946" y="337264"/>
                    <a:pt x="1106964" y="366157"/>
                    <a:pt x="1106964" y="417909"/>
                  </a:cubicBezTo>
                  <a:lnTo>
                    <a:pt x="1106964" y="635635"/>
                  </a:lnTo>
                  <a:cubicBezTo>
                    <a:pt x="1107405" y="666318"/>
                    <a:pt x="1082890" y="691550"/>
                    <a:pt x="1052206" y="691991"/>
                  </a:cubicBezTo>
                  <a:cubicBezTo>
                    <a:pt x="1052203" y="691991"/>
                    <a:pt x="1052199" y="691991"/>
                    <a:pt x="1052195" y="691991"/>
                  </a:cubicBezTo>
                  <a:cubicBezTo>
                    <a:pt x="1021539" y="691513"/>
                    <a:pt x="997064" y="666292"/>
                    <a:pt x="997506" y="635635"/>
                  </a:cubicBezTo>
                  <a:lnTo>
                    <a:pt x="997506" y="504349"/>
                  </a:lnTo>
                  <a:lnTo>
                    <a:pt x="921544" y="617141"/>
                  </a:lnTo>
                  <a:lnTo>
                    <a:pt x="824468" y="761286"/>
                  </a:lnTo>
                  <a:cubicBezTo>
                    <a:pt x="797163" y="792163"/>
                    <a:pt x="752237" y="797878"/>
                    <a:pt x="718503" y="774859"/>
                  </a:cubicBezTo>
                  <a:lnTo>
                    <a:pt x="711994" y="769938"/>
                  </a:lnTo>
                  <a:lnTo>
                    <a:pt x="557689" y="625793"/>
                  </a:lnTo>
                  <a:lnTo>
                    <a:pt x="432356" y="809228"/>
                  </a:lnTo>
                  <a:cubicBezTo>
                    <a:pt x="416905" y="832299"/>
                    <a:pt x="386421" y="839800"/>
                    <a:pt x="362029" y="826532"/>
                  </a:cubicBezTo>
                  <a:lnTo>
                    <a:pt x="356156" y="822801"/>
                  </a:lnTo>
                  <a:cubicBezTo>
                    <a:pt x="333545" y="805997"/>
                    <a:pt x="326424" y="775294"/>
                    <a:pt x="339328" y="750252"/>
                  </a:cubicBezTo>
                  <a:lnTo>
                    <a:pt x="342979" y="744220"/>
                  </a:lnTo>
                  <a:lnTo>
                    <a:pt x="485140" y="536099"/>
                  </a:lnTo>
                  <a:cubicBezTo>
                    <a:pt x="509795" y="499112"/>
                    <a:pt x="559766" y="489115"/>
                    <a:pt x="596753" y="513771"/>
                  </a:cubicBezTo>
                  <a:cubicBezTo>
                    <a:pt x="597689" y="514394"/>
                    <a:pt x="598611" y="515037"/>
                    <a:pt x="599519" y="515699"/>
                  </a:cubicBezTo>
                  <a:lnTo>
                    <a:pt x="604044" y="519192"/>
                  </a:lnTo>
                  <a:lnTo>
                    <a:pt x="760968" y="665559"/>
                  </a:lnTo>
                  <a:lnTo>
                    <a:pt x="900827" y="446167"/>
                  </a:lnTo>
                  <a:lnTo>
                    <a:pt x="815658" y="446167"/>
                  </a:lnTo>
                  <a:cubicBezTo>
                    <a:pt x="784974" y="445732"/>
                    <a:pt x="760453" y="420506"/>
                    <a:pt x="760887" y="389823"/>
                  </a:cubicBezTo>
                  <a:cubicBezTo>
                    <a:pt x="760888" y="389793"/>
                    <a:pt x="760888" y="389762"/>
                    <a:pt x="760889" y="389731"/>
                  </a:cubicBezTo>
                  <a:cubicBezTo>
                    <a:pt x="760403" y="359049"/>
                    <a:pt x="784883" y="333782"/>
                    <a:pt x="815566" y="333297"/>
                  </a:cubicBezTo>
                  <a:cubicBezTo>
                    <a:pt x="815596" y="333297"/>
                    <a:pt x="815627" y="333296"/>
                    <a:pt x="815658" y="333296"/>
                  </a:cubicBezTo>
                  <a:lnTo>
                    <a:pt x="1024811" y="33329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直角三角形 76"/>
          <p:cNvSpPr/>
          <p:nvPr/>
        </p:nvSpPr>
        <p:spPr>
          <a:xfrm flipH="1">
            <a:off x="609442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0545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财务成本费用分析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487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1537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719387" cy="29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3305175" y="873125"/>
            <a:ext cx="2719387" cy="29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9029700" y="873125"/>
            <a:ext cx="2719387" cy="29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"/>
          <p:cNvSpPr/>
          <p:nvPr/>
        </p:nvSpPr>
        <p:spPr>
          <a:xfrm>
            <a:off x="6167437" y="873125"/>
            <a:ext cx="2719387" cy="29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1713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9450" y="1287142"/>
            <a:ext cx="8239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8,742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9450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总订单量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1732756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0+"/>
          <p:cNvSpPr txBox="1"/>
          <p:nvPr/>
        </p:nvSpPr>
        <p:spPr>
          <a:xfrm>
            <a:off x="1949658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</a:p>
        </p:txBody>
      </p:sp>
      <p:sp>
        <p:nvSpPr>
          <p:cNvPr id="25" name="TextBox 19+"/>
          <p:cNvSpPr txBox="1"/>
          <p:nvPr/>
        </p:nvSpPr>
        <p:spPr>
          <a:xfrm>
            <a:off x="1949658" y="1287142"/>
            <a:ext cx="83997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486845" y="1014577"/>
            <a:ext cx="2216943" cy="641897"/>
            <a:chOff x="3486845" y="1014577"/>
            <a:chExt cx="2216943" cy="641897"/>
          </a:xfrm>
        </p:grpSpPr>
        <p:sp>
          <p:nvSpPr>
            <p:cNvPr id="28" name="文本框 27"/>
            <p:cNvSpPr txBox="1"/>
            <p:nvPr/>
          </p:nvSpPr>
          <p:spPr>
            <a:xfrm>
              <a:off x="3486845" y="1287142"/>
              <a:ext cx="1158972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¥3,847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486845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总订金额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820443" y="1014577"/>
              <a:ext cx="0" cy="5872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0+"/>
            <p:cNvSpPr txBox="1"/>
            <p:nvPr/>
          </p:nvSpPr>
          <p:spPr>
            <a:xfrm>
              <a:off x="4985643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</a:p>
          </p:txBody>
        </p:sp>
        <p:sp>
          <p:nvSpPr>
            <p:cNvPr id="32" name="TextBox 19+"/>
            <p:cNvSpPr txBox="1"/>
            <p:nvPr/>
          </p:nvSpPr>
          <p:spPr>
            <a:xfrm>
              <a:off x="4985643" y="1287142"/>
              <a:ext cx="65883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8.3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4" name="Rectangle 18+"/>
          <p:cNvSpPr/>
          <p:nvPr/>
        </p:nvSpPr>
        <p:spPr>
          <a:xfrm>
            <a:off x="3383976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Rectangle 18++"/>
          <p:cNvSpPr/>
          <p:nvPr/>
        </p:nvSpPr>
        <p:spPr>
          <a:xfrm>
            <a:off x="6246237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Rectangle 18+++"/>
          <p:cNvSpPr/>
          <p:nvPr/>
        </p:nvSpPr>
        <p:spPr>
          <a:xfrm>
            <a:off x="9108501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70810" y="1287142"/>
            <a:ext cx="9297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¥684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70810" y="102568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7593110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0+"/>
          <p:cNvSpPr txBox="1"/>
          <p:nvPr/>
        </p:nvSpPr>
        <p:spPr>
          <a:xfrm>
            <a:off x="785385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</a:p>
        </p:txBody>
      </p:sp>
      <p:sp>
        <p:nvSpPr>
          <p:cNvPr id="43" name="TextBox 19+"/>
          <p:cNvSpPr txBox="1"/>
          <p:nvPr/>
        </p:nvSpPr>
        <p:spPr>
          <a:xfrm>
            <a:off x="7853857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381117" y="1287142"/>
            <a:ext cx="7902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17.8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8111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总利润率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10376098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0+"/>
          <p:cNvSpPr txBox="1"/>
          <p:nvPr/>
        </p:nvSpPr>
        <p:spPr>
          <a:xfrm>
            <a:off x="10625599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同比下降</a:t>
            </a:r>
          </a:p>
        </p:txBody>
      </p:sp>
      <p:sp>
        <p:nvSpPr>
          <p:cNvPr id="49" name="TextBox 19+"/>
          <p:cNvSpPr txBox="1"/>
          <p:nvPr/>
        </p:nvSpPr>
        <p:spPr>
          <a:xfrm>
            <a:off x="10625599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544830" y="2078355"/>
          <a:ext cx="2538730" cy="164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5" name="图表 54"/>
          <p:cNvGraphicFramePr/>
          <p:nvPr/>
        </p:nvGraphicFramePr>
        <p:xfrm>
          <a:off x="6279731" y="2126638"/>
          <a:ext cx="2528292" cy="178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8" name="图表 57"/>
          <p:cNvGraphicFramePr/>
          <p:nvPr/>
        </p:nvGraphicFramePr>
        <p:xfrm>
          <a:off x="3305175" y="2126638"/>
          <a:ext cx="2579468" cy="169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1" name="图表 60"/>
          <p:cNvGraphicFramePr/>
          <p:nvPr/>
        </p:nvGraphicFramePr>
        <p:xfrm>
          <a:off x="9085172" y="2079304"/>
          <a:ext cx="2561786" cy="161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65" name="直接连接符 64"/>
          <p:cNvCxnSpPr/>
          <p:nvPr/>
        </p:nvCxnSpPr>
        <p:spPr>
          <a:xfrm>
            <a:off x="618891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174229" y="1791616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各分公司订单量</a:t>
            </a:r>
          </a:p>
        </p:txBody>
      </p:sp>
      <p:sp>
        <p:nvSpPr>
          <p:cNvPr id="68" name="TextBox 66+"/>
          <p:cNvSpPr txBox="1"/>
          <p:nvPr/>
        </p:nvSpPr>
        <p:spPr>
          <a:xfrm>
            <a:off x="3767187" y="1791616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各分公司订单金额占比</a:t>
            </a:r>
          </a:p>
        </p:txBody>
      </p:sp>
      <p:cxnSp>
        <p:nvCxnSpPr>
          <p:cNvPr id="69" name="Straight Connector 64+"/>
          <p:cNvCxnSpPr/>
          <p:nvPr/>
        </p:nvCxnSpPr>
        <p:spPr>
          <a:xfrm>
            <a:off x="3481153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6++"/>
          <p:cNvSpPr txBox="1"/>
          <p:nvPr/>
        </p:nvSpPr>
        <p:spPr>
          <a:xfrm>
            <a:off x="6808983" y="1791616"/>
            <a:ext cx="143629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各分公司利润对比</a:t>
            </a:r>
          </a:p>
        </p:txBody>
      </p:sp>
      <p:cxnSp>
        <p:nvCxnSpPr>
          <p:cNvPr id="71" name="Straight Connector 64++"/>
          <p:cNvCxnSpPr/>
          <p:nvPr/>
        </p:nvCxnSpPr>
        <p:spPr>
          <a:xfrm>
            <a:off x="6343414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66+++"/>
          <p:cNvSpPr txBox="1"/>
          <p:nvPr/>
        </p:nvSpPr>
        <p:spPr>
          <a:xfrm>
            <a:off x="9761017" y="1791616"/>
            <a:ext cx="12567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利润率趋势变化</a:t>
            </a:r>
          </a:p>
        </p:txBody>
      </p:sp>
      <p:cxnSp>
        <p:nvCxnSpPr>
          <p:cNvPr id="73" name="Straight Connector 64+++"/>
          <p:cNvCxnSpPr/>
          <p:nvPr/>
        </p:nvCxnSpPr>
        <p:spPr>
          <a:xfrm>
            <a:off x="9205678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258517" y="3843948"/>
            <a:ext cx="1198800" cy="2680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442912" y="3969232"/>
          <a:ext cx="7982632" cy="2555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4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分公司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订单量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费用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126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上海分公司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2,156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1,024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167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16.3%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广州分公司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1,567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548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深圳分公司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1,389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492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11.6%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成都分公司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335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武汉分公司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801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238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8.1%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346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-3.9%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" name="Right Triangle 76+"/>
          <p:cNvSpPr/>
          <p:nvPr/>
        </p:nvSpPr>
        <p:spPr>
          <a:xfrm>
            <a:off x="745460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650026" y="3967909"/>
            <a:ext cx="3107097" cy="2556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TextBox 66+"/>
          <p:cNvSpPr txBox="1"/>
          <p:nvPr/>
        </p:nvSpPr>
        <p:spPr>
          <a:xfrm>
            <a:off x="9664966" y="409542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关键业务洞察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9140871" y="4443759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上海分公司表现突出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854381" y="4689203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订单量和利润均实现两位数增长，利润率位居各分公司之首</a:t>
            </a:r>
          </a:p>
        </p:txBody>
      </p:sp>
      <p:sp>
        <p:nvSpPr>
          <p:cNvPr id="85" name="TextBox 81+"/>
          <p:cNvSpPr txBox="1"/>
          <p:nvPr/>
        </p:nvSpPr>
        <p:spPr>
          <a:xfrm>
            <a:off x="9140871" y="5204503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南京分公司需重点关注</a:t>
            </a:r>
          </a:p>
        </p:txBody>
      </p:sp>
      <p:sp>
        <p:nvSpPr>
          <p:cNvPr id="86" name="TextBox 83+"/>
          <p:cNvSpPr txBox="1"/>
          <p:nvPr/>
        </p:nvSpPr>
        <p:spPr>
          <a:xfrm>
            <a:off x="8854381" y="5419947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出现亏损，订单量和利润同比均大幅下滑，需制定改进计划</a:t>
            </a:r>
          </a:p>
        </p:txBody>
      </p:sp>
      <p:sp>
        <p:nvSpPr>
          <p:cNvPr id="87" name="TextBox 81++"/>
          <p:cNvSpPr txBox="1"/>
          <p:nvPr/>
        </p:nvSpPr>
        <p:spPr>
          <a:xfrm>
            <a:off x="9140871" y="5883217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中西部市场潜力巨大</a:t>
            </a:r>
          </a:p>
        </p:txBody>
      </p:sp>
      <p:sp>
        <p:nvSpPr>
          <p:cNvPr id="88" name="TextBox 83++"/>
          <p:cNvSpPr txBox="1"/>
          <p:nvPr/>
        </p:nvSpPr>
        <p:spPr>
          <a:xfrm>
            <a:off x="8854381" y="6110695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成都、武汉、西安分公司订单增长稳定，市场拓展空间较大</a:t>
            </a:r>
          </a:p>
        </p:txBody>
      </p:sp>
      <p:grpSp>
        <p:nvGrpSpPr>
          <p:cNvPr id="94" name="组合 93"/>
          <p:cNvGrpSpPr>
            <a:grpSpLocks noChangeAspect="1"/>
          </p:cNvGrpSpPr>
          <p:nvPr/>
        </p:nvGrpSpPr>
        <p:grpSpPr>
          <a:xfrm>
            <a:off x="8856572" y="4443481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2" name="任意多边形: 形状 91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5" name="Group 93+"/>
          <p:cNvGrpSpPr>
            <a:grpSpLocks noChangeAspect="1"/>
          </p:cNvGrpSpPr>
          <p:nvPr/>
        </p:nvGrpSpPr>
        <p:grpSpPr>
          <a:xfrm>
            <a:off x="8856572" y="5204225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6" name="任意多边形: 形状 95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8" name="Group 93+"/>
          <p:cNvGrpSpPr>
            <a:grpSpLocks noChangeAspect="1"/>
          </p:cNvGrpSpPr>
          <p:nvPr/>
        </p:nvGrpSpPr>
        <p:grpSpPr>
          <a:xfrm>
            <a:off x="8856572" y="5882939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1" name="矩形 100"/>
          <p:cNvSpPr/>
          <p:nvPr/>
        </p:nvSpPr>
        <p:spPr>
          <a:xfrm>
            <a:off x="7503885" y="6248400"/>
            <a:ext cx="631373" cy="24095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Rectangle 100+"/>
          <p:cNvSpPr/>
          <p:nvPr/>
        </p:nvSpPr>
        <p:spPr>
          <a:xfrm>
            <a:off x="6557186" y="6248400"/>
            <a:ext cx="631373" cy="240959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489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248920" y="3792855"/>
            <a:ext cx="11711940" cy="2673985"/>
          </a:xfrm>
          <a:prstGeom prst="roundRect">
            <a:avLst>
              <a:gd name="adj" fmla="val 6981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384810" y="4008755"/>
            <a:ext cx="3568065" cy="965200"/>
            <a:chOff x="642" y="1655"/>
            <a:chExt cx="5619" cy="1520"/>
          </a:xfrm>
        </p:grpSpPr>
        <p:sp>
          <p:nvSpPr>
            <p:cNvPr id="34" name="文本框 33"/>
            <p:cNvSpPr txBox="1"/>
            <p:nvPr>
              <p:custDataLst>
                <p:tags r:id="rId30"/>
              </p:custDataLst>
            </p:nvPr>
          </p:nvSpPr>
          <p:spPr>
            <a:xfrm>
              <a:off x="642" y="221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78" y="1655"/>
              <a:ext cx="3226" cy="562"/>
              <a:chOff x="678" y="1655"/>
              <a:chExt cx="3226" cy="562"/>
            </a:xfrm>
          </p:grpSpPr>
          <p:sp>
            <p:nvSpPr>
              <p:cNvPr id="35" name="圆角矩形 34"/>
              <p:cNvSpPr/>
              <p:nvPr>
                <p:custDataLst>
                  <p:tags r:id="rId31"/>
                </p:custDataLst>
              </p:nvPr>
            </p:nvSpPr>
            <p:spPr>
              <a:xfrm>
                <a:off x="678" y="1655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678" y="1684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</a:rPr>
                  <a:t>数字化会员体系升级</a:t>
                </a:r>
              </a:p>
            </p:txBody>
          </p:sp>
        </p:grpSp>
      </p:grpSp>
      <p:grpSp>
        <p:nvGrpSpPr>
          <p:cNvPr id="40" name="组合 39"/>
          <p:cNvGrpSpPr/>
          <p:nvPr>
            <p:custDataLst>
              <p:tags r:id="rId4"/>
            </p:custDataLst>
          </p:nvPr>
        </p:nvGrpSpPr>
        <p:grpSpPr>
          <a:xfrm>
            <a:off x="384810" y="5272405"/>
            <a:ext cx="3568065" cy="965200"/>
            <a:chOff x="642" y="3575"/>
            <a:chExt cx="5619" cy="1520"/>
          </a:xfrm>
        </p:grpSpPr>
        <p:sp>
          <p:nvSpPr>
            <p:cNvPr id="107" name="文本框 106"/>
            <p:cNvSpPr txBox="1"/>
            <p:nvPr>
              <p:custDataLst>
                <p:tags r:id="rId27"/>
              </p:custDataLst>
            </p:nvPr>
          </p:nvSpPr>
          <p:spPr>
            <a:xfrm>
              <a:off x="642" y="413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</a:p>
          </p:txBody>
        </p:sp>
        <p:sp>
          <p:nvSpPr>
            <p:cNvPr id="108" name="圆角矩形 107"/>
            <p:cNvSpPr/>
            <p:nvPr>
              <p:custDataLst>
                <p:tags r:id="rId28"/>
              </p:custDataLst>
            </p:nvPr>
          </p:nvSpPr>
          <p:spPr>
            <a:xfrm>
              <a:off x="678" y="3575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29"/>
              </p:custDataLst>
            </p:nvPr>
          </p:nvSpPr>
          <p:spPr>
            <a:xfrm>
              <a:off x="678" y="3604"/>
              <a:ext cx="3174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设置柔性供应链优化</a:t>
              </a:r>
            </a:p>
          </p:txBody>
        </p:sp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8170545" y="4008755"/>
            <a:ext cx="3621405" cy="965200"/>
            <a:chOff x="12983" y="1655"/>
            <a:chExt cx="5703" cy="1520"/>
          </a:xfrm>
        </p:grpSpPr>
        <p:sp>
          <p:nvSpPr>
            <p:cNvPr id="129" name="文本框 128"/>
            <p:cNvSpPr txBox="1"/>
            <p:nvPr>
              <p:custDataLst>
                <p:tags r:id="rId24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130" name="圆角矩形 129"/>
              <p:cNvSpPr/>
              <p:nvPr>
                <p:custDataLst>
                  <p:tags r:id="rId25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131" name="文本框 13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</a:rPr>
                  <a:t>稳定阶段性进度管控</a:t>
                </a:r>
              </a:p>
            </p:txBody>
          </p:sp>
        </p:grpSp>
      </p:grp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8170545" y="5271770"/>
            <a:ext cx="3621405" cy="965200"/>
            <a:chOff x="12983" y="1655"/>
            <a:chExt cx="5703" cy="1520"/>
          </a:xfrm>
        </p:grpSpPr>
        <p:sp>
          <p:nvSpPr>
            <p:cNvPr id="32" name="文本框 31"/>
            <p:cNvSpPr txBox="1"/>
            <p:nvPr>
              <p:custDataLst>
                <p:tags r:id="rId21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38" name="圆角矩形 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  <a:sym typeface="+mn-ea"/>
                  </a:rPr>
                  <a:t>源头防控全流程风险</a:t>
                </a:r>
              </a:p>
            </p:txBody>
          </p:sp>
        </p:grpSp>
      </p:grpSp>
      <p:graphicFrame>
        <p:nvGraphicFramePr>
          <p:cNvPr id="183" name="图表 182"/>
          <p:cNvGraphicFramePr/>
          <p:nvPr/>
        </p:nvGraphicFramePr>
        <p:xfrm>
          <a:off x="-207645" y="781050"/>
          <a:ext cx="10346690" cy="326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49" name="圆角矩形 48"/>
          <p:cNvSpPr/>
          <p:nvPr/>
        </p:nvSpPr>
        <p:spPr>
          <a:xfrm>
            <a:off x="10139045" y="92646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0139045" y="184340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0139045" y="276034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820400" y="96774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店铺流量整体呈上升趋势，因素对流量有显著正面影响。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0820400" y="1889125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一步分析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4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10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月份流量优化的营销策略成功经验。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10820400" y="281051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应该制定特定的提升计划对流量的季节性进行深入分析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。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7"/>
            </p:custDataLst>
          </p:nvPr>
        </p:nvSpPr>
        <p:spPr>
          <a:xfrm>
            <a:off x="10087610" y="96774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整体上升</a:t>
            </a:r>
          </a:p>
        </p:txBody>
      </p:sp>
      <p:sp>
        <p:nvSpPr>
          <p:cNvPr id="64" name="文本框 63"/>
          <p:cNvSpPr txBox="1"/>
          <p:nvPr>
            <p:custDataLst>
              <p:tags r:id="rId8"/>
            </p:custDataLst>
          </p:nvPr>
        </p:nvSpPr>
        <p:spPr>
          <a:xfrm>
            <a:off x="10087610" y="1885315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具体分析</a:t>
            </a:r>
          </a:p>
        </p:txBody>
      </p:sp>
      <p:sp>
        <p:nvSpPr>
          <p:cNvPr id="65" name="文本框 64"/>
          <p:cNvSpPr txBox="1"/>
          <p:nvPr>
            <p:custDataLst>
              <p:tags r:id="rId9"/>
            </p:custDataLst>
          </p:nvPr>
        </p:nvSpPr>
        <p:spPr>
          <a:xfrm>
            <a:off x="10087610" y="280289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制定计划</a:t>
            </a:r>
          </a:p>
        </p:txBody>
      </p:sp>
      <p:cxnSp>
        <p:nvCxnSpPr>
          <p:cNvPr id="198" name="直接连接符 197"/>
          <p:cNvCxnSpPr/>
          <p:nvPr/>
        </p:nvCxnSpPr>
        <p:spPr>
          <a:xfrm>
            <a:off x="10831830" y="298386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831830" y="205803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0831830" y="113220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10"/>
            </p:custDataLst>
          </p:nvPr>
        </p:nvGrpSpPr>
        <p:grpSpPr>
          <a:xfrm>
            <a:off x="4914900" y="3958590"/>
            <a:ext cx="2408555" cy="2409190"/>
            <a:chOff x="3472116" y="1218975"/>
            <a:chExt cx="5247768" cy="5247752"/>
          </a:xfrm>
        </p:grpSpPr>
        <p:sp>
          <p:nvSpPr>
            <p:cNvPr id="2" name="弧形 1"/>
            <p:cNvSpPr/>
            <p:nvPr>
              <p:custDataLst>
                <p:tags r:id="rId18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7269933"/>
                <a:gd name="adj2" fmla="val 10092442"/>
              </a:avLst>
            </a:prstGeom>
            <a:ln w="31750">
              <a:gradFill>
                <a:gsLst>
                  <a:gs pos="2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6" name="弧形 75"/>
            <p:cNvSpPr/>
            <p:nvPr>
              <p:custDataLst>
                <p:tags r:id="rId19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957933"/>
                <a:gd name="adj2" fmla="val 3742040"/>
              </a:avLst>
            </a:prstGeom>
            <a:ln w="31750">
              <a:gradFill>
                <a:gsLst>
                  <a:gs pos="90000">
                    <a:schemeClr val="accent1">
                      <a:alpha val="0"/>
                    </a:schemeClr>
                  </a:gs>
                  <a:gs pos="18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5" name="弧形 74"/>
            <p:cNvSpPr/>
            <p:nvPr>
              <p:custDataLst>
                <p:tags r:id="rId20"/>
              </p:custDataLst>
            </p:nvPr>
          </p:nvSpPr>
          <p:spPr>
            <a:xfrm flipH="1">
              <a:off x="3472116" y="1218975"/>
              <a:ext cx="5247768" cy="5247752"/>
            </a:xfrm>
            <a:prstGeom prst="arc">
              <a:avLst>
                <a:gd name="adj1" fmla="val 3876692"/>
                <a:gd name="adj2" fmla="val 6956782"/>
              </a:avLst>
            </a:prstGeom>
            <a:ln w="3175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45" name="椭圆 44"/>
          <p:cNvSpPr/>
          <p:nvPr>
            <p:custDataLst>
              <p:tags r:id="rId11"/>
            </p:custDataLst>
          </p:nvPr>
        </p:nvSpPr>
        <p:spPr>
          <a:xfrm>
            <a:off x="5433695" y="3973830"/>
            <a:ext cx="1342390" cy="13430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>
            <p:custDataLst>
              <p:tags r:id="rId12"/>
            </p:custDataLst>
          </p:nvPr>
        </p:nvSpPr>
        <p:spPr>
          <a:xfrm>
            <a:off x="5950585" y="4754245"/>
            <a:ext cx="1342390" cy="13430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>
            <p:custDataLst>
              <p:tags r:id="rId13"/>
            </p:custDataLst>
          </p:nvPr>
        </p:nvSpPr>
        <p:spPr>
          <a:xfrm>
            <a:off x="4916805" y="4761230"/>
            <a:ext cx="1342390" cy="13430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1" name="任意多边形: 形状 60"/>
          <p:cNvSpPr/>
          <p:nvPr>
            <p:custDataLst>
              <p:tags r:id="rId14"/>
            </p:custDataLst>
          </p:nvPr>
        </p:nvSpPr>
        <p:spPr>
          <a:xfrm>
            <a:off x="5229225" y="4246245"/>
            <a:ext cx="1751330" cy="1530985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5097780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预判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应对</a:t>
            </a: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6155055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精准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运营</a:t>
            </a: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5649595" y="431038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节点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追踪</a:t>
            </a:r>
          </a:p>
        </p:txBody>
      </p:sp>
      <p:grpSp>
        <p:nvGrpSpPr>
          <p:cNvPr id="9569" name="Google Shape;9569;p88"/>
          <p:cNvGrpSpPr/>
          <p:nvPr/>
        </p:nvGrpSpPr>
        <p:grpSpPr>
          <a:xfrm>
            <a:off x="5902325" y="5006975"/>
            <a:ext cx="401320" cy="400685"/>
            <a:chOff x="6264975" y="3220950"/>
            <a:chExt cx="268525" cy="267950"/>
          </a:xfrm>
          <a:solidFill>
            <a:schemeClr val="accent5"/>
          </a:solidFill>
        </p:grpSpPr>
        <p:sp>
          <p:nvSpPr>
            <p:cNvPr id="9570" name="Google Shape;9570;p88"/>
            <p:cNvSpPr/>
            <p:nvPr/>
          </p:nvSpPr>
          <p:spPr>
            <a:xfrm>
              <a:off x="6322725" y="3276925"/>
              <a:ext cx="6550" cy="16100"/>
            </a:xfrm>
            <a:custGeom>
              <a:avLst/>
              <a:gdLst/>
              <a:ahLst/>
              <a:cxnLst/>
              <a:rect l="l" t="t" r="r" b="b"/>
              <a:pathLst>
                <a:path w="262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19" y="596"/>
                    <a:pt x="191" y="477"/>
                    <a:pt x="214" y="357"/>
                  </a:cubicBezTo>
                  <a:cubicBezTo>
                    <a:pt x="262" y="191"/>
                    <a:pt x="167" y="4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1" name="Google Shape;9571;p88"/>
            <p:cNvSpPr/>
            <p:nvPr/>
          </p:nvSpPr>
          <p:spPr>
            <a:xfrm>
              <a:off x="6266750" y="3221700"/>
              <a:ext cx="122075" cy="104050"/>
            </a:xfrm>
            <a:custGeom>
              <a:avLst/>
              <a:gdLst/>
              <a:ahLst/>
              <a:cxnLst/>
              <a:rect l="l" t="t" r="r" b="b"/>
              <a:pathLst>
                <a:path w="4883" h="4162" extrusionOk="0">
                  <a:moveTo>
                    <a:pt x="2084" y="661"/>
                  </a:moveTo>
                  <a:cubicBezTo>
                    <a:pt x="2162" y="661"/>
                    <a:pt x="2239" y="709"/>
                    <a:pt x="2239" y="804"/>
                  </a:cubicBezTo>
                  <a:lnTo>
                    <a:pt x="2239" y="923"/>
                  </a:lnTo>
                  <a:cubicBezTo>
                    <a:pt x="2382" y="947"/>
                    <a:pt x="2501" y="995"/>
                    <a:pt x="2596" y="1114"/>
                  </a:cubicBezTo>
                  <a:cubicBezTo>
                    <a:pt x="2668" y="1161"/>
                    <a:pt x="2668" y="1257"/>
                    <a:pt x="2596" y="1328"/>
                  </a:cubicBezTo>
                  <a:cubicBezTo>
                    <a:pt x="2561" y="1352"/>
                    <a:pt x="2519" y="1364"/>
                    <a:pt x="2480" y="1364"/>
                  </a:cubicBezTo>
                  <a:cubicBezTo>
                    <a:pt x="2441" y="1364"/>
                    <a:pt x="2406" y="1352"/>
                    <a:pt x="2382" y="1328"/>
                  </a:cubicBezTo>
                  <a:cubicBezTo>
                    <a:pt x="2334" y="1304"/>
                    <a:pt x="2287" y="1280"/>
                    <a:pt x="2263" y="1257"/>
                  </a:cubicBezTo>
                  <a:lnTo>
                    <a:pt x="2263" y="1876"/>
                  </a:lnTo>
                  <a:lnTo>
                    <a:pt x="2358" y="1923"/>
                  </a:lnTo>
                  <a:cubicBezTo>
                    <a:pt x="2668" y="2019"/>
                    <a:pt x="2834" y="2328"/>
                    <a:pt x="2787" y="2638"/>
                  </a:cubicBezTo>
                  <a:cubicBezTo>
                    <a:pt x="2739" y="2900"/>
                    <a:pt x="2525" y="3138"/>
                    <a:pt x="2263" y="3186"/>
                  </a:cubicBezTo>
                  <a:lnTo>
                    <a:pt x="2263" y="3352"/>
                  </a:lnTo>
                  <a:cubicBezTo>
                    <a:pt x="2263" y="3448"/>
                    <a:pt x="2180" y="3495"/>
                    <a:pt x="2096" y="3495"/>
                  </a:cubicBezTo>
                  <a:cubicBezTo>
                    <a:pt x="2013" y="3495"/>
                    <a:pt x="1929" y="3448"/>
                    <a:pt x="1929" y="3352"/>
                  </a:cubicBezTo>
                  <a:lnTo>
                    <a:pt x="1929" y="3209"/>
                  </a:lnTo>
                  <a:cubicBezTo>
                    <a:pt x="1787" y="3209"/>
                    <a:pt x="1620" y="3138"/>
                    <a:pt x="1501" y="3043"/>
                  </a:cubicBezTo>
                  <a:cubicBezTo>
                    <a:pt x="1406" y="2995"/>
                    <a:pt x="1406" y="2900"/>
                    <a:pt x="1453" y="2828"/>
                  </a:cubicBezTo>
                  <a:lnTo>
                    <a:pt x="1429" y="2805"/>
                  </a:lnTo>
                  <a:cubicBezTo>
                    <a:pt x="1456" y="2765"/>
                    <a:pt x="1496" y="2748"/>
                    <a:pt x="1539" y="2748"/>
                  </a:cubicBezTo>
                  <a:cubicBezTo>
                    <a:pt x="1575" y="2748"/>
                    <a:pt x="1612" y="2759"/>
                    <a:pt x="1644" y="2781"/>
                  </a:cubicBezTo>
                  <a:cubicBezTo>
                    <a:pt x="1739" y="2828"/>
                    <a:pt x="1810" y="2876"/>
                    <a:pt x="1929" y="2876"/>
                  </a:cubicBezTo>
                  <a:lnTo>
                    <a:pt x="1929" y="2090"/>
                  </a:lnTo>
                  <a:cubicBezTo>
                    <a:pt x="1834" y="2043"/>
                    <a:pt x="1739" y="1995"/>
                    <a:pt x="1644" y="1923"/>
                  </a:cubicBezTo>
                  <a:cubicBezTo>
                    <a:pt x="1501" y="1804"/>
                    <a:pt x="1429" y="1590"/>
                    <a:pt x="1477" y="1423"/>
                  </a:cubicBezTo>
                  <a:cubicBezTo>
                    <a:pt x="1525" y="1209"/>
                    <a:pt x="1667" y="1019"/>
                    <a:pt x="1882" y="947"/>
                  </a:cubicBezTo>
                  <a:lnTo>
                    <a:pt x="1929" y="947"/>
                  </a:lnTo>
                  <a:lnTo>
                    <a:pt x="1929" y="804"/>
                  </a:lnTo>
                  <a:cubicBezTo>
                    <a:pt x="1929" y="709"/>
                    <a:pt x="2007" y="661"/>
                    <a:pt x="2084" y="661"/>
                  </a:cubicBezTo>
                  <a:close/>
                  <a:moveTo>
                    <a:pt x="2103" y="1"/>
                  </a:moveTo>
                  <a:cubicBezTo>
                    <a:pt x="1026" y="1"/>
                    <a:pt x="0" y="833"/>
                    <a:pt x="0" y="2090"/>
                  </a:cubicBezTo>
                  <a:cubicBezTo>
                    <a:pt x="0" y="3233"/>
                    <a:pt x="929" y="4162"/>
                    <a:pt x="2096" y="4162"/>
                  </a:cubicBezTo>
                  <a:cubicBezTo>
                    <a:pt x="3954" y="4162"/>
                    <a:pt x="4882" y="1923"/>
                    <a:pt x="3573" y="614"/>
                  </a:cubicBezTo>
                  <a:cubicBezTo>
                    <a:pt x="3142" y="190"/>
                    <a:pt x="2616" y="1"/>
                    <a:pt x="2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2" name="Google Shape;9572;p88"/>
            <p:cNvSpPr/>
            <p:nvPr/>
          </p:nvSpPr>
          <p:spPr>
            <a:xfrm>
              <a:off x="6310800" y="3253700"/>
              <a:ext cx="4200" cy="11325"/>
            </a:xfrm>
            <a:custGeom>
              <a:avLst/>
              <a:gdLst/>
              <a:ahLst/>
              <a:cxnLst/>
              <a:rect l="l" t="t" r="r" b="b"/>
              <a:pathLst>
                <a:path w="168" h="453" extrusionOk="0">
                  <a:moveTo>
                    <a:pt x="167" y="0"/>
                  </a:moveTo>
                  <a:cubicBezTo>
                    <a:pt x="96" y="24"/>
                    <a:pt x="25" y="120"/>
                    <a:pt x="25" y="191"/>
                  </a:cubicBezTo>
                  <a:cubicBezTo>
                    <a:pt x="1" y="262"/>
                    <a:pt x="25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3" name="Google Shape;9573;p88"/>
            <p:cNvSpPr/>
            <p:nvPr/>
          </p:nvSpPr>
          <p:spPr>
            <a:xfrm>
              <a:off x="6366175" y="3379325"/>
              <a:ext cx="67900" cy="109575"/>
            </a:xfrm>
            <a:custGeom>
              <a:avLst/>
              <a:gdLst/>
              <a:ahLst/>
              <a:cxnLst/>
              <a:rect l="l" t="t" r="r" b="b"/>
              <a:pathLst>
                <a:path w="2716" h="4383" extrusionOk="0">
                  <a:moveTo>
                    <a:pt x="334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4073"/>
                  </a:lnTo>
                  <a:cubicBezTo>
                    <a:pt x="0" y="4239"/>
                    <a:pt x="143" y="4382"/>
                    <a:pt x="334" y="4382"/>
                  </a:cubicBezTo>
                  <a:lnTo>
                    <a:pt x="2406" y="4382"/>
                  </a:lnTo>
                  <a:cubicBezTo>
                    <a:pt x="2572" y="4382"/>
                    <a:pt x="2715" y="4239"/>
                    <a:pt x="2715" y="4073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4" name="Google Shape;9574;p88"/>
            <p:cNvSpPr/>
            <p:nvPr/>
          </p:nvSpPr>
          <p:spPr>
            <a:xfrm>
              <a:off x="6465600" y="3347775"/>
              <a:ext cx="67900" cy="141125"/>
            </a:xfrm>
            <a:custGeom>
              <a:avLst/>
              <a:gdLst/>
              <a:ahLst/>
              <a:cxnLst/>
              <a:rect l="l" t="t" r="r" b="b"/>
              <a:pathLst>
                <a:path w="2716" h="5645" extrusionOk="0">
                  <a:moveTo>
                    <a:pt x="310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5335"/>
                  </a:lnTo>
                  <a:cubicBezTo>
                    <a:pt x="1" y="5501"/>
                    <a:pt x="143" y="5644"/>
                    <a:pt x="310" y="5644"/>
                  </a:cubicBezTo>
                  <a:lnTo>
                    <a:pt x="2406" y="5644"/>
                  </a:lnTo>
                  <a:cubicBezTo>
                    <a:pt x="2572" y="5644"/>
                    <a:pt x="2715" y="5501"/>
                    <a:pt x="2715" y="5335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5" name="Google Shape;9575;p88"/>
            <p:cNvSpPr/>
            <p:nvPr/>
          </p:nvSpPr>
          <p:spPr>
            <a:xfrm>
              <a:off x="6266750" y="3410275"/>
              <a:ext cx="67900" cy="78625"/>
            </a:xfrm>
            <a:custGeom>
              <a:avLst/>
              <a:gdLst/>
              <a:ahLst/>
              <a:cxnLst/>
              <a:rect l="l" t="t" r="r" b="b"/>
              <a:pathLst>
                <a:path w="2716" h="3145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2835"/>
                  </a:lnTo>
                  <a:cubicBezTo>
                    <a:pt x="0" y="3001"/>
                    <a:pt x="143" y="3144"/>
                    <a:pt x="334" y="3144"/>
                  </a:cubicBezTo>
                  <a:lnTo>
                    <a:pt x="2406" y="3144"/>
                  </a:lnTo>
                  <a:cubicBezTo>
                    <a:pt x="2572" y="3144"/>
                    <a:pt x="2715" y="3001"/>
                    <a:pt x="2715" y="2835"/>
                  </a:cubicBezTo>
                  <a:lnTo>
                    <a:pt x="2715" y="334"/>
                  </a:lnTo>
                  <a:cubicBezTo>
                    <a:pt x="2715" y="144"/>
                    <a:pt x="2572" y="1"/>
                    <a:pt x="2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6" name="Google Shape;9576;p88"/>
            <p:cNvSpPr/>
            <p:nvPr/>
          </p:nvSpPr>
          <p:spPr>
            <a:xfrm>
              <a:off x="6264975" y="3220950"/>
              <a:ext cx="268525" cy="162550"/>
            </a:xfrm>
            <a:custGeom>
              <a:avLst/>
              <a:gdLst/>
              <a:ahLst/>
              <a:cxnLst/>
              <a:rect l="l" t="t" r="r" b="b"/>
              <a:pathLst>
                <a:path w="10741" h="6502" extrusionOk="0">
                  <a:moveTo>
                    <a:pt x="8764" y="1"/>
                  </a:moveTo>
                  <a:cubicBezTo>
                    <a:pt x="8383" y="48"/>
                    <a:pt x="8383" y="596"/>
                    <a:pt x="8764" y="644"/>
                  </a:cubicBezTo>
                  <a:lnTo>
                    <a:pt x="9645" y="644"/>
                  </a:lnTo>
                  <a:cubicBezTo>
                    <a:pt x="9502" y="763"/>
                    <a:pt x="9359" y="906"/>
                    <a:pt x="9216" y="1049"/>
                  </a:cubicBezTo>
                  <a:cubicBezTo>
                    <a:pt x="7335" y="2906"/>
                    <a:pt x="4477" y="5692"/>
                    <a:pt x="381" y="5859"/>
                  </a:cubicBezTo>
                  <a:cubicBezTo>
                    <a:pt x="0" y="5907"/>
                    <a:pt x="0" y="6454"/>
                    <a:pt x="381" y="6502"/>
                  </a:cubicBezTo>
                  <a:cubicBezTo>
                    <a:pt x="4715" y="6311"/>
                    <a:pt x="7668" y="3430"/>
                    <a:pt x="9645" y="1501"/>
                  </a:cubicBezTo>
                  <a:lnTo>
                    <a:pt x="10097" y="1049"/>
                  </a:lnTo>
                  <a:lnTo>
                    <a:pt x="10097" y="2001"/>
                  </a:lnTo>
                  <a:cubicBezTo>
                    <a:pt x="10121" y="2192"/>
                    <a:pt x="10270" y="2287"/>
                    <a:pt x="10419" y="2287"/>
                  </a:cubicBezTo>
                  <a:cubicBezTo>
                    <a:pt x="10568" y="2287"/>
                    <a:pt x="10717" y="2192"/>
                    <a:pt x="10740" y="2001"/>
                  </a:cubicBezTo>
                  <a:lnTo>
                    <a:pt x="10740" y="334"/>
                  </a:lnTo>
                  <a:cubicBezTo>
                    <a:pt x="10740" y="144"/>
                    <a:pt x="10597" y="1"/>
                    <a:pt x="10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6"/>
          <p:cNvSpPr/>
          <p:nvPr>
            <p:custDataLst>
              <p:tags r:id="rId2"/>
            </p:custDataLst>
          </p:nvPr>
        </p:nvSpPr>
        <p:spPr>
          <a:xfrm>
            <a:off x="365125" y="5536565"/>
            <a:ext cx="430276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0" name="矩形: 圆角 6"/>
          <p:cNvSpPr/>
          <p:nvPr>
            <p:custDataLst>
              <p:tags r:id="rId3"/>
            </p:custDataLst>
          </p:nvPr>
        </p:nvSpPr>
        <p:spPr>
          <a:xfrm>
            <a:off x="3937000" y="5536565"/>
            <a:ext cx="438150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8" name="矩形: 圆角 5"/>
          <p:cNvSpPr/>
          <p:nvPr>
            <p:custDataLst>
              <p:tags r:id="rId4"/>
            </p:custDataLst>
          </p:nvPr>
        </p:nvSpPr>
        <p:spPr>
          <a:xfrm>
            <a:off x="7339965" y="5536565"/>
            <a:ext cx="4613910" cy="81661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85445" y="1177925"/>
          <a:ext cx="5494020" cy="186626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002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业绩情况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4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5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6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目标业绩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实际业绩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是否完成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85445" y="3265805"/>
          <a:ext cx="5492115" cy="1870710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8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业绩情况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7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8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9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10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目标业绩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实际业绩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是否完成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图形 27"/>
          <p:cNvSpPr/>
          <p:nvPr/>
        </p:nvSpPr>
        <p:spPr>
          <a:xfrm>
            <a:off x="339725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" name="图形 27"/>
          <p:cNvSpPr/>
          <p:nvPr/>
        </p:nvSpPr>
        <p:spPr>
          <a:xfrm>
            <a:off x="275209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" name="图形 27"/>
          <p:cNvSpPr/>
          <p:nvPr/>
        </p:nvSpPr>
        <p:spPr>
          <a:xfrm>
            <a:off x="468820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" name="图形 27"/>
          <p:cNvSpPr/>
          <p:nvPr/>
        </p:nvSpPr>
        <p:spPr>
          <a:xfrm>
            <a:off x="533336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" name="图形 27"/>
          <p:cNvSpPr/>
          <p:nvPr/>
        </p:nvSpPr>
        <p:spPr>
          <a:xfrm>
            <a:off x="5335264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" name="图形 27"/>
          <p:cNvSpPr/>
          <p:nvPr/>
        </p:nvSpPr>
        <p:spPr>
          <a:xfrm>
            <a:off x="299528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" name="图形 27"/>
          <p:cNvSpPr/>
          <p:nvPr/>
        </p:nvSpPr>
        <p:spPr>
          <a:xfrm>
            <a:off x="377506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4" name="图形 27"/>
          <p:cNvSpPr/>
          <p:nvPr/>
        </p:nvSpPr>
        <p:spPr>
          <a:xfrm>
            <a:off x="221550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5" name="图形 27"/>
          <p:cNvSpPr/>
          <p:nvPr/>
        </p:nvSpPr>
        <p:spPr>
          <a:xfrm>
            <a:off x="1435097" y="4758108"/>
            <a:ext cx="325752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4042410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4554849" y="4758108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1461135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2" name="图形 27"/>
          <p:cNvSpPr/>
          <p:nvPr/>
        </p:nvSpPr>
        <p:spPr>
          <a:xfrm>
            <a:off x="210693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1205865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付费流量优化</a:t>
            </a: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8319135" y="5603875"/>
            <a:ext cx="265176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活动流量抢占</a:t>
            </a:r>
          </a:p>
        </p:txBody>
      </p:sp>
      <p:sp>
        <p:nvSpPr>
          <p:cNvPr id="49" name="椭圆 48"/>
          <p:cNvSpPr/>
          <p:nvPr>
            <p:custDataLst>
              <p:tags r:id="rId9"/>
            </p:custDataLst>
          </p:nvPr>
        </p:nvSpPr>
        <p:spPr>
          <a:xfrm>
            <a:off x="47434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4762500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免费流量挖掘</a:t>
            </a:r>
          </a:p>
        </p:txBody>
      </p:sp>
      <p:sp>
        <p:nvSpPr>
          <p:cNvPr id="50" name="椭圆 49"/>
          <p:cNvSpPr/>
          <p:nvPr>
            <p:custDataLst>
              <p:tags r:id="rId11"/>
            </p:custDataLst>
          </p:nvPr>
        </p:nvSpPr>
        <p:spPr>
          <a:xfrm>
            <a:off x="4042410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5" name="椭圆 54"/>
          <p:cNvSpPr/>
          <p:nvPr>
            <p:custDataLst>
              <p:tags r:id="rId12"/>
            </p:custDataLst>
          </p:nvPr>
        </p:nvSpPr>
        <p:spPr>
          <a:xfrm>
            <a:off x="743775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56" name="Google Shape;8589;p85"/>
          <p:cNvGrpSpPr/>
          <p:nvPr/>
        </p:nvGrpSpPr>
        <p:grpSpPr>
          <a:xfrm>
            <a:off x="593090" y="5760720"/>
            <a:ext cx="431800" cy="365125"/>
            <a:chOff x="1771678" y="1944952"/>
            <a:chExt cx="363490" cy="307268"/>
          </a:xfrm>
          <a:solidFill>
            <a:schemeClr val="bg1"/>
          </a:solidFill>
        </p:grpSpPr>
        <p:sp>
          <p:nvSpPr>
            <p:cNvPr id="57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8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9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0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1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4129405" y="5760085"/>
            <a:ext cx="415290" cy="36576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8609" name="Google Shape;8609;p85"/>
          <p:cNvGrpSpPr/>
          <p:nvPr/>
        </p:nvGrpSpPr>
        <p:grpSpPr>
          <a:xfrm>
            <a:off x="7580630" y="5758815"/>
            <a:ext cx="413385" cy="340360"/>
            <a:chOff x="3950800" y="2388650"/>
            <a:chExt cx="267925" cy="219700"/>
          </a:xfrm>
          <a:solidFill>
            <a:schemeClr val="bg1"/>
          </a:solidFill>
        </p:grpSpPr>
        <p:sp>
          <p:nvSpPr>
            <p:cNvPr id="8610" name="Google Shape;8610;p85"/>
            <p:cNvSpPr/>
            <p:nvPr/>
          </p:nvSpPr>
          <p:spPr>
            <a:xfrm>
              <a:off x="4138925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1" y="1"/>
                  </a:moveTo>
                  <a:cubicBezTo>
                    <a:pt x="215" y="382"/>
                    <a:pt x="358" y="834"/>
                    <a:pt x="358" y="1263"/>
                  </a:cubicBezTo>
                  <a:cubicBezTo>
                    <a:pt x="358" y="1715"/>
                    <a:pt x="239" y="2144"/>
                    <a:pt x="1" y="2525"/>
                  </a:cubicBezTo>
                  <a:lnTo>
                    <a:pt x="3192" y="2525"/>
                  </a:lnTo>
                  <a:lnTo>
                    <a:pt x="31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1" name="Google Shape;8611;p85"/>
            <p:cNvSpPr/>
            <p:nvPr/>
          </p:nvSpPr>
          <p:spPr>
            <a:xfrm>
              <a:off x="4037725" y="2467050"/>
              <a:ext cx="110150" cy="94275"/>
            </a:xfrm>
            <a:custGeom>
              <a:avLst/>
              <a:gdLst/>
              <a:ahLst/>
              <a:cxnLst/>
              <a:rect l="l" t="t" r="r" b="b"/>
              <a:pathLst>
                <a:path w="4406" h="3771" extrusionOk="0">
                  <a:moveTo>
                    <a:pt x="1881" y="627"/>
                  </a:moveTo>
                  <a:cubicBezTo>
                    <a:pt x="3001" y="627"/>
                    <a:pt x="3572" y="1984"/>
                    <a:pt x="2786" y="2794"/>
                  </a:cubicBezTo>
                  <a:cubicBezTo>
                    <a:pt x="2527" y="3045"/>
                    <a:pt x="2212" y="3158"/>
                    <a:pt x="1903" y="3158"/>
                  </a:cubicBezTo>
                  <a:cubicBezTo>
                    <a:pt x="1247" y="3158"/>
                    <a:pt x="619" y="2650"/>
                    <a:pt x="619" y="1889"/>
                  </a:cubicBezTo>
                  <a:cubicBezTo>
                    <a:pt x="619" y="1198"/>
                    <a:pt x="1191" y="627"/>
                    <a:pt x="1881" y="627"/>
                  </a:cubicBezTo>
                  <a:close/>
                  <a:moveTo>
                    <a:pt x="1901" y="1"/>
                  </a:moveTo>
                  <a:cubicBezTo>
                    <a:pt x="930" y="1"/>
                    <a:pt x="0" y="759"/>
                    <a:pt x="0" y="1889"/>
                  </a:cubicBezTo>
                  <a:cubicBezTo>
                    <a:pt x="0" y="2937"/>
                    <a:pt x="834" y="3770"/>
                    <a:pt x="1881" y="3770"/>
                  </a:cubicBezTo>
                  <a:cubicBezTo>
                    <a:pt x="3572" y="3770"/>
                    <a:pt x="4406" y="1746"/>
                    <a:pt x="3215" y="555"/>
                  </a:cubicBezTo>
                  <a:cubicBezTo>
                    <a:pt x="2832" y="172"/>
                    <a:pt x="2362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2" name="Google Shape;8612;p85"/>
            <p:cNvSpPr/>
            <p:nvPr/>
          </p:nvSpPr>
          <p:spPr>
            <a:xfrm>
              <a:off x="4069275" y="2498775"/>
              <a:ext cx="31575" cy="31000"/>
            </a:xfrm>
            <a:custGeom>
              <a:avLst/>
              <a:gdLst/>
              <a:ahLst/>
              <a:cxnLst/>
              <a:rect l="l" t="t" r="r" b="b"/>
              <a:pathLst>
                <a:path w="1263" h="1240" extrusionOk="0">
                  <a:moveTo>
                    <a:pt x="619" y="1"/>
                  </a:moveTo>
                  <a:cubicBezTo>
                    <a:pt x="286" y="1"/>
                    <a:pt x="0" y="287"/>
                    <a:pt x="0" y="620"/>
                  </a:cubicBezTo>
                  <a:cubicBezTo>
                    <a:pt x="0" y="977"/>
                    <a:pt x="286" y="1239"/>
                    <a:pt x="619" y="1239"/>
                  </a:cubicBezTo>
                  <a:cubicBezTo>
                    <a:pt x="977" y="1239"/>
                    <a:pt x="1262" y="977"/>
                    <a:pt x="1262" y="620"/>
                  </a:cubicBezTo>
                  <a:cubicBezTo>
                    <a:pt x="1262" y="287"/>
                    <a:pt x="977" y="1"/>
                    <a:pt x="6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3" name="Google Shape;8613;p85"/>
            <p:cNvSpPr/>
            <p:nvPr/>
          </p:nvSpPr>
          <p:spPr>
            <a:xfrm>
              <a:off x="3950800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0" y="1"/>
                  </a:moveTo>
                  <a:lnTo>
                    <a:pt x="0" y="2525"/>
                  </a:lnTo>
                  <a:lnTo>
                    <a:pt x="3191" y="2525"/>
                  </a:lnTo>
                  <a:cubicBezTo>
                    <a:pt x="2977" y="2144"/>
                    <a:pt x="2858" y="1715"/>
                    <a:pt x="2858" y="1263"/>
                  </a:cubicBezTo>
                  <a:cubicBezTo>
                    <a:pt x="2858" y="834"/>
                    <a:pt x="2977" y="382"/>
                    <a:pt x="3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4" name="Google Shape;8614;p85"/>
            <p:cNvSpPr/>
            <p:nvPr/>
          </p:nvSpPr>
          <p:spPr>
            <a:xfrm>
              <a:off x="3950800" y="2388650"/>
              <a:ext cx="267925" cy="78600"/>
            </a:xfrm>
            <a:custGeom>
              <a:avLst/>
              <a:gdLst/>
              <a:ahLst/>
              <a:cxnLst/>
              <a:rect l="l" t="t" r="r" b="b"/>
              <a:pathLst>
                <a:path w="10717" h="3144" extrusionOk="0">
                  <a:moveTo>
                    <a:pt x="6001" y="1262"/>
                  </a:moveTo>
                  <a:cubicBezTo>
                    <a:pt x="6406" y="1262"/>
                    <a:pt x="6406" y="1882"/>
                    <a:pt x="6001" y="1882"/>
                  </a:cubicBezTo>
                  <a:lnTo>
                    <a:pt x="4739" y="1882"/>
                  </a:lnTo>
                  <a:cubicBezTo>
                    <a:pt x="4311" y="1882"/>
                    <a:pt x="4311" y="1262"/>
                    <a:pt x="4739" y="1262"/>
                  </a:cubicBezTo>
                  <a:close/>
                  <a:moveTo>
                    <a:pt x="3477" y="0"/>
                  </a:moveTo>
                  <a:cubicBezTo>
                    <a:pt x="3358" y="0"/>
                    <a:pt x="3239" y="72"/>
                    <a:pt x="3191" y="167"/>
                  </a:cubicBezTo>
                  <a:lnTo>
                    <a:pt x="2644" y="1262"/>
                  </a:lnTo>
                  <a:lnTo>
                    <a:pt x="1905" y="1262"/>
                  </a:lnTo>
                  <a:lnTo>
                    <a:pt x="1905" y="953"/>
                  </a:lnTo>
                  <a:cubicBezTo>
                    <a:pt x="1905" y="750"/>
                    <a:pt x="1750" y="649"/>
                    <a:pt x="1596" y="649"/>
                  </a:cubicBezTo>
                  <a:cubicBezTo>
                    <a:pt x="1441" y="649"/>
                    <a:pt x="1286" y="750"/>
                    <a:pt x="1286" y="953"/>
                  </a:cubicBezTo>
                  <a:lnTo>
                    <a:pt x="1286" y="1262"/>
                  </a:lnTo>
                  <a:lnTo>
                    <a:pt x="310" y="1262"/>
                  </a:lnTo>
                  <a:cubicBezTo>
                    <a:pt x="143" y="1262"/>
                    <a:pt x="0" y="1405"/>
                    <a:pt x="0" y="1572"/>
                  </a:cubicBezTo>
                  <a:lnTo>
                    <a:pt x="0" y="3144"/>
                  </a:lnTo>
                  <a:lnTo>
                    <a:pt x="3715" y="3144"/>
                  </a:lnTo>
                  <a:cubicBezTo>
                    <a:pt x="4180" y="2727"/>
                    <a:pt x="4769" y="2519"/>
                    <a:pt x="5358" y="2519"/>
                  </a:cubicBezTo>
                  <a:cubicBezTo>
                    <a:pt x="5948" y="2519"/>
                    <a:pt x="6537" y="2727"/>
                    <a:pt x="7002" y="3144"/>
                  </a:cubicBezTo>
                  <a:lnTo>
                    <a:pt x="10717" y="3144"/>
                  </a:lnTo>
                  <a:lnTo>
                    <a:pt x="10717" y="1572"/>
                  </a:lnTo>
                  <a:cubicBezTo>
                    <a:pt x="10717" y="1405"/>
                    <a:pt x="10574" y="1262"/>
                    <a:pt x="10407" y="1262"/>
                  </a:cubicBezTo>
                  <a:lnTo>
                    <a:pt x="8073" y="1262"/>
                  </a:lnTo>
                  <a:lnTo>
                    <a:pt x="7526" y="167"/>
                  </a:lnTo>
                  <a:cubicBezTo>
                    <a:pt x="7478" y="72"/>
                    <a:pt x="7359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5" name="Google Shape;8615;p85"/>
            <p:cNvSpPr/>
            <p:nvPr/>
          </p:nvSpPr>
          <p:spPr>
            <a:xfrm>
              <a:off x="3950800" y="2561300"/>
              <a:ext cx="267925" cy="47050"/>
            </a:xfrm>
            <a:custGeom>
              <a:avLst/>
              <a:gdLst/>
              <a:ahLst/>
              <a:cxnLst/>
              <a:rect l="l" t="t" r="r" b="b"/>
              <a:pathLst>
                <a:path w="10717" h="1882" extrusionOk="0">
                  <a:moveTo>
                    <a:pt x="0" y="0"/>
                  </a:moveTo>
                  <a:lnTo>
                    <a:pt x="0" y="1572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10407" y="1882"/>
                  </a:lnTo>
                  <a:cubicBezTo>
                    <a:pt x="10574" y="1882"/>
                    <a:pt x="10717" y="1739"/>
                    <a:pt x="10717" y="1572"/>
                  </a:cubicBezTo>
                  <a:lnTo>
                    <a:pt x="10717" y="0"/>
                  </a:lnTo>
                  <a:lnTo>
                    <a:pt x="7002" y="0"/>
                  </a:lnTo>
                  <a:cubicBezTo>
                    <a:pt x="6549" y="405"/>
                    <a:pt x="5978" y="643"/>
                    <a:pt x="5358" y="643"/>
                  </a:cubicBezTo>
                  <a:cubicBezTo>
                    <a:pt x="4763" y="643"/>
                    <a:pt x="4168" y="405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62" name="矩形 61"/>
          <p:cNvSpPr/>
          <p:nvPr>
            <p:custDataLst>
              <p:tags r:id="rId13"/>
            </p:custDataLst>
          </p:nvPr>
        </p:nvSpPr>
        <p:spPr>
          <a:xfrm>
            <a:off x="6036945" y="1170305"/>
            <a:ext cx="2838450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4"/>
            </p:custDataLst>
          </p:nvPr>
        </p:nvSpPr>
        <p:spPr>
          <a:xfrm>
            <a:off x="9044940" y="1170305"/>
            <a:ext cx="2806065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68" name="组合 67"/>
          <p:cNvGrpSpPr/>
          <p:nvPr>
            <p:custDataLst>
              <p:tags r:id="rId15"/>
            </p:custDataLst>
          </p:nvPr>
        </p:nvGrpSpPr>
        <p:grpSpPr>
          <a:xfrm>
            <a:off x="6211570" y="1363345"/>
            <a:ext cx="2521585" cy="1292225"/>
            <a:chOff x="1000" y="7769"/>
            <a:chExt cx="3971" cy="2035"/>
          </a:xfrm>
        </p:grpSpPr>
        <p:sp>
          <p:nvSpPr>
            <p:cNvPr id="129" name="文本框 128"/>
            <p:cNvSpPr txBox="1"/>
            <p:nvPr>
              <p:custDataLst>
                <p:tags r:id="rId28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42%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，消费偏好等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大维度标签补全，目标提升会员复购率至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以上。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>
              <p:custDataLst>
                <p:tags r:id="rId29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30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数字化会员体系升级</a:t>
              </a:r>
            </a:p>
          </p:txBody>
        </p:sp>
      </p:grpSp>
      <p:grpSp>
        <p:nvGrpSpPr>
          <p:cNvPr id="69" name="组合 68"/>
          <p:cNvGrpSpPr/>
          <p:nvPr>
            <p:custDataLst>
              <p:tags r:id="rId16"/>
            </p:custDataLst>
          </p:nvPr>
        </p:nvGrpSpPr>
        <p:grpSpPr>
          <a:xfrm>
            <a:off x="6211570" y="2915285"/>
            <a:ext cx="2521585" cy="1292225"/>
            <a:chOff x="1000" y="7769"/>
            <a:chExt cx="3971" cy="2035"/>
          </a:xfrm>
        </p:grpSpPr>
        <p:sp>
          <p:nvSpPr>
            <p:cNvPr id="70" name="文本框 69"/>
            <p:cNvSpPr txBox="1"/>
            <p:nvPr>
              <p:custDataLst>
                <p:tags r:id="rId25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针对童装、辅食等核心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，优化区域分仓布局，将西北区域配送时效从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小时压缩至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1" name="圆角矩形 70"/>
            <p:cNvSpPr/>
            <p:nvPr>
              <p:custDataLst>
                <p:tags r:id="rId26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7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设置柔性供应链优化</a:t>
              </a:r>
            </a:p>
          </p:txBody>
        </p:sp>
      </p:grpSp>
      <p:grpSp>
        <p:nvGrpSpPr>
          <p:cNvPr id="73" name="组合 72"/>
          <p:cNvGrpSpPr/>
          <p:nvPr>
            <p:custDataLst>
              <p:tags r:id="rId17"/>
            </p:custDataLst>
          </p:nvPr>
        </p:nvGrpSpPr>
        <p:grpSpPr>
          <a:xfrm>
            <a:off x="9198610" y="1363345"/>
            <a:ext cx="2521585" cy="1292225"/>
            <a:chOff x="1000" y="7769"/>
            <a:chExt cx="3971" cy="2035"/>
          </a:xfrm>
        </p:grpSpPr>
        <p:sp>
          <p:nvSpPr>
            <p:cNvPr id="74" name="文本框 73"/>
            <p:cNvSpPr txBox="1"/>
            <p:nvPr>
              <p:custDataLst>
                <p:tags r:id="rId22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完成会员标签补全建立月度数据看板，核心指标未达预期时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</a:p>
          </p:txBody>
        </p:sp>
        <p:sp>
          <p:nvSpPr>
            <p:cNvPr id="75" name="圆角矩形 74"/>
            <p:cNvSpPr/>
            <p:nvPr>
              <p:custDataLst>
                <p:tags r:id="rId23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4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稳定阶段性进度管控</a:t>
              </a:r>
            </a:p>
          </p:txBody>
        </p:sp>
      </p:grpSp>
      <p:grpSp>
        <p:nvGrpSpPr>
          <p:cNvPr id="77" name="组合 76"/>
          <p:cNvGrpSpPr/>
          <p:nvPr>
            <p:custDataLst>
              <p:tags r:id="rId18"/>
            </p:custDataLst>
          </p:nvPr>
        </p:nvGrpSpPr>
        <p:grpSpPr>
          <a:xfrm>
            <a:off x="9198610" y="2915285"/>
            <a:ext cx="2521585" cy="1292225"/>
            <a:chOff x="1000" y="7769"/>
            <a:chExt cx="3971" cy="2035"/>
          </a:xfrm>
        </p:grpSpPr>
        <p:sp>
          <p:nvSpPr>
            <p:cNvPr id="78" name="文本框 77"/>
            <p:cNvSpPr txBox="1"/>
            <p:nvPr>
              <p:custDataLst>
                <p:tags r:id="rId19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针对会员数据隐私风险，提前与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9" name="圆角矩形 78"/>
            <p:cNvSpPr/>
            <p:nvPr>
              <p:custDataLst>
                <p:tags r:id="rId20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21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源头防控全流程风险</a:t>
              </a:r>
            </a:p>
          </p:txBody>
        </p:sp>
      </p:grpSp>
      <p:sp>
        <p:nvSpPr>
          <p:cNvPr id="199" name="矩形 198"/>
          <p:cNvSpPr/>
          <p:nvPr/>
        </p:nvSpPr>
        <p:spPr>
          <a:xfrm>
            <a:off x="601281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当前业绩</a:t>
            </a:r>
          </a:p>
        </p:txBody>
      </p:sp>
      <p:sp>
        <p:nvSpPr>
          <p:cNvPr id="205" name="矩形 204"/>
          <p:cNvSpPr/>
          <p:nvPr/>
        </p:nvSpPr>
        <p:spPr>
          <a:xfrm>
            <a:off x="6894830" y="4523105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+30%</a:t>
            </a:r>
          </a:p>
        </p:txBody>
      </p:sp>
      <p:sp>
        <p:nvSpPr>
          <p:cNvPr id="200" name="矩形 199"/>
          <p:cNvSpPr/>
          <p:nvPr/>
        </p:nvSpPr>
        <p:spPr>
          <a:xfrm>
            <a:off x="6107430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40%</a:t>
            </a:r>
          </a:p>
        </p:txBody>
      </p:sp>
      <p:sp>
        <p:nvSpPr>
          <p:cNvPr id="83" name="矩形 82"/>
          <p:cNvSpPr/>
          <p:nvPr/>
        </p:nvSpPr>
        <p:spPr>
          <a:xfrm>
            <a:off x="795401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年底目标</a:t>
            </a:r>
          </a:p>
        </p:txBody>
      </p:sp>
      <p:sp>
        <p:nvSpPr>
          <p:cNvPr id="84" name="矩形 83"/>
          <p:cNvSpPr/>
          <p:nvPr/>
        </p:nvSpPr>
        <p:spPr>
          <a:xfrm>
            <a:off x="8044815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80%</a:t>
            </a:r>
          </a:p>
        </p:txBody>
      </p:sp>
      <p:sp>
        <p:nvSpPr>
          <p:cNvPr id="102" name="任意多边形: 形状 17"/>
          <p:cNvSpPr/>
          <p:nvPr/>
        </p:nvSpPr>
        <p:spPr>
          <a:xfrm flipV="1">
            <a:off x="6912610" y="4420870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901065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当前业绩</a:t>
            </a:r>
          </a:p>
        </p:txBody>
      </p:sp>
      <p:sp>
        <p:nvSpPr>
          <p:cNvPr id="99" name="矩形 98"/>
          <p:cNvSpPr/>
          <p:nvPr/>
        </p:nvSpPr>
        <p:spPr>
          <a:xfrm>
            <a:off x="9105265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40%</a:t>
            </a:r>
          </a:p>
        </p:txBody>
      </p:sp>
      <p:sp>
        <p:nvSpPr>
          <p:cNvPr id="100" name="矩形 99"/>
          <p:cNvSpPr/>
          <p:nvPr/>
        </p:nvSpPr>
        <p:spPr>
          <a:xfrm>
            <a:off x="1095184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年底目标</a:t>
            </a:r>
          </a:p>
        </p:txBody>
      </p:sp>
      <p:sp>
        <p:nvSpPr>
          <p:cNvPr id="101" name="矩形 100"/>
          <p:cNvSpPr/>
          <p:nvPr/>
        </p:nvSpPr>
        <p:spPr>
          <a:xfrm>
            <a:off x="11042650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80%</a:t>
            </a:r>
          </a:p>
        </p:txBody>
      </p:sp>
      <p:sp>
        <p:nvSpPr>
          <p:cNvPr id="103" name="矩形 102"/>
          <p:cNvSpPr/>
          <p:nvPr/>
        </p:nvSpPr>
        <p:spPr>
          <a:xfrm>
            <a:off x="9939655" y="4558030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+30%</a:t>
            </a:r>
          </a:p>
        </p:txBody>
      </p:sp>
      <p:sp>
        <p:nvSpPr>
          <p:cNvPr id="104" name="任意多边形: 形状 17"/>
          <p:cNvSpPr/>
          <p:nvPr/>
        </p:nvSpPr>
        <p:spPr>
          <a:xfrm flipV="1">
            <a:off x="9957435" y="4455795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5585" y="17907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sp>
        <p:nvSpPr>
          <p:cNvPr id="2" name="矩形: 圆角 2"/>
          <p:cNvSpPr/>
          <p:nvPr/>
        </p:nvSpPr>
        <p:spPr>
          <a:xfrm>
            <a:off x="219710" y="95059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235585" y="1356360"/>
          <a:ext cx="3667760" cy="165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13121" y="1032814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产品各平台售额</a:t>
            </a:r>
          </a:p>
        </p:txBody>
      </p:sp>
      <p:sp>
        <p:nvSpPr>
          <p:cNvPr id="33" name="矩形: 圆角 2"/>
          <p:cNvSpPr/>
          <p:nvPr/>
        </p:nvSpPr>
        <p:spPr>
          <a:xfrm>
            <a:off x="219710" y="289115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4" name="矩形: 圆角 2"/>
          <p:cNvSpPr/>
          <p:nvPr>
            <p:custDataLst>
              <p:tags r:id="rId2"/>
            </p:custDataLst>
          </p:nvPr>
        </p:nvSpPr>
        <p:spPr>
          <a:xfrm>
            <a:off x="213995" y="4848860"/>
            <a:ext cx="9194165" cy="1794510"/>
          </a:xfrm>
          <a:prstGeom prst="roundRect">
            <a:avLst>
              <a:gd name="adj" fmla="val 4317"/>
            </a:avLst>
          </a:prstGeom>
          <a:solidFill>
            <a:schemeClr val="accent5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3121" y="2985439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产品各平台售额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219710" y="3231515"/>
          <a:ext cx="1699260" cy="1494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1851660" y="3012440"/>
            <a:ext cx="2051685" cy="15525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线下销售是店铺流量和销售的主要驱动力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2.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电商平台销售额相对较低需改进和优化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3.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代理销售表现良好，可考虑进步深化与代理商的合作。</a:t>
            </a:r>
          </a:p>
        </p:txBody>
      </p:sp>
      <p:graphicFrame>
        <p:nvGraphicFramePr>
          <p:cNvPr id="42" name="图表 41" descr="7b0a202020202263686172745265734964223a20223230343731343133220a7d0a"/>
          <p:cNvGraphicFramePr/>
          <p:nvPr/>
        </p:nvGraphicFramePr>
        <p:xfrm>
          <a:off x="4225290" y="930275"/>
          <a:ext cx="7672070" cy="373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362903" y="541718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现有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万会员标签覆盖率仅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42%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，下半年将完成育儿阶段、消费偏好等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大维度标签补全，目标提升会员复购率至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35%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以上。</a:t>
            </a:r>
          </a:p>
        </p:txBody>
      </p:sp>
      <p:sp>
        <p:nvSpPr>
          <p:cNvPr id="51" name="矩形: 圆角 2"/>
          <p:cNvSpPr/>
          <p:nvPr>
            <p:custDataLst>
              <p:tags r:id="rId5"/>
            </p:custDataLst>
          </p:nvPr>
        </p:nvSpPr>
        <p:spPr>
          <a:xfrm>
            <a:off x="362903" y="504380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362903" y="504380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数字化会员体系升级</a:t>
            </a:r>
          </a:p>
        </p:txBody>
      </p: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363220" y="617537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Q3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完成会员标签补全、西北分仓优化及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家体验店选址，建立月度数据看板，核心指标未达预期时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小时内调整策略。</a:t>
            </a:r>
          </a:p>
        </p:txBody>
      </p:sp>
      <p:sp>
        <p:nvSpPr>
          <p:cNvPr id="53" name="矩形: 圆角 2"/>
          <p:cNvSpPr/>
          <p:nvPr>
            <p:custDataLst>
              <p:tags r:id="rId8"/>
            </p:custDataLst>
          </p:nvPr>
        </p:nvSpPr>
        <p:spPr>
          <a:xfrm>
            <a:off x="362903" y="580199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362903" y="580199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稳定阶段性进度管控</a:t>
            </a:r>
          </a:p>
        </p:txBody>
      </p:sp>
      <p:sp>
        <p:nvSpPr>
          <p:cNvPr id="114" name="圆角矩形 113"/>
          <p:cNvSpPr/>
          <p:nvPr/>
        </p:nvSpPr>
        <p:spPr>
          <a:xfrm>
            <a:off x="9530080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573895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精准运营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10833735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77550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数据驱动</a:t>
            </a:r>
          </a:p>
        </p:txBody>
      </p:sp>
      <p:sp>
        <p:nvSpPr>
          <p:cNvPr id="85" name="圆角矩形 84"/>
          <p:cNvSpPr/>
          <p:nvPr/>
        </p:nvSpPr>
        <p:spPr>
          <a:xfrm>
            <a:off x="9530080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573895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转化提效</a:t>
            </a:r>
          </a:p>
        </p:txBody>
      </p:sp>
      <p:sp>
        <p:nvSpPr>
          <p:cNvPr id="87" name="圆角矩形 86"/>
          <p:cNvSpPr/>
          <p:nvPr/>
        </p:nvSpPr>
        <p:spPr>
          <a:xfrm>
            <a:off x="10833735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877550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人群定向</a:t>
            </a:r>
          </a:p>
        </p:txBody>
      </p:sp>
      <p:sp>
        <p:nvSpPr>
          <p:cNvPr id="90" name="圆角矩形 89"/>
          <p:cNvSpPr/>
          <p:nvPr/>
        </p:nvSpPr>
        <p:spPr>
          <a:xfrm>
            <a:off x="9530080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573895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公域拓客</a:t>
            </a:r>
          </a:p>
        </p:txBody>
      </p:sp>
      <p:sp>
        <p:nvSpPr>
          <p:cNvPr id="92" name="圆角矩形 91"/>
          <p:cNvSpPr/>
          <p:nvPr/>
        </p:nvSpPr>
        <p:spPr>
          <a:xfrm>
            <a:off x="10833735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877550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场景运营</a:t>
            </a:r>
          </a:p>
        </p:txBody>
      </p:sp>
      <p:sp>
        <p:nvSpPr>
          <p:cNvPr id="95" name="圆角矩形 94"/>
          <p:cNvSpPr/>
          <p:nvPr/>
        </p:nvSpPr>
        <p:spPr>
          <a:xfrm>
            <a:off x="9530080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573895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复购提升</a:t>
            </a:r>
          </a:p>
        </p:txBody>
      </p:sp>
      <p:sp>
        <p:nvSpPr>
          <p:cNvPr id="98" name="圆角矩形 97"/>
          <p:cNvSpPr/>
          <p:nvPr/>
        </p:nvSpPr>
        <p:spPr>
          <a:xfrm>
            <a:off x="10833735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0877550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活动定向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5844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核心指标趋势图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413385" y="2411095"/>
            <a:ext cx="11313795" cy="4013835"/>
            <a:chOff x="651" y="3796"/>
            <a:chExt cx="17817" cy="6321"/>
          </a:xfrm>
        </p:grpSpPr>
        <p:sp>
          <p:nvSpPr>
            <p:cNvPr id="5" name="圆角矩形 4"/>
            <p:cNvSpPr/>
            <p:nvPr/>
          </p:nvSpPr>
          <p:spPr>
            <a:xfrm>
              <a:off x="5688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第二季度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1" y="9583"/>
              <a:ext cx="4155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第三季度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374" y="9583"/>
              <a:ext cx="4156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第一季度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314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第四季度</a:t>
              </a:r>
            </a:p>
          </p:txBody>
        </p:sp>
        <p:graphicFrame>
          <p:nvGraphicFramePr>
            <p:cNvPr id="7" name="Chart 4"/>
            <p:cNvGraphicFramePr/>
            <p:nvPr/>
          </p:nvGraphicFramePr>
          <p:xfrm>
            <a:off x="651" y="3796"/>
            <a:ext cx="4880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8" name="Chart 4"/>
            <p:cNvGraphicFramePr/>
            <p:nvPr/>
          </p:nvGraphicFramePr>
          <p:xfrm>
            <a:off x="5549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21" name="Chart 4"/>
            <p:cNvGraphicFramePr/>
            <p:nvPr/>
          </p:nvGraphicFramePr>
          <p:xfrm>
            <a:off x="9881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9" name="Chart 4"/>
            <p:cNvGraphicFramePr/>
            <p:nvPr/>
          </p:nvGraphicFramePr>
          <p:xfrm>
            <a:off x="14170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23" name="文本框 22"/>
            <p:cNvSpPr txBox="1"/>
            <p:nvPr/>
          </p:nvSpPr>
          <p:spPr>
            <a:xfrm>
              <a:off x="1641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一月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8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三月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30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四月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95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六月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3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七月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5541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876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4210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3101" y="9220"/>
              <a:ext cx="648" cy="3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九月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528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十月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7232" y="9220"/>
              <a:ext cx="964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十二月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054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二月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367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五月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673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八月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796" y="9220"/>
              <a:ext cx="981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十一月</a:t>
              </a:r>
            </a:p>
          </p:txBody>
        </p:sp>
      </p:grpSp>
      <p:sp>
        <p:nvSpPr>
          <p:cNvPr id="48" name="任意形状 45"/>
          <p:cNvSpPr/>
          <p:nvPr/>
        </p:nvSpPr>
        <p:spPr>
          <a:xfrm>
            <a:off x="834390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9" name="任意形状 45"/>
          <p:cNvSpPr/>
          <p:nvPr/>
        </p:nvSpPr>
        <p:spPr>
          <a:xfrm>
            <a:off x="3599815" y="1468755"/>
            <a:ext cx="2558415" cy="92837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0" name="任意形状 45"/>
          <p:cNvSpPr/>
          <p:nvPr/>
        </p:nvSpPr>
        <p:spPr>
          <a:xfrm>
            <a:off x="6365240" y="1458278"/>
            <a:ext cx="2558415" cy="949325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1" name="任意形状 45"/>
          <p:cNvSpPr/>
          <p:nvPr/>
        </p:nvSpPr>
        <p:spPr>
          <a:xfrm>
            <a:off x="9131935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4558" y="1564323"/>
            <a:ext cx="24180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指标呈现积极的上升趋势，进一步分析其原因，并制定策略以维持和增强这一趋势。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674745" y="1564323"/>
            <a:ext cx="2408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指标呈现下降趋势，需要调查下降的原因并制定相应的改善措施。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6451918" y="1564323"/>
            <a:ext cx="23850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在后续的工作中，应关注核心指标的变动，并及时做出相应的业务调整和优化。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180513" y="1564323"/>
            <a:ext cx="24612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在观察期间呈现积极的增长六月份达到新高，应继续关注并优化促成该趋势的因素。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834390" y="1115060"/>
            <a:ext cx="255905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第一季度总结汇报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3611880" y="1115060"/>
            <a:ext cx="254635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第二季度总结汇报</a:t>
            </a:r>
          </a:p>
        </p:txBody>
      </p:sp>
      <p:sp>
        <p:nvSpPr>
          <p:cNvPr id="68" name="圆角矩形 67"/>
          <p:cNvSpPr/>
          <p:nvPr/>
        </p:nvSpPr>
        <p:spPr>
          <a:xfrm>
            <a:off x="6365875" y="1115695"/>
            <a:ext cx="255778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第三季度总结汇报</a:t>
            </a:r>
          </a:p>
        </p:txBody>
      </p:sp>
      <p:sp>
        <p:nvSpPr>
          <p:cNvPr id="69" name="圆角矩形 68"/>
          <p:cNvSpPr/>
          <p:nvPr/>
        </p:nvSpPr>
        <p:spPr>
          <a:xfrm>
            <a:off x="9130665" y="1115695"/>
            <a:ext cx="255778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第四季度总结汇报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Bold" panose="020B08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年初基准期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短视频推广启动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老用户裂变活动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秋季推广活动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年底收尾期</a:t>
                      </a: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核心指标趋势图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季度目标完成情况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季度业绩规模与增长态势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季度关键运营成果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私域贡献结构</a:t>
            </a: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私域占比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累计</a:t>
            </a: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回头客飙升至</a:t>
            </a: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运营</a:t>
            </a: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销售渠道收入分析</a:t>
            </a: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总销售额</a:t>
            </a: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1.85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三大核心渠道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收入均突破</a:t>
            </a: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直播电商渠道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线下门店渠道</a:t>
            </a: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传统电商渠道</a:t>
            </a: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直播电商渠道</a:t>
            </a: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业绩成果展示</a:t>
            </a: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堂食业务</a:t>
            </a: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4200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外卖业务</a:t>
            </a: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3800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团餐业务</a:t>
            </a: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食材零售业务</a:t>
            </a: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结构分析</a:t>
            </a: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2024-2025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年月度营收对比及趋势表</a:t>
            </a: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全年营收总额达</a:t>
            </a: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年度营收增长率</a:t>
            </a: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增长时间集中</a:t>
            </a: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主要增长业务线</a:t>
            </a: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外卖业务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线上业务</a:t>
            </a: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线下业务</a:t>
            </a: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工作进度汇报</a:t>
            </a: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45%</a:t>
            </a: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家</a:t>
            </a: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92%</a:t>
            </a: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92" y="95194"/>
            <a:ext cx="499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核心数据维度</a:t>
            </a:r>
          </a:p>
        </p:txBody>
      </p:sp>
      <p:sp>
        <p:nvSpPr>
          <p:cNvPr id="13" name="矩形 12"/>
          <p:cNvSpPr/>
          <p:nvPr/>
        </p:nvSpPr>
        <p:spPr>
          <a:xfrm>
            <a:off x="221457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84433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47410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05336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85018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647994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610971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573947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87996" y="897772"/>
            <a:ext cx="1727079" cy="17270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750972" y="897772"/>
            <a:ext cx="1727079" cy="172707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713949" y="897772"/>
            <a:ext cx="1727079" cy="17270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9676925" y="897772"/>
            <a:ext cx="1727079" cy="172707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37357" y="2942462"/>
            <a:ext cx="2437690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全年销量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万杯，同比增长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，爆款单品占比达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07982" y="2942462"/>
            <a:ext cx="2429559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会员总量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万人，新客转化率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，复购周期缩短至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63309" y="2942462"/>
            <a:ext cx="2437691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新增门店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家，单店日均营收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万元，坪效提升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21236" y="2942462"/>
            <a:ext cx="244305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原料损耗率降至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，物流成本占比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，同比下降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3651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06626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用户数据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69602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832577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成本数据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55313" y="3997655"/>
            <a:ext cx="3565769" cy="1284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55313" y="5382681"/>
            <a:ext cx="3565769" cy="12200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34147" y="4130819"/>
            <a:ext cx="2217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业绩增长显著​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734147" y="4438807"/>
            <a:ext cx="2782338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销售、用户、门店数据同步攀升，规模与效益双重提升。​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34147" y="5518539"/>
            <a:ext cx="231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成本管控有效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34147" y="5842155"/>
            <a:ext cx="2796363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原料、物流等成本优化，损耗率下降，运营效率持续提升。​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932200" y="3997656"/>
            <a:ext cx="3963674" cy="2605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001314" y="3997656"/>
            <a:ext cx="3963674" cy="2605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976920" y="4130819"/>
            <a:ext cx="18742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奶茶总量占比情况</a:t>
            </a:r>
          </a:p>
        </p:txBody>
      </p:sp>
      <p:sp>
        <p:nvSpPr>
          <p:cNvPr id="1920" name="文本框 1919"/>
          <p:cNvSpPr txBox="1"/>
          <p:nvPr/>
        </p:nvSpPr>
        <p:spPr>
          <a:xfrm>
            <a:off x="9172672" y="4130819"/>
            <a:ext cx="16209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库存周转率情况</a:t>
            </a:r>
          </a:p>
        </p:txBody>
      </p:sp>
      <p:graphicFrame>
        <p:nvGraphicFramePr>
          <p:cNvPr id="1921" name="图表 1920"/>
          <p:cNvGraphicFramePr/>
          <p:nvPr/>
        </p:nvGraphicFramePr>
        <p:xfrm>
          <a:off x="8261140" y="4542821"/>
          <a:ext cx="3630313" cy="2005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22" name="图表 1921"/>
          <p:cNvGraphicFramePr/>
          <p:nvPr/>
        </p:nvGraphicFramePr>
        <p:xfrm>
          <a:off x="4149251" y="4469996"/>
          <a:ext cx="3529569" cy="203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923" name="图形 192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695" y="4130819"/>
            <a:ext cx="337453" cy="337453"/>
          </a:xfrm>
          <a:prstGeom prst="rect">
            <a:avLst/>
          </a:prstGeom>
        </p:spPr>
      </p:pic>
      <p:pic>
        <p:nvPicPr>
          <p:cNvPr id="1924" name="图形 192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331" y="5508828"/>
            <a:ext cx="295288" cy="295288"/>
          </a:xfrm>
          <a:prstGeom prst="rect">
            <a:avLst/>
          </a:prstGeom>
        </p:spPr>
      </p:pic>
      <p:sp>
        <p:nvSpPr>
          <p:cNvPr id="2" name="图形 18"/>
          <p:cNvSpPr/>
          <p:nvPr/>
        </p:nvSpPr>
        <p:spPr>
          <a:xfrm>
            <a:off x="10302103" y="1105808"/>
            <a:ext cx="476723" cy="525566"/>
          </a:xfrm>
          <a:custGeom>
            <a:avLst/>
            <a:gdLst>
              <a:gd name="connsiteX0" fmla="*/ 1273855 w 1467530"/>
              <a:gd name="connsiteY0" fmla="*/ 998719 h 1617889"/>
              <a:gd name="connsiteX1" fmla="*/ 1273855 w 1467530"/>
              <a:gd name="connsiteY1" fmla="*/ 1362619 h 1617889"/>
              <a:gd name="connsiteX2" fmla="*/ 1371282 w 1467530"/>
              <a:gd name="connsiteY2" fmla="*/ 1265101 h 1617889"/>
              <a:gd name="connsiteX3" fmla="*/ 1467530 w 1467530"/>
              <a:gd name="connsiteY3" fmla="*/ 1361349 h 1617889"/>
              <a:gd name="connsiteX4" fmla="*/ 1307873 w 1467530"/>
              <a:gd name="connsiteY4" fmla="*/ 1521007 h 1617889"/>
              <a:gd name="connsiteX5" fmla="*/ 1308463 w 1467530"/>
              <a:gd name="connsiteY5" fmla="*/ 1521687 h 1617889"/>
              <a:gd name="connsiteX6" fmla="*/ 1212306 w 1467530"/>
              <a:gd name="connsiteY6" fmla="*/ 1617889 h 1617889"/>
              <a:gd name="connsiteX7" fmla="*/ 1211625 w 1467530"/>
              <a:gd name="connsiteY7" fmla="*/ 1617254 h 1617889"/>
              <a:gd name="connsiteX8" fmla="*/ 1210945 w 1467530"/>
              <a:gd name="connsiteY8" fmla="*/ 1617889 h 1617889"/>
              <a:gd name="connsiteX9" fmla="*/ 1114697 w 1467530"/>
              <a:gd name="connsiteY9" fmla="*/ 1521732 h 1617889"/>
              <a:gd name="connsiteX10" fmla="*/ 1115423 w 1467530"/>
              <a:gd name="connsiteY10" fmla="*/ 1521052 h 1617889"/>
              <a:gd name="connsiteX11" fmla="*/ 955675 w 1467530"/>
              <a:gd name="connsiteY11" fmla="*/ 1361349 h 1617889"/>
              <a:gd name="connsiteX12" fmla="*/ 1051923 w 1467530"/>
              <a:gd name="connsiteY12" fmla="*/ 1265101 h 1617889"/>
              <a:gd name="connsiteX13" fmla="*/ 1137784 w 1467530"/>
              <a:gd name="connsiteY13" fmla="*/ 1351008 h 1617889"/>
              <a:gd name="connsiteX14" fmla="*/ 1137784 w 1467530"/>
              <a:gd name="connsiteY14" fmla="*/ 998719 h 1617889"/>
              <a:gd name="connsiteX15" fmla="*/ 1273855 w 1467530"/>
              <a:gd name="connsiteY15" fmla="*/ 998719 h 1617889"/>
              <a:gd name="connsiteX16" fmla="*/ 487907 w 1467530"/>
              <a:gd name="connsiteY16" fmla="*/ 0 h 1617889"/>
              <a:gd name="connsiteX17" fmla="*/ 584155 w 1467530"/>
              <a:gd name="connsiteY17" fmla="*/ 39869 h 1617889"/>
              <a:gd name="connsiteX18" fmla="*/ 731157 w 1467530"/>
              <a:gd name="connsiteY18" fmla="*/ 186871 h 1617889"/>
              <a:gd name="connsiteX19" fmla="*/ 827450 w 1467530"/>
              <a:gd name="connsiteY19" fmla="*/ 226786 h 1617889"/>
              <a:gd name="connsiteX20" fmla="*/ 1224643 w 1467530"/>
              <a:gd name="connsiteY20" fmla="*/ 226786 h 1617889"/>
              <a:gd name="connsiteX21" fmla="*/ 1360714 w 1467530"/>
              <a:gd name="connsiteY21" fmla="*/ 362857 h 1617889"/>
              <a:gd name="connsiteX22" fmla="*/ 1360714 w 1467530"/>
              <a:gd name="connsiteY22" fmla="*/ 908050 h 1617889"/>
              <a:gd name="connsiteX23" fmla="*/ 1046979 w 1467530"/>
              <a:gd name="connsiteY23" fmla="*/ 908050 h 1617889"/>
              <a:gd name="connsiteX24" fmla="*/ 1047070 w 1467530"/>
              <a:gd name="connsiteY24" fmla="*/ 1141685 h 1617889"/>
              <a:gd name="connsiteX25" fmla="*/ 827360 w 1467530"/>
              <a:gd name="connsiteY25" fmla="*/ 1361395 h 1617889"/>
              <a:gd name="connsiteX26" fmla="*/ 984568 w 1467530"/>
              <a:gd name="connsiteY26" fmla="*/ 1518557 h 1617889"/>
              <a:gd name="connsiteX27" fmla="*/ 983842 w 1467530"/>
              <a:gd name="connsiteY27" fmla="*/ 1519192 h 1617889"/>
              <a:gd name="connsiteX28" fmla="*/ 1006747 w 1467530"/>
              <a:gd name="connsiteY28" fmla="*/ 1542143 h 1617889"/>
              <a:gd name="connsiteX29" fmla="*/ 136071 w 1467530"/>
              <a:gd name="connsiteY29" fmla="*/ 1542143 h 1617889"/>
              <a:gd name="connsiteX30" fmla="*/ 0 w 1467530"/>
              <a:gd name="connsiteY30" fmla="*/ 1406071 h 1617889"/>
              <a:gd name="connsiteX31" fmla="*/ 0 w 1467530"/>
              <a:gd name="connsiteY31" fmla="*/ 136071 h 1617889"/>
              <a:gd name="connsiteX32" fmla="*/ 136071 w 1467530"/>
              <a:gd name="connsiteY32" fmla="*/ 0 h 1617889"/>
              <a:gd name="connsiteX33" fmla="*/ 487907 w 1467530"/>
              <a:gd name="connsiteY33" fmla="*/ 0 h 1617889"/>
              <a:gd name="connsiteX34" fmla="*/ 362857 w 1467530"/>
              <a:gd name="connsiteY34" fmla="*/ 997857 h 1617889"/>
              <a:gd name="connsiteX35" fmla="*/ 226786 w 1467530"/>
              <a:gd name="connsiteY35" fmla="*/ 997857 h 1617889"/>
              <a:gd name="connsiteX36" fmla="*/ 226786 w 1467530"/>
              <a:gd name="connsiteY36" fmla="*/ 1133929 h 1617889"/>
              <a:gd name="connsiteX37" fmla="*/ 362857 w 1467530"/>
              <a:gd name="connsiteY37" fmla="*/ 1133929 h 1617889"/>
              <a:gd name="connsiteX38" fmla="*/ 362857 w 1467530"/>
              <a:gd name="connsiteY38" fmla="*/ 997857 h 1617889"/>
              <a:gd name="connsiteX39" fmla="*/ 725714 w 1467530"/>
              <a:gd name="connsiteY39" fmla="*/ 997857 h 1617889"/>
              <a:gd name="connsiteX40" fmla="*/ 453571 w 1467530"/>
              <a:gd name="connsiteY40" fmla="*/ 997857 h 1617889"/>
              <a:gd name="connsiteX41" fmla="*/ 453571 w 1467530"/>
              <a:gd name="connsiteY41" fmla="*/ 1133929 h 1617889"/>
              <a:gd name="connsiteX42" fmla="*/ 725714 w 1467530"/>
              <a:gd name="connsiteY42" fmla="*/ 1133929 h 1617889"/>
              <a:gd name="connsiteX43" fmla="*/ 725714 w 1467530"/>
              <a:gd name="connsiteY43" fmla="*/ 997857 h 1617889"/>
              <a:gd name="connsiteX44" fmla="*/ 362857 w 1467530"/>
              <a:gd name="connsiteY44" fmla="*/ 635000 h 1617889"/>
              <a:gd name="connsiteX45" fmla="*/ 226786 w 1467530"/>
              <a:gd name="connsiteY45" fmla="*/ 635000 h 1617889"/>
              <a:gd name="connsiteX46" fmla="*/ 226786 w 1467530"/>
              <a:gd name="connsiteY46" fmla="*/ 771071 h 1617889"/>
              <a:gd name="connsiteX47" fmla="*/ 362857 w 1467530"/>
              <a:gd name="connsiteY47" fmla="*/ 771071 h 1617889"/>
              <a:gd name="connsiteX48" fmla="*/ 362857 w 1467530"/>
              <a:gd name="connsiteY48" fmla="*/ 635000 h 1617889"/>
              <a:gd name="connsiteX49" fmla="*/ 1133929 w 1467530"/>
              <a:gd name="connsiteY49" fmla="*/ 635000 h 1617889"/>
              <a:gd name="connsiteX50" fmla="*/ 453571 w 1467530"/>
              <a:gd name="connsiteY50" fmla="*/ 635000 h 1617889"/>
              <a:gd name="connsiteX51" fmla="*/ 453571 w 1467530"/>
              <a:gd name="connsiteY51" fmla="*/ 771071 h 1617889"/>
              <a:gd name="connsiteX52" fmla="*/ 1133929 w 1467530"/>
              <a:gd name="connsiteY52" fmla="*/ 771071 h 1617889"/>
              <a:gd name="connsiteX53" fmla="*/ 1133929 w 1467530"/>
              <a:gd name="connsiteY53" fmla="*/ 635000 h 161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7530" h="1617889">
                <a:moveTo>
                  <a:pt x="1273855" y="998719"/>
                </a:moveTo>
                <a:lnTo>
                  <a:pt x="1273855" y="1362619"/>
                </a:lnTo>
                <a:lnTo>
                  <a:pt x="1371282" y="1265101"/>
                </a:lnTo>
                <a:lnTo>
                  <a:pt x="1467530" y="1361349"/>
                </a:lnTo>
                <a:lnTo>
                  <a:pt x="1307873" y="1521007"/>
                </a:lnTo>
                <a:lnTo>
                  <a:pt x="1308463" y="1521687"/>
                </a:lnTo>
                <a:lnTo>
                  <a:pt x="1212306" y="1617889"/>
                </a:lnTo>
                <a:lnTo>
                  <a:pt x="1211625" y="1617254"/>
                </a:lnTo>
                <a:lnTo>
                  <a:pt x="1210945" y="1617889"/>
                </a:lnTo>
                <a:lnTo>
                  <a:pt x="1114697" y="1521732"/>
                </a:lnTo>
                <a:lnTo>
                  <a:pt x="1115423" y="1521052"/>
                </a:lnTo>
                <a:lnTo>
                  <a:pt x="955675" y="1361349"/>
                </a:lnTo>
                <a:lnTo>
                  <a:pt x="1051923" y="1265101"/>
                </a:lnTo>
                <a:lnTo>
                  <a:pt x="1137784" y="1351008"/>
                </a:lnTo>
                <a:lnTo>
                  <a:pt x="1137784" y="998719"/>
                </a:lnTo>
                <a:lnTo>
                  <a:pt x="1273855" y="998719"/>
                </a:lnTo>
                <a:close/>
                <a:moveTo>
                  <a:pt x="487907" y="0"/>
                </a:moveTo>
                <a:cubicBezTo>
                  <a:pt x="524008" y="-4"/>
                  <a:pt x="558631" y="14338"/>
                  <a:pt x="584155" y="39869"/>
                </a:cubicBezTo>
                <a:lnTo>
                  <a:pt x="731157" y="186871"/>
                </a:lnTo>
                <a:cubicBezTo>
                  <a:pt x="756684" y="212430"/>
                  <a:pt x="791327" y="226790"/>
                  <a:pt x="827450" y="226786"/>
                </a:cubicBezTo>
                <a:lnTo>
                  <a:pt x="1224643" y="226786"/>
                </a:lnTo>
                <a:cubicBezTo>
                  <a:pt x="1299793" y="226786"/>
                  <a:pt x="1360714" y="287707"/>
                  <a:pt x="1360714" y="362857"/>
                </a:cubicBezTo>
                <a:lnTo>
                  <a:pt x="1360714" y="908050"/>
                </a:lnTo>
                <a:lnTo>
                  <a:pt x="1046979" y="908050"/>
                </a:lnTo>
                <a:lnTo>
                  <a:pt x="1047070" y="1141685"/>
                </a:lnTo>
                <a:lnTo>
                  <a:pt x="827360" y="1361395"/>
                </a:lnTo>
                <a:lnTo>
                  <a:pt x="984568" y="1518557"/>
                </a:lnTo>
                <a:lnTo>
                  <a:pt x="983842" y="1519192"/>
                </a:lnTo>
                <a:lnTo>
                  <a:pt x="1006747" y="1542143"/>
                </a:lnTo>
                <a:lnTo>
                  <a:pt x="136071" y="1542143"/>
                </a:lnTo>
                <a:cubicBezTo>
                  <a:pt x="60921" y="1542143"/>
                  <a:pt x="0" y="1481222"/>
                  <a:pt x="0" y="1406071"/>
                </a:cubicBezTo>
                <a:lnTo>
                  <a:pt x="0" y="136071"/>
                </a:lnTo>
                <a:cubicBezTo>
                  <a:pt x="0" y="60921"/>
                  <a:pt x="60921" y="0"/>
                  <a:pt x="136071" y="0"/>
                </a:cubicBezTo>
                <a:lnTo>
                  <a:pt x="487907" y="0"/>
                </a:lnTo>
                <a:close/>
                <a:moveTo>
                  <a:pt x="362857" y="997857"/>
                </a:moveTo>
                <a:lnTo>
                  <a:pt x="226786" y="997857"/>
                </a:lnTo>
                <a:lnTo>
                  <a:pt x="226786" y="1133929"/>
                </a:lnTo>
                <a:lnTo>
                  <a:pt x="362857" y="1133929"/>
                </a:lnTo>
                <a:lnTo>
                  <a:pt x="362857" y="997857"/>
                </a:lnTo>
                <a:close/>
                <a:moveTo>
                  <a:pt x="725714" y="997857"/>
                </a:moveTo>
                <a:lnTo>
                  <a:pt x="453571" y="997857"/>
                </a:lnTo>
                <a:lnTo>
                  <a:pt x="453571" y="1133929"/>
                </a:lnTo>
                <a:lnTo>
                  <a:pt x="725714" y="1133929"/>
                </a:lnTo>
                <a:lnTo>
                  <a:pt x="725714" y="997857"/>
                </a:lnTo>
                <a:close/>
                <a:moveTo>
                  <a:pt x="362857" y="635000"/>
                </a:moveTo>
                <a:lnTo>
                  <a:pt x="226786" y="635000"/>
                </a:lnTo>
                <a:lnTo>
                  <a:pt x="226786" y="771071"/>
                </a:lnTo>
                <a:lnTo>
                  <a:pt x="362857" y="771071"/>
                </a:lnTo>
                <a:lnTo>
                  <a:pt x="362857" y="635000"/>
                </a:lnTo>
                <a:close/>
                <a:moveTo>
                  <a:pt x="1133929" y="635000"/>
                </a:moveTo>
                <a:lnTo>
                  <a:pt x="453571" y="635000"/>
                </a:lnTo>
                <a:lnTo>
                  <a:pt x="453571" y="771071"/>
                </a:lnTo>
                <a:lnTo>
                  <a:pt x="1133929" y="771071"/>
                </a:lnTo>
                <a:lnTo>
                  <a:pt x="1133929" y="63500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0"/>
          <p:cNvSpPr/>
          <p:nvPr/>
        </p:nvSpPr>
        <p:spPr>
          <a:xfrm>
            <a:off x="7341742" y="1132845"/>
            <a:ext cx="471492" cy="471492"/>
          </a:xfrm>
          <a:custGeom>
            <a:avLst/>
            <a:gdLst>
              <a:gd name="connsiteX0" fmla="*/ 1451429 w 1451428"/>
              <a:gd name="connsiteY0" fmla="*/ 498929 h 1451428"/>
              <a:gd name="connsiteX1" fmla="*/ 1451383 w 1451428"/>
              <a:gd name="connsiteY1" fmla="*/ 1131525 h 1451428"/>
              <a:gd name="connsiteX2" fmla="*/ 1451247 w 1451428"/>
              <a:gd name="connsiteY2" fmla="*/ 1122998 h 1451428"/>
              <a:gd name="connsiteX3" fmla="*/ 1123004 w 1451428"/>
              <a:gd name="connsiteY3" fmla="*/ 816617 h 1451428"/>
              <a:gd name="connsiteX4" fmla="*/ 816624 w 1451428"/>
              <a:gd name="connsiteY4" fmla="*/ 1144860 h 1451428"/>
              <a:gd name="connsiteX5" fmla="*/ 1133611 w 1451428"/>
              <a:gd name="connsiteY5" fmla="*/ 1451429 h 1451428"/>
              <a:gd name="connsiteX6" fmla="*/ 136071 w 1451428"/>
              <a:gd name="connsiteY6" fmla="*/ 1451429 h 1451428"/>
              <a:gd name="connsiteX7" fmla="*/ 0 w 1451428"/>
              <a:gd name="connsiteY7" fmla="*/ 1315357 h 1451428"/>
              <a:gd name="connsiteX8" fmla="*/ 0 w 1451428"/>
              <a:gd name="connsiteY8" fmla="*/ 498929 h 1451428"/>
              <a:gd name="connsiteX9" fmla="*/ 1451429 w 1451428"/>
              <a:gd name="connsiteY9" fmla="*/ 498929 h 1451428"/>
              <a:gd name="connsiteX10" fmla="*/ 1124857 w 1451428"/>
              <a:gd name="connsiteY10" fmla="*/ 907143 h 1451428"/>
              <a:gd name="connsiteX11" fmla="*/ 1342614 w 1451428"/>
              <a:gd name="connsiteY11" fmla="*/ 1124815 h 1451428"/>
              <a:gd name="connsiteX12" fmla="*/ 1312999 w 1451428"/>
              <a:gd name="connsiteY12" fmla="*/ 1234485 h 1451428"/>
              <a:gd name="connsiteX13" fmla="*/ 1443627 w 1451428"/>
              <a:gd name="connsiteY13" fmla="*/ 1365114 h 1451428"/>
              <a:gd name="connsiteX14" fmla="*/ 1366656 w 1451428"/>
              <a:gd name="connsiteY14" fmla="*/ 1442085 h 1451428"/>
              <a:gd name="connsiteX15" fmla="*/ 1236390 w 1451428"/>
              <a:gd name="connsiteY15" fmla="*/ 1311865 h 1451428"/>
              <a:gd name="connsiteX16" fmla="*/ 937903 w 1451428"/>
              <a:gd name="connsiteY16" fmla="*/ 1236337 h 1451428"/>
              <a:gd name="connsiteX17" fmla="*/ 1013431 w 1451428"/>
              <a:gd name="connsiteY17" fmla="*/ 937850 h 1451428"/>
              <a:gd name="connsiteX18" fmla="*/ 1124857 w 1451428"/>
              <a:gd name="connsiteY18" fmla="*/ 907143 h 1451428"/>
              <a:gd name="connsiteX19" fmla="*/ 1124857 w 1451428"/>
              <a:gd name="connsiteY19" fmla="*/ 1043214 h 1451428"/>
              <a:gd name="connsiteX20" fmla="*/ 1043214 w 1451428"/>
              <a:gd name="connsiteY20" fmla="*/ 1124857 h 1451428"/>
              <a:gd name="connsiteX21" fmla="*/ 1124857 w 1451428"/>
              <a:gd name="connsiteY21" fmla="*/ 1206500 h 1451428"/>
              <a:gd name="connsiteX22" fmla="*/ 1206500 w 1451428"/>
              <a:gd name="connsiteY22" fmla="*/ 1124857 h 1451428"/>
              <a:gd name="connsiteX23" fmla="*/ 1124857 w 1451428"/>
              <a:gd name="connsiteY23" fmla="*/ 1043214 h 1451428"/>
              <a:gd name="connsiteX24" fmla="*/ 635000 w 1451428"/>
              <a:gd name="connsiteY24" fmla="*/ 589643 h 1451428"/>
              <a:gd name="connsiteX25" fmla="*/ 272143 w 1451428"/>
              <a:gd name="connsiteY25" fmla="*/ 589643 h 1451428"/>
              <a:gd name="connsiteX26" fmla="*/ 272143 w 1451428"/>
              <a:gd name="connsiteY26" fmla="*/ 725714 h 1451428"/>
              <a:gd name="connsiteX27" fmla="*/ 635000 w 1451428"/>
              <a:gd name="connsiteY27" fmla="*/ 725714 h 1451428"/>
              <a:gd name="connsiteX28" fmla="*/ 635000 w 1451428"/>
              <a:gd name="connsiteY28" fmla="*/ 589643 h 1451428"/>
              <a:gd name="connsiteX29" fmla="*/ 1196612 w 1451428"/>
              <a:gd name="connsiteY29" fmla="*/ 0 h 1451428"/>
              <a:gd name="connsiteX30" fmla="*/ 1318305 w 1451428"/>
              <a:gd name="connsiteY30" fmla="*/ 75202 h 1451428"/>
              <a:gd name="connsiteX31" fmla="*/ 1437050 w 1451428"/>
              <a:gd name="connsiteY31" fmla="*/ 312647 h 1451428"/>
              <a:gd name="connsiteX32" fmla="*/ 1451020 w 1451428"/>
              <a:gd name="connsiteY32" fmla="*/ 362857 h 1451428"/>
              <a:gd name="connsiteX33" fmla="*/ 1724 w 1451428"/>
              <a:gd name="connsiteY33" fmla="*/ 362857 h 1451428"/>
              <a:gd name="connsiteX34" fmla="*/ 13516 w 1451428"/>
              <a:gd name="connsiteY34" fmla="*/ 325392 h 1451428"/>
              <a:gd name="connsiteX35" fmla="*/ 133622 w 1451428"/>
              <a:gd name="connsiteY35" fmla="*/ 76835 h 1451428"/>
              <a:gd name="connsiteX36" fmla="*/ 256132 w 1451428"/>
              <a:gd name="connsiteY36" fmla="*/ 0 h 1451428"/>
              <a:gd name="connsiteX37" fmla="*/ 1196612 w 1451428"/>
              <a:gd name="connsiteY37" fmla="*/ 0 h 145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51428" h="1451428">
                <a:moveTo>
                  <a:pt x="1451429" y="498929"/>
                </a:moveTo>
                <a:lnTo>
                  <a:pt x="1451383" y="1131525"/>
                </a:lnTo>
                <a:lnTo>
                  <a:pt x="1451247" y="1122998"/>
                </a:lnTo>
                <a:cubicBezTo>
                  <a:pt x="1445210" y="947751"/>
                  <a:pt x="1298251" y="810580"/>
                  <a:pt x="1123004" y="816617"/>
                </a:cubicBezTo>
                <a:cubicBezTo>
                  <a:pt x="947758" y="822654"/>
                  <a:pt x="810586" y="969614"/>
                  <a:pt x="816624" y="1144860"/>
                </a:cubicBezTo>
                <a:cubicBezTo>
                  <a:pt x="822510" y="1315729"/>
                  <a:pt x="962641" y="1451254"/>
                  <a:pt x="1133611" y="1451429"/>
                </a:cubicBezTo>
                <a:lnTo>
                  <a:pt x="136071" y="1451429"/>
                </a:lnTo>
                <a:cubicBezTo>
                  <a:pt x="60921" y="1451429"/>
                  <a:pt x="0" y="1390507"/>
                  <a:pt x="0" y="1315357"/>
                </a:cubicBezTo>
                <a:lnTo>
                  <a:pt x="0" y="498929"/>
                </a:lnTo>
                <a:lnTo>
                  <a:pt x="1451429" y="498929"/>
                </a:lnTo>
                <a:close/>
                <a:moveTo>
                  <a:pt x="1124857" y="907143"/>
                </a:moveTo>
                <a:cubicBezTo>
                  <a:pt x="1245098" y="907119"/>
                  <a:pt x="1342591" y="1004574"/>
                  <a:pt x="1342614" y="1124815"/>
                </a:cubicBezTo>
                <a:cubicBezTo>
                  <a:pt x="1342622" y="1163348"/>
                  <a:pt x="1332402" y="1201193"/>
                  <a:pt x="1312999" y="1234485"/>
                </a:cubicBezTo>
                <a:lnTo>
                  <a:pt x="1443627" y="1365114"/>
                </a:lnTo>
                <a:lnTo>
                  <a:pt x="1366656" y="1442085"/>
                </a:lnTo>
                <a:lnTo>
                  <a:pt x="1236390" y="1311865"/>
                </a:lnTo>
                <a:cubicBezTo>
                  <a:pt x="1133109" y="1373433"/>
                  <a:pt x="999472" y="1339618"/>
                  <a:pt x="937903" y="1236337"/>
                </a:cubicBezTo>
                <a:cubicBezTo>
                  <a:pt x="876335" y="1133055"/>
                  <a:pt x="910150" y="999418"/>
                  <a:pt x="1013431" y="937850"/>
                </a:cubicBezTo>
                <a:cubicBezTo>
                  <a:pt x="1047128" y="917762"/>
                  <a:pt x="1085627" y="907153"/>
                  <a:pt x="1124857" y="907143"/>
                </a:cubicBezTo>
                <a:close/>
                <a:moveTo>
                  <a:pt x="1124857" y="1043214"/>
                </a:moveTo>
                <a:cubicBezTo>
                  <a:pt x="1079767" y="1043214"/>
                  <a:pt x="1043214" y="1079767"/>
                  <a:pt x="1043214" y="1124857"/>
                </a:cubicBezTo>
                <a:cubicBezTo>
                  <a:pt x="1043214" y="1169947"/>
                  <a:pt x="1079767" y="1206500"/>
                  <a:pt x="1124857" y="1206500"/>
                </a:cubicBezTo>
                <a:cubicBezTo>
                  <a:pt x="1169947" y="1206500"/>
                  <a:pt x="1206500" y="1169947"/>
                  <a:pt x="1206500" y="1124857"/>
                </a:cubicBezTo>
                <a:cubicBezTo>
                  <a:pt x="1206500" y="1079767"/>
                  <a:pt x="1169947" y="1043214"/>
                  <a:pt x="1124857" y="1043214"/>
                </a:cubicBezTo>
                <a:close/>
                <a:moveTo>
                  <a:pt x="635000" y="589643"/>
                </a:moveTo>
                <a:lnTo>
                  <a:pt x="272143" y="589643"/>
                </a:lnTo>
                <a:lnTo>
                  <a:pt x="272143" y="725714"/>
                </a:lnTo>
                <a:lnTo>
                  <a:pt x="635000" y="725714"/>
                </a:lnTo>
                <a:lnTo>
                  <a:pt x="635000" y="589643"/>
                </a:lnTo>
                <a:close/>
                <a:moveTo>
                  <a:pt x="1196612" y="0"/>
                </a:moveTo>
                <a:cubicBezTo>
                  <a:pt x="1248144" y="2"/>
                  <a:pt x="1295254" y="29114"/>
                  <a:pt x="1318305" y="75202"/>
                </a:cubicBezTo>
                <a:lnTo>
                  <a:pt x="1437050" y="312647"/>
                </a:lnTo>
                <a:cubicBezTo>
                  <a:pt x="1444899" y="328327"/>
                  <a:pt x="1449642" y="345377"/>
                  <a:pt x="1451020" y="362857"/>
                </a:cubicBezTo>
                <a:lnTo>
                  <a:pt x="1724" y="362857"/>
                </a:lnTo>
                <a:cubicBezTo>
                  <a:pt x="3822" y="349864"/>
                  <a:pt x="7794" y="337244"/>
                  <a:pt x="13516" y="325392"/>
                </a:cubicBezTo>
                <a:lnTo>
                  <a:pt x="133622" y="76835"/>
                </a:lnTo>
                <a:cubicBezTo>
                  <a:pt x="156343" y="29847"/>
                  <a:pt x="203939" y="-3"/>
                  <a:pt x="256132" y="0"/>
                </a:cubicBezTo>
                <a:lnTo>
                  <a:pt x="1196612" y="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图形 22"/>
          <p:cNvSpPr/>
          <p:nvPr/>
        </p:nvSpPr>
        <p:spPr>
          <a:xfrm>
            <a:off x="4378765" y="1128246"/>
            <a:ext cx="471492" cy="480691"/>
          </a:xfrm>
          <a:custGeom>
            <a:avLst/>
            <a:gdLst>
              <a:gd name="connsiteX0" fmla="*/ 783635 w 1451428"/>
              <a:gd name="connsiteY0" fmla="*/ 12943 h 1479747"/>
              <a:gd name="connsiteX1" fmla="*/ 1373278 w 1451428"/>
              <a:gd name="connsiteY1" fmla="*/ 290438 h 1479747"/>
              <a:gd name="connsiteX2" fmla="*/ 1451429 w 1451428"/>
              <a:gd name="connsiteY2" fmla="*/ 413537 h 1479747"/>
              <a:gd name="connsiteX3" fmla="*/ 1451429 w 1451428"/>
              <a:gd name="connsiteY3" fmla="*/ 583309 h 1479747"/>
              <a:gd name="connsiteX4" fmla="*/ 1323340 w 1451428"/>
              <a:gd name="connsiteY4" fmla="*/ 583309 h 1479747"/>
              <a:gd name="connsiteX5" fmla="*/ 1323340 w 1451428"/>
              <a:gd name="connsiteY5" fmla="*/ 1095573 h 1479747"/>
              <a:gd name="connsiteX6" fmla="*/ 1451429 w 1451428"/>
              <a:gd name="connsiteY6" fmla="*/ 1095573 h 1479747"/>
              <a:gd name="connsiteX7" fmla="*/ 1451429 w 1451428"/>
              <a:gd name="connsiteY7" fmla="*/ 1343676 h 1479747"/>
              <a:gd name="connsiteX8" fmla="*/ 1315357 w 1451428"/>
              <a:gd name="connsiteY8" fmla="*/ 1479748 h 1479747"/>
              <a:gd name="connsiteX9" fmla="*/ 136071 w 1451428"/>
              <a:gd name="connsiteY9" fmla="*/ 1479748 h 1479747"/>
              <a:gd name="connsiteX10" fmla="*/ 0 w 1451428"/>
              <a:gd name="connsiteY10" fmla="*/ 1343676 h 1479747"/>
              <a:gd name="connsiteX11" fmla="*/ 0 w 1451428"/>
              <a:gd name="connsiteY11" fmla="*/ 1095573 h 1479747"/>
              <a:gd name="connsiteX12" fmla="*/ 128043 w 1451428"/>
              <a:gd name="connsiteY12" fmla="*/ 1095573 h 1479747"/>
              <a:gd name="connsiteX13" fmla="*/ 128043 w 1451428"/>
              <a:gd name="connsiteY13" fmla="*/ 583309 h 1479747"/>
              <a:gd name="connsiteX14" fmla="*/ 0 w 1451428"/>
              <a:gd name="connsiteY14" fmla="*/ 583309 h 1479747"/>
              <a:gd name="connsiteX15" fmla="*/ 0 w 1451428"/>
              <a:gd name="connsiteY15" fmla="*/ 413537 h 1479747"/>
              <a:gd name="connsiteX16" fmla="*/ 78150 w 1451428"/>
              <a:gd name="connsiteY16" fmla="*/ 290438 h 1479747"/>
              <a:gd name="connsiteX17" fmla="*/ 667793 w 1451428"/>
              <a:gd name="connsiteY17" fmla="*/ 12943 h 1479747"/>
              <a:gd name="connsiteX18" fmla="*/ 783635 w 1451428"/>
              <a:gd name="connsiteY18" fmla="*/ 12943 h 1479747"/>
              <a:gd name="connsiteX19" fmla="*/ 469583 w 1451428"/>
              <a:gd name="connsiteY19" fmla="*/ 583309 h 1479747"/>
              <a:gd name="connsiteX20" fmla="*/ 264115 w 1451428"/>
              <a:gd name="connsiteY20" fmla="*/ 583309 h 1479747"/>
              <a:gd name="connsiteX21" fmla="*/ 264115 w 1451428"/>
              <a:gd name="connsiteY21" fmla="*/ 1095165 h 1479747"/>
              <a:gd name="connsiteX22" fmla="*/ 469537 w 1451428"/>
              <a:gd name="connsiteY22" fmla="*/ 1095165 h 1479747"/>
              <a:gd name="connsiteX23" fmla="*/ 469537 w 1451428"/>
              <a:gd name="connsiteY23" fmla="*/ 583309 h 1479747"/>
              <a:gd name="connsiteX24" fmla="*/ 605654 w 1451428"/>
              <a:gd name="connsiteY24" fmla="*/ 583309 h 1479747"/>
              <a:gd name="connsiteX25" fmla="*/ 605609 w 1451428"/>
              <a:gd name="connsiteY25" fmla="*/ 1095165 h 1479747"/>
              <a:gd name="connsiteX26" fmla="*/ 853758 w 1451428"/>
              <a:gd name="connsiteY26" fmla="*/ 1095165 h 1479747"/>
              <a:gd name="connsiteX27" fmla="*/ 853758 w 1451428"/>
              <a:gd name="connsiteY27" fmla="*/ 583309 h 1479747"/>
              <a:gd name="connsiteX28" fmla="*/ 605654 w 1451428"/>
              <a:gd name="connsiteY28" fmla="*/ 583309 h 1479747"/>
              <a:gd name="connsiteX29" fmla="*/ 989829 w 1451428"/>
              <a:gd name="connsiteY29" fmla="*/ 1095165 h 1479747"/>
              <a:gd name="connsiteX30" fmla="*/ 1187269 w 1451428"/>
              <a:gd name="connsiteY30" fmla="*/ 1095165 h 1479747"/>
              <a:gd name="connsiteX31" fmla="*/ 1187269 w 1451428"/>
              <a:gd name="connsiteY31" fmla="*/ 583309 h 1479747"/>
              <a:gd name="connsiteX32" fmla="*/ 989874 w 1451428"/>
              <a:gd name="connsiteY32" fmla="*/ 583309 h 1479747"/>
              <a:gd name="connsiteX33" fmla="*/ 989829 w 1451428"/>
              <a:gd name="connsiteY33" fmla="*/ 1095165 h 147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51428" h="1479747">
                <a:moveTo>
                  <a:pt x="783635" y="12943"/>
                </a:moveTo>
                <a:lnTo>
                  <a:pt x="1373278" y="290438"/>
                </a:lnTo>
                <a:cubicBezTo>
                  <a:pt x="1420970" y="312873"/>
                  <a:pt x="1451417" y="360832"/>
                  <a:pt x="1451429" y="413537"/>
                </a:cubicBezTo>
                <a:lnTo>
                  <a:pt x="1451429" y="583309"/>
                </a:lnTo>
                <a:lnTo>
                  <a:pt x="1323340" y="583309"/>
                </a:lnTo>
                <a:lnTo>
                  <a:pt x="1323340" y="1095573"/>
                </a:lnTo>
                <a:lnTo>
                  <a:pt x="1451429" y="1095573"/>
                </a:lnTo>
                <a:lnTo>
                  <a:pt x="1451429" y="1343676"/>
                </a:lnTo>
                <a:cubicBezTo>
                  <a:pt x="1451429" y="1418827"/>
                  <a:pt x="1390507" y="1479748"/>
                  <a:pt x="1315357" y="1479748"/>
                </a:cubicBezTo>
                <a:lnTo>
                  <a:pt x="136071" y="1479748"/>
                </a:lnTo>
                <a:cubicBezTo>
                  <a:pt x="60921" y="1479748"/>
                  <a:pt x="0" y="1418827"/>
                  <a:pt x="0" y="1343676"/>
                </a:cubicBezTo>
                <a:lnTo>
                  <a:pt x="0" y="1095573"/>
                </a:lnTo>
                <a:lnTo>
                  <a:pt x="128043" y="1095573"/>
                </a:lnTo>
                <a:lnTo>
                  <a:pt x="128043" y="583309"/>
                </a:lnTo>
                <a:lnTo>
                  <a:pt x="0" y="583309"/>
                </a:lnTo>
                <a:lnTo>
                  <a:pt x="0" y="413537"/>
                </a:lnTo>
                <a:cubicBezTo>
                  <a:pt x="11" y="360832"/>
                  <a:pt x="30458" y="312873"/>
                  <a:pt x="78150" y="290438"/>
                </a:cubicBezTo>
                <a:lnTo>
                  <a:pt x="667793" y="12943"/>
                </a:lnTo>
                <a:cubicBezTo>
                  <a:pt x="704479" y="-4314"/>
                  <a:pt x="746950" y="-4314"/>
                  <a:pt x="783635" y="12943"/>
                </a:cubicBezTo>
                <a:close/>
                <a:moveTo>
                  <a:pt x="469583" y="583309"/>
                </a:moveTo>
                <a:lnTo>
                  <a:pt x="264115" y="583309"/>
                </a:lnTo>
                <a:lnTo>
                  <a:pt x="264115" y="1095165"/>
                </a:lnTo>
                <a:lnTo>
                  <a:pt x="469537" y="1095165"/>
                </a:lnTo>
                <a:lnTo>
                  <a:pt x="469537" y="583309"/>
                </a:lnTo>
                <a:close/>
                <a:moveTo>
                  <a:pt x="605654" y="583309"/>
                </a:moveTo>
                <a:lnTo>
                  <a:pt x="605609" y="1095165"/>
                </a:lnTo>
                <a:lnTo>
                  <a:pt x="853758" y="1095165"/>
                </a:lnTo>
                <a:lnTo>
                  <a:pt x="853758" y="583309"/>
                </a:lnTo>
                <a:lnTo>
                  <a:pt x="605654" y="583309"/>
                </a:lnTo>
                <a:close/>
                <a:moveTo>
                  <a:pt x="989829" y="1095165"/>
                </a:moveTo>
                <a:lnTo>
                  <a:pt x="1187269" y="1095165"/>
                </a:lnTo>
                <a:lnTo>
                  <a:pt x="1187269" y="583309"/>
                </a:lnTo>
                <a:lnTo>
                  <a:pt x="989874" y="583309"/>
                </a:lnTo>
                <a:lnTo>
                  <a:pt x="989829" y="109516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图形 30"/>
          <p:cNvSpPr/>
          <p:nvPr/>
        </p:nvSpPr>
        <p:spPr>
          <a:xfrm>
            <a:off x="1401055" y="1132846"/>
            <a:ext cx="500960" cy="471491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3545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营收财务分析</a:t>
            </a: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230161" y="738505"/>
            <a:ext cx="2694015" cy="131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58417" y="1500459"/>
            <a:ext cx="13179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旺季（Q4）营收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358417" y="1015348"/>
            <a:ext cx="10839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1.2亿​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253771" y="738770"/>
            <a:ext cx="2694015" cy="131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6382027" y="1501359"/>
            <a:ext cx="12618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售后业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务营收涨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6382027" y="1016248"/>
            <a:ext cx="1034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 20%​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3241966" y="738320"/>
            <a:ext cx="2694015" cy="1316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3370222" y="1500274"/>
            <a:ext cx="1560662" cy="25906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SUV 车型营收占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3370222" y="1015163"/>
            <a:ext cx="755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6成​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9265576" y="738585"/>
            <a:ext cx="2694015" cy="1316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393832" y="1500539"/>
            <a:ext cx="1107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海外市场营收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393832" y="1016063"/>
            <a:ext cx="14718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5000 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0161" y="5308426"/>
            <a:ext cx="11728794" cy="129095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775848" y="5649732"/>
            <a:ext cx="612180" cy="612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372827" y="5649732"/>
            <a:ext cx="612180" cy="612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509728" y="5514450"/>
            <a:ext cx="4714564" cy="36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年度营收稳增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509728" y="5835012"/>
            <a:ext cx="4392979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全年营收呈波动上升，从 1 月 8500 万升至 12 月 9500 万，增长 11.8%。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087184" y="5514450"/>
            <a:ext cx="4714564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季度差异明显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087184" y="5835012"/>
            <a:ext cx="4392979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二、四季度营收较高（均超 9000 万），一、三季度略低（8500-8800 万）。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920088" y="5793972"/>
            <a:ext cx="323701" cy="323701"/>
            <a:chOff x="12669862" y="379215"/>
            <a:chExt cx="1905000" cy="1905000"/>
          </a:xfrm>
          <a:solidFill>
            <a:schemeClr val="accent2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12669862" y="379215"/>
              <a:ext cx="1905000" cy="1905000"/>
            </a:xfrm>
            <a:custGeom>
              <a:avLst/>
              <a:gdLst>
                <a:gd name="connsiteX0" fmla="*/ 141111 w 1905000"/>
                <a:gd name="connsiteY0" fmla="*/ 1763889 h 1905000"/>
                <a:gd name="connsiteX1" fmla="*/ 141111 w 1905000"/>
                <a:gd name="connsiteY1" fmla="*/ 0 h 1905000"/>
                <a:gd name="connsiteX2" fmla="*/ 0 w 1905000"/>
                <a:gd name="connsiteY2" fmla="*/ 0 h 1905000"/>
                <a:gd name="connsiteX3" fmla="*/ 0 w 1905000"/>
                <a:gd name="connsiteY3" fmla="*/ 1905000 h 1905000"/>
                <a:gd name="connsiteX4" fmla="*/ 1905000 w 1905000"/>
                <a:gd name="connsiteY4" fmla="*/ 1905000 h 1905000"/>
                <a:gd name="connsiteX5" fmla="*/ 1905000 w 1905000"/>
                <a:gd name="connsiteY5" fmla="*/ 1763889 h 1905000"/>
                <a:gd name="connsiteX6" fmla="*/ 141111 w 1905000"/>
                <a:gd name="connsiteY6" fmla="*/ 1763889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0" h="1905000">
                  <a:moveTo>
                    <a:pt x="141111" y="1763889"/>
                  </a:moveTo>
                  <a:lnTo>
                    <a:pt x="141111" y="0"/>
                  </a:lnTo>
                  <a:lnTo>
                    <a:pt x="0" y="0"/>
                  </a:lnTo>
                  <a:lnTo>
                    <a:pt x="0" y="1905000"/>
                  </a:lnTo>
                  <a:lnTo>
                    <a:pt x="1905000" y="1905000"/>
                  </a:lnTo>
                  <a:lnTo>
                    <a:pt x="1905000" y="1763889"/>
                  </a:lnTo>
                  <a:lnTo>
                    <a:pt x="141111" y="1763889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2966195" y="537259"/>
              <a:ext cx="1454854" cy="1538110"/>
            </a:xfrm>
            <a:custGeom>
              <a:avLst/>
              <a:gdLst>
                <a:gd name="connsiteX0" fmla="*/ 464254 w 1454854"/>
                <a:gd name="connsiteY0" fmla="*/ 1117600 h 1538110"/>
                <a:gd name="connsiteX1" fmla="*/ 887589 w 1454854"/>
                <a:gd name="connsiteY1" fmla="*/ 1399821 h 1538110"/>
                <a:gd name="connsiteX2" fmla="*/ 1306689 w 1454854"/>
                <a:gd name="connsiteY2" fmla="*/ 560211 h 1538110"/>
                <a:gd name="connsiteX3" fmla="*/ 1454854 w 1454854"/>
                <a:gd name="connsiteY3" fmla="*/ 646290 h 1538110"/>
                <a:gd name="connsiteX4" fmla="*/ 1454854 w 1454854"/>
                <a:gd name="connsiteY4" fmla="*/ 0 h 1538110"/>
                <a:gd name="connsiteX5" fmla="*/ 894645 w 1454854"/>
                <a:gd name="connsiteY5" fmla="*/ 323145 h 1538110"/>
                <a:gd name="connsiteX6" fmla="*/ 1061156 w 1454854"/>
                <a:gd name="connsiteY6" fmla="*/ 419100 h 1538110"/>
                <a:gd name="connsiteX7" fmla="*/ 777523 w 1454854"/>
                <a:gd name="connsiteY7" fmla="*/ 987778 h 1538110"/>
                <a:gd name="connsiteX8" fmla="*/ 354189 w 1454854"/>
                <a:gd name="connsiteY8" fmla="*/ 705555 h 1538110"/>
                <a:gd name="connsiteX9" fmla="*/ 0 w 1454854"/>
                <a:gd name="connsiteY9" fmla="*/ 1412522 h 1538110"/>
                <a:gd name="connsiteX10" fmla="*/ 253999 w 1454854"/>
                <a:gd name="connsiteY10" fmla="*/ 1538111 h 1538110"/>
                <a:gd name="connsiteX11" fmla="*/ 464254 w 1454854"/>
                <a:gd name="connsiteY11" fmla="*/ 1117600 h 153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4854" h="1538110">
                  <a:moveTo>
                    <a:pt x="464254" y="1117600"/>
                  </a:moveTo>
                  <a:lnTo>
                    <a:pt x="887589" y="1399821"/>
                  </a:lnTo>
                  <a:lnTo>
                    <a:pt x="1306689" y="560211"/>
                  </a:lnTo>
                  <a:lnTo>
                    <a:pt x="1454854" y="646290"/>
                  </a:lnTo>
                  <a:lnTo>
                    <a:pt x="1454854" y="0"/>
                  </a:lnTo>
                  <a:lnTo>
                    <a:pt x="894645" y="323145"/>
                  </a:lnTo>
                  <a:lnTo>
                    <a:pt x="1061156" y="419100"/>
                  </a:lnTo>
                  <a:lnTo>
                    <a:pt x="777523" y="987778"/>
                  </a:lnTo>
                  <a:lnTo>
                    <a:pt x="354189" y="705555"/>
                  </a:lnTo>
                  <a:lnTo>
                    <a:pt x="0" y="1412522"/>
                  </a:lnTo>
                  <a:lnTo>
                    <a:pt x="253999" y="1538111"/>
                  </a:lnTo>
                  <a:lnTo>
                    <a:pt x="464254" y="11176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48" name="图形 16"/>
          <p:cNvSpPr/>
          <p:nvPr/>
        </p:nvSpPr>
        <p:spPr>
          <a:xfrm>
            <a:off x="1882636" y="1000098"/>
            <a:ext cx="793138" cy="793089"/>
          </a:xfrm>
          <a:custGeom>
            <a:avLst/>
            <a:gdLst>
              <a:gd name="connsiteX0" fmla="*/ 601052 w 1587604"/>
              <a:gd name="connsiteY0" fmla="*/ 964983 h 1587506"/>
              <a:gd name="connsiteX1" fmla="*/ 723138 w 1587604"/>
              <a:gd name="connsiteY1" fmla="*/ 964983 h 1587506"/>
              <a:gd name="connsiteX2" fmla="*/ 723138 w 1587604"/>
              <a:gd name="connsiteY2" fmla="*/ 886848 h 1587506"/>
              <a:gd name="connsiteX3" fmla="*/ 601052 w 1587604"/>
              <a:gd name="connsiteY3" fmla="*/ 886848 h 1587506"/>
              <a:gd name="connsiteX4" fmla="*/ 524004 w 1587604"/>
              <a:gd name="connsiteY4" fmla="*/ 835844 h 1587506"/>
              <a:gd name="connsiteX5" fmla="*/ 601052 w 1587604"/>
              <a:gd name="connsiteY5" fmla="*/ 785924 h 1587506"/>
              <a:gd name="connsiteX6" fmla="*/ 669963 w 1587604"/>
              <a:gd name="connsiteY6" fmla="*/ 785924 h 1587506"/>
              <a:gd name="connsiteX7" fmla="*/ 507726 w 1587604"/>
              <a:gd name="connsiteY7" fmla="*/ 531444 h 1587506"/>
              <a:gd name="connsiteX8" fmla="*/ 482222 w 1587604"/>
              <a:gd name="connsiteY8" fmla="*/ 488035 h 1587506"/>
              <a:gd name="connsiteX9" fmla="*/ 476254 w 1587604"/>
              <a:gd name="connsiteY9" fmla="*/ 459278 h 1587506"/>
              <a:gd name="connsiteX10" fmla="*/ 493345 w 1587604"/>
              <a:gd name="connsiteY10" fmla="*/ 413971 h 1587506"/>
              <a:gd name="connsiteX11" fmla="*/ 537568 w 1587604"/>
              <a:gd name="connsiteY11" fmla="*/ 396878 h 1587506"/>
              <a:gd name="connsiteX12" fmla="*/ 582333 w 1587604"/>
              <a:gd name="connsiteY12" fmla="*/ 413699 h 1587506"/>
              <a:gd name="connsiteX13" fmla="*/ 622214 w 1587604"/>
              <a:gd name="connsiteY13" fmla="*/ 467960 h 1587506"/>
              <a:gd name="connsiteX14" fmla="*/ 797476 w 1587604"/>
              <a:gd name="connsiteY14" fmla="*/ 742516 h 1587506"/>
              <a:gd name="connsiteX15" fmla="*/ 954286 w 1587604"/>
              <a:gd name="connsiteY15" fmla="*/ 483695 h 1587506"/>
              <a:gd name="connsiteX16" fmla="*/ 972736 w 1587604"/>
              <a:gd name="connsiteY16" fmla="*/ 451952 h 1587506"/>
              <a:gd name="connsiteX17" fmla="*/ 991726 w 1587604"/>
              <a:gd name="connsiteY17" fmla="*/ 423737 h 1587506"/>
              <a:gd name="connsiteX18" fmla="*/ 1014787 w 1587604"/>
              <a:gd name="connsiteY18" fmla="*/ 404475 h 1587506"/>
              <a:gd name="connsiteX19" fmla="*/ 1047615 w 1587604"/>
              <a:gd name="connsiteY19" fmla="*/ 396878 h 1587506"/>
              <a:gd name="connsiteX20" fmla="*/ 1091835 w 1587604"/>
              <a:gd name="connsiteY20" fmla="*/ 413427 h 1587506"/>
              <a:gd name="connsiteX21" fmla="*/ 1108928 w 1587604"/>
              <a:gd name="connsiteY21" fmla="*/ 453853 h 1587506"/>
              <a:gd name="connsiteX22" fmla="*/ 1102145 w 1587604"/>
              <a:gd name="connsiteY22" fmla="*/ 488578 h 1587506"/>
              <a:gd name="connsiteX23" fmla="*/ 1080714 w 1587604"/>
              <a:gd name="connsiteY23" fmla="*/ 528189 h 1587506"/>
              <a:gd name="connsiteX24" fmla="*/ 924445 w 1587604"/>
              <a:gd name="connsiteY24" fmla="*/ 785924 h 1587506"/>
              <a:gd name="connsiteX25" fmla="*/ 993354 w 1587604"/>
              <a:gd name="connsiteY25" fmla="*/ 785924 h 1587506"/>
              <a:gd name="connsiteX26" fmla="*/ 1069861 w 1587604"/>
              <a:gd name="connsiteY26" fmla="*/ 835844 h 1587506"/>
              <a:gd name="connsiteX27" fmla="*/ 993354 w 1587604"/>
              <a:gd name="connsiteY27" fmla="*/ 886848 h 1587506"/>
              <a:gd name="connsiteX28" fmla="*/ 870727 w 1587604"/>
              <a:gd name="connsiteY28" fmla="*/ 886848 h 1587506"/>
              <a:gd name="connsiteX29" fmla="*/ 870727 w 1587604"/>
              <a:gd name="connsiteY29" fmla="*/ 964983 h 1587506"/>
              <a:gd name="connsiteX30" fmla="*/ 993354 w 1587604"/>
              <a:gd name="connsiteY30" fmla="*/ 964983 h 1587506"/>
              <a:gd name="connsiteX31" fmla="*/ 1069861 w 1587604"/>
              <a:gd name="connsiteY31" fmla="*/ 1015988 h 1587506"/>
              <a:gd name="connsiteX32" fmla="*/ 993354 w 1587604"/>
              <a:gd name="connsiteY32" fmla="*/ 1065907 h 1587506"/>
              <a:gd name="connsiteX33" fmla="*/ 870727 w 1587604"/>
              <a:gd name="connsiteY33" fmla="*/ 1065907 h 1587506"/>
              <a:gd name="connsiteX34" fmla="*/ 870727 w 1587604"/>
              <a:gd name="connsiteY34" fmla="*/ 1109316 h 1587506"/>
              <a:gd name="connsiteX35" fmla="*/ 797476 w 1587604"/>
              <a:gd name="connsiteY35" fmla="*/ 1219464 h 1587506"/>
              <a:gd name="connsiteX36" fmla="*/ 723138 w 1587604"/>
              <a:gd name="connsiteY36" fmla="*/ 1109316 h 1587506"/>
              <a:gd name="connsiteX37" fmla="*/ 723138 w 1587604"/>
              <a:gd name="connsiteY37" fmla="*/ 1065907 h 1587506"/>
              <a:gd name="connsiteX38" fmla="*/ 601052 w 1587604"/>
              <a:gd name="connsiteY38" fmla="*/ 1065907 h 1587506"/>
              <a:gd name="connsiteX39" fmla="*/ 524004 w 1587604"/>
              <a:gd name="connsiteY39" fmla="*/ 1015988 h 1587506"/>
              <a:gd name="connsiteX40" fmla="*/ 601052 w 1587604"/>
              <a:gd name="connsiteY40" fmla="*/ 964983 h 1587506"/>
              <a:gd name="connsiteX41" fmla="*/ 1374266 w 1587604"/>
              <a:gd name="connsiteY41" fmla="*/ 252418 h 1587506"/>
              <a:gd name="connsiteX42" fmla="*/ 1370349 w 1587604"/>
              <a:gd name="connsiteY42" fmla="*/ 364602 h 1587506"/>
              <a:gd name="connsiteX43" fmla="*/ 1258164 w 1587604"/>
              <a:gd name="connsiteY43" fmla="*/ 360685 h 1587506"/>
              <a:gd name="connsiteX44" fmla="*/ 360685 w 1587604"/>
              <a:gd name="connsiteY44" fmla="*/ 329343 h 1587506"/>
              <a:gd name="connsiteX45" fmla="*/ 329344 w 1587604"/>
              <a:gd name="connsiteY45" fmla="*/ 1226821 h 1587506"/>
              <a:gd name="connsiteX46" fmla="*/ 1226822 w 1587604"/>
              <a:gd name="connsiteY46" fmla="*/ 1258163 h 1587506"/>
              <a:gd name="connsiteX47" fmla="*/ 1397746 w 1587604"/>
              <a:gd name="connsiteY47" fmla="*/ 597197 h 1587506"/>
              <a:gd name="connsiteX48" fmla="*/ 1448736 w 1587604"/>
              <a:gd name="connsiteY48" fmla="*/ 497192 h 1587506"/>
              <a:gd name="connsiteX49" fmla="*/ 1548739 w 1587604"/>
              <a:gd name="connsiteY49" fmla="*/ 548182 h 1587506"/>
              <a:gd name="connsiteX50" fmla="*/ 1335091 w 1587604"/>
              <a:gd name="connsiteY50" fmla="*/ 1374266 h 1587506"/>
              <a:gd name="connsiteX51" fmla="*/ 213243 w 1587604"/>
              <a:gd name="connsiteY51" fmla="*/ 1335090 h 1587506"/>
              <a:gd name="connsiteX52" fmla="*/ 252417 w 1587604"/>
              <a:gd name="connsiteY52" fmla="*/ 213242 h 1587506"/>
              <a:gd name="connsiteX53" fmla="*/ 1374265 w 1587604"/>
              <a:gd name="connsiteY53" fmla="*/ 252418 h 158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87604" h="1587506">
                <a:moveTo>
                  <a:pt x="601052" y="964983"/>
                </a:moveTo>
                <a:lnTo>
                  <a:pt x="723138" y="964983"/>
                </a:lnTo>
                <a:lnTo>
                  <a:pt x="723138" y="886848"/>
                </a:lnTo>
                <a:lnTo>
                  <a:pt x="601052" y="886848"/>
                </a:lnTo>
                <a:cubicBezTo>
                  <a:pt x="549686" y="886848"/>
                  <a:pt x="524004" y="869846"/>
                  <a:pt x="524004" y="835844"/>
                </a:cubicBezTo>
                <a:cubicBezTo>
                  <a:pt x="524004" y="802563"/>
                  <a:pt x="549686" y="785924"/>
                  <a:pt x="601052" y="785924"/>
                </a:cubicBezTo>
                <a:lnTo>
                  <a:pt x="669963" y="785924"/>
                </a:lnTo>
                <a:lnTo>
                  <a:pt x="507726" y="531444"/>
                </a:lnTo>
                <a:cubicBezTo>
                  <a:pt x="494703" y="511185"/>
                  <a:pt x="486202" y="496717"/>
                  <a:pt x="482222" y="488035"/>
                </a:cubicBezTo>
                <a:cubicBezTo>
                  <a:pt x="478243" y="479355"/>
                  <a:pt x="476254" y="469766"/>
                  <a:pt x="476254" y="459278"/>
                </a:cubicBezTo>
                <a:cubicBezTo>
                  <a:pt x="476254" y="440468"/>
                  <a:pt x="481951" y="425363"/>
                  <a:pt x="493345" y="413971"/>
                </a:cubicBezTo>
                <a:cubicBezTo>
                  <a:pt x="504740" y="402576"/>
                  <a:pt x="519481" y="396878"/>
                  <a:pt x="537568" y="396878"/>
                </a:cubicBezTo>
                <a:cubicBezTo>
                  <a:pt x="556017" y="396878"/>
                  <a:pt x="570939" y="402485"/>
                  <a:pt x="582333" y="413699"/>
                </a:cubicBezTo>
                <a:cubicBezTo>
                  <a:pt x="593728" y="424913"/>
                  <a:pt x="607020" y="443000"/>
                  <a:pt x="622214" y="467960"/>
                </a:cubicBezTo>
                <a:lnTo>
                  <a:pt x="797476" y="742516"/>
                </a:lnTo>
                <a:lnTo>
                  <a:pt x="954286" y="483695"/>
                </a:lnTo>
                <a:cubicBezTo>
                  <a:pt x="960362" y="473070"/>
                  <a:pt x="966513" y="462489"/>
                  <a:pt x="972736" y="451952"/>
                </a:cubicBezTo>
                <a:cubicBezTo>
                  <a:pt x="979247" y="440920"/>
                  <a:pt x="985578" y="431514"/>
                  <a:pt x="991726" y="423737"/>
                </a:cubicBezTo>
                <a:cubicBezTo>
                  <a:pt x="997876" y="415961"/>
                  <a:pt x="1005563" y="409539"/>
                  <a:pt x="1014787" y="404475"/>
                </a:cubicBezTo>
                <a:cubicBezTo>
                  <a:pt x="1024010" y="399410"/>
                  <a:pt x="1034953" y="396878"/>
                  <a:pt x="1047615" y="396878"/>
                </a:cubicBezTo>
                <a:cubicBezTo>
                  <a:pt x="1065701" y="396878"/>
                  <a:pt x="1080443" y="402396"/>
                  <a:pt x="1091835" y="413427"/>
                </a:cubicBezTo>
                <a:cubicBezTo>
                  <a:pt x="1103232" y="424459"/>
                  <a:pt x="1108928" y="437936"/>
                  <a:pt x="1108928" y="453853"/>
                </a:cubicBezTo>
                <a:cubicBezTo>
                  <a:pt x="1108928" y="466513"/>
                  <a:pt x="1106668" y="478088"/>
                  <a:pt x="1102145" y="488578"/>
                </a:cubicBezTo>
                <a:cubicBezTo>
                  <a:pt x="1097625" y="499069"/>
                  <a:pt x="1090481" y="512272"/>
                  <a:pt x="1080714" y="528189"/>
                </a:cubicBezTo>
                <a:lnTo>
                  <a:pt x="924445" y="785924"/>
                </a:lnTo>
                <a:lnTo>
                  <a:pt x="993354" y="785924"/>
                </a:lnTo>
                <a:cubicBezTo>
                  <a:pt x="1044359" y="785924"/>
                  <a:pt x="1069861" y="802565"/>
                  <a:pt x="1069861" y="835844"/>
                </a:cubicBezTo>
                <a:cubicBezTo>
                  <a:pt x="1069861" y="869846"/>
                  <a:pt x="1044359" y="886848"/>
                  <a:pt x="993354" y="886848"/>
                </a:cubicBezTo>
                <a:lnTo>
                  <a:pt x="870727" y="886848"/>
                </a:lnTo>
                <a:lnTo>
                  <a:pt x="870727" y="964983"/>
                </a:lnTo>
                <a:lnTo>
                  <a:pt x="993354" y="964983"/>
                </a:lnTo>
                <a:cubicBezTo>
                  <a:pt x="1044359" y="964983"/>
                  <a:pt x="1069861" y="981986"/>
                  <a:pt x="1069861" y="1015988"/>
                </a:cubicBezTo>
                <a:cubicBezTo>
                  <a:pt x="1069861" y="1049268"/>
                  <a:pt x="1044359" y="1065907"/>
                  <a:pt x="993354" y="1065907"/>
                </a:cubicBezTo>
                <a:lnTo>
                  <a:pt x="870727" y="1065907"/>
                </a:lnTo>
                <a:lnTo>
                  <a:pt x="870727" y="1109316"/>
                </a:lnTo>
                <a:cubicBezTo>
                  <a:pt x="870727" y="1182748"/>
                  <a:pt x="846310" y="1219464"/>
                  <a:pt x="797476" y="1219464"/>
                </a:cubicBezTo>
                <a:cubicBezTo>
                  <a:pt x="747916" y="1219464"/>
                  <a:pt x="723138" y="1182748"/>
                  <a:pt x="723138" y="1109316"/>
                </a:cubicBezTo>
                <a:lnTo>
                  <a:pt x="723138" y="1065907"/>
                </a:lnTo>
                <a:lnTo>
                  <a:pt x="601052" y="1065907"/>
                </a:lnTo>
                <a:cubicBezTo>
                  <a:pt x="549686" y="1065907"/>
                  <a:pt x="524004" y="1049268"/>
                  <a:pt x="524004" y="1015988"/>
                </a:cubicBezTo>
                <a:cubicBezTo>
                  <a:pt x="524004" y="981984"/>
                  <a:pt x="549686" y="964983"/>
                  <a:pt x="601052" y="964983"/>
                </a:cubicBezTo>
                <a:close/>
                <a:moveTo>
                  <a:pt x="1374266" y="252418"/>
                </a:moveTo>
                <a:cubicBezTo>
                  <a:pt x="1404162" y="284477"/>
                  <a:pt x="1402410" y="334705"/>
                  <a:pt x="1370349" y="364602"/>
                </a:cubicBezTo>
                <a:cubicBezTo>
                  <a:pt x="1338287" y="394498"/>
                  <a:pt x="1288061" y="392746"/>
                  <a:pt x="1258164" y="360685"/>
                </a:cubicBezTo>
                <a:cubicBezTo>
                  <a:pt x="1018986" y="104198"/>
                  <a:pt x="617172" y="90167"/>
                  <a:pt x="360685" y="329343"/>
                </a:cubicBezTo>
                <a:cubicBezTo>
                  <a:pt x="104199" y="568521"/>
                  <a:pt x="90166" y="970337"/>
                  <a:pt x="329344" y="1226821"/>
                </a:cubicBezTo>
                <a:cubicBezTo>
                  <a:pt x="568522" y="1483308"/>
                  <a:pt x="970338" y="1497341"/>
                  <a:pt x="1226822" y="1258163"/>
                </a:cubicBezTo>
                <a:cubicBezTo>
                  <a:pt x="1409113" y="1088175"/>
                  <a:pt x="1473369" y="830157"/>
                  <a:pt x="1397746" y="597197"/>
                </a:cubicBezTo>
                <a:cubicBezTo>
                  <a:pt x="1384212" y="555501"/>
                  <a:pt x="1407040" y="510727"/>
                  <a:pt x="1448736" y="497192"/>
                </a:cubicBezTo>
                <a:cubicBezTo>
                  <a:pt x="1490432" y="483658"/>
                  <a:pt x="1535205" y="506486"/>
                  <a:pt x="1548739" y="548182"/>
                </a:cubicBezTo>
                <a:cubicBezTo>
                  <a:pt x="1643236" y="839279"/>
                  <a:pt x="1562908" y="1161823"/>
                  <a:pt x="1335091" y="1374266"/>
                </a:cubicBezTo>
                <a:cubicBezTo>
                  <a:pt x="1014482" y="1673237"/>
                  <a:pt x="512213" y="1655698"/>
                  <a:pt x="213243" y="1335090"/>
                </a:cubicBezTo>
                <a:cubicBezTo>
                  <a:pt x="-85730" y="1014481"/>
                  <a:pt x="-68193" y="512212"/>
                  <a:pt x="252417" y="213242"/>
                </a:cubicBezTo>
                <a:cubicBezTo>
                  <a:pt x="573024" y="-85731"/>
                  <a:pt x="1075293" y="-68192"/>
                  <a:pt x="1374265" y="25241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914817" y="1109141"/>
            <a:ext cx="755335" cy="574633"/>
            <a:chOff x="12678933" y="8827806"/>
            <a:chExt cx="1895928" cy="1442356"/>
          </a:xfrm>
          <a:solidFill>
            <a:schemeClr val="bg1"/>
          </a:solidFill>
        </p:grpSpPr>
        <p:sp>
          <p:nvSpPr>
            <p:cNvPr id="50" name="任意多边形: 形状 49"/>
            <p:cNvSpPr/>
            <p:nvPr/>
          </p:nvSpPr>
          <p:spPr>
            <a:xfrm>
              <a:off x="13087148" y="9589806"/>
              <a:ext cx="1070427" cy="145142"/>
            </a:xfrm>
            <a:custGeom>
              <a:avLst/>
              <a:gdLst>
                <a:gd name="connsiteX0" fmla="*/ 0 w 1070427"/>
                <a:gd name="connsiteY0" fmla="*/ 0 h 145142"/>
                <a:gd name="connsiteX1" fmla="*/ 326572 w 1070427"/>
                <a:gd name="connsiteY1" fmla="*/ 0 h 145142"/>
                <a:gd name="connsiteX2" fmla="*/ 326572 w 1070427"/>
                <a:gd name="connsiteY2" fmla="*/ 145143 h 145142"/>
                <a:gd name="connsiteX3" fmla="*/ 0 w 1070427"/>
                <a:gd name="connsiteY3" fmla="*/ 145143 h 145142"/>
                <a:gd name="connsiteX4" fmla="*/ 743856 w 1070427"/>
                <a:gd name="connsiteY4" fmla="*/ 0 h 145142"/>
                <a:gd name="connsiteX5" fmla="*/ 1070428 w 1070427"/>
                <a:gd name="connsiteY5" fmla="*/ 0 h 145142"/>
                <a:gd name="connsiteX6" fmla="*/ 1070428 w 1070427"/>
                <a:gd name="connsiteY6" fmla="*/ 145143 h 145142"/>
                <a:gd name="connsiteX7" fmla="*/ 743856 w 1070427"/>
                <a:gd name="connsiteY7" fmla="*/ 145143 h 14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0427" h="145142">
                  <a:moveTo>
                    <a:pt x="0" y="0"/>
                  </a:moveTo>
                  <a:lnTo>
                    <a:pt x="326572" y="0"/>
                  </a:lnTo>
                  <a:lnTo>
                    <a:pt x="326572" y="145143"/>
                  </a:lnTo>
                  <a:lnTo>
                    <a:pt x="0" y="145143"/>
                  </a:lnTo>
                  <a:close/>
                  <a:moveTo>
                    <a:pt x="743856" y="0"/>
                  </a:moveTo>
                  <a:lnTo>
                    <a:pt x="1070428" y="0"/>
                  </a:lnTo>
                  <a:lnTo>
                    <a:pt x="1070428" y="145143"/>
                  </a:lnTo>
                  <a:lnTo>
                    <a:pt x="743856" y="14514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2678933" y="8827806"/>
              <a:ext cx="1895928" cy="1442356"/>
            </a:xfrm>
            <a:custGeom>
              <a:avLst/>
              <a:gdLst>
                <a:gd name="connsiteX0" fmla="*/ 1886850 w 1895928"/>
                <a:gd name="connsiteY0" fmla="*/ 317499 h 1442356"/>
                <a:gd name="connsiteX1" fmla="*/ 1614714 w 1895928"/>
                <a:gd name="connsiteY1" fmla="*/ 317499 h 1442356"/>
                <a:gd name="connsiteX2" fmla="*/ 1406072 w 1895928"/>
                <a:gd name="connsiteY2" fmla="*/ 0 h 1442356"/>
                <a:gd name="connsiteX3" fmla="*/ 471714 w 1895928"/>
                <a:gd name="connsiteY3" fmla="*/ 0 h 1442356"/>
                <a:gd name="connsiteX4" fmla="*/ 263072 w 1895928"/>
                <a:gd name="connsiteY4" fmla="*/ 317499 h 1442356"/>
                <a:gd name="connsiteX5" fmla="*/ 0 w 1895928"/>
                <a:gd name="connsiteY5" fmla="*/ 317499 h 1442356"/>
                <a:gd name="connsiteX6" fmla="*/ 0 w 1895928"/>
                <a:gd name="connsiteY6" fmla="*/ 498928 h 1442356"/>
                <a:gd name="connsiteX7" fmla="*/ 145143 w 1895928"/>
                <a:gd name="connsiteY7" fmla="*/ 498928 h 1442356"/>
                <a:gd name="connsiteX8" fmla="*/ 27214 w 1895928"/>
                <a:gd name="connsiteY8" fmla="*/ 671286 h 1442356"/>
                <a:gd name="connsiteX9" fmla="*/ 18143 w 1895928"/>
                <a:gd name="connsiteY9" fmla="*/ 725714 h 1442356"/>
                <a:gd name="connsiteX10" fmla="*/ 18143 w 1895928"/>
                <a:gd name="connsiteY10" fmla="*/ 1442357 h 1442356"/>
                <a:gd name="connsiteX11" fmla="*/ 625928 w 1895928"/>
                <a:gd name="connsiteY11" fmla="*/ 1442357 h 1442356"/>
                <a:gd name="connsiteX12" fmla="*/ 625928 w 1895928"/>
                <a:gd name="connsiteY12" fmla="*/ 1224642 h 1442356"/>
                <a:gd name="connsiteX13" fmla="*/ 1288142 w 1895928"/>
                <a:gd name="connsiteY13" fmla="*/ 1224642 h 1442356"/>
                <a:gd name="connsiteX14" fmla="*/ 1279071 w 1895928"/>
                <a:gd name="connsiteY14" fmla="*/ 1442357 h 1442356"/>
                <a:gd name="connsiteX15" fmla="*/ 1877790 w 1895928"/>
                <a:gd name="connsiteY15" fmla="*/ 1442357 h 1442356"/>
                <a:gd name="connsiteX16" fmla="*/ 1877790 w 1895928"/>
                <a:gd name="connsiteY16" fmla="*/ 725714 h 1442356"/>
                <a:gd name="connsiteX17" fmla="*/ 1868712 w 1895928"/>
                <a:gd name="connsiteY17" fmla="*/ 671286 h 1442356"/>
                <a:gd name="connsiteX18" fmla="*/ 1741715 w 1895928"/>
                <a:gd name="connsiteY18" fmla="*/ 498928 h 1442356"/>
                <a:gd name="connsiteX19" fmla="*/ 1895929 w 1895928"/>
                <a:gd name="connsiteY19" fmla="*/ 498928 h 1442356"/>
                <a:gd name="connsiteX20" fmla="*/ 1895929 w 1895928"/>
                <a:gd name="connsiteY20" fmla="*/ 317499 h 1442356"/>
                <a:gd name="connsiteX21" fmla="*/ 571500 w 1895928"/>
                <a:gd name="connsiteY21" fmla="*/ 190500 h 1442356"/>
                <a:gd name="connsiteX22" fmla="*/ 1315358 w 1895928"/>
                <a:gd name="connsiteY22" fmla="*/ 190500 h 1442356"/>
                <a:gd name="connsiteX23" fmla="*/ 1469571 w 1895928"/>
                <a:gd name="connsiteY23" fmla="*/ 426357 h 1442356"/>
                <a:gd name="connsiteX24" fmla="*/ 417286 w 1895928"/>
                <a:gd name="connsiteY24" fmla="*/ 426357 h 1442356"/>
                <a:gd name="connsiteX25" fmla="*/ 571500 w 1895928"/>
                <a:gd name="connsiteY25" fmla="*/ 190500 h 1442356"/>
                <a:gd name="connsiteX26" fmla="*/ 1451429 w 1895928"/>
                <a:gd name="connsiteY26" fmla="*/ 1260928 h 1442356"/>
                <a:gd name="connsiteX27" fmla="*/ 1460500 w 1895928"/>
                <a:gd name="connsiteY27" fmla="*/ 1043214 h 1442356"/>
                <a:gd name="connsiteX28" fmla="*/ 426357 w 1895928"/>
                <a:gd name="connsiteY28" fmla="*/ 1043214 h 1442356"/>
                <a:gd name="connsiteX29" fmla="*/ 426357 w 1895928"/>
                <a:gd name="connsiteY29" fmla="*/ 1260928 h 1442356"/>
                <a:gd name="connsiteX30" fmla="*/ 190500 w 1895928"/>
                <a:gd name="connsiteY30" fmla="*/ 1260928 h 1442356"/>
                <a:gd name="connsiteX31" fmla="*/ 190500 w 1895928"/>
                <a:gd name="connsiteY31" fmla="*/ 752929 h 1442356"/>
                <a:gd name="connsiteX32" fmla="*/ 290285 w 1895928"/>
                <a:gd name="connsiteY32" fmla="*/ 607786 h 1442356"/>
                <a:gd name="connsiteX33" fmla="*/ 1587501 w 1895928"/>
                <a:gd name="connsiteY33" fmla="*/ 607786 h 1442356"/>
                <a:gd name="connsiteX34" fmla="*/ 1687287 w 1895928"/>
                <a:gd name="connsiteY34" fmla="*/ 752929 h 1442356"/>
                <a:gd name="connsiteX35" fmla="*/ 1687287 w 1895928"/>
                <a:gd name="connsiteY35" fmla="*/ 1260928 h 1442356"/>
                <a:gd name="connsiteX36" fmla="*/ 1451429 w 1895928"/>
                <a:gd name="connsiteY36" fmla="*/ 1260928 h 1442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95928" h="1442356">
                  <a:moveTo>
                    <a:pt x="1886850" y="317499"/>
                  </a:moveTo>
                  <a:lnTo>
                    <a:pt x="1614714" y="317499"/>
                  </a:lnTo>
                  <a:lnTo>
                    <a:pt x="1406072" y="0"/>
                  </a:lnTo>
                  <a:lnTo>
                    <a:pt x="471714" y="0"/>
                  </a:lnTo>
                  <a:lnTo>
                    <a:pt x="263072" y="317499"/>
                  </a:lnTo>
                  <a:lnTo>
                    <a:pt x="0" y="317499"/>
                  </a:lnTo>
                  <a:lnTo>
                    <a:pt x="0" y="498928"/>
                  </a:lnTo>
                  <a:lnTo>
                    <a:pt x="145143" y="498928"/>
                  </a:lnTo>
                  <a:lnTo>
                    <a:pt x="27214" y="671286"/>
                  </a:lnTo>
                  <a:cubicBezTo>
                    <a:pt x="18143" y="689428"/>
                    <a:pt x="18143" y="707572"/>
                    <a:pt x="18143" y="725714"/>
                  </a:cubicBezTo>
                  <a:lnTo>
                    <a:pt x="18143" y="1442357"/>
                  </a:lnTo>
                  <a:lnTo>
                    <a:pt x="625928" y="1442357"/>
                  </a:lnTo>
                  <a:lnTo>
                    <a:pt x="625928" y="1224642"/>
                  </a:lnTo>
                  <a:lnTo>
                    <a:pt x="1288142" y="1224642"/>
                  </a:lnTo>
                  <a:lnTo>
                    <a:pt x="1279071" y="1442357"/>
                  </a:lnTo>
                  <a:lnTo>
                    <a:pt x="1877790" y="1442357"/>
                  </a:lnTo>
                  <a:lnTo>
                    <a:pt x="1877790" y="725714"/>
                  </a:lnTo>
                  <a:cubicBezTo>
                    <a:pt x="1877790" y="707572"/>
                    <a:pt x="1877790" y="689428"/>
                    <a:pt x="1868712" y="671286"/>
                  </a:cubicBezTo>
                  <a:lnTo>
                    <a:pt x="1741715" y="498928"/>
                  </a:lnTo>
                  <a:lnTo>
                    <a:pt x="1895929" y="498928"/>
                  </a:lnTo>
                  <a:lnTo>
                    <a:pt x="1895929" y="317499"/>
                  </a:lnTo>
                  <a:close/>
                  <a:moveTo>
                    <a:pt x="571500" y="190500"/>
                  </a:moveTo>
                  <a:lnTo>
                    <a:pt x="1315358" y="190500"/>
                  </a:lnTo>
                  <a:lnTo>
                    <a:pt x="1469571" y="426357"/>
                  </a:lnTo>
                  <a:lnTo>
                    <a:pt x="417286" y="426357"/>
                  </a:lnTo>
                  <a:lnTo>
                    <a:pt x="571500" y="190500"/>
                  </a:lnTo>
                  <a:close/>
                  <a:moveTo>
                    <a:pt x="1451429" y="1260928"/>
                  </a:moveTo>
                  <a:lnTo>
                    <a:pt x="1460500" y="1043214"/>
                  </a:lnTo>
                  <a:lnTo>
                    <a:pt x="426357" y="1043214"/>
                  </a:lnTo>
                  <a:lnTo>
                    <a:pt x="426357" y="1260928"/>
                  </a:lnTo>
                  <a:lnTo>
                    <a:pt x="190500" y="1260928"/>
                  </a:lnTo>
                  <a:lnTo>
                    <a:pt x="190500" y="752929"/>
                  </a:lnTo>
                  <a:lnTo>
                    <a:pt x="290285" y="607786"/>
                  </a:lnTo>
                  <a:lnTo>
                    <a:pt x="1587501" y="607786"/>
                  </a:lnTo>
                  <a:lnTo>
                    <a:pt x="1687287" y="752929"/>
                  </a:lnTo>
                  <a:lnTo>
                    <a:pt x="1687287" y="1260928"/>
                  </a:lnTo>
                  <a:lnTo>
                    <a:pt x="1451429" y="126092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52" name="图形 22"/>
          <p:cNvSpPr/>
          <p:nvPr/>
        </p:nvSpPr>
        <p:spPr>
          <a:xfrm>
            <a:off x="7910422" y="1026847"/>
            <a:ext cx="811393" cy="740121"/>
          </a:xfrm>
          <a:custGeom>
            <a:avLst/>
            <a:gdLst>
              <a:gd name="connsiteX0" fmla="*/ 178163 w 1532684"/>
              <a:gd name="connsiteY0" fmla="*/ 837716 h 1398054"/>
              <a:gd name="connsiteX1" fmla="*/ 144490 w 1532684"/>
              <a:gd name="connsiteY1" fmla="*/ 823392 h 1398054"/>
              <a:gd name="connsiteX2" fmla="*/ 12964 w 1532684"/>
              <a:gd name="connsiteY2" fmla="*/ 686098 h 1398054"/>
              <a:gd name="connsiteX3" fmla="*/ 14266 w 1532684"/>
              <a:gd name="connsiteY3" fmla="*/ 620427 h 1398054"/>
              <a:gd name="connsiteX4" fmla="*/ 79936 w 1532684"/>
              <a:gd name="connsiteY4" fmla="*/ 621730 h 1398054"/>
              <a:gd name="connsiteX5" fmla="*/ 211649 w 1532684"/>
              <a:gd name="connsiteY5" fmla="*/ 759209 h 1398054"/>
              <a:gd name="connsiteX6" fmla="*/ 210347 w 1532684"/>
              <a:gd name="connsiteY6" fmla="*/ 824880 h 1398054"/>
              <a:gd name="connsiteX7" fmla="*/ 178163 w 1532684"/>
              <a:gd name="connsiteY7" fmla="*/ 837716 h 1398054"/>
              <a:gd name="connsiteX8" fmla="*/ 193976 w 1532684"/>
              <a:gd name="connsiteY8" fmla="*/ 848878 h 1398054"/>
              <a:gd name="connsiteX9" fmla="*/ 160117 w 1532684"/>
              <a:gd name="connsiteY9" fmla="*/ 834182 h 1398054"/>
              <a:gd name="connsiteX10" fmla="*/ 162164 w 1532684"/>
              <a:gd name="connsiteY10" fmla="*/ 768511 h 1398054"/>
              <a:gd name="connsiteX11" fmla="*/ 308573 w 1532684"/>
              <a:gd name="connsiteY11" fmla="*/ 631217 h 1398054"/>
              <a:gd name="connsiteX12" fmla="*/ 374244 w 1532684"/>
              <a:gd name="connsiteY12" fmla="*/ 633264 h 1398054"/>
              <a:gd name="connsiteX13" fmla="*/ 372197 w 1532684"/>
              <a:gd name="connsiteY13" fmla="*/ 698934 h 1398054"/>
              <a:gd name="connsiteX14" fmla="*/ 225788 w 1532684"/>
              <a:gd name="connsiteY14" fmla="*/ 836228 h 1398054"/>
              <a:gd name="connsiteX15" fmla="*/ 193976 w 1532684"/>
              <a:gd name="connsiteY15" fmla="*/ 848878 h 1398054"/>
              <a:gd name="connsiteX16" fmla="*/ 833751 w 1532684"/>
              <a:gd name="connsiteY16" fmla="*/ 1398054 h 1398054"/>
              <a:gd name="connsiteX17" fmla="*/ 777940 w 1532684"/>
              <a:gd name="connsiteY17" fmla="*/ 1342244 h 1398054"/>
              <a:gd name="connsiteX18" fmla="*/ 833751 w 1532684"/>
              <a:gd name="connsiteY18" fmla="*/ 1286433 h 1398054"/>
              <a:gd name="connsiteX19" fmla="*/ 1421064 w 1532684"/>
              <a:gd name="connsiteY19" fmla="*/ 699120 h 1398054"/>
              <a:gd name="connsiteX20" fmla="*/ 833751 w 1532684"/>
              <a:gd name="connsiteY20" fmla="*/ 111621 h 1398054"/>
              <a:gd name="connsiteX21" fmla="*/ 246438 w 1532684"/>
              <a:gd name="connsiteY21" fmla="*/ 698934 h 1398054"/>
              <a:gd name="connsiteX22" fmla="*/ 190627 w 1532684"/>
              <a:gd name="connsiteY22" fmla="*/ 754745 h 1398054"/>
              <a:gd name="connsiteX23" fmla="*/ 134817 w 1532684"/>
              <a:gd name="connsiteY23" fmla="*/ 698934 h 1398054"/>
              <a:gd name="connsiteX24" fmla="*/ 189697 w 1532684"/>
              <a:gd name="connsiteY24" fmla="*/ 426765 h 1398054"/>
              <a:gd name="connsiteX25" fmla="*/ 339455 w 1532684"/>
              <a:gd name="connsiteY25" fmla="*/ 204639 h 1398054"/>
              <a:gd name="connsiteX26" fmla="*/ 561581 w 1532684"/>
              <a:gd name="connsiteY26" fmla="*/ 54880 h 1398054"/>
              <a:gd name="connsiteX27" fmla="*/ 833751 w 1532684"/>
              <a:gd name="connsiteY27" fmla="*/ 0 h 1398054"/>
              <a:gd name="connsiteX28" fmla="*/ 1105920 w 1532684"/>
              <a:gd name="connsiteY28" fmla="*/ 54880 h 1398054"/>
              <a:gd name="connsiteX29" fmla="*/ 1328046 w 1532684"/>
              <a:gd name="connsiteY29" fmla="*/ 204639 h 1398054"/>
              <a:gd name="connsiteX30" fmla="*/ 1477804 w 1532684"/>
              <a:gd name="connsiteY30" fmla="*/ 426765 h 1398054"/>
              <a:gd name="connsiteX31" fmla="*/ 1532685 w 1532684"/>
              <a:gd name="connsiteY31" fmla="*/ 698934 h 1398054"/>
              <a:gd name="connsiteX32" fmla="*/ 1477804 w 1532684"/>
              <a:gd name="connsiteY32" fmla="*/ 971104 h 1398054"/>
              <a:gd name="connsiteX33" fmla="*/ 1328046 w 1532684"/>
              <a:gd name="connsiteY33" fmla="*/ 1193230 h 1398054"/>
              <a:gd name="connsiteX34" fmla="*/ 1105920 w 1532684"/>
              <a:gd name="connsiteY34" fmla="*/ 1342988 h 1398054"/>
              <a:gd name="connsiteX35" fmla="*/ 833751 w 1532684"/>
              <a:gd name="connsiteY35" fmla="*/ 1398054 h 1398054"/>
              <a:gd name="connsiteX36" fmla="*/ 1065737 w 1532684"/>
              <a:gd name="connsiteY36" fmla="*/ 729258 h 1398054"/>
              <a:gd name="connsiteX37" fmla="*/ 622787 w 1532684"/>
              <a:gd name="connsiteY37" fmla="*/ 729258 h 1398054"/>
              <a:gd name="connsiteX38" fmla="*/ 566976 w 1532684"/>
              <a:gd name="connsiteY38" fmla="*/ 673447 h 1398054"/>
              <a:gd name="connsiteX39" fmla="*/ 622787 w 1532684"/>
              <a:gd name="connsiteY39" fmla="*/ 617637 h 1398054"/>
              <a:gd name="connsiteX40" fmla="*/ 1065737 w 1532684"/>
              <a:gd name="connsiteY40" fmla="*/ 617637 h 1398054"/>
              <a:gd name="connsiteX41" fmla="*/ 1121547 w 1532684"/>
              <a:gd name="connsiteY41" fmla="*/ 673447 h 1398054"/>
              <a:gd name="connsiteX42" fmla="*/ 1065737 w 1532684"/>
              <a:gd name="connsiteY42" fmla="*/ 729258 h 1398054"/>
              <a:gd name="connsiteX43" fmla="*/ 1063876 w 1532684"/>
              <a:gd name="connsiteY43" fmla="*/ 919014 h 1398054"/>
              <a:gd name="connsiteX44" fmla="*/ 620926 w 1532684"/>
              <a:gd name="connsiteY44" fmla="*/ 919014 h 1398054"/>
              <a:gd name="connsiteX45" fmla="*/ 565116 w 1532684"/>
              <a:gd name="connsiteY45" fmla="*/ 863203 h 1398054"/>
              <a:gd name="connsiteX46" fmla="*/ 620926 w 1532684"/>
              <a:gd name="connsiteY46" fmla="*/ 807393 h 1398054"/>
              <a:gd name="connsiteX47" fmla="*/ 1063876 w 1532684"/>
              <a:gd name="connsiteY47" fmla="*/ 807393 h 1398054"/>
              <a:gd name="connsiteX48" fmla="*/ 1119687 w 1532684"/>
              <a:gd name="connsiteY48" fmla="*/ 863203 h 1398054"/>
              <a:gd name="connsiteX49" fmla="*/ 1063876 w 1532684"/>
              <a:gd name="connsiteY49" fmla="*/ 919014 h 1398054"/>
              <a:gd name="connsiteX50" fmla="*/ 842308 w 1532684"/>
              <a:gd name="connsiteY50" fmla="*/ 1135745 h 1398054"/>
              <a:gd name="connsiteX51" fmla="*/ 786498 w 1532684"/>
              <a:gd name="connsiteY51" fmla="*/ 1079934 h 1398054"/>
              <a:gd name="connsiteX52" fmla="*/ 786498 w 1532684"/>
              <a:gd name="connsiteY52" fmla="*/ 673447 h 1398054"/>
              <a:gd name="connsiteX53" fmla="*/ 842308 w 1532684"/>
              <a:gd name="connsiteY53" fmla="*/ 617637 h 1398054"/>
              <a:gd name="connsiteX54" fmla="*/ 898119 w 1532684"/>
              <a:gd name="connsiteY54" fmla="*/ 673447 h 1398054"/>
              <a:gd name="connsiteX55" fmla="*/ 898119 w 1532684"/>
              <a:gd name="connsiteY55" fmla="*/ 1079934 h 1398054"/>
              <a:gd name="connsiteX56" fmla="*/ 842308 w 1532684"/>
              <a:gd name="connsiteY56" fmla="*/ 1135745 h 1398054"/>
              <a:gd name="connsiteX57" fmla="*/ 844355 w 1532684"/>
              <a:gd name="connsiteY57" fmla="*/ 684609 h 1398054"/>
              <a:gd name="connsiteX58" fmla="*/ 803985 w 1532684"/>
              <a:gd name="connsiteY58" fmla="*/ 667308 h 1398054"/>
              <a:gd name="connsiteX59" fmla="*/ 590231 w 1532684"/>
              <a:gd name="connsiteY59" fmla="*/ 443136 h 1398054"/>
              <a:gd name="connsiteX60" fmla="*/ 592091 w 1532684"/>
              <a:gd name="connsiteY60" fmla="*/ 364257 h 1398054"/>
              <a:gd name="connsiteX61" fmla="*/ 670970 w 1532684"/>
              <a:gd name="connsiteY61" fmla="*/ 366117 h 1398054"/>
              <a:gd name="connsiteX62" fmla="*/ 884724 w 1532684"/>
              <a:gd name="connsiteY62" fmla="*/ 590290 h 1398054"/>
              <a:gd name="connsiteX63" fmla="*/ 882864 w 1532684"/>
              <a:gd name="connsiteY63" fmla="*/ 669168 h 1398054"/>
              <a:gd name="connsiteX64" fmla="*/ 844355 w 1532684"/>
              <a:gd name="connsiteY64" fmla="*/ 684609 h 1398054"/>
              <a:gd name="connsiteX65" fmla="*/ 841378 w 1532684"/>
              <a:gd name="connsiteY65" fmla="*/ 682935 h 1398054"/>
              <a:gd name="connsiteX66" fmla="*/ 802125 w 1532684"/>
              <a:gd name="connsiteY66" fmla="*/ 666750 h 1398054"/>
              <a:gd name="connsiteX67" fmla="*/ 801753 w 1532684"/>
              <a:gd name="connsiteY67" fmla="*/ 587871 h 1398054"/>
              <a:gd name="connsiteX68" fmla="*/ 1025367 w 1532684"/>
              <a:gd name="connsiteY68" fmla="*/ 361838 h 1398054"/>
              <a:gd name="connsiteX69" fmla="*/ 1104246 w 1532684"/>
              <a:gd name="connsiteY69" fmla="*/ 361466 h 1398054"/>
              <a:gd name="connsiteX70" fmla="*/ 1104618 w 1532684"/>
              <a:gd name="connsiteY70" fmla="*/ 440345 h 1398054"/>
              <a:gd name="connsiteX71" fmla="*/ 881004 w 1532684"/>
              <a:gd name="connsiteY71" fmla="*/ 666378 h 1398054"/>
              <a:gd name="connsiteX72" fmla="*/ 841378 w 1532684"/>
              <a:gd name="connsiteY72" fmla="*/ 682935 h 1398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532684" h="1398054">
                <a:moveTo>
                  <a:pt x="178163" y="837716"/>
                </a:moveTo>
                <a:cubicBezTo>
                  <a:pt x="165884" y="837716"/>
                  <a:pt x="153792" y="832879"/>
                  <a:pt x="144490" y="823392"/>
                </a:cubicBezTo>
                <a:lnTo>
                  <a:pt x="12964" y="686098"/>
                </a:lnTo>
                <a:cubicBezTo>
                  <a:pt x="-4896" y="667494"/>
                  <a:pt x="-4152" y="638101"/>
                  <a:pt x="14266" y="620427"/>
                </a:cubicBezTo>
                <a:cubicBezTo>
                  <a:pt x="32869" y="602568"/>
                  <a:pt x="62263" y="603312"/>
                  <a:pt x="79936" y="621730"/>
                </a:cubicBezTo>
                <a:lnTo>
                  <a:pt x="211649" y="759209"/>
                </a:lnTo>
                <a:cubicBezTo>
                  <a:pt x="229508" y="777813"/>
                  <a:pt x="228764" y="807207"/>
                  <a:pt x="210347" y="824880"/>
                </a:cubicBezTo>
                <a:cubicBezTo>
                  <a:pt x="201417" y="833438"/>
                  <a:pt x="189697" y="837716"/>
                  <a:pt x="178163" y="837716"/>
                </a:cubicBezTo>
                <a:close/>
                <a:moveTo>
                  <a:pt x="193976" y="848878"/>
                </a:moveTo>
                <a:cubicBezTo>
                  <a:pt x="181511" y="848878"/>
                  <a:pt x="169233" y="844042"/>
                  <a:pt x="160117" y="834182"/>
                </a:cubicBezTo>
                <a:cubicBezTo>
                  <a:pt x="142630" y="815392"/>
                  <a:pt x="143560" y="785999"/>
                  <a:pt x="162164" y="768511"/>
                </a:cubicBezTo>
                <a:lnTo>
                  <a:pt x="308573" y="631217"/>
                </a:lnTo>
                <a:cubicBezTo>
                  <a:pt x="327363" y="613730"/>
                  <a:pt x="356757" y="614660"/>
                  <a:pt x="374244" y="633264"/>
                </a:cubicBezTo>
                <a:cubicBezTo>
                  <a:pt x="391731" y="652053"/>
                  <a:pt x="390801" y="681447"/>
                  <a:pt x="372197" y="698934"/>
                </a:cubicBezTo>
                <a:lnTo>
                  <a:pt x="225788" y="836228"/>
                </a:lnTo>
                <a:cubicBezTo>
                  <a:pt x="216858" y="844600"/>
                  <a:pt x="205510" y="848878"/>
                  <a:pt x="193976" y="848878"/>
                </a:cubicBezTo>
                <a:close/>
                <a:moveTo>
                  <a:pt x="833751" y="1398054"/>
                </a:moveTo>
                <a:cubicBezTo>
                  <a:pt x="802869" y="1398054"/>
                  <a:pt x="777940" y="1373126"/>
                  <a:pt x="777940" y="1342244"/>
                </a:cubicBezTo>
                <a:cubicBezTo>
                  <a:pt x="777940" y="1311362"/>
                  <a:pt x="802869" y="1286433"/>
                  <a:pt x="833751" y="1286433"/>
                </a:cubicBezTo>
                <a:cubicBezTo>
                  <a:pt x="1157638" y="1286433"/>
                  <a:pt x="1421064" y="1023007"/>
                  <a:pt x="1421064" y="699120"/>
                </a:cubicBezTo>
                <a:cubicBezTo>
                  <a:pt x="1421064" y="375233"/>
                  <a:pt x="1157638" y="111621"/>
                  <a:pt x="833751" y="111621"/>
                </a:cubicBezTo>
                <a:cubicBezTo>
                  <a:pt x="509863" y="111621"/>
                  <a:pt x="246438" y="375047"/>
                  <a:pt x="246438" y="698934"/>
                </a:cubicBezTo>
                <a:cubicBezTo>
                  <a:pt x="246438" y="729816"/>
                  <a:pt x="221509" y="754745"/>
                  <a:pt x="190627" y="754745"/>
                </a:cubicBezTo>
                <a:cubicBezTo>
                  <a:pt x="159745" y="754745"/>
                  <a:pt x="134817" y="729816"/>
                  <a:pt x="134817" y="698934"/>
                </a:cubicBezTo>
                <a:cubicBezTo>
                  <a:pt x="134817" y="604614"/>
                  <a:pt x="153234" y="513085"/>
                  <a:pt x="189697" y="426765"/>
                </a:cubicBezTo>
                <a:cubicBezTo>
                  <a:pt x="224858" y="343607"/>
                  <a:pt x="275273" y="268821"/>
                  <a:pt x="339455" y="204639"/>
                </a:cubicBezTo>
                <a:cubicBezTo>
                  <a:pt x="403637" y="140457"/>
                  <a:pt x="478423" y="90041"/>
                  <a:pt x="561581" y="54880"/>
                </a:cubicBezTo>
                <a:cubicBezTo>
                  <a:pt x="647716" y="18417"/>
                  <a:pt x="739431" y="0"/>
                  <a:pt x="833751" y="0"/>
                </a:cubicBezTo>
                <a:cubicBezTo>
                  <a:pt x="928071" y="0"/>
                  <a:pt x="1019600" y="18417"/>
                  <a:pt x="1105920" y="54880"/>
                </a:cubicBezTo>
                <a:cubicBezTo>
                  <a:pt x="1189078" y="90041"/>
                  <a:pt x="1263864" y="140457"/>
                  <a:pt x="1328046" y="204639"/>
                </a:cubicBezTo>
                <a:cubicBezTo>
                  <a:pt x="1392228" y="268821"/>
                  <a:pt x="1442644" y="343607"/>
                  <a:pt x="1477804" y="426765"/>
                </a:cubicBezTo>
                <a:cubicBezTo>
                  <a:pt x="1514267" y="512899"/>
                  <a:pt x="1532685" y="604614"/>
                  <a:pt x="1532685" y="698934"/>
                </a:cubicBezTo>
                <a:cubicBezTo>
                  <a:pt x="1532685" y="793254"/>
                  <a:pt x="1514267" y="884783"/>
                  <a:pt x="1477804" y="971104"/>
                </a:cubicBezTo>
                <a:cubicBezTo>
                  <a:pt x="1442644" y="1054261"/>
                  <a:pt x="1392228" y="1129047"/>
                  <a:pt x="1328046" y="1193230"/>
                </a:cubicBezTo>
                <a:cubicBezTo>
                  <a:pt x="1263864" y="1257412"/>
                  <a:pt x="1189078" y="1307827"/>
                  <a:pt x="1105920" y="1342988"/>
                </a:cubicBezTo>
                <a:cubicBezTo>
                  <a:pt x="1019786" y="1379637"/>
                  <a:pt x="928256" y="1398054"/>
                  <a:pt x="833751" y="1398054"/>
                </a:cubicBezTo>
                <a:close/>
                <a:moveTo>
                  <a:pt x="1065737" y="729258"/>
                </a:moveTo>
                <a:lnTo>
                  <a:pt x="622787" y="729258"/>
                </a:lnTo>
                <a:cubicBezTo>
                  <a:pt x="591905" y="729258"/>
                  <a:pt x="566976" y="704329"/>
                  <a:pt x="566976" y="673447"/>
                </a:cubicBezTo>
                <a:cubicBezTo>
                  <a:pt x="566976" y="642565"/>
                  <a:pt x="591905" y="617637"/>
                  <a:pt x="622787" y="617637"/>
                </a:cubicBezTo>
                <a:lnTo>
                  <a:pt x="1065737" y="617637"/>
                </a:lnTo>
                <a:cubicBezTo>
                  <a:pt x="1096618" y="617637"/>
                  <a:pt x="1121547" y="642565"/>
                  <a:pt x="1121547" y="673447"/>
                </a:cubicBezTo>
                <a:cubicBezTo>
                  <a:pt x="1121547" y="704329"/>
                  <a:pt x="1096432" y="729258"/>
                  <a:pt x="1065737" y="729258"/>
                </a:cubicBezTo>
                <a:close/>
                <a:moveTo>
                  <a:pt x="1063876" y="919014"/>
                </a:moveTo>
                <a:lnTo>
                  <a:pt x="620926" y="919014"/>
                </a:lnTo>
                <a:cubicBezTo>
                  <a:pt x="590045" y="919014"/>
                  <a:pt x="565116" y="894085"/>
                  <a:pt x="565116" y="863203"/>
                </a:cubicBezTo>
                <a:cubicBezTo>
                  <a:pt x="565116" y="832321"/>
                  <a:pt x="590045" y="807393"/>
                  <a:pt x="620926" y="807393"/>
                </a:cubicBezTo>
                <a:lnTo>
                  <a:pt x="1063876" y="807393"/>
                </a:lnTo>
                <a:cubicBezTo>
                  <a:pt x="1094758" y="807393"/>
                  <a:pt x="1119687" y="832321"/>
                  <a:pt x="1119687" y="863203"/>
                </a:cubicBezTo>
                <a:cubicBezTo>
                  <a:pt x="1119687" y="894085"/>
                  <a:pt x="1094758" y="919014"/>
                  <a:pt x="1063876" y="919014"/>
                </a:cubicBezTo>
                <a:close/>
                <a:moveTo>
                  <a:pt x="842308" y="1135745"/>
                </a:moveTo>
                <a:cubicBezTo>
                  <a:pt x="811426" y="1135745"/>
                  <a:pt x="786498" y="1110816"/>
                  <a:pt x="786498" y="1079934"/>
                </a:cubicBezTo>
                <a:lnTo>
                  <a:pt x="786498" y="673447"/>
                </a:lnTo>
                <a:cubicBezTo>
                  <a:pt x="786498" y="642565"/>
                  <a:pt x="811426" y="617637"/>
                  <a:pt x="842308" y="617637"/>
                </a:cubicBezTo>
                <a:cubicBezTo>
                  <a:pt x="873190" y="617637"/>
                  <a:pt x="898119" y="642565"/>
                  <a:pt x="898119" y="673447"/>
                </a:cubicBezTo>
                <a:lnTo>
                  <a:pt x="898119" y="1079934"/>
                </a:lnTo>
                <a:cubicBezTo>
                  <a:pt x="898119" y="1110630"/>
                  <a:pt x="873190" y="1135745"/>
                  <a:pt x="842308" y="1135745"/>
                </a:cubicBezTo>
                <a:close/>
                <a:moveTo>
                  <a:pt x="844355" y="684609"/>
                </a:moveTo>
                <a:cubicBezTo>
                  <a:pt x="829658" y="684609"/>
                  <a:pt x="814961" y="678842"/>
                  <a:pt x="803985" y="667308"/>
                </a:cubicBezTo>
                <a:lnTo>
                  <a:pt x="590231" y="443136"/>
                </a:lnTo>
                <a:cubicBezTo>
                  <a:pt x="569023" y="420812"/>
                  <a:pt x="569767" y="385465"/>
                  <a:pt x="592091" y="364257"/>
                </a:cubicBezTo>
                <a:cubicBezTo>
                  <a:pt x="614415" y="343049"/>
                  <a:pt x="649762" y="343793"/>
                  <a:pt x="670970" y="366117"/>
                </a:cubicBezTo>
                <a:lnTo>
                  <a:pt x="884724" y="590290"/>
                </a:lnTo>
                <a:cubicBezTo>
                  <a:pt x="905932" y="612614"/>
                  <a:pt x="905188" y="647960"/>
                  <a:pt x="882864" y="669168"/>
                </a:cubicBezTo>
                <a:cubicBezTo>
                  <a:pt x="872074" y="679586"/>
                  <a:pt x="858307" y="684609"/>
                  <a:pt x="844355" y="684609"/>
                </a:cubicBezTo>
                <a:close/>
                <a:moveTo>
                  <a:pt x="841378" y="682935"/>
                </a:moveTo>
                <a:cubicBezTo>
                  <a:pt x="827239" y="682935"/>
                  <a:pt x="812915" y="677540"/>
                  <a:pt x="802125" y="666750"/>
                </a:cubicBezTo>
                <a:cubicBezTo>
                  <a:pt x="780173" y="644984"/>
                  <a:pt x="779986" y="609823"/>
                  <a:pt x="801753" y="587871"/>
                </a:cubicBezTo>
                <a:lnTo>
                  <a:pt x="1025367" y="361838"/>
                </a:lnTo>
                <a:cubicBezTo>
                  <a:pt x="1047133" y="339886"/>
                  <a:pt x="1082480" y="339700"/>
                  <a:pt x="1104246" y="361466"/>
                </a:cubicBezTo>
                <a:cubicBezTo>
                  <a:pt x="1126198" y="383232"/>
                  <a:pt x="1126384" y="418393"/>
                  <a:pt x="1104618" y="440345"/>
                </a:cubicBezTo>
                <a:lnTo>
                  <a:pt x="881004" y="666378"/>
                </a:lnTo>
                <a:cubicBezTo>
                  <a:pt x="870214" y="677540"/>
                  <a:pt x="855889" y="682935"/>
                  <a:pt x="841378" y="68293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图形 24"/>
          <p:cNvSpPr/>
          <p:nvPr/>
        </p:nvSpPr>
        <p:spPr>
          <a:xfrm>
            <a:off x="11131845" y="1092486"/>
            <a:ext cx="669903" cy="608473"/>
          </a:xfrm>
          <a:custGeom>
            <a:avLst/>
            <a:gdLst>
              <a:gd name="connsiteX0" fmla="*/ 1429490 w 1747726"/>
              <a:gd name="connsiteY0" fmla="*/ 1428750 h 1587460"/>
              <a:gd name="connsiteX1" fmla="*/ 1112010 w 1747726"/>
              <a:gd name="connsiteY1" fmla="*/ 1428750 h 1587460"/>
              <a:gd name="connsiteX2" fmla="*/ 1112010 w 1747726"/>
              <a:gd name="connsiteY2" fmla="*/ 1111270 h 1587460"/>
              <a:gd name="connsiteX3" fmla="*/ 1032655 w 1747726"/>
              <a:gd name="connsiteY3" fmla="*/ 1031915 h 1587460"/>
              <a:gd name="connsiteX4" fmla="*/ 715175 w 1747726"/>
              <a:gd name="connsiteY4" fmla="*/ 1031915 h 1587460"/>
              <a:gd name="connsiteX5" fmla="*/ 635819 w 1747726"/>
              <a:gd name="connsiteY5" fmla="*/ 1111270 h 1587460"/>
              <a:gd name="connsiteX6" fmla="*/ 635819 w 1747726"/>
              <a:gd name="connsiteY6" fmla="*/ 1428750 h 1587460"/>
              <a:gd name="connsiteX7" fmla="*/ 318339 w 1747726"/>
              <a:gd name="connsiteY7" fmla="*/ 1428750 h 1587460"/>
              <a:gd name="connsiteX8" fmla="*/ 318339 w 1747726"/>
              <a:gd name="connsiteY8" fmla="*/ 1031855 h 1587460"/>
              <a:gd name="connsiteX9" fmla="*/ 159569 w 1747726"/>
              <a:gd name="connsiteY9" fmla="*/ 1031855 h 1587460"/>
              <a:gd name="connsiteX10" fmla="*/ 159569 w 1747726"/>
              <a:gd name="connsiteY10" fmla="*/ 1508105 h 1587460"/>
              <a:gd name="connsiteX11" fmla="*/ 238925 w 1747726"/>
              <a:gd name="connsiteY11" fmla="*/ 1587460 h 1587460"/>
              <a:gd name="connsiteX12" fmla="*/ 1508905 w 1747726"/>
              <a:gd name="connsiteY12" fmla="*/ 1587460 h 1587460"/>
              <a:gd name="connsiteX13" fmla="*/ 1588260 w 1747726"/>
              <a:gd name="connsiteY13" fmla="*/ 1508105 h 1587460"/>
              <a:gd name="connsiteX14" fmla="*/ 1588260 w 1747726"/>
              <a:gd name="connsiteY14" fmla="*/ 1031855 h 1587460"/>
              <a:gd name="connsiteX15" fmla="*/ 1429490 w 1747726"/>
              <a:gd name="connsiteY15" fmla="*/ 1031855 h 1587460"/>
              <a:gd name="connsiteX16" fmla="*/ 1429490 w 1747726"/>
              <a:gd name="connsiteY16" fmla="*/ 1428750 h 1587460"/>
              <a:gd name="connsiteX17" fmla="*/ 794530 w 1747726"/>
              <a:gd name="connsiteY17" fmla="*/ 1428750 h 1587460"/>
              <a:gd name="connsiteX18" fmla="*/ 794530 w 1747726"/>
              <a:gd name="connsiteY18" fmla="*/ 1190625 h 1587460"/>
              <a:gd name="connsiteX19" fmla="*/ 953300 w 1747726"/>
              <a:gd name="connsiteY19" fmla="*/ 1190625 h 1587460"/>
              <a:gd name="connsiteX20" fmla="*/ 953300 w 1747726"/>
              <a:gd name="connsiteY20" fmla="*/ 1428750 h 1587460"/>
              <a:gd name="connsiteX21" fmla="*/ 794530 w 1747726"/>
              <a:gd name="connsiteY21" fmla="*/ 1428750 h 1587460"/>
              <a:gd name="connsiteX22" fmla="*/ 1739053 w 1747726"/>
              <a:gd name="connsiteY22" fmla="*/ 769918 h 1587460"/>
              <a:gd name="connsiteX23" fmla="*/ 1580283 w 1747726"/>
              <a:gd name="connsiteY23" fmla="*/ 293668 h 1587460"/>
              <a:gd name="connsiteX24" fmla="*/ 1508845 w 1747726"/>
              <a:gd name="connsiteY24" fmla="*/ 238125 h 1587460"/>
              <a:gd name="connsiteX25" fmla="*/ 238865 w 1747726"/>
              <a:gd name="connsiteY25" fmla="*/ 238125 h 1587460"/>
              <a:gd name="connsiteX26" fmla="*/ 167427 w 1747726"/>
              <a:gd name="connsiteY26" fmla="*/ 293668 h 1587460"/>
              <a:gd name="connsiteX27" fmla="*/ 8658 w 1747726"/>
              <a:gd name="connsiteY27" fmla="*/ 769918 h 1587460"/>
              <a:gd name="connsiteX28" fmla="*/ 16575 w 1747726"/>
              <a:gd name="connsiteY28" fmla="*/ 841355 h 1587460"/>
              <a:gd name="connsiteX29" fmla="*/ 80095 w 1747726"/>
              <a:gd name="connsiteY29" fmla="*/ 873085 h 1587460"/>
              <a:gd name="connsiteX30" fmla="*/ 1667615 w 1747726"/>
              <a:gd name="connsiteY30" fmla="*/ 873085 h 1587460"/>
              <a:gd name="connsiteX31" fmla="*/ 1731135 w 1747726"/>
              <a:gd name="connsiteY31" fmla="*/ 841355 h 1587460"/>
              <a:gd name="connsiteX32" fmla="*/ 1739053 w 1747726"/>
              <a:gd name="connsiteY32" fmla="*/ 769918 h 1587460"/>
              <a:gd name="connsiteX33" fmla="*/ 953240 w 1747726"/>
              <a:gd name="connsiteY33" fmla="*/ 396835 h 1587460"/>
              <a:gd name="connsiteX34" fmla="*/ 1127845 w 1747726"/>
              <a:gd name="connsiteY34" fmla="*/ 396835 h 1587460"/>
              <a:gd name="connsiteX35" fmla="*/ 1183388 w 1747726"/>
              <a:gd name="connsiteY35" fmla="*/ 714316 h 1587460"/>
              <a:gd name="connsiteX36" fmla="*/ 953181 w 1747726"/>
              <a:gd name="connsiteY36" fmla="*/ 714316 h 1587460"/>
              <a:gd name="connsiteX37" fmla="*/ 953181 w 1747726"/>
              <a:gd name="connsiteY37" fmla="*/ 396835 h 1587460"/>
              <a:gd name="connsiteX38" fmla="*/ 794530 w 1747726"/>
              <a:gd name="connsiteY38" fmla="*/ 714375 h 1587460"/>
              <a:gd name="connsiteX39" fmla="*/ 572300 w 1747726"/>
              <a:gd name="connsiteY39" fmla="*/ 714375 h 1587460"/>
              <a:gd name="connsiteX40" fmla="*/ 627842 w 1747726"/>
              <a:gd name="connsiteY40" fmla="*/ 396895 h 1587460"/>
              <a:gd name="connsiteX41" fmla="*/ 794530 w 1747726"/>
              <a:gd name="connsiteY41" fmla="*/ 396895 h 1587460"/>
              <a:gd name="connsiteX42" fmla="*/ 794530 w 1747726"/>
              <a:gd name="connsiteY42" fmla="*/ 714375 h 1587460"/>
              <a:gd name="connsiteX43" fmla="*/ 294467 w 1747726"/>
              <a:gd name="connsiteY43" fmla="*/ 396835 h 1587460"/>
              <a:gd name="connsiteX44" fmla="*/ 461155 w 1747726"/>
              <a:gd name="connsiteY44" fmla="*/ 396835 h 1587460"/>
              <a:gd name="connsiteX45" fmla="*/ 405612 w 1747726"/>
              <a:gd name="connsiteY45" fmla="*/ 714316 h 1587460"/>
              <a:gd name="connsiteX46" fmla="*/ 191300 w 1747726"/>
              <a:gd name="connsiteY46" fmla="*/ 714316 h 1587460"/>
              <a:gd name="connsiteX47" fmla="*/ 294467 w 1747726"/>
              <a:gd name="connsiteY47" fmla="*/ 396835 h 1587460"/>
              <a:gd name="connsiteX48" fmla="*/ 1334240 w 1747726"/>
              <a:gd name="connsiteY48" fmla="*/ 714375 h 1587460"/>
              <a:gd name="connsiteX49" fmla="*/ 1278697 w 1747726"/>
              <a:gd name="connsiteY49" fmla="*/ 396895 h 1587460"/>
              <a:gd name="connsiteX50" fmla="*/ 1445385 w 1747726"/>
              <a:gd name="connsiteY50" fmla="*/ 396895 h 1587460"/>
              <a:gd name="connsiteX51" fmla="*/ 1548553 w 1747726"/>
              <a:gd name="connsiteY51" fmla="*/ 714375 h 1587460"/>
              <a:gd name="connsiteX52" fmla="*/ 1334240 w 1747726"/>
              <a:gd name="connsiteY52" fmla="*/ 714375 h 1587460"/>
              <a:gd name="connsiteX53" fmla="*/ 318280 w 1747726"/>
              <a:gd name="connsiteY53" fmla="*/ 0 h 1587460"/>
              <a:gd name="connsiteX54" fmla="*/ 1429550 w 1747726"/>
              <a:gd name="connsiteY54" fmla="*/ 0 h 1587460"/>
              <a:gd name="connsiteX55" fmla="*/ 1429550 w 1747726"/>
              <a:gd name="connsiteY55" fmla="*/ 158770 h 1587460"/>
              <a:gd name="connsiteX56" fmla="*/ 318280 w 1747726"/>
              <a:gd name="connsiteY56" fmla="*/ 158770 h 1587460"/>
              <a:gd name="connsiteX57" fmla="*/ 318280 w 1747726"/>
              <a:gd name="connsiteY57" fmla="*/ 0 h 158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747726" h="1587460">
                <a:moveTo>
                  <a:pt x="1429490" y="1428750"/>
                </a:moveTo>
                <a:lnTo>
                  <a:pt x="1112010" y="1428750"/>
                </a:lnTo>
                <a:lnTo>
                  <a:pt x="1112010" y="1111270"/>
                </a:lnTo>
                <a:cubicBezTo>
                  <a:pt x="1112010" y="1063645"/>
                  <a:pt x="1080280" y="1031915"/>
                  <a:pt x="1032655" y="1031915"/>
                </a:cubicBezTo>
                <a:lnTo>
                  <a:pt x="715175" y="1031915"/>
                </a:lnTo>
                <a:cubicBezTo>
                  <a:pt x="667550" y="1031915"/>
                  <a:pt x="635819" y="1063645"/>
                  <a:pt x="635819" y="1111270"/>
                </a:cubicBezTo>
                <a:lnTo>
                  <a:pt x="635819" y="1428750"/>
                </a:lnTo>
                <a:lnTo>
                  <a:pt x="318339" y="1428750"/>
                </a:lnTo>
                <a:lnTo>
                  <a:pt x="318339" y="1031855"/>
                </a:lnTo>
                <a:lnTo>
                  <a:pt x="159569" y="1031855"/>
                </a:lnTo>
                <a:lnTo>
                  <a:pt x="159569" y="1508105"/>
                </a:lnTo>
                <a:cubicBezTo>
                  <a:pt x="159569" y="1555730"/>
                  <a:pt x="191300" y="1587460"/>
                  <a:pt x="238925" y="1587460"/>
                </a:cubicBezTo>
                <a:lnTo>
                  <a:pt x="1508905" y="1587460"/>
                </a:lnTo>
                <a:cubicBezTo>
                  <a:pt x="1556530" y="1587460"/>
                  <a:pt x="1588260" y="1555730"/>
                  <a:pt x="1588260" y="1508105"/>
                </a:cubicBezTo>
                <a:lnTo>
                  <a:pt x="1588260" y="1031855"/>
                </a:lnTo>
                <a:lnTo>
                  <a:pt x="1429490" y="1031855"/>
                </a:lnTo>
                <a:lnTo>
                  <a:pt x="1429490" y="1428750"/>
                </a:lnTo>
                <a:close/>
                <a:moveTo>
                  <a:pt x="794530" y="1428750"/>
                </a:moveTo>
                <a:lnTo>
                  <a:pt x="794530" y="1190625"/>
                </a:lnTo>
                <a:lnTo>
                  <a:pt x="953300" y="1190625"/>
                </a:lnTo>
                <a:lnTo>
                  <a:pt x="953300" y="1428750"/>
                </a:lnTo>
                <a:lnTo>
                  <a:pt x="794530" y="1428750"/>
                </a:lnTo>
                <a:close/>
                <a:moveTo>
                  <a:pt x="1739053" y="769918"/>
                </a:moveTo>
                <a:lnTo>
                  <a:pt x="1580283" y="293668"/>
                </a:lnTo>
                <a:cubicBezTo>
                  <a:pt x="1572365" y="261937"/>
                  <a:pt x="1540575" y="238125"/>
                  <a:pt x="1508845" y="238125"/>
                </a:cubicBezTo>
                <a:lnTo>
                  <a:pt x="238865" y="238125"/>
                </a:lnTo>
                <a:cubicBezTo>
                  <a:pt x="207135" y="238125"/>
                  <a:pt x="175345" y="261937"/>
                  <a:pt x="167427" y="293668"/>
                </a:cubicBezTo>
                <a:lnTo>
                  <a:pt x="8658" y="769918"/>
                </a:lnTo>
                <a:cubicBezTo>
                  <a:pt x="-7237" y="793730"/>
                  <a:pt x="740" y="817543"/>
                  <a:pt x="16575" y="841355"/>
                </a:cubicBezTo>
                <a:cubicBezTo>
                  <a:pt x="32411" y="865168"/>
                  <a:pt x="56283" y="873085"/>
                  <a:pt x="80095" y="873085"/>
                </a:cubicBezTo>
                <a:lnTo>
                  <a:pt x="1667615" y="873085"/>
                </a:lnTo>
                <a:cubicBezTo>
                  <a:pt x="1691428" y="873085"/>
                  <a:pt x="1715240" y="857190"/>
                  <a:pt x="1731135" y="841355"/>
                </a:cubicBezTo>
                <a:cubicBezTo>
                  <a:pt x="1747030" y="817543"/>
                  <a:pt x="1754947" y="793730"/>
                  <a:pt x="1739053" y="769918"/>
                </a:cubicBezTo>
                <a:close/>
                <a:moveTo>
                  <a:pt x="953240" y="396835"/>
                </a:moveTo>
                <a:lnTo>
                  <a:pt x="1127845" y="396835"/>
                </a:lnTo>
                <a:lnTo>
                  <a:pt x="1183388" y="714316"/>
                </a:lnTo>
                <a:lnTo>
                  <a:pt x="953181" y="714316"/>
                </a:lnTo>
                <a:lnTo>
                  <a:pt x="953181" y="396835"/>
                </a:lnTo>
                <a:close/>
                <a:moveTo>
                  <a:pt x="794530" y="714375"/>
                </a:moveTo>
                <a:lnTo>
                  <a:pt x="572300" y="714375"/>
                </a:lnTo>
                <a:lnTo>
                  <a:pt x="627842" y="396895"/>
                </a:lnTo>
                <a:lnTo>
                  <a:pt x="794530" y="396895"/>
                </a:lnTo>
                <a:lnTo>
                  <a:pt x="794530" y="714375"/>
                </a:lnTo>
                <a:close/>
                <a:moveTo>
                  <a:pt x="294467" y="396835"/>
                </a:moveTo>
                <a:lnTo>
                  <a:pt x="461155" y="396835"/>
                </a:lnTo>
                <a:lnTo>
                  <a:pt x="405612" y="714316"/>
                </a:lnTo>
                <a:lnTo>
                  <a:pt x="191300" y="714316"/>
                </a:lnTo>
                <a:lnTo>
                  <a:pt x="294467" y="396835"/>
                </a:lnTo>
                <a:close/>
                <a:moveTo>
                  <a:pt x="1334240" y="714375"/>
                </a:moveTo>
                <a:lnTo>
                  <a:pt x="1278697" y="396895"/>
                </a:lnTo>
                <a:lnTo>
                  <a:pt x="1445385" y="396895"/>
                </a:lnTo>
                <a:lnTo>
                  <a:pt x="1548553" y="714375"/>
                </a:lnTo>
                <a:lnTo>
                  <a:pt x="1334240" y="714375"/>
                </a:lnTo>
                <a:close/>
                <a:moveTo>
                  <a:pt x="318280" y="0"/>
                </a:moveTo>
                <a:lnTo>
                  <a:pt x="1429550" y="0"/>
                </a:lnTo>
                <a:lnTo>
                  <a:pt x="1429550" y="158770"/>
                </a:lnTo>
                <a:lnTo>
                  <a:pt x="318280" y="158770"/>
                </a:lnTo>
                <a:lnTo>
                  <a:pt x="318280" y="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508351" y="5766105"/>
            <a:ext cx="341133" cy="379434"/>
            <a:chOff x="5243191" y="2476500"/>
            <a:chExt cx="1705615" cy="1897112"/>
          </a:xfrm>
          <a:solidFill>
            <a:schemeClr val="accent2"/>
          </a:solidFill>
        </p:grpSpPr>
        <p:sp>
          <p:nvSpPr>
            <p:cNvPr id="55" name="任意多边形: 形状 54"/>
            <p:cNvSpPr/>
            <p:nvPr/>
          </p:nvSpPr>
          <p:spPr>
            <a:xfrm>
              <a:off x="5243191" y="2476500"/>
              <a:ext cx="1705615" cy="1897112"/>
            </a:xfrm>
            <a:custGeom>
              <a:avLst/>
              <a:gdLst>
                <a:gd name="connsiteX0" fmla="*/ 1484519 w 1705615"/>
                <a:gd name="connsiteY0" fmla="*/ 657374 h 1897112"/>
                <a:gd name="connsiteX1" fmla="*/ 1350279 w 1705615"/>
                <a:gd name="connsiteY1" fmla="*/ 531032 h 1897112"/>
                <a:gd name="connsiteX2" fmla="*/ 1484519 w 1705615"/>
                <a:gd name="connsiteY2" fmla="*/ 325725 h 1897112"/>
                <a:gd name="connsiteX3" fmla="*/ 1208145 w 1705615"/>
                <a:gd name="connsiteY3" fmla="*/ 88834 h 1897112"/>
                <a:gd name="connsiteX4" fmla="*/ 1113388 w 1705615"/>
                <a:gd name="connsiteY4" fmla="*/ 104627 h 1897112"/>
                <a:gd name="connsiteX5" fmla="*/ 1089700 w 1705615"/>
                <a:gd name="connsiteY5" fmla="*/ 112523 h 1897112"/>
                <a:gd name="connsiteX6" fmla="*/ 1042320 w 1705615"/>
                <a:gd name="connsiteY6" fmla="*/ 65145 h 1897112"/>
                <a:gd name="connsiteX7" fmla="*/ 702776 w 1705615"/>
                <a:gd name="connsiteY7" fmla="*/ 65145 h 1897112"/>
                <a:gd name="connsiteX8" fmla="*/ 655399 w 1705615"/>
                <a:gd name="connsiteY8" fmla="*/ 128316 h 1897112"/>
                <a:gd name="connsiteX9" fmla="*/ 631709 w 1705615"/>
                <a:gd name="connsiteY9" fmla="*/ 120420 h 1897112"/>
                <a:gd name="connsiteX10" fmla="*/ 536954 w 1705615"/>
                <a:gd name="connsiteY10" fmla="*/ 96731 h 1897112"/>
                <a:gd name="connsiteX11" fmla="*/ 260580 w 1705615"/>
                <a:gd name="connsiteY11" fmla="*/ 333622 h 1897112"/>
                <a:gd name="connsiteX12" fmla="*/ 363233 w 1705615"/>
                <a:gd name="connsiteY12" fmla="*/ 515239 h 1897112"/>
                <a:gd name="connsiteX13" fmla="*/ 221098 w 1705615"/>
                <a:gd name="connsiteY13" fmla="*/ 641579 h 1897112"/>
                <a:gd name="connsiteX14" fmla="*/ 0 w 1705615"/>
                <a:gd name="connsiteY14" fmla="*/ 1139052 h 1897112"/>
                <a:gd name="connsiteX15" fmla="*/ 844911 w 1705615"/>
                <a:gd name="connsiteY15" fmla="*/ 1897112 h 1897112"/>
                <a:gd name="connsiteX16" fmla="*/ 1373969 w 1705615"/>
                <a:gd name="connsiteY16" fmla="*/ 1770761 h 1897112"/>
                <a:gd name="connsiteX17" fmla="*/ 1705616 w 1705615"/>
                <a:gd name="connsiteY17" fmla="*/ 1139052 h 1897112"/>
                <a:gd name="connsiteX18" fmla="*/ 1484519 w 1705615"/>
                <a:gd name="connsiteY18" fmla="*/ 657374 h 1897112"/>
                <a:gd name="connsiteX19" fmla="*/ 465887 w 1705615"/>
                <a:gd name="connsiteY19" fmla="*/ 641579 h 1897112"/>
                <a:gd name="connsiteX20" fmla="*/ 505367 w 1705615"/>
                <a:gd name="connsiteY20" fmla="*/ 609994 h 1897112"/>
                <a:gd name="connsiteX21" fmla="*/ 521160 w 1705615"/>
                <a:gd name="connsiteY21" fmla="*/ 602099 h 1897112"/>
                <a:gd name="connsiteX22" fmla="*/ 576434 w 1705615"/>
                <a:gd name="connsiteY22" fmla="*/ 507342 h 1897112"/>
                <a:gd name="connsiteX23" fmla="*/ 529057 w 1705615"/>
                <a:gd name="connsiteY23" fmla="*/ 428378 h 1897112"/>
                <a:gd name="connsiteX24" fmla="*/ 497472 w 1705615"/>
                <a:gd name="connsiteY24" fmla="*/ 404690 h 1897112"/>
                <a:gd name="connsiteX25" fmla="*/ 426405 w 1705615"/>
                <a:gd name="connsiteY25" fmla="*/ 333622 h 1897112"/>
                <a:gd name="connsiteX26" fmla="*/ 544849 w 1705615"/>
                <a:gd name="connsiteY26" fmla="*/ 254658 h 1897112"/>
                <a:gd name="connsiteX27" fmla="*/ 584332 w 1705615"/>
                <a:gd name="connsiteY27" fmla="*/ 262555 h 1897112"/>
                <a:gd name="connsiteX28" fmla="*/ 592229 w 1705615"/>
                <a:gd name="connsiteY28" fmla="*/ 270450 h 1897112"/>
                <a:gd name="connsiteX29" fmla="*/ 600124 w 1705615"/>
                <a:gd name="connsiteY29" fmla="*/ 278348 h 1897112"/>
                <a:gd name="connsiteX30" fmla="*/ 781741 w 1705615"/>
                <a:gd name="connsiteY30" fmla="*/ 238865 h 1897112"/>
                <a:gd name="connsiteX31" fmla="*/ 789638 w 1705615"/>
                <a:gd name="connsiteY31" fmla="*/ 230968 h 1897112"/>
                <a:gd name="connsiteX32" fmla="*/ 813326 w 1705615"/>
                <a:gd name="connsiteY32" fmla="*/ 199383 h 1897112"/>
                <a:gd name="connsiteX33" fmla="*/ 939668 w 1705615"/>
                <a:gd name="connsiteY33" fmla="*/ 199383 h 1897112"/>
                <a:gd name="connsiteX34" fmla="*/ 963358 w 1705615"/>
                <a:gd name="connsiteY34" fmla="*/ 230968 h 1897112"/>
                <a:gd name="connsiteX35" fmla="*/ 971253 w 1705615"/>
                <a:gd name="connsiteY35" fmla="*/ 238865 h 1897112"/>
                <a:gd name="connsiteX36" fmla="*/ 1152870 w 1705615"/>
                <a:gd name="connsiteY36" fmla="*/ 270450 h 1897112"/>
                <a:gd name="connsiteX37" fmla="*/ 1160767 w 1705615"/>
                <a:gd name="connsiteY37" fmla="*/ 262555 h 1897112"/>
                <a:gd name="connsiteX38" fmla="*/ 1168662 w 1705615"/>
                <a:gd name="connsiteY38" fmla="*/ 254658 h 1897112"/>
                <a:gd name="connsiteX39" fmla="*/ 1208145 w 1705615"/>
                <a:gd name="connsiteY39" fmla="*/ 246761 h 1897112"/>
                <a:gd name="connsiteX40" fmla="*/ 1326591 w 1705615"/>
                <a:gd name="connsiteY40" fmla="*/ 325725 h 1897112"/>
                <a:gd name="connsiteX41" fmla="*/ 1255524 w 1705615"/>
                <a:gd name="connsiteY41" fmla="*/ 396792 h 1897112"/>
                <a:gd name="connsiteX42" fmla="*/ 1247627 w 1705615"/>
                <a:gd name="connsiteY42" fmla="*/ 396792 h 1897112"/>
                <a:gd name="connsiteX43" fmla="*/ 1223937 w 1705615"/>
                <a:gd name="connsiteY43" fmla="*/ 404690 h 1897112"/>
                <a:gd name="connsiteX44" fmla="*/ 1137077 w 1705615"/>
                <a:gd name="connsiteY44" fmla="*/ 491549 h 1897112"/>
                <a:gd name="connsiteX45" fmla="*/ 1184455 w 1705615"/>
                <a:gd name="connsiteY45" fmla="*/ 594202 h 1897112"/>
                <a:gd name="connsiteX46" fmla="*/ 1200249 w 1705615"/>
                <a:gd name="connsiteY46" fmla="*/ 602099 h 1897112"/>
                <a:gd name="connsiteX47" fmla="*/ 1239730 w 1705615"/>
                <a:gd name="connsiteY47" fmla="*/ 633684 h 1897112"/>
                <a:gd name="connsiteX48" fmla="*/ 1366072 w 1705615"/>
                <a:gd name="connsiteY48" fmla="*/ 752129 h 1897112"/>
                <a:gd name="connsiteX49" fmla="*/ 1547689 w 1705615"/>
                <a:gd name="connsiteY49" fmla="*/ 1131155 h 1897112"/>
                <a:gd name="connsiteX50" fmla="*/ 844911 w 1705615"/>
                <a:gd name="connsiteY50" fmla="*/ 1731280 h 1897112"/>
                <a:gd name="connsiteX51" fmla="*/ 157928 w 1705615"/>
                <a:gd name="connsiteY51" fmla="*/ 1131155 h 1897112"/>
                <a:gd name="connsiteX52" fmla="*/ 339545 w 1705615"/>
                <a:gd name="connsiteY52" fmla="*/ 736336 h 1897112"/>
                <a:gd name="connsiteX53" fmla="*/ 465887 w 1705615"/>
                <a:gd name="connsiteY53" fmla="*/ 641579 h 189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05615" h="1897112">
                  <a:moveTo>
                    <a:pt x="1484519" y="657374"/>
                  </a:moveTo>
                  <a:cubicBezTo>
                    <a:pt x="1445036" y="617892"/>
                    <a:pt x="1397659" y="570512"/>
                    <a:pt x="1350279" y="531032"/>
                  </a:cubicBezTo>
                  <a:cubicBezTo>
                    <a:pt x="1429244" y="491549"/>
                    <a:pt x="1484519" y="412585"/>
                    <a:pt x="1484519" y="325725"/>
                  </a:cubicBezTo>
                  <a:cubicBezTo>
                    <a:pt x="1484519" y="199383"/>
                    <a:pt x="1358176" y="88834"/>
                    <a:pt x="1208145" y="88834"/>
                  </a:cubicBezTo>
                  <a:cubicBezTo>
                    <a:pt x="1176560" y="88834"/>
                    <a:pt x="1144975" y="96731"/>
                    <a:pt x="1113388" y="104627"/>
                  </a:cubicBezTo>
                  <a:cubicBezTo>
                    <a:pt x="1105492" y="104627"/>
                    <a:pt x="1097595" y="112523"/>
                    <a:pt x="1089700" y="112523"/>
                  </a:cubicBezTo>
                  <a:lnTo>
                    <a:pt x="1042320" y="65145"/>
                  </a:lnTo>
                  <a:cubicBezTo>
                    <a:pt x="939668" y="-21715"/>
                    <a:pt x="805431" y="-21715"/>
                    <a:pt x="702776" y="65145"/>
                  </a:cubicBezTo>
                  <a:cubicBezTo>
                    <a:pt x="686984" y="88834"/>
                    <a:pt x="671191" y="112523"/>
                    <a:pt x="655399" y="128316"/>
                  </a:cubicBezTo>
                  <a:cubicBezTo>
                    <a:pt x="647502" y="128316"/>
                    <a:pt x="639606" y="120420"/>
                    <a:pt x="631709" y="120420"/>
                  </a:cubicBezTo>
                  <a:cubicBezTo>
                    <a:pt x="600124" y="104627"/>
                    <a:pt x="568539" y="96731"/>
                    <a:pt x="536954" y="96731"/>
                  </a:cubicBezTo>
                  <a:cubicBezTo>
                    <a:pt x="386922" y="96731"/>
                    <a:pt x="260580" y="199383"/>
                    <a:pt x="260580" y="333622"/>
                  </a:cubicBezTo>
                  <a:cubicBezTo>
                    <a:pt x="268477" y="404690"/>
                    <a:pt x="300062" y="475757"/>
                    <a:pt x="363233" y="515239"/>
                  </a:cubicBezTo>
                  <a:cubicBezTo>
                    <a:pt x="315855" y="554720"/>
                    <a:pt x="268477" y="602099"/>
                    <a:pt x="221098" y="641579"/>
                  </a:cubicBezTo>
                  <a:cubicBezTo>
                    <a:pt x="71067" y="799508"/>
                    <a:pt x="0" y="965331"/>
                    <a:pt x="0" y="1139052"/>
                  </a:cubicBezTo>
                  <a:cubicBezTo>
                    <a:pt x="0" y="1597041"/>
                    <a:pt x="331647" y="1897112"/>
                    <a:pt x="844911" y="1897112"/>
                  </a:cubicBezTo>
                  <a:cubicBezTo>
                    <a:pt x="1050218" y="1897112"/>
                    <a:pt x="1231834" y="1849725"/>
                    <a:pt x="1373969" y="1770761"/>
                  </a:cubicBezTo>
                  <a:cubicBezTo>
                    <a:pt x="1595068" y="1644421"/>
                    <a:pt x="1705616" y="1431217"/>
                    <a:pt x="1705616" y="1139052"/>
                  </a:cubicBezTo>
                  <a:cubicBezTo>
                    <a:pt x="1705616" y="981125"/>
                    <a:pt x="1626653" y="815301"/>
                    <a:pt x="1484519" y="657374"/>
                  </a:cubicBezTo>
                  <a:close/>
                  <a:moveTo>
                    <a:pt x="465887" y="641579"/>
                  </a:moveTo>
                  <a:cubicBezTo>
                    <a:pt x="481679" y="633684"/>
                    <a:pt x="497472" y="617892"/>
                    <a:pt x="505367" y="609994"/>
                  </a:cubicBezTo>
                  <a:lnTo>
                    <a:pt x="521160" y="602099"/>
                  </a:lnTo>
                  <a:cubicBezTo>
                    <a:pt x="560642" y="578409"/>
                    <a:pt x="576434" y="538927"/>
                    <a:pt x="576434" y="507342"/>
                  </a:cubicBezTo>
                  <a:cubicBezTo>
                    <a:pt x="576434" y="475757"/>
                    <a:pt x="560642" y="444170"/>
                    <a:pt x="529057" y="428378"/>
                  </a:cubicBezTo>
                  <a:lnTo>
                    <a:pt x="497472" y="404690"/>
                  </a:lnTo>
                  <a:cubicBezTo>
                    <a:pt x="450092" y="396792"/>
                    <a:pt x="426405" y="365207"/>
                    <a:pt x="426405" y="333622"/>
                  </a:cubicBezTo>
                  <a:cubicBezTo>
                    <a:pt x="426405" y="294140"/>
                    <a:pt x="473782" y="254658"/>
                    <a:pt x="544849" y="254658"/>
                  </a:cubicBezTo>
                  <a:cubicBezTo>
                    <a:pt x="560642" y="254658"/>
                    <a:pt x="568539" y="254658"/>
                    <a:pt x="584332" y="262555"/>
                  </a:cubicBezTo>
                  <a:cubicBezTo>
                    <a:pt x="592229" y="262555"/>
                    <a:pt x="592229" y="262555"/>
                    <a:pt x="592229" y="270450"/>
                  </a:cubicBezTo>
                  <a:lnTo>
                    <a:pt x="600124" y="278348"/>
                  </a:lnTo>
                  <a:cubicBezTo>
                    <a:pt x="655399" y="309933"/>
                    <a:pt x="734363" y="286243"/>
                    <a:pt x="781741" y="238865"/>
                  </a:cubicBezTo>
                  <a:lnTo>
                    <a:pt x="789638" y="230968"/>
                  </a:lnTo>
                  <a:cubicBezTo>
                    <a:pt x="789638" y="223073"/>
                    <a:pt x="805431" y="215176"/>
                    <a:pt x="813326" y="199383"/>
                  </a:cubicBezTo>
                  <a:cubicBezTo>
                    <a:pt x="852808" y="159901"/>
                    <a:pt x="900186" y="159901"/>
                    <a:pt x="939668" y="199383"/>
                  </a:cubicBezTo>
                  <a:cubicBezTo>
                    <a:pt x="955461" y="215176"/>
                    <a:pt x="963358" y="223073"/>
                    <a:pt x="963358" y="230968"/>
                  </a:cubicBezTo>
                  <a:lnTo>
                    <a:pt x="971253" y="238865"/>
                  </a:lnTo>
                  <a:cubicBezTo>
                    <a:pt x="1010735" y="286243"/>
                    <a:pt x="1089700" y="302035"/>
                    <a:pt x="1152870" y="270450"/>
                  </a:cubicBezTo>
                  <a:lnTo>
                    <a:pt x="1160767" y="262555"/>
                  </a:lnTo>
                  <a:cubicBezTo>
                    <a:pt x="1160767" y="262555"/>
                    <a:pt x="1168662" y="262555"/>
                    <a:pt x="1168662" y="254658"/>
                  </a:cubicBezTo>
                  <a:cubicBezTo>
                    <a:pt x="1184455" y="246761"/>
                    <a:pt x="1192352" y="246761"/>
                    <a:pt x="1208145" y="246761"/>
                  </a:cubicBezTo>
                  <a:cubicBezTo>
                    <a:pt x="1279212" y="246761"/>
                    <a:pt x="1326591" y="286243"/>
                    <a:pt x="1326591" y="325725"/>
                  </a:cubicBezTo>
                  <a:cubicBezTo>
                    <a:pt x="1326591" y="357310"/>
                    <a:pt x="1295005" y="381000"/>
                    <a:pt x="1255524" y="396792"/>
                  </a:cubicBezTo>
                  <a:lnTo>
                    <a:pt x="1247627" y="396792"/>
                  </a:lnTo>
                  <a:cubicBezTo>
                    <a:pt x="1231834" y="404690"/>
                    <a:pt x="1223937" y="404690"/>
                    <a:pt x="1223937" y="404690"/>
                  </a:cubicBezTo>
                  <a:cubicBezTo>
                    <a:pt x="1176560" y="420482"/>
                    <a:pt x="1144975" y="452067"/>
                    <a:pt x="1137077" y="491549"/>
                  </a:cubicBezTo>
                  <a:cubicBezTo>
                    <a:pt x="1129182" y="531032"/>
                    <a:pt x="1152870" y="570512"/>
                    <a:pt x="1184455" y="594202"/>
                  </a:cubicBezTo>
                  <a:lnTo>
                    <a:pt x="1200249" y="602099"/>
                  </a:lnTo>
                  <a:cubicBezTo>
                    <a:pt x="1216042" y="609994"/>
                    <a:pt x="1223937" y="617892"/>
                    <a:pt x="1239730" y="633684"/>
                  </a:cubicBezTo>
                  <a:cubicBezTo>
                    <a:pt x="1287109" y="673166"/>
                    <a:pt x="1326591" y="704751"/>
                    <a:pt x="1366072" y="752129"/>
                  </a:cubicBezTo>
                  <a:cubicBezTo>
                    <a:pt x="1484519" y="878471"/>
                    <a:pt x="1547689" y="1004813"/>
                    <a:pt x="1547689" y="1131155"/>
                  </a:cubicBezTo>
                  <a:cubicBezTo>
                    <a:pt x="1547689" y="1628626"/>
                    <a:pt x="1168662" y="1731280"/>
                    <a:pt x="844911" y="1731280"/>
                  </a:cubicBezTo>
                  <a:cubicBezTo>
                    <a:pt x="513264" y="1731280"/>
                    <a:pt x="157928" y="1573353"/>
                    <a:pt x="157928" y="1131155"/>
                  </a:cubicBezTo>
                  <a:cubicBezTo>
                    <a:pt x="157928" y="996918"/>
                    <a:pt x="221098" y="862678"/>
                    <a:pt x="339545" y="736336"/>
                  </a:cubicBezTo>
                  <a:cubicBezTo>
                    <a:pt x="379025" y="712649"/>
                    <a:pt x="418507" y="673166"/>
                    <a:pt x="465887" y="64157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788041" y="3210863"/>
              <a:ext cx="608020" cy="791610"/>
            </a:xfrm>
            <a:custGeom>
              <a:avLst/>
              <a:gdLst>
                <a:gd name="connsiteX0" fmla="*/ 71067 w 608020"/>
                <a:gd name="connsiteY0" fmla="*/ 444170 h 791610"/>
                <a:gd name="connsiteX1" fmla="*/ 0 w 608020"/>
                <a:gd name="connsiteY1" fmla="*/ 515239 h 791610"/>
                <a:gd name="connsiteX2" fmla="*/ 71067 w 608020"/>
                <a:gd name="connsiteY2" fmla="*/ 586306 h 791610"/>
                <a:gd name="connsiteX3" fmla="*/ 228994 w 608020"/>
                <a:gd name="connsiteY3" fmla="*/ 586306 h 791610"/>
                <a:gd name="connsiteX4" fmla="*/ 228994 w 608020"/>
                <a:gd name="connsiteY4" fmla="*/ 728441 h 791610"/>
                <a:gd name="connsiteX5" fmla="*/ 300062 w 608020"/>
                <a:gd name="connsiteY5" fmla="*/ 791611 h 791610"/>
                <a:gd name="connsiteX6" fmla="*/ 371129 w 608020"/>
                <a:gd name="connsiteY6" fmla="*/ 728441 h 791610"/>
                <a:gd name="connsiteX7" fmla="*/ 371129 w 608020"/>
                <a:gd name="connsiteY7" fmla="*/ 586306 h 791610"/>
                <a:gd name="connsiteX8" fmla="*/ 536953 w 608020"/>
                <a:gd name="connsiteY8" fmla="*/ 586306 h 791610"/>
                <a:gd name="connsiteX9" fmla="*/ 608021 w 608020"/>
                <a:gd name="connsiteY9" fmla="*/ 515239 h 791610"/>
                <a:gd name="connsiteX10" fmla="*/ 536953 w 608020"/>
                <a:gd name="connsiteY10" fmla="*/ 444170 h 791610"/>
                <a:gd name="connsiteX11" fmla="*/ 371129 w 608020"/>
                <a:gd name="connsiteY11" fmla="*/ 444170 h 791610"/>
                <a:gd name="connsiteX12" fmla="*/ 371129 w 608020"/>
                <a:gd name="connsiteY12" fmla="*/ 404689 h 791610"/>
                <a:gd name="connsiteX13" fmla="*/ 536953 w 608020"/>
                <a:gd name="connsiteY13" fmla="*/ 404689 h 791610"/>
                <a:gd name="connsiteX14" fmla="*/ 608021 w 608020"/>
                <a:gd name="connsiteY14" fmla="*/ 333622 h 791610"/>
                <a:gd name="connsiteX15" fmla="*/ 536953 w 608020"/>
                <a:gd name="connsiteY15" fmla="*/ 262555 h 791610"/>
                <a:gd name="connsiteX16" fmla="*/ 402716 w 608020"/>
                <a:gd name="connsiteY16" fmla="*/ 262555 h 791610"/>
                <a:gd name="connsiteX17" fmla="*/ 536953 w 608020"/>
                <a:gd name="connsiteY17" fmla="*/ 120420 h 791610"/>
                <a:gd name="connsiteX18" fmla="*/ 536953 w 608020"/>
                <a:gd name="connsiteY18" fmla="*/ 17766 h 791610"/>
                <a:gd name="connsiteX19" fmla="*/ 442198 w 608020"/>
                <a:gd name="connsiteY19" fmla="*/ 17766 h 791610"/>
                <a:gd name="connsiteX20" fmla="*/ 307959 w 608020"/>
                <a:gd name="connsiteY20" fmla="*/ 159900 h 791610"/>
                <a:gd name="connsiteX21" fmla="*/ 173720 w 608020"/>
                <a:gd name="connsiteY21" fmla="*/ 17766 h 791610"/>
                <a:gd name="connsiteX22" fmla="*/ 78964 w 608020"/>
                <a:gd name="connsiteY22" fmla="*/ 17766 h 791610"/>
                <a:gd name="connsiteX23" fmla="*/ 78964 w 608020"/>
                <a:gd name="connsiteY23" fmla="*/ 120420 h 791610"/>
                <a:gd name="connsiteX24" fmla="*/ 213202 w 608020"/>
                <a:gd name="connsiteY24" fmla="*/ 262555 h 791610"/>
                <a:gd name="connsiteX25" fmla="*/ 71067 w 608020"/>
                <a:gd name="connsiteY25" fmla="*/ 262555 h 791610"/>
                <a:gd name="connsiteX26" fmla="*/ 0 w 608020"/>
                <a:gd name="connsiteY26" fmla="*/ 333622 h 791610"/>
                <a:gd name="connsiteX27" fmla="*/ 71067 w 608020"/>
                <a:gd name="connsiteY27" fmla="*/ 404689 h 791610"/>
                <a:gd name="connsiteX28" fmla="*/ 228994 w 608020"/>
                <a:gd name="connsiteY28" fmla="*/ 404689 h 791610"/>
                <a:gd name="connsiteX29" fmla="*/ 228994 w 608020"/>
                <a:gd name="connsiteY29" fmla="*/ 444170 h 791610"/>
                <a:gd name="connsiteX30" fmla="*/ 71067 w 608020"/>
                <a:gd name="connsiteY30" fmla="*/ 444170 h 79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8020" h="791610">
                  <a:moveTo>
                    <a:pt x="71067" y="444170"/>
                  </a:moveTo>
                  <a:cubicBezTo>
                    <a:pt x="31585" y="444170"/>
                    <a:pt x="0" y="475757"/>
                    <a:pt x="0" y="515239"/>
                  </a:cubicBezTo>
                  <a:cubicBezTo>
                    <a:pt x="0" y="554719"/>
                    <a:pt x="31585" y="586306"/>
                    <a:pt x="71067" y="586306"/>
                  </a:cubicBezTo>
                  <a:lnTo>
                    <a:pt x="228994" y="586306"/>
                  </a:lnTo>
                  <a:lnTo>
                    <a:pt x="228994" y="728441"/>
                  </a:lnTo>
                  <a:cubicBezTo>
                    <a:pt x="228994" y="760026"/>
                    <a:pt x="260581" y="791611"/>
                    <a:pt x="300062" y="791611"/>
                  </a:cubicBezTo>
                  <a:cubicBezTo>
                    <a:pt x="339544" y="791611"/>
                    <a:pt x="371129" y="767921"/>
                    <a:pt x="371129" y="728441"/>
                  </a:cubicBezTo>
                  <a:lnTo>
                    <a:pt x="371129" y="586306"/>
                  </a:lnTo>
                  <a:lnTo>
                    <a:pt x="536953" y="586306"/>
                  </a:lnTo>
                  <a:cubicBezTo>
                    <a:pt x="576436" y="586306"/>
                    <a:pt x="608021" y="554719"/>
                    <a:pt x="608021" y="515239"/>
                  </a:cubicBezTo>
                  <a:cubicBezTo>
                    <a:pt x="608021" y="475757"/>
                    <a:pt x="576436" y="444170"/>
                    <a:pt x="536953" y="444170"/>
                  </a:cubicBezTo>
                  <a:lnTo>
                    <a:pt x="371129" y="444170"/>
                  </a:lnTo>
                  <a:lnTo>
                    <a:pt x="371129" y="404689"/>
                  </a:lnTo>
                  <a:lnTo>
                    <a:pt x="536953" y="404689"/>
                  </a:lnTo>
                  <a:cubicBezTo>
                    <a:pt x="576436" y="404689"/>
                    <a:pt x="608021" y="373102"/>
                    <a:pt x="608021" y="333622"/>
                  </a:cubicBezTo>
                  <a:cubicBezTo>
                    <a:pt x="608021" y="294140"/>
                    <a:pt x="576436" y="262555"/>
                    <a:pt x="536953" y="262555"/>
                  </a:cubicBezTo>
                  <a:lnTo>
                    <a:pt x="402716" y="262555"/>
                  </a:lnTo>
                  <a:lnTo>
                    <a:pt x="536953" y="120420"/>
                  </a:lnTo>
                  <a:cubicBezTo>
                    <a:pt x="560643" y="96730"/>
                    <a:pt x="560643" y="49353"/>
                    <a:pt x="536953" y="17766"/>
                  </a:cubicBezTo>
                  <a:cubicBezTo>
                    <a:pt x="513265" y="-5922"/>
                    <a:pt x="465886" y="-5922"/>
                    <a:pt x="442198" y="17766"/>
                  </a:cubicBezTo>
                  <a:lnTo>
                    <a:pt x="307959" y="159900"/>
                  </a:lnTo>
                  <a:lnTo>
                    <a:pt x="173720" y="17766"/>
                  </a:lnTo>
                  <a:cubicBezTo>
                    <a:pt x="150032" y="-5922"/>
                    <a:pt x="102652" y="-5922"/>
                    <a:pt x="78964" y="17766"/>
                  </a:cubicBezTo>
                  <a:cubicBezTo>
                    <a:pt x="55275" y="41456"/>
                    <a:pt x="55275" y="88833"/>
                    <a:pt x="78964" y="120420"/>
                  </a:cubicBezTo>
                  <a:lnTo>
                    <a:pt x="213202" y="262555"/>
                  </a:lnTo>
                  <a:lnTo>
                    <a:pt x="71067" y="262555"/>
                  </a:lnTo>
                  <a:cubicBezTo>
                    <a:pt x="31585" y="262555"/>
                    <a:pt x="0" y="294140"/>
                    <a:pt x="0" y="333622"/>
                  </a:cubicBezTo>
                  <a:cubicBezTo>
                    <a:pt x="0" y="373102"/>
                    <a:pt x="31585" y="404689"/>
                    <a:pt x="71067" y="404689"/>
                  </a:cubicBezTo>
                  <a:lnTo>
                    <a:pt x="228994" y="404689"/>
                  </a:lnTo>
                  <a:lnTo>
                    <a:pt x="228994" y="444170"/>
                  </a:lnTo>
                  <a:lnTo>
                    <a:pt x="71067" y="44417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732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386080" y="2724150"/>
          <a:ext cx="3416300" cy="234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" name="矩形 4"/>
          <p:cNvSpPr/>
          <p:nvPr/>
        </p:nvSpPr>
        <p:spPr>
          <a:xfrm>
            <a:off x="416623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4514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8223250" y="2604770"/>
          <a:ext cx="3657600" cy="2364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4324350" y="2722880"/>
          <a:ext cx="3498215" cy="218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503410" y="2420189"/>
            <a:ext cx="10972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季度成本支出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95900" y="2420189"/>
            <a:ext cx="15544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转化率最高三大渠道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316990" y="2420189"/>
            <a:ext cx="15544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月平均收入（亿元）</a:t>
            </a:r>
          </a:p>
        </p:txBody>
      </p:sp>
      <p:cxnSp>
        <p:nvCxnSpPr>
          <p:cNvPr id="26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6092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关键数据洞察</a:t>
            </a:r>
          </a:p>
        </p:txBody>
      </p:sp>
      <p:sp>
        <p:nvSpPr>
          <p:cNvPr id="26" name="矩形 25"/>
          <p:cNvSpPr/>
          <p:nvPr/>
        </p:nvSpPr>
        <p:spPr>
          <a:xfrm>
            <a:off x="229235" y="725805"/>
            <a:ext cx="11740515" cy="1401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99665" y="826770"/>
            <a:ext cx="2284730" cy="1199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98695" y="826770"/>
            <a:ext cx="2284730" cy="11995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97725" y="826770"/>
            <a:ext cx="2284730" cy="1199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597390" y="826770"/>
            <a:ext cx="2284730" cy="11995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28595" y="1623060"/>
            <a:ext cx="16268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华北市场占比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086985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西北市场占比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86015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华东市场占比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85680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南方市场营收增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80162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22%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20065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20%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599045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28%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999871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15%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32435" y="1061085"/>
            <a:ext cx="1851660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近三年国内四大市场营收各有变化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9" name="矩形: 圆角 27"/>
          <p:cNvSpPr/>
          <p:nvPr/>
        </p:nvSpPr>
        <p:spPr>
          <a:xfrm>
            <a:off x="229235" y="2235200"/>
            <a:ext cx="8136890" cy="371221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>
            <a:reflection blurRad="6350" stA="20000" endPos="4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34"/>
          <p:cNvSpPr/>
          <p:nvPr/>
        </p:nvSpPr>
        <p:spPr>
          <a:xfrm>
            <a:off x="8559512" y="2235415"/>
            <a:ext cx="3409603" cy="371205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>
            <a:reflection blurRad="6350" stA="20000" endPos="4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35"/>
          <p:cNvSpPr/>
          <p:nvPr/>
        </p:nvSpPr>
        <p:spPr>
          <a:xfrm>
            <a:off x="8748882" y="2818766"/>
            <a:ext cx="3030862" cy="8713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868784" y="3008710"/>
            <a:ext cx="279105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近三年季度占比 22%-27%，逐年小幅提升，增长趋势连贯且稳定。</a:t>
            </a:r>
          </a:p>
        </p:txBody>
      </p:sp>
      <p:sp>
        <p:nvSpPr>
          <p:cNvPr id="63" name="梯形 62"/>
          <p:cNvSpPr/>
          <p:nvPr/>
        </p:nvSpPr>
        <p:spPr>
          <a:xfrm rot="10800000">
            <a:off x="2935184" y="2239173"/>
            <a:ext cx="2724993" cy="311963"/>
          </a:xfrm>
          <a:prstGeom prst="trapezoid">
            <a:avLst>
              <a:gd name="adj" fmla="val 56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061653" y="2256656"/>
            <a:ext cx="2463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国内四大市场季度营收占比（%）</a:t>
            </a:r>
          </a:p>
        </p:txBody>
      </p:sp>
      <p:sp>
        <p:nvSpPr>
          <p:cNvPr id="65" name="梯形 64"/>
          <p:cNvSpPr/>
          <p:nvPr/>
        </p:nvSpPr>
        <p:spPr>
          <a:xfrm rot="10800000">
            <a:off x="8901817" y="2239174"/>
            <a:ext cx="2724993" cy="311963"/>
          </a:xfrm>
          <a:prstGeom prst="trapezoid">
            <a:avLst>
              <a:gd name="adj" fmla="val 56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113198" y="2256656"/>
            <a:ext cx="23022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2025 年季度成本数据（万元）</a:t>
            </a:r>
          </a:p>
        </p:txBody>
      </p:sp>
      <p:sp>
        <p:nvSpPr>
          <p:cNvPr id="67" name="矩形: 圆角 28"/>
          <p:cNvSpPr/>
          <p:nvPr/>
        </p:nvSpPr>
        <p:spPr>
          <a:xfrm>
            <a:off x="776605" y="2818765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65835" y="2908618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2023-2025 年季度占比稳定在 19%-24%，整体波动小，营收表现平稳</a:t>
            </a:r>
          </a:p>
        </p:txBody>
      </p:sp>
      <p:sp>
        <p:nvSpPr>
          <p:cNvPr id="69" name="矩形: 圆角 31"/>
          <p:cNvSpPr/>
          <p:nvPr/>
        </p:nvSpPr>
        <p:spPr>
          <a:xfrm>
            <a:off x="3181985" y="2818765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352165" y="2908618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近三年季度占比 17%-23%，呈小幅上升趋势，后期逐步稳定在 20% 左右</a:t>
            </a:r>
          </a:p>
        </p:txBody>
      </p:sp>
      <p:sp>
        <p:nvSpPr>
          <p:cNvPr id="71" name="矩形: 圆角 32"/>
          <p:cNvSpPr/>
          <p:nvPr/>
        </p:nvSpPr>
        <p:spPr>
          <a:xfrm>
            <a:off x="5574030" y="2833370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757863" y="2923223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2023-2025 年季度占比 25%-29%，始终为四大市场最高，且保持稳步增长</a:t>
            </a:r>
          </a:p>
        </p:txBody>
      </p:sp>
      <p:graphicFrame>
        <p:nvGraphicFramePr>
          <p:cNvPr id="73" name="图表 72"/>
          <p:cNvGraphicFramePr/>
          <p:nvPr/>
        </p:nvGraphicFramePr>
        <p:xfrm>
          <a:off x="528066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4" name="图表 73"/>
          <p:cNvGraphicFramePr/>
          <p:nvPr/>
        </p:nvGraphicFramePr>
        <p:xfrm>
          <a:off x="8749204" y="3935730"/>
          <a:ext cx="3030220" cy="1885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矩形 74"/>
          <p:cNvSpPr/>
          <p:nvPr/>
        </p:nvSpPr>
        <p:spPr>
          <a:xfrm>
            <a:off x="229235" y="6049010"/>
            <a:ext cx="11740515" cy="5594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93383" y="6190933"/>
            <a:ext cx="114122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华东市场在 2025 年占比突出，南方市场 2025 年营收增长显著，各区域季度表现有波动。从季度数据看，2025 年成本逐季上升，需关注成本控制策略调整。</a:t>
            </a:r>
          </a:p>
        </p:txBody>
      </p:sp>
      <p:graphicFrame>
        <p:nvGraphicFramePr>
          <p:cNvPr id="77" name="图表 76"/>
          <p:cNvGraphicFramePr/>
          <p:nvPr/>
        </p:nvGraphicFramePr>
        <p:xfrm>
          <a:off x="46990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8" name="图表 77"/>
          <p:cNvGraphicFramePr/>
          <p:nvPr/>
        </p:nvGraphicFramePr>
        <p:xfrm>
          <a:off x="287528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332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财务数据分析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219710" y="819785"/>
            <a:ext cx="2205355" cy="5738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24760" y="819785"/>
            <a:ext cx="2205355" cy="5738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0086" y="2908615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+ 25%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14483" y="249017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08629" y="2155276"/>
            <a:ext cx="14274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新能源车型营收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3086136" y="2908615"/>
            <a:ext cx="10823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+ 12.5%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919424" y="249017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0.4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3180270" y="2155276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研发支出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6386" y="4327435"/>
            <a:ext cx="10919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- 12.5%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14483" y="390899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697529" y="3574096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燃油车型营收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135027" y="4327435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2816831" y="3908992"/>
            <a:ext cx="16209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0.25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3180270" y="3574096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营销支出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830085" y="5775707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614483" y="535726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97528" y="5022369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售后业务营收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3110181" y="5775707"/>
            <a:ext cx="10342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+ 5.6%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2919424" y="535726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0.9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3180270" y="5022369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生产支出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9841" y="819786"/>
            <a:ext cx="2205054" cy="10865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20"/>
            </p:custDataLst>
          </p:nvPr>
        </p:nvCxnSpPr>
        <p:spPr>
          <a:xfrm>
            <a:off x="507882" y="3379855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1"/>
            </p:custDataLst>
          </p:nvPr>
        </p:nvCxnSpPr>
        <p:spPr>
          <a:xfrm>
            <a:off x="507882" y="4813402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2"/>
            </p:custDataLst>
          </p:nvPr>
        </p:nvCxnSpPr>
        <p:spPr>
          <a:xfrm>
            <a:off x="2812823" y="3379855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23"/>
            </p:custDataLst>
          </p:nvPr>
        </p:nvCxnSpPr>
        <p:spPr>
          <a:xfrm>
            <a:off x="2812823" y="4813402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524782" y="819786"/>
            <a:ext cx="2205054" cy="10865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19841" y="6501959"/>
            <a:ext cx="2205054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524782" y="6501959"/>
            <a:ext cx="2205054" cy="3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895215" y="3674110"/>
            <a:ext cx="7056755" cy="285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12535" y="3776547"/>
            <a:ext cx="422211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1 - 12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月整体销售支出和营收（单位：万元）</a:t>
            </a:r>
          </a:p>
        </p:txBody>
      </p:sp>
      <p:sp>
        <p:nvSpPr>
          <p:cNvPr id="47" name="矩形: 圆角 8"/>
          <p:cNvSpPr/>
          <p:nvPr/>
        </p:nvSpPr>
        <p:spPr>
          <a:xfrm>
            <a:off x="4895215" y="843280"/>
            <a:ext cx="3456305" cy="262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43843" y="922020"/>
            <a:ext cx="25590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年度季度营收占比（%）</a:t>
            </a:r>
          </a:p>
        </p:txBody>
      </p:sp>
      <p:graphicFrame>
        <p:nvGraphicFramePr>
          <p:cNvPr id="49" name="图表 48"/>
          <p:cNvGraphicFramePr/>
          <p:nvPr/>
        </p:nvGraphicFramePr>
        <p:xfrm>
          <a:off x="5146040" y="1283335"/>
          <a:ext cx="2954020" cy="210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50" name="矩形: 圆角 8"/>
          <p:cNvSpPr/>
          <p:nvPr/>
        </p:nvSpPr>
        <p:spPr>
          <a:xfrm>
            <a:off x="8509000" y="843280"/>
            <a:ext cx="3456305" cy="262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97340" y="922020"/>
            <a:ext cx="20796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成本支出方面（万元）</a:t>
            </a:r>
          </a:p>
        </p:txBody>
      </p:sp>
      <p:graphicFrame>
        <p:nvGraphicFramePr>
          <p:cNvPr id="52" name="图表 51"/>
          <p:cNvGraphicFramePr/>
          <p:nvPr/>
        </p:nvGraphicFramePr>
        <p:xfrm>
          <a:off x="8815070" y="1343660"/>
          <a:ext cx="2922905" cy="2024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1000105" y="1010016"/>
            <a:ext cx="13011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核心业务营收表现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3305047" y="1010016"/>
            <a:ext cx="13011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重点板块支出情况</a:t>
            </a:r>
          </a:p>
        </p:txBody>
      </p:sp>
      <p:graphicFrame>
        <p:nvGraphicFramePr>
          <p:cNvPr id="55" name="图表 54"/>
          <p:cNvGraphicFramePr/>
          <p:nvPr/>
        </p:nvGraphicFramePr>
        <p:xfrm>
          <a:off x="5030470" y="4113530"/>
          <a:ext cx="6786245" cy="2251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56" name="图形 2"/>
          <p:cNvSpPr/>
          <p:nvPr/>
        </p:nvSpPr>
        <p:spPr>
          <a:xfrm>
            <a:off x="329001" y="979303"/>
            <a:ext cx="668024" cy="668024"/>
          </a:xfrm>
          <a:custGeom>
            <a:avLst/>
            <a:gdLst>
              <a:gd name="connsiteX0" fmla="*/ 891481 w 1428750"/>
              <a:gd name="connsiteY0" fmla="*/ 0 h 1428750"/>
              <a:gd name="connsiteX1" fmla="*/ 537270 w 1428750"/>
              <a:gd name="connsiteY1" fmla="*/ 0 h 1428750"/>
              <a:gd name="connsiteX2" fmla="*/ 476250 w 1428750"/>
              <a:gd name="connsiteY2" fmla="*/ 61020 h 1428750"/>
              <a:gd name="connsiteX3" fmla="*/ 476250 w 1428750"/>
              <a:gd name="connsiteY3" fmla="*/ 238125 h 1428750"/>
              <a:gd name="connsiteX4" fmla="*/ 59531 w 1428750"/>
              <a:gd name="connsiteY4" fmla="*/ 238125 h 1428750"/>
              <a:gd name="connsiteX5" fmla="*/ 0 w 1428750"/>
              <a:gd name="connsiteY5" fmla="*/ 297656 h 1428750"/>
              <a:gd name="connsiteX6" fmla="*/ 0 w 1428750"/>
              <a:gd name="connsiteY6" fmla="*/ 1369219 h 1428750"/>
              <a:gd name="connsiteX7" fmla="*/ 59531 w 1428750"/>
              <a:gd name="connsiteY7" fmla="*/ 1428750 h 1428750"/>
              <a:gd name="connsiteX8" fmla="*/ 1369219 w 1428750"/>
              <a:gd name="connsiteY8" fmla="*/ 1428750 h 1428750"/>
              <a:gd name="connsiteX9" fmla="*/ 1428750 w 1428750"/>
              <a:gd name="connsiteY9" fmla="*/ 1369219 h 1428750"/>
              <a:gd name="connsiteX10" fmla="*/ 1428750 w 1428750"/>
              <a:gd name="connsiteY10" fmla="*/ 297656 h 1428750"/>
              <a:gd name="connsiteX11" fmla="*/ 1369219 w 1428750"/>
              <a:gd name="connsiteY11" fmla="*/ 238125 h 1428750"/>
              <a:gd name="connsiteX12" fmla="*/ 952500 w 1428750"/>
              <a:gd name="connsiteY12" fmla="*/ 238125 h 1428750"/>
              <a:gd name="connsiteX13" fmla="*/ 952500 w 1428750"/>
              <a:gd name="connsiteY13" fmla="*/ 61020 h 1428750"/>
              <a:gd name="connsiteX14" fmla="*/ 891481 w 1428750"/>
              <a:gd name="connsiteY14" fmla="*/ 0 h 1428750"/>
              <a:gd name="connsiteX15" fmla="*/ 595313 w 1428750"/>
              <a:gd name="connsiteY15" fmla="*/ 238125 h 1428750"/>
              <a:gd name="connsiteX16" fmla="*/ 595313 w 1428750"/>
              <a:gd name="connsiteY16" fmla="*/ 119063 h 1428750"/>
              <a:gd name="connsiteX17" fmla="*/ 833438 w 1428750"/>
              <a:gd name="connsiteY17" fmla="*/ 119063 h 1428750"/>
              <a:gd name="connsiteX18" fmla="*/ 833438 w 1428750"/>
              <a:gd name="connsiteY18" fmla="*/ 238125 h 1428750"/>
              <a:gd name="connsiteX19" fmla="*/ 595313 w 1428750"/>
              <a:gd name="connsiteY19" fmla="*/ 238125 h 1428750"/>
              <a:gd name="connsiteX20" fmla="*/ 714375 w 1428750"/>
              <a:gd name="connsiteY20" fmla="*/ 714375 h 1428750"/>
              <a:gd name="connsiteX21" fmla="*/ 119063 w 1428750"/>
              <a:gd name="connsiteY21" fmla="*/ 614660 h 1428750"/>
              <a:gd name="connsiteX22" fmla="*/ 119063 w 1428750"/>
              <a:gd name="connsiteY22" fmla="*/ 357188 h 1428750"/>
              <a:gd name="connsiteX23" fmla="*/ 1309688 w 1428750"/>
              <a:gd name="connsiteY23" fmla="*/ 357188 h 1428750"/>
              <a:gd name="connsiteX24" fmla="*/ 1309688 w 1428750"/>
              <a:gd name="connsiteY24" fmla="*/ 614660 h 1428750"/>
              <a:gd name="connsiteX25" fmla="*/ 714375 w 1428750"/>
              <a:gd name="connsiteY25" fmla="*/ 714375 h 1428750"/>
              <a:gd name="connsiteX26" fmla="*/ 714375 w 1428750"/>
              <a:gd name="connsiteY26" fmla="*/ 773906 h 1428750"/>
              <a:gd name="connsiteX27" fmla="*/ 1309688 w 1428750"/>
              <a:gd name="connsiteY27" fmla="*/ 674191 h 1428750"/>
              <a:gd name="connsiteX28" fmla="*/ 1309688 w 1428750"/>
              <a:gd name="connsiteY28" fmla="*/ 1309688 h 1428750"/>
              <a:gd name="connsiteX29" fmla="*/ 119063 w 1428750"/>
              <a:gd name="connsiteY29" fmla="*/ 1309688 h 1428750"/>
              <a:gd name="connsiteX30" fmla="*/ 119063 w 1428750"/>
              <a:gd name="connsiteY30" fmla="*/ 674191 h 1428750"/>
              <a:gd name="connsiteX31" fmla="*/ 714375 w 1428750"/>
              <a:gd name="connsiteY31" fmla="*/ 773906 h 1428750"/>
              <a:gd name="connsiteX32" fmla="*/ 803672 w 1428750"/>
              <a:gd name="connsiteY32" fmla="*/ 476250 h 1428750"/>
              <a:gd name="connsiteX33" fmla="*/ 625078 w 1428750"/>
              <a:gd name="connsiteY33" fmla="*/ 476250 h 1428750"/>
              <a:gd name="connsiteX34" fmla="*/ 595313 w 1428750"/>
              <a:gd name="connsiteY34" fmla="*/ 506016 h 1428750"/>
              <a:gd name="connsiteX35" fmla="*/ 595313 w 1428750"/>
              <a:gd name="connsiteY35" fmla="*/ 565547 h 1428750"/>
              <a:gd name="connsiteX36" fmla="*/ 625078 w 1428750"/>
              <a:gd name="connsiteY36" fmla="*/ 595313 h 1428750"/>
              <a:gd name="connsiteX37" fmla="*/ 803672 w 1428750"/>
              <a:gd name="connsiteY37" fmla="*/ 595313 h 1428750"/>
              <a:gd name="connsiteX38" fmla="*/ 833438 w 1428750"/>
              <a:gd name="connsiteY38" fmla="*/ 565547 h 1428750"/>
              <a:gd name="connsiteX39" fmla="*/ 833438 w 1428750"/>
              <a:gd name="connsiteY39" fmla="*/ 506016 h 1428750"/>
              <a:gd name="connsiteX40" fmla="*/ 803672 w 1428750"/>
              <a:gd name="connsiteY40" fmla="*/ 4762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428750" h="1428750">
                <a:moveTo>
                  <a:pt x="891481" y="0"/>
                </a:moveTo>
                <a:lnTo>
                  <a:pt x="537270" y="0"/>
                </a:lnTo>
                <a:cubicBezTo>
                  <a:pt x="504527" y="0"/>
                  <a:pt x="476250" y="26789"/>
                  <a:pt x="476250" y="61020"/>
                </a:cubicBezTo>
                <a:lnTo>
                  <a:pt x="476250" y="238125"/>
                </a:lnTo>
                <a:lnTo>
                  <a:pt x="59531" y="238125"/>
                </a:lnTo>
                <a:cubicBezTo>
                  <a:pt x="26789" y="238125"/>
                  <a:pt x="0" y="264914"/>
                  <a:pt x="0" y="297656"/>
                </a:cubicBezTo>
                <a:lnTo>
                  <a:pt x="0" y="1369219"/>
                </a:lnTo>
                <a:cubicBezTo>
                  <a:pt x="0" y="1401961"/>
                  <a:pt x="26789" y="1428750"/>
                  <a:pt x="59531" y="1428750"/>
                </a:cubicBezTo>
                <a:lnTo>
                  <a:pt x="1369219" y="1428750"/>
                </a:lnTo>
                <a:cubicBezTo>
                  <a:pt x="1401961" y="1428750"/>
                  <a:pt x="1428750" y="1401961"/>
                  <a:pt x="1428750" y="1369219"/>
                </a:cubicBezTo>
                <a:lnTo>
                  <a:pt x="1428750" y="297656"/>
                </a:lnTo>
                <a:cubicBezTo>
                  <a:pt x="1428750" y="264914"/>
                  <a:pt x="1401961" y="238125"/>
                  <a:pt x="1369219" y="238125"/>
                </a:cubicBezTo>
                <a:lnTo>
                  <a:pt x="952500" y="238125"/>
                </a:lnTo>
                <a:lnTo>
                  <a:pt x="952500" y="61020"/>
                </a:lnTo>
                <a:cubicBezTo>
                  <a:pt x="952500" y="26789"/>
                  <a:pt x="925711" y="0"/>
                  <a:pt x="891481" y="0"/>
                </a:cubicBezTo>
                <a:close/>
                <a:moveTo>
                  <a:pt x="595313" y="238125"/>
                </a:moveTo>
                <a:lnTo>
                  <a:pt x="595313" y="119063"/>
                </a:lnTo>
                <a:lnTo>
                  <a:pt x="833438" y="119063"/>
                </a:lnTo>
                <a:lnTo>
                  <a:pt x="833438" y="238125"/>
                </a:lnTo>
                <a:lnTo>
                  <a:pt x="595313" y="238125"/>
                </a:lnTo>
                <a:close/>
                <a:moveTo>
                  <a:pt x="714375" y="714375"/>
                </a:moveTo>
                <a:lnTo>
                  <a:pt x="119063" y="614660"/>
                </a:lnTo>
                <a:lnTo>
                  <a:pt x="119063" y="357188"/>
                </a:lnTo>
                <a:lnTo>
                  <a:pt x="1309688" y="357188"/>
                </a:lnTo>
                <a:lnTo>
                  <a:pt x="1309688" y="614660"/>
                </a:lnTo>
                <a:lnTo>
                  <a:pt x="714375" y="714375"/>
                </a:lnTo>
                <a:close/>
                <a:moveTo>
                  <a:pt x="714375" y="773906"/>
                </a:moveTo>
                <a:lnTo>
                  <a:pt x="1309688" y="674191"/>
                </a:lnTo>
                <a:lnTo>
                  <a:pt x="1309688" y="1309688"/>
                </a:lnTo>
                <a:lnTo>
                  <a:pt x="119063" y="1309688"/>
                </a:lnTo>
                <a:lnTo>
                  <a:pt x="119063" y="674191"/>
                </a:lnTo>
                <a:lnTo>
                  <a:pt x="714375" y="773906"/>
                </a:lnTo>
                <a:close/>
                <a:moveTo>
                  <a:pt x="803672" y="476250"/>
                </a:moveTo>
                <a:lnTo>
                  <a:pt x="625078" y="476250"/>
                </a:lnTo>
                <a:cubicBezTo>
                  <a:pt x="608707" y="476250"/>
                  <a:pt x="595313" y="489645"/>
                  <a:pt x="595313" y="506016"/>
                </a:cubicBezTo>
                <a:lnTo>
                  <a:pt x="595313" y="565547"/>
                </a:lnTo>
                <a:cubicBezTo>
                  <a:pt x="595313" y="581918"/>
                  <a:pt x="608707" y="595313"/>
                  <a:pt x="625078" y="595313"/>
                </a:cubicBezTo>
                <a:lnTo>
                  <a:pt x="803672" y="595313"/>
                </a:lnTo>
                <a:cubicBezTo>
                  <a:pt x="820043" y="595313"/>
                  <a:pt x="833438" y="581918"/>
                  <a:pt x="833438" y="565547"/>
                </a:cubicBezTo>
                <a:lnTo>
                  <a:pt x="833438" y="506016"/>
                </a:lnTo>
                <a:cubicBezTo>
                  <a:pt x="833438" y="489645"/>
                  <a:pt x="820043" y="476250"/>
                  <a:pt x="803672" y="47625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2633223" y="1019372"/>
            <a:ext cx="712673" cy="688043"/>
            <a:chOff x="-2061386" y="2679996"/>
            <a:chExt cx="1726545" cy="1666875"/>
          </a:xfrm>
          <a:solidFill>
            <a:schemeClr val="bg1"/>
          </a:solidFill>
        </p:grpSpPr>
        <p:sp>
          <p:nvSpPr>
            <p:cNvPr id="80" name="任意多边形: 形状 79"/>
            <p:cNvSpPr/>
            <p:nvPr/>
          </p:nvSpPr>
          <p:spPr>
            <a:xfrm>
              <a:off x="-2061386" y="2679996"/>
              <a:ext cx="1428750" cy="1666875"/>
            </a:xfrm>
            <a:custGeom>
              <a:avLst/>
              <a:gdLst>
                <a:gd name="connsiteX0" fmla="*/ 1250156 w 1428750"/>
                <a:gd name="connsiteY0" fmla="*/ 1666875 h 1666875"/>
                <a:gd name="connsiteX1" fmla="*/ 178594 w 1428750"/>
                <a:gd name="connsiteY1" fmla="*/ 1666875 h 1666875"/>
                <a:gd name="connsiteX2" fmla="*/ 0 w 1428750"/>
                <a:gd name="connsiteY2" fmla="*/ 1488281 h 1666875"/>
                <a:gd name="connsiteX3" fmla="*/ 0 w 1428750"/>
                <a:gd name="connsiteY3" fmla="*/ 178594 h 1666875"/>
                <a:gd name="connsiteX4" fmla="*/ 178594 w 1428750"/>
                <a:gd name="connsiteY4" fmla="*/ 0 h 1666875"/>
                <a:gd name="connsiteX5" fmla="*/ 1250156 w 1428750"/>
                <a:gd name="connsiteY5" fmla="*/ 0 h 1666875"/>
                <a:gd name="connsiteX6" fmla="*/ 1428750 w 1428750"/>
                <a:gd name="connsiteY6" fmla="*/ 178594 h 1666875"/>
                <a:gd name="connsiteX7" fmla="*/ 1428750 w 1428750"/>
                <a:gd name="connsiteY7" fmla="*/ 595313 h 1666875"/>
                <a:gd name="connsiteX8" fmla="*/ 1309688 w 1428750"/>
                <a:gd name="connsiteY8" fmla="*/ 595313 h 1666875"/>
                <a:gd name="connsiteX9" fmla="*/ 1309688 w 1428750"/>
                <a:gd name="connsiteY9" fmla="*/ 178594 h 1666875"/>
                <a:gd name="connsiteX10" fmla="*/ 1250156 w 1428750"/>
                <a:gd name="connsiteY10" fmla="*/ 119063 h 1666875"/>
                <a:gd name="connsiteX11" fmla="*/ 178594 w 1428750"/>
                <a:gd name="connsiteY11" fmla="*/ 119063 h 1666875"/>
                <a:gd name="connsiteX12" fmla="*/ 119063 w 1428750"/>
                <a:gd name="connsiteY12" fmla="*/ 178594 h 1666875"/>
                <a:gd name="connsiteX13" fmla="*/ 119063 w 1428750"/>
                <a:gd name="connsiteY13" fmla="*/ 1488281 h 1666875"/>
                <a:gd name="connsiteX14" fmla="*/ 178594 w 1428750"/>
                <a:gd name="connsiteY14" fmla="*/ 1547813 h 1666875"/>
                <a:gd name="connsiteX15" fmla="*/ 1250156 w 1428750"/>
                <a:gd name="connsiteY15" fmla="*/ 1547813 h 1666875"/>
                <a:gd name="connsiteX16" fmla="*/ 1309688 w 1428750"/>
                <a:gd name="connsiteY16" fmla="*/ 1488281 h 1666875"/>
                <a:gd name="connsiteX17" fmla="*/ 1309688 w 1428750"/>
                <a:gd name="connsiteY17" fmla="*/ 1071749 h 1666875"/>
                <a:gd name="connsiteX18" fmla="*/ 1428750 w 1428750"/>
                <a:gd name="connsiteY18" fmla="*/ 1071749 h 1666875"/>
                <a:gd name="connsiteX19" fmla="*/ 1428750 w 1428750"/>
                <a:gd name="connsiteY19" fmla="*/ 1488281 h 1666875"/>
                <a:gd name="connsiteX20" fmla="*/ 1250156 w 1428750"/>
                <a:gd name="connsiteY20" fmla="*/ 1666875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8750" h="1666875">
                  <a:moveTo>
                    <a:pt x="1250156" y="1666875"/>
                  </a:moveTo>
                  <a:lnTo>
                    <a:pt x="178594" y="1666875"/>
                  </a:lnTo>
                  <a:cubicBezTo>
                    <a:pt x="80181" y="1666875"/>
                    <a:pt x="0" y="1586694"/>
                    <a:pt x="0" y="1488281"/>
                  </a:cubicBezTo>
                  <a:lnTo>
                    <a:pt x="0" y="178594"/>
                  </a:lnTo>
                  <a:cubicBezTo>
                    <a:pt x="0" y="80181"/>
                    <a:pt x="80181" y="0"/>
                    <a:pt x="178594" y="0"/>
                  </a:cubicBezTo>
                  <a:lnTo>
                    <a:pt x="1250156" y="0"/>
                  </a:lnTo>
                  <a:cubicBezTo>
                    <a:pt x="1348569" y="0"/>
                    <a:pt x="1428750" y="80181"/>
                    <a:pt x="1428750" y="178594"/>
                  </a:cubicBezTo>
                  <a:lnTo>
                    <a:pt x="1428750" y="595313"/>
                  </a:lnTo>
                  <a:lnTo>
                    <a:pt x="1309688" y="595313"/>
                  </a:lnTo>
                  <a:lnTo>
                    <a:pt x="1309688" y="178594"/>
                  </a:lnTo>
                  <a:cubicBezTo>
                    <a:pt x="1309688" y="145852"/>
                    <a:pt x="1282898" y="119063"/>
                    <a:pt x="1250156" y="119063"/>
                  </a:cubicBezTo>
                  <a:lnTo>
                    <a:pt x="178594" y="119063"/>
                  </a:lnTo>
                  <a:cubicBezTo>
                    <a:pt x="145852" y="119063"/>
                    <a:pt x="119063" y="145852"/>
                    <a:pt x="119063" y="178594"/>
                  </a:cubicBezTo>
                  <a:lnTo>
                    <a:pt x="119063" y="1488281"/>
                  </a:lnTo>
                  <a:cubicBezTo>
                    <a:pt x="119063" y="1521023"/>
                    <a:pt x="145852" y="1547813"/>
                    <a:pt x="178594" y="1547813"/>
                  </a:cubicBezTo>
                  <a:lnTo>
                    <a:pt x="1250156" y="1547813"/>
                  </a:lnTo>
                  <a:cubicBezTo>
                    <a:pt x="1282898" y="1547813"/>
                    <a:pt x="1309688" y="1521023"/>
                    <a:pt x="1309688" y="1488281"/>
                  </a:cubicBezTo>
                  <a:lnTo>
                    <a:pt x="1309688" y="1071749"/>
                  </a:lnTo>
                  <a:lnTo>
                    <a:pt x="1428750" y="1071749"/>
                  </a:lnTo>
                  <a:lnTo>
                    <a:pt x="1428750" y="1488281"/>
                  </a:lnTo>
                  <a:cubicBezTo>
                    <a:pt x="1428750" y="1586694"/>
                    <a:pt x="1348569" y="1666875"/>
                    <a:pt x="1250156" y="166687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-1704199" y="3452414"/>
              <a:ext cx="714375" cy="380999"/>
            </a:xfrm>
            <a:custGeom>
              <a:avLst/>
              <a:gdLst>
                <a:gd name="connsiteX0" fmla="*/ 654844 w 714375"/>
                <a:gd name="connsiteY0" fmla="*/ 119063 h 380999"/>
                <a:gd name="connsiteX1" fmla="*/ 59531 w 714375"/>
                <a:gd name="connsiteY1" fmla="*/ 120923 h 380999"/>
                <a:gd name="connsiteX2" fmla="*/ 0 w 714375"/>
                <a:gd name="connsiteY2" fmla="*/ 61392 h 380999"/>
                <a:gd name="connsiteX3" fmla="*/ 59531 w 714375"/>
                <a:gd name="connsiteY3" fmla="*/ 1860 h 380999"/>
                <a:gd name="connsiteX4" fmla="*/ 654844 w 714375"/>
                <a:gd name="connsiteY4" fmla="*/ 0 h 380999"/>
                <a:gd name="connsiteX5" fmla="*/ 714375 w 714375"/>
                <a:gd name="connsiteY5" fmla="*/ 59531 h 380999"/>
                <a:gd name="connsiteX6" fmla="*/ 654844 w 714375"/>
                <a:gd name="connsiteY6" fmla="*/ 119063 h 380999"/>
                <a:gd name="connsiteX7" fmla="*/ 605172 w 714375"/>
                <a:gd name="connsiteY7" fmla="*/ 381000 h 380999"/>
                <a:gd name="connsiteX8" fmla="*/ 109203 w 714375"/>
                <a:gd name="connsiteY8" fmla="*/ 381000 h 380999"/>
                <a:gd name="connsiteX9" fmla="*/ 59531 w 714375"/>
                <a:gd name="connsiteY9" fmla="*/ 321469 h 380999"/>
                <a:gd name="connsiteX10" fmla="*/ 109203 w 714375"/>
                <a:gd name="connsiteY10" fmla="*/ 261937 h 380999"/>
                <a:gd name="connsiteX11" fmla="*/ 605358 w 714375"/>
                <a:gd name="connsiteY11" fmla="*/ 261937 h 380999"/>
                <a:gd name="connsiteX12" fmla="*/ 655030 w 714375"/>
                <a:gd name="connsiteY12" fmla="*/ 321469 h 380999"/>
                <a:gd name="connsiteX13" fmla="*/ 605172 w 714375"/>
                <a:gd name="connsiteY13" fmla="*/ 381000 h 3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4375" h="380999">
                  <a:moveTo>
                    <a:pt x="654844" y="119063"/>
                  </a:moveTo>
                  <a:lnTo>
                    <a:pt x="59531" y="120923"/>
                  </a:lnTo>
                  <a:cubicBezTo>
                    <a:pt x="26603" y="120923"/>
                    <a:pt x="0" y="94320"/>
                    <a:pt x="0" y="61392"/>
                  </a:cubicBezTo>
                  <a:cubicBezTo>
                    <a:pt x="0" y="28463"/>
                    <a:pt x="26603" y="1860"/>
                    <a:pt x="59531" y="1860"/>
                  </a:cubicBezTo>
                  <a:lnTo>
                    <a:pt x="654844" y="0"/>
                  </a:lnTo>
                  <a:cubicBezTo>
                    <a:pt x="687772" y="0"/>
                    <a:pt x="714375" y="26603"/>
                    <a:pt x="714375" y="59531"/>
                  </a:cubicBezTo>
                  <a:cubicBezTo>
                    <a:pt x="714375" y="92459"/>
                    <a:pt x="687772" y="119063"/>
                    <a:pt x="654844" y="119063"/>
                  </a:cubicBezTo>
                  <a:close/>
                  <a:moveTo>
                    <a:pt x="605172" y="381000"/>
                  </a:moveTo>
                  <a:lnTo>
                    <a:pt x="109203" y="381000"/>
                  </a:lnTo>
                  <a:cubicBezTo>
                    <a:pt x="81855" y="381000"/>
                    <a:pt x="59531" y="354397"/>
                    <a:pt x="59531" y="321469"/>
                  </a:cubicBezTo>
                  <a:cubicBezTo>
                    <a:pt x="59531" y="288540"/>
                    <a:pt x="81669" y="261937"/>
                    <a:pt x="109203" y="261937"/>
                  </a:cubicBezTo>
                  <a:lnTo>
                    <a:pt x="605358" y="261937"/>
                  </a:lnTo>
                  <a:cubicBezTo>
                    <a:pt x="632706" y="261937"/>
                    <a:pt x="655030" y="288540"/>
                    <a:pt x="655030" y="321469"/>
                  </a:cubicBezTo>
                  <a:cubicBezTo>
                    <a:pt x="655030" y="354397"/>
                    <a:pt x="632706" y="381000"/>
                    <a:pt x="605172" y="38100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-1406522" y="3066970"/>
              <a:ext cx="409235" cy="505994"/>
            </a:xfrm>
            <a:custGeom>
              <a:avLst/>
              <a:gdLst>
                <a:gd name="connsiteX0" fmla="*/ 59511 w 409235"/>
                <a:gd name="connsiteY0" fmla="*/ 505995 h 505994"/>
                <a:gd name="connsiteX1" fmla="*/ 23792 w 409235"/>
                <a:gd name="connsiteY1" fmla="*/ 494089 h 505994"/>
                <a:gd name="connsiteX2" fmla="*/ 11886 w 409235"/>
                <a:gd name="connsiteY2" fmla="*/ 410745 h 505994"/>
                <a:gd name="connsiteX3" fmla="*/ 302100 w 409235"/>
                <a:gd name="connsiteY3" fmla="*/ 23792 h 505994"/>
                <a:gd name="connsiteX4" fmla="*/ 385444 w 409235"/>
                <a:gd name="connsiteY4" fmla="*/ 11886 h 505994"/>
                <a:gd name="connsiteX5" fmla="*/ 397350 w 409235"/>
                <a:gd name="connsiteY5" fmla="*/ 95229 h 505994"/>
                <a:gd name="connsiteX6" fmla="*/ 107136 w 409235"/>
                <a:gd name="connsiteY6" fmla="*/ 482182 h 505994"/>
                <a:gd name="connsiteX7" fmla="*/ 59511 w 409235"/>
                <a:gd name="connsiteY7" fmla="*/ 505995 h 50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235" h="505994">
                  <a:moveTo>
                    <a:pt x="59511" y="505995"/>
                  </a:moveTo>
                  <a:cubicBezTo>
                    <a:pt x="47046" y="505995"/>
                    <a:pt x="34582" y="502088"/>
                    <a:pt x="23792" y="494089"/>
                  </a:cubicBezTo>
                  <a:cubicBezTo>
                    <a:pt x="-2439" y="474369"/>
                    <a:pt x="-7834" y="436976"/>
                    <a:pt x="11886" y="410745"/>
                  </a:cubicBezTo>
                  <a:lnTo>
                    <a:pt x="302100" y="23792"/>
                  </a:lnTo>
                  <a:cubicBezTo>
                    <a:pt x="321820" y="-2439"/>
                    <a:pt x="359213" y="-7834"/>
                    <a:pt x="385444" y="11886"/>
                  </a:cubicBezTo>
                  <a:cubicBezTo>
                    <a:pt x="411675" y="31605"/>
                    <a:pt x="417070" y="68998"/>
                    <a:pt x="397350" y="95229"/>
                  </a:cubicBezTo>
                  <a:lnTo>
                    <a:pt x="107136" y="482182"/>
                  </a:lnTo>
                  <a:cubicBezTo>
                    <a:pt x="95415" y="497809"/>
                    <a:pt x="77556" y="505995"/>
                    <a:pt x="59511" y="50599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-1696736" y="3066970"/>
              <a:ext cx="409235" cy="505994"/>
            </a:xfrm>
            <a:custGeom>
              <a:avLst/>
              <a:gdLst>
                <a:gd name="connsiteX0" fmla="*/ 349725 w 409235"/>
                <a:gd name="connsiteY0" fmla="*/ 505995 h 505994"/>
                <a:gd name="connsiteX1" fmla="*/ 302100 w 409235"/>
                <a:gd name="connsiteY1" fmla="*/ 482182 h 505994"/>
                <a:gd name="connsiteX2" fmla="*/ 11886 w 409235"/>
                <a:gd name="connsiteY2" fmla="*/ 95229 h 505994"/>
                <a:gd name="connsiteX3" fmla="*/ 23792 w 409235"/>
                <a:gd name="connsiteY3" fmla="*/ 11886 h 505994"/>
                <a:gd name="connsiteX4" fmla="*/ 107136 w 409235"/>
                <a:gd name="connsiteY4" fmla="*/ 23792 h 505994"/>
                <a:gd name="connsiteX5" fmla="*/ 397350 w 409235"/>
                <a:gd name="connsiteY5" fmla="*/ 410745 h 505994"/>
                <a:gd name="connsiteX6" fmla="*/ 385444 w 409235"/>
                <a:gd name="connsiteY6" fmla="*/ 494089 h 505994"/>
                <a:gd name="connsiteX7" fmla="*/ 349725 w 409235"/>
                <a:gd name="connsiteY7" fmla="*/ 505995 h 50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235" h="505994">
                  <a:moveTo>
                    <a:pt x="349725" y="505995"/>
                  </a:moveTo>
                  <a:cubicBezTo>
                    <a:pt x="331680" y="505995"/>
                    <a:pt x="313821" y="497809"/>
                    <a:pt x="302100" y="482182"/>
                  </a:cubicBezTo>
                  <a:lnTo>
                    <a:pt x="11886" y="95229"/>
                  </a:lnTo>
                  <a:cubicBezTo>
                    <a:pt x="-7834" y="68998"/>
                    <a:pt x="-2439" y="31605"/>
                    <a:pt x="23792" y="11886"/>
                  </a:cubicBezTo>
                  <a:cubicBezTo>
                    <a:pt x="50023" y="-7834"/>
                    <a:pt x="87416" y="-2439"/>
                    <a:pt x="107136" y="23792"/>
                  </a:cubicBezTo>
                  <a:lnTo>
                    <a:pt x="397350" y="410745"/>
                  </a:lnTo>
                  <a:cubicBezTo>
                    <a:pt x="417070" y="436976"/>
                    <a:pt x="411675" y="474369"/>
                    <a:pt x="385444" y="494089"/>
                  </a:cubicBezTo>
                  <a:cubicBezTo>
                    <a:pt x="374654" y="502088"/>
                    <a:pt x="362190" y="505995"/>
                    <a:pt x="349725" y="50599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-1406542" y="3453902"/>
              <a:ext cx="119062" cy="602753"/>
            </a:xfrm>
            <a:custGeom>
              <a:avLst/>
              <a:gdLst>
                <a:gd name="connsiteX0" fmla="*/ 59531 w 119062"/>
                <a:gd name="connsiteY0" fmla="*/ 602754 h 602753"/>
                <a:gd name="connsiteX1" fmla="*/ 0 w 119062"/>
                <a:gd name="connsiteY1" fmla="*/ 543223 h 602753"/>
                <a:gd name="connsiteX2" fmla="*/ 0 w 119062"/>
                <a:gd name="connsiteY2" fmla="*/ 59531 h 602753"/>
                <a:gd name="connsiteX3" fmla="*/ 59531 w 119062"/>
                <a:gd name="connsiteY3" fmla="*/ 0 h 602753"/>
                <a:gd name="connsiteX4" fmla="*/ 119063 w 119062"/>
                <a:gd name="connsiteY4" fmla="*/ 59531 h 602753"/>
                <a:gd name="connsiteX5" fmla="*/ 119063 w 119062"/>
                <a:gd name="connsiteY5" fmla="*/ 543223 h 602753"/>
                <a:gd name="connsiteX6" fmla="*/ 59531 w 119062"/>
                <a:gd name="connsiteY6" fmla="*/ 602754 h 60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062" h="602753">
                  <a:moveTo>
                    <a:pt x="59531" y="602754"/>
                  </a:moveTo>
                  <a:cubicBezTo>
                    <a:pt x="26603" y="602754"/>
                    <a:pt x="0" y="576151"/>
                    <a:pt x="0" y="543223"/>
                  </a:cubicBezTo>
                  <a:lnTo>
                    <a:pt x="0" y="59531"/>
                  </a:lnTo>
                  <a:cubicBezTo>
                    <a:pt x="0" y="26603"/>
                    <a:pt x="26603" y="0"/>
                    <a:pt x="59531" y="0"/>
                  </a:cubicBezTo>
                  <a:cubicBezTo>
                    <a:pt x="92459" y="0"/>
                    <a:pt x="119063" y="26603"/>
                    <a:pt x="119063" y="59531"/>
                  </a:cubicBezTo>
                  <a:lnTo>
                    <a:pt x="119063" y="543223"/>
                  </a:lnTo>
                  <a:cubicBezTo>
                    <a:pt x="119063" y="576151"/>
                    <a:pt x="92459" y="602754"/>
                    <a:pt x="59531" y="60275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-930292" y="3453902"/>
              <a:ext cx="595312" cy="119062"/>
            </a:xfrm>
            <a:custGeom>
              <a:avLst/>
              <a:gdLst>
                <a:gd name="connsiteX0" fmla="*/ 535781 w 595312"/>
                <a:gd name="connsiteY0" fmla="*/ 119063 h 119062"/>
                <a:gd name="connsiteX1" fmla="*/ 59531 w 595312"/>
                <a:gd name="connsiteY1" fmla="*/ 119063 h 119062"/>
                <a:gd name="connsiteX2" fmla="*/ 0 w 595312"/>
                <a:gd name="connsiteY2" fmla="*/ 59531 h 119062"/>
                <a:gd name="connsiteX3" fmla="*/ 59531 w 595312"/>
                <a:gd name="connsiteY3" fmla="*/ 0 h 119062"/>
                <a:gd name="connsiteX4" fmla="*/ 535781 w 595312"/>
                <a:gd name="connsiteY4" fmla="*/ 0 h 119062"/>
                <a:gd name="connsiteX5" fmla="*/ 595313 w 595312"/>
                <a:gd name="connsiteY5" fmla="*/ 59531 h 119062"/>
                <a:gd name="connsiteX6" fmla="*/ 535781 w 595312"/>
                <a:gd name="connsiteY6" fmla="*/ 119063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312" h="119062">
                  <a:moveTo>
                    <a:pt x="535781" y="119063"/>
                  </a:moveTo>
                  <a:lnTo>
                    <a:pt x="59531" y="119063"/>
                  </a:lnTo>
                  <a:cubicBezTo>
                    <a:pt x="26603" y="119063"/>
                    <a:pt x="0" y="92459"/>
                    <a:pt x="0" y="59531"/>
                  </a:cubicBezTo>
                  <a:cubicBezTo>
                    <a:pt x="0" y="26603"/>
                    <a:pt x="26603" y="0"/>
                    <a:pt x="59531" y="0"/>
                  </a:cubicBezTo>
                  <a:lnTo>
                    <a:pt x="535781" y="0"/>
                  </a:lnTo>
                  <a:cubicBezTo>
                    <a:pt x="568710" y="0"/>
                    <a:pt x="595313" y="26603"/>
                    <a:pt x="595313" y="59531"/>
                  </a:cubicBezTo>
                  <a:cubicBezTo>
                    <a:pt x="595313" y="92459"/>
                    <a:pt x="568710" y="119063"/>
                    <a:pt x="535781" y="11906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-598545" y="3453763"/>
              <a:ext cx="263704" cy="263751"/>
            </a:xfrm>
            <a:custGeom>
              <a:avLst/>
              <a:gdLst>
                <a:gd name="connsiteX0" fmla="*/ 59485 w 263704"/>
                <a:gd name="connsiteY0" fmla="*/ 263751 h 263751"/>
                <a:gd name="connsiteX1" fmla="*/ 17441 w 263704"/>
                <a:gd name="connsiteY1" fmla="*/ 246264 h 263751"/>
                <a:gd name="connsiteX2" fmla="*/ 17441 w 263704"/>
                <a:gd name="connsiteY2" fmla="*/ 161990 h 263751"/>
                <a:gd name="connsiteX3" fmla="*/ 161990 w 263704"/>
                <a:gd name="connsiteY3" fmla="*/ 17441 h 263751"/>
                <a:gd name="connsiteX4" fmla="*/ 246264 w 263704"/>
                <a:gd name="connsiteY4" fmla="*/ 17441 h 263751"/>
                <a:gd name="connsiteX5" fmla="*/ 246264 w 263704"/>
                <a:gd name="connsiteY5" fmla="*/ 101715 h 263751"/>
                <a:gd name="connsiteX6" fmla="*/ 101715 w 263704"/>
                <a:gd name="connsiteY6" fmla="*/ 246264 h 263751"/>
                <a:gd name="connsiteX7" fmla="*/ 59485 w 263704"/>
                <a:gd name="connsiteY7" fmla="*/ 263751 h 26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704" h="263751">
                  <a:moveTo>
                    <a:pt x="59485" y="263751"/>
                  </a:moveTo>
                  <a:cubicBezTo>
                    <a:pt x="44230" y="263751"/>
                    <a:pt x="28975" y="257984"/>
                    <a:pt x="17441" y="246264"/>
                  </a:cubicBezTo>
                  <a:cubicBezTo>
                    <a:pt x="-5814" y="223010"/>
                    <a:pt x="-5814" y="185245"/>
                    <a:pt x="17441" y="161990"/>
                  </a:cubicBezTo>
                  <a:lnTo>
                    <a:pt x="161990" y="17441"/>
                  </a:lnTo>
                  <a:cubicBezTo>
                    <a:pt x="185245" y="-5814"/>
                    <a:pt x="223010" y="-5814"/>
                    <a:pt x="246264" y="17441"/>
                  </a:cubicBezTo>
                  <a:cubicBezTo>
                    <a:pt x="269518" y="40695"/>
                    <a:pt x="269518" y="78460"/>
                    <a:pt x="246264" y="101715"/>
                  </a:cubicBezTo>
                  <a:lnTo>
                    <a:pt x="101715" y="246264"/>
                  </a:lnTo>
                  <a:cubicBezTo>
                    <a:pt x="89995" y="257984"/>
                    <a:pt x="74740" y="263751"/>
                    <a:pt x="59485" y="26375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-598545" y="3309213"/>
              <a:ext cx="263704" cy="263751"/>
            </a:xfrm>
            <a:custGeom>
              <a:avLst/>
              <a:gdLst>
                <a:gd name="connsiteX0" fmla="*/ 204034 w 263704"/>
                <a:gd name="connsiteY0" fmla="*/ 263751 h 263751"/>
                <a:gd name="connsiteX1" fmla="*/ 161990 w 263704"/>
                <a:gd name="connsiteY1" fmla="*/ 246264 h 263751"/>
                <a:gd name="connsiteX2" fmla="*/ 17441 w 263704"/>
                <a:gd name="connsiteY2" fmla="*/ 101715 h 263751"/>
                <a:gd name="connsiteX3" fmla="*/ 17441 w 263704"/>
                <a:gd name="connsiteY3" fmla="*/ 17441 h 263751"/>
                <a:gd name="connsiteX4" fmla="*/ 101715 w 263704"/>
                <a:gd name="connsiteY4" fmla="*/ 17441 h 263751"/>
                <a:gd name="connsiteX5" fmla="*/ 246264 w 263704"/>
                <a:gd name="connsiteY5" fmla="*/ 161990 h 263751"/>
                <a:gd name="connsiteX6" fmla="*/ 246264 w 263704"/>
                <a:gd name="connsiteY6" fmla="*/ 246264 h 263751"/>
                <a:gd name="connsiteX7" fmla="*/ 204034 w 263704"/>
                <a:gd name="connsiteY7" fmla="*/ 263751 h 26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704" h="263751">
                  <a:moveTo>
                    <a:pt x="204034" y="263751"/>
                  </a:moveTo>
                  <a:cubicBezTo>
                    <a:pt x="188779" y="263751"/>
                    <a:pt x="173524" y="257984"/>
                    <a:pt x="161990" y="246264"/>
                  </a:cubicBezTo>
                  <a:lnTo>
                    <a:pt x="17441" y="101715"/>
                  </a:lnTo>
                  <a:cubicBezTo>
                    <a:pt x="-5814" y="78460"/>
                    <a:pt x="-5814" y="40695"/>
                    <a:pt x="17441" y="17441"/>
                  </a:cubicBezTo>
                  <a:cubicBezTo>
                    <a:pt x="40695" y="-5814"/>
                    <a:pt x="78460" y="-5814"/>
                    <a:pt x="101715" y="17441"/>
                  </a:cubicBezTo>
                  <a:lnTo>
                    <a:pt x="246264" y="161990"/>
                  </a:lnTo>
                  <a:cubicBezTo>
                    <a:pt x="269518" y="185244"/>
                    <a:pt x="269518" y="223010"/>
                    <a:pt x="246264" y="246264"/>
                  </a:cubicBezTo>
                  <a:cubicBezTo>
                    <a:pt x="234544" y="257984"/>
                    <a:pt x="219289" y="263751"/>
                    <a:pt x="204034" y="26375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26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8924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业务数据深度解析</a:t>
            </a:r>
          </a:p>
        </p:txBody>
      </p:sp>
      <p:sp>
        <p:nvSpPr>
          <p:cNvPr id="26" name="任意多边形: 形状 25"/>
          <p:cNvSpPr/>
          <p:nvPr/>
        </p:nvSpPr>
        <p:spPr>
          <a:xfrm rot="10800000">
            <a:off x="195580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10800000">
            <a:off x="3187700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任意多边形: 形状 27"/>
          <p:cNvSpPr/>
          <p:nvPr/>
        </p:nvSpPr>
        <p:spPr>
          <a:xfrm rot="10800000">
            <a:off x="6179185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 rot="10800000">
            <a:off x="9171305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0" name="任意多边形: 形状 52"/>
          <p:cNvSpPr/>
          <p:nvPr/>
        </p:nvSpPr>
        <p:spPr>
          <a:xfrm>
            <a:off x="18732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318325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183630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55"/>
          <p:cNvSpPr/>
          <p:nvPr/>
        </p:nvSpPr>
        <p:spPr>
          <a:xfrm>
            <a:off x="918400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8470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纯电车型占比持续提升​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450590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线下渠道仍是核心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442075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用户留存复购双增长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434195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线上线索质量待优化</a:t>
            </a:r>
          </a:p>
        </p:txBody>
      </p:sp>
      <p:sp>
        <p:nvSpPr>
          <p:cNvPr id="57" name="矩形: 圆角 2"/>
          <p:cNvSpPr/>
          <p:nvPr/>
        </p:nvSpPr>
        <p:spPr>
          <a:xfrm>
            <a:off x="201295" y="803497"/>
            <a:ext cx="11765280" cy="80708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8" name="矩形: 圆顶角 9"/>
          <p:cNvSpPr/>
          <p:nvPr/>
        </p:nvSpPr>
        <p:spPr>
          <a:xfrm rot="5400000">
            <a:off x="488315" y="516026"/>
            <a:ext cx="807085" cy="1381125"/>
          </a:xfrm>
          <a:prstGeom prst="flowChartManualInpu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20928" y="883423"/>
            <a:ext cx="8849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基本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情况</a:t>
            </a:r>
          </a:p>
        </p:txBody>
      </p:sp>
      <p:cxnSp>
        <p:nvCxnSpPr>
          <p:cNvPr id="60" name="直接连接符 59"/>
          <p:cNvCxnSpPr/>
          <p:nvPr/>
        </p:nvCxnSpPr>
        <p:spPr>
          <a:xfrm>
            <a:off x="4285228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9447778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5250627" y="850289"/>
            <a:ext cx="1114618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到店客流量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5250627" y="1042694"/>
            <a:ext cx="17627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万人次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83126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用户复购周期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831267" y="1042694"/>
            <a:ext cx="1493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个月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041317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线上渠道线索量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0413177" y="1042694"/>
            <a:ext cx="15386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5.2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万条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66871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累计销量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668717" y="1042694"/>
            <a:ext cx="150685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8.5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万辆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6866503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187325" y="1700530"/>
            <a:ext cx="3816685" cy="2269490"/>
            <a:chOff x="295" y="2678"/>
            <a:chExt cx="5569" cy="3574"/>
          </a:xfrm>
        </p:grpSpPr>
        <p:sp>
          <p:nvSpPr>
            <p:cNvPr id="72" name="矩形 71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3" name="梯形 72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508" y="2725"/>
              <a:ext cx="3142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季度车型销量占比（%）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176045" y="1700530"/>
            <a:ext cx="3816400" cy="2269490"/>
            <a:chOff x="295" y="2678"/>
            <a:chExt cx="5569" cy="3574"/>
          </a:xfrm>
        </p:grpSpPr>
        <p:sp>
          <p:nvSpPr>
            <p:cNvPr id="76" name="矩形 75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7" name="梯形 76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635" y="2725"/>
              <a:ext cx="2889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季度核心产品销量对比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164480" y="1700530"/>
            <a:ext cx="3816400" cy="2269490"/>
            <a:chOff x="295" y="2678"/>
            <a:chExt cx="5569" cy="3574"/>
          </a:xfrm>
        </p:grpSpPr>
        <p:sp>
          <p:nvSpPr>
            <p:cNvPr id="89" name="矩形 88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90" name="梯形 89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635" y="2725"/>
              <a:ext cx="2889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季度用户转化数据对比</a:t>
              </a:r>
            </a:p>
          </p:txBody>
        </p:sp>
      </p:grpSp>
      <p:graphicFrame>
        <p:nvGraphicFramePr>
          <p:cNvPr id="92" name="图表 91"/>
          <p:cNvGraphicFramePr/>
          <p:nvPr/>
        </p:nvGraphicFramePr>
        <p:xfrm>
          <a:off x="8371490" y="2195195"/>
          <a:ext cx="3401695" cy="1604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3" name="图表 92"/>
          <p:cNvGraphicFramePr/>
          <p:nvPr/>
        </p:nvGraphicFramePr>
        <p:xfrm>
          <a:off x="4358290" y="2157095"/>
          <a:ext cx="3451225" cy="1642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4" name="图表 93"/>
          <p:cNvGraphicFramePr/>
          <p:nvPr/>
        </p:nvGraphicFramePr>
        <p:xfrm>
          <a:off x="311953" y="2195195"/>
          <a:ext cx="3567430" cy="1604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5" name="文本框 94"/>
          <p:cNvSpPr txBox="1"/>
          <p:nvPr/>
        </p:nvSpPr>
        <p:spPr>
          <a:xfrm>
            <a:off x="32829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Q1-Q3 纯电车型占比从 49% 升至 54%，成销量主力，混动、燃油占比逐步下降。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: 圆角 28"/>
          <p:cNvSpPr/>
          <p:nvPr/>
        </p:nvSpPr>
        <p:spPr>
          <a:xfrm>
            <a:off x="37909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514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纯电主导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</a:t>
            </a:r>
          </a:p>
        </p:txBody>
      </p:sp>
      <p:sp>
        <p:nvSpPr>
          <p:cNvPr id="98" name="矩形: 圆角 28"/>
          <p:cNvSpPr/>
          <p:nvPr/>
        </p:nvSpPr>
        <p:spPr>
          <a:xfrm>
            <a:off x="162369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73037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占比攀升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角 28"/>
          <p:cNvSpPr/>
          <p:nvPr/>
        </p:nvSpPr>
        <p:spPr>
          <a:xfrm>
            <a:off x="37909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48577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混动下滑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</a:t>
            </a:r>
          </a:p>
        </p:txBody>
      </p:sp>
      <p:sp>
        <p:nvSpPr>
          <p:cNvPr id="102" name="矩形: 圆角 28"/>
          <p:cNvSpPr/>
          <p:nvPr/>
        </p:nvSpPr>
        <p:spPr>
          <a:xfrm>
            <a:off x="162369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6847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燃油降势​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3311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线下销量始终高于线上，Q3 达 1.42 万辆，转化率 14%，线上线下协同需加强。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28"/>
          <p:cNvSpPr/>
          <p:nvPr/>
        </p:nvSpPr>
        <p:spPr>
          <a:xfrm>
            <a:off x="338391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48996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线下核心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28"/>
          <p:cNvSpPr/>
          <p:nvPr/>
        </p:nvSpPr>
        <p:spPr>
          <a:xfrm>
            <a:off x="462851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73519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销量领先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28"/>
          <p:cNvSpPr/>
          <p:nvPr/>
        </p:nvSpPr>
        <p:spPr>
          <a:xfrm>
            <a:off x="338391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49059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转化稳定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28"/>
          <p:cNvSpPr/>
          <p:nvPr/>
        </p:nvSpPr>
        <p:spPr>
          <a:xfrm>
            <a:off x="462851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77329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协同待强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33793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新用户数 Q3 达 3 万，3 个月留存 2.22 万，复购率 25%，用户粘性持续增强。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28"/>
          <p:cNvSpPr/>
          <p:nvPr/>
        </p:nvSpPr>
        <p:spPr>
          <a:xfrm>
            <a:off x="638873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49478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新客增长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28"/>
          <p:cNvSpPr/>
          <p:nvPr/>
        </p:nvSpPr>
        <p:spPr>
          <a:xfrm>
            <a:off x="763333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74001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留存向好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28"/>
          <p:cNvSpPr/>
          <p:nvPr/>
        </p:nvSpPr>
        <p:spPr>
          <a:xfrm>
            <a:off x="638873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49541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复购提升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: 圆角 28"/>
          <p:cNvSpPr/>
          <p:nvPr/>
        </p:nvSpPr>
        <p:spPr>
          <a:xfrm>
            <a:off x="763333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777811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粘性增强​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34275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Q3 线上线索 5.2 万条，但有效占比 72%，较 Q2 降 4%，需提升线索筛选精度。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: 圆角 28"/>
          <p:cNvSpPr/>
          <p:nvPr/>
        </p:nvSpPr>
        <p:spPr>
          <a:xfrm>
            <a:off x="939355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949960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线索量足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: 圆角 28"/>
          <p:cNvSpPr/>
          <p:nvPr/>
        </p:nvSpPr>
        <p:spPr>
          <a:xfrm>
            <a:off x="1063815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074483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有效率降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矩形: 圆角 28"/>
          <p:cNvSpPr/>
          <p:nvPr/>
        </p:nvSpPr>
        <p:spPr>
          <a:xfrm>
            <a:off x="939355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50023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质量待优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矩形: 圆角 28"/>
          <p:cNvSpPr/>
          <p:nvPr/>
        </p:nvSpPr>
        <p:spPr>
          <a:xfrm>
            <a:off x="1063815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78293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筛选提效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图形 2"/>
          <p:cNvSpPr/>
          <p:nvPr/>
        </p:nvSpPr>
        <p:spPr>
          <a:xfrm>
            <a:off x="1949539" y="926642"/>
            <a:ext cx="653879" cy="475548"/>
          </a:xfrm>
          <a:custGeom>
            <a:avLst/>
            <a:gdLst>
              <a:gd name="connsiteX0" fmla="*/ 1842373 w 2619375"/>
              <a:gd name="connsiteY0" fmla="*/ 0 h 1905000"/>
              <a:gd name="connsiteX1" fmla="*/ 789623 w 2619375"/>
              <a:gd name="connsiteY1" fmla="*/ 0 h 1905000"/>
              <a:gd name="connsiteX2" fmla="*/ 451128 w 2619375"/>
              <a:gd name="connsiteY2" fmla="*/ 263962 h 1905000"/>
              <a:gd name="connsiteX3" fmla="*/ 338376 w 2619375"/>
              <a:gd name="connsiteY3" fmla="*/ 573762 h 1905000"/>
              <a:gd name="connsiteX4" fmla="*/ 313373 w 2619375"/>
              <a:gd name="connsiteY4" fmla="*/ 562332 h 1905000"/>
              <a:gd name="connsiteX5" fmla="*/ 62627 w 2619375"/>
              <a:gd name="connsiteY5" fmla="*/ 562332 h 1905000"/>
              <a:gd name="connsiteX6" fmla="*/ 0 w 2619375"/>
              <a:gd name="connsiteY6" fmla="*/ 619720 h 1905000"/>
              <a:gd name="connsiteX7" fmla="*/ 0 w 2619375"/>
              <a:gd name="connsiteY7" fmla="*/ 677108 h 1905000"/>
              <a:gd name="connsiteX8" fmla="*/ 62627 w 2619375"/>
              <a:gd name="connsiteY8" fmla="*/ 734497 h 1905000"/>
              <a:gd name="connsiteX9" fmla="*/ 150376 w 2619375"/>
              <a:gd name="connsiteY9" fmla="*/ 745927 h 1905000"/>
              <a:gd name="connsiteX10" fmla="*/ 100370 w 2619375"/>
              <a:gd name="connsiteY10" fmla="*/ 929521 h 1905000"/>
              <a:gd name="connsiteX11" fmla="*/ 62627 w 2619375"/>
              <a:gd name="connsiteY11" fmla="*/ 1296829 h 1905000"/>
              <a:gd name="connsiteX12" fmla="*/ 62627 w 2619375"/>
              <a:gd name="connsiteY12" fmla="*/ 1790224 h 1905000"/>
              <a:gd name="connsiteX13" fmla="*/ 188000 w 2619375"/>
              <a:gd name="connsiteY13" fmla="*/ 1905000 h 1905000"/>
              <a:gd name="connsiteX14" fmla="*/ 375999 w 2619375"/>
              <a:gd name="connsiteY14" fmla="*/ 1905000 h 1905000"/>
              <a:gd name="connsiteX15" fmla="*/ 501372 w 2619375"/>
              <a:gd name="connsiteY15" fmla="*/ 1790224 h 1905000"/>
              <a:gd name="connsiteX16" fmla="*/ 501372 w 2619375"/>
              <a:gd name="connsiteY16" fmla="*/ 1652588 h 1905000"/>
              <a:gd name="connsiteX17" fmla="*/ 2118122 w 2619375"/>
              <a:gd name="connsiteY17" fmla="*/ 1652588 h 1905000"/>
              <a:gd name="connsiteX18" fmla="*/ 2118122 w 2619375"/>
              <a:gd name="connsiteY18" fmla="*/ 1790224 h 1905000"/>
              <a:gd name="connsiteX19" fmla="*/ 2243379 w 2619375"/>
              <a:gd name="connsiteY19" fmla="*/ 1905000 h 1905000"/>
              <a:gd name="connsiteX20" fmla="*/ 2431498 w 2619375"/>
              <a:gd name="connsiteY20" fmla="*/ 1905000 h 1905000"/>
              <a:gd name="connsiteX21" fmla="*/ 2556756 w 2619375"/>
              <a:gd name="connsiteY21" fmla="*/ 1790224 h 1905000"/>
              <a:gd name="connsiteX22" fmla="*/ 2556756 w 2619375"/>
              <a:gd name="connsiteY22" fmla="*/ 1296710 h 1905000"/>
              <a:gd name="connsiteX23" fmla="*/ 2519121 w 2619375"/>
              <a:gd name="connsiteY23" fmla="*/ 929521 h 1905000"/>
              <a:gd name="connsiteX24" fmla="*/ 2469003 w 2619375"/>
              <a:gd name="connsiteY24" fmla="*/ 745927 h 1905000"/>
              <a:gd name="connsiteX25" fmla="*/ 2556756 w 2619375"/>
              <a:gd name="connsiteY25" fmla="*/ 734497 h 1905000"/>
              <a:gd name="connsiteX26" fmla="*/ 2619375 w 2619375"/>
              <a:gd name="connsiteY26" fmla="*/ 677108 h 1905000"/>
              <a:gd name="connsiteX27" fmla="*/ 2619375 w 2619375"/>
              <a:gd name="connsiteY27" fmla="*/ 619720 h 1905000"/>
              <a:gd name="connsiteX28" fmla="*/ 2556756 w 2619375"/>
              <a:gd name="connsiteY28" fmla="*/ 562332 h 1905000"/>
              <a:gd name="connsiteX29" fmla="*/ 2305999 w 2619375"/>
              <a:gd name="connsiteY29" fmla="*/ 562332 h 1905000"/>
              <a:gd name="connsiteX30" fmla="*/ 2268494 w 2619375"/>
              <a:gd name="connsiteY30" fmla="*/ 573762 h 1905000"/>
              <a:gd name="connsiteX31" fmla="*/ 2155627 w 2619375"/>
              <a:gd name="connsiteY31" fmla="*/ 263962 h 1905000"/>
              <a:gd name="connsiteX32" fmla="*/ 1842373 w 2619375"/>
              <a:gd name="connsiteY32" fmla="*/ 0 h 1905000"/>
              <a:gd name="connsiteX33" fmla="*/ 601623 w 2619375"/>
              <a:gd name="connsiteY33" fmla="*/ 1101685 h 1905000"/>
              <a:gd name="connsiteX34" fmla="*/ 789623 w 2619375"/>
              <a:gd name="connsiteY34" fmla="*/ 1273850 h 1905000"/>
              <a:gd name="connsiteX35" fmla="*/ 601504 w 2619375"/>
              <a:gd name="connsiteY35" fmla="*/ 1446014 h 1905000"/>
              <a:gd name="connsiteX36" fmla="*/ 413623 w 2619375"/>
              <a:gd name="connsiteY36" fmla="*/ 1273850 h 1905000"/>
              <a:gd name="connsiteX37" fmla="*/ 601623 w 2619375"/>
              <a:gd name="connsiteY37" fmla="*/ 1101685 h 1905000"/>
              <a:gd name="connsiteX38" fmla="*/ 2030369 w 2619375"/>
              <a:gd name="connsiteY38" fmla="*/ 1101685 h 1905000"/>
              <a:gd name="connsiteX39" fmla="*/ 2218376 w 2619375"/>
              <a:gd name="connsiteY39" fmla="*/ 1273850 h 1905000"/>
              <a:gd name="connsiteX40" fmla="*/ 2030257 w 2619375"/>
              <a:gd name="connsiteY40" fmla="*/ 1446014 h 1905000"/>
              <a:gd name="connsiteX41" fmla="*/ 1842373 w 2619375"/>
              <a:gd name="connsiteY41" fmla="*/ 1273850 h 1905000"/>
              <a:gd name="connsiteX42" fmla="*/ 2030369 w 2619375"/>
              <a:gd name="connsiteY42" fmla="*/ 1101685 h 1905000"/>
              <a:gd name="connsiteX43" fmla="*/ 1955118 w 2619375"/>
              <a:gd name="connsiteY43" fmla="*/ 218003 h 1905000"/>
              <a:gd name="connsiteX44" fmla="*/ 2005254 w 2619375"/>
              <a:gd name="connsiteY44" fmla="*/ 298371 h 1905000"/>
              <a:gd name="connsiteX45" fmla="*/ 2093007 w 2619375"/>
              <a:gd name="connsiteY45" fmla="*/ 504944 h 1905000"/>
              <a:gd name="connsiteX46" fmla="*/ 2118010 w 2619375"/>
              <a:gd name="connsiteY46" fmla="*/ 619720 h 1905000"/>
              <a:gd name="connsiteX47" fmla="*/ 1917502 w 2619375"/>
              <a:gd name="connsiteY47" fmla="*/ 768906 h 1905000"/>
              <a:gd name="connsiteX48" fmla="*/ 714375 w 2619375"/>
              <a:gd name="connsiteY48" fmla="*/ 768906 h 1905000"/>
              <a:gd name="connsiteX49" fmla="*/ 513874 w 2619375"/>
              <a:gd name="connsiteY49" fmla="*/ 619720 h 1905000"/>
              <a:gd name="connsiteX50" fmla="*/ 538877 w 2619375"/>
              <a:gd name="connsiteY50" fmla="*/ 504944 h 1905000"/>
              <a:gd name="connsiteX51" fmla="*/ 626626 w 2619375"/>
              <a:gd name="connsiteY51" fmla="*/ 309801 h 1905000"/>
              <a:gd name="connsiteX52" fmla="*/ 676751 w 2619375"/>
              <a:gd name="connsiteY52" fmla="*/ 229553 h 1905000"/>
              <a:gd name="connsiteX53" fmla="*/ 1955118 w 2619375"/>
              <a:gd name="connsiteY53" fmla="*/ 229553 h 1905000"/>
              <a:gd name="connsiteX54" fmla="*/ 1955118 w 2619375"/>
              <a:gd name="connsiteY54" fmla="*/ 217884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619375" h="1905000">
                <a:moveTo>
                  <a:pt x="1842373" y="0"/>
                </a:moveTo>
                <a:lnTo>
                  <a:pt x="789623" y="0"/>
                </a:lnTo>
                <a:cubicBezTo>
                  <a:pt x="601504" y="0"/>
                  <a:pt x="488752" y="114776"/>
                  <a:pt x="451128" y="263962"/>
                </a:cubicBezTo>
                <a:lnTo>
                  <a:pt x="338376" y="573762"/>
                </a:lnTo>
                <a:cubicBezTo>
                  <a:pt x="338376" y="562332"/>
                  <a:pt x="325874" y="562332"/>
                  <a:pt x="313373" y="562332"/>
                </a:cubicBezTo>
                <a:lnTo>
                  <a:pt x="62627" y="562332"/>
                </a:lnTo>
                <a:cubicBezTo>
                  <a:pt x="25122" y="562332"/>
                  <a:pt x="0" y="585311"/>
                  <a:pt x="0" y="619720"/>
                </a:cubicBezTo>
                <a:lnTo>
                  <a:pt x="0" y="677108"/>
                </a:lnTo>
                <a:cubicBezTo>
                  <a:pt x="0" y="711518"/>
                  <a:pt x="25003" y="734497"/>
                  <a:pt x="62627" y="734497"/>
                </a:cubicBezTo>
                <a:lnTo>
                  <a:pt x="150376" y="745927"/>
                </a:lnTo>
                <a:cubicBezTo>
                  <a:pt x="125373" y="803315"/>
                  <a:pt x="100370" y="860703"/>
                  <a:pt x="100370" y="929521"/>
                </a:cubicBezTo>
                <a:lnTo>
                  <a:pt x="62627" y="1296829"/>
                </a:lnTo>
                <a:lnTo>
                  <a:pt x="62627" y="1790224"/>
                </a:lnTo>
                <a:cubicBezTo>
                  <a:pt x="62627" y="1847612"/>
                  <a:pt x="112752" y="1905000"/>
                  <a:pt x="188000" y="1905000"/>
                </a:cubicBezTo>
                <a:lnTo>
                  <a:pt x="375999" y="1905000"/>
                </a:lnTo>
                <a:cubicBezTo>
                  <a:pt x="438626" y="1905000"/>
                  <a:pt x="501372" y="1859042"/>
                  <a:pt x="501372" y="1790224"/>
                </a:cubicBezTo>
                <a:lnTo>
                  <a:pt x="501372" y="1652588"/>
                </a:lnTo>
                <a:lnTo>
                  <a:pt x="2118122" y="1652588"/>
                </a:lnTo>
                <a:lnTo>
                  <a:pt x="2118122" y="1790224"/>
                </a:lnTo>
                <a:cubicBezTo>
                  <a:pt x="2118122" y="1847612"/>
                  <a:pt x="2168128" y="1905000"/>
                  <a:pt x="2243379" y="1905000"/>
                </a:cubicBezTo>
                <a:lnTo>
                  <a:pt x="2431498" y="1905000"/>
                </a:lnTo>
                <a:cubicBezTo>
                  <a:pt x="2494006" y="1905000"/>
                  <a:pt x="2556756" y="1859042"/>
                  <a:pt x="2556756" y="1790224"/>
                </a:cubicBezTo>
                <a:lnTo>
                  <a:pt x="2556756" y="1296710"/>
                </a:lnTo>
                <a:lnTo>
                  <a:pt x="2519121" y="929521"/>
                </a:lnTo>
                <a:cubicBezTo>
                  <a:pt x="2519121" y="860703"/>
                  <a:pt x="2506619" y="803315"/>
                  <a:pt x="2469003" y="745927"/>
                </a:cubicBezTo>
                <a:lnTo>
                  <a:pt x="2556756" y="734497"/>
                </a:lnTo>
                <a:cubicBezTo>
                  <a:pt x="2594372" y="734497"/>
                  <a:pt x="2619375" y="711518"/>
                  <a:pt x="2619375" y="677108"/>
                </a:cubicBezTo>
                <a:lnTo>
                  <a:pt x="2619375" y="619720"/>
                </a:lnTo>
                <a:cubicBezTo>
                  <a:pt x="2619375" y="585192"/>
                  <a:pt x="2594372" y="562332"/>
                  <a:pt x="2556756" y="562332"/>
                </a:cubicBezTo>
                <a:lnTo>
                  <a:pt x="2305999" y="562332"/>
                </a:lnTo>
                <a:cubicBezTo>
                  <a:pt x="2293497" y="562332"/>
                  <a:pt x="2280996" y="562332"/>
                  <a:pt x="2268494" y="573762"/>
                </a:cubicBezTo>
                <a:lnTo>
                  <a:pt x="2155627" y="263962"/>
                </a:lnTo>
                <a:cubicBezTo>
                  <a:pt x="2143125" y="91678"/>
                  <a:pt x="2005254" y="0"/>
                  <a:pt x="1842373" y="0"/>
                </a:cubicBezTo>
                <a:close/>
                <a:moveTo>
                  <a:pt x="601623" y="1101685"/>
                </a:moveTo>
                <a:cubicBezTo>
                  <a:pt x="701873" y="1101685"/>
                  <a:pt x="789623" y="1182053"/>
                  <a:pt x="789623" y="1273850"/>
                </a:cubicBezTo>
                <a:cubicBezTo>
                  <a:pt x="789623" y="1365528"/>
                  <a:pt x="701873" y="1446014"/>
                  <a:pt x="601504" y="1446014"/>
                </a:cubicBezTo>
                <a:cubicBezTo>
                  <a:pt x="501372" y="1446014"/>
                  <a:pt x="413623" y="1365647"/>
                  <a:pt x="413623" y="1273850"/>
                </a:cubicBezTo>
                <a:cubicBezTo>
                  <a:pt x="413623" y="1182053"/>
                  <a:pt x="501372" y="1101685"/>
                  <a:pt x="601623" y="1101685"/>
                </a:cubicBezTo>
                <a:close/>
                <a:moveTo>
                  <a:pt x="2030369" y="1101685"/>
                </a:moveTo>
                <a:cubicBezTo>
                  <a:pt x="2130624" y="1101685"/>
                  <a:pt x="2218376" y="1182053"/>
                  <a:pt x="2218376" y="1273850"/>
                </a:cubicBezTo>
                <a:cubicBezTo>
                  <a:pt x="2218376" y="1365528"/>
                  <a:pt x="2130624" y="1446014"/>
                  <a:pt x="2030257" y="1446014"/>
                </a:cubicBezTo>
                <a:cubicBezTo>
                  <a:pt x="1930115" y="1446014"/>
                  <a:pt x="1842373" y="1365647"/>
                  <a:pt x="1842373" y="1273850"/>
                </a:cubicBezTo>
                <a:cubicBezTo>
                  <a:pt x="1842373" y="1182053"/>
                  <a:pt x="1930003" y="1101685"/>
                  <a:pt x="2030369" y="1101685"/>
                </a:cubicBezTo>
                <a:close/>
                <a:moveTo>
                  <a:pt x="1955118" y="218003"/>
                </a:moveTo>
                <a:cubicBezTo>
                  <a:pt x="1980121" y="252532"/>
                  <a:pt x="2005254" y="252532"/>
                  <a:pt x="2005254" y="298371"/>
                </a:cubicBezTo>
                <a:lnTo>
                  <a:pt x="2093007" y="504944"/>
                </a:lnTo>
                <a:lnTo>
                  <a:pt x="2118010" y="619720"/>
                </a:lnTo>
                <a:cubicBezTo>
                  <a:pt x="2105509" y="700088"/>
                  <a:pt x="2005254" y="768906"/>
                  <a:pt x="1917502" y="768906"/>
                </a:cubicBezTo>
                <a:lnTo>
                  <a:pt x="714375" y="768906"/>
                </a:lnTo>
                <a:cubicBezTo>
                  <a:pt x="626626" y="768906"/>
                  <a:pt x="513874" y="700088"/>
                  <a:pt x="513874" y="619720"/>
                </a:cubicBezTo>
                <a:lnTo>
                  <a:pt x="538877" y="504944"/>
                </a:lnTo>
                <a:lnTo>
                  <a:pt x="626626" y="309801"/>
                </a:lnTo>
                <a:cubicBezTo>
                  <a:pt x="639128" y="263962"/>
                  <a:pt x="651629" y="263962"/>
                  <a:pt x="676751" y="229553"/>
                </a:cubicBezTo>
                <a:lnTo>
                  <a:pt x="1955118" y="229553"/>
                </a:lnTo>
                <a:lnTo>
                  <a:pt x="1955118" y="21788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图形 6"/>
          <p:cNvSpPr/>
          <p:nvPr/>
        </p:nvSpPr>
        <p:spPr>
          <a:xfrm>
            <a:off x="7288816" y="914116"/>
            <a:ext cx="520699" cy="503255"/>
          </a:xfrm>
          <a:custGeom>
            <a:avLst/>
            <a:gdLst>
              <a:gd name="connsiteX0" fmla="*/ 762000 w 1523999"/>
              <a:gd name="connsiteY0" fmla="*/ 723137 h 1472944"/>
              <a:gd name="connsiteX1" fmla="*/ 1123569 w 1523999"/>
              <a:gd name="connsiteY1" fmla="*/ 361569 h 1472944"/>
              <a:gd name="connsiteX2" fmla="*/ 762000 w 1523999"/>
              <a:gd name="connsiteY2" fmla="*/ 0 h 1472944"/>
              <a:gd name="connsiteX3" fmla="*/ 400431 w 1523999"/>
              <a:gd name="connsiteY3" fmla="*/ 361569 h 1472944"/>
              <a:gd name="connsiteX4" fmla="*/ 762000 w 1523999"/>
              <a:gd name="connsiteY4" fmla="*/ 723137 h 1472944"/>
              <a:gd name="connsiteX5" fmla="*/ 762000 w 1523999"/>
              <a:gd name="connsiteY5" fmla="*/ 95250 h 1472944"/>
              <a:gd name="connsiteX6" fmla="*/ 1028319 w 1523999"/>
              <a:gd name="connsiteY6" fmla="*/ 361569 h 1472944"/>
              <a:gd name="connsiteX7" fmla="*/ 762000 w 1523999"/>
              <a:gd name="connsiteY7" fmla="*/ 627887 h 1472944"/>
              <a:gd name="connsiteX8" fmla="*/ 495681 w 1523999"/>
              <a:gd name="connsiteY8" fmla="*/ 361569 h 1472944"/>
              <a:gd name="connsiteX9" fmla="*/ 762000 w 1523999"/>
              <a:gd name="connsiteY9" fmla="*/ 95250 h 1472944"/>
              <a:gd name="connsiteX10" fmla="*/ 952500 w 1523999"/>
              <a:gd name="connsiteY10" fmla="*/ 806195 h 1472944"/>
              <a:gd name="connsiteX11" fmla="*/ 571500 w 1523999"/>
              <a:gd name="connsiteY11" fmla="*/ 806195 h 1472944"/>
              <a:gd name="connsiteX12" fmla="*/ 0 w 1523999"/>
              <a:gd name="connsiteY12" fmla="*/ 1377695 h 1472944"/>
              <a:gd name="connsiteX13" fmla="*/ 95250 w 1523999"/>
              <a:gd name="connsiteY13" fmla="*/ 1472945 h 1472944"/>
              <a:gd name="connsiteX14" fmla="*/ 1428750 w 1523999"/>
              <a:gd name="connsiteY14" fmla="*/ 1472945 h 1472944"/>
              <a:gd name="connsiteX15" fmla="*/ 1524000 w 1523999"/>
              <a:gd name="connsiteY15" fmla="*/ 1377695 h 1472944"/>
              <a:gd name="connsiteX16" fmla="*/ 952500 w 1523999"/>
              <a:gd name="connsiteY16" fmla="*/ 806195 h 1472944"/>
              <a:gd name="connsiteX17" fmla="*/ 95250 w 1523999"/>
              <a:gd name="connsiteY17" fmla="*/ 1377695 h 1472944"/>
              <a:gd name="connsiteX18" fmla="*/ 571500 w 1523999"/>
              <a:gd name="connsiteY18" fmla="*/ 901444 h 1472944"/>
              <a:gd name="connsiteX19" fmla="*/ 952500 w 1523999"/>
              <a:gd name="connsiteY19" fmla="*/ 901444 h 1472944"/>
              <a:gd name="connsiteX20" fmla="*/ 1428750 w 1523999"/>
              <a:gd name="connsiteY20" fmla="*/ 1377695 h 1472944"/>
              <a:gd name="connsiteX21" fmla="*/ 95250 w 1523999"/>
              <a:gd name="connsiteY21" fmla="*/ 1377695 h 147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999" h="1472944">
                <a:moveTo>
                  <a:pt x="762000" y="723137"/>
                </a:moveTo>
                <a:cubicBezTo>
                  <a:pt x="961688" y="723137"/>
                  <a:pt x="1123569" y="561257"/>
                  <a:pt x="1123569" y="361569"/>
                </a:cubicBezTo>
                <a:cubicBezTo>
                  <a:pt x="1123569" y="161878"/>
                  <a:pt x="961688" y="0"/>
                  <a:pt x="762000" y="0"/>
                </a:cubicBezTo>
                <a:cubicBezTo>
                  <a:pt x="562312" y="0"/>
                  <a:pt x="400431" y="161878"/>
                  <a:pt x="400431" y="361569"/>
                </a:cubicBezTo>
                <a:cubicBezTo>
                  <a:pt x="400431" y="561257"/>
                  <a:pt x="562312" y="723137"/>
                  <a:pt x="762000" y="723137"/>
                </a:cubicBezTo>
                <a:close/>
                <a:moveTo>
                  <a:pt x="762000" y="95250"/>
                </a:moveTo>
                <a:cubicBezTo>
                  <a:pt x="909018" y="95406"/>
                  <a:pt x="1028162" y="214549"/>
                  <a:pt x="1028319" y="361569"/>
                </a:cubicBezTo>
                <a:cubicBezTo>
                  <a:pt x="1028319" y="508443"/>
                  <a:pt x="908875" y="627887"/>
                  <a:pt x="762000" y="627887"/>
                </a:cubicBezTo>
                <a:cubicBezTo>
                  <a:pt x="615125" y="627887"/>
                  <a:pt x="495681" y="508443"/>
                  <a:pt x="495681" y="361569"/>
                </a:cubicBezTo>
                <a:cubicBezTo>
                  <a:pt x="495838" y="214549"/>
                  <a:pt x="614982" y="95406"/>
                  <a:pt x="762000" y="95250"/>
                </a:cubicBezTo>
                <a:close/>
                <a:moveTo>
                  <a:pt x="952500" y="806195"/>
                </a:moveTo>
                <a:lnTo>
                  <a:pt x="571500" y="806195"/>
                </a:lnTo>
                <a:cubicBezTo>
                  <a:pt x="255869" y="806195"/>
                  <a:pt x="0" y="1062066"/>
                  <a:pt x="0" y="1377695"/>
                </a:cubicBezTo>
                <a:cubicBezTo>
                  <a:pt x="0" y="1430300"/>
                  <a:pt x="42645" y="1472945"/>
                  <a:pt x="95250" y="1472945"/>
                </a:cubicBezTo>
                <a:lnTo>
                  <a:pt x="1428750" y="1472945"/>
                </a:lnTo>
                <a:cubicBezTo>
                  <a:pt x="1481355" y="1472945"/>
                  <a:pt x="1524000" y="1430300"/>
                  <a:pt x="1524000" y="1377695"/>
                </a:cubicBezTo>
                <a:cubicBezTo>
                  <a:pt x="1524000" y="1062066"/>
                  <a:pt x="1268131" y="806195"/>
                  <a:pt x="952500" y="806195"/>
                </a:cubicBezTo>
                <a:close/>
                <a:moveTo>
                  <a:pt x="95250" y="1377695"/>
                </a:moveTo>
                <a:cubicBezTo>
                  <a:pt x="95250" y="1115091"/>
                  <a:pt x="308896" y="901444"/>
                  <a:pt x="571500" y="901444"/>
                </a:cubicBezTo>
                <a:lnTo>
                  <a:pt x="952500" y="901444"/>
                </a:lnTo>
                <a:cubicBezTo>
                  <a:pt x="1215104" y="901444"/>
                  <a:pt x="1428750" y="1115091"/>
                  <a:pt x="1428750" y="1377695"/>
                </a:cubicBezTo>
                <a:lnTo>
                  <a:pt x="95250" y="137769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588871" y="914116"/>
            <a:ext cx="564066" cy="508629"/>
            <a:chOff x="-2307467" y="5109044"/>
            <a:chExt cx="1650927" cy="1488672"/>
          </a:xfrm>
          <a:solidFill>
            <a:schemeClr val="bg1"/>
          </a:solidFill>
        </p:grpSpPr>
        <p:sp>
          <p:nvSpPr>
            <p:cNvPr id="134" name="任意多边形: 形状 133"/>
            <p:cNvSpPr/>
            <p:nvPr/>
          </p:nvSpPr>
          <p:spPr>
            <a:xfrm>
              <a:off x="-2307467" y="5109044"/>
              <a:ext cx="1650927" cy="902419"/>
            </a:xfrm>
            <a:custGeom>
              <a:avLst/>
              <a:gdLst>
                <a:gd name="connsiteX0" fmla="*/ 1635234 w 1650927"/>
                <a:gd name="connsiteY0" fmla="*/ 476490 h 902419"/>
                <a:gd name="connsiteX1" fmla="*/ 1634914 w 1650927"/>
                <a:gd name="connsiteY1" fmla="*/ 473930 h 902419"/>
                <a:gd name="connsiteX2" fmla="*/ 1632034 w 1650927"/>
                <a:gd name="connsiteY2" fmla="*/ 464009 h 902419"/>
                <a:gd name="connsiteX3" fmla="*/ 1492192 w 1650927"/>
                <a:gd name="connsiteY3" fmla="*/ 116482 h 902419"/>
                <a:gd name="connsiteX4" fmla="*/ 1317467 w 1650927"/>
                <a:gd name="connsiteY4" fmla="*/ 0 h 902419"/>
                <a:gd name="connsiteX5" fmla="*/ 337927 w 1650927"/>
                <a:gd name="connsiteY5" fmla="*/ 0 h 902419"/>
                <a:gd name="connsiteX6" fmla="*/ 168643 w 1650927"/>
                <a:gd name="connsiteY6" fmla="*/ 112963 h 902419"/>
                <a:gd name="connsiteX7" fmla="*/ 18560 w 1650927"/>
                <a:gd name="connsiteY7" fmla="*/ 467531 h 902419"/>
                <a:gd name="connsiteX8" fmla="*/ 16320 w 1650927"/>
                <a:gd name="connsiteY8" fmla="*/ 475850 h 902419"/>
                <a:gd name="connsiteX9" fmla="*/ 0 w 1650927"/>
                <a:gd name="connsiteY9" fmla="*/ 578251 h 902419"/>
                <a:gd name="connsiteX10" fmla="*/ 173444 w 1650927"/>
                <a:gd name="connsiteY10" fmla="*/ 867218 h 902419"/>
                <a:gd name="connsiteX11" fmla="*/ 173444 w 1650927"/>
                <a:gd name="connsiteY11" fmla="*/ 867218 h 902419"/>
                <a:gd name="connsiteX12" fmla="*/ 173444 w 1650927"/>
                <a:gd name="connsiteY12" fmla="*/ 867218 h 902419"/>
                <a:gd name="connsiteX13" fmla="*/ 173444 w 1650927"/>
                <a:gd name="connsiteY13" fmla="*/ 867218 h 902419"/>
                <a:gd name="connsiteX14" fmla="*/ 173444 w 1650927"/>
                <a:gd name="connsiteY14" fmla="*/ 867218 h 902419"/>
                <a:gd name="connsiteX15" fmla="*/ 327366 w 1650927"/>
                <a:gd name="connsiteY15" fmla="*/ 902420 h 902419"/>
                <a:gd name="connsiteX16" fmla="*/ 577293 w 1650927"/>
                <a:gd name="connsiteY16" fmla="*/ 785617 h 902419"/>
                <a:gd name="connsiteX17" fmla="*/ 825936 w 1650927"/>
                <a:gd name="connsiteY17" fmla="*/ 901780 h 902419"/>
                <a:gd name="connsiteX18" fmla="*/ 1073302 w 1650927"/>
                <a:gd name="connsiteY18" fmla="*/ 785297 h 902419"/>
                <a:gd name="connsiteX19" fmla="*/ 1323867 w 1650927"/>
                <a:gd name="connsiteY19" fmla="*/ 901460 h 902419"/>
                <a:gd name="connsiteX20" fmla="*/ 1480350 w 1650927"/>
                <a:gd name="connsiteY20" fmla="*/ 864338 h 902419"/>
                <a:gd name="connsiteX21" fmla="*/ 1650915 w 1650927"/>
                <a:gd name="connsiteY21" fmla="*/ 576652 h 902419"/>
                <a:gd name="connsiteX22" fmla="*/ 1635234 w 1650927"/>
                <a:gd name="connsiteY22" fmla="*/ 476490 h 902419"/>
                <a:gd name="connsiteX23" fmla="*/ 1423710 w 1650927"/>
                <a:gd name="connsiteY23" fmla="*/ 760335 h 902419"/>
                <a:gd name="connsiteX24" fmla="*/ 1323867 w 1650927"/>
                <a:gd name="connsiteY24" fmla="*/ 782736 h 902419"/>
                <a:gd name="connsiteX25" fmla="*/ 1146585 w 1650927"/>
                <a:gd name="connsiteY25" fmla="*/ 683534 h 902419"/>
                <a:gd name="connsiteX26" fmla="*/ 1130584 w 1650927"/>
                <a:gd name="connsiteY26" fmla="*/ 658574 h 902419"/>
                <a:gd name="connsiteX27" fmla="*/ 1073622 w 1650927"/>
                <a:gd name="connsiteY27" fmla="*/ 634574 h 902419"/>
                <a:gd name="connsiteX28" fmla="*/ 1016342 w 1650927"/>
                <a:gd name="connsiteY28" fmla="*/ 659214 h 902419"/>
                <a:gd name="connsiteX29" fmla="*/ 1000661 w 1650927"/>
                <a:gd name="connsiteY29" fmla="*/ 683854 h 902419"/>
                <a:gd name="connsiteX30" fmla="*/ 825936 w 1650927"/>
                <a:gd name="connsiteY30" fmla="*/ 783056 h 902419"/>
                <a:gd name="connsiteX31" fmla="*/ 649934 w 1650927"/>
                <a:gd name="connsiteY31" fmla="*/ 683534 h 902419"/>
                <a:gd name="connsiteX32" fmla="*/ 635853 w 1650927"/>
                <a:gd name="connsiteY32" fmla="*/ 661134 h 902419"/>
                <a:gd name="connsiteX33" fmla="*/ 520971 w 1650927"/>
                <a:gd name="connsiteY33" fmla="*/ 658574 h 902419"/>
                <a:gd name="connsiteX34" fmla="*/ 504330 w 1650927"/>
                <a:gd name="connsiteY34" fmla="*/ 685134 h 902419"/>
                <a:gd name="connsiteX35" fmla="*/ 327688 w 1650927"/>
                <a:gd name="connsiteY35" fmla="*/ 784017 h 902419"/>
                <a:gd name="connsiteX36" fmla="*/ 229764 w 1650927"/>
                <a:gd name="connsiteY36" fmla="*/ 762577 h 902419"/>
                <a:gd name="connsiteX37" fmla="*/ 229764 w 1650927"/>
                <a:gd name="connsiteY37" fmla="*/ 762577 h 902419"/>
                <a:gd name="connsiteX38" fmla="*/ 229764 w 1650927"/>
                <a:gd name="connsiteY38" fmla="*/ 762577 h 902419"/>
                <a:gd name="connsiteX39" fmla="*/ 119362 w 1650927"/>
                <a:gd name="connsiteY39" fmla="*/ 578571 h 902419"/>
                <a:gd name="connsiteX40" fmla="*/ 130883 w 1650927"/>
                <a:gd name="connsiteY40" fmla="*/ 510410 h 902419"/>
                <a:gd name="connsiteX41" fmla="*/ 132163 w 1650927"/>
                <a:gd name="connsiteY41" fmla="*/ 505290 h 902419"/>
                <a:gd name="connsiteX42" fmla="*/ 280005 w 1650927"/>
                <a:gd name="connsiteY42" fmla="*/ 155844 h 902419"/>
                <a:gd name="connsiteX43" fmla="*/ 338247 w 1650927"/>
                <a:gd name="connsiteY43" fmla="*/ 119682 h 902419"/>
                <a:gd name="connsiteX44" fmla="*/ 1318107 w 1650927"/>
                <a:gd name="connsiteY44" fmla="*/ 119682 h 902419"/>
                <a:gd name="connsiteX45" fmla="*/ 1381149 w 1650927"/>
                <a:gd name="connsiteY45" fmla="*/ 158084 h 902419"/>
                <a:gd name="connsiteX46" fmla="*/ 1519392 w 1650927"/>
                <a:gd name="connsiteY46" fmla="*/ 502730 h 902419"/>
                <a:gd name="connsiteX47" fmla="*/ 1521312 w 1650927"/>
                <a:gd name="connsiteY47" fmla="*/ 509450 h 902419"/>
                <a:gd name="connsiteX48" fmla="*/ 1532833 w 1650927"/>
                <a:gd name="connsiteY48" fmla="*/ 577291 h 902419"/>
                <a:gd name="connsiteX49" fmla="*/ 1423710 w 1650927"/>
                <a:gd name="connsiteY49" fmla="*/ 760335 h 90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650927" h="902419">
                  <a:moveTo>
                    <a:pt x="1635234" y="476490"/>
                  </a:moveTo>
                  <a:cubicBezTo>
                    <a:pt x="1635234" y="475530"/>
                    <a:pt x="1634914" y="474890"/>
                    <a:pt x="1634914" y="473930"/>
                  </a:cubicBezTo>
                  <a:cubicBezTo>
                    <a:pt x="1634274" y="470411"/>
                    <a:pt x="1633314" y="467211"/>
                    <a:pt x="1632034" y="464009"/>
                  </a:cubicBezTo>
                  <a:lnTo>
                    <a:pt x="1492192" y="116482"/>
                  </a:lnTo>
                  <a:cubicBezTo>
                    <a:pt x="1467871" y="44481"/>
                    <a:pt x="1398750" y="320"/>
                    <a:pt x="1317467" y="0"/>
                  </a:cubicBezTo>
                  <a:lnTo>
                    <a:pt x="337927" y="0"/>
                  </a:lnTo>
                  <a:cubicBezTo>
                    <a:pt x="255685" y="0"/>
                    <a:pt x="191685" y="43841"/>
                    <a:pt x="168643" y="112963"/>
                  </a:cubicBezTo>
                  <a:lnTo>
                    <a:pt x="18560" y="467531"/>
                  </a:lnTo>
                  <a:cubicBezTo>
                    <a:pt x="17920" y="469771"/>
                    <a:pt x="16960" y="472650"/>
                    <a:pt x="16320" y="475850"/>
                  </a:cubicBezTo>
                  <a:cubicBezTo>
                    <a:pt x="5440" y="509450"/>
                    <a:pt x="0" y="543692"/>
                    <a:pt x="0" y="578251"/>
                  </a:cubicBezTo>
                  <a:cubicBezTo>
                    <a:pt x="0" y="699535"/>
                    <a:pt x="66561" y="810258"/>
                    <a:pt x="173444" y="867218"/>
                  </a:cubicBezTo>
                  <a:cubicBezTo>
                    <a:pt x="173444" y="867218"/>
                    <a:pt x="173444" y="867218"/>
                    <a:pt x="173444" y="867218"/>
                  </a:cubicBezTo>
                  <a:cubicBezTo>
                    <a:pt x="173444" y="867218"/>
                    <a:pt x="173444" y="867218"/>
                    <a:pt x="173444" y="867218"/>
                  </a:cubicBezTo>
                  <a:lnTo>
                    <a:pt x="173444" y="867218"/>
                  </a:lnTo>
                  <a:cubicBezTo>
                    <a:pt x="173444" y="867218"/>
                    <a:pt x="173444" y="867218"/>
                    <a:pt x="173444" y="867218"/>
                  </a:cubicBezTo>
                  <a:cubicBezTo>
                    <a:pt x="217285" y="890578"/>
                    <a:pt x="269126" y="902420"/>
                    <a:pt x="327366" y="902420"/>
                  </a:cubicBezTo>
                  <a:cubicBezTo>
                    <a:pt x="424969" y="902100"/>
                    <a:pt x="515531" y="859219"/>
                    <a:pt x="577293" y="785617"/>
                  </a:cubicBezTo>
                  <a:cubicBezTo>
                    <a:pt x="638733" y="858578"/>
                    <a:pt x="728335" y="901140"/>
                    <a:pt x="825936" y="901780"/>
                  </a:cubicBezTo>
                  <a:cubicBezTo>
                    <a:pt x="922580" y="901140"/>
                    <a:pt x="1012182" y="858258"/>
                    <a:pt x="1073302" y="785297"/>
                  </a:cubicBezTo>
                  <a:cubicBezTo>
                    <a:pt x="1135064" y="858898"/>
                    <a:pt x="1225625" y="901460"/>
                    <a:pt x="1323867" y="901460"/>
                  </a:cubicBezTo>
                  <a:cubicBezTo>
                    <a:pt x="1383389" y="901140"/>
                    <a:pt x="1435869" y="888659"/>
                    <a:pt x="1480350" y="864338"/>
                  </a:cubicBezTo>
                  <a:cubicBezTo>
                    <a:pt x="1585633" y="806738"/>
                    <a:pt x="1650915" y="696655"/>
                    <a:pt x="1650915" y="576652"/>
                  </a:cubicBezTo>
                  <a:cubicBezTo>
                    <a:pt x="1651235" y="542412"/>
                    <a:pt x="1645475" y="507850"/>
                    <a:pt x="1635234" y="476490"/>
                  </a:cubicBezTo>
                  <a:close/>
                  <a:moveTo>
                    <a:pt x="1423710" y="760335"/>
                  </a:moveTo>
                  <a:cubicBezTo>
                    <a:pt x="1396830" y="775056"/>
                    <a:pt x="1363228" y="782736"/>
                    <a:pt x="1323867" y="782736"/>
                  </a:cubicBezTo>
                  <a:cubicBezTo>
                    <a:pt x="1251226" y="782736"/>
                    <a:pt x="1185304" y="745936"/>
                    <a:pt x="1146585" y="683534"/>
                  </a:cubicBezTo>
                  <a:cubicBezTo>
                    <a:pt x="1143705" y="677775"/>
                    <a:pt x="1139223" y="667853"/>
                    <a:pt x="1130584" y="658574"/>
                  </a:cubicBezTo>
                  <a:cubicBezTo>
                    <a:pt x="1120663" y="647693"/>
                    <a:pt x="1103064" y="634574"/>
                    <a:pt x="1073622" y="634574"/>
                  </a:cubicBezTo>
                  <a:cubicBezTo>
                    <a:pt x="1049941" y="634574"/>
                    <a:pt x="1028501" y="644173"/>
                    <a:pt x="1016342" y="659214"/>
                  </a:cubicBezTo>
                  <a:cubicBezTo>
                    <a:pt x="1008340" y="668173"/>
                    <a:pt x="1003860" y="677135"/>
                    <a:pt x="1000661" y="683854"/>
                  </a:cubicBezTo>
                  <a:cubicBezTo>
                    <a:pt x="962581" y="745616"/>
                    <a:pt x="896980" y="782736"/>
                    <a:pt x="825936" y="783056"/>
                  </a:cubicBezTo>
                  <a:cubicBezTo>
                    <a:pt x="753935" y="782736"/>
                    <a:pt x="688334" y="745616"/>
                    <a:pt x="649934" y="683534"/>
                  </a:cubicBezTo>
                  <a:cubicBezTo>
                    <a:pt x="647374" y="678095"/>
                    <a:pt x="642893" y="668813"/>
                    <a:pt x="635853" y="661134"/>
                  </a:cubicBezTo>
                  <a:cubicBezTo>
                    <a:pt x="608013" y="627854"/>
                    <a:pt x="545291" y="629454"/>
                    <a:pt x="520971" y="658574"/>
                  </a:cubicBezTo>
                  <a:cubicBezTo>
                    <a:pt x="512011" y="668493"/>
                    <a:pt x="507210" y="678415"/>
                    <a:pt x="504330" y="685134"/>
                  </a:cubicBezTo>
                  <a:cubicBezTo>
                    <a:pt x="465930" y="746896"/>
                    <a:pt x="399689" y="783697"/>
                    <a:pt x="327688" y="784017"/>
                  </a:cubicBezTo>
                  <a:cubicBezTo>
                    <a:pt x="289286" y="784017"/>
                    <a:pt x="256325" y="776656"/>
                    <a:pt x="229764" y="762577"/>
                  </a:cubicBezTo>
                  <a:lnTo>
                    <a:pt x="229764" y="762577"/>
                  </a:lnTo>
                  <a:cubicBezTo>
                    <a:pt x="229764" y="762577"/>
                    <a:pt x="229764" y="762577"/>
                    <a:pt x="229764" y="762577"/>
                  </a:cubicBezTo>
                  <a:cubicBezTo>
                    <a:pt x="161603" y="726415"/>
                    <a:pt x="119362" y="655694"/>
                    <a:pt x="119362" y="578571"/>
                  </a:cubicBezTo>
                  <a:cubicBezTo>
                    <a:pt x="119362" y="555851"/>
                    <a:pt x="123202" y="532811"/>
                    <a:pt x="130883" y="510410"/>
                  </a:cubicBezTo>
                  <a:cubicBezTo>
                    <a:pt x="131523" y="508810"/>
                    <a:pt x="131843" y="506890"/>
                    <a:pt x="132163" y="505290"/>
                  </a:cubicBezTo>
                  <a:lnTo>
                    <a:pt x="280005" y="155844"/>
                  </a:lnTo>
                  <a:cubicBezTo>
                    <a:pt x="282887" y="146882"/>
                    <a:pt x="292166" y="119682"/>
                    <a:pt x="338247" y="119682"/>
                  </a:cubicBezTo>
                  <a:lnTo>
                    <a:pt x="1318107" y="119682"/>
                  </a:lnTo>
                  <a:cubicBezTo>
                    <a:pt x="1336988" y="120962"/>
                    <a:pt x="1369628" y="124162"/>
                    <a:pt x="1381149" y="158084"/>
                  </a:cubicBezTo>
                  <a:lnTo>
                    <a:pt x="1519392" y="502730"/>
                  </a:lnTo>
                  <a:cubicBezTo>
                    <a:pt x="1520032" y="505290"/>
                    <a:pt x="1520672" y="507530"/>
                    <a:pt x="1521312" y="509450"/>
                  </a:cubicBezTo>
                  <a:cubicBezTo>
                    <a:pt x="1528991" y="531851"/>
                    <a:pt x="1532833" y="554571"/>
                    <a:pt x="1532833" y="577291"/>
                  </a:cubicBezTo>
                  <a:cubicBezTo>
                    <a:pt x="1532193" y="653454"/>
                    <a:pt x="1490592" y="723536"/>
                    <a:pt x="1423710" y="76033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-2205384" y="6060105"/>
              <a:ext cx="1425628" cy="537611"/>
            </a:xfrm>
            <a:custGeom>
              <a:avLst/>
              <a:gdLst>
                <a:gd name="connsiteX0" fmla="*/ 1366108 w 1425628"/>
                <a:gd name="connsiteY0" fmla="*/ 0 h 537611"/>
                <a:gd name="connsiteX1" fmla="*/ 1306586 w 1425628"/>
                <a:gd name="connsiteY1" fmla="*/ 59522 h 537611"/>
                <a:gd name="connsiteX2" fmla="*/ 1306586 w 1425628"/>
                <a:gd name="connsiteY2" fmla="*/ 384328 h 537611"/>
                <a:gd name="connsiteX3" fmla="*/ 1272987 w 1425628"/>
                <a:gd name="connsiteY3" fmla="*/ 417928 h 537611"/>
                <a:gd name="connsiteX4" fmla="*/ 152962 w 1425628"/>
                <a:gd name="connsiteY4" fmla="*/ 418568 h 537611"/>
                <a:gd name="connsiteX5" fmla="*/ 119362 w 1425628"/>
                <a:gd name="connsiteY5" fmla="*/ 385288 h 537611"/>
                <a:gd name="connsiteX6" fmla="*/ 119042 w 1425628"/>
                <a:gd name="connsiteY6" fmla="*/ 66242 h 537611"/>
                <a:gd name="connsiteX7" fmla="*/ 59520 w 1425628"/>
                <a:gd name="connsiteY7" fmla="*/ 6720 h 537611"/>
                <a:gd name="connsiteX8" fmla="*/ 59520 w 1425628"/>
                <a:gd name="connsiteY8" fmla="*/ 6720 h 537611"/>
                <a:gd name="connsiteX9" fmla="*/ 0 w 1425628"/>
                <a:gd name="connsiteY9" fmla="*/ 66242 h 537611"/>
                <a:gd name="connsiteX10" fmla="*/ 320 w 1425628"/>
                <a:gd name="connsiteY10" fmla="*/ 385288 h 537611"/>
                <a:gd name="connsiteX11" fmla="*/ 152962 w 1425628"/>
                <a:gd name="connsiteY11" fmla="*/ 537612 h 537611"/>
                <a:gd name="connsiteX12" fmla="*/ 1273307 w 1425628"/>
                <a:gd name="connsiteY12" fmla="*/ 536972 h 537611"/>
                <a:gd name="connsiteX13" fmla="*/ 1425628 w 1425628"/>
                <a:gd name="connsiteY13" fmla="*/ 384328 h 537611"/>
                <a:gd name="connsiteX14" fmla="*/ 1425628 w 1425628"/>
                <a:gd name="connsiteY14" fmla="*/ 59522 h 537611"/>
                <a:gd name="connsiteX15" fmla="*/ 1366108 w 1425628"/>
                <a:gd name="connsiteY15" fmla="*/ 0 h 53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5628" h="537611">
                  <a:moveTo>
                    <a:pt x="1366108" y="0"/>
                  </a:moveTo>
                  <a:cubicBezTo>
                    <a:pt x="1333147" y="0"/>
                    <a:pt x="1306586" y="26560"/>
                    <a:pt x="1306586" y="59522"/>
                  </a:cubicBezTo>
                  <a:lnTo>
                    <a:pt x="1306586" y="384328"/>
                  </a:lnTo>
                  <a:cubicBezTo>
                    <a:pt x="1306586" y="402889"/>
                    <a:pt x="1291547" y="417928"/>
                    <a:pt x="1272987" y="417928"/>
                  </a:cubicBezTo>
                  <a:lnTo>
                    <a:pt x="152962" y="418568"/>
                  </a:lnTo>
                  <a:cubicBezTo>
                    <a:pt x="134401" y="418568"/>
                    <a:pt x="119362" y="403529"/>
                    <a:pt x="119362" y="385288"/>
                  </a:cubicBezTo>
                  <a:lnTo>
                    <a:pt x="119042" y="66242"/>
                  </a:lnTo>
                  <a:cubicBezTo>
                    <a:pt x="119042" y="33280"/>
                    <a:pt x="92162" y="6720"/>
                    <a:pt x="59520" y="6720"/>
                  </a:cubicBezTo>
                  <a:cubicBezTo>
                    <a:pt x="59520" y="6720"/>
                    <a:pt x="59520" y="6720"/>
                    <a:pt x="59520" y="6720"/>
                  </a:cubicBezTo>
                  <a:cubicBezTo>
                    <a:pt x="26560" y="6720"/>
                    <a:pt x="0" y="33600"/>
                    <a:pt x="0" y="66242"/>
                  </a:cubicBezTo>
                  <a:lnTo>
                    <a:pt x="320" y="385288"/>
                  </a:lnTo>
                  <a:cubicBezTo>
                    <a:pt x="320" y="469130"/>
                    <a:pt x="68801" y="537612"/>
                    <a:pt x="152962" y="537612"/>
                  </a:cubicBezTo>
                  <a:lnTo>
                    <a:pt x="1273307" y="536972"/>
                  </a:lnTo>
                  <a:cubicBezTo>
                    <a:pt x="1357147" y="536652"/>
                    <a:pt x="1425628" y="468490"/>
                    <a:pt x="1425628" y="384328"/>
                  </a:cubicBezTo>
                  <a:lnTo>
                    <a:pt x="1425628" y="59522"/>
                  </a:lnTo>
                  <a:cubicBezTo>
                    <a:pt x="1425628" y="26880"/>
                    <a:pt x="1399068" y="0"/>
                    <a:pt x="136610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-2028101" y="5524413"/>
              <a:ext cx="1071386" cy="119042"/>
            </a:xfrm>
            <a:custGeom>
              <a:avLst/>
              <a:gdLst>
                <a:gd name="connsiteX0" fmla="*/ 1012182 w 1071386"/>
                <a:gd name="connsiteY0" fmla="*/ 119042 h 119042"/>
                <a:gd name="connsiteX1" fmla="*/ 59522 w 1071386"/>
                <a:gd name="connsiteY1" fmla="*/ 119042 h 119042"/>
                <a:gd name="connsiteX2" fmla="*/ 0 w 1071386"/>
                <a:gd name="connsiteY2" fmla="*/ 59522 h 119042"/>
                <a:gd name="connsiteX3" fmla="*/ 59522 w 1071386"/>
                <a:gd name="connsiteY3" fmla="*/ 0 h 119042"/>
                <a:gd name="connsiteX4" fmla="*/ 1011862 w 1071386"/>
                <a:gd name="connsiteY4" fmla="*/ 0 h 119042"/>
                <a:gd name="connsiteX5" fmla="*/ 1071384 w 1071386"/>
                <a:gd name="connsiteY5" fmla="*/ 59522 h 119042"/>
                <a:gd name="connsiteX6" fmla="*/ 1012182 w 1071386"/>
                <a:gd name="connsiteY6" fmla="*/ 119042 h 11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386" h="119042">
                  <a:moveTo>
                    <a:pt x="1012182" y="119042"/>
                  </a:moveTo>
                  <a:lnTo>
                    <a:pt x="59522" y="119042"/>
                  </a:lnTo>
                  <a:cubicBezTo>
                    <a:pt x="26562" y="119042"/>
                    <a:pt x="0" y="92482"/>
                    <a:pt x="0" y="59522"/>
                  </a:cubicBezTo>
                  <a:cubicBezTo>
                    <a:pt x="0" y="26560"/>
                    <a:pt x="26562" y="0"/>
                    <a:pt x="59522" y="0"/>
                  </a:cubicBezTo>
                  <a:lnTo>
                    <a:pt x="1011862" y="0"/>
                  </a:lnTo>
                  <a:cubicBezTo>
                    <a:pt x="1044822" y="0"/>
                    <a:pt x="1071384" y="26560"/>
                    <a:pt x="1071384" y="59522"/>
                  </a:cubicBezTo>
                  <a:cubicBezTo>
                    <a:pt x="1071704" y="92482"/>
                    <a:pt x="1044822" y="119042"/>
                    <a:pt x="1012182" y="11904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9711630" y="919175"/>
            <a:ext cx="578555" cy="506235"/>
            <a:chOff x="-2751687" y="3000744"/>
            <a:chExt cx="1693333" cy="1481665"/>
          </a:xfrm>
          <a:solidFill>
            <a:schemeClr val="bg1"/>
          </a:solidFill>
        </p:grpSpPr>
        <p:sp>
          <p:nvSpPr>
            <p:cNvPr id="138" name="任意多边形: 形状 137"/>
            <p:cNvSpPr/>
            <p:nvPr/>
          </p:nvSpPr>
          <p:spPr>
            <a:xfrm>
              <a:off x="-2540020" y="3307661"/>
              <a:ext cx="1269998" cy="1174748"/>
            </a:xfrm>
            <a:custGeom>
              <a:avLst/>
              <a:gdLst>
                <a:gd name="connsiteX0" fmla="*/ 0 w 1269998"/>
                <a:gd name="connsiteY0" fmla="*/ 1068915 h 1174748"/>
                <a:gd name="connsiteX1" fmla="*/ 1269999 w 1269998"/>
                <a:gd name="connsiteY1" fmla="*/ 1068915 h 1174748"/>
                <a:gd name="connsiteX2" fmla="*/ 1269999 w 1269998"/>
                <a:gd name="connsiteY2" fmla="*/ 1174749 h 1174748"/>
                <a:gd name="connsiteX3" fmla="*/ 0 w 1269998"/>
                <a:gd name="connsiteY3" fmla="*/ 1174749 h 1174748"/>
                <a:gd name="connsiteX4" fmla="*/ 582084 w 1269998"/>
                <a:gd name="connsiteY4" fmla="*/ 486832 h 1174748"/>
                <a:gd name="connsiteX5" fmla="*/ 317499 w 1269998"/>
                <a:gd name="connsiteY5" fmla="*/ 211665 h 1174748"/>
                <a:gd name="connsiteX6" fmla="*/ 243416 w 1269998"/>
                <a:gd name="connsiteY6" fmla="*/ 285750 h 1174748"/>
                <a:gd name="connsiteX7" fmla="*/ 592665 w 1269998"/>
                <a:gd name="connsiteY7" fmla="*/ 645583 h 1174748"/>
                <a:gd name="connsiteX8" fmla="*/ 1058334 w 1269998"/>
                <a:gd name="connsiteY8" fmla="*/ 74083 h 1174748"/>
                <a:gd name="connsiteX9" fmla="*/ 973665 w 1269998"/>
                <a:gd name="connsiteY9" fmla="*/ 0 h 1174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9998" h="1174748">
                  <a:moveTo>
                    <a:pt x="0" y="1068915"/>
                  </a:moveTo>
                  <a:lnTo>
                    <a:pt x="1269999" y="1068915"/>
                  </a:lnTo>
                  <a:lnTo>
                    <a:pt x="1269999" y="1174749"/>
                  </a:lnTo>
                  <a:lnTo>
                    <a:pt x="0" y="1174749"/>
                  </a:lnTo>
                  <a:close/>
                  <a:moveTo>
                    <a:pt x="582084" y="486832"/>
                  </a:moveTo>
                  <a:lnTo>
                    <a:pt x="317499" y="211665"/>
                  </a:lnTo>
                  <a:lnTo>
                    <a:pt x="243416" y="285750"/>
                  </a:lnTo>
                  <a:lnTo>
                    <a:pt x="592665" y="645583"/>
                  </a:lnTo>
                  <a:lnTo>
                    <a:pt x="1058334" y="74083"/>
                  </a:lnTo>
                  <a:lnTo>
                    <a:pt x="973665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-2751687" y="3000744"/>
              <a:ext cx="1693333" cy="1269998"/>
            </a:xfrm>
            <a:custGeom>
              <a:avLst/>
              <a:gdLst>
                <a:gd name="connsiteX0" fmla="*/ 0 w 1693333"/>
                <a:gd name="connsiteY0" fmla="*/ 0 h 1269998"/>
                <a:gd name="connsiteX1" fmla="*/ 0 w 1693333"/>
                <a:gd name="connsiteY1" fmla="*/ 1269999 h 1269998"/>
                <a:gd name="connsiteX2" fmla="*/ 1693333 w 1693333"/>
                <a:gd name="connsiteY2" fmla="*/ 1269999 h 1269998"/>
                <a:gd name="connsiteX3" fmla="*/ 1693333 w 1693333"/>
                <a:gd name="connsiteY3" fmla="*/ 0 h 1269998"/>
                <a:gd name="connsiteX4" fmla="*/ 0 w 1693333"/>
                <a:gd name="connsiteY4" fmla="*/ 0 h 1269998"/>
                <a:gd name="connsiteX5" fmla="*/ 1587500 w 1693333"/>
                <a:gd name="connsiteY5" fmla="*/ 1164167 h 1269998"/>
                <a:gd name="connsiteX6" fmla="*/ 105834 w 1693333"/>
                <a:gd name="connsiteY6" fmla="*/ 1164167 h 1269998"/>
                <a:gd name="connsiteX7" fmla="*/ 105834 w 1693333"/>
                <a:gd name="connsiteY7" fmla="*/ 105834 h 1269998"/>
                <a:gd name="connsiteX8" fmla="*/ 1587500 w 1693333"/>
                <a:gd name="connsiteY8" fmla="*/ 105834 h 1269998"/>
                <a:gd name="connsiteX9" fmla="*/ 1587500 w 1693333"/>
                <a:gd name="connsiteY9" fmla="*/ 1164167 h 126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93333" h="1269998">
                  <a:moveTo>
                    <a:pt x="0" y="0"/>
                  </a:moveTo>
                  <a:lnTo>
                    <a:pt x="0" y="1269999"/>
                  </a:lnTo>
                  <a:lnTo>
                    <a:pt x="1693333" y="1269999"/>
                  </a:lnTo>
                  <a:lnTo>
                    <a:pt x="1693333" y="0"/>
                  </a:lnTo>
                  <a:lnTo>
                    <a:pt x="0" y="0"/>
                  </a:lnTo>
                  <a:close/>
                  <a:moveTo>
                    <a:pt x="1587500" y="1164167"/>
                  </a:moveTo>
                  <a:lnTo>
                    <a:pt x="105834" y="1164167"/>
                  </a:lnTo>
                  <a:lnTo>
                    <a:pt x="105834" y="105834"/>
                  </a:lnTo>
                  <a:lnTo>
                    <a:pt x="1587500" y="105834"/>
                  </a:lnTo>
                  <a:lnTo>
                    <a:pt x="1587500" y="1164167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4*147"/>
  <p:tag name="TABLE_ENDDRAG_RECT" val="28*143*494*14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2*147"/>
  <p:tag name="TABLE_ENDDRAG_RECT" val="28*143*432*14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15,&quot;left&quot;:28.55,&quot;top&quot;:81.65,&quot;width&quot;:903.1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0*158"/>
  <p:tag name="TABLE_ENDDRAG_RECT" val="580*134*310*158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7042</Words>
  <Application>Microsoft Macintosh PowerPoint</Application>
  <PresentationFormat>宽屏</PresentationFormat>
  <Paragraphs>1718</Paragraphs>
  <Slides>41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Roboto</vt:lpstr>
      <vt:lpstr>思源黑体 CN Normal</vt:lpstr>
      <vt:lpstr>Wingdings</vt:lpstr>
      <vt:lpstr>思源黑体 CN Bold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Sun guang</cp:lastModifiedBy>
  <cp:revision>19</cp:revision>
  <dcterms:created xsi:type="dcterms:W3CDTF">2025-10-30T15:22:00Z</dcterms:created>
  <dcterms:modified xsi:type="dcterms:W3CDTF">2026-05-27T07:23:51Z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DF38599D262943318C4801E6EB113D3F_13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v1.0_mb_IpbY6fRBQgubiwoxMjUV8w==</vt:lpwstr>
  </property>
</Properties>
</file>